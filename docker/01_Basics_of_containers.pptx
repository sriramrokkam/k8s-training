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3" r:id="rId4"/>
  </p:sldMasterIdLst>
  <p:notesMasterIdLst>
    <p:notesMasterId r:id="rId24"/>
  </p:notesMasterIdLst>
  <p:handoutMasterIdLst>
    <p:handoutMasterId r:id="rId25"/>
  </p:handoutMasterIdLst>
  <p:sldIdLst>
    <p:sldId id="435" r:id="rId5"/>
    <p:sldId id="434" r:id="rId6"/>
    <p:sldId id="382" r:id="rId7"/>
    <p:sldId id="456" r:id="rId8"/>
    <p:sldId id="439" r:id="rId9"/>
    <p:sldId id="437" r:id="rId10"/>
    <p:sldId id="444" r:id="rId11"/>
    <p:sldId id="449" r:id="rId12"/>
    <p:sldId id="458" r:id="rId13"/>
    <p:sldId id="450" r:id="rId14"/>
    <p:sldId id="464" r:id="rId15"/>
    <p:sldId id="460" r:id="rId16"/>
    <p:sldId id="451" r:id="rId17"/>
    <p:sldId id="461" r:id="rId18"/>
    <p:sldId id="455" r:id="rId19"/>
    <p:sldId id="462" r:id="rId20"/>
    <p:sldId id="452" r:id="rId21"/>
    <p:sldId id="459" r:id="rId22"/>
    <p:sldId id="265" r:id="rId23"/>
  </p:sldIdLst>
  <p:sldSz cx="12195175" cy="6858000"/>
  <p:notesSz cx="6858000" cy="9144000"/>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1" userDrawn="1">
          <p15:clr>
            <a:srgbClr val="A4A3A4"/>
          </p15:clr>
        </p15:guide>
        <p15:guide id="2" orient="horz" pos="1022" userDrawn="1">
          <p15:clr>
            <a:srgbClr val="A4A3A4"/>
          </p15:clr>
        </p15:guide>
        <p15:guide id="3" orient="horz" pos="4004" userDrawn="1">
          <p15:clr>
            <a:srgbClr val="A4A3A4"/>
          </p15:clr>
        </p15:guide>
        <p15:guide id="4" pos="303" userDrawn="1">
          <p15:clr>
            <a:srgbClr val="A4A3A4"/>
          </p15:clr>
        </p15:guide>
        <p15:guide id="5" pos="7356" userDrawn="1">
          <p15:clr>
            <a:srgbClr val="A4A3A4"/>
          </p15:clr>
        </p15:guide>
        <p15:guide id="7" orient="horz" pos="30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rtsch, Holger" initials="PH" lastIdx="1" clrIdx="0">
    <p:extLst>
      <p:ext uri="{19B8F6BF-5375-455C-9EA6-DF929625EA0E}">
        <p15:presenceInfo xmlns:p15="http://schemas.microsoft.com/office/powerpoint/2012/main" userId="S-1-5-21-74642-3284969411-2123768488-120253" providerId="AD"/>
      </p:ext>
    </p:extLst>
  </p:cmAuthor>
  <p:cmAuthor id="2" name="Buchner, Thomas" initials="BT" lastIdx="1" clrIdx="1">
    <p:extLst>
      <p:ext uri="{19B8F6BF-5375-455C-9EA6-DF929625EA0E}">
        <p15:presenceInfo xmlns:p15="http://schemas.microsoft.com/office/powerpoint/2012/main" userId="S-1-5-21-74642-3284969411-2123768488-16178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008000"/>
    <a:srgbClr val="F0AB00"/>
    <a:srgbClr val="0F46A7"/>
    <a:srgbClr val="970A82"/>
    <a:srgbClr val="FF3399"/>
    <a:srgbClr val="FF0000"/>
    <a:srgbClr val="FFFFFF"/>
    <a:srgbClr val="FEE3A1"/>
    <a:srgbClr val="FFF1D0"/>
    <a:srgbClr val="FFF8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340" autoAdjust="0"/>
    <p:restoredTop sz="82215" autoAdjust="0"/>
  </p:normalViewPr>
  <p:slideViewPr>
    <p:cSldViewPr snapToGrid="0" showGuides="1">
      <p:cViewPr varScale="1">
        <p:scale>
          <a:sx n="69" d="100"/>
          <a:sy n="69" d="100"/>
        </p:scale>
        <p:origin x="1464" y="31"/>
      </p:cViewPr>
      <p:guideLst>
        <p:guide pos="3841"/>
        <p:guide orient="horz" pos="1022"/>
        <p:guide orient="horz" pos="4004"/>
        <p:guide pos="303"/>
        <p:guide pos="7356"/>
        <p:guide orient="horz" pos="300"/>
      </p:guideLst>
    </p:cSldViewPr>
  </p:slideViewPr>
  <p:outlineViewPr>
    <p:cViewPr>
      <p:scale>
        <a:sx n="33" d="100"/>
        <a:sy n="33" d="100"/>
      </p:scale>
      <p:origin x="0" y="-6394"/>
    </p:cViewPr>
  </p:outlineViewPr>
  <p:notesTextViewPr>
    <p:cViewPr>
      <p:scale>
        <a:sx n="150" d="100"/>
        <a:sy n="150" d="100"/>
      </p:scale>
      <p:origin x="0" y="0"/>
    </p:cViewPr>
  </p:notesTextViewPr>
  <p:sorterViewPr>
    <p:cViewPr varScale="1">
      <p:scale>
        <a:sx n="100" d="100"/>
        <a:sy n="100" d="100"/>
      </p:scale>
      <p:origin x="0" y="0"/>
    </p:cViewPr>
  </p:sorterViewPr>
  <p:notesViewPr>
    <p:cSldViewPr snapToGrid="0" showGuides="1">
      <p:cViewPr varScale="1">
        <p:scale>
          <a:sx n="92" d="100"/>
          <a:sy n="92" d="100"/>
        </p:scale>
        <p:origin x="404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43100" y="8685213"/>
            <a:ext cx="2971800" cy="457200"/>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pPr algn="ctr"/>
              <a:t>‹#›</a:t>
            </a:fld>
            <a:endParaRPr lang="de-DE" sz="1000" dirty="0"/>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47688" y="612775"/>
            <a:ext cx="5762625" cy="3241675"/>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es Placeholder 4"/>
          <p:cNvSpPr>
            <a:spLocks noGrp="1"/>
          </p:cNvSpPr>
          <p:nvPr>
            <p:ph type="body" sz="quarter" idx="3"/>
          </p:nvPr>
        </p:nvSpPr>
        <p:spPr>
          <a:xfrm>
            <a:off x="549000" y="4120162"/>
            <a:ext cx="5760000" cy="456356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p:cNvSpPr>
            <a:spLocks noGrp="1"/>
          </p:cNvSpPr>
          <p:nvPr>
            <p:ph type="sldNum" sz="quarter" idx="5"/>
          </p:nvPr>
        </p:nvSpPr>
        <p:spPr>
          <a:xfrm>
            <a:off x="2957512" y="8935722"/>
            <a:ext cx="942976" cy="205358"/>
          </a:xfrm>
          <a:prstGeom prst="rect">
            <a:avLst/>
          </a:prstGeom>
        </p:spPr>
        <p:txBody>
          <a:bodyPr vert="horz" lIns="91440" tIns="45720" rIns="91440" bIns="45720" rtlCol="0" anchor="b"/>
          <a:lstStyle>
            <a:lvl1pPr algn="ctr">
              <a:defRPr sz="800"/>
            </a:lvl1pPr>
          </a:lstStyle>
          <a:p>
            <a:fld id="{7D8C2C35-2B8A-446E-BEC0-FD36716C29AC}" type="slidenum">
              <a:rPr lang="de-DE" smtClean="0"/>
              <a:pPr/>
              <a:t>‹#›</a:t>
            </a:fld>
            <a:endParaRPr lang="de-DE" dirty="0"/>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kern="1200">
        <a:solidFill>
          <a:schemeClr val="tx1"/>
        </a:solidFill>
        <a:latin typeface="+mn-lt"/>
        <a:ea typeface="+mn-ea"/>
        <a:cs typeface="+mn-cs"/>
      </a:defRPr>
    </a:lvl1pPr>
    <a:lvl2pPr marL="180000" indent="-180000" algn="l" defTabSz="1088776" rtl="0" eaLnBrk="1" latinLnBrk="0" hangingPunct="1">
      <a:buClr>
        <a:schemeClr val="accent1"/>
      </a:buClr>
      <a:buSzPct val="100000"/>
      <a:buFont typeface="Wingdings" pitchFamily="2" charset="2"/>
      <a:buChar char=""/>
      <a:defRPr sz="1400" kern="1200">
        <a:solidFill>
          <a:schemeClr val="tx1"/>
        </a:solidFill>
        <a:latin typeface="+mn-lt"/>
        <a:ea typeface="+mn-ea"/>
        <a:cs typeface="+mn-cs"/>
      </a:defRPr>
    </a:lvl2pPr>
    <a:lvl3pPr marL="360000" indent="-180000" algn="l" defTabSz="1088776" rtl="0" eaLnBrk="1" latinLnBrk="0" hangingPunct="1">
      <a:buClr>
        <a:schemeClr val="accent2"/>
      </a:buClr>
      <a:buSzPct val="80000"/>
      <a:buFont typeface="Symbol" pitchFamily="18" charset="2"/>
      <a:buChar char="-"/>
      <a:defRPr sz="1200" kern="1200">
        <a:solidFill>
          <a:schemeClr val="tx1"/>
        </a:solidFill>
        <a:latin typeface="+mn-lt"/>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Lots of the attributes of a regular ISO container apply to software containers.</a:t>
            </a:r>
          </a:p>
        </p:txBody>
      </p:sp>
      <p:sp>
        <p:nvSpPr>
          <p:cNvPr id="4" name="Slide Number Placeholder 3"/>
          <p:cNvSpPr>
            <a:spLocks noGrp="1"/>
          </p:cNvSpPr>
          <p:nvPr>
            <p:ph type="sldNum" sz="quarter" idx="10"/>
          </p:nvPr>
        </p:nvSpPr>
        <p:spPr/>
        <p:txBody>
          <a:bodyPr/>
          <a:lstStyle/>
          <a:p>
            <a:fld id="{7D8C2C35-2B8A-446E-BEC0-FD36716C29AC}" type="slidenum">
              <a:rPr lang="de-DE" smtClean="0"/>
              <a:pPr/>
              <a:t>3</a:t>
            </a:fld>
            <a:endParaRPr lang="de-DE" dirty="0"/>
          </a:p>
        </p:txBody>
      </p:sp>
    </p:spTree>
    <p:extLst>
      <p:ext uri="{BB962C8B-B14F-4D97-AF65-F5344CB8AC3E}">
        <p14:creationId xmlns:p14="http://schemas.microsoft.com/office/powerpoint/2010/main" val="40239660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Linux kernel does not know about containers at all – for it, containers are nothing more than just regular processes running on the system. They are managed like all other processes by the kernel. </a:t>
            </a:r>
          </a:p>
          <a:p>
            <a:endParaRPr lang="en-US" dirty="0"/>
          </a:p>
          <a:p>
            <a:r>
              <a:rPr lang="en-US" dirty="0"/>
              <a:t>The Linux kernel however offers several features that Docker and other container engines leverage to achieve an almost complete isolation of processes from each other. These features are outlined on the next slide and will be discussed in detail in “Members of the Docker Universe”.</a:t>
            </a:r>
          </a:p>
        </p:txBody>
      </p:sp>
      <p:sp>
        <p:nvSpPr>
          <p:cNvPr id="4" name="Slide Number Placeholder 3"/>
          <p:cNvSpPr>
            <a:spLocks noGrp="1"/>
          </p:cNvSpPr>
          <p:nvPr>
            <p:ph type="sldNum" sz="quarter" idx="10"/>
          </p:nvPr>
        </p:nvSpPr>
        <p:spPr/>
        <p:txBody>
          <a:bodyPr/>
          <a:lstStyle/>
          <a:p>
            <a:fld id="{7D8C2C35-2B8A-446E-BEC0-FD36716C29AC}" type="slidenum">
              <a:rPr lang="de-DE" smtClean="0"/>
              <a:pPr/>
              <a:t>5</a:t>
            </a:fld>
            <a:endParaRPr lang="de-DE" dirty="0"/>
          </a:p>
        </p:txBody>
      </p:sp>
    </p:spTree>
    <p:extLst>
      <p:ext uri="{BB962C8B-B14F-4D97-AF65-F5344CB8AC3E}">
        <p14:creationId xmlns:p14="http://schemas.microsoft.com/office/powerpoint/2010/main" val="39438295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noProof="0" dirty="0"/>
              <a:t>Containers make heavy use of features that are offered by the Linux kernel. These features are going to be described in detail on the following slides.</a:t>
            </a:r>
            <a:endParaRPr lang="en-US" sz="1400" baseline="0" noProof="0"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6</a:t>
            </a:fld>
            <a:endParaRPr lang="en-US" dirty="0"/>
          </a:p>
        </p:txBody>
      </p:sp>
    </p:spTree>
    <p:extLst>
      <p:ext uri="{BB962C8B-B14F-4D97-AF65-F5344CB8AC3E}">
        <p14:creationId xmlns:p14="http://schemas.microsoft.com/office/powerpoint/2010/main" val="1412907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7</a:t>
            </a:fld>
            <a:endParaRPr lang="en-US" dirty="0"/>
          </a:p>
        </p:txBody>
      </p:sp>
    </p:spTree>
    <p:extLst>
      <p:ext uri="{BB962C8B-B14F-4D97-AF65-F5344CB8AC3E}">
        <p14:creationId xmlns:p14="http://schemas.microsoft.com/office/powerpoint/2010/main" val="1684627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chroot we can start a new process making a specified directory the new processes' topmost directory. Processes running in that chroot can only see those parts of the filesystem which are subdirectories of it.</a:t>
            </a:r>
          </a:p>
          <a:p>
            <a:endParaRPr lang="en-US" dirty="0"/>
          </a:p>
          <a:p>
            <a:r>
              <a:rPr lang="en-US" dirty="0"/>
              <a:t>Chroot is part of Unix and was initially integrated to test Unix installation routines. It is still very often used for bootstrapping a system during installation.</a:t>
            </a:r>
          </a:p>
          <a:p>
            <a:endParaRPr lang="en-US" dirty="0"/>
          </a:p>
          <a:p>
            <a:r>
              <a:rPr lang="en-US" dirty="0"/>
              <a:t>One problem with chroot is: since the process that gets started inside the chroot can no longer see the full filesystem, all files required to load and run that process must be copied to the chroot directory (and subdirectories) first - a tedious task that can take some time, and is trial and error.</a:t>
            </a:r>
          </a:p>
        </p:txBody>
      </p:sp>
      <p:sp>
        <p:nvSpPr>
          <p:cNvPr id="4" name="Slide Number Placeholder 3"/>
          <p:cNvSpPr>
            <a:spLocks noGrp="1"/>
          </p:cNvSpPr>
          <p:nvPr>
            <p:ph type="sldNum" sz="quarter" idx="10"/>
          </p:nvPr>
        </p:nvSpPr>
        <p:spPr/>
        <p:txBody>
          <a:bodyPr/>
          <a:lstStyle/>
          <a:p>
            <a:fld id="{7D8C2C35-2B8A-446E-BEC0-FD36716C29AC}" type="slidenum">
              <a:rPr lang="en-US" smtClean="0"/>
              <a:pPr/>
              <a:t>8</a:t>
            </a:fld>
            <a:endParaRPr lang="en-US" dirty="0"/>
          </a:p>
        </p:txBody>
      </p:sp>
    </p:spTree>
    <p:extLst>
      <p:ext uri="{BB962C8B-B14F-4D97-AF65-F5344CB8AC3E}">
        <p14:creationId xmlns:p14="http://schemas.microsoft.com/office/powerpoint/2010/main" val="40678160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for chroot</a:t>
            </a:r>
          </a:p>
          <a:p>
            <a:endParaRPr lang="en-US" dirty="0"/>
          </a:p>
          <a:p>
            <a:r>
              <a:rPr lang="en-US" dirty="0"/>
              <a:t>Within the repo go to the container-demos folder and run </a:t>
            </a:r>
            <a:r>
              <a:rPr lang="en-US" b="1" dirty="0"/>
              <a:t>demo-01-chroot.sh</a:t>
            </a:r>
          </a:p>
          <a:p>
            <a:r>
              <a:rPr lang="en-US" dirty="0"/>
              <a:t>The script will do the setup of a minimal environment (basically only a bash + libs) and chroot into it. </a:t>
            </a:r>
            <a:r>
              <a:rPr lang="en-US" sz="1400" b="0" i="0" kern="1200" dirty="0">
                <a:solidFill>
                  <a:schemeClr val="tx1"/>
                </a:solidFill>
                <a:effectLst/>
                <a:latin typeface="+mn-lt"/>
                <a:ea typeface="+mn-ea"/>
                <a:cs typeface="+mn-cs"/>
              </a:rPr>
              <a:t>Script execution can be stopped with "ctrl + s" and continued with "ctrl + q“.</a:t>
            </a:r>
            <a:endParaRPr lang="en-US" dirty="0"/>
          </a:p>
          <a:p>
            <a:endParaRPr lang="en-US" dirty="0"/>
          </a:p>
          <a:p>
            <a:r>
              <a:rPr lang="en-US" dirty="0"/>
              <a:t>Explain the importance of libraries to binaries. Without the corresponding libs in their respective directories, no binary will work. And after all, (container) processes are based on binaries.</a:t>
            </a:r>
          </a:p>
          <a:p>
            <a:endParaRPr lang="en-US" dirty="0"/>
          </a:p>
          <a:p>
            <a:r>
              <a:rPr lang="en-US" dirty="0"/>
              <a:t>It is also worth to mention, that the file system you chroot into is the foundation of every container. Luckily in most cases you can rely on others building the base images with all binaries and libs. The only thing you have to do as a developer is move your own stuff into it.</a:t>
            </a:r>
          </a:p>
          <a:p>
            <a:r>
              <a:rPr lang="en-US" dirty="0"/>
              <a:t> </a:t>
            </a:r>
          </a:p>
          <a:p>
            <a:r>
              <a:rPr lang="en-US" dirty="0"/>
              <a:t>So if there is something called centos or ubuntu later, remember that this is no full-fledged OS but only a collection of bins/libs making your life a lot easier.</a:t>
            </a:r>
          </a:p>
        </p:txBody>
      </p:sp>
      <p:sp>
        <p:nvSpPr>
          <p:cNvPr id="4" name="Slide Number Placeholder 3"/>
          <p:cNvSpPr>
            <a:spLocks noGrp="1"/>
          </p:cNvSpPr>
          <p:nvPr>
            <p:ph type="sldNum" sz="quarter" idx="10"/>
          </p:nvPr>
        </p:nvSpPr>
        <p:spPr/>
        <p:txBody>
          <a:bodyPr/>
          <a:lstStyle/>
          <a:p>
            <a:fld id="{7D8C2C35-2B8A-446E-BEC0-FD36716C29AC}" type="slidenum">
              <a:rPr lang="de-DE" smtClean="0"/>
              <a:pPr/>
              <a:t>9</a:t>
            </a:fld>
            <a:endParaRPr lang="de-DE" dirty="0"/>
          </a:p>
        </p:txBody>
      </p:sp>
    </p:spTree>
    <p:extLst>
      <p:ext uri="{BB962C8B-B14F-4D97-AF65-F5344CB8AC3E}">
        <p14:creationId xmlns:p14="http://schemas.microsoft.com/office/powerpoint/2010/main" val="17099926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Man-page definition: A namespace wraps a global system resource in an abstraction that makes it appear to the processes within the namespace that they have their own isolated instance of the global resource. Changes to the global resource are visible to other processes that are members of the namespace, but are invisible to other processes [outside of that namespace]. One use of namespaces is to implement containers.</a:t>
            </a:r>
          </a:p>
          <a:p>
            <a:endParaRPr lang="en-US" dirty="0"/>
          </a:p>
          <a:p>
            <a:r>
              <a:rPr lang="en-US" dirty="0"/>
              <a:t>Linux offers namespaces for seven different resources: PID table, mount table, user mapping table, IPC, network stack, UTS (host and domain name) and cgroups.</a:t>
            </a:r>
          </a:p>
        </p:txBody>
      </p:sp>
      <p:sp>
        <p:nvSpPr>
          <p:cNvPr id="4" name="Slide Number Placeholder 3"/>
          <p:cNvSpPr>
            <a:spLocks noGrp="1"/>
          </p:cNvSpPr>
          <p:nvPr>
            <p:ph type="sldNum" sz="quarter" idx="10"/>
          </p:nvPr>
        </p:nvSpPr>
        <p:spPr/>
        <p:txBody>
          <a:bodyPr/>
          <a:lstStyle/>
          <a:p>
            <a:fld id="{7D8C2C35-2B8A-446E-BEC0-FD36716C29AC}" type="slidenum">
              <a:rPr lang="en-US" smtClean="0"/>
              <a:pPr/>
              <a:t>10</a:t>
            </a:fld>
            <a:endParaRPr lang="en-US" dirty="0"/>
          </a:p>
        </p:txBody>
      </p:sp>
    </p:spTree>
    <p:extLst>
      <p:ext uri="{BB962C8B-B14F-4D97-AF65-F5344CB8AC3E}">
        <p14:creationId xmlns:p14="http://schemas.microsoft.com/office/powerpoint/2010/main" val="3427480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seven different properties of a process that can be namespaces.</a:t>
            </a:r>
          </a:p>
          <a:p>
            <a:pPr marL="342900" indent="-342900">
              <a:buFont typeface="+mj-lt"/>
              <a:buAutoNum type="arabicPeriod"/>
            </a:pPr>
            <a:r>
              <a:rPr lang="en-US" dirty="0"/>
              <a:t>The mount namespace can give a separate mount table to processes (process A can see your USB </a:t>
            </a:r>
            <a:r>
              <a:rPr lang="en-US" dirty="0" err="1"/>
              <a:t>thumbdrive</a:t>
            </a:r>
            <a:r>
              <a:rPr lang="en-US" dirty="0"/>
              <a:t>, process B cannot).</a:t>
            </a:r>
          </a:p>
          <a:p>
            <a:pPr marL="342900" indent="-342900">
              <a:buFont typeface="+mj-lt"/>
              <a:buAutoNum type="arabicPeriod"/>
            </a:pPr>
            <a:r>
              <a:rPr lang="en-US" dirty="0"/>
              <a:t>The UTS namespace can assign a different hostname to different processes.</a:t>
            </a:r>
          </a:p>
          <a:p>
            <a:pPr marL="342900" indent="-342900">
              <a:buFont typeface="+mj-lt"/>
              <a:buAutoNum type="arabicPeriod"/>
            </a:pPr>
            <a:r>
              <a:rPr lang="en-US" dirty="0"/>
              <a:t>The PID namespace changes the view on the system's process tree.</a:t>
            </a:r>
          </a:p>
          <a:p>
            <a:pPr marL="342900" indent="-342900">
              <a:buFont typeface="+mj-lt"/>
              <a:buAutoNum type="arabicPeriod"/>
            </a:pPr>
            <a:r>
              <a:rPr lang="en-US" dirty="0"/>
              <a:t>The user namespace manages different user mappings across processes.</a:t>
            </a:r>
          </a:p>
          <a:p>
            <a:pPr marL="342900" indent="-342900">
              <a:buFont typeface="+mj-lt"/>
              <a:buAutoNum type="arabicPeriod"/>
            </a:pPr>
            <a:r>
              <a:rPr lang="en-US" dirty="0"/>
              <a:t>The IPC namespace can isolate shared storage between processes.</a:t>
            </a:r>
          </a:p>
          <a:p>
            <a:pPr marL="342900" indent="-342900">
              <a:buFont typeface="+mj-lt"/>
              <a:buAutoNum type="arabicPeriod"/>
            </a:pPr>
            <a:r>
              <a:rPr lang="en-US" dirty="0"/>
              <a:t>The network namespace gives each process a separate network stack with an individual virtual network device.</a:t>
            </a:r>
          </a:p>
          <a:p>
            <a:pPr marL="342900" indent="-342900">
              <a:buFont typeface="+mj-lt"/>
              <a:buAutoNum type="arabicPeriod"/>
            </a:pPr>
            <a:r>
              <a:rPr lang="en-US" dirty="0"/>
              <a:t>The </a:t>
            </a:r>
            <a:r>
              <a:rPr lang="en-US" dirty="0" err="1"/>
              <a:t>cgroup</a:t>
            </a:r>
            <a:r>
              <a:rPr lang="en-US" dirty="0"/>
              <a:t> namespace can assign different sets of </a:t>
            </a:r>
            <a:r>
              <a:rPr lang="en-US" dirty="0" err="1"/>
              <a:t>cgroups</a:t>
            </a:r>
            <a:r>
              <a:rPr lang="en-US" dirty="0"/>
              <a:t> to processes.</a:t>
            </a:r>
          </a:p>
        </p:txBody>
      </p:sp>
      <p:sp>
        <p:nvSpPr>
          <p:cNvPr id="4" name="Slide Number Placeholder 3"/>
          <p:cNvSpPr>
            <a:spLocks noGrp="1"/>
          </p:cNvSpPr>
          <p:nvPr>
            <p:ph type="sldNum" sz="quarter" idx="5"/>
          </p:nvPr>
        </p:nvSpPr>
        <p:spPr/>
        <p:txBody>
          <a:bodyPr/>
          <a:lstStyle/>
          <a:p>
            <a:fld id="{7D8C2C35-2B8A-446E-BEC0-FD36716C29AC}" type="slidenum">
              <a:rPr lang="de-DE" smtClean="0"/>
              <a:pPr/>
              <a:t>11</a:t>
            </a:fld>
            <a:endParaRPr lang="de-DE" dirty="0"/>
          </a:p>
        </p:txBody>
      </p:sp>
    </p:spTree>
    <p:extLst>
      <p:ext uri="{BB962C8B-B14F-4D97-AF65-F5344CB8AC3E}">
        <p14:creationId xmlns:p14="http://schemas.microsoft.com/office/powerpoint/2010/main" val="16539350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for namespaces &amp; </a:t>
            </a:r>
            <a:r>
              <a:rPr lang="en-US" dirty="0" err="1"/>
              <a:t>unshare</a:t>
            </a:r>
            <a:endParaRPr lang="en-US" dirty="0"/>
          </a:p>
          <a:p>
            <a:endParaRPr lang="en-US" dirty="0"/>
          </a:p>
          <a:p>
            <a:r>
              <a:rPr lang="en-US" dirty="0"/>
              <a:t>Within the repo go to the container-demos folder and run </a:t>
            </a:r>
            <a:r>
              <a:rPr lang="en-US" b="1" dirty="0"/>
              <a:t>demo-02-unshare.sh</a:t>
            </a:r>
          </a:p>
          <a:p>
            <a:endParaRPr lang="en-US" b="0" dirty="0"/>
          </a:p>
          <a:p>
            <a:r>
              <a:rPr lang="en-US" b="0" dirty="0"/>
              <a:t>The script will fork a new process with a separate PID namespace. It’ll also explore the space of the newly created processes. Please note, the demo does </a:t>
            </a:r>
            <a:r>
              <a:rPr lang="en-US" b="1" dirty="0"/>
              <a:t>not </a:t>
            </a:r>
            <a:r>
              <a:rPr lang="en-US" b="0" dirty="0"/>
              <a:t>use </a:t>
            </a:r>
            <a:r>
              <a:rPr lang="en-US" b="1" dirty="0"/>
              <a:t>chroot</a:t>
            </a:r>
            <a:r>
              <a:rPr lang="en-US" b="0" dirty="0"/>
              <a:t>. </a:t>
            </a:r>
            <a:r>
              <a:rPr lang="en-US" sz="1400" b="0" i="0" kern="1200" dirty="0">
                <a:solidFill>
                  <a:schemeClr val="tx1"/>
                </a:solidFill>
                <a:effectLst/>
                <a:latin typeface="+mn-lt"/>
                <a:ea typeface="+mn-ea"/>
                <a:cs typeface="+mn-cs"/>
              </a:rPr>
              <a:t>Script execution can be stopped with "ctrl + s" and continued with "ctrl + q“.</a:t>
            </a:r>
            <a:endParaRPr lang="en-US" b="0" dirty="0"/>
          </a:p>
          <a:p>
            <a:endParaRPr lang="en-US" b="0" dirty="0"/>
          </a:p>
          <a:p>
            <a:r>
              <a:rPr lang="en-US" b="0" dirty="0"/>
              <a:t>With namespaces you can isolate aspects of a processes or process groups (like the process tree or networking stack). As mentioned on the previous slide, this is another building block for Linux containers to work.</a:t>
            </a:r>
          </a:p>
        </p:txBody>
      </p:sp>
      <p:sp>
        <p:nvSpPr>
          <p:cNvPr id="4" name="Slide Number Placeholder 3"/>
          <p:cNvSpPr>
            <a:spLocks noGrp="1"/>
          </p:cNvSpPr>
          <p:nvPr>
            <p:ph type="sldNum" sz="quarter" idx="10"/>
          </p:nvPr>
        </p:nvSpPr>
        <p:spPr/>
        <p:txBody>
          <a:bodyPr/>
          <a:lstStyle/>
          <a:p>
            <a:fld id="{7D8C2C35-2B8A-446E-BEC0-FD36716C29AC}" type="slidenum">
              <a:rPr lang="de-DE" smtClean="0"/>
              <a:pPr/>
              <a:t>12</a:t>
            </a:fld>
            <a:endParaRPr lang="de-DE" dirty="0"/>
          </a:p>
        </p:txBody>
      </p:sp>
    </p:spTree>
    <p:extLst>
      <p:ext uri="{BB962C8B-B14F-4D97-AF65-F5344CB8AC3E}">
        <p14:creationId xmlns:p14="http://schemas.microsoft.com/office/powerpoint/2010/main" val="2087951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Wikipedia definition: </a:t>
            </a:r>
            <a:r>
              <a:rPr lang="en-US" b="1" dirty="0"/>
              <a:t>cgroups</a:t>
            </a:r>
            <a:r>
              <a:rPr lang="en-US" dirty="0"/>
              <a:t> (abbreviated from </a:t>
            </a:r>
            <a:r>
              <a:rPr lang="en-US" b="1" dirty="0"/>
              <a:t>control groups</a:t>
            </a:r>
            <a:r>
              <a:rPr lang="en-US" dirty="0"/>
              <a:t>) is a Linux kernel feature that limits, accounts for, and isolates the resource usage (CPU, memory, disk I/O, network, etc.) of a collection of processes.</a:t>
            </a:r>
          </a:p>
          <a:p>
            <a:pPr algn="l"/>
            <a:endParaRPr lang="en-US" dirty="0"/>
          </a:p>
          <a:p>
            <a:pPr algn="l"/>
            <a:r>
              <a:rPr lang="en-US" dirty="0"/>
              <a:t>With cgroups, processes can be kept from eating up all system resources. Multiple processes can be added to one single </a:t>
            </a:r>
            <a:r>
              <a:rPr lang="en-US" dirty="0" err="1"/>
              <a:t>cgroup</a:t>
            </a:r>
            <a:r>
              <a:rPr lang="en-US" dirty="0"/>
              <a:t> - they will then all share the resource limits of it.</a:t>
            </a:r>
          </a:p>
        </p:txBody>
      </p:sp>
      <p:sp>
        <p:nvSpPr>
          <p:cNvPr id="4" name="Slide Number Placeholder 3"/>
          <p:cNvSpPr>
            <a:spLocks noGrp="1"/>
          </p:cNvSpPr>
          <p:nvPr>
            <p:ph type="sldNum" sz="quarter" idx="10"/>
          </p:nvPr>
        </p:nvSpPr>
        <p:spPr/>
        <p:txBody>
          <a:bodyPr/>
          <a:lstStyle/>
          <a:p>
            <a:fld id="{7D8C2C35-2B8A-446E-BEC0-FD36716C29AC}" type="slidenum">
              <a:rPr lang="en-US" smtClean="0"/>
              <a:pPr/>
              <a:t>13</a:t>
            </a:fld>
            <a:endParaRPr lang="en-US" dirty="0"/>
          </a:p>
        </p:txBody>
      </p:sp>
    </p:spTree>
    <p:extLst>
      <p:ext uri="{BB962C8B-B14F-4D97-AF65-F5344CB8AC3E}">
        <p14:creationId xmlns:p14="http://schemas.microsoft.com/office/powerpoint/2010/main" val="30060474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for cgroups</a:t>
            </a:r>
          </a:p>
          <a:p>
            <a:endParaRPr lang="en-US" dirty="0"/>
          </a:p>
          <a:p>
            <a:r>
              <a:rPr lang="en-US" dirty="0"/>
              <a:t>Within the repo go to the container-demos folder and run </a:t>
            </a:r>
            <a:r>
              <a:rPr lang="en-US" b="1" dirty="0"/>
              <a:t>demo-03-cgroup.sh</a:t>
            </a:r>
          </a:p>
          <a:p>
            <a:endParaRPr lang="en-US" b="0" dirty="0"/>
          </a:p>
          <a:p>
            <a:r>
              <a:rPr lang="en-US" b="0" dirty="0"/>
              <a:t>The script will demonstrate how cgroups can be used to control processes. The example is focusing on CPU usage. </a:t>
            </a:r>
            <a:r>
              <a:rPr lang="en-US" sz="1400" b="0" i="0" kern="1200" dirty="0">
                <a:solidFill>
                  <a:schemeClr val="tx1"/>
                </a:solidFill>
                <a:effectLst/>
                <a:latin typeface="+mn-lt"/>
                <a:ea typeface="+mn-ea"/>
                <a:cs typeface="+mn-cs"/>
              </a:rPr>
              <a:t>Script execution can be stopped with "ctrl + s" and continued with "ctrl + q“.</a:t>
            </a:r>
            <a:endParaRPr lang="en-US" b="0" dirty="0"/>
          </a:p>
          <a:p>
            <a:endParaRPr lang="en-US" b="0" dirty="0"/>
          </a:p>
          <a:p>
            <a:r>
              <a:rPr lang="en-US" b="0" dirty="0"/>
              <a:t>Docker as well as Kubernetes can make use of cgroups to manage resources in a container environment.</a:t>
            </a:r>
          </a:p>
        </p:txBody>
      </p:sp>
      <p:sp>
        <p:nvSpPr>
          <p:cNvPr id="4" name="Slide Number Placeholder 3"/>
          <p:cNvSpPr>
            <a:spLocks noGrp="1"/>
          </p:cNvSpPr>
          <p:nvPr>
            <p:ph type="sldNum" sz="quarter" idx="10"/>
          </p:nvPr>
        </p:nvSpPr>
        <p:spPr/>
        <p:txBody>
          <a:bodyPr/>
          <a:lstStyle/>
          <a:p>
            <a:fld id="{7D8C2C35-2B8A-446E-BEC0-FD36716C29AC}" type="slidenum">
              <a:rPr lang="de-DE" smtClean="0"/>
              <a:pPr/>
              <a:t>14</a:t>
            </a:fld>
            <a:endParaRPr lang="de-DE" dirty="0"/>
          </a:p>
        </p:txBody>
      </p:sp>
    </p:spTree>
    <p:extLst>
      <p:ext uri="{BB962C8B-B14F-4D97-AF65-F5344CB8AC3E}">
        <p14:creationId xmlns:p14="http://schemas.microsoft.com/office/powerpoint/2010/main" val="10627020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application will eventually (after doing tons of nested library calls) call the operating system to do things - like reading or writing to files or sending data across the network. Talking to the operating system is done through system calls or </a:t>
            </a:r>
            <a:r>
              <a:rPr lang="en-US" dirty="0" err="1"/>
              <a:t>syscalls</a:t>
            </a:r>
            <a:r>
              <a:rPr lang="en-US" dirty="0"/>
              <a:t>. </a:t>
            </a:r>
            <a:r>
              <a:rPr lang="en-US" dirty="0" err="1"/>
              <a:t>Syscalls</a:t>
            </a:r>
            <a:r>
              <a:rPr lang="en-US" dirty="0"/>
              <a:t> are the interface between user space (where your application runs in) and kernel space (where the operating system does its job) and there are around 340 of them (</a:t>
            </a:r>
            <a:r>
              <a:rPr lang="en-US" dirty="0" err="1"/>
              <a:t>syscalls</a:t>
            </a:r>
            <a:r>
              <a:rPr lang="en-US" dirty="0"/>
              <a:t>).</a:t>
            </a:r>
          </a:p>
          <a:p>
            <a:r>
              <a:rPr lang="en-US" dirty="0"/>
              <a:t>While most system calls are necessary for programs to do their job (e.g. a program cannot even be loaded into memory without the “</a:t>
            </a:r>
            <a:r>
              <a:rPr lang="en-US" dirty="0" err="1"/>
              <a:t>execve</a:t>
            </a:r>
            <a:r>
              <a:rPr lang="en-US" dirty="0"/>
              <a:t>” system call) some are potentially dangerous and would allow a process to break free from its container or to cause harm to other containers (such as the reboot system call which would reboot the host terminating all containers on it).</a:t>
            </a:r>
          </a:p>
          <a:p>
            <a:r>
              <a:rPr lang="en-US" dirty="0"/>
              <a:t>With seccomp, individual system calls can be blocked to reduce the security risk which is commonly done in container environments (Docker for instance blocks around 40 system calls by default).</a:t>
            </a:r>
          </a:p>
        </p:txBody>
      </p:sp>
      <p:sp>
        <p:nvSpPr>
          <p:cNvPr id="4" name="Slide Number Placeholder 3"/>
          <p:cNvSpPr>
            <a:spLocks noGrp="1"/>
          </p:cNvSpPr>
          <p:nvPr>
            <p:ph type="sldNum" sz="quarter" idx="10"/>
          </p:nvPr>
        </p:nvSpPr>
        <p:spPr/>
        <p:txBody>
          <a:bodyPr/>
          <a:lstStyle/>
          <a:p>
            <a:fld id="{7D8C2C35-2B8A-446E-BEC0-FD36716C29AC}" type="slidenum">
              <a:rPr lang="en-US" smtClean="0"/>
              <a:pPr/>
              <a:t>15</a:t>
            </a:fld>
            <a:endParaRPr lang="en-US" dirty="0"/>
          </a:p>
        </p:txBody>
      </p:sp>
    </p:spTree>
    <p:extLst>
      <p:ext uri="{BB962C8B-B14F-4D97-AF65-F5344CB8AC3E}">
        <p14:creationId xmlns:p14="http://schemas.microsoft.com/office/powerpoint/2010/main" val="22004897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for seccomp </a:t>
            </a:r>
            <a:r>
              <a:rPr lang="en-US" b="1" dirty="0"/>
              <a:t>based on Docker </a:t>
            </a:r>
            <a:r>
              <a:rPr lang="en-US" b="0" dirty="0"/>
              <a:t>(for convenience)</a:t>
            </a:r>
            <a:endParaRPr lang="en-US" b="1" dirty="0"/>
          </a:p>
          <a:p>
            <a:endParaRPr lang="en-US" dirty="0"/>
          </a:p>
          <a:p>
            <a:r>
              <a:rPr lang="en-US" dirty="0"/>
              <a:t>Within the repo go to the container-demos folder and run </a:t>
            </a:r>
            <a:r>
              <a:rPr lang="en-US" b="1" dirty="0"/>
              <a:t>demo-05-seccomp.sh</a:t>
            </a:r>
          </a:p>
          <a:p>
            <a:endParaRPr lang="en-US" b="0" dirty="0"/>
          </a:p>
          <a:p>
            <a:r>
              <a:rPr lang="en-US" b="0" dirty="0"/>
              <a:t>The script will demonstrate how seccomp profiles can be used to control access to the kernel via </a:t>
            </a:r>
            <a:r>
              <a:rPr lang="en-US" b="0" dirty="0" err="1"/>
              <a:t>syscalls</a:t>
            </a:r>
            <a:r>
              <a:rPr lang="en-US" b="0" dirty="0"/>
              <a:t>. To make things easier, this demo  is based on Docker so it might give already an impression on how Docker works. S</a:t>
            </a:r>
            <a:r>
              <a:rPr lang="en-US" sz="1400" b="0" i="0" kern="1200" dirty="0">
                <a:solidFill>
                  <a:schemeClr val="tx1"/>
                </a:solidFill>
                <a:effectLst/>
                <a:latin typeface="+mn-lt"/>
                <a:ea typeface="+mn-ea"/>
                <a:cs typeface="+mn-cs"/>
              </a:rPr>
              <a:t>cript execution can be stopped with "ctrl + s" and continued with "ctrl </a:t>
            </a:r>
            <a:r>
              <a:rPr lang="en-US" sz="1400" b="0" i="0" kern="1200">
                <a:solidFill>
                  <a:schemeClr val="tx1"/>
                </a:solidFill>
                <a:effectLst/>
                <a:latin typeface="+mn-lt"/>
                <a:ea typeface="+mn-ea"/>
                <a:cs typeface="+mn-cs"/>
              </a:rPr>
              <a:t>+ q“.</a:t>
            </a:r>
            <a:endParaRPr lang="en-US" b="0" dirty="0"/>
          </a:p>
          <a:p>
            <a:endParaRPr lang="en-US" b="0" dirty="0"/>
          </a:p>
          <a:p>
            <a:r>
              <a:rPr lang="en-US" b="0" dirty="0"/>
              <a:t>While the </a:t>
            </a:r>
            <a:r>
              <a:rPr lang="en-US" b="0" dirty="0" err="1"/>
              <a:t>syscalls</a:t>
            </a:r>
            <a:r>
              <a:rPr lang="en-US" b="0" dirty="0"/>
              <a:t> are blocked in this demo, it is worth to mention, that you can also implement trap wires to inform the underlying platform of what’s going on and potentially invoke countermeasures.</a:t>
            </a:r>
          </a:p>
          <a:p>
            <a:endParaRPr lang="en-US" b="0"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16</a:t>
            </a:fld>
            <a:endParaRPr lang="de-DE" dirty="0"/>
          </a:p>
        </p:txBody>
      </p:sp>
    </p:spTree>
    <p:extLst>
      <p:ext uri="{BB962C8B-B14F-4D97-AF65-F5344CB8AC3E}">
        <p14:creationId xmlns:p14="http://schemas.microsoft.com/office/powerpoint/2010/main" val="24436716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commands start in fact three different processes: </a:t>
            </a:r>
            <a:r>
              <a:rPr lang="en-US" dirty="0" err="1"/>
              <a:t>cgexec</a:t>
            </a:r>
            <a:r>
              <a:rPr lang="en-US" dirty="0"/>
              <a:t>, </a:t>
            </a:r>
            <a:r>
              <a:rPr lang="en-US" dirty="0" err="1"/>
              <a:t>unshare</a:t>
            </a:r>
            <a:r>
              <a:rPr lang="en-US" dirty="0"/>
              <a:t> and chroot</a:t>
            </a:r>
          </a:p>
          <a:p>
            <a:endParaRPr lang="en-US" dirty="0"/>
          </a:p>
          <a:p>
            <a:r>
              <a:rPr lang="en-US" dirty="0"/>
              <a:t>If you want to try this command: the directory container needs to populated and the </a:t>
            </a:r>
            <a:r>
              <a:rPr lang="en-US" dirty="0" err="1"/>
              <a:t>cgroup</a:t>
            </a:r>
            <a:r>
              <a:rPr lang="en-US" dirty="0"/>
              <a:t> </a:t>
            </a:r>
            <a:r>
              <a:rPr lang="en-US" i="1" dirty="0"/>
              <a:t>/container</a:t>
            </a:r>
            <a:r>
              <a:rPr lang="en-US" dirty="0"/>
              <a:t> needs to exist. Create it with "</a:t>
            </a:r>
            <a:r>
              <a:rPr lang="en-US" dirty="0" err="1">
                <a:latin typeface="Courier New" panose="02070309020205020404" pitchFamily="49" charset="0"/>
                <a:cs typeface="Courier New" panose="02070309020205020404" pitchFamily="49" charset="0"/>
              </a:rPr>
              <a:t>cgcreate</a:t>
            </a:r>
            <a:r>
              <a:rPr lang="en-US" dirty="0">
                <a:latin typeface="Courier New" panose="02070309020205020404" pitchFamily="49" charset="0"/>
                <a:cs typeface="Courier New" panose="02070309020205020404" pitchFamily="49" charset="0"/>
              </a:rPr>
              <a:t> -g </a:t>
            </a:r>
            <a:r>
              <a:rPr lang="en-US" dirty="0" err="1">
                <a:latin typeface="Courier New" panose="02070309020205020404" pitchFamily="49" charset="0"/>
                <a:cs typeface="Courier New" panose="02070309020205020404" pitchFamily="49" charset="0"/>
              </a:rPr>
              <a:t>cpu,memory,pids</a:t>
            </a:r>
            <a:r>
              <a:rPr lang="en-US" dirty="0">
                <a:latin typeface="Courier New" panose="02070309020205020404" pitchFamily="49" charset="0"/>
                <a:cs typeface="Courier New" panose="02070309020205020404" pitchFamily="49" charset="0"/>
              </a:rPr>
              <a:t>:/container</a:t>
            </a:r>
            <a:r>
              <a:rPr lang="en-US" dirty="0"/>
              <a:t>". Do not copy and paste (as you might copy invisible control characters </a:t>
            </a:r>
            <a:r>
              <a:rPr lang="en-US"/>
              <a:t>from the </a:t>
            </a:r>
            <a:r>
              <a:rPr lang="en-US" dirty="0"/>
              <a:t>slide), but type it in.</a:t>
            </a:r>
          </a:p>
        </p:txBody>
      </p:sp>
      <p:sp>
        <p:nvSpPr>
          <p:cNvPr id="4" name="Slide Number Placeholder 3"/>
          <p:cNvSpPr>
            <a:spLocks noGrp="1"/>
          </p:cNvSpPr>
          <p:nvPr>
            <p:ph type="sldNum" sz="quarter" idx="10"/>
          </p:nvPr>
        </p:nvSpPr>
        <p:spPr/>
        <p:txBody>
          <a:bodyPr/>
          <a:lstStyle/>
          <a:p>
            <a:fld id="{7D8C2C35-2B8A-446E-BEC0-FD36716C29AC}" type="slidenum">
              <a:rPr lang="en-US" smtClean="0"/>
              <a:pPr/>
              <a:t>17</a:t>
            </a:fld>
            <a:endParaRPr lang="en-US" dirty="0"/>
          </a:p>
        </p:txBody>
      </p:sp>
    </p:spTree>
    <p:extLst>
      <p:ext uri="{BB962C8B-B14F-4D97-AF65-F5344CB8AC3E}">
        <p14:creationId xmlns:p14="http://schemas.microsoft.com/office/powerpoint/2010/main" val="6263388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18</a:t>
            </a:fld>
            <a:endParaRPr lang="de-DE" dirty="0"/>
          </a:p>
        </p:txBody>
      </p:sp>
    </p:spTree>
    <p:extLst>
      <p:ext uri="{BB962C8B-B14F-4D97-AF65-F5344CB8AC3E}">
        <p14:creationId xmlns:p14="http://schemas.microsoft.com/office/powerpoint/2010/main" val="33582498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7D8C2C35-2B8A-446E-BEC0-FD36716C29AC}" type="slidenum">
              <a:rPr lang="de-DE" smtClean="0"/>
              <a:pPr/>
              <a:t>19</a:t>
            </a:fld>
            <a:endParaRPr lang="de-DE" dirty="0"/>
          </a:p>
        </p:txBody>
      </p:sp>
      <p:sp>
        <p:nvSpPr>
          <p:cNvPr id="6" name="Slide Image Placeholder 5"/>
          <p:cNvSpPr>
            <a:spLocks noGrp="1" noRot="1" noChangeAspect="1"/>
          </p:cNvSpPr>
          <p:nvPr>
            <p:ph type="sldImg"/>
          </p:nvPr>
        </p:nvSpPr>
        <p:spPr>
          <a:xfrm>
            <a:off x="547688" y="612775"/>
            <a:ext cx="5762625" cy="3241675"/>
          </a:xfrm>
        </p:spPr>
      </p:sp>
      <p:sp>
        <p:nvSpPr>
          <p:cNvPr id="7" name="Notes Placeholder 6"/>
          <p:cNvSpPr>
            <a:spLocks noGrp="1"/>
          </p:cNvSpPr>
          <p:nvPr>
            <p:ph type="body" idx="1"/>
          </p:nvPr>
        </p:nvSpPr>
        <p:spPr/>
        <p:txBody>
          <a:bodyPr>
            <a:normAutofit/>
          </a:bodyPr>
          <a:lstStyle/>
          <a:p>
            <a:endParaRPr lang="en-US"/>
          </a:p>
        </p:txBody>
      </p:sp>
    </p:spTree>
    <p:extLst>
      <p:ext uri="{BB962C8B-B14F-4D97-AF65-F5344CB8AC3E}">
        <p14:creationId xmlns:p14="http://schemas.microsoft.com/office/powerpoint/2010/main" val="25442643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hyperlink" Target="http://global.sap.com/corporate-en/legal/copyright/index.epx" TargetMode="External"/><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hyperlink" Target="http://www.sap.com/corporate-de/legal/copyright/index.epx"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with image">
    <p:spTree>
      <p:nvGrpSpPr>
        <p:cNvPr id="1" name=""/>
        <p:cNvGrpSpPr/>
        <p:nvPr/>
      </p:nvGrpSpPr>
      <p:grpSpPr>
        <a:xfrm>
          <a:off x="0" y="0"/>
          <a:ext cx="0" cy="0"/>
          <a:chOff x="0" y="0"/>
          <a:chExt cx="0" cy="0"/>
        </a:xfrm>
      </p:grpSpPr>
      <p:pic>
        <p:nvPicPr>
          <p:cNvPr id="21" name="Picture 2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
        <p:nvSpPr>
          <p:cNvPr id="5" name="Cover Image Placeholder"/>
          <p:cNvSpPr>
            <a:spLocks noGrp="1"/>
          </p:cNvSpPr>
          <p:nvPr>
            <p:ph type="pic" sz="quarter" idx="12" hasCustomPrompt="1"/>
          </p:nvPr>
        </p:nvSpPr>
        <p:spPr>
          <a:xfrm>
            <a:off x="1" y="0"/>
            <a:ext cx="12195175" cy="3430006"/>
          </a:xfrm>
          <a:solidFill>
            <a:schemeClr val="tx2">
              <a:alpha val="70000"/>
            </a:schemeClr>
          </a:solidFill>
        </p:spPr>
        <p:txBody>
          <a:bodyPr tIns="504000"/>
          <a:lstStyle>
            <a:lvl1pPr algn="ctr">
              <a:defRPr sz="1600">
                <a:solidFill>
                  <a:schemeClr val="tx1"/>
                </a:solidFill>
              </a:defRPr>
            </a:lvl1pPr>
          </a:lstStyle>
          <a:p>
            <a:r>
              <a:rPr lang="en-US" dirty="0"/>
              <a:t>Click to insert title image</a:t>
            </a:r>
          </a:p>
        </p:txBody>
      </p:sp>
      <p:grpSp>
        <p:nvGrpSpPr>
          <p:cNvPr id="2" name="Group 1"/>
          <p:cNvGrpSpPr/>
          <p:nvPr userDrawn="1"/>
        </p:nvGrpSpPr>
        <p:grpSpPr>
          <a:xfrm>
            <a:off x="9171173" y="0"/>
            <a:ext cx="3024002" cy="3430006"/>
            <a:chOff x="9171173" y="0"/>
            <a:chExt cx="3024002" cy="3430006"/>
          </a:xfrm>
        </p:grpSpPr>
        <p:sp>
          <p:nvSpPr>
            <p:cNvPr id="17" name="Rectangle 16"/>
            <p:cNvSpPr/>
            <p:nvPr userDrawn="1"/>
          </p:nvSpPr>
          <p:spPr bwMode="gray">
            <a:xfrm>
              <a:off x="11187175" y="0"/>
              <a:ext cx="1008000" cy="3430006"/>
            </a:xfrm>
            <a:prstGeom prst="rect">
              <a:avLst/>
            </a:prstGeom>
            <a:solidFill>
              <a:schemeClr val="accent1"/>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179174" y="0"/>
              <a:ext cx="1008000" cy="3430006"/>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21"/>
            <p:cNvSpPr/>
            <p:nvPr userDrawn="1"/>
          </p:nvSpPr>
          <p:spPr bwMode="gray">
            <a:xfrm>
              <a:off x="9171173" y="0"/>
              <a:ext cx="1008000" cy="3430006"/>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a:t>INTERNAL</a:t>
            </a:r>
            <a:endParaRPr lang="en-US" sz="900" b="0" dirty="0"/>
          </a:p>
        </p:txBody>
      </p:sp>
      <p:sp>
        <p:nvSpPr>
          <p:cNvPr id="19" name="Speaker"/>
          <p:cNvSpPr>
            <a:spLocks noGrp="1"/>
          </p:cNvSpPr>
          <p:nvPr userDrawn="1">
            <p:ph type="subTitle" idx="1" hasCustomPrompt="1"/>
          </p:nvPr>
        </p:nvSpPr>
        <p:spPr bwMode="gray">
          <a:xfrm>
            <a:off x="288000" y="5130489"/>
            <a:ext cx="1090080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20" name="Presentation Title"/>
          <p:cNvSpPr>
            <a:spLocks noGrp="1"/>
          </p:cNvSpPr>
          <p:nvPr userDrawn="1">
            <p:ph type="body" sz="quarter" idx="14" hasCustomPrompt="1"/>
          </p:nvPr>
        </p:nvSpPr>
        <p:spPr>
          <a:xfrm>
            <a:off x="288000" y="4024430"/>
            <a:ext cx="10899174" cy="997196"/>
          </a:xfrm>
        </p:spPr>
        <p:txBody>
          <a:bodyPr wrap="square">
            <a:spAutoFit/>
          </a:bodyPr>
          <a:lstStyle>
            <a:lvl1pPr>
              <a:lnSpc>
                <a:spcPct val="90000"/>
              </a:lnSpc>
              <a:spcBef>
                <a:spcPts val="0"/>
              </a:spcBef>
              <a:defRPr sz="3600" b="1" baseline="0"/>
            </a:lvl1pPr>
          </a:lstStyle>
          <a:p>
            <a:pPr lvl="0"/>
            <a:r>
              <a:rPr lang="en-US" dirty="0"/>
              <a:t>Presentation Title </a:t>
            </a:r>
            <a:br>
              <a:rPr lang="en-US" dirty="0"/>
            </a:br>
            <a:r>
              <a:rPr lang="en-US" dirty="0"/>
              <a:t>Goes Here and Here.</a:t>
            </a:r>
          </a:p>
        </p:txBody>
      </p:sp>
    </p:spTree>
    <p:extLst>
      <p:ext uri="{BB962C8B-B14F-4D97-AF65-F5344CB8AC3E}">
        <p14:creationId xmlns:p14="http://schemas.microsoft.com/office/powerpoint/2010/main" val="245271761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with illustration scene art">
    <p:spTree>
      <p:nvGrpSpPr>
        <p:cNvPr id="1" name=""/>
        <p:cNvGrpSpPr/>
        <p:nvPr/>
      </p:nvGrpSpPr>
      <p:grpSpPr>
        <a:xfrm>
          <a:off x="0" y="0"/>
          <a:ext cx="0" cy="0"/>
          <a:chOff x="0" y="0"/>
          <a:chExt cx="0" cy="0"/>
        </a:xfrm>
      </p:grpSpPr>
      <p:pic>
        <p:nvPicPr>
          <p:cNvPr id="21" name="Picture 2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
        <p:nvSpPr>
          <p:cNvPr id="5" name="Cover Image Placeholder"/>
          <p:cNvSpPr>
            <a:spLocks noGrp="1"/>
          </p:cNvSpPr>
          <p:nvPr>
            <p:ph type="pic" sz="quarter" idx="12" hasCustomPrompt="1"/>
          </p:nvPr>
        </p:nvSpPr>
        <p:spPr>
          <a:xfrm>
            <a:off x="1" y="0"/>
            <a:ext cx="12195175" cy="3430006"/>
          </a:xfrm>
          <a:noFill/>
        </p:spPr>
        <p:txBody>
          <a:bodyPr tIns="504000"/>
          <a:lstStyle>
            <a:lvl1pPr algn="ctr">
              <a:defRPr sz="1600">
                <a:solidFill>
                  <a:schemeClr val="tx1"/>
                </a:solidFill>
              </a:defRPr>
            </a:lvl1pPr>
          </a:lstStyle>
          <a:p>
            <a:r>
              <a:rPr lang="en-US" dirty="0"/>
              <a:t>Click to insert illustration</a:t>
            </a:r>
          </a:p>
        </p:txBody>
      </p:sp>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a:t>INTERNAL</a:t>
            </a:r>
            <a:endParaRPr lang="en-US" sz="900" b="0" dirty="0"/>
          </a:p>
        </p:txBody>
      </p:sp>
      <p:sp>
        <p:nvSpPr>
          <p:cNvPr id="19" name="Speaker"/>
          <p:cNvSpPr>
            <a:spLocks noGrp="1"/>
          </p:cNvSpPr>
          <p:nvPr userDrawn="1">
            <p:ph type="subTitle" idx="1" hasCustomPrompt="1"/>
          </p:nvPr>
        </p:nvSpPr>
        <p:spPr bwMode="gray">
          <a:xfrm>
            <a:off x="288000" y="5130489"/>
            <a:ext cx="1090080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20" name="Presentation Title"/>
          <p:cNvSpPr>
            <a:spLocks noGrp="1"/>
          </p:cNvSpPr>
          <p:nvPr userDrawn="1">
            <p:ph type="body" sz="quarter" idx="14" hasCustomPrompt="1"/>
          </p:nvPr>
        </p:nvSpPr>
        <p:spPr>
          <a:xfrm>
            <a:off x="288000" y="4024430"/>
            <a:ext cx="10899174" cy="997196"/>
          </a:xfrm>
        </p:spPr>
        <p:txBody>
          <a:bodyPr wrap="square">
            <a:spAutoFit/>
          </a:bodyPr>
          <a:lstStyle>
            <a:lvl1pPr>
              <a:lnSpc>
                <a:spcPct val="90000"/>
              </a:lnSpc>
              <a:spcBef>
                <a:spcPts val="0"/>
              </a:spcBef>
              <a:defRPr sz="3600" b="1" baseline="0"/>
            </a:lvl1pPr>
          </a:lstStyle>
          <a:p>
            <a:pPr lvl="0"/>
            <a:r>
              <a:rPr lang="en-US" dirty="0"/>
              <a:t>Presentation Title </a:t>
            </a:r>
            <a:br>
              <a:rPr lang="en-US" dirty="0"/>
            </a:br>
            <a:r>
              <a:rPr lang="en-US" dirty="0"/>
              <a:t>Goes Here and Here.</a:t>
            </a:r>
          </a:p>
        </p:txBody>
      </p:sp>
    </p:spTree>
    <p:extLst>
      <p:ext uri="{BB962C8B-B14F-4D97-AF65-F5344CB8AC3E}">
        <p14:creationId xmlns:p14="http://schemas.microsoft.com/office/powerpoint/2010/main" val="134484936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white">
    <p:spTree>
      <p:nvGrpSpPr>
        <p:cNvPr id="1" name=""/>
        <p:cNvGrpSpPr/>
        <p:nvPr/>
      </p:nvGrpSpPr>
      <p:grpSpPr>
        <a:xfrm>
          <a:off x="0" y="0"/>
          <a:ext cx="0" cy="0"/>
          <a:chOff x="0" y="0"/>
          <a:chExt cx="0" cy="0"/>
        </a:xfrm>
      </p:grpSpPr>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a:t>INTERNAL</a:t>
            </a:r>
            <a:endParaRPr lang="en-US" sz="900" b="0" dirty="0"/>
          </a:p>
        </p:txBody>
      </p:sp>
      <p:sp>
        <p:nvSpPr>
          <p:cNvPr id="6" name="Speaker"/>
          <p:cNvSpPr>
            <a:spLocks noGrp="1"/>
          </p:cNvSpPr>
          <p:nvPr userDrawn="1">
            <p:ph type="subTitle" idx="1" hasCustomPrompt="1"/>
          </p:nvPr>
        </p:nvSpPr>
        <p:spPr bwMode="gray">
          <a:xfrm>
            <a:off x="288000" y="4268503"/>
            <a:ext cx="8595171"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10" name="Presentation Title"/>
          <p:cNvSpPr>
            <a:spLocks noGrp="1"/>
          </p:cNvSpPr>
          <p:nvPr>
            <p:ph type="body" sz="quarter" idx="14" hasCustomPrompt="1"/>
          </p:nvPr>
        </p:nvSpPr>
        <p:spPr>
          <a:xfrm>
            <a:off x="288000" y="2706317"/>
            <a:ext cx="8595171" cy="997196"/>
          </a:xfrm>
        </p:spPr>
        <p:txBody>
          <a:bodyPr wrap="square">
            <a:noAutofit/>
          </a:bodyPr>
          <a:lstStyle>
            <a:lvl1pPr>
              <a:lnSpc>
                <a:spcPct val="90000"/>
              </a:lnSpc>
              <a:spcBef>
                <a:spcPts val="0"/>
              </a:spcBef>
              <a:defRPr sz="3600" b="1" baseline="0"/>
            </a:lvl1pPr>
          </a:lstStyle>
          <a:p>
            <a:pPr lvl="0"/>
            <a:r>
              <a:rPr lang="en-US" dirty="0"/>
              <a:t>Title Goes Here </a:t>
            </a:r>
            <a:br>
              <a:rPr lang="en-US" dirty="0"/>
            </a:br>
            <a:r>
              <a:rPr lang="en-US" dirty="0"/>
              <a:t>and Here and Here.</a:t>
            </a:r>
          </a:p>
        </p:txBody>
      </p:sp>
      <p:grpSp>
        <p:nvGrpSpPr>
          <p:cNvPr id="2" name="Group 1"/>
          <p:cNvGrpSpPr/>
          <p:nvPr userDrawn="1"/>
        </p:nvGrpSpPr>
        <p:grpSpPr>
          <a:xfrm>
            <a:off x="9171173" y="0"/>
            <a:ext cx="3024002" cy="6858000"/>
            <a:chOff x="9171173" y="0"/>
            <a:chExt cx="3024002" cy="6855990"/>
          </a:xfrm>
        </p:grpSpPr>
        <p:sp>
          <p:nvSpPr>
            <p:cNvPr id="17" name="Rectangle 16"/>
            <p:cNvSpPr/>
            <p:nvPr userDrawn="1"/>
          </p:nvSpPr>
          <p:spPr bwMode="gray">
            <a:xfrm>
              <a:off x="11187175" y="0"/>
              <a:ext cx="1008000" cy="6855990"/>
            </a:xfrm>
            <a:prstGeom prst="rect">
              <a:avLst/>
            </a:prstGeom>
            <a:solidFill>
              <a:schemeClr val="accent1"/>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179174" y="0"/>
              <a:ext cx="1008000" cy="685599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21"/>
            <p:cNvSpPr/>
            <p:nvPr userDrawn="1"/>
          </p:nvSpPr>
          <p:spPr bwMode="gray">
            <a:xfrm>
              <a:off x="9171173" y="0"/>
              <a:ext cx="1008000" cy="685599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Tree>
    <p:extLst>
      <p:ext uri="{BB962C8B-B14F-4D97-AF65-F5344CB8AC3E}">
        <p14:creationId xmlns:p14="http://schemas.microsoft.com/office/powerpoint/2010/main" val="1982410628"/>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with pictogram">
    <p:spTree>
      <p:nvGrpSpPr>
        <p:cNvPr id="1" name=""/>
        <p:cNvGrpSpPr/>
        <p:nvPr/>
      </p:nvGrpSpPr>
      <p:grpSpPr>
        <a:xfrm>
          <a:off x="0" y="0"/>
          <a:ext cx="0" cy="0"/>
          <a:chOff x="0" y="0"/>
          <a:chExt cx="0" cy="0"/>
        </a:xfrm>
      </p:grpSpPr>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a:t>INTERNAL</a:t>
            </a:r>
            <a:endParaRPr lang="en-US" sz="900" b="0" dirty="0"/>
          </a:p>
        </p:txBody>
      </p:sp>
      <p:sp>
        <p:nvSpPr>
          <p:cNvPr id="6" name="Speaker"/>
          <p:cNvSpPr>
            <a:spLocks noGrp="1"/>
          </p:cNvSpPr>
          <p:nvPr userDrawn="1">
            <p:ph type="subTitle" idx="1" hasCustomPrompt="1"/>
          </p:nvPr>
        </p:nvSpPr>
        <p:spPr bwMode="gray">
          <a:xfrm>
            <a:off x="288001" y="4268503"/>
            <a:ext cx="637343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10" name="Presentation Title"/>
          <p:cNvSpPr>
            <a:spLocks noGrp="1"/>
          </p:cNvSpPr>
          <p:nvPr>
            <p:ph type="body" sz="quarter" idx="14" hasCustomPrompt="1"/>
          </p:nvPr>
        </p:nvSpPr>
        <p:spPr>
          <a:xfrm>
            <a:off x="288001" y="2706317"/>
            <a:ext cx="6373430" cy="997196"/>
          </a:xfrm>
        </p:spPr>
        <p:txBody>
          <a:bodyPr wrap="square">
            <a:noAutofit/>
          </a:bodyPr>
          <a:lstStyle>
            <a:lvl1pPr>
              <a:lnSpc>
                <a:spcPct val="90000"/>
              </a:lnSpc>
              <a:spcBef>
                <a:spcPts val="0"/>
              </a:spcBef>
              <a:defRPr sz="3600" b="1" baseline="0"/>
            </a:lvl1pPr>
          </a:lstStyle>
          <a:p>
            <a:pPr lvl="0"/>
            <a:r>
              <a:rPr lang="en-US" dirty="0"/>
              <a:t>Title Goes Here </a:t>
            </a:r>
            <a:br>
              <a:rPr lang="en-US" dirty="0"/>
            </a:br>
            <a:r>
              <a:rPr lang="en-US" dirty="0"/>
              <a:t>and Here and Here.</a:t>
            </a:r>
          </a:p>
        </p:txBody>
      </p:sp>
      <p:sp>
        <p:nvSpPr>
          <p:cNvPr id="7" name="Picture Placeholder 6"/>
          <p:cNvSpPr>
            <a:spLocks noGrp="1"/>
          </p:cNvSpPr>
          <p:nvPr>
            <p:ph type="pic" sz="quarter" idx="16"/>
          </p:nvPr>
        </p:nvSpPr>
        <p:spPr>
          <a:xfrm>
            <a:off x="6954855" y="963000"/>
            <a:ext cx="4932000" cy="4932000"/>
          </a:xfrm>
        </p:spPr>
        <p:txBody>
          <a:bodyPr/>
          <a:lstStyle/>
          <a:p>
            <a:endParaRPr lang="de-DE" dirty="0"/>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Tree>
    <p:extLst>
      <p:ext uri="{BB962C8B-B14F-4D97-AF65-F5344CB8AC3E}">
        <p14:creationId xmlns:p14="http://schemas.microsoft.com/office/powerpoint/2010/main" val="304804629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Agenda items placeholder"/>
          <p:cNvSpPr>
            <a:spLocks noGrp="1"/>
          </p:cNvSpPr>
          <p:nvPr>
            <p:ph type="body" sz="quarter" idx="10" hasCustomPrompt="1"/>
          </p:nvPr>
        </p:nvSpPr>
        <p:spPr>
          <a:xfrm>
            <a:off x="504000" y="1620000"/>
            <a:ext cx="11185200" cy="4230000"/>
          </a:xfrm>
        </p:spPr>
        <p:txBody>
          <a:bodyPr>
            <a:noAutofit/>
          </a:bodyPr>
          <a:lstStyle>
            <a:lvl1pPr marL="0" marR="0" indent="0" algn="l" defTabSz="1088558" rtl="0" eaLnBrk="1" fontAlgn="auto" latinLnBrk="0" hangingPunct="1">
              <a:lnSpc>
                <a:spcPct val="100000"/>
              </a:lnSpc>
              <a:spcBef>
                <a:spcPts val="3000"/>
              </a:spcBef>
              <a:spcAft>
                <a:spcPts val="0"/>
              </a:spcAft>
              <a:buClr>
                <a:schemeClr val="accent1"/>
              </a:buClr>
              <a:buSzPct val="80000"/>
              <a:buFontTx/>
              <a:buNone/>
              <a:tabLst/>
              <a:defRPr sz="2000" b="0"/>
            </a:lvl1pPr>
            <a:lvl2pPr marL="179964" marR="0" indent="-179964" algn="l" defTabSz="1088558" rtl="0" eaLnBrk="1" fontAlgn="auto" latinLnBrk="0" hangingPunct="1">
              <a:lnSpc>
                <a:spcPct val="100000"/>
              </a:lnSpc>
              <a:spcBef>
                <a:spcPts val="600"/>
              </a:spcBef>
              <a:spcAft>
                <a:spcPts val="0"/>
              </a:spcAft>
              <a:buClr>
                <a:schemeClr val="accent1"/>
              </a:buClr>
              <a:buSzPct val="100000"/>
              <a:buFont typeface="Wingdings" panose="05000000000000000000" pitchFamily="2" charset="2"/>
              <a:buChar char="§"/>
              <a:tabLst/>
              <a:defRPr sz="1800"/>
            </a:lvl2pPr>
            <a:lvl3pPr marL="359928" marR="0" indent="-179352" algn="l" defTabSz="1088558" rtl="0" eaLnBrk="1" fontAlgn="auto" latinLnBrk="0" hangingPunct="1">
              <a:lnSpc>
                <a:spcPct val="100000"/>
              </a:lnSpc>
              <a:spcBef>
                <a:spcPts val="400"/>
              </a:spcBef>
              <a:spcAft>
                <a:spcPts val="0"/>
              </a:spcAft>
              <a:buClr>
                <a:schemeClr val="tx1"/>
              </a:buClr>
              <a:buSzPct val="100000"/>
              <a:buFont typeface="Arial" pitchFamily="34" charset="0"/>
              <a:buChar char="–"/>
              <a:tabLst/>
              <a:defRPr sz="1800" baseline="0"/>
            </a:lvl3pPr>
            <a:lvl4pPr marL="539892" marR="0" indent="-179964" algn="l" defTabSz="1088558" rtl="0" eaLnBrk="1" fontAlgn="auto" latinLnBrk="0" hangingPunct="1">
              <a:lnSpc>
                <a:spcPct val="100000"/>
              </a:lnSpc>
              <a:spcBef>
                <a:spcPts val="250"/>
              </a:spcBef>
              <a:spcAft>
                <a:spcPts val="0"/>
              </a:spcAft>
              <a:buClr>
                <a:schemeClr val="tx1"/>
              </a:buClr>
              <a:buSzPct val="100000"/>
              <a:buFont typeface="Courier New" pitchFamily="49" charset="0"/>
              <a:buChar char="o"/>
              <a:tabLst/>
              <a:defRPr sz="1600"/>
            </a:lvl4pPr>
            <a:lvl5pPr>
              <a:buClr>
                <a:schemeClr val="accent2"/>
              </a:buClr>
              <a:buFont typeface="Arial" pitchFamily="34" charset="0"/>
              <a:buChar char="–"/>
              <a:defRPr/>
            </a:lvl5pPr>
          </a:lstStyle>
          <a:p>
            <a:pPr lvl="0"/>
            <a:r>
              <a:rPr lang="en-US" dirty="0"/>
              <a:t>Agenda Item/Divider Headline</a:t>
            </a:r>
          </a:p>
          <a:p>
            <a:pPr lvl="1"/>
            <a:r>
              <a:rPr lang="en-US" dirty="0"/>
              <a:t>Details</a:t>
            </a:r>
          </a:p>
        </p:txBody>
      </p:sp>
      <p:sp>
        <p:nvSpPr>
          <p:cNvPr id="3" name="Agenda title"/>
          <p:cNvSpPr>
            <a:spLocks noGrp="1"/>
          </p:cNvSpPr>
          <p:nvPr>
            <p:ph type="title" hasCustomPrompt="1"/>
          </p:nvPr>
        </p:nvSpPr>
        <p:spPr/>
        <p:txBody>
          <a:bodyPr/>
          <a:lstStyle>
            <a:lvl1pPr>
              <a:defRPr/>
            </a:lvl1pPr>
          </a:lstStyle>
          <a:p>
            <a:r>
              <a:rPr lang="en-US" dirty="0"/>
              <a:t>Agenda</a:t>
            </a:r>
          </a:p>
        </p:txBody>
      </p:sp>
    </p:spTree>
    <p:extLst>
      <p:ext uri="{BB962C8B-B14F-4D97-AF65-F5344CB8AC3E}">
        <p14:creationId xmlns:p14="http://schemas.microsoft.com/office/powerpoint/2010/main" val="1859360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Page">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gray">
          <a:xfrm>
            <a:off x="504000" y="3090446"/>
            <a:ext cx="11185200" cy="677108"/>
          </a:xfrm>
        </p:spPr>
        <p:txBody>
          <a:bodyPr anchor="ctr" anchorCtr="0">
            <a:noAutofit/>
          </a:bodyPr>
          <a:lstStyle>
            <a:lvl1pPr>
              <a:defRPr sz="4400">
                <a:solidFill>
                  <a:schemeClr val="tx1"/>
                </a:solidFill>
                <a:latin typeface="+mj-lt"/>
              </a:defRPr>
            </a:lvl1pPr>
          </a:lstStyle>
          <a:p>
            <a:r>
              <a:rPr lang="en-US" dirty="0"/>
              <a:t>Divider page</a:t>
            </a:r>
            <a:endParaRPr lang="de-DE" dirty="0"/>
          </a:p>
        </p:txBody>
      </p:sp>
    </p:spTree>
    <p:extLst>
      <p:ext uri="{BB962C8B-B14F-4D97-AF65-F5344CB8AC3E}">
        <p14:creationId xmlns:p14="http://schemas.microsoft.com/office/powerpoint/2010/main" val="410952787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Page with image">
    <p:spTree>
      <p:nvGrpSpPr>
        <p:cNvPr id="1" name=""/>
        <p:cNvGrpSpPr/>
        <p:nvPr/>
      </p:nvGrpSpPr>
      <p:grpSpPr>
        <a:xfrm>
          <a:off x="0" y="0"/>
          <a:ext cx="0" cy="0"/>
          <a:chOff x="0" y="0"/>
          <a:chExt cx="0" cy="0"/>
        </a:xfrm>
      </p:grpSpPr>
      <p:sp>
        <p:nvSpPr>
          <p:cNvPr id="4" name="Divider image placeholder"/>
          <p:cNvSpPr>
            <a:spLocks noGrp="1"/>
          </p:cNvSpPr>
          <p:nvPr>
            <p:ph type="pic" sz="quarter" idx="12" hasCustomPrompt="1"/>
          </p:nvPr>
        </p:nvSpPr>
        <p:spPr>
          <a:xfrm>
            <a:off x="1" y="3427200"/>
            <a:ext cx="12195175" cy="3430800"/>
          </a:xfrm>
          <a:noFill/>
        </p:spPr>
        <p:txBody>
          <a:bodyPr tIns="324000"/>
          <a:lstStyle>
            <a:lvl1pPr marL="0" marR="0" indent="0" algn="ctr" defTabSz="1088558" rtl="0" eaLnBrk="1" fontAlgn="auto" latinLnBrk="0" hangingPunct="1">
              <a:lnSpc>
                <a:spcPct val="100000"/>
              </a:lnSpc>
              <a:spcBef>
                <a:spcPts val="1200"/>
              </a:spcBef>
              <a:spcAft>
                <a:spcPts val="0"/>
              </a:spcAft>
              <a:buClr>
                <a:schemeClr val="accent1"/>
              </a:buClr>
              <a:buSzPct val="80000"/>
              <a:buFontTx/>
              <a:buNone/>
              <a:tabLst/>
              <a:defRPr sz="1600">
                <a:solidFill>
                  <a:schemeClr val="tx1"/>
                </a:solidFill>
              </a:defRPr>
            </a:lvl1pPr>
          </a:lstStyle>
          <a:p>
            <a:pPr marL="0" marR="0" lvl="0" indent="0" algn="ctr" defTabSz="1088558" rtl="0" eaLnBrk="1" fontAlgn="auto" latinLnBrk="0" hangingPunct="1">
              <a:lnSpc>
                <a:spcPct val="100000"/>
              </a:lnSpc>
              <a:spcBef>
                <a:spcPts val="1200"/>
              </a:spcBef>
              <a:spcAft>
                <a:spcPts val="0"/>
              </a:spcAft>
              <a:buClr>
                <a:schemeClr val="accent1"/>
              </a:buClr>
              <a:buSzPct val="80000"/>
              <a:buFontTx/>
              <a:buNone/>
              <a:tabLst/>
              <a:defRPr/>
            </a:pPr>
            <a:r>
              <a:rPr lang="en-US" dirty="0"/>
              <a:t>Placeholder for image and illustration scene art</a:t>
            </a:r>
          </a:p>
        </p:txBody>
      </p:sp>
      <p:sp>
        <p:nvSpPr>
          <p:cNvPr id="2" name="Divider text"/>
          <p:cNvSpPr>
            <a:spLocks noGrp="1"/>
          </p:cNvSpPr>
          <p:nvPr>
            <p:ph type="ctrTitle" hasCustomPrompt="1"/>
          </p:nvPr>
        </p:nvSpPr>
        <p:spPr bwMode="gray">
          <a:xfrm>
            <a:off x="504000" y="1375046"/>
            <a:ext cx="11185200" cy="677108"/>
          </a:xfrm>
        </p:spPr>
        <p:txBody>
          <a:bodyPr anchor="t" anchorCtr="0">
            <a:noAutofit/>
          </a:bodyPr>
          <a:lstStyle>
            <a:lvl1pPr>
              <a:defRPr sz="4400">
                <a:solidFill>
                  <a:schemeClr val="tx1"/>
                </a:solidFill>
                <a:latin typeface="+mj-lt"/>
              </a:defRPr>
            </a:lvl1pPr>
          </a:lstStyle>
          <a:p>
            <a:r>
              <a:rPr lang="en-US" dirty="0"/>
              <a:t>Divider page</a:t>
            </a:r>
            <a:endParaRPr lang="de-DE" dirty="0"/>
          </a:p>
        </p:txBody>
      </p:sp>
    </p:spTree>
    <p:extLst>
      <p:ext uri="{BB962C8B-B14F-4D97-AF65-F5344CB8AC3E}">
        <p14:creationId xmlns:p14="http://schemas.microsoft.com/office/powerpoint/2010/main" val="100898527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466743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4" name="Text placeholder - column 2"/>
          <p:cNvSpPr>
            <a:spLocks noGrp="1"/>
          </p:cNvSpPr>
          <p:nvPr>
            <p:ph type="body" sz="quarter" idx="10" hasCustomPrompt="1"/>
          </p:nvPr>
        </p:nvSpPr>
        <p:spPr>
          <a:xfrm>
            <a:off x="503999" y="1620000"/>
            <a:ext cx="11186477"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129332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4" name="Text placeholder - column 2"/>
          <p:cNvSpPr>
            <a:spLocks noGrp="1"/>
          </p:cNvSpPr>
          <p:nvPr>
            <p:ph type="body" sz="quarter" idx="10" hasCustomPrompt="1"/>
          </p:nvPr>
        </p:nvSpPr>
        <p:spPr>
          <a:xfrm>
            <a:off x="504000"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 column 1"/>
          <p:cNvSpPr>
            <a:spLocks noGrp="1"/>
          </p:cNvSpPr>
          <p:nvPr>
            <p:ph type="body" sz="quarter" idx="11" hasCustomPrompt="1"/>
          </p:nvPr>
        </p:nvSpPr>
        <p:spPr>
          <a:xfrm>
            <a:off x="6362477"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630481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8126477"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 column 2"/>
          <p:cNvSpPr>
            <a:spLocks noGrp="1"/>
          </p:cNvSpPr>
          <p:nvPr>
            <p:ph type="body" sz="quarter" idx="12" hasCustomPrompt="1"/>
          </p:nvPr>
        </p:nvSpPr>
        <p:spPr>
          <a:xfrm>
            <a:off x="4315238"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 column 1"/>
          <p:cNvSpPr>
            <a:spLocks noGrp="1"/>
          </p:cNvSpPr>
          <p:nvPr>
            <p:ph type="body" sz="quarter" idx="10" hasCustomPrompt="1"/>
          </p:nvPr>
        </p:nvSpPr>
        <p:spPr>
          <a:xfrm>
            <a:off x="504000"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8664163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4770000"/>
            <a:ext cx="5328000" cy="1080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5328000" cy="2631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17" name="Text placeholder - column 2"/>
          <p:cNvSpPr>
            <a:spLocks noGrp="1"/>
          </p:cNvSpPr>
          <p:nvPr>
            <p:ph type="body" sz="quarter" idx="13" hasCustomPrompt="1"/>
          </p:nvPr>
        </p:nvSpPr>
        <p:spPr>
          <a:xfrm>
            <a:off x="6362477" y="4770000"/>
            <a:ext cx="5328000" cy="1080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6362477" y="1620000"/>
            <a:ext cx="5328000" cy="2631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25049412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17" name="Text placeholder - column 2"/>
          <p:cNvSpPr>
            <a:spLocks noGrp="1"/>
          </p:cNvSpPr>
          <p:nvPr>
            <p:ph type="body" sz="quarter" idx="13" hasCustomPrompt="1"/>
          </p:nvPr>
        </p:nvSpPr>
        <p:spPr>
          <a:xfrm>
            <a:off x="8299277"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8299277"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9" name="Text placeholder - column 2"/>
          <p:cNvSpPr>
            <a:spLocks noGrp="1"/>
          </p:cNvSpPr>
          <p:nvPr>
            <p:ph type="body" sz="quarter" idx="15" hasCustomPrompt="1"/>
          </p:nvPr>
        </p:nvSpPr>
        <p:spPr>
          <a:xfrm>
            <a:off x="4401639"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4401639"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7276675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3878220"/>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17" name="Text placeholder - column 2"/>
          <p:cNvSpPr>
            <a:spLocks noGrp="1"/>
          </p:cNvSpPr>
          <p:nvPr>
            <p:ph type="body" sz="quarter" idx="13" hasCustomPrompt="1"/>
          </p:nvPr>
        </p:nvSpPr>
        <p:spPr>
          <a:xfrm>
            <a:off x="9274877"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9274877"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9" name="Text placeholder - column 2"/>
          <p:cNvSpPr>
            <a:spLocks noGrp="1"/>
          </p:cNvSpPr>
          <p:nvPr>
            <p:ph type="body" sz="quarter" idx="15" hasCustomPrompt="1"/>
          </p:nvPr>
        </p:nvSpPr>
        <p:spPr>
          <a:xfrm>
            <a:off x="3427626"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3427626"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13" name="Text placeholder - column 2"/>
          <p:cNvSpPr>
            <a:spLocks noGrp="1"/>
          </p:cNvSpPr>
          <p:nvPr>
            <p:ph type="body" sz="quarter" idx="17" hasCustomPrompt="1"/>
          </p:nvPr>
        </p:nvSpPr>
        <p:spPr>
          <a:xfrm>
            <a:off x="6351252"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4" name="Picture Placeholder 4"/>
          <p:cNvSpPr>
            <a:spLocks noGrp="1"/>
          </p:cNvSpPr>
          <p:nvPr>
            <p:ph type="pic" sz="quarter" idx="18" hasCustomPrompt="1"/>
          </p:nvPr>
        </p:nvSpPr>
        <p:spPr bwMode="gray">
          <a:xfrm>
            <a:off x="6351252"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26805944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bg1"/>
        </a:solidFill>
        <a:effectLst/>
      </p:bgPr>
    </p:bg>
    <p:spTree>
      <p:nvGrpSpPr>
        <p:cNvPr id="1" name=""/>
        <p:cNvGrpSpPr/>
        <p:nvPr/>
      </p:nvGrpSpPr>
      <p:grpSpPr>
        <a:xfrm>
          <a:off x="0" y="0"/>
          <a:ext cx="0" cy="0"/>
          <a:chOff x="0" y="0"/>
          <a:chExt cx="0" cy="0"/>
        </a:xfrm>
      </p:grpSpPr>
      <p:sp>
        <p:nvSpPr>
          <p:cNvPr id="5" name="Quote placeholder"/>
          <p:cNvSpPr>
            <a:spLocks noGrp="1"/>
          </p:cNvSpPr>
          <p:nvPr>
            <p:ph type="body" sz="quarter" idx="10" hasCustomPrompt="1"/>
          </p:nvPr>
        </p:nvSpPr>
        <p:spPr>
          <a:xfrm>
            <a:off x="504000" y="1800000"/>
            <a:ext cx="11185200" cy="3285032"/>
          </a:xfrm>
        </p:spPr>
        <p:txBody>
          <a:bodyPr/>
          <a:lstStyle>
            <a:lvl1pPr marL="395921" indent="-395921">
              <a:lnSpc>
                <a:spcPct val="90000"/>
              </a:lnSpc>
              <a:spcBef>
                <a:spcPts val="600"/>
              </a:spcBef>
              <a:defRPr sz="5999" b="1">
                <a:solidFill>
                  <a:schemeClr val="tx1"/>
                </a:solidFill>
              </a:defRPr>
            </a:lvl1pPr>
            <a:lvl2pPr marL="395921" indent="0">
              <a:buNone/>
              <a:defRPr sz="1200">
                <a:solidFill>
                  <a:schemeClr val="tx1"/>
                </a:solidFill>
              </a:defRPr>
            </a:lvl2pPr>
          </a:lstStyle>
          <a:p>
            <a:pPr lvl="0"/>
            <a:r>
              <a:rPr lang="en-US" noProof="0" dirty="0"/>
              <a:t>“Quote goes here </a:t>
            </a:r>
            <a:br>
              <a:rPr lang="en-US" noProof="0" dirty="0"/>
            </a:br>
            <a:r>
              <a:rPr lang="en-US" noProof="0" dirty="0"/>
              <a:t>and here.”</a:t>
            </a:r>
          </a:p>
          <a:p>
            <a:pPr lvl="1"/>
            <a:r>
              <a:rPr lang="en-US" noProof="0" dirty="0"/>
              <a:t>Source</a:t>
            </a:r>
          </a:p>
        </p:txBody>
      </p:sp>
      <p:sp>
        <p:nvSpPr>
          <p:cNvPr id="2" name="Title 1"/>
          <p:cNvSpPr>
            <a:spLocks noGrp="1"/>
          </p:cNvSpPr>
          <p:nvPr>
            <p:ph type="title" hasCustomPrompt="1"/>
          </p:nvPr>
        </p:nvSpPr>
        <p:spPr/>
        <p:txBody>
          <a:bodyPr/>
          <a:lstStyle>
            <a:lvl1pPr>
              <a:defRPr>
                <a:solidFill>
                  <a:schemeClr val="tx1"/>
                </a:solidFill>
              </a:defRPr>
            </a:lvl1pPr>
          </a:lstStyle>
          <a:p>
            <a:r>
              <a:rPr lang="en-US" noProof="0" dirty="0"/>
              <a:t>Insert page title (sentence case)</a:t>
            </a:r>
            <a:endParaRPr lang="en-US" dirty="0"/>
          </a:p>
        </p:txBody>
      </p:sp>
    </p:spTree>
    <p:extLst>
      <p:ext uri="{BB962C8B-B14F-4D97-AF65-F5344CB8AC3E}">
        <p14:creationId xmlns:p14="http://schemas.microsoft.com/office/powerpoint/2010/main" val="9327859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text with image 1">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8127175" y="252000"/>
            <a:ext cx="4068000"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7" name="Text Placeholder 6"/>
          <p:cNvSpPr>
            <a:spLocks noGrp="1"/>
          </p:cNvSpPr>
          <p:nvPr>
            <p:ph type="body" sz="quarter" idx="11" hasCustomPrompt="1"/>
          </p:nvPr>
        </p:nvSpPr>
        <p:spPr bwMode="gray">
          <a:xfrm>
            <a:off x="503999" y="1620000"/>
            <a:ext cx="7092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de-DE" dirty="0"/>
          </a:p>
        </p:txBody>
      </p:sp>
      <p:sp>
        <p:nvSpPr>
          <p:cNvPr id="3" name="Title 2"/>
          <p:cNvSpPr>
            <a:spLocks noGrp="1"/>
          </p:cNvSpPr>
          <p:nvPr>
            <p:ph type="title" hasCustomPrompt="1"/>
          </p:nvPr>
        </p:nvSpPr>
        <p:spPr>
          <a:xfrm>
            <a:off x="504001" y="504000"/>
            <a:ext cx="709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34250202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text with image 2">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6111175" y="252000"/>
            <a:ext cx="6084000"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
        <p:nvSpPr>
          <p:cNvPr id="7" name="Text Placeholder 6"/>
          <p:cNvSpPr>
            <a:spLocks noGrp="1"/>
          </p:cNvSpPr>
          <p:nvPr>
            <p:ph type="body" sz="quarter" idx="11" hasCustomPrompt="1"/>
          </p:nvPr>
        </p:nvSpPr>
        <p:spPr bwMode="gray">
          <a:xfrm>
            <a:off x="503999" y="1620000"/>
            <a:ext cx="5112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de-DE" dirty="0"/>
          </a:p>
        </p:txBody>
      </p:sp>
      <p:sp>
        <p:nvSpPr>
          <p:cNvPr id="2" name="Title 1"/>
          <p:cNvSpPr>
            <a:spLocks noGrp="1"/>
          </p:cNvSpPr>
          <p:nvPr>
            <p:ph type="title" hasCustomPrompt="1"/>
          </p:nvPr>
        </p:nvSpPr>
        <p:spPr>
          <a:xfrm>
            <a:off x="504001" y="504000"/>
            <a:ext cx="511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5527877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with motion band">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1" y="252000"/>
            <a:ext cx="12195175"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19010498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Full bleed image ">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1" y="0"/>
            <a:ext cx="12195175" cy="6858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endParaRPr lang="de-DE" dirty="0"/>
          </a:p>
        </p:txBody>
      </p:sp>
    </p:spTree>
    <p:extLst>
      <p:ext uri="{BB962C8B-B14F-4D97-AF65-F5344CB8AC3E}">
        <p14:creationId xmlns:p14="http://schemas.microsoft.com/office/powerpoint/2010/main" val="41397911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and screenshot">
    <p:spTree>
      <p:nvGrpSpPr>
        <p:cNvPr id="1" name=""/>
        <p:cNvGrpSpPr/>
        <p:nvPr/>
      </p:nvGrpSpPr>
      <p:grpSpPr>
        <a:xfrm>
          <a:off x="0" y="0"/>
          <a:ext cx="0" cy="0"/>
          <a:chOff x="0" y="0"/>
          <a:chExt cx="0" cy="0"/>
        </a:xfrm>
      </p:grpSpPr>
      <p:sp>
        <p:nvSpPr>
          <p:cNvPr id="5" name="Picture Placeholder 4"/>
          <p:cNvSpPr>
            <a:spLocks noGrp="1"/>
          </p:cNvSpPr>
          <p:nvPr>
            <p:ph type="pic" sz="quarter" idx="13" hasCustomPrompt="1"/>
          </p:nvPr>
        </p:nvSpPr>
        <p:spPr bwMode="gray">
          <a:xfrm>
            <a:off x="6362477" y="1601628"/>
            <a:ext cx="5328000" cy="4230000"/>
          </a:xfrm>
          <a:solidFill>
            <a:schemeClr val="tx2">
              <a:alpha val="70000"/>
            </a:schemeClr>
          </a:solidFill>
        </p:spPr>
        <p:txBody>
          <a:bodyPr vert="horz" lIns="0" tIns="1512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screenshot</a:t>
            </a:r>
            <a:endParaRPr lang="de-DE" dirty="0"/>
          </a:p>
        </p:txBody>
      </p:sp>
      <p:sp>
        <p:nvSpPr>
          <p:cNvPr id="4" name="Text Placeholder 3"/>
          <p:cNvSpPr>
            <a:spLocks noGrp="1"/>
          </p:cNvSpPr>
          <p:nvPr>
            <p:ph type="body" sz="quarter" idx="10" hasCustomPrompt="1"/>
          </p:nvPr>
        </p:nvSpPr>
        <p:spPr>
          <a:xfrm>
            <a:off x="504000"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1287227243"/>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hasCustomPrompt="1"/>
          </p:nvPr>
        </p:nvSpPr>
        <p:spPr>
          <a:xfrm>
            <a:off x="504000" y="1620000"/>
            <a:ext cx="11185200" cy="4230000"/>
          </a:xfrm>
          <a:solidFill>
            <a:schemeClr val="tx2">
              <a:alpha val="70000"/>
            </a:schemeClr>
          </a:solidFill>
        </p:spPr>
        <p:txBody>
          <a:bodyPr tIns="1368000"/>
          <a:lstStyle>
            <a:lvl1pPr algn="ctr">
              <a:defRPr sz="1400" b="0"/>
            </a:lvl1pPr>
          </a:lstStyle>
          <a:p>
            <a:pPr lvl="0"/>
            <a:r>
              <a:rPr lang="en-US" dirty="0"/>
              <a:t>Click to add content</a:t>
            </a:r>
          </a:p>
        </p:txBody>
      </p:sp>
      <p:sp>
        <p:nvSpPr>
          <p:cNvPr id="2" name="Title 1"/>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41860987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Blank with motion band">
    <p:spTree>
      <p:nvGrpSpPr>
        <p:cNvPr id="1" name=""/>
        <p:cNvGrpSpPr/>
        <p:nvPr/>
      </p:nvGrpSpPr>
      <p:grpSpPr>
        <a:xfrm>
          <a:off x="0" y="0"/>
          <a:ext cx="0" cy="0"/>
          <a:chOff x="0" y="0"/>
          <a:chExt cx="0" cy="0"/>
        </a:xfrm>
      </p:grpSpPr>
      <p:sp>
        <p:nvSpPr>
          <p:cNvPr id="7" name="Rectangle 6"/>
          <p:cNvSpPr/>
          <p:nvPr userDrawn="1"/>
        </p:nvSpPr>
        <p:spPr bwMode="gray">
          <a:xfrm>
            <a:off x="236220" y="1142735"/>
            <a:ext cx="11795760" cy="220929"/>
          </a:xfrm>
          <a:prstGeom prst="rect">
            <a:avLst/>
          </a:prstGeom>
          <a:solidFill>
            <a:schemeClr val="bg1"/>
          </a:solidFill>
          <a:ln w="6350" algn="ctr">
            <a:noFill/>
            <a:miter lim="800000"/>
            <a:headEnd/>
            <a:tailEnd/>
          </a:ln>
        </p:spPr>
        <p:txBody>
          <a:bodyPr lIns="89979" tIns="71983" rIns="89979" bIns="71983"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33792483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2181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hank you and contact information">
    <p:spTree>
      <p:nvGrpSpPr>
        <p:cNvPr id="1" name=""/>
        <p:cNvGrpSpPr/>
        <p:nvPr/>
      </p:nvGrpSpPr>
      <p:grpSpPr>
        <a:xfrm>
          <a:off x="0" y="0"/>
          <a:ext cx="0" cy="0"/>
          <a:chOff x="0" y="0"/>
          <a:chExt cx="0" cy="0"/>
        </a:xfrm>
      </p:grpSpPr>
      <p:sp>
        <p:nvSpPr>
          <p:cNvPr id="93" name="Contact information"/>
          <p:cNvSpPr>
            <a:spLocks noGrp="1"/>
          </p:cNvSpPr>
          <p:nvPr>
            <p:ph type="body" sz="quarter" idx="10" hasCustomPrompt="1"/>
          </p:nvPr>
        </p:nvSpPr>
        <p:spPr>
          <a:xfrm>
            <a:off x="504000" y="2905487"/>
            <a:ext cx="5328000" cy="2501010"/>
          </a:xfrm>
        </p:spPr>
        <p:txBody>
          <a:bodyPr anchor="t" anchorCtr="0">
            <a:noAutofit/>
          </a:bodyPr>
          <a:lstStyle>
            <a:lvl1pPr>
              <a:spcBef>
                <a:spcPts val="0"/>
              </a:spcBef>
              <a:spcAft>
                <a:spcPts val="1200"/>
              </a:spcAft>
              <a:defRPr sz="1600" b="0"/>
            </a:lvl1pPr>
            <a:lvl2pPr marL="0" indent="0">
              <a:spcBef>
                <a:spcPts val="0"/>
              </a:spcBef>
              <a:buNone/>
              <a:defRPr sz="1600" b="0"/>
            </a:lvl2pPr>
          </a:lstStyle>
          <a:p>
            <a:r>
              <a:rPr lang="en-US" dirty="0"/>
              <a:t>Contact information:</a:t>
            </a:r>
          </a:p>
          <a:p>
            <a:pPr lvl="1"/>
            <a:r>
              <a:rPr lang="en-US" dirty="0"/>
              <a:t>F name L name</a:t>
            </a:r>
          </a:p>
          <a:p>
            <a:pPr lvl="1"/>
            <a:r>
              <a:rPr lang="en-US" dirty="0"/>
              <a:t>Title</a:t>
            </a:r>
          </a:p>
          <a:p>
            <a:pPr lvl="1"/>
            <a:r>
              <a:rPr lang="en-US" dirty="0"/>
              <a:t>Address</a:t>
            </a:r>
          </a:p>
          <a:p>
            <a:pPr lvl="1"/>
            <a:r>
              <a:rPr lang="en-US" dirty="0"/>
              <a:t>Phone number</a:t>
            </a:r>
          </a:p>
        </p:txBody>
      </p:sp>
      <p:sp>
        <p:nvSpPr>
          <p:cNvPr id="2" name="Thank you"/>
          <p:cNvSpPr>
            <a:spLocks noGrp="1"/>
          </p:cNvSpPr>
          <p:nvPr>
            <p:ph type="ctrTitle" hasCustomPrompt="1"/>
          </p:nvPr>
        </p:nvSpPr>
        <p:spPr bwMode="gray">
          <a:xfrm>
            <a:off x="504000" y="1467009"/>
            <a:ext cx="5328000" cy="923116"/>
          </a:xfrm>
        </p:spPr>
        <p:txBody>
          <a:bodyPr anchor="t" anchorCtr="0">
            <a:noAutofit/>
          </a:bodyPr>
          <a:lstStyle>
            <a:lvl1pPr>
              <a:defRPr sz="5500">
                <a:solidFill>
                  <a:schemeClr val="accent1"/>
                </a:solidFill>
                <a:latin typeface="+mj-lt"/>
              </a:defRPr>
            </a:lvl1pPr>
          </a:lstStyle>
          <a:p>
            <a:r>
              <a:rPr lang="en-US" dirty="0"/>
              <a:t>Thank you.</a:t>
            </a:r>
            <a:endParaRPr lang="de-DE" dirty="0"/>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4000" y="5994000"/>
            <a:ext cx="1578462" cy="360000"/>
          </a:xfrm>
          <a:prstGeom prst="rect">
            <a:avLst/>
          </a:prstGeom>
        </p:spPr>
      </p:pic>
    </p:spTree>
    <p:extLst>
      <p:ext uri="{BB962C8B-B14F-4D97-AF65-F5344CB8AC3E}">
        <p14:creationId xmlns:p14="http://schemas.microsoft.com/office/powerpoint/2010/main" val="781090314"/>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pyright">
    <p:spTree>
      <p:nvGrpSpPr>
        <p:cNvPr id="1" name=""/>
        <p:cNvGrpSpPr/>
        <p:nvPr/>
      </p:nvGrpSpPr>
      <p:grpSpPr>
        <a:xfrm>
          <a:off x="0" y="0"/>
          <a:ext cx="0" cy="0"/>
          <a:chOff x="0" y="0"/>
          <a:chExt cx="0" cy="0"/>
        </a:xfrm>
      </p:grpSpPr>
      <p:sp>
        <p:nvSpPr>
          <p:cNvPr id="4" name="TextBox 3"/>
          <p:cNvSpPr txBox="1"/>
          <p:nvPr/>
        </p:nvSpPr>
        <p:spPr bwMode="gray">
          <a:xfrm>
            <a:off x="503999" y="1620000"/>
            <a:ext cx="11185200" cy="3153980"/>
          </a:xfrm>
          <a:prstGeom prst="rect">
            <a:avLst/>
          </a:prstGeom>
          <a:noFill/>
        </p:spPr>
        <p:txBody>
          <a:bodyPr wrap="square" lIns="0" tIns="0" rIns="0" bIns="0" rtlCol="0">
            <a:spAutoFit/>
          </a:bodyPr>
          <a:lstStyle/>
          <a:p>
            <a:pPr>
              <a:spcBef>
                <a:spcPts val="1200"/>
              </a:spcBef>
            </a:pPr>
            <a:r>
              <a:rPr lang="en-US" sz="1100" kern="1200" dirty="0">
                <a:solidFill>
                  <a:schemeClr val="tx1"/>
                </a:solidFill>
                <a:latin typeface="Arial"/>
                <a:ea typeface="Arial Unicode MS" panose="020B0604020202020204" pitchFamily="34" charset="-128"/>
                <a:cs typeface="+mn-cs"/>
              </a:rPr>
              <a:t>No part of this publication may be reproduced or transmitted in any form or for any purpose without the express permission of SAP SE or an SAP affiliate company.</a:t>
            </a:r>
          </a:p>
          <a:p>
            <a:pPr>
              <a:spcBef>
                <a:spcPts val="1200"/>
              </a:spcBef>
            </a:pPr>
            <a:r>
              <a:rPr lang="en-US" sz="1100" kern="1200" dirty="0">
                <a:solidFill>
                  <a:schemeClr val="tx1"/>
                </a:solidFill>
                <a:latin typeface="Arial"/>
                <a:ea typeface="Arial Unicode MS" panose="020B0604020202020204" pitchFamily="34" charset="-128"/>
                <a:cs typeface="+mn-cs"/>
              </a:rPr>
              <a:t>The information contained herein may be changed without prior notice. Some software products marketed by SAP SE and its distributors contain proprietary software components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of other software vendors. National product specifications may vary.</a:t>
            </a:r>
          </a:p>
          <a:p>
            <a:pPr>
              <a:spcBef>
                <a:spcPts val="1200"/>
              </a:spcBef>
            </a:pPr>
            <a:r>
              <a:rPr lang="en-US" sz="1100" kern="1200" dirty="0">
                <a:solidFill>
                  <a:schemeClr val="tx1"/>
                </a:solidFill>
                <a:latin typeface="Arial"/>
                <a:ea typeface="Arial Unicode MS" panose="020B0604020202020204" pitchFamily="34" charset="-128"/>
                <a:cs typeface="+mn-cs"/>
              </a:rPr>
              <a:t>These materials are provided by SAP SE or an SAP affiliate company for informational purposes only, without representation or warranty of any kind, and SAP or its affiliated companies shall not be liable for errors or omissions with respect to the materials. The only warranties for SAP or SAP affiliate company products and services are those that are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set forth in the express warranty statements accompanying such products and services, if any. Nothing herein should be construed as constituting an additional warranty. </a:t>
            </a:r>
          </a:p>
          <a:p>
            <a:pPr>
              <a:spcBef>
                <a:spcPts val="1200"/>
              </a:spcBef>
            </a:pPr>
            <a:r>
              <a:rPr lang="en-US" sz="1100" kern="1200" dirty="0">
                <a:solidFill>
                  <a:schemeClr val="tx1"/>
                </a:solidFill>
                <a:latin typeface="Arial"/>
                <a:ea typeface="Arial Unicode MS" panose="020B0604020202020204" pitchFamily="34" charset="-128"/>
                <a:cs typeface="+mn-cs"/>
              </a:rPr>
              <a:t>In particular, SAP SE or its affiliated companies have no obligation to pursue any course of business outlined in this document or any related presentation, or to develop or release any functionality mentioned therein. This document, or any related presentation, and SAP SE’s or its affiliated companies’ strategy and possible future developments, products, and/or platform directions and functionality are all subject to change and may be changed by SAP SE or its affiliated companies at any time for any reason without notice. The information in this document is not a commitment, promise, or legal obligation to deliver any material, code, or functionality. All forward-looking statements are subject to various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risks and uncertainties that could cause actual results to differ materially from expectations. Readers are cautioned not to place undue reliance on these forward-looking statements, and they should not be relied upon in making purchasing decisions.</a:t>
            </a:r>
          </a:p>
          <a:p>
            <a:pPr>
              <a:spcBef>
                <a:spcPts val="1200"/>
              </a:spcBef>
            </a:pPr>
            <a:r>
              <a:rPr lang="en-US" sz="1100" kern="1200" dirty="0">
                <a:solidFill>
                  <a:schemeClr val="tx1"/>
                </a:solidFill>
                <a:latin typeface="Arial"/>
                <a:ea typeface="Arial Unicode MS" panose="020B0604020202020204" pitchFamily="34" charset="-128"/>
                <a:cs typeface="+mn-cs"/>
              </a:rPr>
              <a:t>SAP and other SAP products and services mentioned herein as well as their respective logos are trademarks or registered trademarks of SAP SE (or an SAP affiliate company)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in Germany and other countries. All other product and service names mentioned are the trademarks of their respective companies.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See </a:t>
            </a:r>
            <a:r>
              <a:rPr lang="en-US" sz="1100" kern="1200" dirty="0">
                <a:solidFill>
                  <a:schemeClr val="tx2"/>
                </a:solidFill>
                <a:latin typeface="Arial"/>
                <a:ea typeface="Arial Unicode MS" panose="020B0604020202020204" pitchFamily="34" charset="-128"/>
                <a:cs typeface="+mn-cs"/>
                <a:hlinkClick r:id="rId2"/>
              </a:rPr>
              <a:t>http://global.sap.com/corporate-en/legal/copyright/index.epx</a:t>
            </a:r>
            <a:r>
              <a:rPr lang="en-US" sz="1100" kern="1200" dirty="0">
                <a:solidFill>
                  <a:schemeClr val="tx2"/>
                </a:solidFill>
                <a:latin typeface="Arial"/>
                <a:ea typeface="Arial Unicode MS" panose="020B0604020202020204" pitchFamily="34" charset="-128"/>
                <a:cs typeface="+mn-cs"/>
              </a:rPr>
              <a:t> </a:t>
            </a:r>
            <a:r>
              <a:rPr lang="en-US" sz="1100" kern="1200" dirty="0">
                <a:solidFill>
                  <a:schemeClr val="tx1"/>
                </a:solidFill>
                <a:latin typeface="Arial"/>
                <a:ea typeface="Arial Unicode MS" panose="020B0604020202020204" pitchFamily="34" charset="-128"/>
                <a:cs typeface="+mn-cs"/>
              </a:rPr>
              <a:t>for additional trademark information and notices.</a:t>
            </a:r>
          </a:p>
        </p:txBody>
      </p:sp>
      <p:sp>
        <p:nvSpPr>
          <p:cNvPr id="5" name="TextBox 4"/>
          <p:cNvSpPr txBox="1"/>
          <p:nvPr userDrawn="1"/>
        </p:nvSpPr>
        <p:spPr bwMode="gray">
          <a:xfrm>
            <a:off x="504000" y="719834"/>
            <a:ext cx="9540674" cy="369246"/>
          </a:xfrm>
          <a:prstGeom prst="rect">
            <a:avLst/>
          </a:prstGeom>
        </p:spPr>
        <p:txBody>
          <a:bodyPr vert="horz" wrap="square" lIns="0" tIns="0" rIns="0" bIns="0" rtlCol="0" anchor="t" anchorCtr="0">
            <a:spAutoFit/>
          </a:bodyPr>
          <a:lstStyle>
            <a:lvl1pPr>
              <a:spcBef>
                <a:spcPct val="0"/>
              </a:spcBef>
              <a:buNone/>
              <a:defRPr sz="2400" b="1" baseline="0">
                <a:latin typeface="+mj-lt"/>
                <a:ea typeface="+mj-ea"/>
                <a:cs typeface="+mj-cs"/>
              </a:defRPr>
            </a:lvl1pPr>
          </a:lstStyle>
          <a:p>
            <a:pPr lvl="0"/>
            <a:r>
              <a:rPr lang="en-US" sz="2400" b="0" noProof="0" dirty="0"/>
              <a:t>© 2017 SAP SE or an SAP affiliate company. All rights reserved.</a:t>
            </a:r>
          </a:p>
        </p:txBody>
      </p:sp>
      <p:grpSp>
        <p:nvGrpSpPr>
          <p:cNvPr id="16" name="Group 15"/>
          <p:cNvGrpSpPr/>
          <p:nvPr userDrawn="1"/>
        </p:nvGrpSpPr>
        <p:grpSpPr>
          <a:xfrm>
            <a:off x="0" y="0"/>
            <a:ext cx="12196800" cy="251942"/>
            <a:chOff x="0" y="0"/>
            <a:chExt cx="12196800" cy="251942"/>
          </a:xfrm>
        </p:grpSpPr>
        <p:sp>
          <p:nvSpPr>
            <p:cNvPr id="17" name="Rectangle 16"/>
            <p:cNvSpPr/>
            <p:nvPr userDrawn="1"/>
          </p:nvSpPr>
          <p:spPr bwMode="gray">
            <a:xfrm>
              <a:off x="0" y="0"/>
              <a:ext cx="12196800" cy="251942"/>
            </a:xfrm>
            <a:prstGeom prst="rect">
              <a:avLst/>
            </a:prstGeom>
            <a:solidFill>
              <a:srgbClr val="000000"/>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18" name="Secondary Motion Band"/>
            <p:cNvGrpSpPr/>
            <p:nvPr userDrawn="1"/>
          </p:nvGrpSpPr>
          <p:grpSpPr>
            <a:xfrm>
              <a:off x="10683752" y="0"/>
              <a:ext cx="1513048" cy="251942"/>
              <a:chOff x="10682127" y="0"/>
              <a:chExt cx="1513048" cy="252000"/>
            </a:xfrm>
          </p:grpSpPr>
          <p:sp>
            <p:nvSpPr>
              <p:cNvPr id="19" name="Rectangle 18"/>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0" name="Rectangle 19"/>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1" name="Rectangle 20"/>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grpSp>
    </p:spTree>
    <p:extLst>
      <p:ext uri="{BB962C8B-B14F-4D97-AF65-F5344CB8AC3E}">
        <p14:creationId xmlns:p14="http://schemas.microsoft.com/office/powerpoint/2010/main" val="4519251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pyright german">
    <p:spTree>
      <p:nvGrpSpPr>
        <p:cNvPr id="1" name=""/>
        <p:cNvGrpSpPr/>
        <p:nvPr/>
      </p:nvGrpSpPr>
      <p:grpSpPr>
        <a:xfrm>
          <a:off x="0" y="0"/>
          <a:ext cx="0" cy="0"/>
          <a:chOff x="0" y="0"/>
          <a:chExt cx="0" cy="0"/>
        </a:xfrm>
      </p:grpSpPr>
      <p:sp>
        <p:nvSpPr>
          <p:cNvPr id="4" name="TextBox 3"/>
          <p:cNvSpPr txBox="1"/>
          <p:nvPr userDrawn="1"/>
        </p:nvSpPr>
        <p:spPr bwMode="gray">
          <a:xfrm>
            <a:off x="504000" y="1620000"/>
            <a:ext cx="11185200" cy="3830931"/>
          </a:xfrm>
          <a:prstGeom prst="rect">
            <a:avLst/>
          </a:prstGeom>
          <a:noFill/>
        </p:spPr>
        <p:txBody>
          <a:bodyPr wrap="square" lIns="0" tIns="0" rIns="0" bIns="0" rtlCol="0">
            <a:spAutoFit/>
          </a:bodyPr>
          <a:lstStyle/>
          <a:p>
            <a:pPr>
              <a:spcBef>
                <a:spcPts val="1200"/>
              </a:spcBef>
            </a:pPr>
            <a:r>
              <a:rPr lang="de-DE" sz="1100" kern="1200" noProof="0" dirty="0">
                <a:solidFill>
                  <a:schemeClr val="tx1"/>
                </a:solidFill>
                <a:effectLst/>
                <a:latin typeface="Arial"/>
                <a:ea typeface="+mn-ea"/>
                <a:cs typeface="+mn-cs"/>
              </a:rPr>
              <a:t>Weitergabe und Vervielfältigung dieser Publikation oder von Teilen daraus sind, zu welchem Zweck und in welcher Form auch immer, ohne die ausdrückliche schriftliche Genehmigung durch SAP SE oder ein SAP-Konzernunternehmen nicht gestattet.</a:t>
            </a:r>
          </a:p>
          <a:p>
            <a:pPr>
              <a:spcBef>
                <a:spcPts val="1200"/>
              </a:spcBef>
            </a:pPr>
            <a:r>
              <a:rPr lang="de-DE" sz="1100" kern="1200" noProof="0" dirty="0">
                <a:solidFill>
                  <a:schemeClr val="tx1"/>
                </a:solidFill>
                <a:effectLst/>
                <a:latin typeface="Arial"/>
                <a:ea typeface="+mn-ea"/>
                <a:cs typeface="+mn-cs"/>
              </a:rPr>
              <a:t>In dieser Publikation enthaltene Informationen können ohne vorherige Ankündigung geändert werden. Die von SAP SE oder deren Vertriebsfirmen angebotenen Softwareprodukte können Softwarekomponenten auch anderer Softwarehersteller enthalten. Produkte können länderspezifische Unterschiede aufweisen.</a:t>
            </a:r>
          </a:p>
          <a:p>
            <a:pPr>
              <a:spcBef>
                <a:spcPts val="1200"/>
              </a:spcBef>
            </a:pPr>
            <a:r>
              <a:rPr lang="de-DE" sz="1100" kern="1200" noProof="0" dirty="0">
                <a:solidFill>
                  <a:schemeClr val="tx1"/>
                </a:solidFill>
                <a:effectLst/>
                <a:latin typeface="Arial"/>
                <a:ea typeface="+mn-ea"/>
                <a:cs typeface="+mn-cs"/>
              </a:rPr>
              <a:t>Die vorliegenden Unterlagen werden von der SAP SE oder einem SAP-Konzernunternehmen bereitgestellt und dienen ausschließlich zu Informationszwecken. </a:t>
            </a:r>
            <a:br>
              <a:rPr lang="de-DE" sz="1100" kern="1200" noProof="0" dirty="0">
                <a:solidFill>
                  <a:schemeClr val="tx1"/>
                </a:solidFill>
                <a:effectLst/>
                <a:latin typeface="Arial"/>
                <a:ea typeface="+mn-ea"/>
                <a:cs typeface="+mn-cs"/>
              </a:rPr>
            </a:br>
            <a:r>
              <a:rPr lang="de-DE" sz="1100" kern="1200" noProof="0" dirty="0">
                <a:solidFill>
                  <a:schemeClr val="tx1"/>
                </a:solidFill>
                <a:effectLst/>
                <a:latin typeface="Arial"/>
                <a:ea typeface="+mn-ea"/>
                <a:cs typeface="+mn-cs"/>
              </a:rPr>
              <a:t>Die SAP SE oder ihre Konzernunternehmen übernehmen keinerlei Haftung oder Gewährleistung für Fehler oder Unvollständigkeiten in dieser Publikation. </a:t>
            </a:r>
            <a:br>
              <a:rPr lang="de-DE" sz="1100" kern="1200" noProof="0" dirty="0">
                <a:solidFill>
                  <a:schemeClr val="tx1"/>
                </a:solidFill>
                <a:effectLst/>
                <a:latin typeface="Arial"/>
                <a:ea typeface="+mn-ea"/>
                <a:cs typeface="+mn-cs"/>
              </a:rPr>
            </a:br>
            <a:r>
              <a:rPr lang="de-DE" sz="1100" kern="1200" noProof="0" dirty="0">
                <a:solidFill>
                  <a:schemeClr val="tx1"/>
                </a:solidFill>
                <a:effectLst/>
                <a:latin typeface="Arial"/>
                <a:ea typeface="+mn-ea"/>
                <a:cs typeface="+mn-cs"/>
              </a:rPr>
              <a:t>Die SAP SE oder ein SAP-Konzernunternehmen steht lediglich für Produkte und Dienstleistungen nach der Maßgabe ein, die in der Vereinbarung über die jeweiligen Produkte und Dienstleistungen ausdrücklich geregelt ist. Keine der hierin enthaltenen Informationen ist als zusätzliche Garantie zu interpretieren. </a:t>
            </a:r>
          </a:p>
          <a:p>
            <a:pPr>
              <a:spcBef>
                <a:spcPts val="1200"/>
              </a:spcBef>
            </a:pPr>
            <a:r>
              <a:rPr lang="de-DE" sz="1100" kern="1200" noProof="0" dirty="0">
                <a:solidFill>
                  <a:schemeClr val="tx1"/>
                </a:solidFill>
                <a:effectLst/>
                <a:latin typeface="Arial"/>
                <a:ea typeface="+mn-ea"/>
                <a:cs typeface="+mn-cs"/>
              </a:rPr>
              <a:t>Insbesondere sind die SAP SE oder ihre Konzernunternehmen in keiner Weise verpflichtet, in dieser Publikation oder einer zugehörigen Präsentation dargestellte Geschäftsabläufe zu verfolgen oder hierin wiedergegebene Funktionen zu entwickeln oder zu veröffentlichen. Diese Publikation oder eine zugehörige Präsentation, die Strategie und etwaige künftige Entwicklungen, Produkte und/oder Plattformen der SAP SE oder ihrer Konzernunternehmen können von der SAP SE oder ihren Konzernunternehmen jederzeit und ohne Angabe von Gründen unangekündigt geändert werden. Die in dieser Publikation enthaltenen Informationen stellen keine Zusage, kein Versprechen und keine rechtliche Verpflichtung zur Lieferung von Material, Code oder Funktionen dar. Sämtliche vorausschauenden Aussagen unterliegen unterschiedlichen Risiken und Unsicherheiten, durch die die tatsächlichen Ergebnisse von den Erwartungen abweichen können. Dem Leser wird empfohlen, diesen vorausschauenden Aussagen kein übertriebenes Vertrauen zu schenken und sich bei Kaufentscheidungen nicht auf sie zu stützen.</a:t>
            </a:r>
          </a:p>
          <a:p>
            <a:pPr>
              <a:spcBef>
                <a:spcPts val="1200"/>
              </a:spcBef>
            </a:pPr>
            <a:r>
              <a:rPr lang="de-DE" sz="1100" kern="1200" noProof="0" dirty="0">
                <a:solidFill>
                  <a:schemeClr val="tx1"/>
                </a:solidFill>
                <a:effectLst/>
                <a:latin typeface="Arial"/>
                <a:ea typeface="+mn-ea"/>
                <a:cs typeface="+mn-cs"/>
              </a:rPr>
              <a:t>SAP und andere in diesem Dokument erwähnte Produkte und Dienstleistungen von SAP sowie die dazugehörigen Logos sind Marken oder eingetragene Marken der SAP SE </a:t>
            </a:r>
            <a:br>
              <a:rPr lang="de-DE" sz="1100" kern="1200" noProof="0" dirty="0">
                <a:solidFill>
                  <a:schemeClr val="tx1"/>
                </a:solidFill>
                <a:effectLst/>
                <a:latin typeface="Arial"/>
                <a:ea typeface="+mn-ea"/>
                <a:cs typeface="+mn-cs"/>
              </a:rPr>
            </a:br>
            <a:r>
              <a:rPr lang="de-DE" sz="1100" kern="1200" noProof="0" dirty="0">
                <a:solidFill>
                  <a:schemeClr val="tx1"/>
                </a:solidFill>
                <a:effectLst/>
                <a:latin typeface="Arial"/>
                <a:ea typeface="+mn-ea"/>
                <a:cs typeface="+mn-cs"/>
              </a:rPr>
              <a:t>(oder von einem SAP-Konzernunternehmen) in Deutschland und verschiedenen anderen Ländern weltweit. Alle anderen Namen von Produkten und Dienstleistungen sind Marken der jeweiligen Firmen. </a:t>
            </a:r>
            <a:br>
              <a:rPr lang="de-DE" sz="1100" kern="1200" noProof="0" dirty="0">
                <a:solidFill>
                  <a:schemeClr val="tx1"/>
                </a:solidFill>
                <a:effectLst/>
                <a:latin typeface="Arial"/>
                <a:ea typeface="+mn-ea"/>
                <a:cs typeface="+mn-cs"/>
              </a:rPr>
            </a:br>
            <a:r>
              <a:rPr lang="de-DE" sz="1100" kern="1200" noProof="0" dirty="0">
                <a:solidFill>
                  <a:schemeClr val="tx1"/>
                </a:solidFill>
                <a:effectLst/>
                <a:latin typeface="Arial"/>
                <a:ea typeface="+mn-ea"/>
                <a:cs typeface="+mn-cs"/>
              </a:rPr>
              <a:t>Zusätzliche Informationen zur Marke und Vermerke finden Sie auf der Seite </a:t>
            </a:r>
            <a:r>
              <a:rPr lang="de-DE" sz="1100" kern="1200" noProof="0" dirty="0">
                <a:solidFill>
                  <a:schemeClr val="tx1"/>
                </a:solidFill>
                <a:effectLst/>
                <a:latin typeface="Arial"/>
                <a:ea typeface="+mn-ea"/>
                <a:cs typeface="+mn-cs"/>
                <a:hlinkClick r:id="rId2"/>
              </a:rPr>
              <a:t>http://www.sap.com/corporate-de/legal/copyright/index.epx</a:t>
            </a:r>
            <a:endParaRPr lang="de-DE" sz="1100" kern="1200" noProof="0" dirty="0">
              <a:solidFill>
                <a:schemeClr val="tx1"/>
              </a:solidFill>
              <a:effectLst/>
              <a:latin typeface="Arial"/>
              <a:ea typeface="+mn-ea"/>
              <a:cs typeface="+mn-cs"/>
            </a:endParaRPr>
          </a:p>
        </p:txBody>
      </p:sp>
      <p:sp>
        <p:nvSpPr>
          <p:cNvPr id="5" name="TextBox 4"/>
          <p:cNvSpPr txBox="1"/>
          <p:nvPr userDrawn="1"/>
        </p:nvSpPr>
        <p:spPr bwMode="gray">
          <a:xfrm>
            <a:off x="504000" y="719834"/>
            <a:ext cx="11185200" cy="369246"/>
          </a:xfrm>
          <a:prstGeom prst="rect">
            <a:avLst/>
          </a:prstGeom>
        </p:spPr>
        <p:txBody>
          <a:bodyPr vert="horz" wrap="square" lIns="0" tIns="0" rIns="0" bIns="0" rtlCol="0" anchor="t" anchorCtr="0">
            <a:spAutoFit/>
          </a:bodyPr>
          <a:lstStyle>
            <a:lvl1pPr>
              <a:spcBef>
                <a:spcPct val="0"/>
              </a:spcBef>
              <a:buNone/>
              <a:defRPr sz="2400" b="1" baseline="0">
                <a:latin typeface="+mj-lt"/>
                <a:ea typeface="+mj-ea"/>
                <a:cs typeface="+mj-cs"/>
              </a:defRPr>
            </a:lvl1pPr>
          </a:lstStyle>
          <a:p>
            <a:pPr lvl="0"/>
            <a:r>
              <a:rPr lang="en-US" sz="2400" b="0" noProof="0" dirty="0"/>
              <a:t>© </a:t>
            </a:r>
            <a:r>
              <a:rPr lang="de-DE" sz="2400" b="0" noProof="0" dirty="0"/>
              <a:t>2017 SAP SE oder ein SAP-Konzernunternehmen. Alle Rechte vorbehalten.</a:t>
            </a:r>
          </a:p>
        </p:txBody>
      </p:sp>
      <p:grpSp>
        <p:nvGrpSpPr>
          <p:cNvPr id="16" name="Group 15"/>
          <p:cNvGrpSpPr/>
          <p:nvPr userDrawn="1"/>
        </p:nvGrpSpPr>
        <p:grpSpPr>
          <a:xfrm>
            <a:off x="0" y="0"/>
            <a:ext cx="12196800" cy="251942"/>
            <a:chOff x="0" y="0"/>
            <a:chExt cx="12196800" cy="251942"/>
          </a:xfrm>
        </p:grpSpPr>
        <p:sp>
          <p:nvSpPr>
            <p:cNvPr id="17" name="Rectangle 16"/>
            <p:cNvSpPr/>
            <p:nvPr userDrawn="1"/>
          </p:nvSpPr>
          <p:spPr bwMode="gray">
            <a:xfrm>
              <a:off x="0" y="0"/>
              <a:ext cx="12196800" cy="251942"/>
            </a:xfrm>
            <a:prstGeom prst="rect">
              <a:avLst/>
            </a:prstGeom>
            <a:solidFill>
              <a:srgbClr val="000000"/>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18" name="Secondary Motion Band"/>
            <p:cNvGrpSpPr/>
            <p:nvPr userDrawn="1"/>
          </p:nvGrpSpPr>
          <p:grpSpPr>
            <a:xfrm>
              <a:off x="10683752" y="0"/>
              <a:ext cx="1513048" cy="251942"/>
              <a:chOff x="10682127" y="0"/>
              <a:chExt cx="1513048" cy="252000"/>
            </a:xfrm>
          </p:grpSpPr>
          <p:sp>
            <p:nvSpPr>
              <p:cNvPr id="19" name="Rectangle 18"/>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0" name="Rectangle 19"/>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1" name="Rectangle 20"/>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grpSp>
    </p:spTree>
    <p:extLst>
      <p:ext uri="{BB962C8B-B14F-4D97-AF65-F5344CB8AC3E}">
        <p14:creationId xmlns:p14="http://schemas.microsoft.com/office/powerpoint/2010/main" val="1911862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34" name="Slide number"/>
          <p:cNvSpPr txBox="1"/>
          <p:nvPr userDrawn="1"/>
        </p:nvSpPr>
        <p:spPr bwMode="black">
          <a:xfrm>
            <a:off x="11549413" y="6536751"/>
            <a:ext cx="141064"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noProof="0" smtClean="0"/>
              <a:pPr marL="0" lvl="0" indent="0" algn="r">
                <a:buNone/>
              </a:pPr>
              <a:t>‹#›</a:t>
            </a:fld>
            <a:endParaRPr lang="en-US" sz="900" noProof="0" dirty="0"/>
          </a:p>
        </p:txBody>
      </p:sp>
      <p:sp>
        <p:nvSpPr>
          <p:cNvPr id="11" name="Classification"/>
          <p:cNvSpPr txBox="1"/>
          <p:nvPr userDrawn="1"/>
        </p:nvSpPr>
        <p:spPr bwMode="black">
          <a:xfrm>
            <a:off x="2814655" y="6559834"/>
            <a:ext cx="381515" cy="92333"/>
          </a:xfrm>
          <a:prstGeom prst="rect">
            <a:avLst/>
          </a:prstGeom>
          <a:noFill/>
        </p:spPr>
        <p:txBody>
          <a:bodyPr wrap="none" lIns="0" tIns="0" rIns="0" bIns="0" rtlCol="0">
            <a:spAutoFit/>
          </a:bodyPr>
          <a:lstStyle/>
          <a:p>
            <a:pPr marL="0" marR="0" indent="0" algn="l" defTabSz="1088558" rtl="0" eaLnBrk="1" fontAlgn="auto" latinLnBrk="0" hangingPunct="1">
              <a:lnSpc>
                <a:spcPct val="100000"/>
              </a:lnSpc>
              <a:spcBef>
                <a:spcPts val="0"/>
              </a:spcBef>
              <a:spcAft>
                <a:spcPts val="0"/>
              </a:spcAft>
              <a:buClr>
                <a:schemeClr val="tx1"/>
              </a:buClr>
              <a:buSzTx/>
              <a:buFont typeface="Arial" pitchFamily="34" charset="0"/>
              <a:buNone/>
              <a:tabLst/>
              <a:defRPr/>
            </a:pPr>
            <a:r>
              <a:rPr kumimoji="0" lang="en-US" sz="600" b="0" i="0" u="none" kern="0" baseline="0">
                <a:solidFill>
                  <a:schemeClr val="tx1"/>
                </a:solidFill>
                <a:latin typeface="Arial"/>
                <a:ea typeface="Arial Unicode MS"/>
                <a:cs typeface="Arial Unicode MS" pitchFamily="34" charset="-128"/>
                <a:sym typeface="Arial"/>
              </a:rPr>
              <a:t>INTERNAL</a:t>
            </a:r>
            <a:endParaRPr kumimoji="0" lang="en-US" sz="600" b="0" i="0" u="none" kern="0" baseline="0" dirty="0">
              <a:solidFill>
                <a:schemeClr val="tx1"/>
              </a:solidFill>
              <a:latin typeface="Arial"/>
              <a:ea typeface="Arial Unicode MS"/>
              <a:cs typeface="Arial Unicode MS" pitchFamily="34" charset="-128"/>
              <a:sym typeface="Arial"/>
            </a:endParaRPr>
          </a:p>
        </p:txBody>
      </p:sp>
      <p:sp>
        <p:nvSpPr>
          <p:cNvPr id="10" name="Copyright"/>
          <p:cNvSpPr txBox="1"/>
          <p:nvPr userDrawn="1"/>
        </p:nvSpPr>
        <p:spPr bwMode="black">
          <a:xfrm>
            <a:off x="504001" y="6559834"/>
            <a:ext cx="2269679" cy="92333"/>
          </a:xfrm>
          <a:prstGeom prst="rect">
            <a:avLst/>
          </a:prstGeom>
          <a:noFill/>
        </p:spPr>
        <p:txBody>
          <a:bodyPr wrap="square" lIns="0" tIns="0" rIns="0" bIns="0" rtlCol="0">
            <a:spAutoFit/>
          </a:bodyPr>
          <a:lstStyle/>
          <a:p>
            <a:pPr marL="84121" marR="0" indent="-84121" algn="l" defTabSz="1088558" rtl="0" eaLnBrk="1" fontAlgn="auto" latinLnBrk="0" hangingPunct="1">
              <a:lnSpc>
                <a:spcPct val="100000"/>
              </a:lnSpc>
              <a:spcBef>
                <a:spcPts val="0"/>
              </a:spcBef>
              <a:spcAft>
                <a:spcPts val="0"/>
              </a:spcAft>
              <a:buClr>
                <a:schemeClr val="tx1"/>
              </a:buClr>
              <a:buSzTx/>
              <a:buFont typeface="Arial" pitchFamily="34" charset="0"/>
              <a:buChar char="©"/>
              <a:tabLst/>
              <a:defRPr/>
            </a:pPr>
            <a:r>
              <a:rPr lang="en-US" sz="600" noProof="0" dirty="0">
                <a:solidFill>
                  <a:schemeClr val="tx1"/>
                </a:solidFill>
              </a:rPr>
              <a:t>2017 SAP SE or an SAP affiliate company. All rights reserved.  </a:t>
            </a:r>
            <a:r>
              <a:rPr kumimoji="0" lang="en-US" sz="600" b="0" i="0" u="none" kern="0" baseline="0" dirty="0">
                <a:solidFill>
                  <a:schemeClr val="tx1"/>
                </a:solidFill>
                <a:latin typeface="Arial"/>
                <a:ea typeface="Arial Unicode MS"/>
                <a:cs typeface="Arial Unicode MS" pitchFamily="34" charset="-128"/>
                <a:sym typeface="Arial"/>
              </a:rPr>
              <a:t>ǀ</a:t>
            </a:r>
          </a:p>
        </p:txBody>
      </p:sp>
      <p:sp>
        <p:nvSpPr>
          <p:cNvPr id="3" name="Text Placeholder 2"/>
          <p:cNvSpPr>
            <a:spLocks noGrp="1"/>
          </p:cNvSpPr>
          <p:nvPr userDrawn="1">
            <p:ph type="body" idx="1"/>
          </p:nvPr>
        </p:nvSpPr>
        <p:spPr bwMode="gray">
          <a:xfrm>
            <a:off x="504001" y="1620000"/>
            <a:ext cx="11186476" cy="4230235"/>
          </a:xfrm>
          <a:prstGeom prst="rect">
            <a:avLst/>
          </a:prstGeom>
        </p:spPr>
        <p:txBody>
          <a:bodyPr vert="horz" lIns="0" tIns="0" rIns="0" bIns="0" rtlCol="0">
            <a:noAutofit/>
          </a:bodyPr>
          <a:lstStyle/>
          <a:p>
            <a:pPr lvl="0"/>
            <a:r>
              <a:rPr lang="en-US" noProof="0" dirty="0"/>
              <a:t>First level</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itle Placeholder 1"/>
          <p:cNvSpPr>
            <a:spLocks noGrp="1"/>
          </p:cNvSpPr>
          <p:nvPr userDrawn="1">
            <p:ph type="title"/>
          </p:nvPr>
        </p:nvSpPr>
        <p:spPr bwMode="gray">
          <a:xfrm>
            <a:off x="504001" y="504000"/>
            <a:ext cx="11186476" cy="369332"/>
          </a:xfrm>
          <a:prstGeom prst="rect">
            <a:avLst/>
          </a:prstGeom>
        </p:spPr>
        <p:txBody>
          <a:bodyPr vert="horz" wrap="square" lIns="0" tIns="0" rIns="0" bIns="0" rtlCol="0" anchor="t" anchorCtr="0">
            <a:spAutoFit/>
          </a:bodyPr>
          <a:lstStyle/>
          <a:p>
            <a:r>
              <a:rPr lang="en-US" noProof="0" dirty="0"/>
              <a:t>Insert page title (sentence case)</a:t>
            </a:r>
          </a:p>
        </p:txBody>
      </p:sp>
      <p:grpSp>
        <p:nvGrpSpPr>
          <p:cNvPr id="4" name="Group 3"/>
          <p:cNvGrpSpPr/>
          <p:nvPr userDrawn="1"/>
        </p:nvGrpSpPr>
        <p:grpSpPr>
          <a:xfrm>
            <a:off x="0" y="0"/>
            <a:ext cx="12196800" cy="251942"/>
            <a:chOff x="0" y="0"/>
            <a:chExt cx="12196800" cy="251942"/>
          </a:xfrm>
        </p:grpSpPr>
        <p:sp>
          <p:nvSpPr>
            <p:cNvPr id="13" name="Rectangle 12"/>
            <p:cNvSpPr/>
            <p:nvPr userDrawn="1"/>
          </p:nvSpPr>
          <p:spPr bwMode="gray">
            <a:xfrm>
              <a:off x="0" y="0"/>
              <a:ext cx="12196800" cy="251942"/>
            </a:xfrm>
            <a:prstGeom prst="rect">
              <a:avLst/>
            </a:prstGeom>
            <a:solidFill>
              <a:srgbClr val="000000"/>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14" name="Secondary Motion Band"/>
            <p:cNvGrpSpPr/>
            <p:nvPr userDrawn="1"/>
          </p:nvGrpSpPr>
          <p:grpSpPr>
            <a:xfrm>
              <a:off x="10683752" y="0"/>
              <a:ext cx="1513048" cy="251942"/>
              <a:chOff x="10682127" y="0"/>
              <a:chExt cx="1513048" cy="252000"/>
            </a:xfrm>
          </p:grpSpPr>
          <p:sp>
            <p:nvSpPr>
              <p:cNvPr id="15" name="Rectangle 14"/>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9" name="Rectangle 18"/>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0" name="Rectangle 19"/>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grpSp>
    </p:spTree>
    <p:extLst>
      <p:ext uri="{BB962C8B-B14F-4D97-AF65-F5344CB8AC3E}">
        <p14:creationId xmlns:p14="http://schemas.microsoft.com/office/powerpoint/2010/main" val="3408294523"/>
      </p:ext>
    </p:extLst>
  </p:cSld>
  <p:clrMap bg1="lt1" tx1="dk1" bg2="lt2" tx2="dk2" accent1="accent1" accent2="accent2" accent3="accent3" accent4="accent4" accent5="accent5" accent6="accent6" hlink="hlink" folHlink="folHlink"/>
  <p:sldLayoutIdLst>
    <p:sldLayoutId id="2147483772" r:id="rId1"/>
    <p:sldLayoutId id="2147483776" r:id="rId2"/>
    <p:sldLayoutId id="2147483773" r:id="rId3"/>
    <p:sldLayoutId id="2147483775" r:id="rId4"/>
    <p:sldLayoutId id="2147483741" r:id="rId5"/>
    <p:sldLayoutId id="2147483765" r:id="rId6"/>
    <p:sldLayoutId id="2147483767" r:id="rId7"/>
    <p:sldLayoutId id="2147483743" r:id="rId8"/>
    <p:sldLayoutId id="2147483774" r:id="rId9"/>
    <p:sldLayoutId id="2147483745" r:id="rId10"/>
    <p:sldLayoutId id="2147483760" r:id="rId11"/>
    <p:sldLayoutId id="2147483768" r:id="rId12"/>
    <p:sldLayoutId id="2147483769" r:id="rId13"/>
    <p:sldLayoutId id="2147483770" r:id="rId14"/>
    <p:sldLayoutId id="2147483744" r:id="rId15"/>
    <p:sldLayoutId id="2147483757" r:id="rId16"/>
    <p:sldLayoutId id="2147483748" r:id="rId17"/>
    <p:sldLayoutId id="2147483762" r:id="rId18"/>
    <p:sldLayoutId id="2147483771" r:id="rId19"/>
    <p:sldLayoutId id="2147483763" r:id="rId20"/>
    <p:sldLayoutId id="2147483751" r:id="rId21"/>
    <p:sldLayoutId id="2147483753" r:id="rId22"/>
    <p:sldLayoutId id="2147483756" r:id="rId23"/>
    <p:sldLayoutId id="2147483740" r:id="rId24"/>
    <p:sldLayoutId id="2147483754" r:id="rId25"/>
    <p:sldLayoutId id="2147483755" r:id="rId26"/>
  </p:sldLayoutIdLst>
  <p:hf hdr="0" ftr="0" dt="0"/>
  <p:txStyles>
    <p:titleStyle>
      <a:lvl1pPr algn="l" defTabSz="1088558" rtl="0" eaLnBrk="1" latinLnBrk="0" hangingPunct="1">
        <a:spcBef>
          <a:spcPct val="0"/>
        </a:spcBef>
        <a:buNone/>
        <a:defRPr sz="2400" b="1" kern="1200" baseline="0">
          <a:solidFill>
            <a:schemeClr val="tx1"/>
          </a:solidFill>
          <a:latin typeface="+mj-lt"/>
          <a:ea typeface="+mj-ea"/>
          <a:cs typeface="+mj-cs"/>
        </a:defRPr>
      </a:lvl1pPr>
    </p:titleStyle>
    <p:body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558" rtl="0" eaLnBrk="1" latinLnBrk="0" hangingPunct="1">
        <a:defRPr sz="2100" kern="1200">
          <a:solidFill>
            <a:schemeClr val="tx1"/>
          </a:solidFill>
          <a:latin typeface="+mn-lt"/>
          <a:ea typeface="+mn-ea"/>
          <a:cs typeface="+mn-cs"/>
        </a:defRPr>
      </a:lvl1pPr>
      <a:lvl2pPr marL="544279" algn="l" defTabSz="1088558" rtl="0" eaLnBrk="1" latinLnBrk="0" hangingPunct="1">
        <a:defRPr sz="2100" kern="1200">
          <a:solidFill>
            <a:schemeClr val="tx1"/>
          </a:solidFill>
          <a:latin typeface="+mn-lt"/>
          <a:ea typeface="+mn-ea"/>
          <a:cs typeface="+mn-cs"/>
        </a:defRPr>
      </a:lvl2pPr>
      <a:lvl3pPr marL="1088558" algn="l" defTabSz="1088558" rtl="0" eaLnBrk="1" latinLnBrk="0" hangingPunct="1">
        <a:defRPr sz="2100" kern="1200">
          <a:solidFill>
            <a:schemeClr val="tx1"/>
          </a:solidFill>
          <a:latin typeface="+mn-lt"/>
          <a:ea typeface="+mn-ea"/>
          <a:cs typeface="+mn-cs"/>
        </a:defRPr>
      </a:lvl3pPr>
      <a:lvl4pPr marL="1632837" algn="l" defTabSz="1088558" rtl="0" eaLnBrk="1" latinLnBrk="0" hangingPunct="1">
        <a:defRPr sz="2100" kern="1200">
          <a:solidFill>
            <a:schemeClr val="tx1"/>
          </a:solidFill>
          <a:latin typeface="+mn-lt"/>
          <a:ea typeface="+mn-ea"/>
          <a:cs typeface="+mn-cs"/>
        </a:defRPr>
      </a:lvl4pPr>
      <a:lvl5pPr marL="2177116" algn="l" defTabSz="1088558" rtl="0" eaLnBrk="1" latinLnBrk="0" hangingPunct="1">
        <a:defRPr sz="2100" kern="1200">
          <a:solidFill>
            <a:schemeClr val="tx1"/>
          </a:solidFill>
          <a:latin typeface="+mn-lt"/>
          <a:ea typeface="+mn-ea"/>
          <a:cs typeface="+mn-cs"/>
        </a:defRPr>
      </a:lvl5pPr>
      <a:lvl6pPr marL="2721396" algn="l" defTabSz="1088558" rtl="0" eaLnBrk="1" latinLnBrk="0" hangingPunct="1">
        <a:defRPr sz="2100" kern="1200">
          <a:solidFill>
            <a:schemeClr val="tx1"/>
          </a:solidFill>
          <a:latin typeface="+mn-lt"/>
          <a:ea typeface="+mn-ea"/>
          <a:cs typeface="+mn-cs"/>
        </a:defRPr>
      </a:lvl6pPr>
      <a:lvl7pPr marL="3265675" algn="l" defTabSz="1088558" rtl="0" eaLnBrk="1" latinLnBrk="0" hangingPunct="1">
        <a:defRPr sz="2100" kern="1200">
          <a:solidFill>
            <a:schemeClr val="tx1"/>
          </a:solidFill>
          <a:latin typeface="+mn-lt"/>
          <a:ea typeface="+mn-ea"/>
          <a:cs typeface="+mn-cs"/>
        </a:defRPr>
      </a:lvl7pPr>
      <a:lvl8pPr marL="3809954" algn="l" defTabSz="1088558" rtl="0" eaLnBrk="1" latinLnBrk="0" hangingPunct="1">
        <a:defRPr sz="2100" kern="1200">
          <a:solidFill>
            <a:schemeClr val="tx1"/>
          </a:solidFill>
          <a:latin typeface="+mn-lt"/>
          <a:ea typeface="+mn-ea"/>
          <a:cs typeface="+mn-cs"/>
        </a:defRPr>
      </a:lvl8pPr>
      <a:lvl9pPr marL="4354233" algn="l" defTabSz="1088558"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9.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0.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0.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2.xml"/><Relationship Id="rId1" Type="http://schemas.openxmlformats.org/officeDocument/2006/relationships/slideLayout" Target="../slideLayouts/slideLayout10.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a:t>Thomas Buchner, Gardener</a:t>
            </a:r>
          </a:p>
          <a:p>
            <a:r>
              <a:rPr lang="en-US" dirty="0"/>
              <a:t>Hendrik Kahl</a:t>
            </a:r>
            <a:r>
              <a:rPr lang="en-US"/>
              <a:t>, Gardener</a:t>
            </a:r>
            <a:endParaRPr lang="en-US" dirty="0"/>
          </a:p>
        </p:txBody>
      </p:sp>
      <p:sp>
        <p:nvSpPr>
          <p:cNvPr id="4" name="Text Placeholder 3"/>
          <p:cNvSpPr>
            <a:spLocks noGrp="1"/>
          </p:cNvSpPr>
          <p:nvPr>
            <p:ph type="body" sz="quarter" idx="14"/>
          </p:nvPr>
        </p:nvSpPr>
        <p:spPr>
          <a:xfrm>
            <a:off x="288000" y="4024430"/>
            <a:ext cx="10899174" cy="997196"/>
          </a:xfrm>
        </p:spPr>
        <p:txBody>
          <a:bodyPr/>
          <a:lstStyle/>
          <a:p>
            <a:r>
              <a:rPr lang="en-US" dirty="0"/>
              <a:t>Docker and Kubernetes</a:t>
            </a:r>
          </a:p>
          <a:p>
            <a:r>
              <a:rPr lang="en-US" dirty="0">
                <a:solidFill>
                  <a:schemeClr val="accent1"/>
                </a:solidFill>
              </a:rPr>
              <a:t>Hands-On Training</a:t>
            </a:r>
            <a:endParaRPr lang="en-US" dirty="0">
              <a:solidFill>
                <a:srgbClr val="FFC000"/>
              </a:solidFill>
            </a:endParaRPr>
          </a:p>
        </p:txBody>
      </p:sp>
      <p:pic>
        <p:nvPicPr>
          <p:cNvPr id="14" name="Picture Placeholder 13"/>
          <p:cNvPicPr>
            <a:picLocks noGrp="1" noChangeAspect="1"/>
          </p:cNvPicPr>
          <p:nvPr>
            <p:ph type="pic" sz="quarter" idx="12"/>
          </p:nvPr>
        </p:nvPicPr>
        <p:blipFill>
          <a:blip r:embed="rId2"/>
          <a:srcRect l="10" r="10"/>
          <a:stretch>
            <a:fillRect/>
          </a:stretch>
        </p:blipFill>
        <p:spPr>
          <a:prstGeom prst="rect">
            <a:avLst/>
          </a:prstGeom>
        </p:spPr>
      </p:pic>
      <p:pic>
        <p:nvPicPr>
          <p:cNvPr id="5" name="Picture 1" descr="cid:image003.png@01D31CC6.A08B1C50">
            <a:extLst>
              <a:ext uri="{FF2B5EF4-FFF2-40B4-BE49-F238E27FC236}">
                <a16:creationId xmlns:a16="http://schemas.microsoft.com/office/drawing/2014/main" id="{CE860390-F50F-48A8-AA1A-AE0217946F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80713" y="5721975"/>
            <a:ext cx="1414463" cy="113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864312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16"/>
          <p:cNvSpPr>
            <a:spLocks noGrp="1"/>
          </p:cNvSpPr>
          <p:nvPr>
            <p:ph type="body" sz="quarter" idx="14"/>
          </p:nvPr>
        </p:nvSpPr>
        <p:spPr/>
        <p:txBody>
          <a:bodyPr/>
          <a:lstStyle/>
          <a:p>
            <a:r>
              <a:rPr lang="en-US" dirty="0"/>
              <a:t>Basics of</a:t>
            </a:r>
            <a:br>
              <a:rPr lang="en-US" dirty="0"/>
            </a:br>
            <a:r>
              <a:rPr lang="en-US" dirty="0">
                <a:solidFill>
                  <a:schemeClr val="accent1"/>
                </a:solidFill>
              </a:rPr>
              <a:t>Containers</a:t>
            </a:r>
          </a:p>
        </p:txBody>
      </p:sp>
      <p:pic>
        <p:nvPicPr>
          <p:cNvPr id="6" name="Picture Placeholder 5"/>
          <p:cNvPicPr>
            <a:picLocks noGrp="1" noChangeAspect="1"/>
          </p:cNvPicPr>
          <p:nvPr>
            <p:ph type="pic" sz="quarter" idx="16"/>
          </p:nvPr>
        </p:nvPicPr>
        <p:blipFill>
          <a:blip r:embed="rId2"/>
          <a:srcRect t="16" b="16"/>
          <a:stretch>
            <a:fillRect/>
          </a:stretch>
        </p:blipFill>
        <p:spPr/>
      </p:pic>
    </p:spTree>
    <p:extLst>
      <p:ext uri="{BB962C8B-B14F-4D97-AF65-F5344CB8AC3E}">
        <p14:creationId xmlns:p14="http://schemas.microsoft.com/office/powerpoint/2010/main" val="17867480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What is a Container?</a:t>
            </a:r>
          </a:p>
        </p:txBody>
      </p:sp>
      <p:sp>
        <p:nvSpPr>
          <p:cNvPr id="5" name="Text Placeholder 1"/>
          <p:cNvSpPr txBox="1">
            <a:spLocks/>
          </p:cNvSpPr>
          <p:nvPr/>
        </p:nvSpPr>
        <p:spPr bwMode="gray">
          <a:xfrm>
            <a:off x="4216369" y="2024679"/>
            <a:ext cx="4622859" cy="3125624"/>
          </a:xfrm>
          <a:prstGeom prst="rect">
            <a:avLst/>
          </a:prstGeom>
        </p:spPr>
        <p:txBody>
          <a:bodyPr vert="horz" lIns="0" tIns="0" rIns="0" bIns="0" rtlCol="0">
            <a:noAutofit/>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342900" indent="-342900">
              <a:buFont typeface="Arial" panose="020B0604020202020204" pitchFamily="34" charset="0"/>
              <a:buChar char="•"/>
            </a:pPr>
            <a:r>
              <a:rPr lang="en-US" dirty="0"/>
              <a:t>Convenient package to ship „things“</a:t>
            </a:r>
          </a:p>
          <a:p>
            <a:pPr marL="342900" indent="-342900">
              <a:buFont typeface="Arial" panose="020B0604020202020204" pitchFamily="34" charset="0"/>
              <a:buChar char="•"/>
            </a:pPr>
            <a:r>
              <a:rPr lang="en-US" dirty="0"/>
              <a:t>Open specification</a:t>
            </a:r>
          </a:p>
          <a:p>
            <a:pPr marL="342900" indent="-342900">
              <a:buFont typeface="Arial" panose="020B0604020202020204" pitchFamily="34" charset="0"/>
              <a:buChar char="•"/>
            </a:pPr>
            <a:r>
              <a:rPr lang="en-US" dirty="0"/>
              <a:t>Stackable</a:t>
            </a:r>
          </a:p>
          <a:p>
            <a:pPr marL="342900" indent="-342900">
              <a:buFont typeface="Arial" panose="020B0604020202020204" pitchFamily="34" charset="0"/>
              <a:buChar char="•"/>
            </a:pPr>
            <a:r>
              <a:rPr lang="en-US" dirty="0"/>
              <a:t>Isolated</a:t>
            </a:r>
          </a:p>
          <a:p>
            <a:pPr marL="342900" indent="-342900">
              <a:buFont typeface="Arial" panose="020B0604020202020204" pitchFamily="34" charset="0"/>
              <a:buChar char="•"/>
            </a:pPr>
            <a:r>
              <a:rPr lang="en-US" dirty="0"/>
              <a:t>Portable</a:t>
            </a:r>
          </a:p>
          <a:p>
            <a:pPr marL="342900" indent="-342900">
              <a:buFont typeface="Arial" panose="020B0604020202020204" pitchFamily="34" charset="0"/>
              <a:buChar char="•"/>
            </a:pPr>
            <a:r>
              <a:rPr lang="en-US" dirty="0"/>
              <a:t>Lightweight</a:t>
            </a:r>
          </a:p>
        </p:txBody>
      </p:sp>
      <p:pic>
        <p:nvPicPr>
          <p:cNvPr id="7" name="Picture 6"/>
          <p:cNvPicPr>
            <a:picLocks noChangeAspect="1"/>
          </p:cNvPicPr>
          <p:nvPr/>
        </p:nvPicPr>
        <p:blipFill>
          <a:blip r:embed="rId3">
            <a:extLst>
              <a:ext uri="{BEBA8EAE-BF5A-486C-A8C5-ECC9F3942E4B}">
                <a14:imgProps xmlns:a14="http://schemas.microsoft.com/office/drawing/2010/main">
                  <a14:imgLayer r:embed="rId4">
                    <a14:imgEffect>
                      <a14:backgroundRemoval t="0" b="100000" l="0" r="100000">
                        <a14:foregroundMark x1="9245" y1="9424" x2="9245" y2="9424"/>
                        <a14:foregroundMark x1="16797" y1="6981" x2="16797" y2="6981"/>
                        <a14:foregroundMark x1="19141" y1="14660" x2="19141" y2="14660"/>
                        <a14:foregroundMark x1="6641" y1="64398" x2="6641" y2="64398"/>
                        <a14:foregroundMark x1="1432" y1="22339" x2="1432" y2="22339"/>
                        <a14:foregroundMark x1="2214" y1="42932" x2="2214" y2="42932"/>
                        <a14:foregroundMark x1="20443" y1="62478" x2="20443" y2="62478"/>
                        <a14:foregroundMark x1="8333" y1="65620" x2="8333" y2="65620"/>
                        <a14:backgroundMark x1="1563" y1="8551" x2="1563" y2="8551"/>
                        <a14:backgroundMark x1="4036" y1="90227" x2="4036" y2="90227"/>
                      </a14:backgroundRemoval>
                    </a14:imgEffect>
                  </a14:imgLayer>
                </a14:imgProps>
              </a:ext>
            </a:extLst>
          </a:blip>
          <a:stretch>
            <a:fillRect/>
          </a:stretch>
        </p:blipFill>
        <p:spPr>
          <a:xfrm>
            <a:off x="832142" y="2584216"/>
            <a:ext cx="2689410" cy="2006552"/>
          </a:xfrm>
          <a:prstGeom prst="rect">
            <a:avLst/>
          </a:prstGeom>
        </p:spPr>
      </p:pic>
      <p:grpSp>
        <p:nvGrpSpPr>
          <p:cNvPr id="3" name="Group 2">
            <a:extLst>
              <a:ext uri="{FF2B5EF4-FFF2-40B4-BE49-F238E27FC236}">
                <a16:creationId xmlns:a16="http://schemas.microsoft.com/office/drawing/2014/main" id="{CD984108-7148-4AD0-8C63-46199720E6DC}"/>
              </a:ext>
            </a:extLst>
          </p:cNvPr>
          <p:cNvGrpSpPr/>
          <p:nvPr/>
        </p:nvGrpSpPr>
        <p:grpSpPr>
          <a:xfrm>
            <a:off x="9534045" y="1382825"/>
            <a:ext cx="1766166" cy="4092349"/>
            <a:chOff x="9099755" y="1548932"/>
            <a:chExt cx="1766166" cy="4092349"/>
          </a:xfrm>
        </p:grpSpPr>
        <p:sp>
          <p:nvSpPr>
            <p:cNvPr id="2" name="Cube 1">
              <a:extLst>
                <a:ext uri="{FF2B5EF4-FFF2-40B4-BE49-F238E27FC236}">
                  <a16:creationId xmlns:a16="http://schemas.microsoft.com/office/drawing/2014/main" id="{C6148043-AA06-407F-8E84-DDAD8257EED5}"/>
                </a:ext>
              </a:extLst>
            </p:cNvPr>
            <p:cNvSpPr/>
            <p:nvPr/>
          </p:nvSpPr>
          <p:spPr bwMode="gray">
            <a:xfrm>
              <a:off x="9099755" y="1548932"/>
              <a:ext cx="1766166" cy="4092349"/>
            </a:xfrm>
            <a:prstGeom prst="cube">
              <a:avLst>
                <a:gd name="adj" fmla="val 22832"/>
              </a:avLst>
            </a:prstGeom>
            <a:solidFill>
              <a:schemeClr val="accent5">
                <a:lumMod val="75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1" name="Rectangle 10">
              <a:extLst>
                <a:ext uri="{FF2B5EF4-FFF2-40B4-BE49-F238E27FC236}">
                  <a16:creationId xmlns:a16="http://schemas.microsoft.com/office/drawing/2014/main" id="{BE59C2F4-286D-48AC-8900-EB854003FCDB}"/>
                </a:ext>
              </a:extLst>
            </p:cNvPr>
            <p:cNvSpPr/>
            <p:nvPr/>
          </p:nvSpPr>
          <p:spPr bwMode="gray">
            <a:xfrm>
              <a:off x="9175373" y="2024680"/>
              <a:ext cx="1197638" cy="2072308"/>
            </a:xfrm>
            <a:prstGeom prst="rect">
              <a:avLst/>
            </a:prstGeom>
            <a:solidFill>
              <a:schemeClr val="accent1">
                <a:lumMod val="75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000" b="0" i="0" u="none" strike="noStrike" kern="0" cap="none" spc="0" normalizeH="0" baseline="0" dirty="0">
                  <a:ln>
                    <a:noFill/>
                  </a:ln>
                  <a:solidFill>
                    <a:schemeClr val="bg1"/>
                  </a:solidFill>
                  <a:effectLst/>
                  <a:uLnTx/>
                  <a:uFillTx/>
                  <a:ea typeface="Arial Unicode MS" pitchFamily="34" charset="-128"/>
                  <a:cs typeface="Arial Unicode MS" pitchFamily="34" charset="-128"/>
                </a:rPr>
                <a:t>App</a:t>
              </a:r>
            </a:p>
            <a:p>
              <a:pPr marR="0" algn="ctr" defTabSz="914400" eaLnBrk="1" fontAlgn="base" latinLnBrk="0" hangingPunct="1">
                <a:lnSpc>
                  <a:spcPct val="100000"/>
                </a:lnSpc>
                <a:spcBef>
                  <a:spcPct val="50000"/>
                </a:spcBef>
                <a:spcAft>
                  <a:spcPct val="0"/>
                </a:spcAft>
                <a:buClr>
                  <a:srgbClr val="F0AB00"/>
                </a:buClr>
                <a:buSzPct val="80000"/>
                <a:tabLst/>
              </a:pPr>
              <a:r>
                <a:rPr kumimoji="0" lang="en-US" sz="1600" b="0" i="0" u="none" strike="noStrike" kern="0" cap="none" spc="0" normalizeH="0" baseline="0" dirty="0">
                  <a:ln>
                    <a:noFill/>
                  </a:ln>
                  <a:solidFill>
                    <a:schemeClr val="bg1"/>
                  </a:solidFill>
                  <a:effectLst/>
                  <a:uLnTx/>
                  <a:uFillTx/>
                  <a:ea typeface="Arial Unicode MS" pitchFamily="34" charset="-128"/>
                  <a:cs typeface="Arial Unicode MS" pitchFamily="34" charset="-128"/>
                </a:rPr>
                <a:t>(e.g. </a:t>
              </a:r>
              <a:r>
                <a:rPr lang="en-US" sz="1600" kern="0" dirty="0">
                  <a:solidFill>
                    <a:schemeClr val="bg1"/>
                  </a:solidFill>
                  <a:ea typeface="Arial Unicode MS" pitchFamily="34" charset="-128"/>
                  <a:cs typeface="Arial Unicode MS" pitchFamily="34" charset="-128"/>
                </a:rPr>
                <a:t>nginx</a:t>
              </a:r>
              <a:r>
                <a:rPr kumimoji="0" lang="en-US" sz="1600" b="0" i="0" u="none" strike="noStrike" kern="0" cap="none" spc="0" normalizeH="0" baseline="0" dirty="0">
                  <a:ln>
                    <a:noFill/>
                  </a:ln>
                  <a:solidFill>
                    <a:schemeClr val="bg1"/>
                  </a:solidFill>
                  <a:effectLst/>
                  <a:uLnTx/>
                  <a:uFillTx/>
                  <a:ea typeface="Arial Unicode MS" pitchFamily="34" charset="-128"/>
                  <a:cs typeface="Arial Unicode MS" pitchFamily="34" charset="-128"/>
                </a:rPr>
                <a:t>)</a:t>
              </a:r>
            </a:p>
          </p:txBody>
        </p:sp>
        <p:sp>
          <p:nvSpPr>
            <p:cNvPr id="14" name="Rectangle 13">
              <a:extLst>
                <a:ext uri="{FF2B5EF4-FFF2-40B4-BE49-F238E27FC236}">
                  <a16:creationId xmlns:a16="http://schemas.microsoft.com/office/drawing/2014/main" id="{628BB289-9592-408C-95EA-F659FD4C3920}"/>
                </a:ext>
              </a:extLst>
            </p:cNvPr>
            <p:cNvSpPr/>
            <p:nvPr/>
          </p:nvSpPr>
          <p:spPr bwMode="gray">
            <a:xfrm>
              <a:off x="9167565" y="4172199"/>
              <a:ext cx="1197638" cy="657887"/>
            </a:xfrm>
            <a:prstGeom prst="rect">
              <a:avLst/>
            </a:prstGeom>
            <a:solidFill>
              <a:schemeClr val="accent4">
                <a:lumMod val="50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000" b="0" i="0" u="none" strike="noStrike" kern="0" cap="none" spc="0" normalizeH="0" baseline="0" dirty="0">
                  <a:ln>
                    <a:noFill/>
                  </a:ln>
                  <a:solidFill>
                    <a:schemeClr val="bg1"/>
                  </a:solidFill>
                  <a:effectLst/>
                  <a:uLnTx/>
                  <a:uFillTx/>
                  <a:ea typeface="Arial Unicode MS" pitchFamily="34" charset="-128"/>
                  <a:cs typeface="Arial Unicode MS" pitchFamily="34" charset="-128"/>
                </a:rPr>
                <a:t>Tools</a:t>
              </a:r>
            </a:p>
          </p:txBody>
        </p:sp>
        <p:sp>
          <p:nvSpPr>
            <p:cNvPr id="15" name="Rectangle 14">
              <a:extLst>
                <a:ext uri="{FF2B5EF4-FFF2-40B4-BE49-F238E27FC236}">
                  <a16:creationId xmlns:a16="http://schemas.microsoft.com/office/drawing/2014/main" id="{1060B3F8-0765-455E-A15A-8BA3427B5C7F}"/>
                </a:ext>
              </a:extLst>
            </p:cNvPr>
            <p:cNvSpPr/>
            <p:nvPr/>
          </p:nvSpPr>
          <p:spPr bwMode="gray">
            <a:xfrm>
              <a:off x="9167565" y="4905298"/>
              <a:ext cx="1197638" cy="657887"/>
            </a:xfrm>
            <a:prstGeom prst="rect">
              <a:avLst/>
            </a:prstGeom>
            <a:solidFill>
              <a:srgbClr val="4A59A6"/>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000" b="0" i="0" u="none" strike="noStrike" kern="0" cap="none" spc="0" normalizeH="0" baseline="0" dirty="0">
                  <a:ln>
                    <a:noFill/>
                  </a:ln>
                  <a:solidFill>
                    <a:schemeClr val="bg1"/>
                  </a:solidFill>
                  <a:effectLst/>
                  <a:uLnTx/>
                  <a:uFillTx/>
                  <a:ea typeface="Arial Unicode MS" pitchFamily="34" charset="-128"/>
                  <a:cs typeface="Arial Unicode MS" pitchFamily="34" charset="-128"/>
                </a:rPr>
                <a:t>Libs</a:t>
              </a:r>
            </a:p>
          </p:txBody>
        </p:sp>
      </p:grpSp>
    </p:spTree>
    <p:extLst>
      <p:ext uri="{BB962C8B-B14F-4D97-AF65-F5344CB8AC3E}">
        <p14:creationId xmlns:p14="http://schemas.microsoft.com/office/powerpoint/2010/main" val="38864389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Chuck Norris  - I can create a container without docker">
            <a:extLst>
              <a:ext uri="{FF2B5EF4-FFF2-40B4-BE49-F238E27FC236}">
                <a16:creationId xmlns:a16="http://schemas.microsoft.com/office/drawing/2014/main" id="{4EA1C1FA-2576-4192-B1E2-17997F70BD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0056" y="688666"/>
            <a:ext cx="6674365" cy="57044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19287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ivider">
            <a:extLst>
              <a:ext uri="{FF2B5EF4-FFF2-40B4-BE49-F238E27FC236}">
                <a16:creationId xmlns:a16="http://schemas.microsoft.com/office/drawing/2014/main" id="{84DA3F40-8D24-429C-95A2-B212431F9297}"/>
              </a:ext>
            </a:extLst>
          </p:cNvPr>
          <p:cNvSpPr txBox="1">
            <a:spLocks/>
          </p:cNvSpPr>
          <p:nvPr/>
        </p:nvSpPr>
        <p:spPr>
          <a:xfrm>
            <a:off x="503238" y="2345228"/>
            <a:ext cx="11187112" cy="1918199"/>
          </a:xfrm>
          <a:prstGeom prst="rect">
            <a:avLst/>
          </a:prstGeom>
        </p:spPr>
        <p:txBody>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lgn="ctr"/>
            <a:r>
              <a:rPr lang="en-US" sz="5400" dirty="0">
                <a:solidFill>
                  <a:schemeClr val="accent1"/>
                </a:solidFill>
                <a:latin typeface="Arial Black" panose="020B0A04020102020204" pitchFamily="34" charset="0"/>
              </a:rPr>
              <a:t>A container </a:t>
            </a:r>
            <a:r>
              <a:rPr lang="en-US" sz="5400" dirty="0">
                <a:latin typeface="Arial Black" panose="020B0A04020102020204" pitchFamily="34" charset="0"/>
              </a:rPr>
              <a:t>is just a process</a:t>
            </a:r>
            <a:r>
              <a:rPr lang="en-US" sz="5400" dirty="0">
                <a:solidFill>
                  <a:schemeClr val="accent1"/>
                </a:solidFill>
                <a:latin typeface="Arial Black" panose="020B0A04020102020204" pitchFamily="34" charset="0"/>
              </a:rPr>
              <a:t> </a:t>
            </a:r>
            <a:r>
              <a:rPr lang="en-US" sz="5400" dirty="0">
                <a:latin typeface="Arial Black" panose="020B0A04020102020204" pitchFamily="34" charset="0"/>
              </a:rPr>
              <a:t>bound by </a:t>
            </a:r>
            <a:r>
              <a:rPr lang="en-US" sz="5400" dirty="0">
                <a:solidFill>
                  <a:schemeClr val="accent1"/>
                </a:solidFill>
                <a:latin typeface="Arial Black" panose="020B0A04020102020204" pitchFamily="34" charset="0"/>
              </a:rPr>
              <a:t>Linux Primitives.</a:t>
            </a:r>
          </a:p>
        </p:txBody>
      </p:sp>
    </p:spTree>
    <p:extLst>
      <p:ext uri="{BB962C8B-B14F-4D97-AF65-F5344CB8AC3E}">
        <p14:creationId xmlns:p14="http://schemas.microsoft.com/office/powerpoint/2010/main" val="33964689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Linux Primitives used by Containers</a:t>
            </a:r>
          </a:p>
        </p:txBody>
      </p:sp>
      <p:sp>
        <p:nvSpPr>
          <p:cNvPr id="4" name="TextBox 3">
            <a:extLst>
              <a:ext uri="{FF2B5EF4-FFF2-40B4-BE49-F238E27FC236}">
                <a16:creationId xmlns:a16="http://schemas.microsoft.com/office/drawing/2014/main" id="{5E3B5221-CEEC-4368-82B5-07EE83DE4AE0}"/>
              </a:ext>
            </a:extLst>
          </p:cNvPr>
          <p:cNvSpPr txBox="1"/>
          <p:nvPr/>
        </p:nvSpPr>
        <p:spPr>
          <a:xfrm rot="20665333">
            <a:off x="1421622" y="1873510"/>
            <a:ext cx="3348246" cy="1015663"/>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6600" b="1" kern="0" dirty="0">
                <a:ea typeface="Arial Unicode MS" pitchFamily="34" charset="-128"/>
                <a:cs typeface="Arial Unicode MS" pitchFamily="34" charset="-128"/>
              </a:rPr>
              <a:t>chroot</a:t>
            </a:r>
          </a:p>
        </p:txBody>
      </p:sp>
      <p:sp>
        <p:nvSpPr>
          <p:cNvPr id="26" name="TextBox 25">
            <a:extLst>
              <a:ext uri="{FF2B5EF4-FFF2-40B4-BE49-F238E27FC236}">
                <a16:creationId xmlns:a16="http://schemas.microsoft.com/office/drawing/2014/main" id="{D109B78F-F4F7-440F-BB9F-5C0C4DE26588}"/>
              </a:ext>
            </a:extLst>
          </p:cNvPr>
          <p:cNvSpPr txBox="1"/>
          <p:nvPr/>
        </p:nvSpPr>
        <p:spPr>
          <a:xfrm rot="730497">
            <a:off x="772687" y="4208935"/>
            <a:ext cx="5052454" cy="923330"/>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6000" b="1" kern="0" dirty="0">
                <a:ea typeface="Arial Unicode MS" pitchFamily="34" charset="-128"/>
                <a:cs typeface="Arial Unicode MS" pitchFamily="34" charset="-128"/>
              </a:rPr>
              <a:t>Namespaces</a:t>
            </a:r>
          </a:p>
        </p:txBody>
      </p:sp>
      <p:sp>
        <p:nvSpPr>
          <p:cNvPr id="30" name="TextBox 29">
            <a:extLst>
              <a:ext uri="{FF2B5EF4-FFF2-40B4-BE49-F238E27FC236}">
                <a16:creationId xmlns:a16="http://schemas.microsoft.com/office/drawing/2014/main" id="{7F5F61BF-CF58-489D-93FA-A0495BA775F1}"/>
              </a:ext>
            </a:extLst>
          </p:cNvPr>
          <p:cNvSpPr txBox="1"/>
          <p:nvPr/>
        </p:nvSpPr>
        <p:spPr>
          <a:xfrm rot="21273164">
            <a:off x="3098437" y="2967335"/>
            <a:ext cx="3492622" cy="923330"/>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6000" b="1" kern="0" dirty="0">
                <a:ea typeface="Arial Unicode MS" pitchFamily="34" charset="-128"/>
                <a:cs typeface="Arial Unicode MS" pitchFamily="34" charset="-128"/>
              </a:rPr>
              <a:t>cgroups</a:t>
            </a:r>
          </a:p>
        </p:txBody>
      </p:sp>
      <p:sp>
        <p:nvSpPr>
          <p:cNvPr id="33" name="TextBox 32">
            <a:extLst>
              <a:ext uri="{FF2B5EF4-FFF2-40B4-BE49-F238E27FC236}">
                <a16:creationId xmlns:a16="http://schemas.microsoft.com/office/drawing/2014/main" id="{5ED474D9-39E4-47F8-8917-E254BC117755}"/>
              </a:ext>
            </a:extLst>
          </p:cNvPr>
          <p:cNvSpPr txBox="1"/>
          <p:nvPr/>
        </p:nvSpPr>
        <p:spPr>
          <a:xfrm rot="386494">
            <a:off x="5423963" y="1818892"/>
            <a:ext cx="3492622" cy="830997"/>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5400" b="1" kern="0" dirty="0">
                <a:ea typeface="Arial Unicode MS" pitchFamily="34" charset="-128"/>
                <a:cs typeface="Arial Unicode MS" pitchFamily="34" charset="-128"/>
              </a:rPr>
              <a:t>seccomp</a:t>
            </a:r>
          </a:p>
        </p:txBody>
      </p:sp>
      <p:sp>
        <p:nvSpPr>
          <p:cNvPr id="34" name="TextBox 33">
            <a:extLst>
              <a:ext uri="{FF2B5EF4-FFF2-40B4-BE49-F238E27FC236}">
                <a16:creationId xmlns:a16="http://schemas.microsoft.com/office/drawing/2014/main" id="{1C30A4A0-5FCA-43EF-9076-8B66C3B6C831}"/>
              </a:ext>
            </a:extLst>
          </p:cNvPr>
          <p:cNvSpPr txBox="1"/>
          <p:nvPr/>
        </p:nvSpPr>
        <p:spPr>
          <a:xfrm rot="522010">
            <a:off x="7862538" y="3073878"/>
            <a:ext cx="3492622" cy="492443"/>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3200" b="1" kern="0" dirty="0">
                <a:ea typeface="Arial Unicode MS" pitchFamily="34" charset="-128"/>
                <a:cs typeface="Arial Unicode MS" pitchFamily="34" charset="-128"/>
              </a:rPr>
              <a:t>capabilities</a:t>
            </a:r>
          </a:p>
        </p:txBody>
      </p:sp>
      <p:sp>
        <p:nvSpPr>
          <p:cNvPr id="35" name="TextBox 34">
            <a:extLst>
              <a:ext uri="{FF2B5EF4-FFF2-40B4-BE49-F238E27FC236}">
                <a16:creationId xmlns:a16="http://schemas.microsoft.com/office/drawing/2014/main" id="{807BFFA9-33F4-4C35-805A-C7584A4879D1}"/>
              </a:ext>
            </a:extLst>
          </p:cNvPr>
          <p:cNvSpPr txBox="1"/>
          <p:nvPr/>
        </p:nvSpPr>
        <p:spPr>
          <a:xfrm rot="21155683">
            <a:off x="7795719" y="3939847"/>
            <a:ext cx="2312911" cy="492443"/>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3200" b="1" kern="0" dirty="0">
                <a:ea typeface="Arial Unicode MS" pitchFamily="34" charset="-128"/>
                <a:cs typeface="Arial Unicode MS" pitchFamily="34" charset="-128"/>
              </a:rPr>
              <a:t>netfilter</a:t>
            </a:r>
          </a:p>
        </p:txBody>
      </p:sp>
      <p:sp>
        <p:nvSpPr>
          <p:cNvPr id="36" name="TextBox 35">
            <a:extLst>
              <a:ext uri="{FF2B5EF4-FFF2-40B4-BE49-F238E27FC236}">
                <a16:creationId xmlns:a16="http://schemas.microsoft.com/office/drawing/2014/main" id="{0646DB39-A178-4A3F-B8D8-C5918BCF5C6C}"/>
              </a:ext>
            </a:extLst>
          </p:cNvPr>
          <p:cNvSpPr txBox="1"/>
          <p:nvPr/>
        </p:nvSpPr>
        <p:spPr>
          <a:xfrm>
            <a:off x="5637807" y="4239713"/>
            <a:ext cx="2131856" cy="369332"/>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2400" b="1" kern="0" dirty="0">
                <a:ea typeface="Arial Unicode MS" pitchFamily="34" charset="-128"/>
                <a:cs typeface="Arial Unicode MS" pitchFamily="34" charset="-128"/>
              </a:rPr>
              <a:t>SELinux</a:t>
            </a:r>
          </a:p>
        </p:txBody>
      </p:sp>
      <p:sp>
        <p:nvSpPr>
          <p:cNvPr id="37" name="TextBox 36">
            <a:extLst>
              <a:ext uri="{FF2B5EF4-FFF2-40B4-BE49-F238E27FC236}">
                <a16:creationId xmlns:a16="http://schemas.microsoft.com/office/drawing/2014/main" id="{44F690A9-A5C8-4C07-BC3E-4720D2B2AF84}"/>
              </a:ext>
            </a:extLst>
          </p:cNvPr>
          <p:cNvSpPr txBox="1"/>
          <p:nvPr/>
        </p:nvSpPr>
        <p:spPr>
          <a:xfrm rot="21305085">
            <a:off x="8597240" y="4819098"/>
            <a:ext cx="2766354" cy="369332"/>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2400" b="1" kern="0" dirty="0">
                <a:ea typeface="Arial Unicode MS" pitchFamily="34" charset="-128"/>
                <a:cs typeface="Arial Unicode MS" pitchFamily="34" charset="-128"/>
              </a:rPr>
              <a:t>AppArmor</a:t>
            </a:r>
          </a:p>
        </p:txBody>
      </p:sp>
      <p:sp>
        <p:nvSpPr>
          <p:cNvPr id="38" name="TextBox 37">
            <a:extLst>
              <a:ext uri="{FF2B5EF4-FFF2-40B4-BE49-F238E27FC236}">
                <a16:creationId xmlns:a16="http://schemas.microsoft.com/office/drawing/2014/main" id="{1EAC6309-B207-4E21-8BBB-54C78201021B}"/>
              </a:ext>
            </a:extLst>
          </p:cNvPr>
          <p:cNvSpPr txBox="1"/>
          <p:nvPr/>
        </p:nvSpPr>
        <p:spPr>
          <a:xfrm>
            <a:off x="5887493" y="5420892"/>
            <a:ext cx="2365024" cy="492443"/>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3200" b="1" kern="0" dirty="0">
                <a:ea typeface="Arial Unicode MS" pitchFamily="34" charset="-128"/>
                <a:cs typeface="Arial Unicode MS" pitchFamily="34" charset="-128"/>
              </a:rPr>
              <a:t>netlink</a:t>
            </a:r>
          </a:p>
        </p:txBody>
      </p:sp>
    </p:spTree>
    <p:extLst>
      <p:ext uri="{BB962C8B-B14F-4D97-AF65-F5344CB8AC3E}">
        <p14:creationId xmlns:p14="http://schemas.microsoft.com/office/powerpoint/2010/main" val="2524894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200" fill="hold"/>
                                        <p:tgtEl>
                                          <p:spTgt spid="4"/>
                                        </p:tgtEl>
                                        <p:attrNameLst>
                                          <p:attrName>ppt_x</p:attrName>
                                        </p:attrNameLst>
                                      </p:cBhvr>
                                      <p:tavLst>
                                        <p:tav tm="0">
                                          <p:val>
                                            <p:strVal val="0-#ppt_w/2"/>
                                          </p:val>
                                        </p:tav>
                                        <p:tav tm="100000">
                                          <p:val>
                                            <p:strVal val="#ppt_x"/>
                                          </p:val>
                                        </p:tav>
                                      </p:tavLst>
                                    </p:anim>
                                    <p:anim calcmode="lin" valueType="num">
                                      <p:cBhvr additive="base">
                                        <p:cTn id="8" dur="2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2" fill="hold" grpId="0" nodeType="clickEffect">
                                  <p:stCondLst>
                                    <p:cond delay="0"/>
                                  </p:stCondLst>
                                  <p:childTnLst>
                                    <p:set>
                                      <p:cBhvr>
                                        <p:cTn id="12" dur="1" fill="hold">
                                          <p:stCondLst>
                                            <p:cond delay="0"/>
                                          </p:stCondLst>
                                        </p:cTn>
                                        <p:tgtEl>
                                          <p:spTgt spid="26"/>
                                        </p:tgtEl>
                                        <p:attrNameLst>
                                          <p:attrName>style.visibility</p:attrName>
                                        </p:attrNameLst>
                                      </p:cBhvr>
                                      <p:to>
                                        <p:strVal val="visible"/>
                                      </p:to>
                                    </p:set>
                                    <p:anim calcmode="lin" valueType="num">
                                      <p:cBhvr additive="base">
                                        <p:cTn id="13" dur="200" fill="hold"/>
                                        <p:tgtEl>
                                          <p:spTgt spid="26"/>
                                        </p:tgtEl>
                                        <p:attrNameLst>
                                          <p:attrName>ppt_x</p:attrName>
                                        </p:attrNameLst>
                                      </p:cBhvr>
                                      <p:tavLst>
                                        <p:tav tm="0">
                                          <p:val>
                                            <p:strVal val="0-#ppt_w/2"/>
                                          </p:val>
                                        </p:tav>
                                        <p:tav tm="100000">
                                          <p:val>
                                            <p:strVal val="#ppt_x"/>
                                          </p:val>
                                        </p:tav>
                                      </p:tavLst>
                                    </p:anim>
                                    <p:anim calcmode="lin" valueType="num">
                                      <p:cBhvr additive="base">
                                        <p:cTn id="14" dur="2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anim calcmode="lin" valueType="num">
                                      <p:cBhvr additive="base">
                                        <p:cTn id="19" dur="200" fill="hold"/>
                                        <p:tgtEl>
                                          <p:spTgt spid="30"/>
                                        </p:tgtEl>
                                        <p:attrNameLst>
                                          <p:attrName>ppt_x</p:attrName>
                                        </p:attrNameLst>
                                      </p:cBhvr>
                                      <p:tavLst>
                                        <p:tav tm="0">
                                          <p:val>
                                            <p:strVal val="#ppt_x"/>
                                          </p:val>
                                        </p:tav>
                                        <p:tav tm="100000">
                                          <p:val>
                                            <p:strVal val="#ppt_x"/>
                                          </p:val>
                                        </p:tav>
                                      </p:tavLst>
                                    </p:anim>
                                    <p:anim calcmode="lin" valueType="num">
                                      <p:cBhvr additive="base">
                                        <p:cTn id="20" dur="2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1" fill="hold" grpId="0" nodeType="clickEffect">
                                  <p:stCondLst>
                                    <p:cond delay="0"/>
                                  </p:stCondLst>
                                  <p:childTnLst>
                                    <p:set>
                                      <p:cBhvr>
                                        <p:cTn id="24" dur="1" fill="hold">
                                          <p:stCondLst>
                                            <p:cond delay="0"/>
                                          </p:stCondLst>
                                        </p:cTn>
                                        <p:tgtEl>
                                          <p:spTgt spid="33"/>
                                        </p:tgtEl>
                                        <p:attrNameLst>
                                          <p:attrName>style.visibility</p:attrName>
                                        </p:attrNameLst>
                                      </p:cBhvr>
                                      <p:to>
                                        <p:strVal val="visible"/>
                                      </p:to>
                                    </p:set>
                                    <p:anim calcmode="lin" valueType="num">
                                      <p:cBhvr additive="base">
                                        <p:cTn id="25" dur="200" fill="hold"/>
                                        <p:tgtEl>
                                          <p:spTgt spid="33"/>
                                        </p:tgtEl>
                                        <p:attrNameLst>
                                          <p:attrName>ppt_x</p:attrName>
                                        </p:attrNameLst>
                                      </p:cBhvr>
                                      <p:tavLst>
                                        <p:tav tm="0">
                                          <p:val>
                                            <p:strVal val="#ppt_x"/>
                                          </p:val>
                                        </p:tav>
                                        <p:tav tm="100000">
                                          <p:val>
                                            <p:strVal val="#ppt_x"/>
                                          </p:val>
                                        </p:tav>
                                      </p:tavLst>
                                    </p:anim>
                                    <p:anim calcmode="lin" valueType="num">
                                      <p:cBhvr additive="base">
                                        <p:cTn id="26" dur="200" fill="hold"/>
                                        <p:tgtEl>
                                          <p:spTgt spid="33"/>
                                        </p:tgtEl>
                                        <p:attrNameLst>
                                          <p:attrName>ppt_y</p:attrName>
                                        </p:attrNameLst>
                                      </p:cBhvr>
                                      <p:tavLst>
                                        <p:tav tm="0">
                                          <p:val>
                                            <p:strVal val="0-#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34"/>
                                        </p:tgtEl>
                                        <p:attrNameLst>
                                          <p:attrName>style.visibility</p:attrName>
                                        </p:attrNameLst>
                                      </p:cBhvr>
                                      <p:to>
                                        <p:strVal val="visible"/>
                                      </p:to>
                                    </p:set>
                                    <p:anim calcmode="lin" valueType="num">
                                      <p:cBhvr additive="base">
                                        <p:cTn id="31" dur="100" fill="hold"/>
                                        <p:tgtEl>
                                          <p:spTgt spid="34"/>
                                        </p:tgtEl>
                                        <p:attrNameLst>
                                          <p:attrName>ppt_x</p:attrName>
                                        </p:attrNameLst>
                                      </p:cBhvr>
                                      <p:tavLst>
                                        <p:tav tm="0">
                                          <p:val>
                                            <p:strVal val="1+#ppt_w/2"/>
                                          </p:val>
                                        </p:tav>
                                        <p:tav tm="100000">
                                          <p:val>
                                            <p:strVal val="#ppt_x"/>
                                          </p:val>
                                        </p:tav>
                                      </p:tavLst>
                                    </p:anim>
                                    <p:anim calcmode="lin" valueType="num">
                                      <p:cBhvr additive="base">
                                        <p:cTn id="32" dur="100" fill="hold"/>
                                        <p:tgtEl>
                                          <p:spTgt spid="34"/>
                                        </p:tgtEl>
                                        <p:attrNameLst>
                                          <p:attrName>ppt_y</p:attrName>
                                        </p:attrNameLst>
                                      </p:cBhvr>
                                      <p:tavLst>
                                        <p:tav tm="0">
                                          <p:val>
                                            <p:strVal val="#ppt_y"/>
                                          </p:val>
                                        </p:tav>
                                        <p:tav tm="100000">
                                          <p:val>
                                            <p:strVal val="#ppt_y"/>
                                          </p:val>
                                        </p:tav>
                                      </p:tavLst>
                                    </p:anim>
                                  </p:childTnLst>
                                </p:cTn>
                              </p:par>
                            </p:childTnLst>
                          </p:cTn>
                        </p:par>
                        <p:par>
                          <p:cTn id="33" fill="hold">
                            <p:stCondLst>
                              <p:cond delay="100"/>
                            </p:stCondLst>
                            <p:childTnLst>
                              <p:par>
                                <p:cTn id="34" presetID="2" presetClass="entr" presetSubtype="4" fill="hold" grpId="0" nodeType="afterEffect">
                                  <p:stCondLst>
                                    <p:cond delay="0"/>
                                  </p:stCondLst>
                                  <p:childTnLst>
                                    <p:set>
                                      <p:cBhvr>
                                        <p:cTn id="35" dur="1" fill="hold">
                                          <p:stCondLst>
                                            <p:cond delay="0"/>
                                          </p:stCondLst>
                                        </p:cTn>
                                        <p:tgtEl>
                                          <p:spTgt spid="36"/>
                                        </p:tgtEl>
                                        <p:attrNameLst>
                                          <p:attrName>style.visibility</p:attrName>
                                        </p:attrNameLst>
                                      </p:cBhvr>
                                      <p:to>
                                        <p:strVal val="visible"/>
                                      </p:to>
                                    </p:set>
                                    <p:anim calcmode="lin" valueType="num">
                                      <p:cBhvr additive="base">
                                        <p:cTn id="36" dur="100" fill="hold"/>
                                        <p:tgtEl>
                                          <p:spTgt spid="36"/>
                                        </p:tgtEl>
                                        <p:attrNameLst>
                                          <p:attrName>ppt_x</p:attrName>
                                        </p:attrNameLst>
                                      </p:cBhvr>
                                      <p:tavLst>
                                        <p:tav tm="0">
                                          <p:val>
                                            <p:strVal val="#ppt_x"/>
                                          </p:val>
                                        </p:tav>
                                        <p:tav tm="100000">
                                          <p:val>
                                            <p:strVal val="#ppt_x"/>
                                          </p:val>
                                        </p:tav>
                                      </p:tavLst>
                                    </p:anim>
                                    <p:anim calcmode="lin" valueType="num">
                                      <p:cBhvr additive="base">
                                        <p:cTn id="37" dur="100" fill="hold"/>
                                        <p:tgtEl>
                                          <p:spTgt spid="36"/>
                                        </p:tgtEl>
                                        <p:attrNameLst>
                                          <p:attrName>ppt_y</p:attrName>
                                        </p:attrNameLst>
                                      </p:cBhvr>
                                      <p:tavLst>
                                        <p:tav tm="0">
                                          <p:val>
                                            <p:strVal val="1+#ppt_h/2"/>
                                          </p:val>
                                        </p:tav>
                                        <p:tav tm="100000">
                                          <p:val>
                                            <p:strVal val="#ppt_y"/>
                                          </p:val>
                                        </p:tav>
                                      </p:tavLst>
                                    </p:anim>
                                  </p:childTnLst>
                                </p:cTn>
                              </p:par>
                            </p:childTnLst>
                          </p:cTn>
                        </p:par>
                        <p:par>
                          <p:cTn id="38" fill="hold">
                            <p:stCondLst>
                              <p:cond delay="200"/>
                            </p:stCondLst>
                            <p:childTnLst>
                              <p:par>
                                <p:cTn id="39" presetID="2" presetClass="entr" presetSubtype="2" fill="hold" grpId="0" nodeType="afterEffect">
                                  <p:stCondLst>
                                    <p:cond delay="0"/>
                                  </p:stCondLst>
                                  <p:childTnLst>
                                    <p:set>
                                      <p:cBhvr>
                                        <p:cTn id="40" dur="1" fill="hold">
                                          <p:stCondLst>
                                            <p:cond delay="0"/>
                                          </p:stCondLst>
                                        </p:cTn>
                                        <p:tgtEl>
                                          <p:spTgt spid="35"/>
                                        </p:tgtEl>
                                        <p:attrNameLst>
                                          <p:attrName>style.visibility</p:attrName>
                                        </p:attrNameLst>
                                      </p:cBhvr>
                                      <p:to>
                                        <p:strVal val="visible"/>
                                      </p:to>
                                    </p:set>
                                    <p:anim calcmode="lin" valueType="num">
                                      <p:cBhvr additive="base">
                                        <p:cTn id="41" dur="100" fill="hold"/>
                                        <p:tgtEl>
                                          <p:spTgt spid="35"/>
                                        </p:tgtEl>
                                        <p:attrNameLst>
                                          <p:attrName>ppt_x</p:attrName>
                                        </p:attrNameLst>
                                      </p:cBhvr>
                                      <p:tavLst>
                                        <p:tav tm="0">
                                          <p:val>
                                            <p:strVal val="1+#ppt_w/2"/>
                                          </p:val>
                                        </p:tav>
                                        <p:tav tm="100000">
                                          <p:val>
                                            <p:strVal val="#ppt_x"/>
                                          </p:val>
                                        </p:tav>
                                      </p:tavLst>
                                    </p:anim>
                                    <p:anim calcmode="lin" valueType="num">
                                      <p:cBhvr additive="base">
                                        <p:cTn id="42" dur="100" fill="hold"/>
                                        <p:tgtEl>
                                          <p:spTgt spid="35"/>
                                        </p:tgtEl>
                                        <p:attrNameLst>
                                          <p:attrName>ppt_y</p:attrName>
                                        </p:attrNameLst>
                                      </p:cBhvr>
                                      <p:tavLst>
                                        <p:tav tm="0">
                                          <p:val>
                                            <p:strVal val="#ppt_y"/>
                                          </p:val>
                                        </p:tav>
                                        <p:tav tm="100000">
                                          <p:val>
                                            <p:strVal val="#ppt_y"/>
                                          </p:val>
                                        </p:tav>
                                      </p:tavLst>
                                    </p:anim>
                                  </p:childTnLst>
                                </p:cTn>
                              </p:par>
                            </p:childTnLst>
                          </p:cTn>
                        </p:par>
                        <p:par>
                          <p:cTn id="43" fill="hold">
                            <p:stCondLst>
                              <p:cond delay="300"/>
                            </p:stCondLst>
                            <p:childTnLst>
                              <p:par>
                                <p:cTn id="44" presetID="2" presetClass="entr" presetSubtype="4" fill="hold" grpId="0" nodeType="afterEffect">
                                  <p:stCondLst>
                                    <p:cond delay="0"/>
                                  </p:stCondLst>
                                  <p:childTnLst>
                                    <p:set>
                                      <p:cBhvr>
                                        <p:cTn id="45" dur="1" fill="hold">
                                          <p:stCondLst>
                                            <p:cond delay="0"/>
                                          </p:stCondLst>
                                        </p:cTn>
                                        <p:tgtEl>
                                          <p:spTgt spid="38"/>
                                        </p:tgtEl>
                                        <p:attrNameLst>
                                          <p:attrName>style.visibility</p:attrName>
                                        </p:attrNameLst>
                                      </p:cBhvr>
                                      <p:to>
                                        <p:strVal val="visible"/>
                                      </p:to>
                                    </p:set>
                                    <p:anim calcmode="lin" valueType="num">
                                      <p:cBhvr additive="base">
                                        <p:cTn id="46" dur="100" fill="hold"/>
                                        <p:tgtEl>
                                          <p:spTgt spid="38"/>
                                        </p:tgtEl>
                                        <p:attrNameLst>
                                          <p:attrName>ppt_x</p:attrName>
                                        </p:attrNameLst>
                                      </p:cBhvr>
                                      <p:tavLst>
                                        <p:tav tm="0">
                                          <p:val>
                                            <p:strVal val="#ppt_x"/>
                                          </p:val>
                                        </p:tav>
                                        <p:tav tm="100000">
                                          <p:val>
                                            <p:strVal val="#ppt_x"/>
                                          </p:val>
                                        </p:tav>
                                      </p:tavLst>
                                    </p:anim>
                                    <p:anim calcmode="lin" valueType="num">
                                      <p:cBhvr additive="base">
                                        <p:cTn id="47" dur="100" fill="hold"/>
                                        <p:tgtEl>
                                          <p:spTgt spid="38"/>
                                        </p:tgtEl>
                                        <p:attrNameLst>
                                          <p:attrName>ppt_y</p:attrName>
                                        </p:attrNameLst>
                                      </p:cBhvr>
                                      <p:tavLst>
                                        <p:tav tm="0">
                                          <p:val>
                                            <p:strVal val="1+#ppt_h/2"/>
                                          </p:val>
                                        </p:tav>
                                        <p:tav tm="100000">
                                          <p:val>
                                            <p:strVal val="#ppt_y"/>
                                          </p:val>
                                        </p:tav>
                                      </p:tavLst>
                                    </p:anim>
                                  </p:childTnLst>
                                </p:cTn>
                              </p:par>
                            </p:childTnLst>
                          </p:cTn>
                        </p:par>
                        <p:par>
                          <p:cTn id="48" fill="hold">
                            <p:stCondLst>
                              <p:cond delay="400"/>
                            </p:stCondLst>
                            <p:childTnLst>
                              <p:par>
                                <p:cTn id="49" presetID="2" presetClass="entr" presetSubtype="6" fill="hold" grpId="0" nodeType="afterEffect">
                                  <p:stCondLst>
                                    <p:cond delay="0"/>
                                  </p:stCondLst>
                                  <p:childTnLst>
                                    <p:set>
                                      <p:cBhvr>
                                        <p:cTn id="50" dur="1" fill="hold">
                                          <p:stCondLst>
                                            <p:cond delay="0"/>
                                          </p:stCondLst>
                                        </p:cTn>
                                        <p:tgtEl>
                                          <p:spTgt spid="37"/>
                                        </p:tgtEl>
                                        <p:attrNameLst>
                                          <p:attrName>style.visibility</p:attrName>
                                        </p:attrNameLst>
                                      </p:cBhvr>
                                      <p:to>
                                        <p:strVal val="visible"/>
                                      </p:to>
                                    </p:set>
                                    <p:anim calcmode="lin" valueType="num">
                                      <p:cBhvr additive="base">
                                        <p:cTn id="51" dur="100" fill="hold"/>
                                        <p:tgtEl>
                                          <p:spTgt spid="37"/>
                                        </p:tgtEl>
                                        <p:attrNameLst>
                                          <p:attrName>ppt_x</p:attrName>
                                        </p:attrNameLst>
                                      </p:cBhvr>
                                      <p:tavLst>
                                        <p:tav tm="0">
                                          <p:val>
                                            <p:strVal val="1+#ppt_w/2"/>
                                          </p:val>
                                        </p:tav>
                                        <p:tav tm="100000">
                                          <p:val>
                                            <p:strVal val="#ppt_x"/>
                                          </p:val>
                                        </p:tav>
                                      </p:tavLst>
                                    </p:anim>
                                    <p:anim calcmode="lin" valueType="num">
                                      <p:cBhvr additive="base">
                                        <p:cTn id="52" dur="100" fill="hold"/>
                                        <p:tgtEl>
                                          <p:spTgt spid="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6" grpId="0"/>
      <p:bldP spid="30" grpId="0"/>
      <p:bldP spid="33" grpId="0"/>
      <p:bldP spid="34" grpId="0"/>
      <p:bldP spid="35" grpId="0"/>
      <p:bldP spid="36" grpId="0"/>
      <p:bldP spid="37" grpId="0"/>
      <p:bldP spid="38" grpId="0"/>
    </p:bld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sz="1400" dirty="0"/>
              <a:t>Chroot</a:t>
            </a:r>
          </a:p>
          <a:p>
            <a:pPr lvl="1"/>
            <a:r>
              <a:rPr lang="en-US" sz="1200" dirty="0"/>
              <a:t>Changes the root directory for a process to any given directory</a:t>
            </a:r>
            <a:endParaRPr lang="en-US" sz="1400" dirty="0"/>
          </a:p>
          <a:p>
            <a:r>
              <a:rPr lang="en-US" sz="1400" dirty="0"/>
              <a:t>Namespaces</a:t>
            </a:r>
          </a:p>
          <a:p>
            <a:pPr lvl="1"/>
            <a:r>
              <a:rPr lang="en-US" sz="1200" dirty="0"/>
              <a:t>Different processes see different environments even though they are on the same host/OS</a:t>
            </a:r>
          </a:p>
          <a:p>
            <a:pPr lvl="1"/>
            <a:r>
              <a:rPr lang="en-US" sz="1200" dirty="0"/>
              <a:t>Seven different namespaces for</a:t>
            </a:r>
          </a:p>
          <a:p>
            <a:pPr lvl="2"/>
            <a:r>
              <a:rPr lang="en-US" sz="1200" b="1" dirty="0"/>
              <a:t>PID</a:t>
            </a:r>
            <a:r>
              <a:rPr lang="en-US" sz="1200" dirty="0"/>
              <a:t> (process tree)</a:t>
            </a:r>
          </a:p>
          <a:p>
            <a:pPr lvl="2"/>
            <a:r>
              <a:rPr lang="en-US" sz="1200" b="1" dirty="0" err="1"/>
              <a:t>mnt</a:t>
            </a:r>
            <a:r>
              <a:rPr lang="en-US" sz="1200" dirty="0"/>
              <a:t> (mount points)</a:t>
            </a:r>
          </a:p>
          <a:p>
            <a:pPr lvl="2"/>
            <a:r>
              <a:rPr lang="en-US" sz="1200" b="1" dirty="0"/>
              <a:t>Net</a:t>
            </a:r>
            <a:r>
              <a:rPr lang="en-US" sz="1200" dirty="0"/>
              <a:t> (network interfaces and connectivity)</a:t>
            </a:r>
          </a:p>
          <a:p>
            <a:pPr lvl="2"/>
            <a:r>
              <a:rPr lang="en-US" sz="1200" b="1" dirty="0"/>
              <a:t>IPC</a:t>
            </a:r>
            <a:r>
              <a:rPr lang="en-US" sz="1200" dirty="0"/>
              <a:t> (</a:t>
            </a:r>
            <a:r>
              <a:rPr lang="en-US" sz="1200" dirty="0" err="1"/>
              <a:t>interprocess</a:t>
            </a:r>
            <a:r>
              <a:rPr lang="en-US" sz="1200" dirty="0"/>
              <a:t> communication framework)</a:t>
            </a:r>
          </a:p>
          <a:p>
            <a:pPr lvl="2"/>
            <a:r>
              <a:rPr lang="en-US" sz="1200" b="1" dirty="0"/>
              <a:t>UTS</a:t>
            </a:r>
            <a:r>
              <a:rPr lang="en-US" sz="1200" dirty="0"/>
              <a:t> (hostname </a:t>
            </a:r>
            <a:r>
              <a:rPr lang="en-US" sz="1200"/>
              <a:t>and domain name</a:t>
            </a:r>
            <a:r>
              <a:rPr lang="en-US" sz="1200" dirty="0"/>
              <a:t>)</a:t>
            </a:r>
          </a:p>
          <a:p>
            <a:pPr lvl="2"/>
            <a:r>
              <a:rPr lang="en-US" sz="1200" b="1" dirty="0"/>
              <a:t>UID</a:t>
            </a:r>
            <a:r>
              <a:rPr lang="en-US" sz="1200" dirty="0"/>
              <a:t> (user IDs and mappings)</a:t>
            </a:r>
          </a:p>
          <a:p>
            <a:pPr lvl="2"/>
            <a:r>
              <a:rPr lang="en-US" sz="1200" b="1" dirty="0"/>
              <a:t>cgroup</a:t>
            </a:r>
            <a:r>
              <a:rPr lang="en-US" sz="1200" dirty="0"/>
              <a:t> (control groups for resource allocation)</a:t>
            </a:r>
          </a:p>
          <a:p>
            <a:r>
              <a:rPr lang="en-US" sz="1400" dirty="0"/>
              <a:t>Control groups (cgroups)</a:t>
            </a:r>
          </a:p>
          <a:p>
            <a:pPr lvl="1"/>
            <a:r>
              <a:rPr lang="en-US" sz="1200" dirty="0"/>
              <a:t>manage/limit resource allocation to individual processes</a:t>
            </a:r>
          </a:p>
          <a:p>
            <a:pPr lvl="1"/>
            <a:r>
              <a:rPr lang="en-US" sz="1200" dirty="0"/>
              <a:t>Prioritization ('nice' for a set of processes and not just one)</a:t>
            </a:r>
            <a:endParaRPr lang="en-US" sz="1600" dirty="0"/>
          </a:p>
        </p:txBody>
      </p:sp>
      <p:sp>
        <p:nvSpPr>
          <p:cNvPr id="3" name="Text Placeholder 2"/>
          <p:cNvSpPr>
            <a:spLocks noGrp="1"/>
          </p:cNvSpPr>
          <p:nvPr>
            <p:ph type="body" sz="quarter" idx="11"/>
          </p:nvPr>
        </p:nvSpPr>
        <p:spPr>
          <a:xfrm>
            <a:off x="6362477" y="1620000"/>
            <a:ext cx="5328000" cy="4539260"/>
          </a:xfrm>
        </p:spPr>
        <p:txBody>
          <a:bodyPr/>
          <a:lstStyle/>
          <a:p>
            <a:r>
              <a:rPr lang="en-US" sz="1400" dirty="0"/>
              <a:t>capabilities</a:t>
            </a:r>
          </a:p>
          <a:p>
            <a:pPr lvl="1"/>
            <a:r>
              <a:rPr lang="en-US" sz="1200" dirty="0"/>
              <a:t>without capabilities: root can do everything, everybody else may do nothing</a:t>
            </a:r>
          </a:p>
          <a:p>
            <a:pPr lvl="1"/>
            <a:r>
              <a:rPr lang="en-US" sz="1200" dirty="0"/>
              <a:t>38 granular facilities to control privileges</a:t>
            </a:r>
          </a:p>
          <a:p>
            <a:r>
              <a:rPr lang="en-US" sz="1400" dirty="0"/>
              <a:t>netfilter</a:t>
            </a:r>
          </a:p>
          <a:p>
            <a:pPr lvl="1"/>
            <a:r>
              <a:rPr lang="en-US" sz="1200" dirty="0"/>
              <a:t>firewall and packet manipulation (</a:t>
            </a:r>
            <a:r>
              <a:rPr lang="en-US" sz="1200" dirty="0" err="1"/>
              <a:t>iptables</a:t>
            </a:r>
            <a:r>
              <a:rPr lang="en-US" sz="1200" dirty="0"/>
              <a:t>/</a:t>
            </a:r>
            <a:r>
              <a:rPr lang="en-US" sz="1200" dirty="0" err="1"/>
              <a:t>nftables</a:t>
            </a:r>
            <a:r>
              <a:rPr lang="en-US" sz="1200" dirty="0"/>
              <a:t>)</a:t>
            </a:r>
          </a:p>
          <a:p>
            <a:pPr lvl="1"/>
            <a:r>
              <a:rPr lang="en-US" sz="1200" dirty="0"/>
              <a:t>can manipulate almost all network traffic going in/out a host</a:t>
            </a:r>
          </a:p>
          <a:p>
            <a:pPr lvl="1"/>
            <a:r>
              <a:rPr lang="en-US" sz="1200" dirty="0"/>
              <a:t>used to direct network packages to individual containers</a:t>
            </a:r>
          </a:p>
          <a:p>
            <a:r>
              <a:rPr lang="en-US" sz="1400" dirty="0"/>
              <a:t>Netlink</a:t>
            </a:r>
          </a:p>
          <a:p>
            <a:pPr lvl="1"/>
            <a:r>
              <a:rPr lang="en-US" sz="1200" dirty="0" err="1"/>
              <a:t>Interprocess</a:t>
            </a:r>
            <a:r>
              <a:rPr lang="en-US" sz="1200" dirty="0"/>
              <a:t> communication between containers</a:t>
            </a:r>
          </a:p>
          <a:p>
            <a:r>
              <a:rPr lang="en-US" sz="1400" dirty="0"/>
              <a:t>SELinux/AppArmor</a:t>
            </a:r>
          </a:p>
          <a:p>
            <a:pPr lvl="1"/>
            <a:r>
              <a:rPr lang="en-US" sz="1200" dirty="0"/>
              <a:t>Security profiles to govern access to resources</a:t>
            </a:r>
          </a:p>
          <a:p>
            <a:r>
              <a:rPr lang="en-US" sz="1400" dirty="0"/>
              <a:t>seccomp</a:t>
            </a:r>
          </a:p>
          <a:p>
            <a:pPr lvl="1"/>
            <a:r>
              <a:rPr lang="en-US" sz="1200" dirty="0"/>
              <a:t>Limitation of allowed kernel </a:t>
            </a:r>
            <a:r>
              <a:rPr lang="en-US" sz="1200" dirty="0" err="1"/>
              <a:t>syscalls</a:t>
            </a:r>
            <a:endParaRPr lang="en-US" sz="1200" dirty="0"/>
          </a:p>
          <a:p>
            <a:pPr lvl="1"/>
            <a:r>
              <a:rPr lang="en-US" sz="1200" dirty="0" err="1"/>
              <a:t>Unallowed</a:t>
            </a:r>
            <a:r>
              <a:rPr lang="en-US" sz="1200" dirty="0"/>
              <a:t> </a:t>
            </a:r>
            <a:r>
              <a:rPr lang="en-US" sz="1200" dirty="0" err="1"/>
              <a:t>syscalls</a:t>
            </a:r>
            <a:r>
              <a:rPr lang="en-US" sz="1200" dirty="0"/>
              <a:t> lead to process termination</a:t>
            </a:r>
          </a:p>
        </p:txBody>
      </p:sp>
      <p:sp>
        <p:nvSpPr>
          <p:cNvPr id="4" name="Title 3"/>
          <p:cNvSpPr>
            <a:spLocks noGrp="1"/>
          </p:cNvSpPr>
          <p:nvPr>
            <p:ph type="title"/>
          </p:nvPr>
        </p:nvSpPr>
        <p:spPr/>
        <p:txBody>
          <a:bodyPr/>
          <a:lstStyle/>
          <a:p>
            <a:r>
              <a:rPr lang="en-US" dirty="0"/>
              <a:t>Linux Primitives used by Containers</a:t>
            </a:r>
          </a:p>
        </p:txBody>
      </p:sp>
    </p:spTree>
    <p:extLst>
      <p:ext uri="{BB962C8B-B14F-4D97-AF65-F5344CB8AC3E}">
        <p14:creationId xmlns:p14="http://schemas.microsoft.com/office/powerpoint/2010/main" val="7752082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Filesystem isolation with </a:t>
            </a:r>
            <a:r>
              <a:rPr lang="en-US" i="1" dirty="0"/>
              <a:t>chroot</a:t>
            </a:r>
          </a:p>
        </p:txBody>
      </p:sp>
      <p:grpSp>
        <p:nvGrpSpPr>
          <p:cNvPr id="5" name="Group 4">
            <a:extLst>
              <a:ext uri="{FF2B5EF4-FFF2-40B4-BE49-F238E27FC236}">
                <a16:creationId xmlns:a16="http://schemas.microsoft.com/office/drawing/2014/main" id="{71F65EF0-3524-4653-9D44-057632B684D1}"/>
              </a:ext>
            </a:extLst>
          </p:cNvPr>
          <p:cNvGrpSpPr/>
          <p:nvPr/>
        </p:nvGrpSpPr>
        <p:grpSpPr>
          <a:xfrm>
            <a:off x="1045867" y="1620000"/>
            <a:ext cx="4560747" cy="4227265"/>
            <a:chOff x="586534" y="1156182"/>
            <a:chExt cx="4342123" cy="3615058"/>
          </a:xfrm>
        </p:grpSpPr>
        <p:grpSp>
          <p:nvGrpSpPr>
            <p:cNvPr id="6" name="Group 5">
              <a:extLst>
                <a:ext uri="{FF2B5EF4-FFF2-40B4-BE49-F238E27FC236}">
                  <a16:creationId xmlns:a16="http://schemas.microsoft.com/office/drawing/2014/main" id="{A3774A7F-3B34-4456-B344-D49E54ED042F}"/>
                </a:ext>
              </a:extLst>
            </p:cNvPr>
            <p:cNvGrpSpPr/>
            <p:nvPr/>
          </p:nvGrpSpPr>
          <p:grpSpPr>
            <a:xfrm>
              <a:off x="3896838" y="2403515"/>
              <a:ext cx="1031819" cy="1361746"/>
              <a:chOff x="4818352" y="2581716"/>
              <a:chExt cx="1031819" cy="1361746"/>
            </a:xfrm>
          </p:grpSpPr>
          <p:pic>
            <p:nvPicPr>
              <p:cNvPr id="43" name="Picture 42">
                <a:extLst>
                  <a:ext uri="{FF2B5EF4-FFF2-40B4-BE49-F238E27FC236}">
                    <a16:creationId xmlns:a16="http://schemas.microsoft.com/office/drawing/2014/main" id="{8D62CA2A-682A-4794-B1DF-1BD89B5A75B1}"/>
                  </a:ext>
                </a:extLst>
              </p:cNvPr>
              <p:cNvPicPr>
                <a:picLocks noChangeAspect="1"/>
              </p:cNvPicPr>
              <p:nvPr/>
            </p:nvPicPr>
            <p:blipFill>
              <a:blip r:embed="rId3"/>
              <a:stretch>
                <a:fillRect/>
              </a:stretch>
            </p:blipFill>
            <p:spPr>
              <a:xfrm>
                <a:off x="5015169" y="3669287"/>
                <a:ext cx="393637" cy="274175"/>
              </a:xfrm>
              <a:prstGeom prst="rect">
                <a:avLst/>
              </a:prstGeom>
            </p:spPr>
          </p:pic>
          <p:pic>
            <p:nvPicPr>
              <p:cNvPr id="44" name="Picture 43">
                <a:extLst>
                  <a:ext uri="{FF2B5EF4-FFF2-40B4-BE49-F238E27FC236}">
                    <a16:creationId xmlns:a16="http://schemas.microsoft.com/office/drawing/2014/main" id="{855E684F-A4E4-495B-9DC4-3ACF1042DA4E}"/>
                  </a:ext>
                </a:extLst>
              </p:cNvPr>
              <p:cNvPicPr>
                <a:picLocks noChangeAspect="1"/>
              </p:cNvPicPr>
              <p:nvPr/>
            </p:nvPicPr>
            <p:blipFill>
              <a:blip r:embed="rId3"/>
              <a:stretch>
                <a:fillRect/>
              </a:stretch>
            </p:blipFill>
            <p:spPr>
              <a:xfrm>
                <a:off x="5015169" y="3304703"/>
                <a:ext cx="393637" cy="274175"/>
              </a:xfrm>
              <a:prstGeom prst="rect">
                <a:avLst/>
              </a:prstGeom>
            </p:spPr>
          </p:pic>
          <p:pic>
            <p:nvPicPr>
              <p:cNvPr id="45" name="Picture 44">
                <a:extLst>
                  <a:ext uri="{FF2B5EF4-FFF2-40B4-BE49-F238E27FC236}">
                    <a16:creationId xmlns:a16="http://schemas.microsoft.com/office/drawing/2014/main" id="{05BA3FE2-46B6-417A-BE57-B2B320E7BC3E}"/>
                  </a:ext>
                </a:extLst>
              </p:cNvPr>
              <p:cNvPicPr>
                <a:picLocks noChangeAspect="1"/>
              </p:cNvPicPr>
              <p:nvPr/>
            </p:nvPicPr>
            <p:blipFill>
              <a:blip r:embed="rId3"/>
              <a:stretch>
                <a:fillRect/>
              </a:stretch>
            </p:blipFill>
            <p:spPr>
              <a:xfrm>
                <a:off x="5015169" y="2940119"/>
                <a:ext cx="393637" cy="274175"/>
              </a:xfrm>
              <a:prstGeom prst="rect">
                <a:avLst/>
              </a:prstGeom>
            </p:spPr>
          </p:pic>
          <p:pic>
            <p:nvPicPr>
              <p:cNvPr id="46" name="Picture 45">
                <a:extLst>
                  <a:ext uri="{FF2B5EF4-FFF2-40B4-BE49-F238E27FC236}">
                    <a16:creationId xmlns:a16="http://schemas.microsoft.com/office/drawing/2014/main" id="{B9CD3F59-7F57-4A68-85C1-2E9CA8EA8CEB}"/>
                  </a:ext>
                </a:extLst>
              </p:cNvPr>
              <p:cNvPicPr>
                <a:picLocks noChangeAspect="1"/>
              </p:cNvPicPr>
              <p:nvPr/>
            </p:nvPicPr>
            <p:blipFill>
              <a:blip r:embed="rId4"/>
              <a:stretch>
                <a:fillRect/>
              </a:stretch>
            </p:blipFill>
            <p:spPr>
              <a:xfrm>
                <a:off x="4818352" y="2581716"/>
                <a:ext cx="444318" cy="274175"/>
              </a:xfrm>
              <a:prstGeom prst="rect">
                <a:avLst/>
              </a:prstGeom>
            </p:spPr>
          </p:pic>
          <p:cxnSp>
            <p:nvCxnSpPr>
              <p:cNvPr id="47" name="Straight Connector 46">
                <a:extLst>
                  <a:ext uri="{FF2B5EF4-FFF2-40B4-BE49-F238E27FC236}">
                    <a16:creationId xmlns:a16="http://schemas.microsoft.com/office/drawing/2014/main" id="{661564E6-51FC-4F70-A032-02718C5A25D1}"/>
                  </a:ext>
                </a:extLst>
              </p:cNvPr>
              <p:cNvCxnSpPr/>
              <p:nvPr/>
            </p:nvCxnSpPr>
            <p:spPr>
              <a:xfrm>
                <a:off x="4911859" y="3077205"/>
                <a:ext cx="103310" cy="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7DC93B40-E00B-4A24-AEAC-ED233FC1FC9A}"/>
                  </a:ext>
                </a:extLst>
              </p:cNvPr>
              <p:cNvCxnSpPr/>
              <p:nvPr/>
            </p:nvCxnSpPr>
            <p:spPr>
              <a:xfrm>
                <a:off x="4911859" y="3435608"/>
                <a:ext cx="103310" cy="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657BB6BA-9195-47ED-BB58-0DB3CF8BD811}"/>
                  </a:ext>
                </a:extLst>
              </p:cNvPr>
              <p:cNvCxnSpPr/>
              <p:nvPr/>
            </p:nvCxnSpPr>
            <p:spPr>
              <a:xfrm>
                <a:off x="4911859" y="3806374"/>
                <a:ext cx="103310" cy="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C13B4B3C-582C-4B70-81BC-650EE49A2B20}"/>
                  </a:ext>
                </a:extLst>
              </p:cNvPr>
              <p:cNvCxnSpPr>
                <a:cxnSpLocks/>
              </p:cNvCxnSpPr>
              <p:nvPr/>
            </p:nvCxnSpPr>
            <p:spPr>
              <a:xfrm flipV="1">
                <a:off x="4917025" y="2855892"/>
                <a:ext cx="0" cy="95048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FD99F382-61D6-4D88-9EA3-64829C129FCB}"/>
                  </a:ext>
                </a:extLst>
              </p:cNvPr>
              <p:cNvSpPr txBox="1"/>
              <p:nvPr/>
            </p:nvSpPr>
            <p:spPr>
              <a:xfrm>
                <a:off x="5262670" y="2592769"/>
                <a:ext cx="264331" cy="236883"/>
              </a:xfrm>
              <a:prstGeom prst="rect">
                <a:avLst/>
              </a:prstGeom>
              <a:noFill/>
            </p:spPr>
            <p:txBody>
              <a:bodyPr wrap="none" rtlCol="0" anchor="ctr">
                <a:spAutoFit/>
              </a:bodyPr>
              <a:lstStyle/>
              <a:p>
                <a:r>
                  <a:rPr lang="en-US" sz="1200" b="1" dirty="0">
                    <a:latin typeface="Courier New" panose="02070309020205020404" pitchFamily="49" charset="0"/>
                    <a:cs typeface="Courier New" panose="02070309020205020404" pitchFamily="49" charset="0"/>
                  </a:rPr>
                  <a:t>/</a:t>
                </a:r>
              </a:p>
            </p:txBody>
          </p:sp>
          <p:sp>
            <p:nvSpPr>
              <p:cNvPr id="52" name="TextBox 51">
                <a:extLst>
                  <a:ext uri="{FF2B5EF4-FFF2-40B4-BE49-F238E27FC236}">
                    <a16:creationId xmlns:a16="http://schemas.microsoft.com/office/drawing/2014/main" id="{266E3D63-7F70-49F6-8ACA-9115CE1FC8FC}"/>
                  </a:ext>
                </a:extLst>
              </p:cNvPr>
              <p:cNvSpPr txBox="1"/>
              <p:nvPr/>
            </p:nvSpPr>
            <p:spPr>
              <a:xfrm>
                <a:off x="5408806" y="2965204"/>
                <a:ext cx="441365" cy="236883"/>
              </a:xfrm>
              <a:prstGeom prst="rect">
                <a:avLst/>
              </a:prstGeom>
              <a:noFill/>
            </p:spPr>
            <p:txBody>
              <a:bodyPr wrap="none" rtlCol="0" anchor="ctr">
                <a:spAutoFit/>
              </a:bodyPr>
              <a:lstStyle/>
              <a:p>
                <a:r>
                  <a:rPr lang="en-US" sz="1200" b="1" dirty="0">
                    <a:latin typeface="Courier New" panose="02070309020205020404" pitchFamily="49" charset="0"/>
                    <a:cs typeface="Courier New" panose="02070309020205020404" pitchFamily="49" charset="0"/>
                  </a:rPr>
                  <a:t>bin</a:t>
                </a:r>
              </a:p>
            </p:txBody>
          </p:sp>
          <p:sp>
            <p:nvSpPr>
              <p:cNvPr id="53" name="TextBox 52">
                <a:extLst>
                  <a:ext uri="{FF2B5EF4-FFF2-40B4-BE49-F238E27FC236}">
                    <a16:creationId xmlns:a16="http://schemas.microsoft.com/office/drawing/2014/main" id="{CD9075C6-4C45-40DE-9ED1-980E2E1AD26F}"/>
                  </a:ext>
                </a:extLst>
              </p:cNvPr>
              <p:cNvSpPr txBox="1"/>
              <p:nvPr/>
            </p:nvSpPr>
            <p:spPr>
              <a:xfrm>
                <a:off x="5408806" y="3311751"/>
                <a:ext cx="441365" cy="236883"/>
              </a:xfrm>
              <a:prstGeom prst="rect">
                <a:avLst/>
              </a:prstGeom>
              <a:noFill/>
            </p:spPr>
            <p:txBody>
              <a:bodyPr wrap="none" rtlCol="0" anchor="ctr">
                <a:spAutoFit/>
              </a:bodyPr>
              <a:lstStyle/>
              <a:p>
                <a:r>
                  <a:rPr lang="en-US" sz="1200" b="1" dirty="0">
                    <a:latin typeface="Courier New" panose="02070309020205020404" pitchFamily="49" charset="0"/>
                    <a:cs typeface="Courier New" panose="02070309020205020404" pitchFamily="49" charset="0"/>
                  </a:rPr>
                  <a:t>lib</a:t>
                </a:r>
              </a:p>
            </p:txBody>
          </p:sp>
          <p:sp>
            <p:nvSpPr>
              <p:cNvPr id="54" name="TextBox 53">
                <a:extLst>
                  <a:ext uri="{FF2B5EF4-FFF2-40B4-BE49-F238E27FC236}">
                    <a16:creationId xmlns:a16="http://schemas.microsoft.com/office/drawing/2014/main" id="{6F1097BE-9E06-4F21-940E-DDED591730BB}"/>
                  </a:ext>
                </a:extLst>
              </p:cNvPr>
              <p:cNvSpPr txBox="1"/>
              <p:nvPr/>
            </p:nvSpPr>
            <p:spPr>
              <a:xfrm>
                <a:off x="5408806" y="3693693"/>
                <a:ext cx="441365" cy="236883"/>
              </a:xfrm>
              <a:prstGeom prst="rect">
                <a:avLst/>
              </a:prstGeom>
              <a:noFill/>
            </p:spPr>
            <p:txBody>
              <a:bodyPr wrap="none" rtlCol="0" anchor="ctr">
                <a:spAutoFit/>
              </a:bodyPr>
              <a:lstStyle/>
              <a:p>
                <a:r>
                  <a:rPr lang="en-US" sz="1200" b="1" dirty="0">
                    <a:latin typeface="Courier New" panose="02070309020205020404" pitchFamily="49" charset="0"/>
                    <a:cs typeface="Courier New" panose="02070309020205020404" pitchFamily="49" charset="0"/>
                  </a:rPr>
                  <a:t>usr</a:t>
                </a:r>
              </a:p>
            </p:txBody>
          </p:sp>
        </p:grpSp>
        <p:sp>
          <p:nvSpPr>
            <p:cNvPr id="7" name="Arrow: Pentagon 6">
              <a:extLst>
                <a:ext uri="{FF2B5EF4-FFF2-40B4-BE49-F238E27FC236}">
                  <a16:creationId xmlns:a16="http://schemas.microsoft.com/office/drawing/2014/main" id="{85E1F770-9B5A-4247-A5E9-323E44030E83}"/>
                </a:ext>
              </a:extLst>
            </p:cNvPr>
            <p:cNvSpPr/>
            <p:nvPr/>
          </p:nvSpPr>
          <p:spPr>
            <a:xfrm rot="19565436">
              <a:off x="2853920" y="2714993"/>
              <a:ext cx="1046380" cy="251101"/>
            </a:xfrm>
            <a:prstGeom prst="homePlate">
              <a:avLst/>
            </a:prstGeom>
            <a:solidFill>
              <a:srgbClr val="0070C0"/>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latin typeface="Courier New" panose="02070309020205020404" pitchFamily="49" charset="0"/>
                  <a:cs typeface="Courier New" panose="02070309020205020404" pitchFamily="49" charset="0"/>
                </a:rPr>
                <a:t>chroot</a:t>
              </a:r>
            </a:p>
          </p:txBody>
        </p:sp>
        <p:grpSp>
          <p:nvGrpSpPr>
            <p:cNvPr id="8" name="Group 7">
              <a:extLst>
                <a:ext uri="{FF2B5EF4-FFF2-40B4-BE49-F238E27FC236}">
                  <a16:creationId xmlns:a16="http://schemas.microsoft.com/office/drawing/2014/main" id="{8972A039-39AD-4729-B1CB-B6746F741556}"/>
                </a:ext>
              </a:extLst>
            </p:cNvPr>
            <p:cNvGrpSpPr/>
            <p:nvPr/>
          </p:nvGrpSpPr>
          <p:grpSpPr>
            <a:xfrm>
              <a:off x="586534" y="1156182"/>
              <a:ext cx="2280191" cy="3615058"/>
              <a:chOff x="698731" y="1144962"/>
              <a:chExt cx="2280191" cy="3615058"/>
            </a:xfrm>
          </p:grpSpPr>
          <p:pic>
            <p:nvPicPr>
              <p:cNvPr id="9" name="Picture 8">
                <a:extLst>
                  <a:ext uri="{FF2B5EF4-FFF2-40B4-BE49-F238E27FC236}">
                    <a16:creationId xmlns:a16="http://schemas.microsoft.com/office/drawing/2014/main" id="{841CD3CB-242E-49D7-9B15-6CA1BC972BE7}"/>
                  </a:ext>
                </a:extLst>
              </p:cNvPr>
              <p:cNvPicPr>
                <a:picLocks noChangeAspect="1"/>
              </p:cNvPicPr>
              <p:nvPr/>
            </p:nvPicPr>
            <p:blipFill>
              <a:blip r:embed="rId5"/>
              <a:stretch>
                <a:fillRect/>
              </a:stretch>
            </p:blipFill>
            <p:spPr>
              <a:xfrm>
                <a:off x="1750380" y="4055520"/>
                <a:ext cx="391764" cy="272871"/>
              </a:xfrm>
              <a:prstGeom prst="rect">
                <a:avLst/>
              </a:prstGeom>
            </p:spPr>
          </p:pic>
          <p:pic>
            <p:nvPicPr>
              <p:cNvPr id="10" name="Picture 9">
                <a:extLst>
                  <a:ext uri="{FF2B5EF4-FFF2-40B4-BE49-F238E27FC236}">
                    <a16:creationId xmlns:a16="http://schemas.microsoft.com/office/drawing/2014/main" id="{F1EB00CA-56EB-4713-984F-843DB99596D3}"/>
                  </a:ext>
                </a:extLst>
              </p:cNvPr>
              <p:cNvPicPr>
                <a:picLocks noChangeAspect="1"/>
              </p:cNvPicPr>
              <p:nvPr/>
            </p:nvPicPr>
            <p:blipFill>
              <a:blip r:embed="rId5"/>
              <a:stretch>
                <a:fillRect/>
              </a:stretch>
            </p:blipFill>
            <p:spPr>
              <a:xfrm>
                <a:off x="1752621" y="3697118"/>
                <a:ext cx="391764" cy="272871"/>
              </a:xfrm>
              <a:prstGeom prst="rect">
                <a:avLst/>
              </a:prstGeom>
            </p:spPr>
          </p:pic>
          <p:sp>
            <p:nvSpPr>
              <p:cNvPr id="11" name="TextBox 10">
                <a:extLst>
                  <a:ext uri="{FF2B5EF4-FFF2-40B4-BE49-F238E27FC236}">
                    <a16:creationId xmlns:a16="http://schemas.microsoft.com/office/drawing/2014/main" id="{8C184D2E-77EA-4E7E-8864-DE6961BB3A67}"/>
                  </a:ext>
                </a:extLst>
              </p:cNvPr>
              <p:cNvSpPr txBox="1"/>
              <p:nvPr/>
            </p:nvSpPr>
            <p:spPr>
              <a:xfrm>
                <a:off x="1101655" y="1166733"/>
                <a:ext cx="264331" cy="236883"/>
              </a:xfrm>
              <a:prstGeom prst="rect">
                <a:avLst/>
              </a:prstGeom>
              <a:noFill/>
            </p:spPr>
            <p:txBody>
              <a:bodyPr wrap="none" rtlCol="0" anchor="ctr">
                <a:spAutoFit/>
              </a:bodyPr>
              <a:lstStyle/>
              <a:p>
                <a:r>
                  <a:rPr lang="en-US" sz="1200" b="1" dirty="0">
                    <a:latin typeface="Courier New" panose="02070309020205020404" pitchFamily="49" charset="0"/>
                    <a:cs typeface="Courier New" panose="02070309020205020404" pitchFamily="49" charset="0"/>
                  </a:rPr>
                  <a:t>/</a:t>
                </a:r>
              </a:p>
            </p:txBody>
          </p:sp>
          <p:pic>
            <p:nvPicPr>
              <p:cNvPr id="12" name="Picture 11">
                <a:extLst>
                  <a:ext uri="{FF2B5EF4-FFF2-40B4-BE49-F238E27FC236}">
                    <a16:creationId xmlns:a16="http://schemas.microsoft.com/office/drawing/2014/main" id="{568DA1CA-DA12-4814-A543-F18E5CEB6B87}"/>
                  </a:ext>
                </a:extLst>
              </p:cNvPr>
              <p:cNvPicPr>
                <a:picLocks noChangeAspect="1"/>
              </p:cNvPicPr>
              <p:nvPr/>
            </p:nvPicPr>
            <p:blipFill>
              <a:blip r:embed="rId3"/>
              <a:stretch>
                <a:fillRect/>
              </a:stretch>
            </p:blipFill>
            <p:spPr>
              <a:xfrm>
                <a:off x="698731" y="1144962"/>
                <a:ext cx="395544" cy="275503"/>
              </a:xfrm>
              <a:prstGeom prst="rect">
                <a:avLst/>
              </a:prstGeom>
            </p:spPr>
          </p:pic>
          <p:pic>
            <p:nvPicPr>
              <p:cNvPr id="13" name="Picture 12">
                <a:extLst>
                  <a:ext uri="{FF2B5EF4-FFF2-40B4-BE49-F238E27FC236}">
                    <a16:creationId xmlns:a16="http://schemas.microsoft.com/office/drawing/2014/main" id="{7F1252CA-22BB-4CF1-9ED6-31651CF80AD6}"/>
                  </a:ext>
                </a:extLst>
              </p:cNvPr>
              <p:cNvPicPr>
                <a:picLocks noChangeAspect="1"/>
              </p:cNvPicPr>
              <p:nvPr/>
            </p:nvPicPr>
            <p:blipFill>
              <a:blip r:embed="rId3"/>
              <a:stretch>
                <a:fillRect/>
              </a:stretch>
            </p:blipFill>
            <p:spPr>
              <a:xfrm>
                <a:off x="897456" y="1504105"/>
                <a:ext cx="393637" cy="274175"/>
              </a:xfrm>
              <a:prstGeom prst="rect">
                <a:avLst/>
              </a:prstGeom>
            </p:spPr>
          </p:pic>
          <p:pic>
            <p:nvPicPr>
              <p:cNvPr id="14" name="Picture 13">
                <a:extLst>
                  <a:ext uri="{FF2B5EF4-FFF2-40B4-BE49-F238E27FC236}">
                    <a16:creationId xmlns:a16="http://schemas.microsoft.com/office/drawing/2014/main" id="{AF984D09-D623-4CFF-8EFE-E50A176CC65D}"/>
                  </a:ext>
                </a:extLst>
              </p:cNvPr>
              <p:cNvPicPr>
                <a:picLocks noChangeAspect="1"/>
              </p:cNvPicPr>
              <p:nvPr/>
            </p:nvPicPr>
            <p:blipFill>
              <a:blip r:embed="rId3"/>
              <a:stretch>
                <a:fillRect/>
              </a:stretch>
            </p:blipFill>
            <p:spPr>
              <a:xfrm>
                <a:off x="897456" y="1869865"/>
                <a:ext cx="393637" cy="274175"/>
              </a:xfrm>
              <a:prstGeom prst="rect">
                <a:avLst/>
              </a:prstGeom>
            </p:spPr>
          </p:pic>
          <p:pic>
            <p:nvPicPr>
              <p:cNvPr id="15" name="Picture 14">
                <a:extLst>
                  <a:ext uri="{FF2B5EF4-FFF2-40B4-BE49-F238E27FC236}">
                    <a16:creationId xmlns:a16="http://schemas.microsoft.com/office/drawing/2014/main" id="{287338DD-E697-4D6A-8DD6-22A09CB4FBBA}"/>
                  </a:ext>
                </a:extLst>
              </p:cNvPr>
              <p:cNvPicPr>
                <a:picLocks noChangeAspect="1"/>
              </p:cNvPicPr>
              <p:nvPr/>
            </p:nvPicPr>
            <p:blipFill>
              <a:blip r:embed="rId3"/>
              <a:stretch>
                <a:fillRect/>
              </a:stretch>
            </p:blipFill>
            <p:spPr>
              <a:xfrm>
                <a:off x="1154685" y="2235625"/>
                <a:ext cx="393637" cy="274175"/>
              </a:xfrm>
              <a:prstGeom prst="rect">
                <a:avLst/>
              </a:prstGeom>
            </p:spPr>
          </p:pic>
          <p:pic>
            <p:nvPicPr>
              <p:cNvPr id="16" name="Picture 15">
                <a:extLst>
                  <a:ext uri="{FF2B5EF4-FFF2-40B4-BE49-F238E27FC236}">
                    <a16:creationId xmlns:a16="http://schemas.microsoft.com/office/drawing/2014/main" id="{FD466923-E52B-42DF-9077-0F3B408FEB56}"/>
                  </a:ext>
                </a:extLst>
              </p:cNvPr>
              <p:cNvPicPr>
                <a:picLocks noChangeAspect="1"/>
              </p:cNvPicPr>
              <p:nvPr/>
            </p:nvPicPr>
            <p:blipFill>
              <a:blip r:embed="rId3"/>
              <a:stretch>
                <a:fillRect/>
              </a:stretch>
            </p:blipFill>
            <p:spPr>
              <a:xfrm>
                <a:off x="897456" y="4485845"/>
                <a:ext cx="393637" cy="274175"/>
              </a:xfrm>
              <a:prstGeom prst="rect">
                <a:avLst/>
              </a:prstGeom>
            </p:spPr>
          </p:pic>
          <p:cxnSp>
            <p:nvCxnSpPr>
              <p:cNvPr id="17" name="Straight Connector 16">
                <a:extLst>
                  <a:ext uri="{FF2B5EF4-FFF2-40B4-BE49-F238E27FC236}">
                    <a16:creationId xmlns:a16="http://schemas.microsoft.com/office/drawing/2014/main" id="{68DB018B-6EB4-48EF-B705-F4BA22846B49}"/>
                  </a:ext>
                </a:extLst>
              </p:cNvPr>
              <p:cNvCxnSpPr>
                <a:cxnSpLocks/>
              </p:cNvCxnSpPr>
              <p:nvPr/>
            </p:nvCxnSpPr>
            <p:spPr>
              <a:xfrm>
                <a:off x="794146" y="1420465"/>
                <a:ext cx="0" cy="3202467"/>
              </a:xfrm>
              <a:prstGeom prst="line">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372CD13-7685-4D28-92A0-4AE1E595D1AC}"/>
                  </a:ext>
                </a:extLst>
              </p:cNvPr>
              <p:cNvCxnSpPr>
                <a:endCxn id="13" idx="1"/>
              </p:cNvCxnSpPr>
              <p:nvPr/>
            </p:nvCxnSpPr>
            <p:spPr>
              <a:xfrm>
                <a:off x="794146" y="1641192"/>
                <a:ext cx="103310" cy="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973336E-B563-466D-8C7B-5BAC73A51D8D}"/>
                  </a:ext>
                </a:extLst>
              </p:cNvPr>
              <p:cNvCxnSpPr/>
              <p:nvPr/>
            </p:nvCxnSpPr>
            <p:spPr>
              <a:xfrm>
                <a:off x="793193" y="2006952"/>
                <a:ext cx="103310" cy="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588A0AE-1311-44C9-B130-ACFF51E944DB}"/>
                  </a:ext>
                </a:extLst>
              </p:cNvPr>
              <p:cNvCxnSpPr/>
              <p:nvPr/>
            </p:nvCxnSpPr>
            <p:spPr>
              <a:xfrm>
                <a:off x="793193" y="4622931"/>
                <a:ext cx="103310" cy="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56B8D70-5C72-45BC-B7DA-18BD25B50083}"/>
                  </a:ext>
                </a:extLst>
              </p:cNvPr>
              <p:cNvCxnSpPr/>
              <p:nvPr/>
            </p:nvCxnSpPr>
            <p:spPr>
              <a:xfrm>
                <a:off x="1051374" y="2380657"/>
                <a:ext cx="103310" cy="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736D249-0E33-434C-BFEA-DC3778B977C8}"/>
                  </a:ext>
                </a:extLst>
              </p:cNvPr>
              <p:cNvCxnSpPr/>
              <p:nvPr/>
            </p:nvCxnSpPr>
            <p:spPr>
              <a:xfrm>
                <a:off x="1251699" y="2738472"/>
                <a:ext cx="103310" cy="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62A744-C883-4F73-B73A-803FF1AB76BE}"/>
                  </a:ext>
                </a:extLst>
              </p:cNvPr>
              <p:cNvCxnSpPr/>
              <p:nvPr/>
            </p:nvCxnSpPr>
            <p:spPr>
              <a:xfrm>
                <a:off x="1441278" y="3099965"/>
                <a:ext cx="103310" cy="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55EA3A8E-4796-4790-992B-BB9A286583C6}"/>
                  </a:ext>
                </a:extLst>
              </p:cNvPr>
              <p:cNvCxnSpPr/>
              <p:nvPr/>
            </p:nvCxnSpPr>
            <p:spPr>
              <a:xfrm>
                <a:off x="1641828" y="3468815"/>
                <a:ext cx="103310" cy="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E42D881-B1EB-4CDF-AE1F-BA399ED74AC4}"/>
                  </a:ext>
                </a:extLst>
              </p:cNvPr>
              <p:cNvCxnSpPr/>
              <p:nvPr/>
            </p:nvCxnSpPr>
            <p:spPr>
              <a:xfrm>
                <a:off x="1641828" y="3827218"/>
                <a:ext cx="103310" cy="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AF7489B3-67B9-4632-A81F-E5AABE0F603F}"/>
                  </a:ext>
                </a:extLst>
              </p:cNvPr>
              <p:cNvCxnSpPr/>
              <p:nvPr/>
            </p:nvCxnSpPr>
            <p:spPr>
              <a:xfrm>
                <a:off x="1641828" y="4197984"/>
                <a:ext cx="103310" cy="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E3EED92-E408-42C3-9F9C-7A4C857913EF}"/>
                  </a:ext>
                </a:extLst>
              </p:cNvPr>
              <p:cNvCxnSpPr>
                <a:cxnSpLocks/>
              </p:cNvCxnSpPr>
              <p:nvPr/>
            </p:nvCxnSpPr>
            <p:spPr>
              <a:xfrm flipV="1">
                <a:off x="1056382" y="2144040"/>
                <a:ext cx="0" cy="23871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079361CF-5785-41C4-9103-82AF62F48B57}"/>
                  </a:ext>
                </a:extLst>
              </p:cNvPr>
              <p:cNvCxnSpPr>
                <a:cxnSpLocks/>
              </p:cNvCxnSpPr>
              <p:nvPr/>
            </p:nvCxnSpPr>
            <p:spPr>
              <a:xfrm flipV="1">
                <a:off x="1251699" y="2499759"/>
                <a:ext cx="0" cy="23871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29F666F-7665-4ABF-9C23-99A9B7D9606D}"/>
                  </a:ext>
                </a:extLst>
              </p:cNvPr>
              <p:cNvCxnSpPr>
                <a:cxnSpLocks/>
              </p:cNvCxnSpPr>
              <p:nvPr/>
            </p:nvCxnSpPr>
            <p:spPr>
              <a:xfrm flipV="1">
                <a:off x="1441278" y="2866862"/>
                <a:ext cx="0" cy="23871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30" name="Picture 29">
                <a:extLst>
                  <a:ext uri="{FF2B5EF4-FFF2-40B4-BE49-F238E27FC236}">
                    <a16:creationId xmlns:a16="http://schemas.microsoft.com/office/drawing/2014/main" id="{55C01123-1411-49F5-AC32-0C1C56BFDE06}"/>
                  </a:ext>
                </a:extLst>
              </p:cNvPr>
              <p:cNvPicPr>
                <a:picLocks noChangeAspect="1"/>
              </p:cNvPicPr>
              <p:nvPr/>
            </p:nvPicPr>
            <p:blipFill>
              <a:blip r:embed="rId3"/>
              <a:stretch>
                <a:fillRect/>
              </a:stretch>
            </p:blipFill>
            <p:spPr>
              <a:xfrm>
                <a:off x="1351503" y="2601385"/>
                <a:ext cx="393637" cy="274175"/>
              </a:xfrm>
              <a:prstGeom prst="rect">
                <a:avLst/>
              </a:prstGeom>
            </p:spPr>
          </p:pic>
          <p:cxnSp>
            <p:nvCxnSpPr>
              <p:cNvPr id="31" name="Straight Connector 30">
                <a:extLst>
                  <a:ext uri="{FF2B5EF4-FFF2-40B4-BE49-F238E27FC236}">
                    <a16:creationId xmlns:a16="http://schemas.microsoft.com/office/drawing/2014/main" id="{210B5A67-483C-4324-9BB6-7231FC8E24B2}"/>
                  </a:ext>
                </a:extLst>
              </p:cNvPr>
              <p:cNvCxnSpPr>
                <a:cxnSpLocks/>
              </p:cNvCxnSpPr>
              <p:nvPr/>
            </p:nvCxnSpPr>
            <p:spPr>
              <a:xfrm flipV="1">
                <a:off x="1646994" y="3247502"/>
                <a:ext cx="0" cy="95048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DDD7CEF4-CC0B-4A4B-8F4D-A5B1DEAA17F9}"/>
                  </a:ext>
                </a:extLst>
              </p:cNvPr>
              <p:cNvSpPr txBox="1"/>
              <p:nvPr/>
            </p:nvSpPr>
            <p:spPr>
              <a:xfrm>
                <a:off x="1291093" y="1530345"/>
                <a:ext cx="441365" cy="236883"/>
              </a:xfrm>
              <a:prstGeom prst="rect">
                <a:avLst/>
              </a:prstGeom>
              <a:noFill/>
            </p:spPr>
            <p:txBody>
              <a:bodyPr wrap="none" rtlCol="0" anchor="ctr">
                <a:spAutoFit/>
              </a:bodyPr>
              <a:lstStyle/>
              <a:p>
                <a:r>
                  <a:rPr lang="en-US" sz="1200" b="1" dirty="0">
                    <a:latin typeface="Courier New" panose="02070309020205020404" pitchFamily="49" charset="0"/>
                    <a:cs typeface="Courier New" panose="02070309020205020404" pitchFamily="49" charset="0"/>
                  </a:rPr>
                  <a:t>bin</a:t>
                </a:r>
              </a:p>
            </p:txBody>
          </p:sp>
          <p:sp>
            <p:nvSpPr>
              <p:cNvPr id="33" name="TextBox 32">
                <a:extLst>
                  <a:ext uri="{FF2B5EF4-FFF2-40B4-BE49-F238E27FC236}">
                    <a16:creationId xmlns:a16="http://schemas.microsoft.com/office/drawing/2014/main" id="{76A19AD6-3AC6-4C19-A2EB-0950CDE656CF}"/>
                  </a:ext>
                </a:extLst>
              </p:cNvPr>
              <p:cNvSpPr txBox="1"/>
              <p:nvPr/>
            </p:nvSpPr>
            <p:spPr>
              <a:xfrm>
                <a:off x="1291093" y="1888747"/>
                <a:ext cx="529884" cy="236883"/>
              </a:xfrm>
              <a:prstGeom prst="rect">
                <a:avLst/>
              </a:prstGeom>
              <a:noFill/>
            </p:spPr>
            <p:txBody>
              <a:bodyPr wrap="none" rtlCol="0" anchor="ctr">
                <a:spAutoFit/>
              </a:bodyPr>
              <a:lstStyle/>
              <a:p>
                <a:r>
                  <a:rPr lang="en-US" sz="1200" b="1" dirty="0">
                    <a:latin typeface="Courier New" panose="02070309020205020404" pitchFamily="49" charset="0"/>
                    <a:cs typeface="Courier New" panose="02070309020205020404" pitchFamily="49" charset="0"/>
                  </a:rPr>
                  <a:t>home</a:t>
                </a:r>
              </a:p>
            </p:txBody>
          </p:sp>
          <p:sp>
            <p:nvSpPr>
              <p:cNvPr id="34" name="TextBox 33">
                <a:extLst>
                  <a:ext uri="{FF2B5EF4-FFF2-40B4-BE49-F238E27FC236}">
                    <a16:creationId xmlns:a16="http://schemas.microsoft.com/office/drawing/2014/main" id="{2715DC3A-0316-4A00-B7E3-AEEAE257C247}"/>
                  </a:ext>
                </a:extLst>
              </p:cNvPr>
              <p:cNvSpPr txBox="1"/>
              <p:nvPr/>
            </p:nvSpPr>
            <p:spPr>
              <a:xfrm>
                <a:off x="1545597" y="2252859"/>
                <a:ext cx="441365" cy="236883"/>
              </a:xfrm>
              <a:prstGeom prst="rect">
                <a:avLst/>
              </a:prstGeom>
              <a:noFill/>
            </p:spPr>
            <p:txBody>
              <a:bodyPr wrap="none" rtlCol="0" anchor="ctr">
                <a:spAutoFit/>
              </a:bodyPr>
              <a:lstStyle/>
              <a:p>
                <a:r>
                  <a:rPr lang="en-US" sz="1200" b="1" dirty="0">
                    <a:latin typeface="Courier New" panose="02070309020205020404" pitchFamily="49" charset="0"/>
                    <a:cs typeface="Courier New" panose="02070309020205020404" pitchFamily="49" charset="0"/>
                  </a:rPr>
                  <a:t>foo</a:t>
                </a:r>
              </a:p>
            </p:txBody>
          </p:sp>
          <p:sp>
            <p:nvSpPr>
              <p:cNvPr id="35" name="TextBox 34">
                <a:extLst>
                  <a:ext uri="{FF2B5EF4-FFF2-40B4-BE49-F238E27FC236}">
                    <a16:creationId xmlns:a16="http://schemas.microsoft.com/office/drawing/2014/main" id="{8D065816-E8DE-4B91-B2C8-7C050B1B8E00}"/>
                  </a:ext>
                </a:extLst>
              </p:cNvPr>
              <p:cNvSpPr txBox="1"/>
              <p:nvPr/>
            </p:nvSpPr>
            <p:spPr>
              <a:xfrm>
                <a:off x="1740900" y="2616400"/>
                <a:ext cx="1238022" cy="236883"/>
              </a:xfrm>
              <a:prstGeom prst="rect">
                <a:avLst/>
              </a:prstGeom>
              <a:noFill/>
            </p:spPr>
            <p:txBody>
              <a:bodyPr wrap="none" rtlCol="0" anchor="ctr">
                <a:spAutoFit/>
              </a:bodyPr>
              <a:lstStyle/>
              <a:p>
                <a:r>
                  <a:rPr lang="en-US" sz="1200" b="1" dirty="0">
                    <a:latin typeface="Courier New" panose="02070309020205020404" pitchFamily="49" charset="0"/>
                    <a:cs typeface="Courier New" panose="02070309020205020404" pitchFamily="49" charset="0"/>
                  </a:rPr>
                  <a:t>container101</a:t>
                </a:r>
              </a:p>
            </p:txBody>
          </p:sp>
          <p:sp>
            <p:nvSpPr>
              <p:cNvPr id="36" name="TextBox 35">
                <a:extLst>
                  <a:ext uri="{FF2B5EF4-FFF2-40B4-BE49-F238E27FC236}">
                    <a16:creationId xmlns:a16="http://schemas.microsoft.com/office/drawing/2014/main" id="{DE638E13-C490-42A5-A56B-DC9C7C1E6691}"/>
                  </a:ext>
                </a:extLst>
              </p:cNvPr>
              <p:cNvSpPr txBox="1"/>
              <p:nvPr/>
            </p:nvSpPr>
            <p:spPr>
              <a:xfrm>
                <a:off x="1992639" y="2984379"/>
                <a:ext cx="972469" cy="236883"/>
              </a:xfrm>
              <a:prstGeom prst="rect">
                <a:avLst/>
              </a:prstGeom>
              <a:noFill/>
            </p:spPr>
            <p:txBody>
              <a:bodyPr wrap="none" rtlCol="0" anchor="ctr">
                <a:spAutoFit/>
              </a:bodyPr>
              <a:lstStyle/>
              <a:p>
                <a:r>
                  <a:rPr lang="en-US" sz="1200" b="1" dirty="0">
                    <a:latin typeface="Courier New" panose="02070309020205020404" pitchFamily="49" charset="0"/>
                    <a:cs typeface="Courier New" panose="02070309020205020404" pitchFamily="49" charset="0"/>
                  </a:rPr>
                  <a:t>container</a:t>
                </a:r>
              </a:p>
            </p:txBody>
          </p:sp>
          <p:sp>
            <p:nvSpPr>
              <p:cNvPr id="37" name="TextBox 36">
                <a:extLst>
                  <a:ext uri="{FF2B5EF4-FFF2-40B4-BE49-F238E27FC236}">
                    <a16:creationId xmlns:a16="http://schemas.microsoft.com/office/drawing/2014/main" id="{3A756EA2-B29C-40A1-BC5A-1915A7684E97}"/>
                  </a:ext>
                </a:extLst>
              </p:cNvPr>
              <p:cNvSpPr txBox="1"/>
              <p:nvPr/>
            </p:nvSpPr>
            <p:spPr>
              <a:xfrm>
                <a:off x="2138775" y="3356814"/>
                <a:ext cx="441365" cy="236883"/>
              </a:xfrm>
              <a:prstGeom prst="rect">
                <a:avLst/>
              </a:prstGeom>
              <a:noFill/>
            </p:spPr>
            <p:txBody>
              <a:bodyPr wrap="none" rtlCol="0" anchor="ctr">
                <a:spAutoFit/>
              </a:bodyPr>
              <a:lstStyle/>
              <a:p>
                <a:r>
                  <a:rPr lang="en-US" sz="1200" b="1" dirty="0">
                    <a:latin typeface="Courier New" panose="02070309020205020404" pitchFamily="49" charset="0"/>
                    <a:cs typeface="Courier New" panose="02070309020205020404" pitchFamily="49" charset="0"/>
                  </a:rPr>
                  <a:t>bin</a:t>
                </a:r>
              </a:p>
            </p:txBody>
          </p:sp>
          <p:sp>
            <p:nvSpPr>
              <p:cNvPr id="38" name="TextBox 37">
                <a:extLst>
                  <a:ext uri="{FF2B5EF4-FFF2-40B4-BE49-F238E27FC236}">
                    <a16:creationId xmlns:a16="http://schemas.microsoft.com/office/drawing/2014/main" id="{E72222AB-DD80-4447-B5FE-87EFEB3CB433}"/>
                  </a:ext>
                </a:extLst>
              </p:cNvPr>
              <p:cNvSpPr txBox="1"/>
              <p:nvPr/>
            </p:nvSpPr>
            <p:spPr>
              <a:xfrm>
                <a:off x="2138775" y="3726595"/>
                <a:ext cx="441365" cy="236883"/>
              </a:xfrm>
              <a:prstGeom prst="rect">
                <a:avLst/>
              </a:prstGeom>
              <a:noFill/>
            </p:spPr>
            <p:txBody>
              <a:bodyPr wrap="none" rtlCol="0" anchor="ctr">
                <a:spAutoFit/>
              </a:bodyPr>
              <a:lstStyle/>
              <a:p>
                <a:r>
                  <a:rPr lang="en-US" sz="1200" b="1" dirty="0">
                    <a:latin typeface="Courier New" panose="02070309020205020404" pitchFamily="49" charset="0"/>
                    <a:cs typeface="Courier New" panose="02070309020205020404" pitchFamily="49" charset="0"/>
                  </a:rPr>
                  <a:t>lib</a:t>
                </a:r>
              </a:p>
            </p:txBody>
          </p:sp>
          <p:sp>
            <p:nvSpPr>
              <p:cNvPr id="39" name="TextBox 38">
                <a:extLst>
                  <a:ext uri="{FF2B5EF4-FFF2-40B4-BE49-F238E27FC236}">
                    <a16:creationId xmlns:a16="http://schemas.microsoft.com/office/drawing/2014/main" id="{79776F80-D345-4661-9096-61131601B93C}"/>
                  </a:ext>
                </a:extLst>
              </p:cNvPr>
              <p:cNvSpPr txBox="1"/>
              <p:nvPr/>
            </p:nvSpPr>
            <p:spPr>
              <a:xfrm>
                <a:off x="2138775" y="4085303"/>
                <a:ext cx="441365" cy="236883"/>
              </a:xfrm>
              <a:prstGeom prst="rect">
                <a:avLst/>
              </a:prstGeom>
              <a:noFill/>
            </p:spPr>
            <p:txBody>
              <a:bodyPr wrap="none" rtlCol="0" anchor="ctr">
                <a:spAutoFit/>
              </a:bodyPr>
              <a:lstStyle/>
              <a:p>
                <a:r>
                  <a:rPr lang="en-US" sz="1200" b="1" dirty="0">
                    <a:latin typeface="Courier New" panose="02070309020205020404" pitchFamily="49" charset="0"/>
                    <a:cs typeface="Courier New" panose="02070309020205020404" pitchFamily="49" charset="0"/>
                  </a:rPr>
                  <a:t>usr</a:t>
                </a:r>
              </a:p>
            </p:txBody>
          </p:sp>
          <p:sp>
            <p:nvSpPr>
              <p:cNvPr id="40" name="TextBox 39">
                <a:extLst>
                  <a:ext uri="{FF2B5EF4-FFF2-40B4-BE49-F238E27FC236}">
                    <a16:creationId xmlns:a16="http://schemas.microsoft.com/office/drawing/2014/main" id="{DA1476C1-1191-4000-BAEE-0945BC673597}"/>
                  </a:ext>
                </a:extLst>
              </p:cNvPr>
              <p:cNvSpPr txBox="1"/>
              <p:nvPr/>
            </p:nvSpPr>
            <p:spPr>
              <a:xfrm>
                <a:off x="1296721" y="4505903"/>
                <a:ext cx="441365" cy="236883"/>
              </a:xfrm>
              <a:prstGeom prst="rect">
                <a:avLst/>
              </a:prstGeom>
              <a:noFill/>
            </p:spPr>
            <p:txBody>
              <a:bodyPr wrap="none" rtlCol="0" anchor="ctr">
                <a:spAutoFit/>
              </a:bodyPr>
              <a:lstStyle/>
              <a:p>
                <a:r>
                  <a:rPr lang="en-US" sz="1200" b="1" dirty="0">
                    <a:latin typeface="Courier New" panose="02070309020205020404" pitchFamily="49" charset="0"/>
                    <a:cs typeface="Courier New" panose="02070309020205020404" pitchFamily="49" charset="0"/>
                  </a:rPr>
                  <a:t>usr</a:t>
                </a:r>
              </a:p>
            </p:txBody>
          </p:sp>
          <p:pic>
            <p:nvPicPr>
              <p:cNvPr id="41" name="Picture 40">
                <a:extLst>
                  <a:ext uri="{FF2B5EF4-FFF2-40B4-BE49-F238E27FC236}">
                    <a16:creationId xmlns:a16="http://schemas.microsoft.com/office/drawing/2014/main" id="{358CE359-3181-4CE0-86C0-061551CDEA62}"/>
                  </a:ext>
                </a:extLst>
              </p:cNvPr>
              <p:cNvPicPr>
                <a:picLocks noChangeAspect="1"/>
              </p:cNvPicPr>
              <p:nvPr/>
            </p:nvPicPr>
            <p:blipFill>
              <a:blip r:embed="rId6"/>
              <a:stretch>
                <a:fillRect/>
              </a:stretch>
            </p:blipFill>
            <p:spPr>
              <a:xfrm>
                <a:off x="1544588" y="2971507"/>
                <a:ext cx="450213" cy="277812"/>
              </a:xfrm>
              <a:prstGeom prst="rect">
                <a:avLst/>
              </a:prstGeom>
            </p:spPr>
          </p:pic>
          <p:pic>
            <p:nvPicPr>
              <p:cNvPr id="42" name="Picture 41">
                <a:extLst>
                  <a:ext uri="{FF2B5EF4-FFF2-40B4-BE49-F238E27FC236}">
                    <a16:creationId xmlns:a16="http://schemas.microsoft.com/office/drawing/2014/main" id="{CCD1D099-BEB5-4509-9035-07394245F05E}"/>
                  </a:ext>
                </a:extLst>
              </p:cNvPr>
              <p:cNvPicPr>
                <a:picLocks noChangeAspect="1"/>
              </p:cNvPicPr>
              <p:nvPr/>
            </p:nvPicPr>
            <p:blipFill>
              <a:blip r:embed="rId5"/>
              <a:stretch>
                <a:fillRect/>
              </a:stretch>
            </p:blipFill>
            <p:spPr>
              <a:xfrm>
                <a:off x="1750692" y="3338410"/>
                <a:ext cx="391764" cy="272871"/>
              </a:xfrm>
              <a:prstGeom prst="rect">
                <a:avLst/>
              </a:prstGeom>
            </p:spPr>
          </p:pic>
        </p:grpSp>
      </p:grpSp>
      <p:sp>
        <p:nvSpPr>
          <p:cNvPr id="59" name="Text Placeholder 58">
            <a:extLst>
              <a:ext uri="{FF2B5EF4-FFF2-40B4-BE49-F238E27FC236}">
                <a16:creationId xmlns:a16="http://schemas.microsoft.com/office/drawing/2014/main" id="{EB62E86D-91F7-45F7-8747-7AE963A7F882}"/>
              </a:ext>
            </a:extLst>
          </p:cNvPr>
          <p:cNvSpPr>
            <a:spLocks noGrp="1"/>
          </p:cNvSpPr>
          <p:nvPr>
            <p:ph type="body" sz="quarter" idx="11"/>
          </p:nvPr>
        </p:nvSpPr>
        <p:spPr>
          <a:xfrm>
            <a:off x="6362477" y="1620000"/>
            <a:ext cx="5232115" cy="4230000"/>
          </a:xfrm>
        </p:spPr>
        <p:txBody>
          <a:bodyPr anchor="ctr"/>
          <a:lstStyle/>
          <a:p>
            <a:pPr lvl="1"/>
            <a:r>
              <a:rPr lang="en-US" sz="1600" dirty="0"/>
              <a:t>Chroot makes any directory the topmost/root directory of a process</a:t>
            </a:r>
          </a:p>
          <a:p>
            <a:pPr lvl="1"/>
            <a:endParaRPr lang="en-US" sz="1600" dirty="0"/>
          </a:p>
          <a:p>
            <a:pPr lvl="1"/>
            <a:r>
              <a:rPr lang="en-US" sz="1600" dirty="0"/>
              <a:t>New process can only see files and directories under that special root directory</a:t>
            </a:r>
          </a:p>
          <a:p>
            <a:pPr lvl="1"/>
            <a:endParaRPr lang="en-US" sz="1600" dirty="0"/>
          </a:p>
          <a:p>
            <a:pPr lvl="1"/>
            <a:r>
              <a:rPr lang="en-US" sz="1600" dirty="0"/>
              <a:t>Provides file system isolation</a:t>
            </a:r>
          </a:p>
          <a:p>
            <a:pPr lvl="1"/>
            <a:endParaRPr lang="en-US" sz="1600" dirty="0"/>
          </a:p>
        </p:txBody>
      </p:sp>
    </p:spTree>
    <p:extLst>
      <p:ext uri="{BB962C8B-B14F-4D97-AF65-F5344CB8AC3E}">
        <p14:creationId xmlns:p14="http://schemas.microsoft.com/office/powerpoint/2010/main" val="7964586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BEB1A8-C9D3-4723-A64F-42E02E22325A}"/>
              </a:ext>
            </a:extLst>
          </p:cNvPr>
          <p:cNvSpPr>
            <a:spLocks noGrp="1"/>
          </p:cNvSpPr>
          <p:nvPr>
            <p:ph type="title"/>
          </p:nvPr>
        </p:nvSpPr>
        <p:spPr/>
        <p:txBody>
          <a:bodyPr/>
          <a:lstStyle/>
          <a:p>
            <a:r>
              <a:rPr lang="en-US" dirty="0"/>
              <a:t>Demo</a:t>
            </a:r>
          </a:p>
        </p:txBody>
      </p:sp>
      <p:pic>
        <p:nvPicPr>
          <p:cNvPr id="6" name="Picture 5">
            <a:extLst>
              <a:ext uri="{FF2B5EF4-FFF2-40B4-BE49-F238E27FC236}">
                <a16:creationId xmlns:a16="http://schemas.microsoft.com/office/drawing/2014/main" id="{8D1ACC5F-52FE-4C32-9E61-49F09FCEB59D}"/>
              </a:ext>
            </a:extLst>
          </p:cNvPr>
          <p:cNvPicPr>
            <a:picLocks noChangeAspect="1"/>
          </p:cNvPicPr>
          <p:nvPr/>
        </p:nvPicPr>
        <p:blipFill>
          <a:blip r:embed="rId3"/>
          <a:stretch>
            <a:fillRect/>
          </a:stretch>
        </p:blipFill>
        <p:spPr>
          <a:xfrm>
            <a:off x="4521420" y="1853181"/>
            <a:ext cx="3151638" cy="3151638"/>
          </a:xfrm>
          <a:prstGeom prst="rect">
            <a:avLst/>
          </a:prstGeom>
        </p:spPr>
      </p:pic>
    </p:spTree>
    <p:extLst>
      <p:ext uri="{BB962C8B-B14F-4D97-AF65-F5344CB8AC3E}">
        <p14:creationId xmlns:p14="http://schemas.microsoft.com/office/powerpoint/2010/main" val="17729359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Arrow: Pentagon 87">
            <a:extLst>
              <a:ext uri="{FF2B5EF4-FFF2-40B4-BE49-F238E27FC236}">
                <a16:creationId xmlns:a16="http://schemas.microsoft.com/office/drawing/2014/main" id="{11681FDF-2939-425B-8114-971AA573E84C}"/>
              </a:ext>
            </a:extLst>
          </p:cNvPr>
          <p:cNvSpPr/>
          <p:nvPr/>
        </p:nvSpPr>
        <p:spPr bwMode="gray">
          <a:xfrm rot="20537709">
            <a:off x="2928068" y="3892904"/>
            <a:ext cx="1961142" cy="1169820"/>
          </a:xfrm>
          <a:prstGeom prst="homePlate">
            <a:avLst/>
          </a:prstGeom>
          <a:solidFill>
            <a:schemeClr val="accent5">
              <a:lumMod val="40000"/>
              <a:lumOff val="6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5" name="Oval 84">
            <a:extLst>
              <a:ext uri="{FF2B5EF4-FFF2-40B4-BE49-F238E27FC236}">
                <a16:creationId xmlns:a16="http://schemas.microsoft.com/office/drawing/2014/main" id="{E06ECB3F-A351-4B59-A552-6DB3692EAF1D}"/>
              </a:ext>
            </a:extLst>
          </p:cNvPr>
          <p:cNvSpPr/>
          <p:nvPr/>
        </p:nvSpPr>
        <p:spPr bwMode="gray">
          <a:xfrm>
            <a:off x="1993513" y="3844049"/>
            <a:ext cx="1704718" cy="1887447"/>
          </a:xfrm>
          <a:prstGeom prst="ellipse">
            <a:avLst/>
          </a:prstGeom>
          <a:solidFill>
            <a:schemeClr val="accent3"/>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4" name="Title 3"/>
          <p:cNvSpPr>
            <a:spLocks noGrp="1"/>
          </p:cNvSpPr>
          <p:nvPr>
            <p:ph type="title"/>
          </p:nvPr>
        </p:nvSpPr>
        <p:spPr/>
        <p:txBody>
          <a:bodyPr/>
          <a:lstStyle/>
          <a:p>
            <a:r>
              <a:rPr lang="en-US" dirty="0"/>
              <a:t>Process (and more) isolation with </a:t>
            </a:r>
            <a:r>
              <a:rPr lang="en-US" i="1" dirty="0" err="1"/>
              <a:t>pid</a:t>
            </a:r>
            <a:r>
              <a:rPr lang="en-US" i="1" dirty="0"/>
              <a:t> namespaces</a:t>
            </a:r>
          </a:p>
        </p:txBody>
      </p:sp>
      <p:sp>
        <p:nvSpPr>
          <p:cNvPr id="59" name="Text Placeholder 58">
            <a:extLst>
              <a:ext uri="{FF2B5EF4-FFF2-40B4-BE49-F238E27FC236}">
                <a16:creationId xmlns:a16="http://schemas.microsoft.com/office/drawing/2014/main" id="{EB62E86D-91F7-45F7-8747-7AE963A7F882}"/>
              </a:ext>
            </a:extLst>
          </p:cNvPr>
          <p:cNvSpPr>
            <a:spLocks noGrp="1"/>
          </p:cNvSpPr>
          <p:nvPr>
            <p:ph type="body" sz="quarter" idx="11"/>
          </p:nvPr>
        </p:nvSpPr>
        <p:spPr>
          <a:xfrm>
            <a:off x="6862713" y="1491684"/>
            <a:ext cx="4827764" cy="4532044"/>
          </a:xfrm>
        </p:spPr>
        <p:txBody>
          <a:bodyPr anchor="ctr"/>
          <a:lstStyle/>
          <a:p>
            <a:pPr lvl="1"/>
            <a:r>
              <a:rPr lang="en-US" sz="1600" dirty="0" err="1"/>
              <a:t>pid</a:t>
            </a:r>
            <a:r>
              <a:rPr lang="en-US" sz="1600" dirty="0"/>
              <a:t> namespaces give a process a limited view on the process table</a:t>
            </a:r>
          </a:p>
          <a:p>
            <a:pPr lvl="1"/>
            <a:endParaRPr lang="en-US" sz="1600" dirty="0"/>
          </a:p>
          <a:p>
            <a:pPr lvl="1"/>
            <a:r>
              <a:rPr lang="en-US" sz="1600" dirty="0"/>
              <a:t>Only processes in the same </a:t>
            </a:r>
            <a:r>
              <a:rPr lang="en-US" sz="1600" dirty="0" err="1"/>
              <a:t>pid</a:t>
            </a:r>
            <a:r>
              <a:rPr lang="en-US" sz="1600" dirty="0"/>
              <a:t> namespace can see each other</a:t>
            </a:r>
          </a:p>
          <a:p>
            <a:pPr lvl="1"/>
            <a:endParaRPr lang="en-US" sz="1600" dirty="0"/>
          </a:p>
          <a:p>
            <a:pPr lvl="1"/>
            <a:r>
              <a:rPr lang="en-US" sz="1600" dirty="0"/>
              <a:t>Processes get new PIDs in their </a:t>
            </a:r>
            <a:r>
              <a:rPr lang="en-US" sz="1600" dirty="0" err="1"/>
              <a:t>pid</a:t>
            </a:r>
            <a:r>
              <a:rPr lang="en-US" sz="1600" dirty="0"/>
              <a:t> namespace</a:t>
            </a:r>
          </a:p>
          <a:p>
            <a:pPr lvl="1"/>
            <a:endParaRPr lang="en-US" sz="1600" dirty="0"/>
          </a:p>
          <a:p>
            <a:pPr lvl="1"/>
            <a:r>
              <a:rPr lang="en-US" sz="1600" dirty="0"/>
              <a:t>Still visible with their original PID outside of namespace</a:t>
            </a:r>
          </a:p>
          <a:p>
            <a:pPr lvl="1"/>
            <a:endParaRPr lang="en-US" sz="1600" dirty="0"/>
          </a:p>
          <a:p>
            <a:pPr lvl="1"/>
            <a:r>
              <a:rPr lang="en-US" sz="1600" dirty="0"/>
              <a:t>Same principle applies to mount, </a:t>
            </a:r>
            <a:r>
              <a:rPr lang="en-US" sz="1600" dirty="0" err="1"/>
              <a:t>uid</a:t>
            </a:r>
            <a:r>
              <a:rPr lang="en-US" sz="1600" dirty="0"/>
              <a:t>, cgroup, …, namespaces</a:t>
            </a:r>
          </a:p>
        </p:txBody>
      </p:sp>
      <p:sp>
        <p:nvSpPr>
          <p:cNvPr id="2" name="Oval 1">
            <a:extLst>
              <a:ext uri="{FF2B5EF4-FFF2-40B4-BE49-F238E27FC236}">
                <a16:creationId xmlns:a16="http://schemas.microsoft.com/office/drawing/2014/main" id="{FB9B6D35-EBC8-4E2F-B804-9918EA1E8E26}"/>
              </a:ext>
            </a:extLst>
          </p:cNvPr>
          <p:cNvSpPr/>
          <p:nvPr/>
        </p:nvSpPr>
        <p:spPr bwMode="gray">
          <a:xfrm>
            <a:off x="1976120" y="1921660"/>
            <a:ext cx="550666" cy="550666"/>
          </a:xfrm>
          <a:prstGeom prst="ellipse">
            <a:avLst/>
          </a:prstGeom>
          <a:solidFill>
            <a:schemeClr val="accent1"/>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600" b="0" i="0" u="none" strike="noStrike" kern="0" cap="none" spc="0" normalizeH="0" baseline="0" noProof="0" dirty="0">
                <a:ln>
                  <a:noFill/>
                </a:ln>
                <a:effectLst/>
                <a:uLnTx/>
                <a:uFillTx/>
                <a:ea typeface="Arial Unicode MS" pitchFamily="34" charset="-128"/>
                <a:cs typeface="Arial Unicode MS" pitchFamily="34" charset="-128"/>
              </a:rPr>
              <a:t>1</a:t>
            </a:r>
          </a:p>
        </p:txBody>
      </p:sp>
      <p:sp>
        <p:nvSpPr>
          <p:cNvPr id="55" name="Oval 54">
            <a:extLst>
              <a:ext uri="{FF2B5EF4-FFF2-40B4-BE49-F238E27FC236}">
                <a16:creationId xmlns:a16="http://schemas.microsoft.com/office/drawing/2014/main" id="{DA09758B-365E-442B-828D-56BE217ABF9C}"/>
              </a:ext>
            </a:extLst>
          </p:cNvPr>
          <p:cNvSpPr/>
          <p:nvPr/>
        </p:nvSpPr>
        <p:spPr bwMode="gray">
          <a:xfrm>
            <a:off x="1040270" y="2882855"/>
            <a:ext cx="550666" cy="550666"/>
          </a:xfrm>
          <a:prstGeom prst="ellipse">
            <a:avLst/>
          </a:prstGeom>
          <a:solidFill>
            <a:schemeClr val="accent1"/>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noProof="0" dirty="0">
                <a:ln>
                  <a:noFill/>
                </a:ln>
                <a:effectLst/>
                <a:uLnTx/>
                <a:uFillTx/>
                <a:ea typeface="Arial Unicode MS" pitchFamily="34" charset="-128"/>
                <a:cs typeface="Arial Unicode MS" pitchFamily="34" charset="-128"/>
              </a:rPr>
              <a:t>3</a:t>
            </a:r>
          </a:p>
        </p:txBody>
      </p:sp>
      <p:sp>
        <p:nvSpPr>
          <p:cNvPr id="56" name="Oval 55">
            <a:extLst>
              <a:ext uri="{FF2B5EF4-FFF2-40B4-BE49-F238E27FC236}">
                <a16:creationId xmlns:a16="http://schemas.microsoft.com/office/drawing/2014/main" id="{153140A0-7783-4E18-8B79-16F4C14E9648}"/>
              </a:ext>
            </a:extLst>
          </p:cNvPr>
          <p:cNvSpPr/>
          <p:nvPr/>
        </p:nvSpPr>
        <p:spPr bwMode="gray">
          <a:xfrm>
            <a:off x="587472" y="3912481"/>
            <a:ext cx="550666" cy="550666"/>
          </a:xfrm>
          <a:prstGeom prst="ellipse">
            <a:avLst/>
          </a:prstGeom>
          <a:solidFill>
            <a:schemeClr val="accent1"/>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noProof="0" dirty="0">
                <a:ln>
                  <a:noFill/>
                </a:ln>
                <a:effectLst/>
                <a:uLnTx/>
                <a:uFillTx/>
                <a:ea typeface="Arial Unicode MS" pitchFamily="34" charset="-128"/>
                <a:cs typeface="Arial Unicode MS" pitchFamily="34" charset="-128"/>
              </a:rPr>
              <a:t>49</a:t>
            </a:r>
          </a:p>
        </p:txBody>
      </p:sp>
      <p:sp>
        <p:nvSpPr>
          <p:cNvPr id="57" name="Oval 56">
            <a:extLst>
              <a:ext uri="{FF2B5EF4-FFF2-40B4-BE49-F238E27FC236}">
                <a16:creationId xmlns:a16="http://schemas.microsoft.com/office/drawing/2014/main" id="{36A52AFC-A476-4954-AA7B-3A69F32F1949}"/>
              </a:ext>
            </a:extLst>
          </p:cNvPr>
          <p:cNvSpPr/>
          <p:nvPr/>
        </p:nvSpPr>
        <p:spPr bwMode="gray">
          <a:xfrm>
            <a:off x="1418332" y="3912481"/>
            <a:ext cx="550666" cy="550666"/>
          </a:xfrm>
          <a:prstGeom prst="ellipse">
            <a:avLst/>
          </a:prstGeom>
          <a:solidFill>
            <a:schemeClr val="accent1"/>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400" kern="0" dirty="0">
                <a:ea typeface="Arial Unicode MS" pitchFamily="34" charset="-128"/>
                <a:cs typeface="Arial Unicode MS" pitchFamily="34" charset="-128"/>
              </a:rPr>
              <a:t>51</a:t>
            </a:r>
            <a:endParaRPr kumimoji="0" lang="en-US" sz="14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58" name="Oval 57">
            <a:extLst>
              <a:ext uri="{FF2B5EF4-FFF2-40B4-BE49-F238E27FC236}">
                <a16:creationId xmlns:a16="http://schemas.microsoft.com/office/drawing/2014/main" id="{0C14F186-6B90-4919-A8E6-0E4F5C9340FF}"/>
              </a:ext>
            </a:extLst>
          </p:cNvPr>
          <p:cNvSpPr/>
          <p:nvPr/>
        </p:nvSpPr>
        <p:spPr bwMode="gray">
          <a:xfrm>
            <a:off x="1976120" y="2882855"/>
            <a:ext cx="550666" cy="550666"/>
          </a:xfrm>
          <a:prstGeom prst="ellipse">
            <a:avLst/>
          </a:prstGeom>
          <a:solidFill>
            <a:schemeClr val="accent1"/>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noProof="0" dirty="0">
                <a:ln>
                  <a:noFill/>
                </a:ln>
                <a:effectLst/>
                <a:uLnTx/>
                <a:uFillTx/>
                <a:ea typeface="Arial Unicode MS" pitchFamily="34" charset="-128"/>
                <a:cs typeface="Arial Unicode MS" pitchFamily="34" charset="-128"/>
              </a:rPr>
              <a:t>27</a:t>
            </a:r>
          </a:p>
        </p:txBody>
      </p:sp>
      <p:sp>
        <p:nvSpPr>
          <p:cNvPr id="62" name="Oval 61">
            <a:extLst>
              <a:ext uri="{FF2B5EF4-FFF2-40B4-BE49-F238E27FC236}">
                <a16:creationId xmlns:a16="http://schemas.microsoft.com/office/drawing/2014/main" id="{EEEA8ADB-3AD4-40E5-93CA-D81C1E4AEBD7}"/>
              </a:ext>
            </a:extLst>
          </p:cNvPr>
          <p:cNvSpPr/>
          <p:nvPr/>
        </p:nvSpPr>
        <p:spPr bwMode="gray">
          <a:xfrm>
            <a:off x="2911970" y="2882855"/>
            <a:ext cx="550666" cy="550666"/>
          </a:xfrm>
          <a:prstGeom prst="ellipse">
            <a:avLst/>
          </a:prstGeom>
          <a:solidFill>
            <a:schemeClr val="accent1"/>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400" kern="0" dirty="0">
                <a:ea typeface="Arial Unicode MS" pitchFamily="34" charset="-128"/>
                <a:cs typeface="Arial Unicode MS" pitchFamily="34" charset="-128"/>
              </a:rPr>
              <a:t>16</a:t>
            </a:r>
            <a:endParaRPr kumimoji="0" lang="en-US" sz="14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63" name="Oval 62">
            <a:extLst>
              <a:ext uri="{FF2B5EF4-FFF2-40B4-BE49-F238E27FC236}">
                <a16:creationId xmlns:a16="http://schemas.microsoft.com/office/drawing/2014/main" id="{CDE7DF63-F6F2-4A1A-957B-CF44AF84781C}"/>
              </a:ext>
            </a:extLst>
          </p:cNvPr>
          <p:cNvSpPr/>
          <p:nvPr/>
        </p:nvSpPr>
        <p:spPr bwMode="gray">
          <a:xfrm>
            <a:off x="2542037" y="3912481"/>
            <a:ext cx="550666" cy="550666"/>
          </a:xfrm>
          <a:prstGeom prst="ellipse">
            <a:avLst/>
          </a:prstGeom>
          <a:solidFill>
            <a:schemeClr val="accent4">
              <a:lumMod val="20000"/>
              <a:lumOff val="80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400" kern="0" dirty="0">
                <a:ea typeface="Arial Unicode MS" pitchFamily="34" charset="-128"/>
                <a:cs typeface="Arial Unicode MS" pitchFamily="34" charset="-128"/>
              </a:rPr>
              <a:t>3</a:t>
            </a:r>
            <a:r>
              <a:rPr kumimoji="0" lang="en-US" sz="1400" b="0" i="0" u="none" strike="noStrike" kern="0" cap="none" spc="0" normalizeH="0" baseline="0" noProof="0" dirty="0">
                <a:ln>
                  <a:noFill/>
                </a:ln>
                <a:effectLst/>
                <a:uLnTx/>
                <a:uFillTx/>
                <a:ea typeface="Arial Unicode MS" pitchFamily="34" charset="-128"/>
                <a:cs typeface="Arial Unicode MS" pitchFamily="34" charset="-128"/>
              </a:rPr>
              <a:t>1</a:t>
            </a:r>
          </a:p>
        </p:txBody>
      </p:sp>
      <p:sp>
        <p:nvSpPr>
          <p:cNvPr id="65" name="Oval 64">
            <a:extLst>
              <a:ext uri="{FF2B5EF4-FFF2-40B4-BE49-F238E27FC236}">
                <a16:creationId xmlns:a16="http://schemas.microsoft.com/office/drawing/2014/main" id="{F6D1DF32-AFE6-40BA-89AE-1DF59E3ED1C8}"/>
              </a:ext>
            </a:extLst>
          </p:cNvPr>
          <p:cNvSpPr/>
          <p:nvPr/>
        </p:nvSpPr>
        <p:spPr bwMode="gray">
          <a:xfrm>
            <a:off x="2911970" y="4942106"/>
            <a:ext cx="550666" cy="550666"/>
          </a:xfrm>
          <a:prstGeom prst="ellipse">
            <a:avLst/>
          </a:prstGeom>
          <a:solidFill>
            <a:schemeClr val="accent4">
              <a:lumMod val="60000"/>
              <a:lumOff val="40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400" kern="0" dirty="0">
                <a:ea typeface="Arial Unicode MS" pitchFamily="34" charset="-128"/>
                <a:cs typeface="Arial Unicode MS" pitchFamily="34" charset="-128"/>
              </a:rPr>
              <a:t>12</a:t>
            </a:r>
            <a:endParaRPr kumimoji="0" lang="en-US" sz="14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66" name="Oval 65">
            <a:extLst>
              <a:ext uri="{FF2B5EF4-FFF2-40B4-BE49-F238E27FC236}">
                <a16:creationId xmlns:a16="http://schemas.microsoft.com/office/drawing/2014/main" id="{EBF07547-7490-4415-A3FF-5232E8B9849D}"/>
              </a:ext>
            </a:extLst>
          </p:cNvPr>
          <p:cNvSpPr/>
          <p:nvPr/>
        </p:nvSpPr>
        <p:spPr bwMode="gray">
          <a:xfrm>
            <a:off x="2199162" y="4942107"/>
            <a:ext cx="550666" cy="550666"/>
          </a:xfrm>
          <a:prstGeom prst="ellipse">
            <a:avLst/>
          </a:prstGeom>
          <a:solidFill>
            <a:schemeClr val="accent4">
              <a:lumMod val="60000"/>
              <a:lumOff val="40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400" kern="0" dirty="0">
                <a:ea typeface="Arial Unicode MS" pitchFamily="34" charset="-128"/>
                <a:cs typeface="Arial Unicode MS" pitchFamily="34" charset="-128"/>
              </a:rPr>
              <a:t>62</a:t>
            </a:r>
            <a:endParaRPr kumimoji="0" lang="en-US" sz="1400"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67" name="Straight Connector 66">
            <a:extLst>
              <a:ext uri="{FF2B5EF4-FFF2-40B4-BE49-F238E27FC236}">
                <a16:creationId xmlns:a16="http://schemas.microsoft.com/office/drawing/2014/main" id="{436CAD01-2875-459C-B01F-C28926532000}"/>
              </a:ext>
            </a:extLst>
          </p:cNvPr>
          <p:cNvCxnSpPr>
            <a:stCxn id="2" idx="3"/>
            <a:endCxn id="55" idx="0"/>
          </p:cNvCxnSpPr>
          <p:nvPr/>
        </p:nvCxnSpPr>
        <p:spPr>
          <a:xfrm flipH="1">
            <a:off x="1315603" y="2391683"/>
            <a:ext cx="741160" cy="491172"/>
          </a:xfrm>
          <a:prstGeom prst="line">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73E16F8F-82FF-430E-BEA6-5EE11415B001}"/>
              </a:ext>
            </a:extLst>
          </p:cNvPr>
          <p:cNvCxnSpPr>
            <a:stCxn id="55" idx="3"/>
            <a:endCxn id="56" idx="0"/>
          </p:cNvCxnSpPr>
          <p:nvPr/>
        </p:nvCxnSpPr>
        <p:spPr>
          <a:xfrm flipH="1">
            <a:off x="862805" y="3352878"/>
            <a:ext cx="258108" cy="559603"/>
          </a:xfrm>
          <a:prstGeom prst="line">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44944080-9B77-454F-B96F-A175EAA938EE}"/>
              </a:ext>
            </a:extLst>
          </p:cNvPr>
          <p:cNvCxnSpPr>
            <a:stCxn id="55" idx="5"/>
            <a:endCxn id="57" idx="0"/>
          </p:cNvCxnSpPr>
          <p:nvPr/>
        </p:nvCxnSpPr>
        <p:spPr>
          <a:xfrm>
            <a:off x="1510293" y="3352878"/>
            <a:ext cx="183372" cy="559603"/>
          </a:xfrm>
          <a:prstGeom prst="line">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054DA29-2615-427C-AC0B-4D63BCE4E39A}"/>
              </a:ext>
            </a:extLst>
          </p:cNvPr>
          <p:cNvCxnSpPr>
            <a:stCxn id="2" idx="4"/>
            <a:endCxn id="58" idx="0"/>
          </p:cNvCxnSpPr>
          <p:nvPr/>
        </p:nvCxnSpPr>
        <p:spPr>
          <a:xfrm>
            <a:off x="2251453" y="2472326"/>
            <a:ext cx="0" cy="410529"/>
          </a:xfrm>
          <a:prstGeom prst="line">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D5FA8178-3FBA-4BF9-B8B3-DD6AF02EFB05}"/>
              </a:ext>
            </a:extLst>
          </p:cNvPr>
          <p:cNvCxnSpPr>
            <a:stCxn id="2" idx="5"/>
            <a:endCxn id="62" idx="0"/>
          </p:cNvCxnSpPr>
          <p:nvPr/>
        </p:nvCxnSpPr>
        <p:spPr>
          <a:xfrm>
            <a:off x="2446143" y="2391683"/>
            <a:ext cx="741160" cy="491172"/>
          </a:xfrm>
          <a:prstGeom prst="line">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B656EEF1-3B1F-4515-83DF-6291890B6EB8}"/>
              </a:ext>
            </a:extLst>
          </p:cNvPr>
          <p:cNvCxnSpPr>
            <a:stCxn id="62" idx="3"/>
            <a:endCxn id="63" idx="0"/>
          </p:cNvCxnSpPr>
          <p:nvPr/>
        </p:nvCxnSpPr>
        <p:spPr>
          <a:xfrm flipH="1">
            <a:off x="2817370" y="3352878"/>
            <a:ext cx="175243" cy="559603"/>
          </a:xfrm>
          <a:prstGeom prst="line">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50A82BD7-7212-4120-94EC-BA5DBB0D9FC9}"/>
              </a:ext>
            </a:extLst>
          </p:cNvPr>
          <p:cNvCxnSpPr>
            <a:stCxn id="63" idx="3"/>
            <a:endCxn id="66" idx="0"/>
          </p:cNvCxnSpPr>
          <p:nvPr/>
        </p:nvCxnSpPr>
        <p:spPr>
          <a:xfrm flipH="1">
            <a:off x="2474495" y="4382504"/>
            <a:ext cx="148185" cy="559603"/>
          </a:xfrm>
          <a:prstGeom prst="line">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B0372B4F-4C01-46E4-A307-9AA935A1EE53}"/>
              </a:ext>
            </a:extLst>
          </p:cNvPr>
          <p:cNvCxnSpPr>
            <a:stCxn id="63" idx="5"/>
            <a:endCxn id="65" idx="0"/>
          </p:cNvCxnSpPr>
          <p:nvPr/>
        </p:nvCxnSpPr>
        <p:spPr>
          <a:xfrm>
            <a:off x="3012060" y="4382504"/>
            <a:ext cx="175243" cy="559602"/>
          </a:xfrm>
          <a:prstGeom prst="line">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6" name="Oval 95">
            <a:extLst>
              <a:ext uri="{FF2B5EF4-FFF2-40B4-BE49-F238E27FC236}">
                <a16:creationId xmlns:a16="http://schemas.microsoft.com/office/drawing/2014/main" id="{283D2A33-DE94-4C4B-8188-EF1AD9A4A1B3}"/>
              </a:ext>
            </a:extLst>
          </p:cNvPr>
          <p:cNvSpPr/>
          <p:nvPr/>
        </p:nvSpPr>
        <p:spPr bwMode="gray">
          <a:xfrm>
            <a:off x="5038910" y="3539743"/>
            <a:ext cx="550666" cy="550666"/>
          </a:xfrm>
          <a:prstGeom prst="ellipse">
            <a:avLst/>
          </a:prstGeom>
          <a:solidFill>
            <a:schemeClr val="accent3">
              <a:lumMod val="50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noProof="0" dirty="0">
                <a:ln>
                  <a:noFill/>
                </a:ln>
                <a:solidFill>
                  <a:schemeClr val="accent1">
                    <a:lumMod val="60000"/>
                    <a:lumOff val="40000"/>
                  </a:schemeClr>
                </a:solidFill>
                <a:effectLst/>
                <a:uLnTx/>
                <a:uFillTx/>
                <a:ea typeface="Arial Unicode MS" pitchFamily="34" charset="-128"/>
                <a:cs typeface="Arial Unicode MS" pitchFamily="34" charset="-128"/>
              </a:rPr>
              <a:t>1</a:t>
            </a:r>
            <a:br>
              <a:rPr kumimoji="0" lang="en-US" sz="1400" b="0" i="0" u="none" strike="noStrike" kern="0" cap="none" spc="0" normalizeH="0" baseline="0" noProof="0" dirty="0">
                <a:ln>
                  <a:noFill/>
                </a:ln>
                <a:solidFill>
                  <a:schemeClr val="accent1">
                    <a:lumMod val="60000"/>
                    <a:lumOff val="40000"/>
                  </a:schemeClr>
                </a:solidFill>
                <a:effectLst/>
                <a:uLnTx/>
                <a:uFillTx/>
                <a:ea typeface="Arial Unicode MS" pitchFamily="34" charset="-128"/>
                <a:cs typeface="Arial Unicode MS" pitchFamily="34" charset="-128"/>
              </a:rPr>
            </a:br>
            <a:r>
              <a:rPr kumimoji="0" lang="en-US" sz="900" b="0" i="0" u="none" strike="noStrike" kern="0" cap="none" spc="0" normalizeH="0" baseline="0" noProof="0" dirty="0">
                <a:ln>
                  <a:noFill/>
                </a:ln>
                <a:solidFill>
                  <a:schemeClr val="accent1">
                    <a:lumMod val="60000"/>
                    <a:lumOff val="40000"/>
                  </a:schemeClr>
                </a:solidFill>
                <a:effectLst/>
                <a:uLnTx/>
                <a:uFillTx/>
                <a:ea typeface="Arial Unicode MS" pitchFamily="34" charset="-128"/>
                <a:cs typeface="Arial Unicode MS" pitchFamily="34" charset="-128"/>
              </a:rPr>
              <a:t>(31)</a:t>
            </a:r>
            <a:endParaRPr kumimoji="0" lang="en-US" sz="1400" b="0" i="0" u="none" strike="noStrike" kern="0" cap="none" spc="0" normalizeH="0" baseline="0" noProof="0" dirty="0">
              <a:ln>
                <a:noFill/>
              </a:ln>
              <a:solidFill>
                <a:schemeClr val="accent1">
                  <a:lumMod val="60000"/>
                  <a:lumOff val="40000"/>
                </a:schemeClr>
              </a:solidFill>
              <a:effectLst/>
              <a:uLnTx/>
              <a:uFillTx/>
              <a:ea typeface="Arial Unicode MS" pitchFamily="34" charset="-128"/>
              <a:cs typeface="Arial Unicode MS" pitchFamily="34" charset="-128"/>
            </a:endParaRPr>
          </a:p>
        </p:txBody>
      </p:sp>
      <p:sp>
        <p:nvSpPr>
          <p:cNvPr id="97" name="Oval 96">
            <a:extLst>
              <a:ext uri="{FF2B5EF4-FFF2-40B4-BE49-F238E27FC236}">
                <a16:creationId xmlns:a16="http://schemas.microsoft.com/office/drawing/2014/main" id="{27E12F91-662C-4F11-9CD0-4A955BC5E36C}"/>
              </a:ext>
            </a:extLst>
          </p:cNvPr>
          <p:cNvSpPr/>
          <p:nvPr/>
        </p:nvSpPr>
        <p:spPr bwMode="gray">
          <a:xfrm>
            <a:off x="5408843" y="4569368"/>
            <a:ext cx="550666" cy="550666"/>
          </a:xfrm>
          <a:prstGeom prst="ellipse">
            <a:avLst/>
          </a:prstGeom>
          <a:solidFill>
            <a:schemeClr val="accent3">
              <a:lumMod val="50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400" kern="0" dirty="0">
                <a:solidFill>
                  <a:schemeClr val="accent1">
                    <a:lumMod val="60000"/>
                    <a:lumOff val="40000"/>
                  </a:schemeClr>
                </a:solidFill>
                <a:ea typeface="Arial Unicode MS" pitchFamily="34" charset="-128"/>
                <a:cs typeface="Arial Unicode MS" pitchFamily="34" charset="-128"/>
              </a:rPr>
              <a:t>7</a:t>
            </a:r>
            <a:br>
              <a:rPr lang="en-US" sz="1400" kern="0" dirty="0">
                <a:solidFill>
                  <a:schemeClr val="accent1">
                    <a:lumMod val="60000"/>
                    <a:lumOff val="40000"/>
                  </a:schemeClr>
                </a:solidFill>
                <a:ea typeface="Arial Unicode MS" pitchFamily="34" charset="-128"/>
                <a:cs typeface="Arial Unicode MS" pitchFamily="34" charset="-128"/>
              </a:rPr>
            </a:br>
            <a:r>
              <a:rPr lang="en-US" sz="900" kern="0" dirty="0">
                <a:solidFill>
                  <a:schemeClr val="accent1">
                    <a:lumMod val="60000"/>
                    <a:lumOff val="40000"/>
                  </a:schemeClr>
                </a:solidFill>
                <a:ea typeface="Arial Unicode MS" pitchFamily="34" charset="-128"/>
                <a:cs typeface="Arial Unicode MS" pitchFamily="34" charset="-128"/>
              </a:rPr>
              <a:t>(12)</a:t>
            </a:r>
            <a:endParaRPr kumimoji="0" lang="en-US" sz="900" b="0" i="0" u="none" strike="noStrike" kern="0" cap="none" spc="0" normalizeH="0" baseline="0" noProof="0" dirty="0">
              <a:ln>
                <a:noFill/>
              </a:ln>
              <a:solidFill>
                <a:schemeClr val="accent1">
                  <a:lumMod val="60000"/>
                  <a:lumOff val="40000"/>
                </a:schemeClr>
              </a:solidFill>
              <a:effectLst/>
              <a:uLnTx/>
              <a:uFillTx/>
              <a:ea typeface="Arial Unicode MS" pitchFamily="34" charset="-128"/>
              <a:cs typeface="Arial Unicode MS" pitchFamily="34" charset="-128"/>
            </a:endParaRPr>
          </a:p>
        </p:txBody>
      </p:sp>
      <p:sp>
        <p:nvSpPr>
          <p:cNvPr id="98" name="Oval 97">
            <a:extLst>
              <a:ext uri="{FF2B5EF4-FFF2-40B4-BE49-F238E27FC236}">
                <a16:creationId xmlns:a16="http://schemas.microsoft.com/office/drawing/2014/main" id="{AD94BDDB-6810-47EE-A6D4-5B35512B74CA}"/>
              </a:ext>
            </a:extLst>
          </p:cNvPr>
          <p:cNvSpPr/>
          <p:nvPr/>
        </p:nvSpPr>
        <p:spPr bwMode="gray">
          <a:xfrm>
            <a:off x="4696035" y="4569369"/>
            <a:ext cx="550666" cy="550666"/>
          </a:xfrm>
          <a:prstGeom prst="ellipse">
            <a:avLst/>
          </a:prstGeom>
          <a:solidFill>
            <a:schemeClr val="accent3">
              <a:lumMod val="50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400" kern="0" dirty="0">
                <a:solidFill>
                  <a:schemeClr val="accent1">
                    <a:lumMod val="60000"/>
                    <a:lumOff val="40000"/>
                  </a:schemeClr>
                </a:solidFill>
                <a:ea typeface="Arial Unicode MS" pitchFamily="34" charset="-128"/>
                <a:cs typeface="Arial Unicode MS" pitchFamily="34" charset="-128"/>
              </a:rPr>
              <a:t>4</a:t>
            </a:r>
            <a:br>
              <a:rPr lang="en-US" sz="1400" kern="0" dirty="0">
                <a:solidFill>
                  <a:schemeClr val="accent1">
                    <a:lumMod val="60000"/>
                    <a:lumOff val="40000"/>
                  </a:schemeClr>
                </a:solidFill>
                <a:ea typeface="Arial Unicode MS" pitchFamily="34" charset="-128"/>
                <a:cs typeface="Arial Unicode MS" pitchFamily="34" charset="-128"/>
              </a:rPr>
            </a:br>
            <a:r>
              <a:rPr kumimoji="0" lang="en-US" sz="900" b="0" i="0" u="none" strike="noStrike" kern="0" cap="none" spc="0" normalizeH="0" baseline="0" noProof="0" dirty="0">
                <a:ln>
                  <a:noFill/>
                </a:ln>
                <a:solidFill>
                  <a:schemeClr val="accent1">
                    <a:lumMod val="60000"/>
                    <a:lumOff val="40000"/>
                  </a:schemeClr>
                </a:solidFill>
                <a:effectLst/>
                <a:uLnTx/>
                <a:uFillTx/>
                <a:ea typeface="Arial Unicode MS" pitchFamily="34" charset="-128"/>
                <a:cs typeface="Arial Unicode MS" pitchFamily="34" charset="-128"/>
              </a:rPr>
              <a:t>(62)</a:t>
            </a:r>
          </a:p>
        </p:txBody>
      </p:sp>
      <p:cxnSp>
        <p:nvCxnSpPr>
          <p:cNvPr id="99" name="Straight Connector 98">
            <a:extLst>
              <a:ext uri="{FF2B5EF4-FFF2-40B4-BE49-F238E27FC236}">
                <a16:creationId xmlns:a16="http://schemas.microsoft.com/office/drawing/2014/main" id="{9B9D9FA5-AA18-4EE4-BF88-3DA47BAD09E8}"/>
              </a:ext>
            </a:extLst>
          </p:cNvPr>
          <p:cNvCxnSpPr>
            <a:stCxn id="96" idx="3"/>
            <a:endCxn id="98" idx="0"/>
          </p:cNvCxnSpPr>
          <p:nvPr/>
        </p:nvCxnSpPr>
        <p:spPr>
          <a:xfrm flipH="1">
            <a:off x="4971368" y="4009766"/>
            <a:ext cx="148185" cy="559603"/>
          </a:xfrm>
          <a:prstGeom prst="line">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E24B2664-FEA7-4AC5-9BA6-58C80DB30446}"/>
              </a:ext>
            </a:extLst>
          </p:cNvPr>
          <p:cNvCxnSpPr>
            <a:stCxn id="96" idx="5"/>
            <a:endCxn id="97" idx="0"/>
          </p:cNvCxnSpPr>
          <p:nvPr/>
        </p:nvCxnSpPr>
        <p:spPr>
          <a:xfrm>
            <a:off x="5508933" y="4009766"/>
            <a:ext cx="175243" cy="559602"/>
          </a:xfrm>
          <a:prstGeom prst="line">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6A24492F-DC86-4013-96DB-2FE23EDF2429}"/>
              </a:ext>
            </a:extLst>
          </p:cNvPr>
          <p:cNvSpPr txBox="1"/>
          <p:nvPr/>
        </p:nvSpPr>
        <p:spPr>
          <a:xfrm>
            <a:off x="1394724" y="1609668"/>
            <a:ext cx="1716880" cy="246221"/>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en-US" sz="1600" i="1" kern="0" dirty="0">
                <a:ea typeface="Arial Unicode MS" pitchFamily="34" charset="-128"/>
                <a:cs typeface="Arial Unicode MS" pitchFamily="34" charset="-128"/>
              </a:rPr>
              <a:t>Linux process tree</a:t>
            </a:r>
          </a:p>
        </p:txBody>
      </p:sp>
      <p:sp>
        <p:nvSpPr>
          <p:cNvPr id="102" name="TextBox 101">
            <a:extLst>
              <a:ext uri="{FF2B5EF4-FFF2-40B4-BE49-F238E27FC236}">
                <a16:creationId xmlns:a16="http://schemas.microsoft.com/office/drawing/2014/main" id="{EB356714-A203-4C4C-8EC4-8135CD004F04}"/>
              </a:ext>
            </a:extLst>
          </p:cNvPr>
          <p:cNvSpPr txBox="1"/>
          <p:nvPr/>
        </p:nvSpPr>
        <p:spPr>
          <a:xfrm>
            <a:off x="4689482" y="2962850"/>
            <a:ext cx="1230685" cy="492443"/>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en-US" sz="1600" i="1" kern="0" dirty="0">
                <a:ea typeface="Arial Unicode MS" pitchFamily="34" charset="-128"/>
                <a:cs typeface="Arial Unicode MS" pitchFamily="34" charset="-128"/>
              </a:rPr>
              <a:t>namespaced </a:t>
            </a:r>
            <a:br>
              <a:rPr lang="en-US" sz="1600" i="1" kern="0" dirty="0">
                <a:ea typeface="Arial Unicode MS" pitchFamily="34" charset="-128"/>
                <a:cs typeface="Arial Unicode MS" pitchFamily="34" charset="-128"/>
              </a:rPr>
            </a:br>
            <a:r>
              <a:rPr lang="en-US" sz="1600" i="1" kern="0" dirty="0">
                <a:ea typeface="Arial Unicode MS" pitchFamily="34" charset="-128"/>
                <a:cs typeface="Arial Unicode MS" pitchFamily="34" charset="-128"/>
              </a:rPr>
              <a:t>process tree</a:t>
            </a:r>
          </a:p>
        </p:txBody>
      </p:sp>
    </p:spTree>
    <p:extLst>
      <p:ext uri="{BB962C8B-B14F-4D97-AF65-F5344CB8AC3E}">
        <p14:creationId xmlns:p14="http://schemas.microsoft.com/office/powerpoint/2010/main" val="1067815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BCE8EB66-371D-46CB-9D61-7A928F195796}"/>
              </a:ext>
            </a:extLst>
          </p:cNvPr>
          <p:cNvSpPr/>
          <p:nvPr/>
        </p:nvSpPr>
        <p:spPr bwMode="gray">
          <a:xfrm>
            <a:off x="3013364" y="841664"/>
            <a:ext cx="5777345" cy="5403272"/>
          </a:xfrm>
          <a:prstGeom prst="roundRect">
            <a:avLst>
              <a:gd name="adj" fmla="val 9920"/>
            </a:avLst>
          </a:prstGeom>
          <a:solidFill>
            <a:schemeClr val="bg2">
              <a:lumMod val="20000"/>
              <a:lumOff val="80000"/>
            </a:schemeClr>
          </a:solidFill>
          <a:ln>
            <a:solidFill>
              <a:schemeClr val="tx1"/>
            </a:solidFill>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endParaRPr lang="en-US" sz="1800" kern="0" dirty="0" err="1">
              <a:solidFill>
                <a:schemeClr val="dk1"/>
              </a:solidFill>
              <a:latin typeface="+mn-lt"/>
              <a:ea typeface="Arial Unicode MS" pitchFamily="34" charset="-128"/>
            </a:endParaRPr>
          </a:p>
        </p:txBody>
      </p:sp>
      <p:sp>
        <p:nvSpPr>
          <p:cNvPr id="3" name="Title 2">
            <a:extLst>
              <a:ext uri="{FF2B5EF4-FFF2-40B4-BE49-F238E27FC236}">
                <a16:creationId xmlns:a16="http://schemas.microsoft.com/office/drawing/2014/main" id="{4B36DE1F-8CAE-4480-B42A-EAC0C4500A4C}"/>
              </a:ext>
            </a:extLst>
          </p:cNvPr>
          <p:cNvSpPr>
            <a:spLocks noGrp="1"/>
          </p:cNvSpPr>
          <p:nvPr>
            <p:ph type="title"/>
          </p:nvPr>
        </p:nvSpPr>
        <p:spPr>
          <a:xfrm>
            <a:off x="504001" y="504000"/>
            <a:ext cx="11186476" cy="369332"/>
          </a:xfrm>
        </p:spPr>
        <p:txBody>
          <a:bodyPr/>
          <a:lstStyle/>
          <a:p>
            <a:r>
              <a:rPr lang="en-US"/>
              <a:t>Namespaces</a:t>
            </a:r>
            <a:endParaRPr lang="en-US" dirty="0"/>
          </a:p>
        </p:txBody>
      </p:sp>
      <p:sp>
        <p:nvSpPr>
          <p:cNvPr id="58" name="Rectangle: Rounded Corners 57">
            <a:extLst>
              <a:ext uri="{FF2B5EF4-FFF2-40B4-BE49-F238E27FC236}">
                <a16:creationId xmlns:a16="http://schemas.microsoft.com/office/drawing/2014/main" id="{3DAA36BB-20C3-41B5-B642-E5FBBB73E0BD}"/>
              </a:ext>
            </a:extLst>
          </p:cNvPr>
          <p:cNvSpPr/>
          <p:nvPr/>
        </p:nvSpPr>
        <p:spPr bwMode="gray">
          <a:xfrm>
            <a:off x="3214994" y="1100563"/>
            <a:ext cx="5374085" cy="4885474"/>
          </a:xfrm>
          <a:prstGeom prst="roundRect">
            <a:avLst>
              <a:gd name="adj" fmla="val 10178"/>
            </a:avLst>
          </a:prstGeom>
          <a:solidFill>
            <a:schemeClr val="bg1"/>
          </a:solidFill>
          <a:ln>
            <a:solidFill>
              <a:schemeClr val="accent3">
                <a:lumMod val="75000"/>
              </a:schemeClr>
            </a:solidFill>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59" name="Rectangle: Rounded Corners 58">
            <a:extLst>
              <a:ext uri="{FF2B5EF4-FFF2-40B4-BE49-F238E27FC236}">
                <a16:creationId xmlns:a16="http://schemas.microsoft.com/office/drawing/2014/main" id="{23CC8473-20F2-4139-B225-C95AC868CDE2}"/>
              </a:ext>
            </a:extLst>
          </p:cNvPr>
          <p:cNvSpPr/>
          <p:nvPr/>
        </p:nvSpPr>
        <p:spPr bwMode="gray">
          <a:xfrm>
            <a:off x="3473539" y="1349177"/>
            <a:ext cx="4856994" cy="4388246"/>
          </a:xfrm>
          <a:prstGeom prst="roundRect">
            <a:avLst>
              <a:gd name="adj" fmla="val 9257"/>
            </a:avLst>
          </a:prstGeom>
          <a:solidFill>
            <a:schemeClr val="bg2">
              <a:lumMod val="20000"/>
              <a:lumOff val="80000"/>
            </a:schemeClr>
          </a:solidFill>
          <a:ln>
            <a:solidFill>
              <a:schemeClr val="accent1">
                <a:lumMod val="75000"/>
              </a:schemeClr>
            </a:solidFill>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60" name="Rectangle: Rounded Corners 59">
            <a:extLst>
              <a:ext uri="{FF2B5EF4-FFF2-40B4-BE49-F238E27FC236}">
                <a16:creationId xmlns:a16="http://schemas.microsoft.com/office/drawing/2014/main" id="{DE03CE80-A03D-4A26-8F54-83D1FCD73B77}"/>
              </a:ext>
            </a:extLst>
          </p:cNvPr>
          <p:cNvSpPr/>
          <p:nvPr/>
        </p:nvSpPr>
        <p:spPr bwMode="gray">
          <a:xfrm>
            <a:off x="3733617" y="1598270"/>
            <a:ext cx="4336838" cy="3890060"/>
          </a:xfrm>
          <a:prstGeom prst="roundRect">
            <a:avLst>
              <a:gd name="adj" fmla="val 7852"/>
            </a:avLst>
          </a:prstGeom>
          <a:solidFill>
            <a:schemeClr val="bg1"/>
          </a:solidFill>
          <a:ln>
            <a:solidFill>
              <a:schemeClr val="accent5">
                <a:lumMod val="75000"/>
              </a:schemeClr>
            </a:solidFill>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user</a:t>
            </a:r>
          </a:p>
        </p:txBody>
      </p:sp>
      <p:grpSp>
        <p:nvGrpSpPr>
          <p:cNvPr id="64" name="Group 63">
            <a:extLst>
              <a:ext uri="{FF2B5EF4-FFF2-40B4-BE49-F238E27FC236}">
                <a16:creationId xmlns:a16="http://schemas.microsoft.com/office/drawing/2014/main" id="{C9E8F56E-8C52-473D-ABBF-56FFDA0A0331}"/>
              </a:ext>
            </a:extLst>
          </p:cNvPr>
          <p:cNvGrpSpPr/>
          <p:nvPr/>
        </p:nvGrpSpPr>
        <p:grpSpPr>
          <a:xfrm>
            <a:off x="4064635" y="1836194"/>
            <a:ext cx="3674803" cy="3414213"/>
            <a:chOff x="1947372" y="1855492"/>
            <a:chExt cx="3674803" cy="3414213"/>
          </a:xfrm>
        </p:grpSpPr>
        <p:sp>
          <p:nvSpPr>
            <p:cNvPr id="65" name="Rectangle: Rounded Corners 64">
              <a:extLst>
                <a:ext uri="{FF2B5EF4-FFF2-40B4-BE49-F238E27FC236}">
                  <a16:creationId xmlns:a16="http://schemas.microsoft.com/office/drawing/2014/main" id="{725FE224-E48C-4CF7-995F-76EFE359CFCD}"/>
                </a:ext>
              </a:extLst>
            </p:cNvPr>
            <p:cNvSpPr/>
            <p:nvPr/>
          </p:nvSpPr>
          <p:spPr bwMode="gray">
            <a:xfrm>
              <a:off x="1947372" y="1855492"/>
              <a:ext cx="3674803" cy="3414213"/>
            </a:xfrm>
            <a:prstGeom prst="roundRect">
              <a:avLst>
                <a:gd name="adj" fmla="val 7124"/>
              </a:avLst>
            </a:prstGeom>
            <a:solidFill>
              <a:schemeClr val="bg1">
                <a:lumMod val="75000"/>
              </a:schemeClr>
            </a:solidFill>
            <a:ln>
              <a:solidFill>
                <a:schemeClr val="accent4">
                  <a:lumMod val="50000"/>
                </a:schemeClr>
              </a:solidFill>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66" name="Rectangle: Rounded Corners 65">
              <a:extLst>
                <a:ext uri="{FF2B5EF4-FFF2-40B4-BE49-F238E27FC236}">
                  <a16:creationId xmlns:a16="http://schemas.microsoft.com/office/drawing/2014/main" id="{69AF87C4-DBA3-4D3E-8C96-9B9B2EA00052}"/>
                </a:ext>
              </a:extLst>
            </p:cNvPr>
            <p:cNvSpPr/>
            <p:nvPr/>
          </p:nvSpPr>
          <p:spPr bwMode="gray">
            <a:xfrm>
              <a:off x="2218692" y="2113097"/>
              <a:ext cx="3132164" cy="2899005"/>
            </a:xfrm>
            <a:prstGeom prst="roundRect">
              <a:avLst>
                <a:gd name="adj" fmla="val 5428"/>
              </a:avLst>
            </a:prstGeom>
            <a:solidFill>
              <a:schemeClr val="bg1">
                <a:lumMod val="95000"/>
              </a:schemeClr>
            </a:solidFill>
            <a:ln>
              <a:solidFill>
                <a:schemeClr val="accent4">
                  <a:lumMod val="50000"/>
                </a:schemeClr>
              </a:solidFill>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67" name="Rectangle: Rounded Corners 66">
              <a:extLst>
                <a:ext uri="{FF2B5EF4-FFF2-40B4-BE49-F238E27FC236}">
                  <a16:creationId xmlns:a16="http://schemas.microsoft.com/office/drawing/2014/main" id="{8B8DEFE6-E142-4C6C-B4BC-B5E4F9DB83ED}"/>
                </a:ext>
              </a:extLst>
            </p:cNvPr>
            <p:cNvSpPr/>
            <p:nvPr/>
          </p:nvSpPr>
          <p:spPr bwMode="gray">
            <a:xfrm>
              <a:off x="2530447" y="2355146"/>
              <a:ext cx="2508655" cy="2414909"/>
            </a:xfrm>
            <a:prstGeom prst="roundRect">
              <a:avLst>
                <a:gd name="adj" fmla="val 7092"/>
              </a:avLst>
            </a:prstGeom>
            <a:solidFill>
              <a:schemeClr val="bg1">
                <a:lumMod val="75000"/>
              </a:schemeClr>
            </a:solidFill>
            <a:ln>
              <a:solidFill>
                <a:schemeClr val="accent4">
                  <a:lumMod val="50000"/>
                </a:schemeClr>
              </a:solidFill>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68" name="TextBox 67">
              <a:extLst>
                <a:ext uri="{FF2B5EF4-FFF2-40B4-BE49-F238E27FC236}">
                  <a16:creationId xmlns:a16="http://schemas.microsoft.com/office/drawing/2014/main" id="{BFC458A3-E0B8-4278-AD57-C4955399A44B}"/>
                </a:ext>
              </a:extLst>
            </p:cNvPr>
            <p:cNvSpPr txBox="1"/>
            <p:nvPr/>
          </p:nvSpPr>
          <p:spPr>
            <a:xfrm>
              <a:off x="3380468" y="4510420"/>
              <a:ext cx="815788" cy="246221"/>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1600" kern="0" dirty="0">
                  <a:ea typeface="Arial Unicode MS" pitchFamily="34" charset="-128"/>
                  <a:cs typeface="Arial Unicode MS" pitchFamily="34" charset="-128"/>
                </a:rPr>
                <a:t>mount</a:t>
              </a:r>
            </a:p>
          </p:txBody>
        </p:sp>
        <p:sp>
          <p:nvSpPr>
            <p:cNvPr id="69" name="TextBox 68">
              <a:extLst>
                <a:ext uri="{FF2B5EF4-FFF2-40B4-BE49-F238E27FC236}">
                  <a16:creationId xmlns:a16="http://schemas.microsoft.com/office/drawing/2014/main" id="{757FC80E-7770-449A-8205-B379EAEC6780}"/>
                </a:ext>
              </a:extLst>
            </p:cNvPr>
            <p:cNvSpPr txBox="1"/>
            <p:nvPr/>
          </p:nvSpPr>
          <p:spPr>
            <a:xfrm>
              <a:off x="3177404" y="4750775"/>
              <a:ext cx="1221706" cy="246221"/>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1600" kern="0" dirty="0" err="1">
                  <a:ea typeface="Arial Unicode MS" pitchFamily="34" charset="-128"/>
                  <a:cs typeface="Arial Unicode MS" pitchFamily="34" charset="-128"/>
                </a:rPr>
                <a:t>uts</a:t>
              </a:r>
              <a:endParaRPr lang="en-US" sz="1600" kern="0" dirty="0">
                <a:ea typeface="Arial Unicode MS" pitchFamily="34" charset="-128"/>
                <a:cs typeface="Arial Unicode MS" pitchFamily="34" charset="-128"/>
              </a:endParaRPr>
            </a:p>
          </p:txBody>
        </p:sp>
        <p:sp>
          <p:nvSpPr>
            <p:cNvPr id="70" name="TextBox 69">
              <a:extLst>
                <a:ext uri="{FF2B5EF4-FFF2-40B4-BE49-F238E27FC236}">
                  <a16:creationId xmlns:a16="http://schemas.microsoft.com/office/drawing/2014/main" id="{BA5C6FBA-2EFA-401F-8E2F-8C470FB16BD6}"/>
                </a:ext>
              </a:extLst>
            </p:cNvPr>
            <p:cNvSpPr txBox="1"/>
            <p:nvPr/>
          </p:nvSpPr>
          <p:spPr>
            <a:xfrm>
              <a:off x="3159456" y="4988799"/>
              <a:ext cx="1209610" cy="246221"/>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1600" kern="0" dirty="0" err="1">
                  <a:ea typeface="Arial Unicode MS" pitchFamily="34" charset="-128"/>
                  <a:cs typeface="Arial Unicode MS" pitchFamily="34" charset="-128"/>
                </a:rPr>
                <a:t>pid</a:t>
              </a:r>
              <a:endParaRPr lang="en-US" sz="1600" kern="0" dirty="0">
                <a:ea typeface="Arial Unicode MS" pitchFamily="34" charset="-128"/>
                <a:cs typeface="Arial Unicode MS" pitchFamily="34" charset="-128"/>
              </a:endParaRPr>
            </a:p>
          </p:txBody>
        </p:sp>
        <p:pic>
          <p:nvPicPr>
            <p:cNvPr id="71" name="Picture 4" descr="Image result for nginx logo">
              <a:extLst>
                <a:ext uri="{FF2B5EF4-FFF2-40B4-BE49-F238E27FC236}">
                  <a16:creationId xmlns:a16="http://schemas.microsoft.com/office/drawing/2014/main" id="{1E1B11B0-2B65-44E8-AA2F-E5376A9601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55693" y="3190464"/>
              <a:ext cx="2065339" cy="691995"/>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TextBox 1">
            <a:extLst>
              <a:ext uri="{FF2B5EF4-FFF2-40B4-BE49-F238E27FC236}">
                <a16:creationId xmlns:a16="http://schemas.microsoft.com/office/drawing/2014/main" id="{70FD32A6-53CC-418C-8DCF-9B6F3351C4A3}"/>
              </a:ext>
            </a:extLst>
          </p:cNvPr>
          <p:cNvSpPr txBox="1"/>
          <p:nvPr/>
        </p:nvSpPr>
        <p:spPr>
          <a:xfrm>
            <a:off x="5677615" y="5201517"/>
            <a:ext cx="448841" cy="276999"/>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user</a:t>
            </a:r>
          </a:p>
        </p:txBody>
      </p:sp>
      <p:sp>
        <p:nvSpPr>
          <p:cNvPr id="4" name="TextBox 3">
            <a:extLst>
              <a:ext uri="{FF2B5EF4-FFF2-40B4-BE49-F238E27FC236}">
                <a16:creationId xmlns:a16="http://schemas.microsoft.com/office/drawing/2014/main" id="{98EB578D-45EA-4156-A7F3-6B7CEC27DB1D}"/>
              </a:ext>
            </a:extLst>
          </p:cNvPr>
          <p:cNvSpPr txBox="1"/>
          <p:nvPr/>
        </p:nvSpPr>
        <p:spPr>
          <a:xfrm>
            <a:off x="5734046" y="5447710"/>
            <a:ext cx="294953" cy="276999"/>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1800" kern="0" dirty="0" err="1">
                <a:ea typeface="Arial Unicode MS" pitchFamily="34" charset="-128"/>
                <a:cs typeface="Arial Unicode MS" pitchFamily="34" charset="-128"/>
              </a:rPr>
              <a:t>ipc</a:t>
            </a:r>
            <a:endParaRPr lang="en-US" sz="1800" kern="0" dirty="0">
              <a:ea typeface="Arial Unicode MS" pitchFamily="34" charset="-128"/>
              <a:cs typeface="Arial Unicode MS" pitchFamily="34" charset="-128"/>
            </a:endParaRPr>
          </a:p>
        </p:txBody>
      </p:sp>
      <p:sp>
        <p:nvSpPr>
          <p:cNvPr id="6" name="TextBox 5">
            <a:extLst>
              <a:ext uri="{FF2B5EF4-FFF2-40B4-BE49-F238E27FC236}">
                <a16:creationId xmlns:a16="http://schemas.microsoft.com/office/drawing/2014/main" id="{600076AA-2E92-47EF-9733-5C6FCFF0C0E3}"/>
              </a:ext>
            </a:extLst>
          </p:cNvPr>
          <p:cNvSpPr txBox="1"/>
          <p:nvPr/>
        </p:nvSpPr>
        <p:spPr>
          <a:xfrm>
            <a:off x="5477565" y="5697043"/>
            <a:ext cx="807913" cy="276999"/>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network</a:t>
            </a:r>
          </a:p>
        </p:txBody>
      </p:sp>
      <p:sp>
        <p:nvSpPr>
          <p:cNvPr id="94" name="TextBox 93">
            <a:extLst>
              <a:ext uri="{FF2B5EF4-FFF2-40B4-BE49-F238E27FC236}">
                <a16:creationId xmlns:a16="http://schemas.microsoft.com/office/drawing/2014/main" id="{EF3C6F28-273A-483D-849D-4737458B1556}"/>
              </a:ext>
            </a:extLst>
          </p:cNvPr>
          <p:cNvSpPr txBox="1"/>
          <p:nvPr/>
        </p:nvSpPr>
        <p:spPr>
          <a:xfrm>
            <a:off x="5549374" y="5957652"/>
            <a:ext cx="705321" cy="276999"/>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1800" kern="0" dirty="0" err="1">
                <a:ea typeface="Arial Unicode MS" pitchFamily="34" charset="-128"/>
                <a:cs typeface="Arial Unicode MS" pitchFamily="34" charset="-128"/>
              </a:rPr>
              <a:t>cgroup</a:t>
            </a:r>
            <a:endParaRPr lang="en-US" sz="1800" kern="0" dirty="0">
              <a:ea typeface="Arial Unicode MS" pitchFamily="34" charset="-128"/>
              <a:cs typeface="Arial Unicode MS" pitchFamily="34" charset="-128"/>
            </a:endParaRPr>
          </a:p>
        </p:txBody>
      </p:sp>
    </p:spTree>
    <p:extLst>
      <p:ext uri="{BB962C8B-B14F-4D97-AF65-F5344CB8AC3E}">
        <p14:creationId xmlns:p14="http://schemas.microsoft.com/office/powerpoint/2010/main" val="8127174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BEB1A8-C9D3-4723-A64F-42E02E22325A}"/>
              </a:ext>
            </a:extLst>
          </p:cNvPr>
          <p:cNvSpPr>
            <a:spLocks noGrp="1"/>
          </p:cNvSpPr>
          <p:nvPr>
            <p:ph type="title"/>
          </p:nvPr>
        </p:nvSpPr>
        <p:spPr/>
        <p:txBody>
          <a:bodyPr/>
          <a:lstStyle/>
          <a:p>
            <a:r>
              <a:rPr lang="en-US" dirty="0"/>
              <a:t>Demo</a:t>
            </a:r>
          </a:p>
        </p:txBody>
      </p:sp>
      <p:pic>
        <p:nvPicPr>
          <p:cNvPr id="6" name="Picture 5">
            <a:extLst>
              <a:ext uri="{FF2B5EF4-FFF2-40B4-BE49-F238E27FC236}">
                <a16:creationId xmlns:a16="http://schemas.microsoft.com/office/drawing/2014/main" id="{8D1ACC5F-52FE-4C32-9E61-49F09FCEB59D}"/>
              </a:ext>
            </a:extLst>
          </p:cNvPr>
          <p:cNvPicPr>
            <a:picLocks noChangeAspect="1"/>
          </p:cNvPicPr>
          <p:nvPr/>
        </p:nvPicPr>
        <p:blipFill>
          <a:blip r:embed="rId3"/>
          <a:stretch>
            <a:fillRect/>
          </a:stretch>
        </p:blipFill>
        <p:spPr>
          <a:xfrm>
            <a:off x="4521420" y="1853181"/>
            <a:ext cx="3151638" cy="3151638"/>
          </a:xfrm>
          <a:prstGeom prst="rect">
            <a:avLst/>
          </a:prstGeom>
        </p:spPr>
      </p:pic>
    </p:spTree>
    <p:extLst>
      <p:ext uri="{BB962C8B-B14F-4D97-AF65-F5344CB8AC3E}">
        <p14:creationId xmlns:p14="http://schemas.microsoft.com/office/powerpoint/2010/main" val="35473035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10C25A69-2128-4DD6-A20B-CBBC4493AA18}"/>
              </a:ext>
            </a:extLst>
          </p:cNvPr>
          <p:cNvSpPr/>
          <p:nvPr/>
        </p:nvSpPr>
        <p:spPr bwMode="gray">
          <a:xfrm>
            <a:off x="2902401" y="4272798"/>
            <a:ext cx="2641149" cy="1383846"/>
          </a:xfrm>
          <a:prstGeom prst="roundRect">
            <a:avLst>
              <a:gd name="adj" fmla="val 6638"/>
            </a:avLst>
          </a:prstGeom>
          <a:solidFill>
            <a:schemeClr val="accent3">
              <a:lumMod val="50000"/>
            </a:schemeClr>
          </a:solidFill>
          <a:ln w="6350" algn="ctr">
            <a:solidFill>
              <a:schemeClr val="tx1"/>
            </a:solidFill>
            <a:miter lim="800000"/>
            <a:headEnd/>
            <a:tailEnd/>
          </a:ln>
        </p:spPr>
        <p:txBody>
          <a:bodyPr lIns="90000" tIns="72000" rIns="90000" bIns="72000" rtlCol="0" anchor="b"/>
          <a:lstStyle/>
          <a:p>
            <a:pPr marR="0" algn="r" defTabSz="914400" eaLnBrk="1" fontAlgn="base" latinLnBrk="0" hangingPunct="1">
              <a:lnSpc>
                <a:spcPct val="100000"/>
              </a:lnSpc>
              <a:spcBef>
                <a:spcPct val="50000"/>
              </a:spcBef>
              <a:spcAft>
                <a:spcPct val="0"/>
              </a:spcAft>
              <a:buClr>
                <a:srgbClr val="F0AB00"/>
              </a:buClr>
              <a:buSzPct val="80000"/>
              <a:tabLst/>
            </a:pPr>
            <a:r>
              <a:rPr kumimoji="0" lang="en-US" sz="1200" b="0" i="1" u="none" strike="noStrike" kern="0" cap="none" spc="0" normalizeH="0" baseline="0" noProof="0" dirty="0">
                <a:ln>
                  <a:noFill/>
                </a:ln>
                <a:solidFill>
                  <a:schemeClr val="bg1"/>
                </a:solidFill>
                <a:effectLst/>
                <a:uLnTx/>
                <a:uFillTx/>
                <a:ea typeface="Arial Unicode MS" pitchFamily="34" charset="-128"/>
                <a:cs typeface="Arial Unicode MS" pitchFamily="34" charset="-128"/>
              </a:rPr>
              <a:t>cgroup</a:t>
            </a:r>
          </a:p>
        </p:txBody>
      </p:sp>
      <p:sp>
        <p:nvSpPr>
          <p:cNvPr id="4" name="Title 3">
            <a:extLst>
              <a:ext uri="{FF2B5EF4-FFF2-40B4-BE49-F238E27FC236}">
                <a16:creationId xmlns:a16="http://schemas.microsoft.com/office/drawing/2014/main" id="{9FF4D798-9216-4DD3-AE18-5BC38A85ADB3}"/>
              </a:ext>
            </a:extLst>
          </p:cNvPr>
          <p:cNvSpPr>
            <a:spLocks noGrp="1"/>
          </p:cNvSpPr>
          <p:nvPr>
            <p:ph type="title"/>
          </p:nvPr>
        </p:nvSpPr>
        <p:spPr/>
        <p:txBody>
          <a:bodyPr/>
          <a:lstStyle/>
          <a:p>
            <a:r>
              <a:rPr lang="en-US" dirty="0"/>
              <a:t>Resource limitations with </a:t>
            </a:r>
            <a:r>
              <a:rPr lang="en-US" i="1" dirty="0"/>
              <a:t>cgroups</a:t>
            </a:r>
          </a:p>
        </p:txBody>
      </p:sp>
      <p:sp>
        <p:nvSpPr>
          <p:cNvPr id="7" name="Rectangle 6">
            <a:extLst>
              <a:ext uri="{FF2B5EF4-FFF2-40B4-BE49-F238E27FC236}">
                <a16:creationId xmlns:a16="http://schemas.microsoft.com/office/drawing/2014/main" id="{9C09721E-551C-40DC-B524-5BA38552A1F6}"/>
              </a:ext>
            </a:extLst>
          </p:cNvPr>
          <p:cNvSpPr/>
          <p:nvPr/>
        </p:nvSpPr>
        <p:spPr bwMode="gray">
          <a:xfrm>
            <a:off x="3004455" y="4456495"/>
            <a:ext cx="1134837" cy="436788"/>
          </a:xfrm>
          <a:prstGeom prst="rect">
            <a:avLst/>
          </a:prstGeom>
          <a:solidFill>
            <a:schemeClr val="accent1"/>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600" b="0" i="0" u="none" strike="noStrike" kern="0" cap="none" spc="0" normalizeH="0" baseline="0" noProof="0" dirty="0">
                <a:ln>
                  <a:noFill/>
                </a:ln>
                <a:effectLst/>
                <a:uLnTx/>
                <a:uFillTx/>
                <a:ea typeface="Arial Unicode MS" pitchFamily="34" charset="-128"/>
                <a:cs typeface="Arial Unicode MS" pitchFamily="34" charset="-128"/>
              </a:rPr>
              <a:t>Process</a:t>
            </a:r>
          </a:p>
        </p:txBody>
      </p:sp>
      <p:sp>
        <p:nvSpPr>
          <p:cNvPr id="8" name="Rectangle 7">
            <a:extLst>
              <a:ext uri="{FF2B5EF4-FFF2-40B4-BE49-F238E27FC236}">
                <a16:creationId xmlns:a16="http://schemas.microsoft.com/office/drawing/2014/main" id="{A17CEE50-BD2B-4544-B96A-CBD7F593EA2F}"/>
              </a:ext>
            </a:extLst>
          </p:cNvPr>
          <p:cNvSpPr/>
          <p:nvPr/>
        </p:nvSpPr>
        <p:spPr bwMode="gray">
          <a:xfrm>
            <a:off x="4269919" y="4456495"/>
            <a:ext cx="1134837" cy="436788"/>
          </a:xfrm>
          <a:prstGeom prst="rect">
            <a:avLst/>
          </a:prstGeom>
          <a:solidFill>
            <a:schemeClr val="accent1"/>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600" b="0" i="0" u="none" strike="noStrike" kern="0" cap="none" spc="0" normalizeH="0" baseline="0" noProof="0" dirty="0">
                <a:ln>
                  <a:noFill/>
                </a:ln>
                <a:effectLst/>
                <a:uLnTx/>
                <a:uFillTx/>
                <a:ea typeface="Arial Unicode MS" pitchFamily="34" charset="-128"/>
                <a:cs typeface="Arial Unicode MS" pitchFamily="34" charset="-128"/>
              </a:rPr>
              <a:t>Process</a:t>
            </a:r>
          </a:p>
        </p:txBody>
      </p:sp>
      <p:sp>
        <p:nvSpPr>
          <p:cNvPr id="9" name="Rectangle 8">
            <a:extLst>
              <a:ext uri="{FF2B5EF4-FFF2-40B4-BE49-F238E27FC236}">
                <a16:creationId xmlns:a16="http://schemas.microsoft.com/office/drawing/2014/main" id="{57012A80-FEC5-427C-A27F-763592BC1C02}"/>
              </a:ext>
            </a:extLst>
          </p:cNvPr>
          <p:cNvSpPr/>
          <p:nvPr/>
        </p:nvSpPr>
        <p:spPr bwMode="gray">
          <a:xfrm>
            <a:off x="3004455" y="5007583"/>
            <a:ext cx="1134837" cy="436788"/>
          </a:xfrm>
          <a:prstGeom prst="rect">
            <a:avLst/>
          </a:prstGeom>
          <a:solidFill>
            <a:schemeClr val="accent1"/>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600" b="0" i="0" u="none" strike="noStrike" kern="0" cap="none" spc="0" normalizeH="0" baseline="0" noProof="0" dirty="0">
                <a:ln>
                  <a:noFill/>
                </a:ln>
                <a:effectLst/>
                <a:uLnTx/>
                <a:uFillTx/>
                <a:ea typeface="Arial Unicode MS" pitchFamily="34" charset="-128"/>
                <a:cs typeface="Arial Unicode MS" pitchFamily="34" charset="-128"/>
              </a:rPr>
              <a:t>Process</a:t>
            </a:r>
          </a:p>
        </p:txBody>
      </p:sp>
      <p:pic>
        <p:nvPicPr>
          <p:cNvPr id="12" name="Picture 11">
            <a:extLst>
              <a:ext uri="{FF2B5EF4-FFF2-40B4-BE49-F238E27FC236}">
                <a16:creationId xmlns:a16="http://schemas.microsoft.com/office/drawing/2014/main" id="{0C7E838C-E948-4E36-ADDF-A7E3CBD69112}"/>
              </a:ext>
            </a:extLst>
          </p:cNvPr>
          <p:cNvPicPr>
            <a:picLocks noChangeAspect="1"/>
          </p:cNvPicPr>
          <p:nvPr/>
        </p:nvPicPr>
        <p:blipFill>
          <a:blip r:embed="rId3"/>
          <a:stretch>
            <a:fillRect/>
          </a:stretch>
        </p:blipFill>
        <p:spPr>
          <a:xfrm>
            <a:off x="2367046" y="1469946"/>
            <a:ext cx="1419902" cy="1419902"/>
          </a:xfrm>
          <a:prstGeom prst="rect">
            <a:avLst/>
          </a:prstGeom>
        </p:spPr>
      </p:pic>
      <p:sp>
        <p:nvSpPr>
          <p:cNvPr id="13" name="Rectangle 12">
            <a:extLst>
              <a:ext uri="{FF2B5EF4-FFF2-40B4-BE49-F238E27FC236}">
                <a16:creationId xmlns:a16="http://schemas.microsoft.com/office/drawing/2014/main" id="{FC123DBA-EBE5-40B5-B44D-6A7407EB73A6}"/>
              </a:ext>
            </a:extLst>
          </p:cNvPr>
          <p:cNvSpPr/>
          <p:nvPr/>
        </p:nvSpPr>
        <p:spPr bwMode="gray">
          <a:xfrm>
            <a:off x="832755" y="4711629"/>
            <a:ext cx="1134837" cy="436788"/>
          </a:xfrm>
          <a:prstGeom prst="rect">
            <a:avLst/>
          </a:prstGeom>
          <a:solidFill>
            <a:schemeClr val="accent1"/>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600" b="0" i="0" u="none" strike="noStrike" kern="0" cap="none" spc="0" normalizeH="0" baseline="0" noProof="0" dirty="0">
                <a:ln>
                  <a:noFill/>
                </a:ln>
                <a:effectLst/>
                <a:uLnTx/>
                <a:uFillTx/>
                <a:ea typeface="Arial Unicode MS" pitchFamily="34" charset="-128"/>
                <a:cs typeface="Arial Unicode MS" pitchFamily="34" charset="-128"/>
              </a:rPr>
              <a:t>Process</a:t>
            </a:r>
          </a:p>
        </p:txBody>
      </p:sp>
      <p:pic>
        <p:nvPicPr>
          <p:cNvPr id="11" name="Picture 10">
            <a:extLst>
              <a:ext uri="{FF2B5EF4-FFF2-40B4-BE49-F238E27FC236}">
                <a16:creationId xmlns:a16="http://schemas.microsoft.com/office/drawing/2014/main" id="{A467792C-640B-4364-8E6B-596A59EEBD3D}"/>
              </a:ext>
            </a:extLst>
          </p:cNvPr>
          <p:cNvPicPr>
            <a:picLocks noChangeAspect="1"/>
          </p:cNvPicPr>
          <p:nvPr/>
        </p:nvPicPr>
        <p:blipFill>
          <a:blip r:embed="rId4"/>
          <a:stretch>
            <a:fillRect/>
          </a:stretch>
        </p:blipFill>
        <p:spPr>
          <a:xfrm>
            <a:off x="1731592" y="2076161"/>
            <a:ext cx="1201055" cy="1201055"/>
          </a:xfrm>
          <a:prstGeom prst="rect">
            <a:avLst/>
          </a:prstGeom>
        </p:spPr>
      </p:pic>
      <p:cxnSp>
        <p:nvCxnSpPr>
          <p:cNvPr id="16" name="Straight Connector 15">
            <a:extLst>
              <a:ext uri="{FF2B5EF4-FFF2-40B4-BE49-F238E27FC236}">
                <a16:creationId xmlns:a16="http://schemas.microsoft.com/office/drawing/2014/main" id="{A14B967F-4FC4-4166-B4D0-B36D08A65117}"/>
              </a:ext>
            </a:extLst>
          </p:cNvPr>
          <p:cNvCxnSpPr>
            <a:cxnSpLocks/>
          </p:cNvCxnSpPr>
          <p:nvPr/>
        </p:nvCxnSpPr>
        <p:spPr>
          <a:xfrm flipH="1">
            <a:off x="1436915" y="3166536"/>
            <a:ext cx="1338942" cy="1379764"/>
          </a:xfrm>
          <a:prstGeom prst="line">
            <a:avLst/>
          </a:prstGeom>
          <a:ln w="952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07350E6F-C9C8-48CD-937C-249FB836E2DA}"/>
              </a:ext>
            </a:extLst>
          </p:cNvPr>
          <p:cNvCxnSpPr>
            <a:cxnSpLocks/>
          </p:cNvCxnSpPr>
          <p:nvPr/>
        </p:nvCxnSpPr>
        <p:spPr>
          <a:xfrm>
            <a:off x="3371850" y="3166536"/>
            <a:ext cx="767442" cy="1034826"/>
          </a:xfrm>
          <a:prstGeom prst="straightConnector1">
            <a:avLst/>
          </a:prstGeom>
          <a:ln w="952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1" name="Text Placeholder 58">
            <a:extLst>
              <a:ext uri="{FF2B5EF4-FFF2-40B4-BE49-F238E27FC236}">
                <a16:creationId xmlns:a16="http://schemas.microsoft.com/office/drawing/2014/main" id="{D7435F46-7258-4D92-AF9C-6397FCFDF279}"/>
              </a:ext>
            </a:extLst>
          </p:cNvPr>
          <p:cNvSpPr txBox="1">
            <a:spLocks/>
          </p:cNvSpPr>
          <p:nvPr/>
        </p:nvSpPr>
        <p:spPr bwMode="gray">
          <a:xfrm>
            <a:off x="6862713" y="1491684"/>
            <a:ext cx="4827764" cy="4532044"/>
          </a:xfrm>
          <a:prstGeom prst="rect">
            <a:avLst/>
          </a:prstGeom>
        </p:spPr>
        <p:txBody>
          <a:bodyPr vert="horz" lIns="0" tIns="0" rIns="0" bIns="0" rtlCol="0" anchor="ctr">
            <a:noAutofit/>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lvl="1"/>
            <a:r>
              <a:rPr lang="en-US" sz="1600" dirty="0"/>
              <a:t>cgroups limit access of a process to system resources</a:t>
            </a:r>
          </a:p>
          <a:p>
            <a:pPr lvl="1"/>
            <a:endParaRPr lang="en-US" sz="1600" dirty="0"/>
          </a:p>
          <a:p>
            <a:pPr lvl="1"/>
            <a:r>
              <a:rPr lang="en-US" sz="1600" dirty="0"/>
              <a:t>Several processes can be in the same cgroup they all share the resource limit</a:t>
            </a:r>
          </a:p>
          <a:p>
            <a:pPr lvl="1"/>
            <a:endParaRPr lang="en-US" sz="1600" dirty="0"/>
          </a:p>
          <a:p>
            <a:pPr lvl="1"/>
            <a:r>
              <a:rPr lang="en-US" sz="1600" dirty="0"/>
              <a:t>cgroups offer resource control for</a:t>
            </a:r>
          </a:p>
          <a:p>
            <a:pPr lvl="2"/>
            <a:r>
              <a:rPr lang="en-US" sz="1600" dirty="0"/>
              <a:t>CPU</a:t>
            </a:r>
          </a:p>
          <a:p>
            <a:pPr lvl="2"/>
            <a:r>
              <a:rPr lang="en-US" sz="1600" dirty="0"/>
              <a:t>memory</a:t>
            </a:r>
          </a:p>
          <a:p>
            <a:pPr lvl="2"/>
            <a:r>
              <a:rPr lang="en-US" sz="1600" dirty="0"/>
              <a:t>block I/O</a:t>
            </a:r>
          </a:p>
          <a:p>
            <a:pPr lvl="2"/>
            <a:r>
              <a:rPr lang="en-US" sz="1600" dirty="0"/>
              <a:t>and others</a:t>
            </a:r>
          </a:p>
        </p:txBody>
      </p:sp>
    </p:spTree>
    <p:extLst>
      <p:ext uri="{BB962C8B-B14F-4D97-AF65-F5344CB8AC3E}">
        <p14:creationId xmlns:p14="http://schemas.microsoft.com/office/powerpoint/2010/main" val="8386683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BEB1A8-C9D3-4723-A64F-42E02E22325A}"/>
              </a:ext>
            </a:extLst>
          </p:cNvPr>
          <p:cNvSpPr>
            <a:spLocks noGrp="1"/>
          </p:cNvSpPr>
          <p:nvPr>
            <p:ph type="title"/>
          </p:nvPr>
        </p:nvSpPr>
        <p:spPr/>
        <p:txBody>
          <a:bodyPr/>
          <a:lstStyle/>
          <a:p>
            <a:r>
              <a:rPr lang="en-US" dirty="0"/>
              <a:t>Demo</a:t>
            </a:r>
          </a:p>
        </p:txBody>
      </p:sp>
      <p:pic>
        <p:nvPicPr>
          <p:cNvPr id="6" name="Picture 5">
            <a:extLst>
              <a:ext uri="{FF2B5EF4-FFF2-40B4-BE49-F238E27FC236}">
                <a16:creationId xmlns:a16="http://schemas.microsoft.com/office/drawing/2014/main" id="{8D1ACC5F-52FE-4C32-9E61-49F09FCEB59D}"/>
              </a:ext>
            </a:extLst>
          </p:cNvPr>
          <p:cNvPicPr>
            <a:picLocks noChangeAspect="1"/>
          </p:cNvPicPr>
          <p:nvPr/>
        </p:nvPicPr>
        <p:blipFill>
          <a:blip r:embed="rId3"/>
          <a:stretch>
            <a:fillRect/>
          </a:stretch>
        </p:blipFill>
        <p:spPr>
          <a:xfrm>
            <a:off x="4521420" y="1853181"/>
            <a:ext cx="3151638" cy="3151638"/>
          </a:xfrm>
          <a:prstGeom prst="rect">
            <a:avLst/>
          </a:prstGeom>
        </p:spPr>
      </p:pic>
    </p:spTree>
    <p:extLst>
      <p:ext uri="{BB962C8B-B14F-4D97-AF65-F5344CB8AC3E}">
        <p14:creationId xmlns:p14="http://schemas.microsoft.com/office/powerpoint/2010/main" val="1243365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99A87AAD-6E1D-403D-95A3-44EA65D7AC88}"/>
              </a:ext>
            </a:extLst>
          </p:cNvPr>
          <p:cNvPicPr>
            <a:picLocks noChangeAspect="1"/>
          </p:cNvPicPr>
          <p:nvPr/>
        </p:nvPicPr>
        <p:blipFill>
          <a:blip r:embed="rId3"/>
          <a:stretch>
            <a:fillRect/>
          </a:stretch>
        </p:blipFill>
        <p:spPr>
          <a:xfrm>
            <a:off x="4403725" y="3161502"/>
            <a:ext cx="858837" cy="858837"/>
          </a:xfrm>
          <a:prstGeom prst="rect">
            <a:avLst/>
          </a:prstGeom>
        </p:spPr>
      </p:pic>
      <p:sp>
        <p:nvSpPr>
          <p:cNvPr id="18" name="Arrow: Down 17">
            <a:extLst>
              <a:ext uri="{FF2B5EF4-FFF2-40B4-BE49-F238E27FC236}">
                <a16:creationId xmlns:a16="http://schemas.microsoft.com/office/drawing/2014/main" id="{CC11B2ED-3DAC-4BF2-AE25-6BDB2CB265BF}"/>
              </a:ext>
            </a:extLst>
          </p:cNvPr>
          <p:cNvSpPr/>
          <p:nvPr/>
        </p:nvSpPr>
        <p:spPr bwMode="gray">
          <a:xfrm>
            <a:off x="742951" y="2343150"/>
            <a:ext cx="1543050" cy="2495549"/>
          </a:xfrm>
          <a:prstGeom prst="downArrow">
            <a:avLst/>
          </a:prstGeom>
          <a:solidFill>
            <a:schemeClr val="accent3">
              <a:lumMod val="50000"/>
            </a:schemeClr>
          </a:solidFill>
          <a:ln w="6350" algn="ctr">
            <a:noFill/>
            <a:miter lim="800000"/>
            <a:headEnd/>
            <a:tailEnd/>
          </a:ln>
        </p:spPr>
        <p:txBody>
          <a:bodyPr vert="vert270"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1" u="none" strike="noStrike" kern="0" cap="none" spc="0" normalizeH="0" baseline="0" noProof="0" dirty="0">
                <a:ln>
                  <a:noFill/>
                </a:ln>
                <a:solidFill>
                  <a:schemeClr val="bg1"/>
                </a:solidFill>
                <a:effectLst/>
                <a:uLnTx/>
                <a:uFillTx/>
                <a:ea typeface="Arial Unicode MS" pitchFamily="34" charset="-128"/>
                <a:cs typeface="Arial Unicode MS" pitchFamily="34" charset="-128"/>
              </a:rPr>
              <a:t>system calls</a:t>
            </a:r>
          </a:p>
        </p:txBody>
      </p:sp>
      <p:sp>
        <p:nvSpPr>
          <p:cNvPr id="4" name="Title 3">
            <a:extLst>
              <a:ext uri="{FF2B5EF4-FFF2-40B4-BE49-F238E27FC236}">
                <a16:creationId xmlns:a16="http://schemas.microsoft.com/office/drawing/2014/main" id="{645B76E8-EDF1-4BBF-A073-4675DBA6C45F}"/>
              </a:ext>
            </a:extLst>
          </p:cNvPr>
          <p:cNvSpPr>
            <a:spLocks noGrp="1"/>
          </p:cNvSpPr>
          <p:nvPr>
            <p:ph type="title"/>
          </p:nvPr>
        </p:nvSpPr>
        <p:spPr/>
        <p:txBody>
          <a:bodyPr/>
          <a:lstStyle/>
          <a:p>
            <a:r>
              <a:rPr lang="en-US" dirty="0"/>
              <a:t>Container security with </a:t>
            </a:r>
            <a:r>
              <a:rPr lang="en-US" i="1" dirty="0"/>
              <a:t>seccomp</a:t>
            </a:r>
          </a:p>
        </p:txBody>
      </p:sp>
      <p:sp>
        <p:nvSpPr>
          <p:cNvPr id="2" name="Rectangle 1">
            <a:extLst>
              <a:ext uri="{FF2B5EF4-FFF2-40B4-BE49-F238E27FC236}">
                <a16:creationId xmlns:a16="http://schemas.microsoft.com/office/drawing/2014/main" id="{59BE13B4-5794-4F31-A825-3747FA8625A8}"/>
              </a:ext>
            </a:extLst>
          </p:cNvPr>
          <p:cNvSpPr/>
          <p:nvPr/>
        </p:nvSpPr>
        <p:spPr bwMode="gray">
          <a:xfrm>
            <a:off x="619126" y="4838700"/>
            <a:ext cx="4572000" cy="647700"/>
          </a:xfrm>
          <a:prstGeom prst="rect">
            <a:avLst/>
          </a:prstGeom>
          <a:solidFill>
            <a:schemeClr val="tx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800" b="0" i="0" u="none" strike="noStrike" kern="0" cap="none" spc="0" normalizeH="0" baseline="0" noProof="0" dirty="0">
                <a:ln>
                  <a:noFill/>
                </a:ln>
                <a:solidFill>
                  <a:schemeClr val="bg1"/>
                </a:solidFill>
                <a:effectLst/>
                <a:uLnTx/>
                <a:uFillTx/>
                <a:latin typeface="Arial Black" panose="020B0A04020102020204" pitchFamily="34" charset="0"/>
                <a:ea typeface="Arial Unicode MS" pitchFamily="34" charset="-128"/>
                <a:cs typeface="Arial Unicode MS" pitchFamily="34" charset="-128"/>
              </a:rPr>
              <a:t>Kernel</a:t>
            </a:r>
            <a:endParaRPr kumimoji="0" lang="en-US" sz="1800" b="0" i="0" u="none" strike="noStrike" kern="0" cap="none" spc="0" normalizeH="0" baseline="0" noProof="0" dirty="0">
              <a:ln>
                <a:noFill/>
              </a:ln>
              <a:solidFill>
                <a:schemeClr val="bg1"/>
              </a:solidFill>
              <a:effectLst/>
              <a:uLnTx/>
              <a:uFillTx/>
              <a:latin typeface="Arial Black" panose="020B0A04020102020204" pitchFamily="34" charset="0"/>
              <a:ea typeface="Arial Unicode MS" pitchFamily="34" charset="-128"/>
              <a:cs typeface="Arial Unicode MS" pitchFamily="34" charset="-128"/>
            </a:endParaRPr>
          </a:p>
        </p:txBody>
      </p:sp>
      <p:pic>
        <p:nvPicPr>
          <p:cNvPr id="16" name="Picture 15">
            <a:extLst>
              <a:ext uri="{FF2B5EF4-FFF2-40B4-BE49-F238E27FC236}">
                <a16:creationId xmlns:a16="http://schemas.microsoft.com/office/drawing/2014/main" id="{12598DB7-6A06-4FF0-BC4E-218B3657467A}"/>
              </a:ext>
            </a:extLst>
          </p:cNvPr>
          <p:cNvPicPr>
            <a:picLocks noChangeAspect="1"/>
          </p:cNvPicPr>
          <p:nvPr/>
        </p:nvPicPr>
        <p:blipFill>
          <a:blip r:embed="rId4"/>
          <a:stretch>
            <a:fillRect/>
          </a:stretch>
        </p:blipFill>
        <p:spPr>
          <a:xfrm>
            <a:off x="1392237" y="4868068"/>
            <a:ext cx="588963" cy="588963"/>
          </a:xfrm>
          <a:prstGeom prst="rect">
            <a:avLst/>
          </a:prstGeom>
        </p:spPr>
      </p:pic>
      <p:sp>
        <p:nvSpPr>
          <p:cNvPr id="19" name="Text Placeholder 58">
            <a:extLst>
              <a:ext uri="{FF2B5EF4-FFF2-40B4-BE49-F238E27FC236}">
                <a16:creationId xmlns:a16="http://schemas.microsoft.com/office/drawing/2014/main" id="{AF72BC10-7A25-40C3-928F-41ACE59C030E}"/>
              </a:ext>
            </a:extLst>
          </p:cNvPr>
          <p:cNvSpPr txBox="1">
            <a:spLocks/>
          </p:cNvSpPr>
          <p:nvPr/>
        </p:nvSpPr>
        <p:spPr bwMode="gray">
          <a:xfrm>
            <a:off x="6862713" y="1491684"/>
            <a:ext cx="4827764" cy="4532044"/>
          </a:xfrm>
          <a:prstGeom prst="rect">
            <a:avLst/>
          </a:prstGeom>
        </p:spPr>
        <p:txBody>
          <a:bodyPr vert="horz" lIns="0" tIns="0" rIns="0" bIns="0" rtlCol="0" anchor="ctr">
            <a:noAutofit/>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lvl="1"/>
            <a:r>
              <a:rPr lang="en-US" sz="1600" dirty="0"/>
              <a:t>Every program uses system calls to interact with the operating system</a:t>
            </a:r>
          </a:p>
          <a:p>
            <a:pPr lvl="1"/>
            <a:endParaRPr lang="en-US" sz="1600" dirty="0"/>
          </a:p>
          <a:p>
            <a:pPr lvl="1"/>
            <a:r>
              <a:rPr lang="en-US" sz="1600" dirty="0"/>
              <a:t>seccomp can block individual system calls</a:t>
            </a:r>
          </a:p>
          <a:p>
            <a:pPr lvl="2"/>
            <a:r>
              <a:rPr lang="en-US" sz="1600" dirty="0"/>
              <a:t>allow-listing</a:t>
            </a:r>
          </a:p>
          <a:p>
            <a:pPr lvl="2"/>
            <a:r>
              <a:rPr lang="en-US" sz="1600"/>
              <a:t>deny-listing</a:t>
            </a:r>
            <a:endParaRPr lang="en-US" sz="1600" dirty="0"/>
          </a:p>
          <a:p>
            <a:pPr lvl="2"/>
            <a:r>
              <a:rPr lang="en-US" sz="1600" dirty="0"/>
              <a:t>system call trapping</a:t>
            </a:r>
          </a:p>
          <a:p>
            <a:pPr marL="0" lvl="1" indent="0">
              <a:buNone/>
            </a:pPr>
            <a:endParaRPr lang="en-US" sz="1600" dirty="0"/>
          </a:p>
        </p:txBody>
      </p:sp>
      <p:sp>
        <p:nvSpPr>
          <p:cNvPr id="20" name="Arrow: Down 19">
            <a:extLst>
              <a:ext uri="{FF2B5EF4-FFF2-40B4-BE49-F238E27FC236}">
                <a16:creationId xmlns:a16="http://schemas.microsoft.com/office/drawing/2014/main" id="{EFC98BFD-16D9-417F-905E-F4BA2AF414FF}"/>
              </a:ext>
            </a:extLst>
          </p:cNvPr>
          <p:cNvSpPr/>
          <p:nvPr/>
        </p:nvSpPr>
        <p:spPr bwMode="gray">
          <a:xfrm>
            <a:off x="2414539" y="2343149"/>
            <a:ext cx="681086" cy="2495549"/>
          </a:xfrm>
          <a:prstGeom prst="downArrow">
            <a:avLst>
              <a:gd name="adj1" fmla="val 50000"/>
              <a:gd name="adj2" fmla="val 56046"/>
            </a:avLst>
          </a:prstGeom>
          <a:solidFill>
            <a:schemeClr val="accent4">
              <a:lumMod val="50000"/>
            </a:schemeClr>
          </a:solidFill>
          <a:ln w="6350" algn="ctr">
            <a:noFill/>
            <a:miter lim="800000"/>
            <a:headEnd/>
            <a:tailEnd/>
          </a:ln>
        </p:spPr>
        <p:txBody>
          <a:bodyPr vert="vert270"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600" u="none" strike="noStrike" kern="0" cap="none" spc="0" normalizeH="0" baseline="0" noProof="0" dirty="0">
                <a:ln>
                  <a:noFill/>
                </a:ln>
                <a:solidFill>
                  <a:schemeClr val="bg1"/>
                </a:solidFill>
                <a:effectLst/>
                <a:uLnTx/>
                <a:uFillTx/>
                <a:latin typeface="Courier New" panose="02070309020205020404" pitchFamily="49" charset="0"/>
                <a:ea typeface="Arial Unicode MS" pitchFamily="34" charset="-128"/>
                <a:cs typeface="Courier New" panose="02070309020205020404" pitchFamily="49" charset="0"/>
              </a:rPr>
              <a:t>write</a:t>
            </a:r>
          </a:p>
        </p:txBody>
      </p:sp>
      <p:sp>
        <p:nvSpPr>
          <p:cNvPr id="21" name="Arrow: Down 20">
            <a:extLst>
              <a:ext uri="{FF2B5EF4-FFF2-40B4-BE49-F238E27FC236}">
                <a16:creationId xmlns:a16="http://schemas.microsoft.com/office/drawing/2014/main" id="{C762D2E9-8CCC-49DC-A718-3C0FC3CA4A3B}"/>
              </a:ext>
            </a:extLst>
          </p:cNvPr>
          <p:cNvSpPr/>
          <p:nvPr/>
        </p:nvSpPr>
        <p:spPr bwMode="gray">
          <a:xfrm>
            <a:off x="3128889" y="2343147"/>
            <a:ext cx="681086" cy="2495549"/>
          </a:xfrm>
          <a:prstGeom prst="downArrow">
            <a:avLst>
              <a:gd name="adj1" fmla="val 50000"/>
              <a:gd name="adj2" fmla="val 56046"/>
            </a:avLst>
          </a:prstGeom>
          <a:solidFill>
            <a:schemeClr val="accent4">
              <a:lumMod val="50000"/>
            </a:schemeClr>
          </a:solidFill>
          <a:ln w="6350" algn="ctr">
            <a:noFill/>
            <a:miter lim="800000"/>
            <a:headEnd/>
            <a:tailEnd/>
          </a:ln>
        </p:spPr>
        <p:txBody>
          <a:bodyPr vert="vert270"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600" u="none" strike="noStrike" kern="0" cap="none" spc="0" normalizeH="0" baseline="0" noProof="0" dirty="0">
                <a:ln>
                  <a:noFill/>
                </a:ln>
                <a:solidFill>
                  <a:schemeClr val="bg1"/>
                </a:solidFill>
                <a:effectLst/>
                <a:uLnTx/>
                <a:uFillTx/>
                <a:latin typeface="Courier New" panose="02070309020205020404" pitchFamily="49" charset="0"/>
                <a:ea typeface="Arial Unicode MS" pitchFamily="34" charset="-128"/>
                <a:cs typeface="Courier New" panose="02070309020205020404" pitchFamily="49" charset="0"/>
              </a:rPr>
              <a:t>stat</a:t>
            </a:r>
          </a:p>
        </p:txBody>
      </p:sp>
      <p:sp>
        <p:nvSpPr>
          <p:cNvPr id="22" name="Arrow: Down 21">
            <a:extLst>
              <a:ext uri="{FF2B5EF4-FFF2-40B4-BE49-F238E27FC236}">
                <a16:creationId xmlns:a16="http://schemas.microsoft.com/office/drawing/2014/main" id="{DC7DA7C8-2FBD-4FAF-A215-8EFA6FB4552B}"/>
              </a:ext>
            </a:extLst>
          </p:cNvPr>
          <p:cNvSpPr/>
          <p:nvPr/>
        </p:nvSpPr>
        <p:spPr bwMode="gray">
          <a:xfrm>
            <a:off x="3957540" y="2343147"/>
            <a:ext cx="681086" cy="2495549"/>
          </a:xfrm>
          <a:prstGeom prst="downArrow">
            <a:avLst>
              <a:gd name="adj1" fmla="val 50000"/>
              <a:gd name="adj2" fmla="val 56046"/>
            </a:avLst>
          </a:prstGeom>
          <a:solidFill>
            <a:srgbClr val="FF0000"/>
          </a:solidFill>
          <a:ln w="6350" algn="ctr">
            <a:noFill/>
            <a:miter lim="800000"/>
            <a:headEnd/>
            <a:tailEnd/>
          </a:ln>
        </p:spPr>
        <p:txBody>
          <a:bodyPr vert="vert270"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600" u="none" strike="noStrike" kern="0" cap="none" spc="0" normalizeH="0" baseline="0" noProof="0" dirty="0">
                <a:ln>
                  <a:noFill/>
                </a:ln>
                <a:solidFill>
                  <a:schemeClr val="bg1"/>
                </a:solidFill>
                <a:effectLst/>
                <a:uLnTx/>
                <a:uFillTx/>
                <a:latin typeface="Courier New" panose="02070309020205020404" pitchFamily="49" charset="0"/>
                <a:ea typeface="Arial Unicode MS" pitchFamily="34" charset="-128"/>
                <a:cs typeface="Courier New" panose="02070309020205020404" pitchFamily="49" charset="0"/>
              </a:rPr>
              <a:t>reboot</a:t>
            </a:r>
          </a:p>
        </p:txBody>
      </p:sp>
      <p:sp>
        <p:nvSpPr>
          <p:cNvPr id="17" name="Rectangle: Rounded Corners 16">
            <a:extLst>
              <a:ext uri="{FF2B5EF4-FFF2-40B4-BE49-F238E27FC236}">
                <a16:creationId xmlns:a16="http://schemas.microsoft.com/office/drawing/2014/main" id="{3ABE47BC-35ED-4E9A-8B4E-A9B750CA52F5}"/>
              </a:ext>
            </a:extLst>
          </p:cNvPr>
          <p:cNvSpPr/>
          <p:nvPr/>
        </p:nvSpPr>
        <p:spPr bwMode="gray">
          <a:xfrm>
            <a:off x="619126" y="1724025"/>
            <a:ext cx="4572000" cy="619125"/>
          </a:xfrm>
          <a:prstGeom prst="roundRect">
            <a:avLst>
              <a:gd name="adj" fmla="val 50000"/>
            </a:avLst>
          </a:prstGeom>
          <a:solidFill>
            <a:schemeClr val="accent1"/>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1" i="0" u="none" strike="noStrike" kern="0" cap="none" spc="0" normalizeH="0" baseline="0" noProof="0" dirty="0">
                <a:ln>
                  <a:noFill/>
                </a:ln>
                <a:effectLst/>
                <a:uLnTx/>
                <a:uFillTx/>
                <a:ea typeface="Arial Unicode MS" pitchFamily="34" charset="-128"/>
                <a:cs typeface="Arial Unicode MS" pitchFamily="34" charset="-128"/>
              </a:rPr>
              <a:t>Application</a:t>
            </a:r>
          </a:p>
        </p:txBody>
      </p:sp>
    </p:spTree>
    <p:extLst>
      <p:ext uri="{BB962C8B-B14F-4D97-AF65-F5344CB8AC3E}">
        <p14:creationId xmlns:p14="http://schemas.microsoft.com/office/powerpoint/2010/main" val="29691430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BEB1A8-C9D3-4723-A64F-42E02E22325A}"/>
              </a:ext>
            </a:extLst>
          </p:cNvPr>
          <p:cNvSpPr>
            <a:spLocks noGrp="1"/>
          </p:cNvSpPr>
          <p:nvPr>
            <p:ph type="title"/>
          </p:nvPr>
        </p:nvSpPr>
        <p:spPr/>
        <p:txBody>
          <a:bodyPr/>
          <a:lstStyle/>
          <a:p>
            <a:r>
              <a:rPr lang="en-US" dirty="0"/>
              <a:t>Demo</a:t>
            </a:r>
          </a:p>
        </p:txBody>
      </p:sp>
      <p:pic>
        <p:nvPicPr>
          <p:cNvPr id="6" name="Picture 5">
            <a:extLst>
              <a:ext uri="{FF2B5EF4-FFF2-40B4-BE49-F238E27FC236}">
                <a16:creationId xmlns:a16="http://schemas.microsoft.com/office/drawing/2014/main" id="{8D1ACC5F-52FE-4C32-9E61-49F09FCEB59D}"/>
              </a:ext>
            </a:extLst>
          </p:cNvPr>
          <p:cNvPicPr>
            <a:picLocks noChangeAspect="1"/>
          </p:cNvPicPr>
          <p:nvPr/>
        </p:nvPicPr>
        <p:blipFill>
          <a:blip r:embed="rId3"/>
          <a:stretch>
            <a:fillRect/>
          </a:stretch>
        </p:blipFill>
        <p:spPr>
          <a:xfrm>
            <a:off x="4521420" y="1853181"/>
            <a:ext cx="3151638" cy="3151638"/>
          </a:xfrm>
          <a:prstGeom prst="rect">
            <a:avLst/>
          </a:prstGeom>
        </p:spPr>
      </p:pic>
    </p:spTree>
    <p:extLst>
      <p:ext uri="{BB962C8B-B14F-4D97-AF65-F5344CB8AC3E}">
        <p14:creationId xmlns:p14="http://schemas.microsoft.com/office/powerpoint/2010/main" val="36676402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45B76E8-EDF1-4BBF-A073-4675DBA6C45F}"/>
              </a:ext>
            </a:extLst>
          </p:cNvPr>
          <p:cNvSpPr>
            <a:spLocks noGrp="1"/>
          </p:cNvSpPr>
          <p:nvPr>
            <p:ph type="title"/>
          </p:nvPr>
        </p:nvSpPr>
        <p:spPr/>
        <p:txBody>
          <a:bodyPr/>
          <a:lstStyle/>
          <a:p>
            <a:r>
              <a:rPr lang="en-US" dirty="0"/>
              <a:t>Let’s use these features to start our first container…</a:t>
            </a:r>
          </a:p>
        </p:txBody>
      </p:sp>
      <p:sp>
        <p:nvSpPr>
          <p:cNvPr id="5" name="Rectangle: Rounded Corners 4">
            <a:extLst>
              <a:ext uri="{FF2B5EF4-FFF2-40B4-BE49-F238E27FC236}">
                <a16:creationId xmlns:a16="http://schemas.microsoft.com/office/drawing/2014/main" id="{1A09AC9B-F654-4AFC-A240-22685298511B}"/>
              </a:ext>
            </a:extLst>
          </p:cNvPr>
          <p:cNvSpPr/>
          <p:nvPr/>
        </p:nvSpPr>
        <p:spPr bwMode="gray">
          <a:xfrm>
            <a:off x="596245" y="2015340"/>
            <a:ext cx="11001988" cy="380726"/>
          </a:xfrm>
          <a:prstGeom prst="roundRect">
            <a:avLst>
              <a:gd name="adj" fmla="val 8296"/>
            </a:avLst>
          </a:prstGeom>
          <a:pattFill prst="narHorz">
            <a:fgClr>
              <a:schemeClr val="tx1"/>
            </a:fgClr>
            <a:bgClr>
              <a:srgbClr val="112806"/>
            </a:bgClr>
          </a:pattFill>
          <a:ln w="6350" algn="ctr">
            <a:noFill/>
            <a:miter lim="800000"/>
            <a:headEnd/>
            <a:tailEnd/>
          </a:ln>
        </p:spPr>
        <p:txBody>
          <a:bodyPr lIns="90000" tIns="72000" rIns="90000" bIns="72000" rtlCol="0" anchor="ctr"/>
          <a:lstStyle/>
          <a:p>
            <a:pPr marL="179387" lvl="2" indent="0">
              <a:buNone/>
            </a:pPr>
            <a:r>
              <a:rPr lang="en-US" sz="1200" b="1" dirty="0">
                <a:solidFill>
                  <a:schemeClr val="bg1"/>
                </a:solidFill>
                <a:latin typeface="Courier New" panose="02070309020205020404" pitchFamily="49" charset="0"/>
                <a:cs typeface="Courier New" panose="02070309020205020404" pitchFamily="49" charset="0"/>
              </a:rPr>
              <a:t># </a:t>
            </a:r>
            <a:r>
              <a:rPr lang="en-US" sz="1200" b="1" dirty="0" err="1">
                <a:solidFill>
                  <a:schemeClr val="accent1">
                    <a:lumMod val="20000"/>
                    <a:lumOff val="80000"/>
                  </a:schemeClr>
                </a:solidFill>
                <a:latin typeface="Courier New" panose="02070309020205020404" pitchFamily="49" charset="0"/>
                <a:cs typeface="Courier New" panose="02070309020205020404" pitchFamily="49" charset="0"/>
              </a:rPr>
              <a:t>cgexec</a:t>
            </a:r>
            <a:r>
              <a:rPr lang="en-US" sz="1200" b="1" dirty="0">
                <a:solidFill>
                  <a:schemeClr val="accent1">
                    <a:lumMod val="20000"/>
                    <a:lumOff val="80000"/>
                  </a:schemeClr>
                </a:solidFill>
                <a:latin typeface="Courier New" panose="02070309020205020404" pitchFamily="49" charset="0"/>
                <a:cs typeface="Courier New" panose="02070309020205020404" pitchFamily="49" charset="0"/>
              </a:rPr>
              <a:t> -g </a:t>
            </a:r>
            <a:r>
              <a:rPr lang="en-US" sz="1200" b="1" dirty="0" err="1">
                <a:solidFill>
                  <a:schemeClr val="accent1">
                    <a:lumMod val="20000"/>
                    <a:lumOff val="80000"/>
                  </a:schemeClr>
                </a:solidFill>
                <a:latin typeface="Courier New" panose="02070309020205020404" pitchFamily="49" charset="0"/>
                <a:cs typeface="Courier New" panose="02070309020205020404" pitchFamily="49" charset="0"/>
              </a:rPr>
              <a:t>cpu,memory,pids</a:t>
            </a:r>
            <a:r>
              <a:rPr lang="en-US" sz="1200" b="1" dirty="0">
                <a:solidFill>
                  <a:schemeClr val="accent1">
                    <a:lumMod val="20000"/>
                    <a:lumOff val="80000"/>
                  </a:schemeClr>
                </a:solidFill>
                <a:latin typeface="Courier New" panose="02070309020205020404" pitchFamily="49" charset="0"/>
                <a:cs typeface="Courier New" panose="02070309020205020404" pitchFamily="49" charset="0"/>
              </a:rPr>
              <a:t>:/container </a:t>
            </a:r>
            <a:r>
              <a:rPr lang="en-US" sz="1200" b="1" dirty="0" err="1">
                <a:solidFill>
                  <a:schemeClr val="accent3">
                    <a:lumMod val="20000"/>
                    <a:lumOff val="80000"/>
                  </a:schemeClr>
                </a:solidFill>
                <a:latin typeface="Courier New" panose="02070309020205020404" pitchFamily="49" charset="0"/>
                <a:cs typeface="Courier New" panose="02070309020205020404" pitchFamily="49" charset="0"/>
              </a:rPr>
              <a:t>unshare</a:t>
            </a:r>
            <a:r>
              <a:rPr lang="en-US" sz="1200" b="1" dirty="0">
                <a:solidFill>
                  <a:schemeClr val="accent3">
                    <a:lumMod val="20000"/>
                    <a:lumOff val="80000"/>
                  </a:schemeClr>
                </a:solidFill>
                <a:latin typeface="Courier New" panose="02070309020205020404" pitchFamily="49" charset="0"/>
                <a:cs typeface="Courier New" panose="02070309020205020404" pitchFamily="49" charset="0"/>
              </a:rPr>
              <a:t> --</a:t>
            </a:r>
            <a:r>
              <a:rPr lang="en-US" sz="1200" b="1" dirty="0" err="1">
                <a:solidFill>
                  <a:schemeClr val="accent3">
                    <a:lumMod val="20000"/>
                    <a:lumOff val="80000"/>
                  </a:schemeClr>
                </a:solidFill>
                <a:latin typeface="Courier New" panose="02070309020205020404" pitchFamily="49" charset="0"/>
                <a:cs typeface="Courier New" panose="02070309020205020404" pitchFamily="49" charset="0"/>
              </a:rPr>
              <a:t>pid</a:t>
            </a:r>
            <a:r>
              <a:rPr lang="en-US" sz="1200" b="1" dirty="0">
                <a:solidFill>
                  <a:schemeClr val="accent3">
                    <a:lumMod val="20000"/>
                    <a:lumOff val="80000"/>
                  </a:schemeClr>
                </a:solidFill>
                <a:latin typeface="Courier New" panose="02070309020205020404" pitchFamily="49" charset="0"/>
                <a:cs typeface="Courier New" panose="02070309020205020404" pitchFamily="49" charset="0"/>
              </a:rPr>
              <a:t> --</a:t>
            </a:r>
            <a:r>
              <a:rPr lang="en-US" sz="1200" b="1" dirty="0" err="1">
                <a:solidFill>
                  <a:schemeClr val="accent3">
                    <a:lumMod val="20000"/>
                    <a:lumOff val="80000"/>
                  </a:schemeClr>
                </a:solidFill>
                <a:latin typeface="Courier New" panose="02070309020205020404" pitchFamily="49" charset="0"/>
                <a:cs typeface="Courier New" panose="02070309020205020404" pitchFamily="49" charset="0"/>
              </a:rPr>
              <a:t>uts</a:t>
            </a:r>
            <a:r>
              <a:rPr lang="en-US" sz="1200" b="1" dirty="0">
                <a:solidFill>
                  <a:schemeClr val="accent3">
                    <a:lumMod val="20000"/>
                    <a:lumOff val="80000"/>
                  </a:schemeClr>
                </a:solidFill>
                <a:latin typeface="Courier New" panose="02070309020205020404" pitchFamily="49" charset="0"/>
                <a:cs typeface="Courier New" panose="02070309020205020404" pitchFamily="49" charset="0"/>
              </a:rPr>
              <a:t> --mount --fork </a:t>
            </a:r>
            <a:r>
              <a:rPr lang="en-US" sz="1200" b="1" dirty="0">
                <a:solidFill>
                  <a:schemeClr val="accent5">
                    <a:lumMod val="20000"/>
                    <a:lumOff val="80000"/>
                  </a:schemeClr>
                </a:solidFill>
                <a:latin typeface="Courier New" panose="02070309020205020404" pitchFamily="49" charset="0"/>
                <a:cs typeface="Courier New" panose="02070309020205020404" pitchFamily="49" charset="0"/>
              </a:rPr>
              <a:t>chroot container</a:t>
            </a:r>
          </a:p>
        </p:txBody>
      </p:sp>
      <p:sp>
        <p:nvSpPr>
          <p:cNvPr id="6" name="Speech Bubble: Rectangle 5">
            <a:extLst>
              <a:ext uri="{FF2B5EF4-FFF2-40B4-BE49-F238E27FC236}">
                <a16:creationId xmlns:a16="http://schemas.microsoft.com/office/drawing/2014/main" id="{C746B67D-41C0-46C3-A8B9-8DC95EF8CDD1}"/>
              </a:ext>
            </a:extLst>
          </p:cNvPr>
          <p:cNvSpPr/>
          <p:nvPr/>
        </p:nvSpPr>
        <p:spPr bwMode="gray">
          <a:xfrm>
            <a:off x="795867" y="3022600"/>
            <a:ext cx="2345267" cy="829733"/>
          </a:xfrm>
          <a:prstGeom prst="wedgeRectCallout">
            <a:avLst>
              <a:gd name="adj1" fmla="val -4098"/>
              <a:gd name="adj2" fmla="val -118895"/>
            </a:avLst>
          </a:prstGeom>
          <a:solidFill>
            <a:schemeClr val="accent1"/>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b="1" kern="0" dirty="0">
                <a:ea typeface="Arial Unicode MS" pitchFamily="34" charset="-128"/>
                <a:cs typeface="Arial Unicode MS" pitchFamily="34" charset="-128"/>
              </a:rPr>
              <a:t>cgroups</a:t>
            </a:r>
            <a:br>
              <a:rPr lang="en-US" sz="1800" kern="0" dirty="0">
                <a:ea typeface="Arial Unicode MS" pitchFamily="34" charset="-128"/>
                <a:cs typeface="Arial Unicode MS" pitchFamily="34" charset="-128"/>
              </a:rPr>
            </a:br>
            <a:r>
              <a:rPr kumimoji="0" lang="en-US" sz="1600" b="0" i="1" u="none" strike="noStrike" kern="0" cap="none" spc="0" normalizeH="0" baseline="0" noProof="0" dirty="0">
                <a:ln>
                  <a:noFill/>
                </a:ln>
                <a:effectLst/>
                <a:uLnTx/>
                <a:uFillTx/>
                <a:ea typeface="Arial Unicode MS" pitchFamily="34" charset="-128"/>
                <a:cs typeface="Arial Unicode MS" pitchFamily="34" charset="-128"/>
              </a:rPr>
              <a:t>resource limitation</a:t>
            </a:r>
            <a:endParaRPr kumimoji="0" lang="en-US" sz="1800" b="0" i="1" u="none" strike="noStrike" kern="0" cap="none" spc="0" normalizeH="0" baseline="0" noProof="0" dirty="0">
              <a:ln>
                <a:noFill/>
              </a:ln>
              <a:effectLst/>
              <a:uLnTx/>
              <a:uFillTx/>
              <a:ea typeface="Arial Unicode MS" pitchFamily="34" charset="-128"/>
              <a:cs typeface="Arial Unicode MS" pitchFamily="34" charset="-128"/>
            </a:endParaRPr>
          </a:p>
        </p:txBody>
      </p:sp>
      <p:sp>
        <p:nvSpPr>
          <p:cNvPr id="8" name="Speech Bubble: Rectangle 7">
            <a:extLst>
              <a:ext uri="{FF2B5EF4-FFF2-40B4-BE49-F238E27FC236}">
                <a16:creationId xmlns:a16="http://schemas.microsoft.com/office/drawing/2014/main" id="{E20196A0-740B-486C-AE67-960A26C65EE5}"/>
              </a:ext>
            </a:extLst>
          </p:cNvPr>
          <p:cNvSpPr/>
          <p:nvPr/>
        </p:nvSpPr>
        <p:spPr bwMode="gray">
          <a:xfrm>
            <a:off x="4267200" y="3952940"/>
            <a:ext cx="2345267" cy="829733"/>
          </a:xfrm>
          <a:prstGeom prst="wedgeRectCallout">
            <a:avLst>
              <a:gd name="adj1" fmla="val 3123"/>
              <a:gd name="adj2" fmla="val -230119"/>
            </a:avLst>
          </a:prstGeom>
          <a:solidFill>
            <a:schemeClr val="accent3">
              <a:lumMod val="50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b="1" kern="0" dirty="0">
                <a:solidFill>
                  <a:schemeClr val="bg1"/>
                </a:solidFill>
                <a:ea typeface="Arial Unicode MS" pitchFamily="34" charset="-128"/>
                <a:cs typeface="Arial Unicode MS" pitchFamily="34" charset="-128"/>
              </a:rPr>
              <a:t>namespaces</a:t>
            </a:r>
            <a:br>
              <a:rPr lang="en-US" sz="1800" kern="0" dirty="0">
                <a:solidFill>
                  <a:schemeClr val="bg1"/>
                </a:solidFill>
                <a:ea typeface="Arial Unicode MS" pitchFamily="34" charset="-128"/>
                <a:cs typeface="Arial Unicode MS" pitchFamily="34" charset="-128"/>
              </a:rPr>
            </a:br>
            <a:r>
              <a:rPr kumimoji="0" lang="en-US" sz="1600" i="1" u="none" strike="noStrike" kern="0" cap="none" spc="0" normalizeH="0" baseline="0" noProof="0" dirty="0">
                <a:ln>
                  <a:noFill/>
                </a:ln>
                <a:solidFill>
                  <a:schemeClr val="bg1"/>
                </a:solidFill>
                <a:effectLst/>
                <a:uLnTx/>
                <a:uFillTx/>
                <a:ea typeface="Arial Unicode MS" pitchFamily="34" charset="-128"/>
                <a:cs typeface="Arial Unicode MS" pitchFamily="34" charset="-128"/>
              </a:rPr>
              <a:t>process isolation</a:t>
            </a:r>
            <a:endParaRPr kumimoji="0" lang="en-US" sz="1800" i="1" u="none" strike="noStrike" kern="0" cap="none" spc="0" normalizeH="0" baseline="0" noProof="0" dirty="0">
              <a:ln>
                <a:noFill/>
              </a:ln>
              <a:solidFill>
                <a:schemeClr val="bg1"/>
              </a:solidFill>
              <a:effectLst/>
              <a:uLnTx/>
              <a:uFillTx/>
              <a:ea typeface="Arial Unicode MS" pitchFamily="34" charset="-128"/>
              <a:cs typeface="Arial Unicode MS" pitchFamily="34" charset="-128"/>
            </a:endParaRPr>
          </a:p>
        </p:txBody>
      </p:sp>
      <p:sp>
        <p:nvSpPr>
          <p:cNvPr id="10" name="Speech Bubble: Rectangle 9">
            <a:extLst>
              <a:ext uri="{FF2B5EF4-FFF2-40B4-BE49-F238E27FC236}">
                <a16:creationId xmlns:a16="http://schemas.microsoft.com/office/drawing/2014/main" id="{C424A9AD-2AA7-4E2A-8798-4805DFD1603A}"/>
              </a:ext>
            </a:extLst>
          </p:cNvPr>
          <p:cNvSpPr/>
          <p:nvPr/>
        </p:nvSpPr>
        <p:spPr bwMode="gray">
          <a:xfrm>
            <a:off x="7899400" y="3437466"/>
            <a:ext cx="2345267" cy="829733"/>
          </a:xfrm>
          <a:prstGeom prst="wedgeRectCallout">
            <a:avLst>
              <a:gd name="adj1" fmla="val -17454"/>
              <a:gd name="adj2" fmla="val -168895"/>
            </a:avLst>
          </a:prstGeom>
          <a:solidFill>
            <a:schemeClr val="accent5">
              <a:lumMod val="75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b="1" kern="0" dirty="0">
                <a:solidFill>
                  <a:schemeClr val="bg1"/>
                </a:solidFill>
                <a:ea typeface="Arial Unicode MS" pitchFamily="34" charset="-128"/>
                <a:cs typeface="Arial Unicode MS" pitchFamily="34" charset="-128"/>
              </a:rPr>
              <a:t>chroot</a:t>
            </a:r>
            <a:br>
              <a:rPr lang="en-US" sz="1800" kern="0" dirty="0">
                <a:solidFill>
                  <a:schemeClr val="bg1"/>
                </a:solidFill>
                <a:ea typeface="Arial Unicode MS" pitchFamily="34" charset="-128"/>
                <a:cs typeface="Arial Unicode MS" pitchFamily="34" charset="-128"/>
              </a:rPr>
            </a:br>
            <a:r>
              <a:rPr kumimoji="0" lang="en-US" sz="1600" i="1" u="none" strike="noStrike" kern="0" cap="none" spc="0" normalizeH="0" baseline="0" noProof="0" dirty="0">
                <a:ln>
                  <a:noFill/>
                </a:ln>
                <a:solidFill>
                  <a:schemeClr val="bg1"/>
                </a:solidFill>
                <a:effectLst/>
                <a:uLnTx/>
                <a:uFillTx/>
                <a:ea typeface="Arial Unicode MS" pitchFamily="34" charset="-128"/>
                <a:cs typeface="Arial Unicode MS" pitchFamily="34" charset="-128"/>
              </a:rPr>
              <a:t>filesystem isolation</a:t>
            </a:r>
            <a:endParaRPr kumimoji="0" lang="en-US" sz="1800" i="1" u="none" strike="noStrike" kern="0" cap="none" spc="0" normalizeH="0" baseline="0" noProof="0" dirty="0">
              <a:ln>
                <a:noFill/>
              </a:ln>
              <a:solidFill>
                <a:schemeClr val="bg1"/>
              </a:solidFill>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29344158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BEB1A8-C9D3-4723-A64F-42E02E22325A}"/>
              </a:ext>
            </a:extLst>
          </p:cNvPr>
          <p:cNvSpPr>
            <a:spLocks noGrp="1"/>
          </p:cNvSpPr>
          <p:nvPr>
            <p:ph type="title"/>
          </p:nvPr>
        </p:nvSpPr>
        <p:spPr/>
        <p:txBody>
          <a:bodyPr/>
          <a:lstStyle/>
          <a:p>
            <a:r>
              <a:rPr lang="en-US" dirty="0"/>
              <a:t>Exercise #0 – Linux Primitives</a:t>
            </a:r>
          </a:p>
        </p:txBody>
      </p:sp>
      <p:pic>
        <p:nvPicPr>
          <p:cNvPr id="8" name="Picture 7">
            <a:extLst>
              <a:ext uri="{FF2B5EF4-FFF2-40B4-BE49-F238E27FC236}">
                <a16:creationId xmlns:a16="http://schemas.microsoft.com/office/drawing/2014/main" id="{D6B8C527-073F-471B-A282-22B63876CA6B}"/>
              </a:ext>
            </a:extLst>
          </p:cNvPr>
          <p:cNvPicPr>
            <a:picLocks noChangeAspect="1"/>
          </p:cNvPicPr>
          <p:nvPr/>
        </p:nvPicPr>
        <p:blipFill>
          <a:blip r:embed="rId3"/>
          <a:stretch>
            <a:fillRect/>
          </a:stretch>
        </p:blipFill>
        <p:spPr>
          <a:xfrm>
            <a:off x="4571712" y="1903473"/>
            <a:ext cx="3051054" cy="3051054"/>
          </a:xfrm>
          <a:prstGeom prst="rect">
            <a:avLst/>
          </a:prstGeom>
        </p:spPr>
      </p:pic>
    </p:spTree>
    <p:extLst>
      <p:ext uri="{BB962C8B-B14F-4D97-AF65-F5344CB8AC3E}">
        <p14:creationId xmlns:p14="http://schemas.microsoft.com/office/powerpoint/2010/main" val="23764402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cSld>
  <p:clrMapOvr>
    <a:masterClrMapping/>
  </p:clrMapOvr>
  <p:transition spd="med"/>
</p:sld>
</file>

<file path=ppt/theme/theme1.xml><?xml version="1.0" encoding="utf-8"?>
<a:theme xmlns:a="http://schemas.openxmlformats.org/drawingml/2006/main" name="SAP_2017_16x9_white">
  <a:themeElements>
    <a:clrScheme name="SAP_colors_2017">
      <a:dk1>
        <a:srgbClr val="000000"/>
      </a:dk1>
      <a:lt1>
        <a:srgbClr val="FFFFFF"/>
      </a:lt1>
      <a:dk2>
        <a:srgbClr val="CCCCCC"/>
      </a:dk2>
      <a:lt2>
        <a:srgbClr val="999999"/>
      </a:lt2>
      <a:accent1>
        <a:srgbClr val="F0AB00"/>
      </a:accent1>
      <a:accent2>
        <a:srgbClr val="666666"/>
      </a:accent2>
      <a:accent3>
        <a:srgbClr val="008FD3"/>
      </a:accent3>
      <a:accent4>
        <a:srgbClr val="4FB81C"/>
      </a:accent4>
      <a:accent5>
        <a:srgbClr val="E35500"/>
      </a:accent5>
      <a:accent6>
        <a:srgbClr val="970A82"/>
      </a:accent6>
      <a:hlink>
        <a:srgbClr val="008FD3"/>
      </a:hlink>
      <a:folHlink>
        <a:srgbClr val="008FD3"/>
      </a:folHlink>
    </a:clrScheme>
    <a:fontScheme name="SAP Fonts">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6350" algn="ctr">
          <a:no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8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9525">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ct val="500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SAP_2017_16x9_white.potx" id="{09507692-57C8-4E82-A325-C2A287EE40F0}" vid="{EBED01C1-DD25-4F44-B246-2D1B402CEA63}"/>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83C563634F704D94CF761DBC03EA5F" ma:contentTypeVersion="4" ma:contentTypeDescription="Create a new document." ma:contentTypeScope="" ma:versionID="e67c02ceee4b342f82f59e2cf148f083">
  <xsd:schema xmlns:xsd="http://www.w3.org/2001/XMLSchema" xmlns:xs="http://www.w3.org/2001/XMLSchema" xmlns:p="http://schemas.microsoft.com/office/2006/metadata/properties" xmlns:ns2="a87f7151-1b36-4597-84cf-4d71535204ce" xmlns:ns3="9a5af304-f682-4bdf-b883-32d674d6b4c0" targetNamespace="http://schemas.microsoft.com/office/2006/metadata/properties" ma:root="true" ma:fieldsID="6780043507351d7647e04fb5ca2e6c73" ns2:_="" ns3:_="">
    <xsd:import namespace="a87f7151-1b36-4597-84cf-4d71535204ce"/>
    <xsd:import namespace="9a5af304-f682-4bdf-b883-32d674d6b4c0"/>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87f7151-1b36-4597-84cf-4d71535204c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a5af304-f682-4bdf-b883-32d674d6b4c0"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8D604B4-A050-47DE-9CC8-2612EC3271A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87f7151-1b36-4597-84cf-4d71535204ce"/>
    <ds:schemaRef ds:uri="9a5af304-f682-4bdf-b883-32d674d6b4c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70DE74E-E788-4B7B-8551-430ADD5F5AF1}">
  <ds:schemaRefs>
    <ds:schemaRef ds:uri="http://schemas.microsoft.com/sharepoint/v3/contenttype/forms"/>
  </ds:schemaRefs>
</ds:datastoreItem>
</file>

<file path=customXml/itemProps3.xml><?xml version="1.0" encoding="utf-8"?>
<ds:datastoreItem xmlns:ds="http://schemas.openxmlformats.org/officeDocument/2006/customXml" ds:itemID="{217406A4-AEB7-4645-B093-8758CB486CA4}">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2</TotalTime>
  <Words>1856</Words>
  <Application>Microsoft Office PowerPoint</Application>
  <PresentationFormat>Custom</PresentationFormat>
  <Paragraphs>226</Paragraphs>
  <Slides>19</Slides>
  <Notes>16</Notes>
  <HiddenSlides>2</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Arial Black</vt:lpstr>
      <vt:lpstr>Courier New</vt:lpstr>
      <vt:lpstr>Symbol</vt:lpstr>
      <vt:lpstr>wingdings</vt:lpstr>
      <vt:lpstr>wingdings</vt:lpstr>
      <vt:lpstr>SAP_2017_16x9_white</vt:lpstr>
      <vt:lpstr>PowerPoint Presentation</vt:lpstr>
      <vt:lpstr>PowerPoint Presentation</vt:lpstr>
      <vt:lpstr>What is a Container?</vt:lpstr>
      <vt:lpstr>PowerPoint Presentation</vt:lpstr>
      <vt:lpstr>PowerPoint Presentation</vt:lpstr>
      <vt:lpstr>Linux Primitives used by Containers</vt:lpstr>
      <vt:lpstr>Linux Primitives used by Containers</vt:lpstr>
      <vt:lpstr>Filesystem isolation with chroot</vt:lpstr>
      <vt:lpstr>Demo</vt:lpstr>
      <vt:lpstr>Process (and more) isolation with pid namespaces</vt:lpstr>
      <vt:lpstr>Namespaces</vt:lpstr>
      <vt:lpstr>Demo</vt:lpstr>
      <vt:lpstr>Resource limitations with cgroups</vt:lpstr>
      <vt:lpstr>Demo</vt:lpstr>
      <vt:lpstr>Container security with seccomp</vt:lpstr>
      <vt:lpstr>Demo</vt:lpstr>
      <vt:lpstr>Let’s use these features to start our first container…</vt:lpstr>
      <vt:lpstr>Exercise #0 – Linux Primitives</vt:lpstr>
      <vt:lpstr>PowerPoint Presentation</vt:lpstr>
    </vt:vector>
  </TitlesOfParts>
  <Company>SAP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SAP PPT Template</dc:title>
  <dc:creator>SAP SE</dc:creator>
  <cp:keywords>2017/16:9/white</cp:keywords>
  <cp:lastModifiedBy>Buchner, Thomas</cp:lastModifiedBy>
  <cp:revision>406</cp:revision>
  <dcterms:created xsi:type="dcterms:W3CDTF">2015-10-14T11:21:43Z</dcterms:created>
  <dcterms:modified xsi:type="dcterms:W3CDTF">2021-04-20T09:25:39Z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1357826825</vt:i4>
  </property>
  <property fmtid="{D5CDD505-2E9C-101B-9397-08002B2CF9AE}" pid="3" name="_NewReviewCycle">
    <vt:lpwstr/>
  </property>
  <property fmtid="{D5CDD505-2E9C-101B-9397-08002B2CF9AE}" pid="4" name="_EmailSubject">
    <vt:lpwstr>Color Palette/Stationery Next Steps </vt:lpwstr>
  </property>
  <property fmtid="{D5CDD505-2E9C-101B-9397-08002B2CF9AE}" pid="5" name="_AuthorEmail">
    <vt:lpwstr>heidi.bitz@sap.com</vt:lpwstr>
  </property>
  <property fmtid="{D5CDD505-2E9C-101B-9397-08002B2CF9AE}" pid="6" name="_AuthorEmailDisplayName">
    <vt:lpwstr>Bitz, Heidi</vt:lpwstr>
  </property>
  <property fmtid="{D5CDD505-2E9C-101B-9397-08002B2CF9AE}" pid="7" name="ContentTypeId">
    <vt:lpwstr>0x0101000983C563634F704D94CF761DBC03EA5F</vt:lpwstr>
  </property>
</Properties>
</file>