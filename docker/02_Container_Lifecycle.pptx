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Lst>
  <p:notesMasterIdLst>
    <p:notesMasterId r:id="rId20"/>
  </p:notesMasterIdLst>
  <p:handoutMasterIdLst>
    <p:handoutMasterId r:id="rId21"/>
  </p:handoutMasterIdLst>
  <p:sldIdLst>
    <p:sldId id="523" r:id="rId5"/>
    <p:sldId id="515" r:id="rId6"/>
    <p:sldId id="516" r:id="rId7"/>
    <p:sldId id="458" r:id="rId8"/>
    <p:sldId id="525" r:id="rId9"/>
    <p:sldId id="521" r:id="rId10"/>
    <p:sldId id="520" r:id="rId11"/>
    <p:sldId id="518" r:id="rId12"/>
    <p:sldId id="526" r:id="rId13"/>
    <p:sldId id="453" r:id="rId14"/>
    <p:sldId id="524" r:id="rId15"/>
    <p:sldId id="382" r:id="rId16"/>
    <p:sldId id="457" r:id="rId17"/>
    <p:sldId id="469" r:id="rId18"/>
    <p:sldId id="265" r:id="rId19"/>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rtsch, Holger" initials="PH" lastIdx="6" clrIdx="0">
    <p:extLst>
      <p:ext uri="{19B8F6BF-5375-455C-9EA6-DF929625EA0E}">
        <p15:presenceInfo xmlns:p15="http://schemas.microsoft.com/office/powerpoint/2012/main" userId="S-1-5-21-74642-3284969411-2123768488-12025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0000"/>
    <a:srgbClr val="FFFF99"/>
    <a:srgbClr val="D1B9CC"/>
    <a:srgbClr val="FFCCFF"/>
    <a:srgbClr val="BB15AF"/>
    <a:srgbClr val="F0AB00"/>
    <a:srgbClr val="0F46A7"/>
    <a:srgbClr val="970A82"/>
    <a:srgbClr val="FF339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9189EE-032E-0444-8C4A-50446509CBC5}" v="5" dt="2023-07-07T12:55:29.475"/>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82857" autoAdjust="0"/>
  </p:normalViewPr>
  <p:slideViewPr>
    <p:cSldViewPr snapToGrid="0" showGuides="1">
      <p:cViewPr varScale="1">
        <p:scale>
          <a:sx n="105" d="100"/>
          <a:sy n="105" d="100"/>
        </p:scale>
        <p:origin x="2040" y="184"/>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150" d="100"/>
        <a:sy n="150" d="100"/>
      </p:scale>
      <p:origin x="0" y="0"/>
    </p:cViewPr>
  </p:notesTextViewPr>
  <p:sorterViewPr>
    <p:cViewPr varScale="1">
      <p:scale>
        <a:sx n="100" d="100"/>
        <a:sy n="100" d="100"/>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ong, Lena Thanh-Van" userId="974e8cb6-c096-41f9-96cc-0ba26e22fdad" providerId="ADAL" clId="{699189EE-032E-0444-8C4A-50446509CBC5}"/>
    <pc:docChg chg="addSld delSld modSld">
      <pc:chgData name="Duong, Lena Thanh-Van" userId="974e8cb6-c096-41f9-96cc-0ba26e22fdad" providerId="ADAL" clId="{699189EE-032E-0444-8C4A-50446509CBC5}" dt="2023-07-07T12:55:31.291" v="9" actId="2696"/>
      <pc:docMkLst>
        <pc:docMk/>
      </pc:docMkLst>
      <pc:sldChg chg="add del">
        <pc:chgData name="Duong, Lena Thanh-Van" userId="974e8cb6-c096-41f9-96cc-0ba26e22fdad" providerId="ADAL" clId="{699189EE-032E-0444-8C4A-50446509CBC5}" dt="2023-07-07T12:55:11.517" v="7"/>
        <pc:sldMkLst>
          <pc:docMk/>
          <pc:sldMk cId="2875838750" sldId="516"/>
        </pc:sldMkLst>
      </pc:sldChg>
      <pc:sldChg chg="del">
        <pc:chgData name="Duong, Lena Thanh-Van" userId="974e8cb6-c096-41f9-96cc-0ba26e22fdad" providerId="ADAL" clId="{699189EE-032E-0444-8C4A-50446509CBC5}" dt="2023-07-07T12:54:43.940" v="1" actId="2696"/>
        <pc:sldMkLst>
          <pc:docMk/>
          <pc:sldMk cId="1257255272" sldId="519"/>
        </pc:sldMkLst>
      </pc:sldChg>
      <pc:sldChg chg="add del">
        <pc:chgData name="Duong, Lena Thanh-Van" userId="974e8cb6-c096-41f9-96cc-0ba26e22fdad" providerId="ADAL" clId="{699189EE-032E-0444-8C4A-50446509CBC5}" dt="2023-07-07T12:54:57.506" v="5"/>
        <pc:sldMkLst>
          <pc:docMk/>
          <pc:sldMk cId="2683662626" sldId="520"/>
        </pc:sldMkLst>
      </pc:sldChg>
      <pc:sldChg chg="add del">
        <pc:chgData name="Duong, Lena Thanh-Van" userId="974e8cb6-c096-41f9-96cc-0ba26e22fdad" providerId="ADAL" clId="{699189EE-032E-0444-8C4A-50446509CBC5}" dt="2023-07-07T12:54:53.488" v="4"/>
        <pc:sldMkLst>
          <pc:docMk/>
          <pc:sldMk cId="3235407943" sldId="521"/>
        </pc:sldMkLst>
      </pc:sldChg>
      <pc:sldChg chg="del">
        <pc:chgData name="Duong, Lena Thanh-Van" userId="974e8cb6-c096-41f9-96cc-0ba26e22fdad" providerId="ADAL" clId="{699189EE-032E-0444-8C4A-50446509CBC5}" dt="2023-07-07T12:55:31.291" v="9" actId="2696"/>
        <pc:sldMkLst>
          <pc:docMk/>
          <pc:sldMk cId="798876502" sldId="522"/>
        </pc:sldMkLst>
      </pc:sldChg>
      <pc:sldChg chg="add">
        <pc:chgData name="Duong, Lena Thanh-Van" userId="974e8cb6-c096-41f9-96cc-0ba26e22fdad" providerId="ADAL" clId="{699189EE-032E-0444-8C4A-50446509CBC5}" dt="2023-07-07T12:54:41.560" v="0"/>
        <pc:sldMkLst>
          <pc:docMk/>
          <pc:sldMk cId="4006759392" sldId="525"/>
        </pc:sldMkLst>
      </pc:sldChg>
      <pc:sldChg chg="add">
        <pc:chgData name="Duong, Lena Thanh-Van" userId="974e8cb6-c096-41f9-96cc-0ba26e22fdad" providerId="ADAL" clId="{699189EE-032E-0444-8C4A-50446509CBC5}" dt="2023-07-07T12:55:29.469" v="8"/>
        <pc:sldMkLst>
          <pc:docMk/>
          <pc:sldMk cId="3895770100" sldId="52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1338308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Images </a:t>
            </a:r>
            <a:r>
              <a:rPr lang="de-DE" dirty="0" err="1"/>
              <a:t>are</a:t>
            </a:r>
            <a:r>
              <a:rPr lang="de-DE" dirty="0"/>
              <a:t> </a:t>
            </a:r>
            <a:r>
              <a:rPr lang="de-DE" dirty="0" err="1"/>
              <a:t>read-only</a:t>
            </a:r>
            <a:r>
              <a:rPr lang="de-DE" dirty="0"/>
              <a:t> </a:t>
            </a:r>
            <a:r>
              <a:rPr lang="de-DE" dirty="0" err="1"/>
              <a:t>templates</a:t>
            </a:r>
            <a:r>
              <a:rPr lang="de-DE" dirty="0"/>
              <a:t>. </a:t>
            </a:r>
            <a:r>
              <a:rPr lang="de-DE" dirty="0" err="1"/>
              <a:t>They</a:t>
            </a:r>
            <a:r>
              <a:rPr lang="de-DE" dirty="0"/>
              <a:t> </a:t>
            </a:r>
            <a:r>
              <a:rPr lang="de-DE" dirty="0" err="1"/>
              <a:t>are</a:t>
            </a:r>
            <a:r>
              <a:rPr lang="de-DE" dirty="0"/>
              <a:t> </a:t>
            </a:r>
            <a:r>
              <a:rPr lang="de-DE" dirty="0" err="1"/>
              <a:t>stored</a:t>
            </a:r>
            <a:r>
              <a:rPr lang="de-DE" dirty="0"/>
              <a:t> </a:t>
            </a:r>
            <a:r>
              <a:rPr lang="de-DE" dirty="0" err="1"/>
              <a:t>centrally</a:t>
            </a:r>
            <a:r>
              <a:rPr lang="de-DE" dirty="0"/>
              <a:t> and </a:t>
            </a:r>
            <a:r>
              <a:rPr lang="de-DE" dirty="0" err="1"/>
              <a:t>can</a:t>
            </a:r>
            <a:r>
              <a:rPr lang="de-DE" dirty="0"/>
              <a:t> </a:t>
            </a:r>
            <a:r>
              <a:rPr lang="de-DE" dirty="0" err="1"/>
              <a:t>be</a:t>
            </a:r>
            <a:r>
              <a:rPr lang="de-DE" dirty="0"/>
              <a:t> </a:t>
            </a:r>
            <a:r>
              <a:rPr lang="de-DE" dirty="0" err="1"/>
              <a:t>downloaded</a:t>
            </a:r>
            <a:r>
              <a:rPr lang="de-DE" dirty="0"/>
              <a:t> </a:t>
            </a:r>
            <a:r>
              <a:rPr lang="de-DE" dirty="0" err="1"/>
              <a:t>from</a:t>
            </a:r>
            <a:r>
              <a:rPr lang="de-DE" dirty="0"/>
              <a:t> a so-</a:t>
            </a:r>
            <a:r>
              <a:rPr lang="de-DE" dirty="0" err="1"/>
              <a:t>called</a:t>
            </a:r>
            <a:r>
              <a:rPr lang="de-DE" dirty="0"/>
              <a:t> </a:t>
            </a:r>
            <a:r>
              <a:rPr lang="de-DE" dirty="0" err="1"/>
              <a:t>registry</a:t>
            </a:r>
            <a:endParaRPr lang="de-DE" dirty="0"/>
          </a:p>
        </p:txBody>
      </p:sp>
      <p:sp>
        <p:nvSpPr>
          <p:cNvPr id="4" name="Foliennummernplatzhalter 3"/>
          <p:cNvSpPr>
            <a:spLocks noGrp="1"/>
          </p:cNvSpPr>
          <p:nvPr>
            <p:ph type="sldNum" sz="quarter" idx="5"/>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4281259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talking about a “container”, we are referring to the combination of read-only layers from the image and one read-write layer on top of it. You can derive / instantiate an indefinite number of containers from the same image. They only vary by the read-write layer on top. Or stated another way: A container consists of just the read-write layer, some meta data (settings, flags pass on start) and a reference to the image. All containers share only one common image.</a:t>
            </a:r>
          </a:p>
          <a:p>
            <a:endParaRPr lang="en-US" dirty="0"/>
          </a:p>
          <a:p>
            <a:r>
              <a:rPr lang="en-US" dirty="0"/>
              <a:t>The container lifecycle illustrates, what happens to this read-write layer. With “docker create” you tell docker to create such a read-write layer. With “docker start” you bring it to life, meaning a process with ID 1 is started. The “run” command combines “create” &amp; “start”.</a:t>
            </a:r>
          </a:p>
          <a:p>
            <a:r>
              <a:rPr lang="en-US" dirty="0"/>
              <a:t>Once you have the read-write layer everything that happens inside the container is stored there. You can “stop” the container (killing PID 1) and re-start it. Since all these operations happen on the same read-write layer, everything you did when the container ran, is still present. </a:t>
            </a:r>
          </a:p>
          <a:p>
            <a:r>
              <a:rPr lang="en-US" dirty="0"/>
              <a:t>But if you “</a:t>
            </a:r>
            <a:r>
              <a:rPr lang="en-US" dirty="0" err="1"/>
              <a:t>rm</a:t>
            </a:r>
            <a:r>
              <a:rPr lang="en-US" dirty="0"/>
              <a:t>” the read-write layer everything is irretrievably gone.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1445377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AU" noProof="0" dirty="0"/>
              <a:t>Let‘s create a container and start it. For us to be able to work with it, we need it to be interactive and attached to our terminal – hence the ‘-it’ parameter</a:t>
            </a:r>
          </a:p>
        </p:txBody>
      </p:sp>
      <p:sp>
        <p:nvSpPr>
          <p:cNvPr id="4" name="Foliennummernplatzhalter 3"/>
          <p:cNvSpPr>
            <a:spLocks noGrp="1"/>
          </p:cNvSpPr>
          <p:nvPr>
            <p:ph type="sldNum" sz="quarter" idx="5"/>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2538312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talking about a “container”, we are referring to the combination of read-only layers from the image and one read-write layer on top of it. You can derive / instantiate an indefinite number of containers from the same image. They only vary by the read-write layer on top. Or stated another way: A container consists of just the read-write layer, some meta data (settings, flags pass on start) and a reference to the image. All containers share only one common image.</a:t>
            </a:r>
          </a:p>
          <a:p>
            <a:endParaRPr lang="en-US" dirty="0"/>
          </a:p>
          <a:p>
            <a:r>
              <a:rPr lang="en-US" dirty="0"/>
              <a:t>The container lifecycle illustrates, what happens to this read-write layer. With “docker create” you tell docker to create such a read-write layer. With “docker start” you bring it to life, meaning a process with ID 1 is started. The “run” command combines “create” &amp; “start”.</a:t>
            </a:r>
          </a:p>
          <a:p>
            <a:r>
              <a:rPr lang="en-US" dirty="0"/>
              <a:t>Once you have the read-write layer everything that happens inside the container is stored there. You can “stop” the container (killing PID 1) and re-start it. Since all these operations happen on the same read-write layer, everything you did when the container ran, is still present. </a:t>
            </a:r>
          </a:p>
          <a:p>
            <a:r>
              <a:rPr lang="en-US" dirty="0"/>
              <a:t>But if you “</a:t>
            </a:r>
            <a:r>
              <a:rPr lang="en-US" dirty="0" err="1"/>
              <a:t>rm</a:t>
            </a:r>
            <a:r>
              <a:rPr lang="en-US" dirty="0"/>
              <a:t>” the read-write layer everything is irretrievably gone.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4149048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AU" noProof="0" dirty="0"/>
              <a:t>The “run” command makes our live a bit easier as it bundles “create” and “start” into a single command. Please note, we want our nginx webserver to be running in the background (“</a:t>
            </a:r>
            <a:r>
              <a:rPr lang="en-AU" noProof="0"/>
              <a:t>detached”), hence “-d”.</a:t>
            </a:r>
            <a:endParaRPr lang="en-AU" noProof="0" dirty="0"/>
          </a:p>
        </p:txBody>
      </p:sp>
      <p:sp>
        <p:nvSpPr>
          <p:cNvPr id="4" name="Foliennummernplatzhalter 3"/>
          <p:cNvSpPr>
            <a:spLocks noGrp="1"/>
          </p:cNvSpPr>
          <p:nvPr>
            <p:ph type="sldNum" sz="quarter" idx="5"/>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931075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err="1"/>
              <a:t>You</a:t>
            </a:r>
            <a:r>
              <a:rPr lang="de-DE" dirty="0"/>
              <a:t> </a:t>
            </a:r>
            <a:r>
              <a:rPr lang="de-DE" dirty="0" err="1"/>
              <a:t>actually</a:t>
            </a:r>
            <a:r>
              <a:rPr lang="de-DE" dirty="0"/>
              <a:t> </a:t>
            </a:r>
            <a:r>
              <a:rPr lang="de-DE" dirty="0" err="1"/>
              <a:t>specify</a:t>
            </a:r>
            <a:r>
              <a:rPr lang="de-DE" dirty="0"/>
              <a:t> an </a:t>
            </a:r>
            <a:r>
              <a:rPr lang="de-DE" dirty="0" err="1"/>
              <a:t>image</a:t>
            </a:r>
            <a:r>
              <a:rPr lang="de-DE" dirty="0"/>
              <a:t> </a:t>
            </a:r>
            <a:r>
              <a:rPr lang="de-DE" dirty="0" err="1"/>
              <a:t>name</a:t>
            </a:r>
            <a:r>
              <a:rPr lang="de-DE" dirty="0"/>
              <a:t> </a:t>
            </a:r>
            <a:r>
              <a:rPr lang="de-DE" dirty="0" err="1"/>
              <a:t>as</a:t>
            </a:r>
            <a:r>
              <a:rPr lang="de-DE" dirty="0"/>
              <a:t> </a:t>
            </a:r>
            <a:r>
              <a:rPr lang="de-DE" dirty="0" err="1"/>
              <a:t>argument</a:t>
            </a:r>
            <a:r>
              <a:rPr lang="de-DE" dirty="0"/>
              <a:t> </a:t>
            </a:r>
            <a:r>
              <a:rPr lang="de-DE" dirty="0" err="1"/>
              <a:t>of</a:t>
            </a:r>
            <a:r>
              <a:rPr lang="de-DE" dirty="0"/>
              <a:t> </a:t>
            </a:r>
            <a:r>
              <a:rPr lang="de-DE" dirty="0" err="1"/>
              <a:t>the</a:t>
            </a:r>
            <a:r>
              <a:rPr lang="de-DE" dirty="0"/>
              <a:t> docker </a:t>
            </a:r>
            <a:r>
              <a:rPr lang="de-DE" dirty="0" err="1"/>
              <a:t>run</a:t>
            </a:r>
            <a:r>
              <a:rPr lang="de-DE" dirty="0"/>
              <a:t> but </a:t>
            </a:r>
            <a:r>
              <a:rPr lang="de-DE" dirty="0" err="1"/>
              <a:t>that</a:t>
            </a:r>
            <a:r>
              <a:rPr lang="de-DE" dirty="0"/>
              <a:t> will </a:t>
            </a:r>
            <a:r>
              <a:rPr lang="de-DE" dirty="0" err="1"/>
              <a:t>be</a:t>
            </a:r>
            <a:r>
              <a:rPr lang="de-DE" dirty="0"/>
              <a:t> </a:t>
            </a:r>
            <a:r>
              <a:rPr lang="de-DE" dirty="0" err="1"/>
              <a:t>explained</a:t>
            </a:r>
            <a:r>
              <a:rPr lang="de-DE" dirty="0"/>
              <a:t> in </a:t>
            </a:r>
            <a:r>
              <a:rPr lang="de-DE" dirty="0" err="1"/>
              <a:t>the</a:t>
            </a:r>
            <a:r>
              <a:rPr lang="de-DE" dirty="0"/>
              <a:t> </a:t>
            </a:r>
            <a:r>
              <a:rPr lang="de-DE" dirty="0" err="1"/>
              <a:t>next</a:t>
            </a:r>
            <a:r>
              <a:rPr lang="de-DE" dirty="0"/>
              <a:t> </a:t>
            </a:r>
            <a:r>
              <a:rPr lang="de-DE" dirty="0" err="1"/>
              <a:t>few</a:t>
            </a:r>
            <a:r>
              <a:rPr lang="de-DE" dirty="0"/>
              <a:t> </a:t>
            </a:r>
            <a:r>
              <a:rPr lang="de-DE" dirty="0" err="1"/>
              <a:t>slides</a:t>
            </a:r>
            <a:r>
              <a:rPr lang="de-DE" dirty="0"/>
              <a:t>.</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10</a:t>
            </a:fld>
            <a:endParaRPr lang="en-US" dirty="0"/>
          </a:p>
        </p:txBody>
      </p:sp>
    </p:spTree>
    <p:extLst>
      <p:ext uri="{BB962C8B-B14F-4D97-AF65-F5344CB8AC3E}">
        <p14:creationId xmlns:p14="http://schemas.microsoft.com/office/powerpoint/2010/main" val="638968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11</a:t>
            </a:fld>
            <a:endParaRPr lang="en-US" dirty="0"/>
          </a:p>
        </p:txBody>
      </p:sp>
    </p:spTree>
    <p:extLst>
      <p:ext uri="{BB962C8B-B14F-4D97-AF65-F5344CB8AC3E}">
        <p14:creationId xmlns:p14="http://schemas.microsoft.com/office/powerpoint/2010/main" val="2208075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offers more than “just” running containers. It brings a complete eco-system of building, persisting and sharing containers. </a:t>
            </a:r>
          </a:p>
          <a:p>
            <a:endParaRPr lang="en-US" dirty="0"/>
          </a:p>
          <a:p>
            <a:r>
              <a:rPr lang="en-US" dirty="0"/>
              <a:t>The client triggers the docker host to execute actions related to container lifecycle, but also building, downloading &amp; sharing images. The Docker Registry concepts allows to store images permanently. The most famous registry is the docker hub. </a:t>
            </a:r>
          </a:p>
          <a:p>
            <a:endParaRPr lang="de-DE" dirty="0"/>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12</a:t>
            </a:fld>
            <a:endParaRPr lang="en-US" dirty="0"/>
          </a:p>
        </p:txBody>
      </p:sp>
    </p:spTree>
    <p:extLst>
      <p:ext uri="{BB962C8B-B14F-4D97-AF65-F5344CB8AC3E}">
        <p14:creationId xmlns:p14="http://schemas.microsoft.com/office/powerpoint/2010/main" val="460007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 daemon works as central entry point. It receives API requests and is home of docker specific features.</a:t>
            </a:r>
          </a:p>
          <a:p>
            <a:endParaRPr lang="en-US" dirty="0"/>
          </a:p>
          <a:p>
            <a:r>
              <a:rPr lang="en-US" dirty="0"/>
              <a:t>Containerd actually is the container runtime. It is a refactored part of the former docker engine and handles the complete lifecycle of a container. It works on the basis of the open container initiative (OCI) specifications for container runtimes. Containerd also depends on OCI compatible images (root file system + </a:t>
            </a:r>
            <a:r>
              <a:rPr lang="en-US" dirty="0" err="1"/>
              <a:t>container.json</a:t>
            </a:r>
            <a:r>
              <a:rPr lang="en-US" dirty="0"/>
              <a:t>)</a:t>
            </a:r>
          </a:p>
          <a:p>
            <a:endParaRPr lang="en-US" dirty="0"/>
          </a:p>
          <a:p>
            <a:r>
              <a:rPr lang="en-US" dirty="0"/>
              <a:t>Containerd instructs </a:t>
            </a:r>
            <a:r>
              <a:rPr lang="en-US" dirty="0" err="1"/>
              <a:t>runc</a:t>
            </a:r>
            <a:r>
              <a:rPr lang="en-US" dirty="0"/>
              <a:t> to start a container. </a:t>
            </a:r>
            <a:r>
              <a:rPr lang="en-US" dirty="0" err="1"/>
              <a:t>Runc</a:t>
            </a:r>
            <a:r>
              <a:rPr lang="en-US" dirty="0"/>
              <a:t> sets up all the </a:t>
            </a:r>
            <a:r>
              <a:rPr lang="en-US" dirty="0" err="1"/>
              <a:t>linux</a:t>
            </a:r>
            <a:r>
              <a:rPr lang="en-US" dirty="0"/>
              <a:t> magic with </a:t>
            </a:r>
            <a:r>
              <a:rPr lang="en-US" dirty="0" err="1"/>
              <a:t>cgroups</a:t>
            </a:r>
            <a:r>
              <a:rPr lang="en-US" dirty="0"/>
              <a:t> </a:t>
            </a:r>
            <a:r>
              <a:rPr lang="en-US" dirty="0" err="1"/>
              <a:t>etc</a:t>
            </a:r>
            <a:r>
              <a:rPr lang="en-US" dirty="0"/>
              <a:t> and forks the container’s PID #1. Afterwards it will exit(0) and handover parent ownership of the container to </a:t>
            </a:r>
            <a:r>
              <a:rPr lang="en-US" dirty="0" err="1"/>
              <a:t>containerd</a:t>
            </a:r>
            <a:r>
              <a:rPr lang="en-US" dirty="0"/>
              <a:t>-shim. The shim module is there to decouple the daemon and container processes.</a:t>
            </a:r>
          </a:p>
          <a:p>
            <a:endParaRPr lang="en-US" dirty="0"/>
          </a:p>
          <a:p>
            <a:r>
              <a:rPr lang="en-US" dirty="0"/>
              <a:t>Details can be found here:</a:t>
            </a:r>
          </a:p>
          <a:p>
            <a:r>
              <a:rPr lang="en-US" dirty="0"/>
              <a:t>https://containerd.io/</a:t>
            </a:r>
          </a:p>
          <a:p>
            <a:r>
              <a:rPr lang="en-US" dirty="0"/>
              <a:t>https://www.slideshare.net/PhilEstes/diving-through-the-layers-investigating-runc-containerd-and-the-docker-engine-architecture</a:t>
            </a:r>
          </a:p>
          <a:p>
            <a:r>
              <a:rPr lang="en-US" dirty="0"/>
              <a:t>https://hackernoon.com/docker-containerd-standalone-runtimes-heres-what-you-should-know-b834ef155426?gi=c8140ae48de2</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13</a:t>
            </a:fld>
            <a:endParaRPr lang="de-DE" dirty="0"/>
          </a:p>
        </p:txBody>
      </p:sp>
    </p:spTree>
    <p:extLst>
      <p:ext uri="{BB962C8B-B14F-4D97-AF65-F5344CB8AC3E}">
        <p14:creationId xmlns:p14="http://schemas.microsoft.com/office/powerpoint/2010/main" val="3483686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14</a:t>
            </a:fld>
            <a:endParaRPr lang="de-DE"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4089868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15</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a:t>
            </a:r>
          </a:p>
        </p:txBody>
      </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134484936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hite">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sp>
        <p:nvSpPr>
          <p:cNvPr id="7" name="Picture Placeholder 6"/>
          <p:cNvSpPr>
            <a:spLocks noGrp="1"/>
          </p:cNvSpPr>
          <p:nvPr>
            <p:ph type="pic" sz="quarter" idx="16"/>
          </p:nvPr>
        </p:nvSpPr>
        <p:spPr>
          <a:xfrm>
            <a:off x="6954855" y="963000"/>
            <a:ext cx="4932000" cy="4932000"/>
          </a:xfrm>
        </p:spPr>
        <p:txBody>
          <a:bodyPr/>
          <a:lstStyle/>
          <a:p>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solidFill>
                  <a:schemeClr val="tx1"/>
                </a:solidFill>
              </a:defRPr>
            </a:lvl1pPr>
            <a:lvl2pPr marL="395921" indent="0">
              <a:buNone/>
              <a:defRPr sz="1200">
                <a:solidFill>
                  <a:schemeClr val="tx1"/>
                </a:solidFill>
              </a:defRPr>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lvl1pPr>
              <a:defRPr>
                <a:solidFill>
                  <a:schemeClr val="tx1"/>
                </a:solidFill>
              </a:defRPr>
            </a:lvl1pPr>
          </a:lstStyle>
          <a:p>
            <a:r>
              <a:rPr lang="en-US" noProof="0" dirty="0"/>
              <a:t>Insert page title (sentence case)</a:t>
            </a:r>
            <a:endParaRPr lang="en-US" dirty="0"/>
          </a:p>
        </p:txBody>
      </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‹Nr.›</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4" name="Group 3"/>
          <p:cNvGrpSpPr/>
          <p:nvPr userDrawn="1"/>
        </p:nvGrpSpPr>
        <p:grpSpPr>
          <a:xfrm>
            <a:off x="0" y="0"/>
            <a:ext cx="12196800" cy="251942"/>
            <a:chOff x="0" y="0"/>
            <a:chExt cx="12196800" cy="251942"/>
          </a:xfrm>
        </p:grpSpPr>
        <p:sp>
          <p:nvSpPr>
            <p:cNvPr id="13" name="Rectangle 12"/>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4" name="Secondary Motion Band"/>
            <p:cNvGrpSpPr/>
            <p:nvPr userDrawn="1"/>
          </p:nvGrpSpPr>
          <p:grpSpPr>
            <a:xfrm>
              <a:off x="10683752" y="0"/>
              <a:ext cx="1513048" cy="251942"/>
              <a:chOff x="10682127" y="0"/>
              <a:chExt cx="1513048" cy="252000"/>
            </a:xfrm>
          </p:grpSpPr>
          <p:sp>
            <p:nvSpPr>
              <p:cNvPr id="15" name="Rectangle 14"/>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Rectangle 18"/>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6.svg"/><Relationship Id="rId11" Type="http://schemas.openxmlformats.org/officeDocument/2006/relationships/image" Target="../media/image10.sv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svg"/><Relationship Id="rId9" Type="http://schemas.openxmlformats.org/officeDocument/2006/relationships/hyperlink" Target="http://hub.docker.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9.xml"/><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8.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hyperlink" Target="https://docs.docker.com/engine/docker-overview/" TargetMode="External"/><Relationship Id="rId4" Type="http://schemas.openxmlformats.org/officeDocument/2006/relationships/image" Target="../media/image12.sv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emf"/><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sz="quarter" idx="14"/>
          </p:nvPr>
        </p:nvSpPr>
        <p:spPr/>
        <p:txBody>
          <a:bodyPr anchor="ctr"/>
          <a:lstStyle/>
          <a:p>
            <a:r>
              <a:rPr lang="en-US" dirty="0"/>
              <a:t>Container </a:t>
            </a:r>
            <a:r>
              <a:rPr lang="en-US" dirty="0">
                <a:solidFill>
                  <a:schemeClr val="accent1"/>
                </a:solidFill>
              </a:rPr>
              <a:t>Lifecycle</a:t>
            </a:r>
          </a:p>
        </p:txBody>
      </p:sp>
      <p:pic>
        <p:nvPicPr>
          <p:cNvPr id="4" name="Picture 3">
            <a:extLst>
              <a:ext uri="{FF2B5EF4-FFF2-40B4-BE49-F238E27FC236}">
                <a16:creationId xmlns:a16="http://schemas.microsoft.com/office/drawing/2014/main" id="{2E8C9C42-BC03-468E-B04E-6BE203085308}"/>
              </a:ext>
            </a:extLst>
          </p:cNvPr>
          <p:cNvPicPr>
            <a:picLocks noChangeAspect="1"/>
          </p:cNvPicPr>
          <p:nvPr/>
        </p:nvPicPr>
        <p:blipFill>
          <a:blip r:embed="rId3"/>
          <a:stretch>
            <a:fillRect/>
          </a:stretch>
        </p:blipFill>
        <p:spPr>
          <a:xfrm>
            <a:off x="6978451" y="1609832"/>
            <a:ext cx="4262244" cy="3190166"/>
          </a:xfrm>
          <a:prstGeom prst="rect">
            <a:avLst/>
          </a:prstGeom>
        </p:spPr>
      </p:pic>
    </p:spTree>
    <p:extLst>
      <p:ext uri="{BB962C8B-B14F-4D97-AF65-F5344CB8AC3E}">
        <p14:creationId xmlns:p14="http://schemas.microsoft.com/office/powerpoint/2010/main" val="4219009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DE822E6E-0756-2D7B-EFD2-3CD84ED9C10F}"/>
              </a:ext>
            </a:extLst>
          </p:cNvPr>
          <p:cNvSpPr>
            <a:spLocks noGrp="1"/>
          </p:cNvSpPr>
          <p:nvPr>
            <p:ph type="title"/>
          </p:nvPr>
        </p:nvSpPr>
        <p:spPr/>
        <p:txBody>
          <a:bodyPr/>
          <a:lstStyle/>
          <a:p>
            <a:r>
              <a:rPr lang="de-DE" dirty="0"/>
              <a:t>Images</a:t>
            </a:r>
          </a:p>
        </p:txBody>
      </p:sp>
      <p:pic>
        <p:nvPicPr>
          <p:cNvPr id="7" name="Grafik 6" descr="Server mit einfarbiger Füllung">
            <a:extLst>
              <a:ext uri="{FF2B5EF4-FFF2-40B4-BE49-F238E27FC236}">
                <a16:creationId xmlns:a16="http://schemas.microsoft.com/office/drawing/2014/main" id="{F8ADDC9F-BFAF-4FD9-8F13-567D096F78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1716" y="4487944"/>
            <a:ext cx="1293813" cy="1293813"/>
          </a:xfrm>
          <a:prstGeom prst="rect">
            <a:avLst/>
          </a:prstGeom>
        </p:spPr>
      </p:pic>
      <p:pic>
        <p:nvPicPr>
          <p:cNvPr id="15" name="Grafik 14" descr="Laptop mit einfarbiger Füllung">
            <a:extLst>
              <a:ext uri="{FF2B5EF4-FFF2-40B4-BE49-F238E27FC236}">
                <a16:creationId xmlns:a16="http://schemas.microsoft.com/office/drawing/2014/main" id="{B15F0B5A-BA52-2144-D57C-0F21968B6E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68967" y="4487944"/>
            <a:ext cx="1293813" cy="1293813"/>
          </a:xfrm>
          <a:prstGeom prst="rect">
            <a:avLst/>
          </a:prstGeom>
        </p:spPr>
      </p:pic>
      <p:grpSp>
        <p:nvGrpSpPr>
          <p:cNvPr id="27" name="Gruppieren 26">
            <a:extLst>
              <a:ext uri="{FF2B5EF4-FFF2-40B4-BE49-F238E27FC236}">
                <a16:creationId xmlns:a16="http://schemas.microsoft.com/office/drawing/2014/main" id="{E5927473-8880-D8C9-311F-78B1D8AB52CA}"/>
              </a:ext>
            </a:extLst>
          </p:cNvPr>
          <p:cNvGrpSpPr/>
          <p:nvPr/>
        </p:nvGrpSpPr>
        <p:grpSpPr>
          <a:xfrm>
            <a:off x="3517364" y="873332"/>
            <a:ext cx="4579275" cy="2784535"/>
            <a:chOff x="3517364" y="873332"/>
            <a:chExt cx="4579275" cy="2784535"/>
          </a:xfrm>
        </p:grpSpPr>
        <p:grpSp>
          <p:nvGrpSpPr>
            <p:cNvPr id="24" name="Gruppieren 23">
              <a:extLst>
                <a:ext uri="{FF2B5EF4-FFF2-40B4-BE49-F238E27FC236}">
                  <a16:creationId xmlns:a16="http://schemas.microsoft.com/office/drawing/2014/main" id="{FF748ADE-D73F-24E0-CD18-B83D70EF8623}"/>
                </a:ext>
              </a:extLst>
            </p:cNvPr>
            <p:cNvGrpSpPr/>
            <p:nvPr/>
          </p:nvGrpSpPr>
          <p:grpSpPr>
            <a:xfrm>
              <a:off x="3517364" y="873332"/>
              <a:ext cx="4579275" cy="2784535"/>
              <a:chOff x="504001" y="2272259"/>
              <a:chExt cx="4579275" cy="2784535"/>
            </a:xfrm>
          </p:grpSpPr>
          <p:pic>
            <p:nvPicPr>
              <p:cNvPr id="13" name="Grafik 12" descr="Platte mit einfarbiger Füllung">
                <a:extLst>
                  <a:ext uri="{FF2B5EF4-FFF2-40B4-BE49-F238E27FC236}">
                    <a16:creationId xmlns:a16="http://schemas.microsoft.com/office/drawing/2014/main" id="{673D6C7D-1CE6-64FA-3A31-6769578C0DE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02511" y="2971799"/>
                <a:ext cx="914400" cy="914400"/>
              </a:xfrm>
              <a:prstGeom prst="rect">
                <a:avLst/>
              </a:prstGeom>
            </p:spPr>
          </p:pic>
          <p:sp>
            <p:nvSpPr>
              <p:cNvPr id="16" name="Wolke 15">
                <a:extLst>
                  <a:ext uri="{FF2B5EF4-FFF2-40B4-BE49-F238E27FC236}">
                    <a16:creationId xmlns:a16="http://schemas.microsoft.com/office/drawing/2014/main" id="{90793505-E508-B3CC-FC4C-868D514CA4A8}"/>
                  </a:ext>
                </a:extLst>
              </p:cNvPr>
              <p:cNvSpPr/>
              <p:nvPr/>
            </p:nvSpPr>
            <p:spPr bwMode="gray">
              <a:xfrm>
                <a:off x="504001" y="2272259"/>
                <a:ext cx="4579275" cy="2784535"/>
              </a:xfrm>
              <a:prstGeom prst="cloud">
                <a:avLst/>
              </a:prstGeom>
              <a:noFill/>
              <a:ln w="127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7" name="Grafik 16" descr="Platte mit einfarbiger Füllung">
                <a:extLst>
                  <a:ext uri="{FF2B5EF4-FFF2-40B4-BE49-F238E27FC236}">
                    <a16:creationId xmlns:a16="http://schemas.microsoft.com/office/drawing/2014/main" id="{0298D1BD-74E8-1BEB-E458-1851E3928C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16911" y="2971799"/>
                <a:ext cx="914400" cy="914400"/>
              </a:xfrm>
              <a:prstGeom prst="rect">
                <a:avLst/>
              </a:prstGeom>
            </p:spPr>
          </p:pic>
          <p:pic>
            <p:nvPicPr>
              <p:cNvPr id="18" name="Grafik 17" descr="Platte mit einfarbiger Füllung">
                <a:extLst>
                  <a:ext uri="{FF2B5EF4-FFF2-40B4-BE49-F238E27FC236}">
                    <a16:creationId xmlns:a16="http://schemas.microsoft.com/office/drawing/2014/main" id="{AC0C61D3-8942-A6F4-0C3C-9AE4322C2B5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31311" y="2971799"/>
                <a:ext cx="914400" cy="914400"/>
              </a:xfrm>
              <a:prstGeom prst="rect">
                <a:avLst/>
              </a:prstGeom>
            </p:spPr>
          </p:pic>
          <p:sp>
            <p:nvSpPr>
              <p:cNvPr id="21" name="Textfeld 20">
                <a:extLst>
                  <a:ext uri="{FF2B5EF4-FFF2-40B4-BE49-F238E27FC236}">
                    <a16:creationId xmlns:a16="http://schemas.microsoft.com/office/drawing/2014/main" id="{2E10BC73-2958-56BC-A8A0-F521F4DBB137}"/>
                  </a:ext>
                </a:extLst>
              </p:cNvPr>
              <p:cNvSpPr txBox="1"/>
              <p:nvPr/>
            </p:nvSpPr>
            <p:spPr>
              <a:xfrm>
                <a:off x="1517256" y="3886199"/>
                <a:ext cx="484909" cy="276999"/>
              </a:xfrm>
              <a:prstGeom prst="rect">
                <a:avLst/>
              </a:prstGeom>
              <a:noFill/>
            </p:spPr>
            <p:txBody>
              <a:bodyPr wrap="square" lIns="0" tIns="0" rIns="0" bIns="0" rtlCol="0" anchor="ctr">
                <a:spAutoFit/>
              </a:bodyPr>
              <a:lstStyle/>
              <a:p>
                <a:pPr algn="ctr" fontAlgn="base">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v1</a:t>
                </a:r>
              </a:p>
            </p:txBody>
          </p:sp>
          <p:sp>
            <p:nvSpPr>
              <p:cNvPr id="22" name="Textfeld 21">
                <a:extLst>
                  <a:ext uri="{FF2B5EF4-FFF2-40B4-BE49-F238E27FC236}">
                    <a16:creationId xmlns:a16="http://schemas.microsoft.com/office/drawing/2014/main" id="{3CFD8166-5378-82C3-D36F-F0287CA58DA9}"/>
                  </a:ext>
                </a:extLst>
              </p:cNvPr>
              <p:cNvSpPr txBox="1"/>
              <p:nvPr/>
            </p:nvSpPr>
            <p:spPr>
              <a:xfrm>
                <a:off x="2431656" y="3886199"/>
                <a:ext cx="484909" cy="276999"/>
              </a:xfrm>
              <a:prstGeom prst="rect">
                <a:avLst/>
              </a:prstGeom>
              <a:noFill/>
            </p:spPr>
            <p:txBody>
              <a:bodyPr wrap="square" lIns="0" tIns="0" rIns="0" bIns="0" rtlCol="0" anchor="ctr">
                <a:spAutoFit/>
              </a:bodyPr>
              <a:lstStyle/>
              <a:p>
                <a:pPr algn="ctr" fontAlgn="base">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v2</a:t>
                </a:r>
              </a:p>
            </p:txBody>
          </p:sp>
          <p:sp>
            <p:nvSpPr>
              <p:cNvPr id="23" name="Textfeld 22">
                <a:extLst>
                  <a:ext uri="{FF2B5EF4-FFF2-40B4-BE49-F238E27FC236}">
                    <a16:creationId xmlns:a16="http://schemas.microsoft.com/office/drawing/2014/main" id="{6D33DCDE-7BC3-499B-C7FF-18BC28F2BDB9}"/>
                  </a:ext>
                </a:extLst>
              </p:cNvPr>
              <p:cNvSpPr txBox="1"/>
              <p:nvPr/>
            </p:nvSpPr>
            <p:spPr>
              <a:xfrm>
                <a:off x="3155648" y="3886199"/>
                <a:ext cx="865726" cy="276999"/>
              </a:xfrm>
              <a:prstGeom prst="rect">
                <a:avLst/>
              </a:prstGeom>
              <a:noFill/>
            </p:spPr>
            <p:txBody>
              <a:bodyPr wrap="square" lIns="0" tIns="0" rIns="0" bIns="0" rtlCol="0" anchor="ctr">
                <a:spAutoFit/>
              </a:bodyPr>
              <a:lstStyle/>
              <a:p>
                <a:pPr algn="ctr" fontAlgn="base">
                  <a:spcBef>
                    <a:spcPct val="50000"/>
                  </a:spcBef>
                  <a:spcAft>
                    <a:spcPct val="0"/>
                  </a:spcAft>
                  <a:buClr>
                    <a:srgbClr val="F0AB00"/>
                  </a:buClr>
                  <a:buSzPct val="80000"/>
                </a:pPr>
                <a:r>
                  <a:rPr lang="de-DE" sz="1800" kern="0" dirty="0" err="1">
                    <a:latin typeface="Courier New" panose="02070309020205020404" pitchFamily="49" charset="0"/>
                    <a:ea typeface="Arial Unicode MS" pitchFamily="34" charset="-128"/>
                    <a:cs typeface="Courier New" panose="02070309020205020404" pitchFamily="49" charset="0"/>
                  </a:rPr>
                  <a:t>latest</a:t>
                </a:r>
                <a:endParaRPr lang="de-DE" sz="1800" kern="0" dirty="0">
                  <a:latin typeface="Courier New" panose="02070309020205020404" pitchFamily="49" charset="0"/>
                  <a:ea typeface="Arial Unicode MS" pitchFamily="34" charset="-128"/>
                  <a:cs typeface="Courier New" panose="02070309020205020404" pitchFamily="49" charset="0"/>
                </a:endParaRPr>
              </a:p>
            </p:txBody>
          </p:sp>
        </p:grpSp>
        <p:sp>
          <p:nvSpPr>
            <p:cNvPr id="26" name="Textfeld 25">
              <a:hlinkClick r:id="rId9"/>
              <a:extLst>
                <a:ext uri="{FF2B5EF4-FFF2-40B4-BE49-F238E27FC236}">
                  <a16:creationId xmlns:a16="http://schemas.microsoft.com/office/drawing/2014/main" id="{A565545E-B0D8-6EFD-D4F8-35FC41F7D144}"/>
                </a:ext>
              </a:extLst>
            </p:cNvPr>
            <p:cNvSpPr txBox="1"/>
            <p:nvPr/>
          </p:nvSpPr>
          <p:spPr>
            <a:xfrm>
              <a:off x="4703232" y="1316677"/>
              <a:ext cx="1968484" cy="276999"/>
            </a:xfrm>
            <a:prstGeom prst="rect">
              <a:avLst/>
            </a:prstGeom>
            <a:noFill/>
          </p:spPr>
          <p:txBody>
            <a:bodyPr wrap="square" lIns="0" tIns="0" rIns="0" bIns="0" rtlCol="0" anchor="ctr">
              <a:spAutoFit/>
            </a:bodyPr>
            <a:lstStyle/>
            <a:p>
              <a:pPr algn="ctr" fontAlgn="base">
                <a:spcBef>
                  <a:spcPct val="50000"/>
                </a:spcBef>
                <a:spcAft>
                  <a:spcPct val="0"/>
                </a:spcAft>
                <a:buClr>
                  <a:srgbClr val="F0AB00"/>
                </a:buClr>
                <a:buSzPct val="80000"/>
              </a:pPr>
              <a:r>
                <a:rPr lang="de-DE" sz="1800" kern="0" dirty="0" err="1">
                  <a:latin typeface="Courier New" panose="02070309020205020404" pitchFamily="49" charset="0"/>
                  <a:ea typeface="Arial Unicode MS" pitchFamily="34" charset="-128"/>
                  <a:cs typeface="Courier New" panose="02070309020205020404" pitchFamily="49" charset="0"/>
                  <a:hlinkClick r:id="rId9"/>
                </a:rPr>
                <a:t>hub.docker.com</a:t>
              </a:r>
              <a:endParaRPr lang="de-DE" sz="1800" kern="0" dirty="0">
                <a:latin typeface="Courier New" panose="02070309020205020404" pitchFamily="49" charset="0"/>
                <a:ea typeface="Arial Unicode MS" pitchFamily="34" charset="-128"/>
                <a:cs typeface="Courier New" panose="02070309020205020404" pitchFamily="49" charset="0"/>
              </a:endParaRPr>
            </a:p>
          </p:txBody>
        </p:sp>
      </p:grpSp>
      <p:pic>
        <p:nvPicPr>
          <p:cNvPr id="29" name="Grafik 28" descr="Herunterladen mit einfarbiger Füllung">
            <a:extLst>
              <a:ext uri="{FF2B5EF4-FFF2-40B4-BE49-F238E27FC236}">
                <a16:creationId xmlns:a16="http://schemas.microsoft.com/office/drawing/2014/main" id="{699B3ED6-ECA7-F6CD-2EAB-5DFD40B4114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676357" y="3455917"/>
            <a:ext cx="639763" cy="639763"/>
          </a:xfrm>
          <a:prstGeom prst="rect">
            <a:avLst/>
          </a:prstGeom>
        </p:spPr>
      </p:pic>
      <p:pic>
        <p:nvPicPr>
          <p:cNvPr id="30" name="Grafik 29" descr="Herunterladen mit einfarbiger Füllung">
            <a:extLst>
              <a:ext uri="{FF2B5EF4-FFF2-40B4-BE49-F238E27FC236}">
                <a16:creationId xmlns:a16="http://schemas.microsoft.com/office/drawing/2014/main" id="{F60F9A85-DE8C-DA13-4D2A-04714560DB0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241146" y="3415412"/>
            <a:ext cx="639763" cy="639763"/>
          </a:xfrm>
          <a:prstGeom prst="rect">
            <a:avLst/>
          </a:prstGeom>
        </p:spPr>
      </p:pic>
      <p:cxnSp>
        <p:nvCxnSpPr>
          <p:cNvPr id="32" name="Gerade Verbindung 31">
            <a:extLst>
              <a:ext uri="{FF2B5EF4-FFF2-40B4-BE49-F238E27FC236}">
                <a16:creationId xmlns:a16="http://schemas.microsoft.com/office/drawing/2014/main" id="{0D29D9B7-56F8-C58E-12F1-BD4B0A1A971E}"/>
              </a:ext>
            </a:extLst>
          </p:cNvPr>
          <p:cNvCxnSpPr>
            <a:stCxn id="21" idx="2"/>
            <a:endCxn id="15" idx="0"/>
          </p:cNvCxnSpPr>
          <p:nvPr/>
        </p:nvCxnSpPr>
        <p:spPr>
          <a:xfrm flipH="1">
            <a:off x="4315874" y="2764271"/>
            <a:ext cx="457200" cy="1723673"/>
          </a:xfrm>
          <a:prstGeom prst="line">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Gerade Verbindung 34">
            <a:extLst>
              <a:ext uri="{FF2B5EF4-FFF2-40B4-BE49-F238E27FC236}">
                <a16:creationId xmlns:a16="http://schemas.microsoft.com/office/drawing/2014/main" id="{906F37CA-ABA5-12BC-D547-78D4F7BEA57E}"/>
              </a:ext>
            </a:extLst>
          </p:cNvPr>
          <p:cNvCxnSpPr>
            <a:cxnSpLocks/>
            <a:stCxn id="23" idx="2"/>
            <a:endCxn id="7" idx="0"/>
          </p:cNvCxnSpPr>
          <p:nvPr/>
        </p:nvCxnSpPr>
        <p:spPr>
          <a:xfrm>
            <a:off x="6601874" y="2764271"/>
            <a:ext cx="716749" cy="1723673"/>
          </a:xfrm>
          <a:prstGeom prst="line">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Gerade Verbindung 37">
            <a:extLst>
              <a:ext uri="{FF2B5EF4-FFF2-40B4-BE49-F238E27FC236}">
                <a16:creationId xmlns:a16="http://schemas.microsoft.com/office/drawing/2014/main" id="{24A298E1-5CDE-DCAB-6051-0A9817961956}"/>
              </a:ext>
            </a:extLst>
          </p:cNvPr>
          <p:cNvCxnSpPr>
            <a:cxnSpLocks/>
            <a:stCxn id="23" idx="2"/>
            <a:endCxn id="15" idx="0"/>
          </p:cNvCxnSpPr>
          <p:nvPr/>
        </p:nvCxnSpPr>
        <p:spPr>
          <a:xfrm flipH="1">
            <a:off x="4315874" y="2764271"/>
            <a:ext cx="2286000" cy="1723673"/>
          </a:xfrm>
          <a:prstGeom prst="line">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1" name="Grafik 40" descr="Herunterladen mit einfarbiger Füllung">
            <a:extLst>
              <a:ext uri="{FF2B5EF4-FFF2-40B4-BE49-F238E27FC236}">
                <a16:creationId xmlns:a16="http://schemas.microsoft.com/office/drawing/2014/main" id="{05C84083-20E2-B9D5-08BD-1B1B1FDE9A1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174349" y="3707317"/>
            <a:ext cx="639763" cy="639763"/>
          </a:xfrm>
          <a:prstGeom prst="rect">
            <a:avLst/>
          </a:prstGeom>
        </p:spPr>
      </p:pic>
      <p:sp>
        <p:nvSpPr>
          <p:cNvPr id="42" name="Abgerundete rechteckige Legende 41">
            <a:extLst>
              <a:ext uri="{FF2B5EF4-FFF2-40B4-BE49-F238E27FC236}">
                <a16:creationId xmlns:a16="http://schemas.microsoft.com/office/drawing/2014/main" id="{591F30DE-3D96-BCD5-FB3C-8A453A9F276F}"/>
              </a:ext>
            </a:extLst>
          </p:cNvPr>
          <p:cNvSpPr/>
          <p:nvPr/>
        </p:nvSpPr>
        <p:spPr bwMode="gray">
          <a:xfrm>
            <a:off x="8380087" y="942413"/>
            <a:ext cx="3520967" cy="2929932"/>
          </a:xfrm>
          <a:prstGeom prst="wedgeRoundRectCallout">
            <a:avLst>
              <a:gd name="adj1" fmla="val -86974"/>
              <a:gd name="adj2" fmla="val -9071"/>
              <a:gd name="adj3" fmla="val 16667"/>
            </a:avLst>
          </a:prstGeom>
          <a:solidFill>
            <a:schemeClr val="bg1">
              <a:lumMod val="95000"/>
            </a:schemeClr>
          </a:solidFill>
          <a:ln w="12700" algn="ctr">
            <a:solidFill>
              <a:schemeClr val="bg1">
                <a:lumMod val="95000"/>
              </a:schemeClr>
            </a:solid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chemeClr val="tx1"/>
              </a:buClr>
              <a:buSzPct val="80000"/>
              <a:tabLst/>
            </a:pPr>
            <a:r>
              <a:rPr lang="de-DE" sz="1600" kern="0" dirty="0">
                <a:ea typeface="Arial Unicode MS" pitchFamily="34" charset="-128"/>
                <a:cs typeface="Arial Unicode MS" pitchFamily="34" charset="-128"/>
              </a:rPr>
              <a:t>Images:</a:t>
            </a:r>
          </a:p>
          <a:p>
            <a:pPr marL="285750" marR="0" indent="-285750" defTabSz="914400" eaLnBrk="1" fontAlgn="base" latinLnBrk="0" hangingPunct="1">
              <a:lnSpc>
                <a:spcPct val="100000"/>
              </a:lnSpc>
              <a:spcBef>
                <a:spcPct val="50000"/>
              </a:spcBef>
              <a:spcAft>
                <a:spcPct val="0"/>
              </a:spcAft>
              <a:buClr>
                <a:schemeClr val="tx1"/>
              </a:buClr>
              <a:buSzPct val="80000"/>
              <a:buFontTx/>
              <a:buChar char="-"/>
              <a:tabLst/>
            </a:pPr>
            <a:r>
              <a:rPr kumimoji="0" lang="de-DE" sz="1600" b="0" i="0" u="none" strike="noStrike" kern="0" cap="none" spc="0" normalizeH="0" baseline="0" noProof="0" dirty="0" err="1">
                <a:ln>
                  <a:noFill/>
                </a:ln>
                <a:effectLst/>
                <a:uLnTx/>
                <a:uFillTx/>
                <a:ea typeface="Arial Unicode MS" pitchFamily="34" charset="-128"/>
                <a:cs typeface="Arial Unicode MS" pitchFamily="34" charset="-128"/>
              </a:rPr>
              <a:t>read-only</a:t>
            </a:r>
            <a:r>
              <a:rPr kumimoji="0" lang="de-DE" sz="1600" b="0" i="0" u="none" strike="noStrike" kern="0" cap="none" spc="0" normalizeH="0" baseline="0" noProof="0" dirty="0">
                <a:ln>
                  <a:noFill/>
                </a:ln>
                <a:effectLst/>
                <a:uLnTx/>
                <a:uFillTx/>
                <a:ea typeface="Arial Unicode MS" pitchFamily="34" charset="-128"/>
                <a:cs typeface="Arial Unicode MS" pitchFamily="34" charset="-128"/>
              </a:rPr>
              <a:t> </a:t>
            </a:r>
            <a:r>
              <a:rPr kumimoji="0" lang="de-DE" sz="1600" b="0" i="0" u="none" strike="noStrike" kern="0" cap="none" spc="0" normalizeH="0" baseline="0" noProof="0" dirty="0" err="1">
                <a:ln>
                  <a:noFill/>
                </a:ln>
                <a:effectLst/>
                <a:uLnTx/>
                <a:uFillTx/>
                <a:ea typeface="Arial Unicode MS" pitchFamily="34" charset="-128"/>
                <a:cs typeface="Arial Unicode MS" pitchFamily="34" charset="-128"/>
              </a:rPr>
              <a:t>templates</a:t>
            </a:r>
            <a:endParaRPr kumimoji="0" lang="de-DE" sz="1600" b="0" i="0" u="none" strike="noStrike" kern="0" cap="none" spc="0" normalizeH="0" baseline="0" noProof="0" dirty="0">
              <a:ln>
                <a:noFill/>
              </a:ln>
              <a:effectLst/>
              <a:uLnTx/>
              <a:uFillTx/>
              <a:ea typeface="Arial Unicode MS" pitchFamily="34" charset="-128"/>
              <a:cs typeface="Arial Unicode MS" pitchFamily="34" charset="-128"/>
            </a:endParaRPr>
          </a:p>
          <a:p>
            <a:pPr marL="285750" marR="0" indent="-285750" defTabSz="914400" eaLnBrk="1" fontAlgn="base" latinLnBrk="0" hangingPunct="1">
              <a:lnSpc>
                <a:spcPct val="100000"/>
              </a:lnSpc>
              <a:spcBef>
                <a:spcPct val="50000"/>
              </a:spcBef>
              <a:spcAft>
                <a:spcPct val="0"/>
              </a:spcAft>
              <a:buClr>
                <a:schemeClr val="tx1"/>
              </a:buClr>
              <a:buSzPct val="80000"/>
              <a:buFontTx/>
              <a:buChar char="-"/>
              <a:tabLst/>
            </a:pPr>
            <a:r>
              <a:rPr lang="de-DE" sz="1600" kern="0" dirty="0" err="1">
                <a:ea typeface="Arial Unicode MS" pitchFamily="34" charset="-128"/>
                <a:cs typeface="Arial Unicode MS" pitchFamily="34" charset="-128"/>
              </a:rPr>
              <a:t>Stored</a:t>
            </a:r>
            <a:r>
              <a:rPr lang="de-DE" sz="1600" kern="0" dirty="0">
                <a:ea typeface="Arial Unicode MS" pitchFamily="34" charset="-128"/>
                <a:cs typeface="Arial Unicode MS" pitchFamily="34" charset="-128"/>
              </a:rPr>
              <a:t> </a:t>
            </a:r>
            <a:r>
              <a:rPr lang="de-DE" sz="1600" kern="0" dirty="0" err="1">
                <a:ea typeface="Arial Unicode MS" pitchFamily="34" charset="-128"/>
                <a:cs typeface="Arial Unicode MS" pitchFamily="34" charset="-128"/>
              </a:rPr>
              <a:t>centrally</a:t>
            </a:r>
            <a:r>
              <a:rPr lang="de-DE" sz="1600" kern="0" dirty="0">
                <a:ea typeface="Arial Unicode MS" pitchFamily="34" charset="-128"/>
                <a:cs typeface="Arial Unicode MS" pitchFamily="34" charset="-128"/>
              </a:rPr>
              <a:t> in a so-</a:t>
            </a:r>
            <a:r>
              <a:rPr lang="de-DE" sz="1600" kern="0" dirty="0" err="1">
                <a:ea typeface="Arial Unicode MS" pitchFamily="34" charset="-128"/>
                <a:cs typeface="Arial Unicode MS" pitchFamily="34" charset="-128"/>
              </a:rPr>
              <a:t>called</a:t>
            </a:r>
            <a:r>
              <a:rPr lang="de-DE" sz="1600" kern="0" dirty="0">
                <a:ea typeface="Arial Unicode MS" pitchFamily="34" charset="-128"/>
                <a:cs typeface="Arial Unicode MS" pitchFamily="34" charset="-128"/>
              </a:rPr>
              <a:t> </a:t>
            </a:r>
            <a:r>
              <a:rPr lang="de-DE" sz="1600" kern="0" dirty="0" err="1">
                <a:ea typeface="Arial Unicode MS" pitchFamily="34" charset="-128"/>
                <a:cs typeface="Arial Unicode MS" pitchFamily="34" charset="-128"/>
              </a:rPr>
              <a:t>registry</a:t>
            </a:r>
            <a:endParaRPr lang="de-DE" sz="1600" kern="0" dirty="0">
              <a:ea typeface="Arial Unicode MS" pitchFamily="34" charset="-128"/>
              <a:cs typeface="Arial Unicode MS" pitchFamily="34" charset="-128"/>
            </a:endParaRPr>
          </a:p>
          <a:p>
            <a:pPr marL="285750" marR="0" indent="-285750" defTabSz="914400" eaLnBrk="1" fontAlgn="base" latinLnBrk="0" hangingPunct="1">
              <a:lnSpc>
                <a:spcPct val="100000"/>
              </a:lnSpc>
              <a:spcBef>
                <a:spcPct val="50000"/>
              </a:spcBef>
              <a:spcAft>
                <a:spcPct val="0"/>
              </a:spcAft>
              <a:buClr>
                <a:schemeClr val="tx1"/>
              </a:buClr>
              <a:buSzPct val="80000"/>
              <a:buFontTx/>
              <a:buChar char="-"/>
              <a:tabLst/>
            </a:pPr>
            <a:r>
              <a:rPr lang="de-DE" sz="1600" kern="0" dirty="0" err="1">
                <a:ea typeface="Arial Unicode MS" pitchFamily="34" charset="-128"/>
                <a:cs typeface="Arial Unicode MS" pitchFamily="34" charset="-128"/>
              </a:rPr>
              <a:t>Addressable</a:t>
            </a:r>
            <a:r>
              <a:rPr lang="de-DE" sz="1600" kern="0" dirty="0">
                <a:ea typeface="Arial Unicode MS" pitchFamily="34" charset="-128"/>
                <a:cs typeface="Arial Unicode MS" pitchFamily="34" charset="-128"/>
              </a:rPr>
              <a:t> via a „tag“ </a:t>
            </a:r>
            <a:r>
              <a:rPr lang="de-DE" sz="1600" kern="0" dirty="0" err="1">
                <a:ea typeface="Arial Unicode MS" pitchFamily="34" charset="-128"/>
                <a:cs typeface="Arial Unicode MS" pitchFamily="34" charset="-128"/>
              </a:rPr>
              <a:t>or</a:t>
            </a:r>
            <a:r>
              <a:rPr lang="de-DE" sz="1600" kern="0" dirty="0">
                <a:ea typeface="Arial Unicode MS" pitchFamily="34" charset="-128"/>
                <a:cs typeface="Arial Unicode MS" pitchFamily="34" charset="-128"/>
              </a:rPr>
              <a:t> sha256 </a:t>
            </a:r>
            <a:r>
              <a:rPr lang="de-DE" sz="1600" kern="0" dirty="0" err="1">
                <a:ea typeface="Arial Unicode MS" pitchFamily="34" charset="-128"/>
                <a:cs typeface="Arial Unicode MS" pitchFamily="34" charset="-128"/>
              </a:rPr>
              <a:t>digest</a:t>
            </a:r>
            <a:endParaRPr lang="de-DE" sz="1600" kern="0" dirty="0">
              <a:ea typeface="Arial Unicode MS" pitchFamily="34" charset="-128"/>
              <a:cs typeface="Arial Unicode MS" pitchFamily="34" charset="-128"/>
            </a:endParaRPr>
          </a:p>
        </p:txBody>
      </p:sp>
    </p:spTree>
    <p:extLst>
      <p:ext uri="{BB962C8B-B14F-4D97-AF65-F5344CB8AC3E}">
        <p14:creationId xmlns:p14="http://schemas.microsoft.com/office/powerpoint/2010/main" val="38669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DE7798-65F5-3429-7921-1551166C47AC}"/>
              </a:ext>
            </a:extLst>
          </p:cNvPr>
          <p:cNvSpPr>
            <a:spLocks noGrp="1"/>
          </p:cNvSpPr>
          <p:nvPr>
            <p:ph type="title"/>
          </p:nvPr>
        </p:nvSpPr>
        <p:spPr/>
        <p:txBody>
          <a:bodyPr/>
          <a:lstStyle/>
          <a:p>
            <a:r>
              <a:rPr lang="de-DE" dirty="0" err="1"/>
              <a:t>Please</a:t>
            </a:r>
            <a:r>
              <a:rPr lang="de-DE" dirty="0"/>
              <a:t> type </a:t>
            </a:r>
            <a:r>
              <a:rPr lang="de-DE" dirty="0" err="1"/>
              <a:t>along</a:t>
            </a:r>
            <a:endParaRPr lang="de-DE" dirty="0"/>
          </a:p>
        </p:txBody>
      </p:sp>
      <p:sp>
        <p:nvSpPr>
          <p:cNvPr id="3" name="Textfeld 2">
            <a:extLst>
              <a:ext uri="{FF2B5EF4-FFF2-40B4-BE49-F238E27FC236}">
                <a16:creationId xmlns:a16="http://schemas.microsoft.com/office/drawing/2014/main" id="{3796437A-8539-847E-5ABD-D965AB464BBD}"/>
              </a:ext>
            </a:extLst>
          </p:cNvPr>
          <p:cNvSpPr txBox="1"/>
          <p:nvPr/>
        </p:nvSpPr>
        <p:spPr>
          <a:xfrm>
            <a:off x="504001" y="1282065"/>
            <a:ext cx="8667708" cy="1107996"/>
          </a:xfrm>
          <a:prstGeom prst="rect">
            <a:avLst/>
          </a:prstGeom>
          <a:noFill/>
        </p:spPr>
        <p:txBody>
          <a:bodyPr wrap="square" lIns="0" tIns="0" rIns="0" bIns="0" rtlCol="0" anchor="ctr">
            <a:spAutoFit/>
          </a:bodyPr>
          <a:lstStyle/>
          <a:p>
            <a:pPr fontAlgn="base">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info</a:t>
            </a: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spcBef>
                <a:spcPct val="50000"/>
              </a:spcBef>
              <a:spcAft>
                <a:spcPct val="0"/>
              </a:spcAft>
              <a:buClr>
                <a:srgbClr val="F0AB00"/>
              </a:buClr>
              <a:buSzPct val="80000"/>
            </a:pP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pull </a:t>
            </a:r>
            <a:r>
              <a:rPr lang="de-DE" sz="1800" kern="0" dirty="0" err="1">
                <a:latin typeface="Courier New" panose="02070309020205020404" pitchFamily="49" charset="0"/>
                <a:ea typeface="Arial Unicode MS" pitchFamily="34" charset="-128"/>
                <a:cs typeface="Courier New" panose="02070309020205020404" pitchFamily="49" charset="0"/>
              </a:rPr>
              <a:t>ubuntu:latest</a:t>
            </a:r>
            <a:endParaRPr lang="de-DE" sz="1800" kern="0" dirty="0">
              <a:latin typeface="Courier New" panose="02070309020205020404" pitchFamily="49" charset="0"/>
              <a:ea typeface="Arial Unicode MS" pitchFamily="34" charset="-128"/>
              <a:cs typeface="Courier New" panose="02070309020205020404" pitchFamily="49" charset="0"/>
            </a:endParaRPr>
          </a:p>
        </p:txBody>
      </p:sp>
    </p:spTree>
    <p:extLst>
      <p:ext uri="{BB962C8B-B14F-4D97-AF65-F5344CB8AC3E}">
        <p14:creationId xmlns:p14="http://schemas.microsoft.com/office/powerpoint/2010/main" val="2875838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de-DE" dirty="0"/>
              <a:t>Container </a:t>
            </a:r>
            <a:r>
              <a:rPr lang="de-DE" dirty="0" err="1"/>
              <a:t>lifecycle</a:t>
            </a:r>
            <a:endParaRPr lang="de-DE" dirty="0"/>
          </a:p>
        </p:txBody>
      </p:sp>
      <p:sp>
        <p:nvSpPr>
          <p:cNvPr id="30" name="Rectangle 29">
            <a:extLst>
              <a:ext uri="{FF2B5EF4-FFF2-40B4-BE49-F238E27FC236}">
                <a16:creationId xmlns:a16="http://schemas.microsoft.com/office/drawing/2014/main" id="{73C33493-32A9-47D6-B0F1-D848EC53CD41}"/>
              </a:ext>
            </a:extLst>
          </p:cNvPr>
          <p:cNvSpPr/>
          <p:nvPr/>
        </p:nvSpPr>
        <p:spPr bwMode="gray">
          <a:xfrm>
            <a:off x="1503862" y="3590486"/>
            <a:ext cx="2913925" cy="322790"/>
          </a:xfrm>
          <a:prstGeom prst="rect">
            <a:avLst/>
          </a:prstGeom>
          <a:solidFill>
            <a:schemeClr val="accent4">
              <a:lumMod val="20000"/>
              <a:lumOff val="80000"/>
            </a:schemeClr>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050" b="1" kern="0" dirty="0">
                <a:ln w="0"/>
                <a:solidFill>
                  <a:schemeClr val="tx1">
                    <a:lumMod val="85000"/>
                    <a:lumOff val="15000"/>
                  </a:schemeClr>
                </a:solidFill>
                <a:ea typeface="Arial Unicode MS" pitchFamily="34" charset="-128"/>
                <a:cs typeface="Arial Unicode MS" pitchFamily="34" charset="-128"/>
              </a:rPr>
              <a:t>Container exists</a:t>
            </a:r>
            <a:endPar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grpSp>
        <p:nvGrpSpPr>
          <p:cNvPr id="9" name="Group 8">
            <a:extLst>
              <a:ext uri="{FF2B5EF4-FFF2-40B4-BE49-F238E27FC236}">
                <a16:creationId xmlns:a16="http://schemas.microsoft.com/office/drawing/2014/main" id="{6758F283-7E84-49F0-A77D-8F42AAD03BDC}"/>
              </a:ext>
            </a:extLst>
          </p:cNvPr>
          <p:cNvGrpSpPr/>
          <p:nvPr/>
        </p:nvGrpSpPr>
        <p:grpSpPr>
          <a:xfrm>
            <a:off x="904780" y="2935900"/>
            <a:ext cx="1898923" cy="307512"/>
            <a:chOff x="853924" y="3598589"/>
            <a:chExt cx="1898923" cy="307512"/>
          </a:xfrm>
        </p:grpSpPr>
        <p:sp>
          <p:nvSpPr>
            <p:cNvPr id="31" name="TextBox 30">
              <a:extLst>
                <a:ext uri="{FF2B5EF4-FFF2-40B4-BE49-F238E27FC236}">
                  <a16:creationId xmlns:a16="http://schemas.microsoft.com/office/drawing/2014/main" id="{7E5B70B1-B7DF-45CF-B9E9-B1889FB3284B}"/>
                </a:ext>
              </a:extLst>
            </p:cNvPr>
            <p:cNvSpPr txBox="1"/>
            <p:nvPr/>
          </p:nvSpPr>
          <p:spPr>
            <a:xfrm>
              <a:off x="1356631" y="3660012"/>
              <a:ext cx="1396216"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create</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32" name="Picture 31">
              <a:extLst>
                <a:ext uri="{FF2B5EF4-FFF2-40B4-BE49-F238E27FC236}">
                  <a16:creationId xmlns:a16="http://schemas.microsoft.com/office/drawing/2014/main" id="{BDCCEBF0-605B-448E-93FA-152B04645F4D}"/>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33" name="Straight Arrow Connector 32">
            <a:extLst>
              <a:ext uri="{FF2B5EF4-FFF2-40B4-BE49-F238E27FC236}">
                <a16:creationId xmlns:a16="http://schemas.microsoft.com/office/drawing/2014/main" id="{2A033D17-6ADD-4C01-8E00-ADA80BEA9F63}"/>
              </a:ext>
            </a:extLst>
          </p:cNvPr>
          <p:cNvCxnSpPr>
            <a:cxnSpLocks/>
            <a:endCxn id="30" idx="0"/>
          </p:cNvCxnSpPr>
          <p:nvPr/>
        </p:nvCxnSpPr>
        <p:spPr>
          <a:xfrm>
            <a:off x="2960825" y="2721442"/>
            <a:ext cx="0" cy="869044"/>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6311455A-B7C6-4A3D-BDB4-53D40970A335}"/>
              </a:ext>
            </a:extLst>
          </p:cNvPr>
          <p:cNvGrpSpPr/>
          <p:nvPr/>
        </p:nvGrpSpPr>
        <p:grpSpPr>
          <a:xfrm>
            <a:off x="5144849" y="3388419"/>
            <a:ext cx="1791521" cy="307512"/>
            <a:chOff x="853924" y="3598589"/>
            <a:chExt cx="1791521" cy="307512"/>
          </a:xfrm>
        </p:grpSpPr>
        <p:sp>
          <p:nvSpPr>
            <p:cNvPr id="37" name="TextBox 36">
              <a:extLst>
                <a:ext uri="{FF2B5EF4-FFF2-40B4-BE49-F238E27FC236}">
                  <a16:creationId xmlns:a16="http://schemas.microsoft.com/office/drawing/2014/main" id="{6AC3430A-5D6C-4A4D-9AC1-7E57218BB7E2}"/>
                </a:ext>
              </a:extLst>
            </p:cNvPr>
            <p:cNvSpPr txBox="1"/>
            <p:nvPr/>
          </p:nvSpPr>
          <p:spPr>
            <a:xfrm>
              <a:off x="1356631" y="3660012"/>
              <a:ext cx="1288814"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start</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38" name="Picture 37">
              <a:extLst>
                <a:ext uri="{FF2B5EF4-FFF2-40B4-BE49-F238E27FC236}">
                  <a16:creationId xmlns:a16="http://schemas.microsoft.com/office/drawing/2014/main" id="{23BC174D-EC93-40FA-B53E-BFEE70175ADF}"/>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39" name="Straight Arrow Connector 38">
            <a:extLst>
              <a:ext uri="{FF2B5EF4-FFF2-40B4-BE49-F238E27FC236}">
                <a16:creationId xmlns:a16="http://schemas.microsoft.com/office/drawing/2014/main" id="{CF34BABA-4BA0-42EC-8170-345137E0771B}"/>
              </a:ext>
            </a:extLst>
          </p:cNvPr>
          <p:cNvCxnSpPr>
            <a:cxnSpLocks/>
            <a:stCxn id="30" idx="3"/>
            <a:endCxn id="35" idx="1"/>
          </p:cNvCxnSpPr>
          <p:nvPr/>
        </p:nvCxnSpPr>
        <p:spPr>
          <a:xfrm flipV="1">
            <a:off x="4417787" y="3749954"/>
            <a:ext cx="3345894" cy="1927"/>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8103F85-12DC-4BDF-833D-548190F6C0EF}"/>
              </a:ext>
            </a:extLst>
          </p:cNvPr>
          <p:cNvCxnSpPr>
            <a:cxnSpLocks/>
            <a:stCxn id="35" idx="2"/>
            <a:endCxn id="77" idx="0"/>
          </p:cNvCxnSpPr>
          <p:nvPr/>
        </p:nvCxnSpPr>
        <p:spPr>
          <a:xfrm>
            <a:off x="9210245" y="3909422"/>
            <a:ext cx="0" cy="1531101"/>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A31FADFA-1719-40C0-B377-C4E9665BFF18}"/>
              </a:ext>
            </a:extLst>
          </p:cNvPr>
          <p:cNvGrpSpPr/>
          <p:nvPr/>
        </p:nvGrpSpPr>
        <p:grpSpPr>
          <a:xfrm>
            <a:off x="9477123" y="4476115"/>
            <a:ext cx="1684121" cy="307512"/>
            <a:chOff x="853924" y="3598589"/>
            <a:chExt cx="1684121" cy="307512"/>
          </a:xfrm>
        </p:grpSpPr>
        <p:sp>
          <p:nvSpPr>
            <p:cNvPr id="70" name="TextBox 69">
              <a:extLst>
                <a:ext uri="{FF2B5EF4-FFF2-40B4-BE49-F238E27FC236}">
                  <a16:creationId xmlns:a16="http://schemas.microsoft.com/office/drawing/2014/main" id="{75DD4279-15ED-4461-B6B4-EF4309F73AD9}"/>
                </a:ext>
              </a:extLst>
            </p:cNvPr>
            <p:cNvSpPr txBox="1"/>
            <p:nvPr/>
          </p:nvSpPr>
          <p:spPr>
            <a:xfrm>
              <a:off x="1356631" y="3660012"/>
              <a:ext cx="1181414"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stop</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71" name="Picture 70">
              <a:extLst>
                <a:ext uri="{FF2B5EF4-FFF2-40B4-BE49-F238E27FC236}">
                  <a16:creationId xmlns:a16="http://schemas.microsoft.com/office/drawing/2014/main" id="{34DD894D-3BD4-483B-8E8F-64E7571630AE}"/>
                </a:ext>
              </a:extLst>
            </p:cNvPr>
            <p:cNvPicPr>
              <a:picLocks noChangeAspect="1"/>
            </p:cNvPicPr>
            <p:nvPr/>
          </p:nvPicPr>
          <p:blipFill>
            <a:blip r:embed="rId3"/>
            <a:stretch>
              <a:fillRect/>
            </a:stretch>
          </p:blipFill>
          <p:spPr>
            <a:xfrm>
              <a:off x="853924" y="3598589"/>
              <a:ext cx="410853" cy="307512"/>
            </a:xfrm>
            <a:prstGeom prst="rect">
              <a:avLst/>
            </a:prstGeom>
          </p:spPr>
        </p:pic>
      </p:grpSp>
      <p:sp>
        <p:nvSpPr>
          <p:cNvPr id="77" name="Rectangle 76">
            <a:extLst>
              <a:ext uri="{FF2B5EF4-FFF2-40B4-BE49-F238E27FC236}">
                <a16:creationId xmlns:a16="http://schemas.microsoft.com/office/drawing/2014/main" id="{AD16D3A0-0893-4C91-A142-12BE900A90B7}"/>
              </a:ext>
            </a:extLst>
          </p:cNvPr>
          <p:cNvSpPr/>
          <p:nvPr/>
        </p:nvSpPr>
        <p:spPr bwMode="gray">
          <a:xfrm>
            <a:off x="7763681" y="5440523"/>
            <a:ext cx="2893127" cy="318936"/>
          </a:xfrm>
          <a:prstGeom prst="rect">
            <a:avLst/>
          </a:prstGeom>
          <a:solidFill>
            <a:srgbClr val="C00000"/>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050" b="1" kern="0" dirty="0">
                <a:ln w="0"/>
                <a:solidFill>
                  <a:schemeClr val="tx1">
                    <a:lumMod val="85000"/>
                    <a:lumOff val="15000"/>
                  </a:schemeClr>
                </a:solidFill>
                <a:ea typeface="Arial Unicode MS" pitchFamily="34" charset="-128"/>
                <a:cs typeface="Arial Unicode MS" pitchFamily="34" charset="-128"/>
              </a:rPr>
              <a:t>Container still exists</a:t>
            </a:r>
            <a:endPar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grpSp>
        <p:nvGrpSpPr>
          <p:cNvPr id="81" name="Group 80">
            <a:extLst>
              <a:ext uri="{FF2B5EF4-FFF2-40B4-BE49-F238E27FC236}">
                <a16:creationId xmlns:a16="http://schemas.microsoft.com/office/drawing/2014/main" id="{6ADD1F4C-8F5E-49BE-8938-3BFE42F391A2}"/>
              </a:ext>
            </a:extLst>
          </p:cNvPr>
          <p:cNvGrpSpPr/>
          <p:nvPr/>
        </p:nvGrpSpPr>
        <p:grpSpPr>
          <a:xfrm>
            <a:off x="7097100" y="4463426"/>
            <a:ext cx="1791521" cy="307512"/>
            <a:chOff x="853924" y="3598589"/>
            <a:chExt cx="1791521" cy="307512"/>
          </a:xfrm>
        </p:grpSpPr>
        <p:sp>
          <p:nvSpPr>
            <p:cNvPr id="82" name="TextBox 81">
              <a:extLst>
                <a:ext uri="{FF2B5EF4-FFF2-40B4-BE49-F238E27FC236}">
                  <a16:creationId xmlns:a16="http://schemas.microsoft.com/office/drawing/2014/main" id="{C6F5D3F3-3992-4F98-92B9-BC2E17193F10}"/>
                </a:ext>
              </a:extLst>
            </p:cNvPr>
            <p:cNvSpPr txBox="1"/>
            <p:nvPr/>
          </p:nvSpPr>
          <p:spPr>
            <a:xfrm>
              <a:off x="1356631" y="3660012"/>
              <a:ext cx="1288814"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start</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83" name="Picture 82">
              <a:extLst>
                <a:ext uri="{FF2B5EF4-FFF2-40B4-BE49-F238E27FC236}">
                  <a16:creationId xmlns:a16="http://schemas.microsoft.com/office/drawing/2014/main" id="{2A7619DA-9228-442C-BEFB-DFD8C4578570}"/>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84" name="Straight Arrow Connector 83">
            <a:extLst>
              <a:ext uri="{FF2B5EF4-FFF2-40B4-BE49-F238E27FC236}">
                <a16:creationId xmlns:a16="http://schemas.microsoft.com/office/drawing/2014/main" id="{E771766C-56DD-44F2-A3B3-F25BF65D6209}"/>
              </a:ext>
            </a:extLst>
          </p:cNvPr>
          <p:cNvCxnSpPr>
            <a:cxnSpLocks/>
          </p:cNvCxnSpPr>
          <p:nvPr/>
        </p:nvCxnSpPr>
        <p:spPr>
          <a:xfrm flipV="1">
            <a:off x="9041432" y="3909422"/>
            <a:ext cx="0" cy="1519580"/>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6577650D-C412-4CFC-9B83-C5E26687CAFF}"/>
              </a:ext>
            </a:extLst>
          </p:cNvPr>
          <p:cNvSpPr/>
          <p:nvPr/>
        </p:nvSpPr>
        <p:spPr bwMode="gray">
          <a:xfrm>
            <a:off x="1503862" y="5440523"/>
            <a:ext cx="2893127" cy="31893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defTabSz="914400" fontAlgn="base">
              <a:spcBef>
                <a:spcPct val="50000"/>
              </a:spcBef>
              <a:spcAft>
                <a:spcPct val="0"/>
              </a:spcAft>
              <a:buClr>
                <a:srgbClr val="F0AB00"/>
              </a:buClr>
              <a:buSzPct val="80000"/>
            </a:pPr>
            <a:r>
              <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rPr>
              <a:t>Everything is gone</a:t>
            </a:r>
          </a:p>
        </p:txBody>
      </p:sp>
      <p:sp>
        <p:nvSpPr>
          <p:cNvPr id="88" name="Multiplication Sign 87">
            <a:extLst>
              <a:ext uri="{FF2B5EF4-FFF2-40B4-BE49-F238E27FC236}">
                <a16:creationId xmlns:a16="http://schemas.microsoft.com/office/drawing/2014/main" id="{12D4D4F1-26ED-4D92-AD8D-4B5FCDF2A6DE}"/>
              </a:ext>
            </a:extLst>
          </p:cNvPr>
          <p:cNvSpPr/>
          <p:nvPr/>
        </p:nvSpPr>
        <p:spPr bwMode="gray">
          <a:xfrm>
            <a:off x="2440733" y="4890690"/>
            <a:ext cx="2076628" cy="1418601"/>
          </a:xfrm>
          <a:prstGeom prst="mathMultiply">
            <a:avLst>
              <a:gd name="adj1" fmla="val 19772"/>
            </a:avLst>
          </a:prstGeom>
          <a:solidFill>
            <a:srgbClr val="C000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89" name="Group 88">
            <a:extLst>
              <a:ext uri="{FF2B5EF4-FFF2-40B4-BE49-F238E27FC236}">
                <a16:creationId xmlns:a16="http://schemas.microsoft.com/office/drawing/2014/main" id="{0539C04C-8743-41B9-ABB3-F9CB0D01F13A}"/>
              </a:ext>
            </a:extLst>
          </p:cNvPr>
          <p:cNvGrpSpPr/>
          <p:nvPr/>
        </p:nvGrpSpPr>
        <p:grpSpPr>
          <a:xfrm>
            <a:off x="5141550" y="5187993"/>
            <a:ext cx="1469318" cy="307512"/>
            <a:chOff x="853924" y="3598589"/>
            <a:chExt cx="1469318" cy="307512"/>
          </a:xfrm>
        </p:grpSpPr>
        <p:sp>
          <p:nvSpPr>
            <p:cNvPr id="90" name="TextBox 89">
              <a:extLst>
                <a:ext uri="{FF2B5EF4-FFF2-40B4-BE49-F238E27FC236}">
                  <a16:creationId xmlns:a16="http://schemas.microsoft.com/office/drawing/2014/main" id="{EAA63DD8-8D69-4546-9D27-1967C2B7B7A1}"/>
                </a:ext>
              </a:extLst>
            </p:cNvPr>
            <p:cNvSpPr txBox="1"/>
            <p:nvPr/>
          </p:nvSpPr>
          <p:spPr>
            <a:xfrm>
              <a:off x="1356631" y="3660012"/>
              <a:ext cx="966611"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rm</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91" name="Picture 90">
              <a:extLst>
                <a:ext uri="{FF2B5EF4-FFF2-40B4-BE49-F238E27FC236}">
                  <a16:creationId xmlns:a16="http://schemas.microsoft.com/office/drawing/2014/main" id="{F1F6CA4F-0C43-4AD3-9A79-CB5AFE28CB7B}"/>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99" name="Straight Arrow Connector 98">
            <a:extLst>
              <a:ext uri="{FF2B5EF4-FFF2-40B4-BE49-F238E27FC236}">
                <a16:creationId xmlns:a16="http://schemas.microsoft.com/office/drawing/2014/main" id="{ED2E34F9-AFE3-461E-BCE9-F611A0AA4487}"/>
              </a:ext>
            </a:extLst>
          </p:cNvPr>
          <p:cNvCxnSpPr>
            <a:stCxn id="77" idx="1"/>
            <a:endCxn id="87" idx="3"/>
          </p:cNvCxnSpPr>
          <p:nvPr/>
        </p:nvCxnSpPr>
        <p:spPr>
          <a:xfrm flipH="1">
            <a:off x="4396989" y="5599991"/>
            <a:ext cx="3366692" cy="0"/>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F88AAB92-4231-4CD6-8B42-F0F5C84CCF18}"/>
              </a:ext>
            </a:extLst>
          </p:cNvPr>
          <p:cNvSpPr/>
          <p:nvPr/>
        </p:nvSpPr>
        <p:spPr bwMode="gray">
          <a:xfrm>
            <a:off x="7763681" y="3590486"/>
            <a:ext cx="2893127" cy="318936"/>
          </a:xfrm>
          <a:prstGeom prst="rect">
            <a:avLst/>
          </a:prstGeom>
          <a:solidFill>
            <a:schemeClr val="accent4">
              <a:lumMod val="75000"/>
            </a:schemeClr>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050" b="1" kern="0" dirty="0">
                <a:ln w="0"/>
                <a:solidFill>
                  <a:schemeClr val="tx1">
                    <a:lumMod val="85000"/>
                    <a:lumOff val="15000"/>
                  </a:schemeClr>
                </a:solidFill>
                <a:ea typeface="Arial Unicode MS" pitchFamily="34" charset="-128"/>
                <a:cs typeface="Arial Unicode MS" pitchFamily="34" charset="-128"/>
              </a:rPr>
              <a:t>$: echo hello world</a:t>
            </a:r>
            <a:endPar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pic>
        <p:nvPicPr>
          <p:cNvPr id="4" name="Grafik 3" descr="Platte mit einfarbiger Füllung">
            <a:extLst>
              <a:ext uri="{FF2B5EF4-FFF2-40B4-BE49-F238E27FC236}">
                <a16:creationId xmlns:a16="http://schemas.microsoft.com/office/drawing/2014/main" id="{195311E9-E7B0-71A9-9BB9-7DA94CE880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15795" y="1000698"/>
            <a:ext cx="1869259" cy="1869259"/>
          </a:xfrm>
          <a:prstGeom prst="rect">
            <a:avLst/>
          </a:prstGeom>
        </p:spPr>
      </p:pic>
      <p:sp>
        <p:nvSpPr>
          <p:cNvPr id="10" name="Textfeld 9">
            <a:extLst>
              <a:ext uri="{FF2B5EF4-FFF2-40B4-BE49-F238E27FC236}">
                <a16:creationId xmlns:a16="http://schemas.microsoft.com/office/drawing/2014/main" id="{88D22BC3-5EEB-AA7E-7EC7-90359B6C95E7}"/>
              </a:ext>
            </a:extLst>
          </p:cNvPr>
          <p:cNvSpPr txBox="1"/>
          <p:nvPr/>
        </p:nvSpPr>
        <p:spPr>
          <a:xfrm>
            <a:off x="3742769" y="1792519"/>
            <a:ext cx="2156072" cy="276999"/>
          </a:xfrm>
          <a:prstGeom prst="rect">
            <a:avLst/>
          </a:prstGeom>
          <a:noFill/>
        </p:spPr>
        <p:txBody>
          <a:bodyPr wrap="square" lIns="0" tIns="0" rIns="0" bIns="0" rtlCol="0" anchor="ctr">
            <a:spAutoFit/>
          </a:bodyPr>
          <a:lstStyle/>
          <a:p>
            <a:pPr algn="ctr" fontAlgn="base">
              <a:spcBef>
                <a:spcPct val="50000"/>
              </a:spcBef>
              <a:spcAft>
                <a:spcPct val="0"/>
              </a:spcAft>
              <a:buClr>
                <a:srgbClr val="F0AB00"/>
              </a:buClr>
              <a:buSzPct val="80000"/>
            </a:pP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a:t>
            </a:r>
            <a:r>
              <a:rPr lang="de-DE" sz="1800" kern="0" dirty="0" err="1">
                <a:latin typeface="Courier New" panose="02070309020205020404" pitchFamily="49" charset="0"/>
                <a:ea typeface="Arial Unicode MS" pitchFamily="34" charset="-128"/>
                <a:cs typeface="Courier New" panose="02070309020205020404" pitchFamily="49" charset="0"/>
              </a:rPr>
              <a:t>ubuntu</a:t>
            </a:r>
            <a:r>
              <a:rPr lang="de-DE" sz="1800" kern="0" dirty="0">
                <a:latin typeface="Courier New" panose="02070309020205020404" pitchFamily="49" charset="0"/>
                <a:ea typeface="Arial Unicode MS" pitchFamily="34" charset="-128"/>
                <a:cs typeface="Courier New" panose="02070309020205020404" pitchFamily="49" charset="0"/>
              </a:rPr>
              <a:t> </a:t>
            </a:r>
          </a:p>
        </p:txBody>
      </p:sp>
    </p:spTree>
    <p:extLst>
      <p:ext uri="{BB962C8B-B14F-4D97-AF65-F5344CB8AC3E}">
        <p14:creationId xmlns:p14="http://schemas.microsoft.com/office/powerpoint/2010/main" val="329089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77" grpId="0" animBg="1"/>
      <p:bldP spid="87" grpId="0" animBg="1"/>
      <p:bldP spid="88" grpId="0" animBg="1"/>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DE7798-65F5-3429-7921-1551166C47AC}"/>
              </a:ext>
            </a:extLst>
          </p:cNvPr>
          <p:cNvSpPr>
            <a:spLocks noGrp="1"/>
          </p:cNvSpPr>
          <p:nvPr>
            <p:ph type="title"/>
          </p:nvPr>
        </p:nvSpPr>
        <p:spPr/>
        <p:txBody>
          <a:bodyPr/>
          <a:lstStyle/>
          <a:p>
            <a:r>
              <a:rPr lang="de-DE" dirty="0" err="1"/>
              <a:t>Please</a:t>
            </a:r>
            <a:r>
              <a:rPr lang="de-DE" dirty="0"/>
              <a:t> type </a:t>
            </a:r>
            <a:r>
              <a:rPr lang="de-DE" dirty="0" err="1"/>
              <a:t>along</a:t>
            </a:r>
            <a:r>
              <a:rPr lang="de-DE" dirty="0"/>
              <a:t> (1)</a:t>
            </a:r>
          </a:p>
        </p:txBody>
      </p:sp>
      <p:sp>
        <p:nvSpPr>
          <p:cNvPr id="4" name="Textfeld 2">
            <a:extLst>
              <a:ext uri="{FF2B5EF4-FFF2-40B4-BE49-F238E27FC236}">
                <a16:creationId xmlns:a16="http://schemas.microsoft.com/office/drawing/2014/main" id="{8921AD4C-1D7C-6C17-51E4-38B23E96A847}"/>
              </a:ext>
            </a:extLst>
          </p:cNvPr>
          <p:cNvSpPr txBox="1"/>
          <p:nvPr/>
        </p:nvSpPr>
        <p:spPr>
          <a:xfrm>
            <a:off x="504001" y="1299572"/>
            <a:ext cx="8667708" cy="4258858"/>
          </a:xfrm>
          <a:prstGeom prst="rect">
            <a:avLst/>
          </a:prstGeom>
          <a:noFill/>
        </p:spPr>
        <p:txBody>
          <a:bodyPr wrap="square" lIns="0" tIns="0" rIns="0" bIns="0" rtlCol="0" anchor="ctr">
            <a:spAutoFit/>
          </a:bodyPr>
          <a:lstStyle/>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create</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it</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ubuntu:latest</a:t>
            </a: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list</a:t>
            </a:r>
            <a:r>
              <a:rPr lang="de-DE" sz="1800" kern="0" dirty="0">
                <a:latin typeface="Courier New" panose="02070309020205020404" pitchFamily="49" charset="0"/>
                <a:ea typeface="Arial Unicode MS" pitchFamily="34" charset="-128"/>
                <a:cs typeface="Courier New" panose="02070309020205020404" pitchFamily="49" charset="0"/>
              </a:rPr>
              <a:t> –a</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start</a:t>
            </a:r>
            <a:r>
              <a:rPr lang="de-DE" sz="1800" kern="0" dirty="0">
                <a:latin typeface="Courier New" panose="02070309020205020404" pitchFamily="49" charset="0"/>
                <a:ea typeface="Arial Unicode MS" pitchFamily="34" charset="-128"/>
                <a:cs typeface="Courier New" panose="02070309020205020404" pitchFamily="49" charset="0"/>
              </a:rPr>
              <a:t> –i &lt;</a:t>
            </a:r>
            <a:r>
              <a:rPr lang="de-DE" sz="1800" kern="0" dirty="0" err="1">
                <a:latin typeface="Courier New" panose="02070309020205020404" pitchFamily="49" charset="0"/>
                <a:ea typeface="Arial Unicode MS" pitchFamily="34" charset="-128"/>
                <a:cs typeface="Courier New" panose="02070309020205020404" pitchFamily="49" charset="0"/>
              </a:rPr>
              <a:t>name</a:t>
            </a:r>
            <a:r>
              <a:rPr lang="de-DE" sz="1800" kern="0" dirty="0">
                <a:latin typeface="Courier New" panose="02070309020205020404" pitchFamily="49" charset="0"/>
                <a:ea typeface="Arial Unicode MS" pitchFamily="34" charset="-128"/>
                <a:cs typeface="Courier New" panose="02070309020205020404" pitchFamily="49" charset="0"/>
              </a:rPr>
              <a:t>/ID </a:t>
            </a:r>
            <a:r>
              <a:rPr lang="de-DE" sz="1800" kern="0" dirty="0" err="1">
                <a:latin typeface="Courier New" panose="02070309020205020404" pitchFamily="49" charset="0"/>
                <a:ea typeface="Arial Unicode MS" pitchFamily="34" charset="-128"/>
                <a:cs typeface="Courier New" panose="02070309020205020404" pitchFamily="49" charset="0"/>
              </a:rPr>
              <a:t>of</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your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&gt;</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 </a:t>
            </a:r>
            <a:r>
              <a:rPr lang="de-DE" sz="1800" kern="0" dirty="0" err="1">
                <a:latin typeface="Courier New" panose="02070309020205020404" pitchFamily="49" charset="0"/>
                <a:ea typeface="Arial Unicode MS" pitchFamily="34" charset="-128"/>
                <a:cs typeface="Courier New" panose="02070309020205020404" pitchFamily="49" charset="0"/>
              </a:rPr>
              <a:t>apt-get</a:t>
            </a:r>
            <a:r>
              <a:rPr lang="de-DE" sz="1800" kern="0" dirty="0">
                <a:latin typeface="Courier New" panose="02070309020205020404" pitchFamily="49" charset="0"/>
                <a:ea typeface="Arial Unicode MS" pitchFamily="34" charset="-128"/>
                <a:cs typeface="Courier New" panose="02070309020205020404" pitchFamily="49" charset="0"/>
              </a:rPr>
              <a:t> update</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 </a:t>
            </a:r>
            <a:r>
              <a:rPr lang="de-DE" sz="1800" kern="0" dirty="0" err="1">
                <a:latin typeface="Courier New" panose="02070309020205020404" pitchFamily="49" charset="0"/>
                <a:ea typeface="Arial Unicode MS" pitchFamily="34" charset="-128"/>
                <a:cs typeface="Courier New" panose="02070309020205020404" pitchFamily="49" charset="0"/>
              </a:rPr>
              <a:t>apt-get</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install</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cowsay</a:t>
            </a: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 cd /</a:t>
            </a:r>
            <a:r>
              <a:rPr lang="de-DE" sz="1800" kern="0" dirty="0" err="1">
                <a:latin typeface="Courier New" panose="02070309020205020404" pitchFamily="49" charset="0"/>
                <a:ea typeface="Arial Unicode MS" pitchFamily="34" charset="-128"/>
                <a:cs typeface="Courier New" panose="02070309020205020404" pitchFamily="49" charset="0"/>
              </a:rPr>
              <a:t>usr</a:t>
            </a:r>
            <a:r>
              <a:rPr lang="de-DE" sz="1800" kern="0" dirty="0">
                <a:latin typeface="Courier New" panose="02070309020205020404" pitchFamily="49" charset="0"/>
                <a:ea typeface="Arial Unicode MS" pitchFamily="34" charset="-128"/>
                <a:cs typeface="Courier New" panose="02070309020205020404" pitchFamily="49" charset="0"/>
              </a:rPr>
              <a:t>/</a:t>
            </a:r>
            <a:r>
              <a:rPr lang="de-DE" sz="1800" kern="0" dirty="0" err="1">
                <a:latin typeface="Courier New" panose="02070309020205020404" pitchFamily="49" charset="0"/>
                <a:ea typeface="Arial Unicode MS" pitchFamily="34" charset="-128"/>
                <a:cs typeface="Courier New" panose="02070309020205020404" pitchFamily="49" charset="0"/>
              </a:rPr>
              <a:t>games</a:t>
            </a:r>
            <a:r>
              <a:rPr lang="de-DE" sz="1800" kern="0" dirty="0">
                <a:latin typeface="Courier New" panose="02070309020205020404" pitchFamily="49" charset="0"/>
                <a:ea typeface="Arial Unicode MS" pitchFamily="34" charset="-128"/>
                <a:cs typeface="Courier New" panose="02070309020205020404" pitchFamily="49" charset="0"/>
              </a:rPr>
              <a:t> </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 </a:t>
            </a:r>
            <a:r>
              <a:rPr lang="de-DE" sz="1800" kern="0" dirty="0" err="1">
                <a:latin typeface="Courier New" panose="02070309020205020404" pitchFamily="49" charset="0"/>
                <a:ea typeface="Arial Unicode MS" pitchFamily="34" charset="-128"/>
                <a:cs typeface="Courier New" panose="02070309020205020404" pitchFamily="49" charset="0"/>
              </a:rPr>
              <a:t>cowsay</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hello</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world</a:t>
            </a: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 </a:t>
            </a:r>
            <a:r>
              <a:rPr lang="de-DE" sz="1800" kern="0" dirty="0" err="1">
                <a:latin typeface="Courier New" panose="02070309020205020404" pitchFamily="49" charset="0"/>
                <a:ea typeface="Arial Unicode MS" pitchFamily="34" charset="-128"/>
                <a:cs typeface="Courier New" panose="02070309020205020404" pitchFamily="49" charset="0"/>
              </a:rPr>
              <a:t>exit</a:t>
            </a:r>
            <a:endParaRPr lang="de-DE" sz="1800" kern="0" dirty="0">
              <a:latin typeface="Courier New" panose="02070309020205020404" pitchFamily="49" charset="0"/>
              <a:ea typeface="Arial Unicode MS" pitchFamily="34" charset="-128"/>
              <a:cs typeface="Courier New" panose="02070309020205020404" pitchFamily="49" charset="0"/>
            </a:endParaRPr>
          </a:p>
        </p:txBody>
      </p:sp>
    </p:spTree>
    <p:extLst>
      <p:ext uri="{BB962C8B-B14F-4D97-AF65-F5344CB8AC3E}">
        <p14:creationId xmlns:p14="http://schemas.microsoft.com/office/powerpoint/2010/main" val="4006759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DE7798-65F5-3429-7921-1551166C47AC}"/>
              </a:ext>
            </a:extLst>
          </p:cNvPr>
          <p:cNvSpPr>
            <a:spLocks noGrp="1"/>
          </p:cNvSpPr>
          <p:nvPr>
            <p:ph type="title"/>
          </p:nvPr>
        </p:nvSpPr>
        <p:spPr/>
        <p:txBody>
          <a:bodyPr/>
          <a:lstStyle/>
          <a:p>
            <a:r>
              <a:rPr lang="de-DE" dirty="0" err="1"/>
              <a:t>Please</a:t>
            </a:r>
            <a:r>
              <a:rPr lang="de-DE" dirty="0"/>
              <a:t> type </a:t>
            </a:r>
            <a:r>
              <a:rPr lang="de-DE" dirty="0" err="1"/>
              <a:t>along</a:t>
            </a:r>
            <a:r>
              <a:rPr lang="de-DE" dirty="0"/>
              <a:t> (2)</a:t>
            </a:r>
          </a:p>
        </p:txBody>
      </p:sp>
      <p:sp>
        <p:nvSpPr>
          <p:cNvPr id="4" name="Textfeld 2">
            <a:extLst>
              <a:ext uri="{FF2B5EF4-FFF2-40B4-BE49-F238E27FC236}">
                <a16:creationId xmlns:a16="http://schemas.microsoft.com/office/drawing/2014/main" id="{DB6C8179-3E98-8005-BD07-ED64C3FE8905}"/>
              </a:ext>
            </a:extLst>
          </p:cNvPr>
          <p:cNvSpPr txBox="1"/>
          <p:nvPr/>
        </p:nvSpPr>
        <p:spPr>
          <a:xfrm>
            <a:off x="504001" y="1109134"/>
            <a:ext cx="8667708" cy="2596865"/>
          </a:xfrm>
          <a:prstGeom prst="rect">
            <a:avLst/>
          </a:prstGeom>
          <a:noFill/>
        </p:spPr>
        <p:txBody>
          <a:bodyPr wrap="square" lIns="0" tIns="0" rIns="0" bIns="0" rtlCol="0" anchor="ctr">
            <a:spAutoFit/>
          </a:bodyPr>
          <a:lstStyle/>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list</a:t>
            </a:r>
            <a:r>
              <a:rPr lang="de-DE" sz="1800" kern="0" dirty="0">
                <a:latin typeface="Courier New" panose="02070309020205020404" pitchFamily="49" charset="0"/>
                <a:ea typeface="Arial Unicode MS" pitchFamily="34" charset="-128"/>
                <a:cs typeface="Courier New" panose="02070309020205020404" pitchFamily="49" charset="0"/>
              </a:rPr>
              <a:t> –a</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start</a:t>
            </a:r>
            <a:r>
              <a:rPr lang="de-DE" sz="1800" kern="0" dirty="0">
                <a:latin typeface="Courier New" panose="02070309020205020404" pitchFamily="49" charset="0"/>
                <a:ea typeface="Arial Unicode MS" pitchFamily="34" charset="-128"/>
                <a:cs typeface="Courier New" panose="02070309020205020404" pitchFamily="49" charset="0"/>
              </a:rPr>
              <a:t> &lt;ID/</a:t>
            </a:r>
            <a:r>
              <a:rPr lang="de-DE" sz="1800" kern="0" dirty="0" err="1">
                <a:latin typeface="Courier New" panose="02070309020205020404" pitchFamily="49" charset="0"/>
                <a:ea typeface="Arial Unicode MS" pitchFamily="34" charset="-128"/>
                <a:cs typeface="Courier New" panose="02070309020205020404" pitchFamily="49" charset="0"/>
              </a:rPr>
              <a:t>name</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of</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your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&gt;</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logs &lt;ID/</a:t>
            </a:r>
            <a:r>
              <a:rPr lang="de-DE" sz="1800" kern="0" dirty="0" err="1">
                <a:latin typeface="Courier New" panose="02070309020205020404" pitchFamily="49" charset="0"/>
                <a:ea typeface="Arial Unicode MS" pitchFamily="34" charset="-128"/>
                <a:cs typeface="Courier New" panose="02070309020205020404" pitchFamily="49" charset="0"/>
              </a:rPr>
              <a:t>name</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of</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your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&gt;</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stop</a:t>
            </a:r>
            <a:r>
              <a:rPr lang="de-DE" sz="1800" kern="0" dirty="0">
                <a:latin typeface="Courier New" panose="02070309020205020404" pitchFamily="49" charset="0"/>
                <a:ea typeface="Arial Unicode MS" pitchFamily="34" charset="-128"/>
                <a:cs typeface="Courier New" panose="02070309020205020404" pitchFamily="49" charset="0"/>
              </a:rPr>
              <a:t> &lt;ID/</a:t>
            </a:r>
            <a:r>
              <a:rPr lang="de-DE" sz="1800" kern="0" dirty="0" err="1">
                <a:latin typeface="Courier New" panose="02070309020205020404" pitchFamily="49" charset="0"/>
                <a:ea typeface="Arial Unicode MS" pitchFamily="34" charset="-128"/>
                <a:cs typeface="Courier New" panose="02070309020205020404" pitchFamily="49" charset="0"/>
              </a:rPr>
              <a:t>name</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of</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your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&gt;</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list</a:t>
            </a:r>
            <a:r>
              <a:rPr lang="de-DE" sz="1800" kern="0" dirty="0">
                <a:latin typeface="Courier New" panose="02070309020205020404" pitchFamily="49" charset="0"/>
                <a:ea typeface="Arial Unicode MS" pitchFamily="34" charset="-128"/>
                <a:cs typeface="Courier New" panose="02070309020205020404" pitchFamily="49" charset="0"/>
              </a:rPr>
              <a:t> –a</a:t>
            </a:r>
          </a:p>
        </p:txBody>
      </p:sp>
    </p:spTree>
    <p:extLst>
      <p:ext uri="{BB962C8B-B14F-4D97-AF65-F5344CB8AC3E}">
        <p14:creationId xmlns:p14="http://schemas.microsoft.com/office/powerpoint/2010/main" val="3235407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DE7798-65F5-3429-7921-1551166C47AC}"/>
              </a:ext>
            </a:extLst>
          </p:cNvPr>
          <p:cNvSpPr>
            <a:spLocks noGrp="1"/>
          </p:cNvSpPr>
          <p:nvPr>
            <p:ph type="title"/>
          </p:nvPr>
        </p:nvSpPr>
        <p:spPr/>
        <p:txBody>
          <a:bodyPr/>
          <a:lstStyle/>
          <a:p>
            <a:r>
              <a:rPr lang="de-DE" dirty="0" err="1"/>
              <a:t>Please</a:t>
            </a:r>
            <a:r>
              <a:rPr lang="de-DE" dirty="0"/>
              <a:t> type </a:t>
            </a:r>
            <a:r>
              <a:rPr lang="de-DE" dirty="0" err="1"/>
              <a:t>along</a:t>
            </a:r>
            <a:r>
              <a:rPr lang="de-DE" dirty="0"/>
              <a:t> (3)</a:t>
            </a:r>
          </a:p>
        </p:txBody>
      </p:sp>
      <p:sp>
        <p:nvSpPr>
          <p:cNvPr id="4" name="Textfeld 2">
            <a:extLst>
              <a:ext uri="{FF2B5EF4-FFF2-40B4-BE49-F238E27FC236}">
                <a16:creationId xmlns:a16="http://schemas.microsoft.com/office/drawing/2014/main" id="{6CB831BA-F0EB-9384-22ED-D12081B7044F}"/>
              </a:ext>
            </a:extLst>
          </p:cNvPr>
          <p:cNvSpPr txBox="1"/>
          <p:nvPr/>
        </p:nvSpPr>
        <p:spPr>
          <a:xfrm>
            <a:off x="504001" y="1387094"/>
            <a:ext cx="8667708" cy="2041906"/>
          </a:xfrm>
          <a:prstGeom prst="rect">
            <a:avLst/>
          </a:prstGeom>
          <a:noFill/>
        </p:spPr>
        <p:txBody>
          <a:bodyPr wrap="square" lIns="0" tIns="0" rIns="0" bIns="0" rtlCol="0" anchor="ctr">
            <a:spAutoFit/>
          </a:bodyPr>
          <a:lstStyle/>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start</a:t>
            </a:r>
            <a:r>
              <a:rPr lang="de-DE" sz="1800" kern="0" dirty="0">
                <a:latin typeface="Courier New" panose="02070309020205020404" pitchFamily="49" charset="0"/>
                <a:ea typeface="Arial Unicode MS" pitchFamily="34" charset="-128"/>
                <a:cs typeface="Courier New" panose="02070309020205020404" pitchFamily="49" charset="0"/>
              </a:rPr>
              <a:t> &lt;ID/</a:t>
            </a:r>
            <a:r>
              <a:rPr lang="de-DE" sz="1800" kern="0" dirty="0" err="1">
                <a:latin typeface="Courier New" panose="02070309020205020404" pitchFamily="49" charset="0"/>
                <a:ea typeface="Arial Unicode MS" pitchFamily="34" charset="-128"/>
                <a:cs typeface="Courier New" panose="02070309020205020404" pitchFamily="49" charset="0"/>
              </a:rPr>
              <a:t>name</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of</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your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&gt;</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exec</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it</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&lt;ID/</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name</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 </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of</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 </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your</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 </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container</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&gt; bash</a:t>
            </a: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stop</a:t>
            </a:r>
            <a:r>
              <a:rPr lang="de-DE" sz="1800" kern="0" dirty="0">
                <a:latin typeface="Courier New" panose="02070309020205020404" pitchFamily="49" charset="0"/>
                <a:ea typeface="Arial Unicode MS" pitchFamily="34" charset="-128"/>
                <a:cs typeface="Courier New" panose="02070309020205020404" pitchFamily="49" charset="0"/>
              </a:rPr>
              <a:t> &lt;ID/</a:t>
            </a:r>
            <a:r>
              <a:rPr lang="de-DE" sz="1800" kern="0" dirty="0" err="1">
                <a:latin typeface="Courier New" panose="02070309020205020404" pitchFamily="49" charset="0"/>
                <a:ea typeface="Arial Unicode MS" pitchFamily="34" charset="-128"/>
                <a:cs typeface="Courier New" panose="02070309020205020404" pitchFamily="49" charset="0"/>
              </a:rPr>
              <a:t>name</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of</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your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&gt;</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rm</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&lt;ID/</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name</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 </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of</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 </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your</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 </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container</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&gt;</a:t>
            </a:r>
            <a:endParaRPr lang="de-DE" sz="1400" dirty="0">
              <a:effectLst/>
            </a:endParaRPr>
          </a:p>
        </p:txBody>
      </p:sp>
    </p:spTree>
    <p:extLst>
      <p:ext uri="{BB962C8B-B14F-4D97-AF65-F5344CB8AC3E}">
        <p14:creationId xmlns:p14="http://schemas.microsoft.com/office/powerpoint/2010/main" val="2683662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de-DE" dirty="0"/>
              <a:t>Details </a:t>
            </a:r>
            <a:r>
              <a:rPr lang="de-DE" dirty="0" err="1"/>
              <a:t>of</a:t>
            </a:r>
            <a:r>
              <a:rPr lang="de-DE" dirty="0"/>
              <a:t> </a:t>
            </a:r>
            <a:r>
              <a:rPr lang="de-DE" dirty="0" err="1"/>
              <a:t>the</a:t>
            </a:r>
            <a:r>
              <a:rPr lang="de-DE" dirty="0"/>
              <a:t> </a:t>
            </a:r>
            <a:r>
              <a:rPr lang="de-DE" dirty="0" err="1"/>
              <a:t>container</a:t>
            </a:r>
            <a:r>
              <a:rPr lang="de-DE" dirty="0"/>
              <a:t> </a:t>
            </a:r>
            <a:r>
              <a:rPr lang="de-DE" dirty="0" err="1"/>
              <a:t>lifecycle</a:t>
            </a:r>
            <a:endParaRPr lang="de-DE" dirty="0"/>
          </a:p>
        </p:txBody>
      </p:sp>
      <p:sp>
        <p:nvSpPr>
          <p:cNvPr id="30" name="Rectangle 29">
            <a:extLst>
              <a:ext uri="{FF2B5EF4-FFF2-40B4-BE49-F238E27FC236}">
                <a16:creationId xmlns:a16="http://schemas.microsoft.com/office/drawing/2014/main" id="{73C33493-32A9-47D6-B0F1-D848EC53CD41}"/>
              </a:ext>
            </a:extLst>
          </p:cNvPr>
          <p:cNvSpPr/>
          <p:nvPr/>
        </p:nvSpPr>
        <p:spPr bwMode="gray">
          <a:xfrm>
            <a:off x="1503862" y="3590486"/>
            <a:ext cx="2913925" cy="322790"/>
          </a:xfrm>
          <a:prstGeom prst="rect">
            <a:avLst/>
          </a:prstGeom>
          <a:solidFill>
            <a:schemeClr val="accent4">
              <a:lumMod val="20000"/>
              <a:lumOff val="80000"/>
            </a:schemeClr>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050" b="1" kern="0" dirty="0">
                <a:ln w="0"/>
                <a:solidFill>
                  <a:schemeClr val="tx1">
                    <a:lumMod val="85000"/>
                    <a:lumOff val="15000"/>
                  </a:schemeClr>
                </a:solidFill>
                <a:ea typeface="Arial Unicode MS" pitchFamily="34" charset="-128"/>
                <a:cs typeface="Arial Unicode MS" pitchFamily="34" charset="-128"/>
              </a:rPr>
              <a:t>writable layer a320d5f4bd36</a:t>
            </a:r>
            <a:endPar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grpSp>
        <p:nvGrpSpPr>
          <p:cNvPr id="9" name="Group 8">
            <a:extLst>
              <a:ext uri="{FF2B5EF4-FFF2-40B4-BE49-F238E27FC236}">
                <a16:creationId xmlns:a16="http://schemas.microsoft.com/office/drawing/2014/main" id="{6758F283-7E84-49F0-A77D-8F42AAD03BDC}"/>
              </a:ext>
            </a:extLst>
          </p:cNvPr>
          <p:cNvGrpSpPr/>
          <p:nvPr/>
        </p:nvGrpSpPr>
        <p:grpSpPr>
          <a:xfrm>
            <a:off x="904780" y="2935900"/>
            <a:ext cx="1898923" cy="307512"/>
            <a:chOff x="853924" y="3598589"/>
            <a:chExt cx="1898923" cy="307512"/>
          </a:xfrm>
        </p:grpSpPr>
        <p:sp>
          <p:nvSpPr>
            <p:cNvPr id="31" name="TextBox 30">
              <a:extLst>
                <a:ext uri="{FF2B5EF4-FFF2-40B4-BE49-F238E27FC236}">
                  <a16:creationId xmlns:a16="http://schemas.microsoft.com/office/drawing/2014/main" id="{7E5B70B1-B7DF-45CF-B9E9-B1889FB3284B}"/>
                </a:ext>
              </a:extLst>
            </p:cNvPr>
            <p:cNvSpPr txBox="1"/>
            <p:nvPr/>
          </p:nvSpPr>
          <p:spPr>
            <a:xfrm>
              <a:off x="1356631" y="3660012"/>
              <a:ext cx="1396216"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create</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32" name="Picture 31">
              <a:extLst>
                <a:ext uri="{FF2B5EF4-FFF2-40B4-BE49-F238E27FC236}">
                  <a16:creationId xmlns:a16="http://schemas.microsoft.com/office/drawing/2014/main" id="{BDCCEBF0-605B-448E-93FA-152B04645F4D}"/>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33" name="Straight Arrow Connector 32">
            <a:extLst>
              <a:ext uri="{FF2B5EF4-FFF2-40B4-BE49-F238E27FC236}">
                <a16:creationId xmlns:a16="http://schemas.microsoft.com/office/drawing/2014/main" id="{2A033D17-6ADD-4C01-8E00-ADA80BEA9F63}"/>
              </a:ext>
            </a:extLst>
          </p:cNvPr>
          <p:cNvCxnSpPr>
            <a:cxnSpLocks/>
            <a:endCxn id="30" idx="0"/>
          </p:cNvCxnSpPr>
          <p:nvPr/>
        </p:nvCxnSpPr>
        <p:spPr>
          <a:xfrm>
            <a:off x="2960825" y="2721442"/>
            <a:ext cx="0" cy="869044"/>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6311455A-B7C6-4A3D-BDB4-53D40970A335}"/>
              </a:ext>
            </a:extLst>
          </p:cNvPr>
          <p:cNvGrpSpPr/>
          <p:nvPr/>
        </p:nvGrpSpPr>
        <p:grpSpPr>
          <a:xfrm>
            <a:off x="5144849" y="3388419"/>
            <a:ext cx="1791521" cy="307512"/>
            <a:chOff x="853924" y="3598589"/>
            <a:chExt cx="1791521" cy="307512"/>
          </a:xfrm>
        </p:grpSpPr>
        <p:sp>
          <p:nvSpPr>
            <p:cNvPr id="37" name="TextBox 36">
              <a:extLst>
                <a:ext uri="{FF2B5EF4-FFF2-40B4-BE49-F238E27FC236}">
                  <a16:creationId xmlns:a16="http://schemas.microsoft.com/office/drawing/2014/main" id="{6AC3430A-5D6C-4A4D-9AC1-7E57218BB7E2}"/>
                </a:ext>
              </a:extLst>
            </p:cNvPr>
            <p:cNvSpPr txBox="1"/>
            <p:nvPr/>
          </p:nvSpPr>
          <p:spPr>
            <a:xfrm>
              <a:off x="1356631" y="3660012"/>
              <a:ext cx="1288814"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start</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38" name="Picture 37">
              <a:extLst>
                <a:ext uri="{FF2B5EF4-FFF2-40B4-BE49-F238E27FC236}">
                  <a16:creationId xmlns:a16="http://schemas.microsoft.com/office/drawing/2014/main" id="{23BC174D-EC93-40FA-B53E-BFEE70175ADF}"/>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39" name="Straight Arrow Connector 38">
            <a:extLst>
              <a:ext uri="{FF2B5EF4-FFF2-40B4-BE49-F238E27FC236}">
                <a16:creationId xmlns:a16="http://schemas.microsoft.com/office/drawing/2014/main" id="{CF34BABA-4BA0-42EC-8170-345137E0771B}"/>
              </a:ext>
            </a:extLst>
          </p:cNvPr>
          <p:cNvCxnSpPr>
            <a:cxnSpLocks/>
            <a:stCxn id="30" idx="3"/>
            <a:endCxn id="35" idx="1"/>
          </p:cNvCxnSpPr>
          <p:nvPr/>
        </p:nvCxnSpPr>
        <p:spPr>
          <a:xfrm flipV="1">
            <a:off x="4417787" y="3749954"/>
            <a:ext cx="3345894" cy="1927"/>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BCCC945B-9BB4-4DE1-8DD7-5982781A09D5}"/>
              </a:ext>
            </a:extLst>
          </p:cNvPr>
          <p:cNvCxnSpPr>
            <a:cxnSpLocks/>
            <a:stCxn id="4" idx="3"/>
            <a:endCxn id="35" idx="0"/>
          </p:cNvCxnSpPr>
          <p:nvPr/>
        </p:nvCxnSpPr>
        <p:spPr>
          <a:xfrm>
            <a:off x="3905853" y="1915167"/>
            <a:ext cx="5304392" cy="1675319"/>
          </a:xfrm>
          <a:prstGeom prst="bentConnector2">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8103F85-12DC-4BDF-833D-548190F6C0EF}"/>
              </a:ext>
            </a:extLst>
          </p:cNvPr>
          <p:cNvCxnSpPr>
            <a:cxnSpLocks/>
            <a:stCxn id="35" idx="2"/>
            <a:endCxn id="77" idx="0"/>
          </p:cNvCxnSpPr>
          <p:nvPr/>
        </p:nvCxnSpPr>
        <p:spPr>
          <a:xfrm>
            <a:off x="9210245" y="3909422"/>
            <a:ext cx="0" cy="1531101"/>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A31FADFA-1719-40C0-B377-C4E9665BFF18}"/>
              </a:ext>
            </a:extLst>
          </p:cNvPr>
          <p:cNvGrpSpPr/>
          <p:nvPr/>
        </p:nvGrpSpPr>
        <p:grpSpPr>
          <a:xfrm>
            <a:off x="9477123" y="4476115"/>
            <a:ext cx="1684121" cy="307512"/>
            <a:chOff x="853924" y="3598589"/>
            <a:chExt cx="1684121" cy="307512"/>
          </a:xfrm>
        </p:grpSpPr>
        <p:sp>
          <p:nvSpPr>
            <p:cNvPr id="70" name="TextBox 69">
              <a:extLst>
                <a:ext uri="{FF2B5EF4-FFF2-40B4-BE49-F238E27FC236}">
                  <a16:creationId xmlns:a16="http://schemas.microsoft.com/office/drawing/2014/main" id="{75DD4279-15ED-4461-B6B4-EF4309F73AD9}"/>
                </a:ext>
              </a:extLst>
            </p:cNvPr>
            <p:cNvSpPr txBox="1"/>
            <p:nvPr/>
          </p:nvSpPr>
          <p:spPr>
            <a:xfrm>
              <a:off x="1356631" y="3660012"/>
              <a:ext cx="1181414"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stop</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71" name="Picture 70">
              <a:extLst>
                <a:ext uri="{FF2B5EF4-FFF2-40B4-BE49-F238E27FC236}">
                  <a16:creationId xmlns:a16="http://schemas.microsoft.com/office/drawing/2014/main" id="{34DD894D-3BD4-483B-8E8F-64E7571630AE}"/>
                </a:ext>
              </a:extLst>
            </p:cNvPr>
            <p:cNvPicPr>
              <a:picLocks noChangeAspect="1"/>
            </p:cNvPicPr>
            <p:nvPr/>
          </p:nvPicPr>
          <p:blipFill>
            <a:blip r:embed="rId3"/>
            <a:stretch>
              <a:fillRect/>
            </a:stretch>
          </p:blipFill>
          <p:spPr>
            <a:xfrm>
              <a:off x="853924" y="3598589"/>
              <a:ext cx="410853" cy="307512"/>
            </a:xfrm>
            <a:prstGeom prst="rect">
              <a:avLst/>
            </a:prstGeom>
          </p:spPr>
        </p:pic>
      </p:grpSp>
      <p:sp>
        <p:nvSpPr>
          <p:cNvPr id="77" name="Rectangle 76">
            <a:extLst>
              <a:ext uri="{FF2B5EF4-FFF2-40B4-BE49-F238E27FC236}">
                <a16:creationId xmlns:a16="http://schemas.microsoft.com/office/drawing/2014/main" id="{AD16D3A0-0893-4C91-A142-12BE900A90B7}"/>
              </a:ext>
            </a:extLst>
          </p:cNvPr>
          <p:cNvSpPr/>
          <p:nvPr/>
        </p:nvSpPr>
        <p:spPr bwMode="gray">
          <a:xfrm>
            <a:off x="7763681" y="5440523"/>
            <a:ext cx="2893127" cy="318936"/>
          </a:xfrm>
          <a:prstGeom prst="rect">
            <a:avLst/>
          </a:prstGeom>
          <a:solidFill>
            <a:srgbClr val="C00000"/>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050" b="1" kern="0" dirty="0">
                <a:ln w="0"/>
                <a:solidFill>
                  <a:schemeClr val="tx1">
                    <a:lumMod val="85000"/>
                    <a:lumOff val="15000"/>
                  </a:schemeClr>
                </a:solidFill>
                <a:ea typeface="Arial Unicode MS" pitchFamily="34" charset="-128"/>
                <a:cs typeface="Arial Unicode MS" pitchFamily="34" charset="-128"/>
              </a:rPr>
              <a:t>writable layer a320d5f4bd36</a:t>
            </a:r>
            <a:endPar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grpSp>
        <p:nvGrpSpPr>
          <p:cNvPr id="81" name="Group 80">
            <a:extLst>
              <a:ext uri="{FF2B5EF4-FFF2-40B4-BE49-F238E27FC236}">
                <a16:creationId xmlns:a16="http://schemas.microsoft.com/office/drawing/2014/main" id="{6ADD1F4C-8F5E-49BE-8938-3BFE42F391A2}"/>
              </a:ext>
            </a:extLst>
          </p:cNvPr>
          <p:cNvGrpSpPr/>
          <p:nvPr/>
        </p:nvGrpSpPr>
        <p:grpSpPr>
          <a:xfrm>
            <a:off x="7097100" y="4463426"/>
            <a:ext cx="1791521" cy="307512"/>
            <a:chOff x="853924" y="3598589"/>
            <a:chExt cx="1791521" cy="307512"/>
          </a:xfrm>
        </p:grpSpPr>
        <p:sp>
          <p:nvSpPr>
            <p:cNvPr id="82" name="TextBox 81">
              <a:extLst>
                <a:ext uri="{FF2B5EF4-FFF2-40B4-BE49-F238E27FC236}">
                  <a16:creationId xmlns:a16="http://schemas.microsoft.com/office/drawing/2014/main" id="{C6F5D3F3-3992-4F98-92B9-BC2E17193F10}"/>
                </a:ext>
              </a:extLst>
            </p:cNvPr>
            <p:cNvSpPr txBox="1"/>
            <p:nvPr/>
          </p:nvSpPr>
          <p:spPr>
            <a:xfrm>
              <a:off x="1356631" y="3660012"/>
              <a:ext cx="1288814"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start</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83" name="Picture 82">
              <a:extLst>
                <a:ext uri="{FF2B5EF4-FFF2-40B4-BE49-F238E27FC236}">
                  <a16:creationId xmlns:a16="http://schemas.microsoft.com/office/drawing/2014/main" id="{2A7619DA-9228-442C-BEFB-DFD8C4578570}"/>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84" name="Straight Arrow Connector 83">
            <a:extLst>
              <a:ext uri="{FF2B5EF4-FFF2-40B4-BE49-F238E27FC236}">
                <a16:creationId xmlns:a16="http://schemas.microsoft.com/office/drawing/2014/main" id="{E771766C-56DD-44F2-A3B3-F25BF65D6209}"/>
              </a:ext>
            </a:extLst>
          </p:cNvPr>
          <p:cNvCxnSpPr>
            <a:cxnSpLocks/>
          </p:cNvCxnSpPr>
          <p:nvPr/>
        </p:nvCxnSpPr>
        <p:spPr>
          <a:xfrm flipV="1">
            <a:off x="9041432" y="3909422"/>
            <a:ext cx="0" cy="1519580"/>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6577650D-C412-4CFC-9B83-C5E26687CAFF}"/>
              </a:ext>
            </a:extLst>
          </p:cNvPr>
          <p:cNvSpPr/>
          <p:nvPr/>
        </p:nvSpPr>
        <p:spPr bwMode="gray">
          <a:xfrm>
            <a:off x="1503862" y="5440523"/>
            <a:ext cx="2893127" cy="31893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050" b="1" kern="0" dirty="0">
                <a:ln w="0"/>
                <a:solidFill>
                  <a:schemeClr val="tx1">
                    <a:lumMod val="85000"/>
                    <a:lumOff val="15000"/>
                  </a:schemeClr>
                </a:solidFill>
                <a:ea typeface="Arial Unicode MS" pitchFamily="34" charset="-128"/>
                <a:cs typeface="Arial Unicode MS" pitchFamily="34" charset="-128"/>
              </a:rPr>
              <a:t>writable layer a320d5f4bd36</a:t>
            </a:r>
            <a:endPar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sp>
        <p:nvSpPr>
          <p:cNvPr id="88" name="Multiplication Sign 87">
            <a:extLst>
              <a:ext uri="{FF2B5EF4-FFF2-40B4-BE49-F238E27FC236}">
                <a16:creationId xmlns:a16="http://schemas.microsoft.com/office/drawing/2014/main" id="{12D4D4F1-26ED-4D92-AD8D-4B5FCDF2A6DE}"/>
              </a:ext>
            </a:extLst>
          </p:cNvPr>
          <p:cNvSpPr/>
          <p:nvPr/>
        </p:nvSpPr>
        <p:spPr bwMode="gray">
          <a:xfrm>
            <a:off x="1912110" y="4890690"/>
            <a:ext cx="2076628" cy="1418601"/>
          </a:xfrm>
          <a:prstGeom prst="mathMultiply">
            <a:avLst>
              <a:gd name="adj1" fmla="val 19772"/>
            </a:avLst>
          </a:prstGeom>
          <a:solidFill>
            <a:srgbClr val="C000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89" name="Group 88">
            <a:extLst>
              <a:ext uri="{FF2B5EF4-FFF2-40B4-BE49-F238E27FC236}">
                <a16:creationId xmlns:a16="http://schemas.microsoft.com/office/drawing/2014/main" id="{0539C04C-8743-41B9-ABB3-F9CB0D01F13A}"/>
              </a:ext>
            </a:extLst>
          </p:cNvPr>
          <p:cNvGrpSpPr/>
          <p:nvPr/>
        </p:nvGrpSpPr>
        <p:grpSpPr>
          <a:xfrm>
            <a:off x="5141550" y="5187993"/>
            <a:ext cx="1469318" cy="307512"/>
            <a:chOff x="853924" y="3598589"/>
            <a:chExt cx="1469318" cy="307512"/>
          </a:xfrm>
        </p:grpSpPr>
        <p:sp>
          <p:nvSpPr>
            <p:cNvPr id="90" name="TextBox 89">
              <a:extLst>
                <a:ext uri="{FF2B5EF4-FFF2-40B4-BE49-F238E27FC236}">
                  <a16:creationId xmlns:a16="http://schemas.microsoft.com/office/drawing/2014/main" id="{EAA63DD8-8D69-4546-9D27-1967C2B7B7A1}"/>
                </a:ext>
              </a:extLst>
            </p:cNvPr>
            <p:cNvSpPr txBox="1"/>
            <p:nvPr/>
          </p:nvSpPr>
          <p:spPr>
            <a:xfrm>
              <a:off x="1356631" y="3660012"/>
              <a:ext cx="966611"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rm</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91" name="Picture 90">
              <a:extLst>
                <a:ext uri="{FF2B5EF4-FFF2-40B4-BE49-F238E27FC236}">
                  <a16:creationId xmlns:a16="http://schemas.microsoft.com/office/drawing/2014/main" id="{F1F6CA4F-0C43-4AD3-9A79-CB5AFE28CB7B}"/>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99" name="Straight Arrow Connector 98">
            <a:extLst>
              <a:ext uri="{FF2B5EF4-FFF2-40B4-BE49-F238E27FC236}">
                <a16:creationId xmlns:a16="http://schemas.microsoft.com/office/drawing/2014/main" id="{ED2E34F9-AFE3-461E-BCE9-F611A0AA4487}"/>
              </a:ext>
            </a:extLst>
          </p:cNvPr>
          <p:cNvCxnSpPr>
            <a:stCxn id="77" idx="1"/>
            <a:endCxn id="87" idx="3"/>
          </p:cNvCxnSpPr>
          <p:nvPr/>
        </p:nvCxnSpPr>
        <p:spPr>
          <a:xfrm flipH="1">
            <a:off x="4396989" y="5599991"/>
            <a:ext cx="3366692" cy="0"/>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F88AAB92-4231-4CD6-8B42-F0F5C84CCF18}"/>
              </a:ext>
            </a:extLst>
          </p:cNvPr>
          <p:cNvSpPr/>
          <p:nvPr/>
        </p:nvSpPr>
        <p:spPr bwMode="gray">
          <a:xfrm>
            <a:off x="7763681" y="3590486"/>
            <a:ext cx="2893127" cy="318936"/>
          </a:xfrm>
          <a:prstGeom prst="rect">
            <a:avLst/>
          </a:prstGeom>
          <a:solidFill>
            <a:schemeClr val="accent4">
              <a:lumMod val="75000"/>
            </a:schemeClr>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050" b="1" kern="0" dirty="0">
                <a:ln w="0"/>
                <a:solidFill>
                  <a:schemeClr val="tx1">
                    <a:lumMod val="85000"/>
                    <a:lumOff val="15000"/>
                  </a:schemeClr>
                </a:solidFill>
                <a:ea typeface="Arial Unicode MS" pitchFamily="34" charset="-128"/>
                <a:cs typeface="Arial Unicode MS" pitchFamily="34" charset="-128"/>
              </a:rPr>
              <a:t>writable layer a320d5f4bd36</a:t>
            </a:r>
            <a:endPar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pic>
        <p:nvPicPr>
          <p:cNvPr id="4" name="Grafik 3" descr="Platte mit einfarbiger Füllung">
            <a:extLst>
              <a:ext uri="{FF2B5EF4-FFF2-40B4-BE49-F238E27FC236}">
                <a16:creationId xmlns:a16="http://schemas.microsoft.com/office/drawing/2014/main" id="{195311E9-E7B0-71A9-9BB9-7DA94CE880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36594" y="980537"/>
            <a:ext cx="1869259" cy="1869259"/>
          </a:xfrm>
          <a:prstGeom prst="rect">
            <a:avLst/>
          </a:prstGeom>
        </p:spPr>
      </p:pic>
      <p:grpSp>
        <p:nvGrpSpPr>
          <p:cNvPr id="6" name="Group 35">
            <a:extLst>
              <a:ext uri="{FF2B5EF4-FFF2-40B4-BE49-F238E27FC236}">
                <a16:creationId xmlns:a16="http://schemas.microsoft.com/office/drawing/2014/main" id="{632037B4-54CC-8118-2377-3493D8EA983E}"/>
              </a:ext>
            </a:extLst>
          </p:cNvPr>
          <p:cNvGrpSpPr/>
          <p:nvPr/>
        </p:nvGrpSpPr>
        <p:grpSpPr>
          <a:xfrm>
            <a:off x="5201478" y="1500450"/>
            <a:ext cx="1576719" cy="307512"/>
            <a:chOff x="853924" y="3598589"/>
            <a:chExt cx="1576719" cy="307512"/>
          </a:xfrm>
        </p:grpSpPr>
        <p:sp>
          <p:nvSpPr>
            <p:cNvPr id="7" name="TextBox 36">
              <a:extLst>
                <a:ext uri="{FF2B5EF4-FFF2-40B4-BE49-F238E27FC236}">
                  <a16:creationId xmlns:a16="http://schemas.microsoft.com/office/drawing/2014/main" id="{233C7CF8-745F-48E0-C9DD-FBFEE0D41E47}"/>
                </a:ext>
              </a:extLst>
            </p:cNvPr>
            <p:cNvSpPr txBox="1"/>
            <p:nvPr/>
          </p:nvSpPr>
          <p:spPr>
            <a:xfrm>
              <a:off x="1356631" y="3660012"/>
              <a:ext cx="1074012"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run</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8" name="Picture 37">
              <a:extLst>
                <a:ext uri="{FF2B5EF4-FFF2-40B4-BE49-F238E27FC236}">
                  <a16:creationId xmlns:a16="http://schemas.microsoft.com/office/drawing/2014/main" id="{FE738CA2-C433-36C2-40D7-AD6143876BDE}"/>
                </a:ext>
              </a:extLst>
            </p:cNvPr>
            <p:cNvPicPr>
              <a:picLocks noChangeAspect="1"/>
            </p:cNvPicPr>
            <p:nvPr/>
          </p:nvPicPr>
          <p:blipFill>
            <a:blip r:embed="rId3"/>
            <a:stretch>
              <a:fillRect/>
            </a:stretch>
          </p:blipFill>
          <p:spPr>
            <a:xfrm>
              <a:off x="853924" y="3598589"/>
              <a:ext cx="410853" cy="307512"/>
            </a:xfrm>
            <a:prstGeom prst="rect">
              <a:avLst/>
            </a:prstGeom>
          </p:spPr>
        </p:pic>
      </p:grpSp>
    </p:spTree>
    <p:extLst>
      <p:ext uri="{BB962C8B-B14F-4D97-AF65-F5344CB8AC3E}">
        <p14:creationId xmlns:p14="http://schemas.microsoft.com/office/powerpoint/2010/main" val="2792536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77" grpId="0" animBg="1"/>
      <p:bldP spid="87" grpId="0" animBg="1"/>
      <p:bldP spid="88" grpId="0" animBg="1"/>
      <p:bldP spid="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70B0B981-C0FF-1FC6-61ED-ED49FDA05642}"/>
              </a:ext>
            </a:extLst>
          </p:cNvPr>
          <p:cNvSpPr>
            <a:spLocks noGrp="1"/>
          </p:cNvSpPr>
          <p:nvPr>
            <p:ph type="title"/>
          </p:nvPr>
        </p:nvSpPr>
        <p:spPr/>
        <p:txBody>
          <a:bodyPr/>
          <a:lstStyle/>
          <a:p>
            <a:r>
              <a:rPr lang="de-DE" dirty="0" err="1"/>
              <a:t>Please</a:t>
            </a:r>
            <a:r>
              <a:rPr lang="de-DE" dirty="0"/>
              <a:t> type </a:t>
            </a:r>
            <a:r>
              <a:rPr lang="de-DE" dirty="0" err="1"/>
              <a:t>along</a:t>
            </a:r>
            <a:r>
              <a:rPr lang="de-DE"/>
              <a:t> (4)</a:t>
            </a:r>
            <a:endParaRPr lang="de-DE" dirty="0"/>
          </a:p>
        </p:txBody>
      </p:sp>
      <p:sp>
        <p:nvSpPr>
          <p:cNvPr id="5" name="Textfeld 4">
            <a:extLst>
              <a:ext uri="{FF2B5EF4-FFF2-40B4-BE49-F238E27FC236}">
                <a16:creationId xmlns:a16="http://schemas.microsoft.com/office/drawing/2014/main" id="{A1C77943-03FA-3EB9-DD70-8143DC3554F1}"/>
              </a:ext>
            </a:extLst>
          </p:cNvPr>
          <p:cNvSpPr txBox="1"/>
          <p:nvPr/>
        </p:nvSpPr>
        <p:spPr>
          <a:xfrm>
            <a:off x="504000" y="1314064"/>
            <a:ext cx="10087799" cy="2689198"/>
          </a:xfrm>
          <a:prstGeom prst="rect">
            <a:avLst/>
          </a:prstGeom>
          <a:noFill/>
        </p:spPr>
        <p:txBody>
          <a:bodyPr wrap="square">
            <a:spAutoFit/>
          </a:bodyPr>
          <a:lstStyle/>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run</a:t>
            </a:r>
            <a:r>
              <a:rPr lang="de-DE" sz="1800" kern="0" dirty="0">
                <a:latin typeface="Courier New" panose="02070309020205020404" pitchFamily="49" charset="0"/>
                <a:ea typeface="Arial Unicode MS" pitchFamily="34" charset="-128"/>
                <a:cs typeface="Courier New" panose="02070309020205020404" pitchFamily="49" charset="0"/>
              </a:rPr>
              <a:t> -d </a:t>
            </a:r>
            <a:r>
              <a:rPr lang="de-DE" sz="1800" kern="0" dirty="0" err="1">
                <a:latin typeface="Courier New" panose="02070309020205020404" pitchFamily="49" charset="0"/>
                <a:ea typeface="Arial Unicode MS" pitchFamily="34" charset="-128"/>
                <a:cs typeface="Courier New" panose="02070309020205020404" pitchFamily="49" charset="0"/>
              </a:rPr>
              <a:t>nginx:mainline</a:t>
            </a: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list</a:t>
            </a:r>
            <a:r>
              <a:rPr lang="de-DE" sz="1800" kern="0" dirty="0">
                <a:latin typeface="Courier New" panose="02070309020205020404" pitchFamily="49" charset="0"/>
                <a:ea typeface="Arial Unicode MS" pitchFamily="34" charset="-128"/>
                <a:cs typeface="Courier New" panose="02070309020205020404" pitchFamily="49" charset="0"/>
              </a:rPr>
              <a:t> –a</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inspect</a:t>
            </a:r>
            <a:r>
              <a:rPr lang="de-DE" sz="1800" kern="0" dirty="0">
                <a:latin typeface="Courier New" panose="02070309020205020404" pitchFamily="49" charset="0"/>
                <a:ea typeface="Arial Unicode MS" pitchFamily="34" charset="-128"/>
                <a:cs typeface="Courier New" panose="02070309020205020404" pitchFamily="49" charset="0"/>
              </a:rPr>
              <a:t> &lt;ID/</a:t>
            </a:r>
            <a:r>
              <a:rPr lang="de-DE" sz="1800" kern="0" dirty="0" err="1">
                <a:latin typeface="Courier New" panose="02070309020205020404" pitchFamily="49" charset="0"/>
                <a:ea typeface="Arial Unicode MS" pitchFamily="34" charset="-128"/>
                <a:cs typeface="Courier New" panose="02070309020205020404" pitchFamily="49" charset="0"/>
              </a:rPr>
              <a:t>name</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of</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your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&gt;</a:t>
            </a: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stop</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&lt;ID/</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name</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 </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of</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 </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your</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 </a:t>
            </a:r>
            <a:r>
              <a:rPr lang="de-DE" sz="1800" dirty="0" err="1">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container</a:t>
            </a:r>
            <a:r>
              <a:rPr lang="de-DE" sz="1800" dirty="0">
                <a:solidFill>
                  <a:srgbClr val="000000"/>
                </a:solidFill>
                <a:effectLst/>
                <a:latin typeface="Courier New" panose="02070309020205020404" pitchFamily="49" charset="0"/>
                <a:ea typeface="Arial Unicode MS" panose="020B0604020202020204" pitchFamily="34" charset="-128"/>
                <a:cs typeface="Courier New" panose="02070309020205020404" pitchFamily="49" charset="0"/>
              </a:rPr>
              <a:t>&gt;</a:t>
            </a:r>
            <a:endParaRPr lang="de-DE" sz="1800" kern="0" dirty="0">
              <a:latin typeface="Courier New" panose="02070309020205020404" pitchFamily="49" charset="0"/>
              <a:ea typeface="Arial Unicode MS" pitchFamily="34" charset="-128"/>
              <a:cs typeface="Courier New" panose="02070309020205020404" pitchFamily="49" charset="0"/>
            </a:endParaRPr>
          </a:p>
          <a:p>
            <a:pPr fontAlgn="base">
              <a:lnSpc>
                <a:spcPct val="150000"/>
              </a:lnSpc>
              <a:spcBef>
                <a:spcPct val="50000"/>
              </a:spcBef>
              <a:spcAft>
                <a:spcPct val="0"/>
              </a:spcAft>
              <a:buClr>
                <a:srgbClr val="F0AB00"/>
              </a:buClr>
              <a:buSzPct val="80000"/>
            </a:pP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docker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container</a:t>
            </a:r>
            <a:r>
              <a:rPr lang="de-DE" sz="1800" kern="0" dirty="0">
                <a:latin typeface="Courier New" panose="02070309020205020404" pitchFamily="49" charset="0"/>
                <a:ea typeface="Arial Unicode MS" pitchFamily="34" charset="-128"/>
                <a:cs typeface="Courier New" panose="02070309020205020404" pitchFamily="49" charset="0"/>
              </a:rPr>
              <a:t> </a:t>
            </a:r>
            <a:r>
              <a:rPr lang="de-DE" sz="1800" kern="0" dirty="0" err="1">
                <a:latin typeface="Courier New" panose="02070309020205020404" pitchFamily="49" charset="0"/>
                <a:ea typeface="Arial Unicode MS" pitchFamily="34" charset="-128"/>
                <a:cs typeface="Courier New" panose="02070309020205020404" pitchFamily="49" charset="0"/>
              </a:rPr>
              <a:t>prune</a:t>
            </a:r>
            <a:endParaRPr lang="de-DE" sz="1800" kern="0" dirty="0">
              <a:latin typeface="Courier New" panose="02070309020205020404" pitchFamily="49" charset="0"/>
              <a:ea typeface="Arial Unicode MS" pitchFamily="34" charset="-128"/>
              <a:cs typeface="Courier New" panose="02070309020205020404" pitchFamily="49" charset="0"/>
            </a:endParaRPr>
          </a:p>
        </p:txBody>
      </p:sp>
    </p:spTree>
    <p:extLst>
      <p:ext uri="{BB962C8B-B14F-4D97-AF65-F5344CB8AC3E}">
        <p14:creationId xmlns:p14="http://schemas.microsoft.com/office/powerpoint/2010/main" val="3895770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peech Bubble: Rectangle 12">
            <a:extLst>
              <a:ext uri="{FF2B5EF4-FFF2-40B4-BE49-F238E27FC236}">
                <a16:creationId xmlns:a16="http://schemas.microsoft.com/office/drawing/2014/main" id="{D8BEBD6C-AB44-4620-9795-A441B87FEE23}"/>
              </a:ext>
            </a:extLst>
          </p:cNvPr>
          <p:cNvSpPr/>
          <p:nvPr/>
        </p:nvSpPr>
        <p:spPr bwMode="gray">
          <a:xfrm>
            <a:off x="4659754" y="5390086"/>
            <a:ext cx="2874970" cy="829733"/>
          </a:xfrm>
          <a:prstGeom prst="wedgeRectCallout">
            <a:avLst>
              <a:gd name="adj1" fmla="val -145497"/>
              <a:gd name="adj2" fmla="val -396413"/>
            </a:avLst>
          </a:prstGeom>
          <a:solidFill>
            <a:schemeClr val="bg2">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and more…</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9" name="Speech Bubble: Rectangle 8">
            <a:extLst>
              <a:ext uri="{FF2B5EF4-FFF2-40B4-BE49-F238E27FC236}">
                <a16:creationId xmlns:a16="http://schemas.microsoft.com/office/drawing/2014/main" id="{B825BE15-BC74-4F2F-AA3E-AA8EB29C9D24}"/>
              </a:ext>
            </a:extLst>
          </p:cNvPr>
          <p:cNvSpPr/>
          <p:nvPr/>
        </p:nvSpPr>
        <p:spPr bwMode="gray">
          <a:xfrm>
            <a:off x="3643817" y="4235888"/>
            <a:ext cx="2874970" cy="829733"/>
          </a:xfrm>
          <a:prstGeom prst="wedgeRectCallout">
            <a:avLst>
              <a:gd name="adj1" fmla="val -109588"/>
              <a:gd name="adj2" fmla="val -263694"/>
            </a:avLst>
          </a:prstGeom>
          <a:solidFill>
            <a:schemeClr val="accent4">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seccomp &amp; capabilities</a:t>
            </a:r>
            <a:br>
              <a:rPr lang="en-US" sz="1800" kern="0" dirty="0">
                <a:solidFill>
                  <a:schemeClr val="bg1"/>
                </a:solidFill>
                <a:ea typeface="Arial Unicode MS" pitchFamily="34" charset="-128"/>
                <a:cs typeface="Arial Unicode MS" pitchFamily="34" charset="-128"/>
              </a:rPr>
            </a:br>
            <a:r>
              <a:rPr kumimoji="0" lang="en-US" sz="160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additional security</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11" name="Speech Bubble: Rectangle 10">
            <a:extLst>
              <a:ext uri="{FF2B5EF4-FFF2-40B4-BE49-F238E27FC236}">
                <a16:creationId xmlns:a16="http://schemas.microsoft.com/office/drawing/2014/main" id="{D151E1CD-8072-49DE-902B-BE8E6556A374}"/>
              </a:ext>
            </a:extLst>
          </p:cNvPr>
          <p:cNvSpPr/>
          <p:nvPr/>
        </p:nvSpPr>
        <p:spPr bwMode="gray">
          <a:xfrm>
            <a:off x="495134" y="5390086"/>
            <a:ext cx="2345267" cy="829733"/>
          </a:xfrm>
          <a:prstGeom prst="wedgeRectCallout">
            <a:avLst>
              <a:gd name="adj1" fmla="val 8119"/>
              <a:gd name="adj2" fmla="val -397599"/>
            </a:avLst>
          </a:prstGeom>
          <a:solidFill>
            <a:schemeClr val="accent6">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iptables</a:t>
            </a:r>
            <a:br>
              <a:rPr lang="en-US" sz="1800" kern="0" dirty="0">
                <a:solidFill>
                  <a:schemeClr val="bg1"/>
                </a:solidFill>
                <a:ea typeface="Arial Unicode MS" pitchFamily="34" charset="-128"/>
                <a:cs typeface="Arial Unicode MS" pitchFamily="34" charset="-128"/>
              </a:rPr>
            </a:br>
            <a:r>
              <a:rPr kumimoji="0" lang="en-US" sz="160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network routing</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8" name="Speech Bubble: Rectangle 7">
            <a:extLst>
              <a:ext uri="{FF2B5EF4-FFF2-40B4-BE49-F238E27FC236}">
                <a16:creationId xmlns:a16="http://schemas.microsoft.com/office/drawing/2014/main" id="{E20196A0-740B-486C-AE67-960A26C65EE5}"/>
              </a:ext>
            </a:extLst>
          </p:cNvPr>
          <p:cNvSpPr/>
          <p:nvPr/>
        </p:nvSpPr>
        <p:spPr bwMode="gray">
          <a:xfrm>
            <a:off x="596245" y="4206342"/>
            <a:ext cx="2345267" cy="829733"/>
          </a:xfrm>
          <a:prstGeom prst="wedgeRectCallout">
            <a:avLst>
              <a:gd name="adj1" fmla="val -1070"/>
              <a:gd name="adj2" fmla="val -258558"/>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namespaces</a:t>
            </a:r>
            <a:br>
              <a:rPr lang="en-US" sz="1800" kern="0" dirty="0">
                <a:solidFill>
                  <a:schemeClr val="bg1"/>
                </a:solidFill>
                <a:ea typeface="Arial Unicode MS" pitchFamily="34" charset="-128"/>
                <a:cs typeface="Arial Unicode MS" pitchFamily="34" charset="-128"/>
              </a:rPr>
            </a:br>
            <a:r>
              <a:rPr kumimoji="0" lang="en-US" sz="160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process isolation</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4" name="Title 3">
            <a:extLst>
              <a:ext uri="{FF2B5EF4-FFF2-40B4-BE49-F238E27FC236}">
                <a16:creationId xmlns:a16="http://schemas.microsoft.com/office/drawing/2014/main" id="{645B76E8-EDF1-4BBF-A073-4675DBA6C45F}"/>
              </a:ext>
            </a:extLst>
          </p:cNvPr>
          <p:cNvSpPr>
            <a:spLocks noGrp="1"/>
          </p:cNvSpPr>
          <p:nvPr>
            <p:ph type="title"/>
          </p:nvPr>
        </p:nvSpPr>
        <p:spPr/>
        <p:txBody>
          <a:bodyPr/>
          <a:lstStyle/>
          <a:p>
            <a:r>
              <a:rPr lang="en-US" dirty="0"/>
              <a:t>What’s happening in the background?</a:t>
            </a:r>
          </a:p>
        </p:txBody>
      </p:sp>
      <p:sp>
        <p:nvSpPr>
          <p:cNvPr id="5" name="Rectangle: Rounded Corners 4">
            <a:extLst>
              <a:ext uri="{FF2B5EF4-FFF2-40B4-BE49-F238E27FC236}">
                <a16:creationId xmlns:a16="http://schemas.microsoft.com/office/drawing/2014/main" id="{1A09AC9B-F654-4AFC-A240-22685298511B}"/>
              </a:ext>
            </a:extLst>
          </p:cNvPr>
          <p:cNvSpPr/>
          <p:nvPr/>
        </p:nvSpPr>
        <p:spPr bwMode="gray">
          <a:xfrm>
            <a:off x="596245" y="2015340"/>
            <a:ext cx="11001988" cy="380726"/>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ctr"/>
          <a:lstStyle/>
          <a:p>
            <a:pPr marL="179387" lvl="2" indent="0">
              <a:buNone/>
            </a:pPr>
            <a:r>
              <a:rPr lang="en-US" sz="1200" b="1" dirty="0">
                <a:solidFill>
                  <a:schemeClr val="bg1"/>
                </a:solidFill>
                <a:latin typeface="Courier New" panose="02070309020205020404" pitchFamily="49" charset="0"/>
                <a:cs typeface="Courier New" panose="02070309020205020404" pitchFamily="49" charset="0"/>
              </a:rPr>
              <a:t>$ docker run container</a:t>
            </a:r>
            <a:endParaRPr lang="en-US" sz="1200" b="1" dirty="0">
              <a:solidFill>
                <a:schemeClr val="accent5">
                  <a:lumMod val="20000"/>
                  <a:lumOff val="80000"/>
                </a:schemeClr>
              </a:solidFill>
              <a:latin typeface="Courier New" panose="02070309020205020404" pitchFamily="49" charset="0"/>
              <a:cs typeface="Courier New" panose="02070309020205020404" pitchFamily="49" charset="0"/>
            </a:endParaRPr>
          </a:p>
        </p:txBody>
      </p:sp>
      <p:sp>
        <p:nvSpPr>
          <p:cNvPr id="6" name="Speech Bubble: Rectangle 5">
            <a:extLst>
              <a:ext uri="{FF2B5EF4-FFF2-40B4-BE49-F238E27FC236}">
                <a16:creationId xmlns:a16="http://schemas.microsoft.com/office/drawing/2014/main" id="{C746B67D-41C0-46C3-A8B9-8DC95EF8CDD1}"/>
              </a:ext>
            </a:extLst>
          </p:cNvPr>
          <p:cNvSpPr/>
          <p:nvPr/>
        </p:nvSpPr>
        <p:spPr bwMode="gray">
          <a:xfrm>
            <a:off x="504001" y="3022599"/>
            <a:ext cx="2345267" cy="829733"/>
          </a:xfrm>
          <a:prstGeom prst="wedgeRectCallout">
            <a:avLst>
              <a:gd name="adj1" fmla="val -325"/>
              <a:gd name="adj2" fmla="val -116525"/>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cgroups</a:t>
            </a:r>
            <a:br>
              <a:rPr lang="en-US" sz="1800" kern="0" dirty="0">
                <a:ea typeface="Arial Unicode MS" pitchFamily="34" charset="-128"/>
                <a:cs typeface="Arial Unicode MS" pitchFamily="34" charset="-128"/>
              </a:rPr>
            </a:br>
            <a:r>
              <a:rPr kumimoji="0" lang="en-US" sz="1600" b="0" i="1" u="none" strike="noStrike" kern="0" cap="none" spc="0" normalizeH="0" baseline="0" noProof="0" dirty="0">
                <a:ln>
                  <a:noFill/>
                </a:ln>
                <a:effectLst/>
                <a:uLnTx/>
                <a:uFillTx/>
                <a:ea typeface="Arial Unicode MS" pitchFamily="34" charset="-128"/>
                <a:cs typeface="Arial Unicode MS" pitchFamily="34" charset="-128"/>
              </a:rPr>
              <a:t>resource limitation</a:t>
            </a:r>
            <a:endParaRPr kumimoji="0" lang="en-US" sz="1800" b="0" i="1"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Speech Bubble: Rectangle 9">
            <a:extLst>
              <a:ext uri="{FF2B5EF4-FFF2-40B4-BE49-F238E27FC236}">
                <a16:creationId xmlns:a16="http://schemas.microsoft.com/office/drawing/2014/main" id="{C424A9AD-2AA7-4E2A-8798-4805DFD1603A}"/>
              </a:ext>
            </a:extLst>
          </p:cNvPr>
          <p:cNvSpPr/>
          <p:nvPr/>
        </p:nvSpPr>
        <p:spPr bwMode="gray">
          <a:xfrm>
            <a:off x="3308827" y="3123207"/>
            <a:ext cx="2345267" cy="829733"/>
          </a:xfrm>
          <a:prstGeom prst="wedgeRectCallout">
            <a:avLst>
              <a:gd name="adj1" fmla="val -106333"/>
              <a:gd name="adj2" fmla="val -129790"/>
            </a:avLst>
          </a:prstGeom>
          <a:solidFill>
            <a:schemeClr val="accent5">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chroot</a:t>
            </a:r>
            <a:br>
              <a:rPr lang="en-US" sz="1800" kern="0" dirty="0">
                <a:solidFill>
                  <a:schemeClr val="bg1"/>
                </a:solidFill>
                <a:ea typeface="Arial Unicode MS" pitchFamily="34" charset="-128"/>
                <a:cs typeface="Arial Unicode MS" pitchFamily="34" charset="-128"/>
              </a:rPr>
            </a:br>
            <a:r>
              <a:rPr kumimoji="0" lang="en-US" sz="160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filesystem isolation</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pic>
        <p:nvPicPr>
          <p:cNvPr id="7" name="Picture 6">
            <a:extLst>
              <a:ext uri="{FF2B5EF4-FFF2-40B4-BE49-F238E27FC236}">
                <a16:creationId xmlns:a16="http://schemas.microsoft.com/office/drawing/2014/main" id="{CC08FB26-DDE2-4096-9F1A-DA1638393822}"/>
              </a:ext>
            </a:extLst>
          </p:cNvPr>
          <p:cNvPicPr>
            <a:picLocks noChangeAspect="1"/>
          </p:cNvPicPr>
          <p:nvPr/>
        </p:nvPicPr>
        <p:blipFill>
          <a:blip r:embed="rId3"/>
          <a:stretch>
            <a:fillRect/>
          </a:stretch>
        </p:blipFill>
        <p:spPr>
          <a:xfrm>
            <a:off x="7972571" y="3022599"/>
            <a:ext cx="3625662" cy="2713703"/>
          </a:xfrm>
          <a:prstGeom prst="rect">
            <a:avLst/>
          </a:prstGeom>
        </p:spPr>
      </p:pic>
    </p:spTree>
    <p:extLst>
      <p:ext uri="{BB962C8B-B14F-4D97-AF65-F5344CB8AC3E}">
        <p14:creationId xmlns:p14="http://schemas.microsoft.com/office/powerpoint/2010/main" val="281004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 grpId="0" animBg="1"/>
      <p:bldP spid="11" grpId="0" animBg="1"/>
      <p:bldP spid="8" grpId="0" animBg="1"/>
      <p:bldP spid="6"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sz="quarter" idx="14"/>
          </p:nvPr>
        </p:nvSpPr>
        <p:spPr/>
        <p:txBody>
          <a:bodyPr anchor="ctr"/>
          <a:lstStyle/>
          <a:p>
            <a:r>
              <a:rPr lang="en-US" dirty="0"/>
              <a:t>Container </a:t>
            </a:r>
            <a:r>
              <a:rPr lang="en-US" dirty="0">
                <a:solidFill>
                  <a:schemeClr val="accent1"/>
                </a:solidFill>
              </a:rPr>
              <a:t>Engine</a:t>
            </a:r>
          </a:p>
        </p:txBody>
      </p:sp>
      <p:pic>
        <p:nvPicPr>
          <p:cNvPr id="4" name="Picture 3">
            <a:extLst>
              <a:ext uri="{FF2B5EF4-FFF2-40B4-BE49-F238E27FC236}">
                <a16:creationId xmlns:a16="http://schemas.microsoft.com/office/drawing/2014/main" id="{2E8C9C42-BC03-468E-B04E-6BE203085308}"/>
              </a:ext>
            </a:extLst>
          </p:cNvPr>
          <p:cNvPicPr>
            <a:picLocks noChangeAspect="1"/>
          </p:cNvPicPr>
          <p:nvPr/>
        </p:nvPicPr>
        <p:blipFill>
          <a:blip r:embed="rId3"/>
          <a:stretch>
            <a:fillRect/>
          </a:stretch>
        </p:blipFill>
        <p:spPr>
          <a:xfrm>
            <a:off x="6978451" y="1609832"/>
            <a:ext cx="4262244" cy="3190166"/>
          </a:xfrm>
          <a:prstGeom prst="rect">
            <a:avLst/>
          </a:prstGeom>
        </p:spPr>
      </p:pic>
    </p:spTree>
    <p:extLst>
      <p:ext uri="{BB962C8B-B14F-4D97-AF65-F5344CB8AC3E}">
        <p14:creationId xmlns:p14="http://schemas.microsoft.com/office/powerpoint/2010/main" val="2742309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Docker eco-system</a:t>
            </a:r>
          </a:p>
        </p:txBody>
      </p:sp>
      <p:pic>
        <p:nvPicPr>
          <p:cNvPr id="18" name="Graphic 17">
            <a:extLst>
              <a:ext uri="{FF2B5EF4-FFF2-40B4-BE49-F238E27FC236}">
                <a16:creationId xmlns:a16="http://schemas.microsoft.com/office/drawing/2014/main" id="{B0247922-BBA2-421E-BFF9-EA20F47C8F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91876" y="1230661"/>
            <a:ext cx="9610725" cy="5019675"/>
          </a:xfrm>
          <a:prstGeom prst="rect">
            <a:avLst/>
          </a:prstGeom>
        </p:spPr>
      </p:pic>
      <p:sp>
        <p:nvSpPr>
          <p:cNvPr id="19" name="Rectangle 18">
            <a:extLst>
              <a:ext uri="{FF2B5EF4-FFF2-40B4-BE49-F238E27FC236}">
                <a16:creationId xmlns:a16="http://schemas.microsoft.com/office/drawing/2014/main" id="{C018A4B1-3F2A-49EB-B11C-05CA241FD4A5}"/>
              </a:ext>
            </a:extLst>
          </p:cNvPr>
          <p:cNvSpPr/>
          <p:nvPr/>
        </p:nvSpPr>
        <p:spPr>
          <a:xfrm>
            <a:off x="3064406" y="6330666"/>
            <a:ext cx="6065663" cy="276999"/>
          </a:xfrm>
          <a:prstGeom prst="rect">
            <a:avLst/>
          </a:prstGeom>
        </p:spPr>
        <p:txBody>
          <a:bodyPr wrap="square">
            <a:spAutoFit/>
          </a:bodyPr>
          <a:lstStyle/>
          <a:p>
            <a:pPr algn="ctr"/>
            <a:r>
              <a:rPr lang="en-US" sz="1200" dirty="0">
                <a:hlinkClick r:id="rId5"/>
              </a:rPr>
              <a:t>https://docs.docker.com/engine/docker-overview/</a:t>
            </a:r>
            <a:r>
              <a:rPr lang="en-US" sz="1200" dirty="0"/>
              <a:t> </a:t>
            </a:r>
          </a:p>
        </p:txBody>
      </p:sp>
    </p:spTree>
    <p:extLst>
      <p:ext uri="{BB962C8B-B14F-4D97-AF65-F5344CB8AC3E}">
        <p14:creationId xmlns:p14="http://schemas.microsoft.com/office/powerpoint/2010/main" val="3886438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11D6EB-B117-4B54-B408-6A08804E7DC2}"/>
              </a:ext>
            </a:extLst>
          </p:cNvPr>
          <p:cNvSpPr>
            <a:spLocks noGrp="1"/>
          </p:cNvSpPr>
          <p:nvPr>
            <p:ph type="title"/>
          </p:nvPr>
        </p:nvSpPr>
        <p:spPr/>
        <p:txBody>
          <a:bodyPr/>
          <a:lstStyle/>
          <a:p>
            <a:r>
              <a:rPr lang="en-US" dirty="0"/>
              <a:t>A look into the docker engine</a:t>
            </a:r>
          </a:p>
        </p:txBody>
      </p:sp>
      <p:sp>
        <p:nvSpPr>
          <p:cNvPr id="4" name="Rectangle: Rounded Corners 3">
            <a:extLst>
              <a:ext uri="{FF2B5EF4-FFF2-40B4-BE49-F238E27FC236}">
                <a16:creationId xmlns:a16="http://schemas.microsoft.com/office/drawing/2014/main" id="{081AAA36-BC08-4696-A7A4-EAFF6279D8F8}"/>
              </a:ext>
            </a:extLst>
          </p:cNvPr>
          <p:cNvSpPr/>
          <p:nvPr/>
        </p:nvSpPr>
        <p:spPr bwMode="gray">
          <a:xfrm>
            <a:off x="2414863" y="1351904"/>
            <a:ext cx="2753248" cy="813917"/>
          </a:xfrm>
          <a:prstGeom prst="round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dockerd</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a:t>
            </a:r>
          </a:p>
        </p:txBody>
      </p:sp>
      <p:sp>
        <p:nvSpPr>
          <p:cNvPr id="6" name="Rectangle: Rounded Corners 5">
            <a:extLst>
              <a:ext uri="{FF2B5EF4-FFF2-40B4-BE49-F238E27FC236}">
                <a16:creationId xmlns:a16="http://schemas.microsoft.com/office/drawing/2014/main" id="{4B4B64A7-7586-47C7-AE20-37620FE37E73}"/>
              </a:ext>
            </a:extLst>
          </p:cNvPr>
          <p:cNvSpPr/>
          <p:nvPr/>
        </p:nvSpPr>
        <p:spPr bwMode="gray">
          <a:xfrm>
            <a:off x="2414863" y="2508739"/>
            <a:ext cx="2753248" cy="813917"/>
          </a:xfrm>
          <a:prstGeom prst="round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containerd</a:t>
            </a:r>
          </a:p>
        </p:txBody>
      </p:sp>
      <p:pic>
        <p:nvPicPr>
          <p:cNvPr id="10" name="Graphic 9" descr="Typewriter">
            <a:extLst>
              <a:ext uri="{FF2B5EF4-FFF2-40B4-BE49-F238E27FC236}">
                <a16:creationId xmlns:a16="http://schemas.microsoft.com/office/drawing/2014/main" id="{BE07B35B-E132-4D23-86CB-976CBC3229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2186" y="1301662"/>
            <a:ext cx="914400" cy="914400"/>
          </a:xfrm>
          <a:prstGeom prst="rect">
            <a:avLst/>
          </a:prstGeom>
        </p:spPr>
      </p:pic>
      <p:sp>
        <p:nvSpPr>
          <p:cNvPr id="8" name="Rectangle: Rounded Corners 7">
            <a:extLst>
              <a:ext uri="{FF2B5EF4-FFF2-40B4-BE49-F238E27FC236}">
                <a16:creationId xmlns:a16="http://schemas.microsoft.com/office/drawing/2014/main" id="{A229B4D0-5002-4453-AA2A-43C0E68904AA}"/>
              </a:ext>
            </a:extLst>
          </p:cNvPr>
          <p:cNvSpPr/>
          <p:nvPr/>
        </p:nvSpPr>
        <p:spPr bwMode="gray">
          <a:xfrm>
            <a:off x="545869" y="4588748"/>
            <a:ext cx="1969478" cy="415332"/>
          </a:xfrm>
          <a:prstGeom prst="round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runc</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5" name="Rectangle: Rounded Corners 14">
            <a:extLst>
              <a:ext uri="{FF2B5EF4-FFF2-40B4-BE49-F238E27FC236}">
                <a16:creationId xmlns:a16="http://schemas.microsoft.com/office/drawing/2014/main" id="{E5BDF676-B09C-45FD-BC01-C685E50685DF}"/>
              </a:ext>
            </a:extLst>
          </p:cNvPr>
          <p:cNvSpPr/>
          <p:nvPr/>
        </p:nvSpPr>
        <p:spPr bwMode="gray">
          <a:xfrm>
            <a:off x="545869" y="4097652"/>
            <a:ext cx="1969478" cy="415332"/>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containerd</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-shim</a:t>
            </a:r>
          </a:p>
        </p:txBody>
      </p:sp>
      <p:sp>
        <p:nvSpPr>
          <p:cNvPr id="16" name="Rectangle: Rounded Corners 15">
            <a:extLst>
              <a:ext uri="{FF2B5EF4-FFF2-40B4-BE49-F238E27FC236}">
                <a16:creationId xmlns:a16="http://schemas.microsoft.com/office/drawing/2014/main" id="{BB011E5D-064B-40C2-BB1F-7BBF8C345CCC}"/>
              </a:ext>
            </a:extLst>
          </p:cNvPr>
          <p:cNvSpPr/>
          <p:nvPr/>
        </p:nvSpPr>
        <p:spPr bwMode="gray">
          <a:xfrm>
            <a:off x="2808422" y="4588748"/>
            <a:ext cx="1969478" cy="415332"/>
          </a:xfrm>
          <a:prstGeom prst="roundRect">
            <a:avLst/>
          </a:prstGeom>
          <a:solidFill>
            <a:schemeClr val="accent5">
              <a:lumMod val="60000"/>
              <a:lumOff val="40000"/>
            </a:schemeClr>
          </a:solidFill>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runsc</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7" name="Rectangle: Rounded Corners 16">
            <a:extLst>
              <a:ext uri="{FF2B5EF4-FFF2-40B4-BE49-F238E27FC236}">
                <a16:creationId xmlns:a16="http://schemas.microsoft.com/office/drawing/2014/main" id="{04D605F0-A0BE-4A4B-AB1F-B52F7BD470FB}"/>
              </a:ext>
            </a:extLst>
          </p:cNvPr>
          <p:cNvSpPr/>
          <p:nvPr/>
        </p:nvSpPr>
        <p:spPr bwMode="gray">
          <a:xfrm>
            <a:off x="2808422" y="4097652"/>
            <a:ext cx="1969478" cy="415332"/>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containerd</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-shim</a:t>
            </a:r>
          </a:p>
        </p:txBody>
      </p:sp>
      <p:sp>
        <p:nvSpPr>
          <p:cNvPr id="18" name="Rectangle: Rounded Corners 17">
            <a:extLst>
              <a:ext uri="{FF2B5EF4-FFF2-40B4-BE49-F238E27FC236}">
                <a16:creationId xmlns:a16="http://schemas.microsoft.com/office/drawing/2014/main" id="{F8C51FB3-C049-45BB-94CC-23330008AEA3}"/>
              </a:ext>
            </a:extLst>
          </p:cNvPr>
          <p:cNvSpPr/>
          <p:nvPr/>
        </p:nvSpPr>
        <p:spPr bwMode="gray">
          <a:xfrm>
            <a:off x="5070975" y="4588748"/>
            <a:ext cx="1969478" cy="415332"/>
          </a:xfrm>
          <a:prstGeom prst="round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runc</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9" name="Rectangle: Rounded Corners 18">
            <a:extLst>
              <a:ext uri="{FF2B5EF4-FFF2-40B4-BE49-F238E27FC236}">
                <a16:creationId xmlns:a16="http://schemas.microsoft.com/office/drawing/2014/main" id="{0F51D164-0018-45E2-B68D-511CB155680D}"/>
              </a:ext>
            </a:extLst>
          </p:cNvPr>
          <p:cNvSpPr/>
          <p:nvPr/>
        </p:nvSpPr>
        <p:spPr bwMode="gray">
          <a:xfrm>
            <a:off x="5070975" y="4097652"/>
            <a:ext cx="1969478" cy="415332"/>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containerd</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-shim</a:t>
            </a:r>
          </a:p>
        </p:txBody>
      </p:sp>
      <p:pic>
        <p:nvPicPr>
          <p:cNvPr id="20" name="Picture 19">
            <a:extLst>
              <a:ext uri="{FF2B5EF4-FFF2-40B4-BE49-F238E27FC236}">
                <a16:creationId xmlns:a16="http://schemas.microsoft.com/office/drawing/2014/main" id="{C2EB80D9-39E5-4F24-B2FD-FC28E4A7A7C9}"/>
              </a:ext>
            </a:extLst>
          </p:cNvPr>
          <p:cNvPicPr>
            <a:picLocks noChangeAspect="1"/>
          </p:cNvPicPr>
          <p:nvPr/>
        </p:nvPicPr>
        <p:blipFill>
          <a:blip r:embed="rId5"/>
          <a:stretch>
            <a:fillRect/>
          </a:stretch>
        </p:blipFill>
        <p:spPr>
          <a:xfrm>
            <a:off x="737274" y="5386625"/>
            <a:ext cx="1586667" cy="947654"/>
          </a:xfrm>
          <a:prstGeom prst="rect">
            <a:avLst/>
          </a:prstGeom>
        </p:spPr>
      </p:pic>
      <p:pic>
        <p:nvPicPr>
          <p:cNvPr id="22" name="Picture 21">
            <a:extLst>
              <a:ext uri="{FF2B5EF4-FFF2-40B4-BE49-F238E27FC236}">
                <a16:creationId xmlns:a16="http://schemas.microsoft.com/office/drawing/2014/main" id="{378CEB34-A694-4201-ADDC-1E8066F339E3}"/>
              </a:ext>
            </a:extLst>
          </p:cNvPr>
          <p:cNvPicPr>
            <a:picLocks noChangeAspect="1"/>
          </p:cNvPicPr>
          <p:nvPr/>
        </p:nvPicPr>
        <p:blipFill>
          <a:blip r:embed="rId5"/>
          <a:stretch>
            <a:fillRect/>
          </a:stretch>
        </p:blipFill>
        <p:spPr>
          <a:xfrm>
            <a:off x="2999827" y="5386625"/>
            <a:ext cx="1586667" cy="947654"/>
          </a:xfrm>
          <a:prstGeom prst="rect">
            <a:avLst/>
          </a:prstGeom>
        </p:spPr>
      </p:pic>
      <p:pic>
        <p:nvPicPr>
          <p:cNvPr id="23" name="Picture 22">
            <a:extLst>
              <a:ext uri="{FF2B5EF4-FFF2-40B4-BE49-F238E27FC236}">
                <a16:creationId xmlns:a16="http://schemas.microsoft.com/office/drawing/2014/main" id="{A62D5E3D-51EA-46CB-93AB-6DBE290403B6}"/>
              </a:ext>
            </a:extLst>
          </p:cNvPr>
          <p:cNvPicPr>
            <a:picLocks noChangeAspect="1"/>
          </p:cNvPicPr>
          <p:nvPr/>
        </p:nvPicPr>
        <p:blipFill>
          <a:blip r:embed="rId5"/>
          <a:stretch>
            <a:fillRect/>
          </a:stretch>
        </p:blipFill>
        <p:spPr>
          <a:xfrm>
            <a:off x="5262380" y="5386625"/>
            <a:ext cx="1586667" cy="947654"/>
          </a:xfrm>
          <a:prstGeom prst="rect">
            <a:avLst/>
          </a:prstGeom>
        </p:spPr>
      </p:pic>
      <p:cxnSp>
        <p:nvCxnSpPr>
          <p:cNvPr id="25" name="Straight Arrow Connector 24">
            <a:extLst>
              <a:ext uri="{FF2B5EF4-FFF2-40B4-BE49-F238E27FC236}">
                <a16:creationId xmlns:a16="http://schemas.microsoft.com/office/drawing/2014/main" id="{FD034A71-C62B-4808-98DF-88B004C23164}"/>
              </a:ext>
            </a:extLst>
          </p:cNvPr>
          <p:cNvCxnSpPr>
            <a:cxnSpLocks/>
            <a:stCxn id="10" idx="3"/>
            <a:endCxn id="4" idx="1"/>
          </p:cNvCxnSpPr>
          <p:nvPr/>
        </p:nvCxnSpPr>
        <p:spPr>
          <a:xfrm>
            <a:off x="1406586" y="1758862"/>
            <a:ext cx="1008277" cy="1"/>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2D68247-A75A-4548-B5F8-1D657A48B771}"/>
              </a:ext>
            </a:extLst>
          </p:cNvPr>
          <p:cNvCxnSpPr>
            <a:stCxn id="4" idx="2"/>
            <a:endCxn id="6" idx="0"/>
          </p:cNvCxnSpPr>
          <p:nvPr/>
        </p:nvCxnSpPr>
        <p:spPr>
          <a:xfrm>
            <a:off x="3791487" y="2165821"/>
            <a:ext cx="0" cy="342918"/>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5EEB6855-20F6-4D66-B565-F98EE00B18B1}"/>
              </a:ext>
            </a:extLst>
          </p:cNvPr>
          <p:cNvCxnSpPr>
            <a:stCxn id="6" idx="2"/>
            <a:endCxn id="15" idx="0"/>
          </p:cNvCxnSpPr>
          <p:nvPr/>
        </p:nvCxnSpPr>
        <p:spPr>
          <a:xfrm rot="5400000">
            <a:off x="2273550" y="2579715"/>
            <a:ext cx="774996" cy="2260879"/>
          </a:xfrm>
          <a:prstGeom prst="bentConnector3">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49" name="Connector: Elbow 2048">
            <a:extLst>
              <a:ext uri="{FF2B5EF4-FFF2-40B4-BE49-F238E27FC236}">
                <a16:creationId xmlns:a16="http://schemas.microsoft.com/office/drawing/2014/main" id="{4C9CFF38-CC33-47C1-A676-C8616F16EAD4}"/>
              </a:ext>
            </a:extLst>
          </p:cNvPr>
          <p:cNvCxnSpPr>
            <a:stCxn id="6" idx="2"/>
            <a:endCxn id="19" idx="0"/>
          </p:cNvCxnSpPr>
          <p:nvPr/>
        </p:nvCxnSpPr>
        <p:spPr>
          <a:xfrm rot="16200000" flipH="1">
            <a:off x="4536102" y="2578040"/>
            <a:ext cx="774996" cy="2264227"/>
          </a:xfrm>
          <a:prstGeom prst="bentConnector3">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52" name="Straight Arrow Connector 2051">
            <a:extLst>
              <a:ext uri="{FF2B5EF4-FFF2-40B4-BE49-F238E27FC236}">
                <a16:creationId xmlns:a16="http://schemas.microsoft.com/office/drawing/2014/main" id="{62C187FE-5B5B-4A26-97EE-E02D366C5D79}"/>
              </a:ext>
            </a:extLst>
          </p:cNvPr>
          <p:cNvCxnSpPr>
            <a:cxnSpLocks/>
            <a:stCxn id="6" idx="2"/>
            <a:endCxn id="17" idx="0"/>
          </p:cNvCxnSpPr>
          <p:nvPr/>
        </p:nvCxnSpPr>
        <p:spPr>
          <a:xfrm>
            <a:off x="3791487" y="3322656"/>
            <a:ext cx="1674" cy="774996"/>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54" name="Straight Arrow Connector 2053">
            <a:extLst>
              <a:ext uri="{FF2B5EF4-FFF2-40B4-BE49-F238E27FC236}">
                <a16:creationId xmlns:a16="http://schemas.microsoft.com/office/drawing/2014/main" id="{2182E10B-C024-479F-AA63-2A87AB24E721}"/>
              </a:ext>
            </a:extLst>
          </p:cNvPr>
          <p:cNvCxnSpPr>
            <a:cxnSpLocks/>
            <a:stCxn id="8" idx="2"/>
            <a:endCxn id="20" idx="0"/>
          </p:cNvCxnSpPr>
          <p:nvPr/>
        </p:nvCxnSpPr>
        <p:spPr>
          <a:xfrm>
            <a:off x="1530608" y="5004080"/>
            <a:ext cx="0" cy="382545"/>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56" name="Straight Arrow Connector 2055">
            <a:extLst>
              <a:ext uri="{FF2B5EF4-FFF2-40B4-BE49-F238E27FC236}">
                <a16:creationId xmlns:a16="http://schemas.microsoft.com/office/drawing/2014/main" id="{11135BE4-28CC-4FF5-8195-AA00C63709A1}"/>
              </a:ext>
            </a:extLst>
          </p:cNvPr>
          <p:cNvCxnSpPr>
            <a:cxnSpLocks/>
            <a:stCxn id="16" idx="2"/>
            <a:endCxn id="22" idx="0"/>
          </p:cNvCxnSpPr>
          <p:nvPr/>
        </p:nvCxnSpPr>
        <p:spPr>
          <a:xfrm>
            <a:off x="3793161" y="5004080"/>
            <a:ext cx="0" cy="382545"/>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58" name="Straight Arrow Connector 2057">
            <a:extLst>
              <a:ext uri="{FF2B5EF4-FFF2-40B4-BE49-F238E27FC236}">
                <a16:creationId xmlns:a16="http://schemas.microsoft.com/office/drawing/2014/main" id="{BDCC3E1B-023D-41D5-96B7-AE2782CBDC95}"/>
              </a:ext>
            </a:extLst>
          </p:cNvPr>
          <p:cNvCxnSpPr>
            <a:cxnSpLocks/>
            <a:stCxn id="18" idx="2"/>
            <a:endCxn id="23" idx="0"/>
          </p:cNvCxnSpPr>
          <p:nvPr/>
        </p:nvCxnSpPr>
        <p:spPr>
          <a:xfrm>
            <a:off x="6055714" y="5004080"/>
            <a:ext cx="0" cy="382545"/>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9" name="Speech Bubble: Rectangle 48">
            <a:extLst>
              <a:ext uri="{FF2B5EF4-FFF2-40B4-BE49-F238E27FC236}">
                <a16:creationId xmlns:a16="http://schemas.microsoft.com/office/drawing/2014/main" id="{C1B6FCC7-62DE-4C3E-84BC-733715AF4570}"/>
              </a:ext>
            </a:extLst>
          </p:cNvPr>
          <p:cNvSpPr/>
          <p:nvPr/>
        </p:nvSpPr>
        <p:spPr bwMode="gray">
          <a:xfrm>
            <a:off x="6348448" y="995230"/>
            <a:ext cx="4101737" cy="641734"/>
          </a:xfrm>
          <a:prstGeom prst="wedgeRectCallout">
            <a:avLst>
              <a:gd name="adj1" fmla="val -72482"/>
              <a:gd name="adj2" fmla="val 5392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Docker daemon is the central entry point for all API requests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0" name="Speech Bubble: Rectangle 49">
            <a:extLst>
              <a:ext uri="{FF2B5EF4-FFF2-40B4-BE49-F238E27FC236}">
                <a16:creationId xmlns:a16="http://schemas.microsoft.com/office/drawing/2014/main" id="{A6C68991-E00A-4A3D-B278-E6B1F9ED544D}"/>
              </a:ext>
            </a:extLst>
          </p:cNvPr>
          <p:cNvSpPr/>
          <p:nvPr/>
        </p:nvSpPr>
        <p:spPr bwMode="gray">
          <a:xfrm>
            <a:off x="6348448" y="2216062"/>
            <a:ext cx="4101737" cy="641734"/>
          </a:xfrm>
          <a:prstGeom prst="wedgeRectCallout">
            <a:avLst>
              <a:gd name="adj1" fmla="val -72482"/>
              <a:gd name="adj2" fmla="val 5392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Container runtime </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to handle container lifecycle based on OCI specs</a:t>
            </a:r>
          </a:p>
        </p:txBody>
      </p:sp>
      <p:sp>
        <p:nvSpPr>
          <p:cNvPr id="51" name="Speech Bubble: Rectangle 50">
            <a:extLst>
              <a:ext uri="{FF2B5EF4-FFF2-40B4-BE49-F238E27FC236}">
                <a16:creationId xmlns:a16="http://schemas.microsoft.com/office/drawing/2014/main" id="{9815E1AD-DF89-45E0-8288-DD498EFC09F8}"/>
              </a:ext>
            </a:extLst>
          </p:cNvPr>
          <p:cNvSpPr/>
          <p:nvPr/>
        </p:nvSpPr>
        <p:spPr bwMode="gray">
          <a:xfrm>
            <a:off x="7432337" y="3322655"/>
            <a:ext cx="4101737" cy="641734"/>
          </a:xfrm>
          <a:prstGeom prst="wedgeRectCallout">
            <a:avLst>
              <a:gd name="adj1" fmla="val -72482"/>
              <a:gd name="adj2" fmla="val 5392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him process which takes over parent ownership of a running container</a:t>
            </a:r>
          </a:p>
        </p:txBody>
      </p:sp>
      <p:sp>
        <p:nvSpPr>
          <p:cNvPr id="52" name="Speech Bubble: Rectangle 51">
            <a:extLst>
              <a:ext uri="{FF2B5EF4-FFF2-40B4-BE49-F238E27FC236}">
                <a16:creationId xmlns:a16="http://schemas.microsoft.com/office/drawing/2014/main" id="{6A1CD147-567D-472B-A796-F42D6053B620}"/>
              </a:ext>
            </a:extLst>
          </p:cNvPr>
          <p:cNvSpPr/>
          <p:nvPr/>
        </p:nvSpPr>
        <p:spPr bwMode="gray">
          <a:xfrm>
            <a:off x="8256818" y="5650080"/>
            <a:ext cx="3130571" cy="837361"/>
          </a:xfrm>
          <a:prstGeom prst="wedgeRectCallout">
            <a:avLst>
              <a:gd name="adj1" fmla="val -47446"/>
              <a:gd name="adj2" fmla="val -7946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runc</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actually starts the container</a:t>
            </a:r>
          </a:p>
        </p:txBody>
      </p:sp>
      <p:pic>
        <p:nvPicPr>
          <p:cNvPr id="27" name="Picture 26">
            <a:extLst>
              <a:ext uri="{FF2B5EF4-FFF2-40B4-BE49-F238E27FC236}">
                <a16:creationId xmlns:a16="http://schemas.microsoft.com/office/drawing/2014/main" id="{0BFE9AD0-00E6-4C1C-B5BC-BEF04A8041EA}"/>
              </a:ext>
            </a:extLst>
          </p:cNvPr>
          <p:cNvPicPr>
            <a:picLocks noChangeAspect="1"/>
          </p:cNvPicPr>
          <p:nvPr/>
        </p:nvPicPr>
        <p:blipFill>
          <a:blip r:embed="rId6"/>
          <a:stretch>
            <a:fillRect/>
          </a:stretch>
        </p:blipFill>
        <p:spPr>
          <a:xfrm>
            <a:off x="7432337" y="4261819"/>
            <a:ext cx="1613647" cy="1124806"/>
          </a:xfrm>
          <a:prstGeom prst="rect">
            <a:avLst/>
          </a:prstGeom>
        </p:spPr>
      </p:pic>
      <p:pic>
        <p:nvPicPr>
          <p:cNvPr id="11" name="Grafik 10">
            <a:extLst>
              <a:ext uri="{FF2B5EF4-FFF2-40B4-BE49-F238E27FC236}">
                <a16:creationId xmlns:a16="http://schemas.microsoft.com/office/drawing/2014/main" id="{AFD9592C-FA7F-4BB0-1A16-1EFA193788CF}"/>
              </a:ext>
            </a:extLst>
          </p:cNvPr>
          <p:cNvPicPr>
            <a:picLocks noChangeAspect="1"/>
          </p:cNvPicPr>
          <p:nvPr/>
        </p:nvPicPr>
        <p:blipFill>
          <a:blip r:embed="rId7"/>
          <a:stretch>
            <a:fillRect/>
          </a:stretch>
        </p:blipFill>
        <p:spPr>
          <a:xfrm>
            <a:off x="9045984" y="4429248"/>
            <a:ext cx="2336800" cy="850900"/>
          </a:xfrm>
          <a:prstGeom prst="rect">
            <a:avLst/>
          </a:prstGeom>
        </p:spPr>
      </p:pic>
    </p:spTree>
    <p:extLst>
      <p:ext uri="{BB962C8B-B14F-4D97-AF65-F5344CB8AC3E}">
        <p14:creationId xmlns:p14="http://schemas.microsoft.com/office/powerpoint/2010/main" val="313692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5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5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05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5" grpId="0" animBg="1"/>
      <p:bldP spid="16" grpId="0" animBg="1"/>
      <p:bldP spid="17" grpId="0" animBg="1"/>
      <p:bldP spid="18" grpId="0" animBg="1"/>
      <p:bldP spid="19" grpId="0" animBg="1"/>
      <p:bldP spid="50" grpId="0" animBg="1"/>
      <p:bldP spid="51" grpId="0" animBg="1"/>
      <p:bldP spid="52"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36631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white">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white.potx" id="{09507692-57C8-4E82-A325-C2A287EE40F0}" vid="{EBED01C1-DD25-4F44-B246-2D1B402CEA63}"/>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3C8A4F00697141B6FA960F762861E8" ma:contentTypeVersion="7" ma:contentTypeDescription="Create a new document." ma:contentTypeScope="" ma:versionID="75679eb20af3838b1eab1fbe72fef032">
  <xsd:schema xmlns:xsd="http://www.w3.org/2001/XMLSchema" xmlns:xs="http://www.w3.org/2001/XMLSchema" xmlns:p="http://schemas.microsoft.com/office/2006/metadata/properties" xmlns:ns3="49a59b68-094c-48f7-af2b-0072ac24b77e" targetNamespace="http://schemas.microsoft.com/office/2006/metadata/properties" ma:root="true" ma:fieldsID="223f61b356e47f140bcb594d278c0c55" ns3:_="">
    <xsd:import namespace="49a59b68-094c-48f7-af2b-0072ac24b77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a59b68-094c-48f7-af2b-0072ac24b7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2223F73-0F08-4D22-88C9-602F4313BC72}">
  <ds:schemaRefs>
    <ds:schemaRef ds:uri="http://schemas.microsoft.com/sharepoint/v3/contenttype/forms"/>
  </ds:schemaRefs>
</ds:datastoreItem>
</file>

<file path=customXml/itemProps2.xml><?xml version="1.0" encoding="utf-8"?>
<ds:datastoreItem xmlns:ds="http://schemas.openxmlformats.org/officeDocument/2006/customXml" ds:itemID="{9234AC07-8006-4F61-93F8-4AB6A04320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a59b68-094c-48f7-af2b-0072ac24b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E15B31B-466C-488E-B171-800C9BAA728E}">
  <ds:schemaRefs>
    <ds:schemaRef ds:uri="http://schemas.microsoft.com/office/2006/metadata/properties"/>
    <ds:schemaRef ds:uri="http://schemas.microsoft.com/office/2006/documentManagement/types"/>
    <ds:schemaRef ds:uri="http://purl.org/dc/elements/1.1/"/>
    <ds:schemaRef ds:uri="49a59b68-094c-48f7-af2b-0072ac24b77e"/>
    <ds:schemaRef ds:uri="http://schemas.microsoft.com/office/infopath/2007/PartnerControls"/>
    <ds:schemaRef ds:uri="http://purl.org/dc/terms/"/>
    <ds:schemaRef ds:uri="http://www.w3.org/XML/1998/namespace"/>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1228</Words>
  <Application>Microsoft Macintosh PowerPoint</Application>
  <PresentationFormat>Benutzerdefiniert</PresentationFormat>
  <Paragraphs>125</Paragraphs>
  <Slides>15</Slides>
  <Notes>12</Notes>
  <HiddenSlides>2</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15</vt:i4>
      </vt:variant>
    </vt:vector>
  </HeadingPairs>
  <TitlesOfParts>
    <vt:vector size="21" baseType="lpstr">
      <vt:lpstr>Arial</vt:lpstr>
      <vt:lpstr>Courier New</vt:lpstr>
      <vt:lpstr>Symbol</vt:lpstr>
      <vt:lpstr>Wingdings</vt:lpstr>
      <vt:lpstr>Wingdings</vt:lpstr>
      <vt:lpstr>SAP_2017_16x9_white</vt:lpstr>
      <vt:lpstr>PowerPoint-Präsentation</vt:lpstr>
      <vt:lpstr>Images</vt:lpstr>
      <vt:lpstr>Please type along</vt:lpstr>
      <vt:lpstr>Container lifecycle</vt:lpstr>
      <vt:lpstr>Please type along (1)</vt:lpstr>
      <vt:lpstr>Please type along (2)</vt:lpstr>
      <vt:lpstr>Please type along (3)</vt:lpstr>
      <vt:lpstr>Details of the container lifecycle</vt:lpstr>
      <vt:lpstr>Please type along (4)</vt:lpstr>
      <vt:lpstr>What’s happening in the background?</vt:lpstr>
      <vt:lpstr>PowerPoint-Präsentation</vt:lpstr>
      <vt:lpstr>Docker eco-system</vt:lpstr>
      <vt:lpstr>A look into the docker engine</vt:lpstr>
      <vt:lpstr>PowerPoint-Präsentation</vt:lpstr>
      <vt:lpstr>PowerPoint-Präsentation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2017/16:9/white</cp:keywords>
  <cp:lastModifiedBy>Kahl, Hendrik</cp:lastModifiedBy>
  <cp:revision>641</cp:revision>
  <dcterms:created xsi:type="dcterms:W3CDTF">2015-10-14T11:21:43Z</dcterms:created>
  <dcterms:modified xsi:type="dcterms:W3CDTF">2023-09-18T12:59:14Z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1357826825</vt:i4>
  </property>
  <property fmtid="{D5CDD505-2E9C-101B-9397-08002B2CF9AE}" pid="3" name="_NewReviewCycle">
    <vt:lpwstr/>
  </property>
  <property fmtid="{D5CDD505-2E9C-101B-9397-08002B2CF9AE}" pid="4" name="_EmailSubject">
    <vt:lpwstr>Color Palette/Stationery Next Steps </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ContentTypeId">
    <vt:lpwstr>0x010100413C8A4F00697141B6FA960F762861E8</vt:lpwstr>
  </property>
</Properties>
</file>