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4"/>
  </p:sldMasterIdLst>
  <p:notesMasterIdLst>
    <p:notesMasterId r:id="rId14"/>
  </p:notesMasterIdLst>
  <p:handoutMasterIdLst>
    <p:handoutMasterId r:id="rId15"/>
  </p:handoutMasterIdLst>
  <p:sldIdLst>
    <p:sldId id="446" r:id="rId5"/>
    <p:sldId id="470" r:id="rId6"/>
    <p:sldId id="447" r:id="rId7"/>
    <p:sldId id="465" r:id="rId8"/>
    <p:sldId id="514" r:id="rId9"/>
    <p:sldId id="467" r:id="rId10"/>
    <p:sldId id="468" r:id="rId11"/>
    <p:sldId id="469" r:id="rId12"/>
    <p:sldId id="265" r:id="rId13"/>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rtsch, Holger" initials="PH" lastIdx="6" clrIdx="0">
    <p:extLst>
      <p:ext uri="{19B8F6BF-5375-455C-9EA6-DF929625EA0E}">
        <p15:presenceInfo xmlns:p15="http://schemas.microsoft.com/office/powerpoint/2012/main" userId="S-1-5-21-74642-3284969411-2123768488-12025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FF0000"/>
    <a:srgbClr val="FFFF99"/>
    <a:srgbClr val="D1B9CC"/>
    <a:srgbClr val="FFCCFF"/>
    <a:srgbClr val="BB15AF"/>
    <a:srgbClr val="F0AB00"/>
    <a:srgbClr val="0F46A7"/>
    <a:srgbClr val="970A82"/>
    <a:srgbClr val="FF339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autoAdjust="0"/>
    <p:restoredTop sz="82857" autoAdjust="0"/>
  </p:normalViewPr>
  <p:slideViewPr>
    <p:cSldViewPr snapToGrid="0" showGuides="1">
      <p:cViewPr varScale="1">
        <p:scale>
          <a:sx n="130" d="100"/>
          <a:sy n="130" d="100"/>
        </p:scale>
        <p:origin x="972" y="120"/>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150" d="100"/>
        <a:sy n="150" d="100"/>
      </p:scale>
      <p:origin x="0" y="0"/>
    </p:cViewPr>
  </p:notesTextViewPr>
  <p:sorterViewPr>
    <p:cViewPr varScale="1">
      <p:scale>
        <a:sx n="100" d="100"/>
        <a:sy n="100" d="100"/>
      </p:scale>
      <p:origin x="0" y="0"/>
    </p:cViewPr>
  </p:sorterViewPr>
  <p:notesViewPr>
    <p:cSldViewPr snapToGrid="0" showGuides="1">
      <p:cViewPr varScale="1">
        <p:scale>
          <a:sx n="92" d="100"/>
          <a:sy n="92" d="100"/>
        </p:scale>
        <p:origin x="40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a:t>
            </a:fld>
            <a:endParaRPr lang="de-DE" dirty="0"/>
          </a:p>
        </p:txBody>
      </p:sp>
    </p:spTree>
    <p:extLst>
      <p:ext uri="{BB962C8B-B14F-4D97-AF65-F5344CB8AC3E}">
        <p14:creationId xmlns:p14="http://schemas.microsoft.com/office/powerpoint/2010/main" val="32352500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Every docker host spins up a local private network. A container will get an IP address form this network to be reachable locally. So as long as all container are on the same host, they can communicate via this network. </a:t>
            </a:r>
          </a:p>
          <a:p>
            <a:endParaRPr lang="en-US" noProof="0" dirty="0"/>
          </a:p>
          <a:p>
            <a:r>
              <a:rPr lang="en-US" noProof="0" dirty="0"/>
              <a:t>However, this is a very unlikely scenario. Probably there are more hosts involved or you want to expose your application to the outside. Docker supports </a:t>
            </a:r>
            <a:r>
              <a:rPr lang="en-US" b="1" noProof="0" dirty="0"/>
              <a:t>network address translation (NAT)</a:t>
            </a:r>
            <a:r>
              <a:rPr lang="en-US" noProof="0" dirty="0"/>
              <a:t> to map a &lt;</a:t>
            </a:r>
            <a:r>
              <a:rPr lang="en-US" noProof="0" dirty="0" err="1"/>
              <a:t>container_ip</a:t>
            </a:r>
            <a:r>
              <a:rPr lang="en-US" noProof="0" dirty="0"/>
              <a:t>&gt;:&lt;port&gt; to a port on the external network interface of the docker host. If you have a container with 172.16.0.2:80 locally it could be exposed to the outside on 192.168.52.1:32710 (</a:t>
            </a:r>
            <a:r>
              <a:rPr lang="en-US" noProof="0" dirty="0" err="1"/>
              <a:t>ip</a:t>
            </a:r>
            <a:r>
              <a:rPr lang="en-US" noProof="0" dirty="0"/>
              <a:t> address of the docker host + unused port).</a:t>
            </a:r>
          </a:p>
          <a:p>
            <a:endParaRPr lang="en-US" noProof="0" dirty="0"/>
          </a:p>
          <a:p>
            <a:r>
              <a:rPr lang="en-US" noProof="0" dirty="0"/>
              <a:t>This feature is called </a:t>
            </a:r>
            <a:r>
              <a:rPr lang="en-US" b="1" noProof="0" dirty="0"/>
              <a:t>port forwarding</a:t>
            </a:r>
            <a:r>
              <a:rPr lang="en-US" noProof="0" dirty="0"/>
              <a:t> and docker knows two flavors of it.</a:t>
            </a:r>
          </a:p>
          <a:p>
            <a:pPr marL="342900" indent="-342900">
              <a:buAutoNum type="arabicParenR"/>
            </a:pPr>
            <a:r>
              <a:rPr lang="en-US" noProof="0" dirty="0"/>
              <a:t>Map a </a:t>
            </a:r>
            <a:r>
              <a:rPr lang="en-US" b="1" noProof="0" dirty="0"/>
              <a:t>dedicated host port</a:t>
            </a:r>
            <a:r>
              <a:rPr lang="en-US" noProof="0" dirty="0"/>
              <a:t> to a container port – this has to be specified manually. So you have to keep track of all your used ports in order to avoid conflicts. Use the “-p” (lower case) switch and specify host port &amp; container port.</a:t>
            </a:r>
          </a:p>
          <a:p>
            <a:pPr marL="342900" indent="-342900">
              <a:buAutoNum type="arabicParenR"/>
            </a:pPr>
            <a:r>
              <a:rPr lang="en-US" noProof="0" dirty="0"/>
              <a:t>Map a </a:t>
            </a:r>
            <a:r>
              <a:rPr lang="en-US" b="1" noProof="0" dirty="0"/>
              <a:t>random port</a:t>
            </a:r>
            <a:r>
              <a:rPr lang="en-US" noProof="0" dirty="0"/>
              <a:t> to a container port. Use the “-P” (upper case) switch. Docker detects the ports a container exposes and automatically assigns an unused port. Check with “docker </a:t>
            </a:r>
            <a:r>
              <a:rPr lang="en-US" noProof="0" dirty="0" err="1"/>
              <a:t>ps</a:t>
            </a:r>
            <a:r>
              <a:rPr lang="en-US" noProof="0" dirty="0"/>
              <a:t>” or “docker container list”, which port was assigned.</a:t>
            </a:r>
          </a:p>
          <a:p>
            <a:pPr marL="342900" indent="-342900">
              <a:buAutoNum type="arabicParenR"/>
            </a:pPr>
            <a:endParaRPr lang="en-US" noProof="0" dirty="0"/>
          </a:p>
          <a:p>
            <a:endParaRPr lang="en-US" noProof="0"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3</a:t>
            </a:fld>
            <a:endParaRPr lang="de-DE" dirty="0"/>
          </a:p>
        </p:txBody>
      </p:sp>
    </p:spTree>
    <p:extLst>
      <p:ext uri="{BB962C8B-B14F-4D97-AF65-F5344CB8AC3E}">
        <p14:creationId xmlns:p14="http://schemas.microsoft.com/office/powerpoint/2010/main" val="713411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indent="0">
              <a:buFontTx/>
              <a:buNone/>
            </a:pPr>
            <a:r>
              <a:rPr lang="en-US" b="0" dirty="0"/>
              <a:t>Let’s get back to our </a:t>
            </a:r>
            <a:r>
              <a:rPr lang="en-US" b="0" dirty="0" err="1"/>
              <a:t>nginx</a:t>
            </a:r>
            <a:r>
              <a:rPr lang="en-US" b="0" dirty="0"/>
              <a:t> examples.</a:t>
            </a:r>
          </a:p>
          <a:p>
            <a:pPr marL="285750" indent="-285750">
              <a:buFontTx/>
              <a:buChar char="-"/>
            </a:pPr>
            <a:r>
              <a:rPr lang="en-US" b="0" dirty="0"/>
              <a:t>Docker run -d -p 8081:80 </a:t>
            </a:r>
            <a:r>
              <a:rPr lang="en-US" b="0" dirty="0" err="1"/>
              <a:t>nginx:mainline</a:t>
            </a:r>
            <a:endParaRPr lang="en-US" b="0" dirty="0"/>
          </a:p>
          <a:p>
            <a:pPr marL="285750" indent="-285750">
              <a:buFontTx/>
              <a:buChar char="-"/>
            </a:pPr>
            <a:r>
              <a:rPr lang="en-US" b="0" dirty="0"/>
              <a:t>Access the </a:t>
            </a:r>
            <a:r>
              <a:rPr lang="en-US" b="0" dirty="0" err="1"/>
              <a:t>nginx</a:t>
            </a:r>
            <a:r>
              <a:rPr lang="en-US" b="0" dirty="0"/>
              <a:t> on port localhost:8081</a:t>
            </a:r>
          </a:p>
          <a:p>
            <a:pPr marL="285750" indent="-285750">
              <a:buFontTx/>
              <a:buChar char="-"/>
            </a:pPr>
            <a:r>
              <a:rPr lang="en-US" b="0" dirty="0"/>
              <a:t>Run the same with -P and get the port via docker container list</a:t>
            </a:r>
          </a:p>
          <a:p>
            <a:pPr marL="285750" indent="-285750">
              <a:buFontTx/>
              <a:buChar char="-"/>
            </a:pPr>
            <a:r>
              <a:rPr lang="en-US" b="0" dirty="0"/>
              <a:t>Access the </a:t>
            </a:r>
            <a:r>
              <a:rPr lang="en-US" b="0" dirty="0" err="1"/>
              <a:t>nginx</a:t>
            </a:r>
            <a:r>
              <a:rPr lang="en-US" b="0" dirty="0"/>
              <a:t> via the random port</a:t>
            </a:r>
          </a:p>
          <a:p>
            <a:pPr marL="285750" indent="-285750">
              <a:buFontTx/>
              <a:buChar char="-"/>
            </a:pPr>
            <a:endParaRPr lang="en-US" b="0" dirty="0"/>
          </a:p>
          <a:p>
            <a:pPr marL="0" indent="0">
              <a:buFontTx/>
              <a:buNone/>
            </a:pPr>
            <a:r>
              <a:rPr lang="en-US" b="0" dirty="0"/>
              <a:t>It’s important to remember – the first port is referencing the port that is opened on the docker host, the 2</a:t>
            </a:r>
            <a:r>
              <a:rPr lang="en-US" b="0" baseline="30000" dirty="0"/>
              <a:t>nd</a:t>
            </a:r>
            <a:r>
              <a:rPr lang="en-US" b="0" dirty="0"/>
              <a:t> port is referencing the container port.</a:t>
            </a:r>
          </a:p>
          <a:p>
            <a:pPr marL="0" indent="0">
              <a:buFontTx/>
              <a:buNone/>
            </a:pPr>
            <a:endParaRPr lang="en-US" b="0" dirty="0"/>
          </a:p>
          <a:p>
            <a:pPr marL="0" indent="0">
              <a:buFontTx/>
              <a:buNone/>
            </a:pPr>
            <a:r>
              <a:rPr lang="en-US" b="0" dirty="0"/>
              <a:t>Talking about networking:</a:t>
            </a:r>
          </a:p>
          <a:p>
            <a:pPr marL="285750" indent="-285750">
              <a:buFontTx/>
              <a:buChar char="-"/>
            </a:pPr>
            <a:r>
              <a:rPr lang="en-US" b="0" dirty="0"/>
              <a:t>Docker network list</a:t>
            </a:r>
          </a:p>
          <a:p>
            <a:pPr marL="285750" indent="-285750">
              <a:buFontTx/>
              <a:buChar char="-"/>
            </a:pPr>
            <a:r>
              <a:rPr lang="en-US" b="0" dirty="0"/>
              <a:t>Show the different docker networks and create a new bridge network (docker network create test)</a:t>
            </a:r>
          </a:p>
          <a:p>
            <a:pPr marL="285750" indent="-285750">
              <a:buFontTx/>
              <a:buChar char="-"/>
            </a:pPr>
            <a:r>
              <a:rPr lang="en-US" b="0" dirty="0"/>
              <a:t>If you want to wire 2 containers, you have to put them into the same docker network. But be careful, DNS resolution doesn’t work in the default network!</a:t>
            </a:r>
          </a:p>
          <a:p>
            <a:pPr marL="285750" indent="-285750">
              <a:buFontTx/>
              <a:buChar char="-"/>
            </a:pPr>
            <a:r>
              <a:rPr lang="en-US" b="0" dirty="0"/>
              <a:t>Spin up a </a:t>
            </a:r>
            <a:r>
              <a:rPr lang="en-US" b="0" dirty="0" err="1"/>
              <a:t>nginx</a:t>
            </a:r>
            <a:r>
              <a:rPr lang="en-US" b="0" dirty="0"/>
              <a:t>: docker run -d --name </a:t>
            </a:r>
            <a:r>
              <a:rPr lang="en-US" b="0" dirty="0" err="1"/>
              <a:t>nginx</a:t>
            </a:r>
            <a:r>
              <a:rPr lang="en-US" b="0" dirty="0"/>
              <a:t> --network test </a:t>
            </a:r>
            <a:r>
              <a:rPr lang="en-US" b="0" dirty="0" err="1"/>
              <a:t>nginx:mainline</a:t>
            </a:r>
            <a:endParaRPr lang="en-US" b="0" dirty="0"/>
          </a:p>
          <a:p>
            <a:pPr marL="285750" indent="-285750">
              <a:buFontTx/>
              <a:buChar char="-"/>
            </a:pPr>
            <a:r>
              <a:rPr lang="en-US" b="0" dirty="0"/>
              <a:t>Spin up a helper: docker run -it --name helper --network test alpine:3.8</a:t>
            </a:r>
          </a:p>
          <a:p>
            <a:pPr marL="465750" lvl="1" indent="-285750">
              <a:buFontTx/>
              <a:buChar char="-"/>
            </a:pPr>
            <a:r>
              <a:rPr lang="en-US" b="0" dirty="0"/>
              <a:t>From within the helper container, show the </a:t>
            </a:r>
            <a:r>
              <a:rPr lang="en-US" b="0" dirty="0" err="1"/>
              <a:t>dns</a:t>
            </a:r>
            <a:r>
              <a:rPr lang="en-US" b="0" dirty="0"/>
              <a:t> resolution : </a:t>
            </a:r>
            <a:r>
              <a:rPr lang="en-US" b="0" dirty="0" err="1"/>
              <a:t>nslookup</a:t>
            </a:r>
            <a:r>
              <a:rPr lang="en-US" b="0" dirty="0"/>
              <a:t> </a:t>
            </a:r>
            <a:r>
              <a:rPr lang="en-US" b="0" dirty="0" err="1"/>
              <a:t>nginx</a:t>
            </a:r>
            <a:endParaRPr lang="en-US" b="0" dirty="0"/>
          </a:p>
          <a:p>
            <a:pPr marL="465750" lvl="1" indent="-285750">
              <a:buFontTx/>
              <a:buChar char="-"/>
            </a:pPr>
            <a:r>
              <a:rPr lang="en-US" b="0" dirty="0"/>
              <a:t>And connect to the webserver: </a:t>
            </a:r>
            <a:r>
              <a:rPr lang="en-US" b="0" dirty="0" err="1"/>
              <a:t>wget</a:t>
            </a:r>
            <a:r>
              <a:rPr lang="en-US" b="0" dirty="0"/>
              <a:t> </a:t>
            </a:r>
            <a:r>
              <a:rPr lang="en-US" b="0" dirty="0" err="1"/>
              <a:t>nginx</a:t>
            </a:r>
            <a:endParaRPr lang="en-US" b="0" dirty="0"/>
          </a:p>
          <a:p>
            <a:pPr marL="465750" lvl="1" indent="-285750">
              <a:buFontTx/>
              <a:buChar char="-"/>
            </a:pPr>
            <a:r>
              <a:rPr lang="en-US" b="0" dirty="0"/>
              <a:t>Show the downloaded index.html page: cat index.html</a:t>
            </a:r>
          </a:p>
          <a:p>
            <a:pPr marL="465750" lvl="1" indent="-285750">
              <a:buFontTx/>
              <a:buChar char="-"/>
            </a:pPr>
            <a:endParaRPr lang="en-US" b="0" dirty="0"/>
          </a:p>
          <a:p>
            <a:pPr marL="0" lvl="0" indent="0">
              <a:buFontTx/>
              <a:buNone/>
            </a:pPr>
            <a:r>
              <a:rPr lang="en-US" b="0" dirty="0"/>
              <a:t>So actually it is possible to wire container with docker directly, but </a:t>
            </a:r>
            <a:r>
              <a:rPr lang="en-US" b="0" dirty="0" err="1"/>
              <a:t>kubernetes</a:t>
            </a:r>
            <a:r>
              <a:rPr lang="en-US" b="0" dirty="0"/>
              <a:t> will make things easier </a:t>
            </a:r>
            <a:r>
              <a:rPr lang="en-US" b="0" dirty="0">
                <a:sym typeface="Wingdings" panose="05000000000000000000" pitchFamily="2" charset="2"/>
              </a:rPr>
              <a:t></a:t>
            </a:r>
          </a:p>
        </p:txBody>
      </p:sp>
      <p:sp>
        <p:nvSpPr>
          <p:cNvPr id="4" name="Slide Number Placeholder 3"/>
          <p:cNvSpPr>
            <a:spLocks noGrp="1"/>
          </p:cNvSpPr>
          <p:nvPr>
            <p:ph type="sldNum" sz="quarter" idx="10"/>
          </p:nvPr>
        </p:nvSpPr>
        <p:spPr/>
        <p:txBody>
          <a:bodyPr/>
          <a:lstStyle/>
          <a:p>
            <a:fld id="{7D8C2C35-2B8A-446E-BEC0-FD36716C29AC}" type="slidenum">
              <a:rPr lang="de-DE" smtClean="0"/>
              <a:pPr/>
              <a:t>4</a:t>
            </a:fld>
            <a:endParaRPr lang="de-DE" dirty="0"/>
          </a:p>
        </p:txBody>
      </p:sp>
    </p:spTree>
    <p:extLst>
      <p:ext uri="{BB962C8B-B14F-4D97-AF65-F5344CB8AC3E}">
        <p14:creationId xmlns:p14="http://schemas.microsoft.com/office/powerpoint/2010/main" val="338479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noProof="0" dirty="0"/>
              <a:t>Since it is not recommendable to store data in a docker container, adding a persistence is quite important. With the volumes API it is possible to assign persistent storage to a container. </a:t>
            </a:r>
          </a:p>
          <a:p>
            <a:endParaRPr lang="en-US" noProof="0" dirty="0"/>
          </a:p>
          <a:p>
            <a:r>
              <a:rPr lang="en-US" noProof="0" dirty="0"/>
              <a:t>Docker supports 2 ways of doing so:</a:t>
            </a:r>
          </a:p>
          <a:p>
            <a:pPr marL="342900" indent="-342900">
              <a:buAutoNum type="arabicParenR"/>
            </a:pPr>
            <a:r>
              <a:rPr lang="en-US" b="1" noProof="0" dirty="0"/>
              <a:t>Bind mounts: </a:t>
            </a:r>
            <a:r>
              <a:rPr lang="en-US" noProof="0" dirty="0"/>
              <a:t>mount a local host directory onto a certain path in the container. Everything that was present before in the target directory is hidden (nature of the bind mount). For example, if you have some configuration you want to inject, write your config file, store it on your docker host at /home/container/config and mount the content of this directory to /</a:t>
            </a:r>
            <a:r>
              <a:rPr lang="en-US" noProof="0" dirty="0" err="1"/>
              <a:t>usr</a:t>
            </a:r>
            <a:r>
              <a:rPr lang="en-US" noProof="0" dirty="0"/>
              <a:t>/application/config (assuming the application reads config from there). </a:t>
            </a:r>
          </a:p>
          <a:p>
            <a:pPr marL="342900" marR="0" lvl="0" indent="-342900" algn="l" defTabSz="1088776" rtl="0" eaLnBrk="1" fontAlgn="auto" latinLnBrk="0" hangingPunct="1">
              <a:lnSpc>
                <a:spcPct val="100000"/>
              </a:lnSpc>
              <a:spcBef>
                <a:spcPts val="0"/>
              </a:spcBef>
              <a:spcAft>
                <a:spcPts val="0"/>
              </a:spcAft>
              <a:buClrTx/>
              <a:buSzTx/>
              <a:buFontTx/>
              <a:buAutoNum type="arabicParenR"/>
              <a:tabLst/>
              <a:defRPr/>
            </a:pPr>
            <a:endParaRPr lang="en-US" sz="1400" b="1" dirty="0">
              <a:highlight>
                <a:srgbClr val="C0C0C0"/>
              </a:highlight>
              <a:latin typeface="Courier New" panose="02070309020205020404" pitchFamily="49" charset="0"/>
              <a:cs typeface="Courier New" panose="02070309020205020404" pitchFamily="49" charset="0"/>
            </a:endParaRPr>
          </a:p>
          <a:p>
            <a:pPr marL="0" marR="0" lvl="0" indent="0" algn="l" defTabSz="1088776" rtl="0" eaLnBrk="1" fontAlgn="auto" latinLnBrk="0" hangingPunct="1">
              <a:lnSpc>
                <a:spcPct val="100000"/>
              </a:lnSpc>
              <a:spcBef>
                <a:spcPts val="0"/>
              </a:spcBef>
              <a:spcAft>
                <a:spcPts val="0"/>
              </a:spcAft>
              <a:buClrTx/>
              <a:buSzTx/>
              <a:buFontTx/>
              <a:buNone/>
              <a:tabLst/>
              <a:defRPr/>
            </a:pPr>
            <a:r>
              <a:rPr lang="en-US" sz="1400" b="1" dirty="0">
                <a:highlight>
                  <a:srgbClr val="C0C0C0"/>
                </a:highlight>
                <a:latin typeface="Courier New" panose="02070309020205020404" pitchFamily="49" charset="0"/>
                <a:cs typeface="Courier New" panose="02070309020205020404" pitchFamily="49" charset="0"/>
              </a:rPr>
              <a:t>	Command:</a:t>
            </a:r>
            <a:r>
              <a:rPr lang="en-US" sz="1400" b="0" dirty="0">
                <a:highlight>
                  <a:srgbClr val="C0C0C0"/>
                </a:highlight>
                <a:latin typeface="Courier New" panose="02070309020205020404" pitchFamily="49" charset="0"/>
                <a:cs typeface="Courier New" panose="02070309020205020404" pitchFamily="49" charset="0"/>
              </a:rPr>
              <a:t> docker run --mount type=</a:t>
            </a:r>
            <a:r>
              <a:rPr lang="en-US" sz="1400" b="0" dirty="0" err="1">
                <a:highlight>
                  <a:srgbClr val="C0C0C0"/>
                </a:highlight>
                <a:latin typeface="Courier New" panose="02070309020205020404" pitchFamily="49" charset="0"/>
                <a:cs typeface="Courier New" panose="02070309020205020404" pitchFamily="49" charset="0"/>
              </a:rPr>
              <a:t>bind,source</a:t>
            </a:r>
            <a:r>
              <a:rPr lang="en-US" sz="1400" b="0" dirty="0">
                <a:highlight>
                  <a:srgbClr val="C0C0C0"/>
                </a:highlight>
                <a:latin typeface="Courier New" panose="02070309020205020404" pitchFamily="49" charset="0"/>
                <a:cs typeface="Courier New" panose="02070309020205020404" pitchFamily="49" charset="0"/>
              </a:rPr>
              <a:t>=&lt;source path&gt;,target=&lt;container path&gt; …</a:t>
            </a:r>
          </a:p>
          <a:p>
            <a:pPr marL="342900" indent="-342900">
              <a:buAutoNum type="arabicParenR"/>
            </a:pPr>
            <a:endParaRPr lang="en-US" noProof="0" dirty="0"/>
          </a:p>
          <a:p>
            <a:pPr marL="342900" indent="-342900">
              <a:buAutoNum type="arabicParenR"/>
            </a:pPr>
            <a:r>
              <a:rPr lang="en-US" b="1" noProof="0" dirty="0"/>
              <a:t>Named volumes: </a:t>
            </a:r>
            <a:r>
              <a:rPr lang="en-US" noProof="0" dirty="0"/>
              <a:t>docker can create a separated storage volume. Its lifecycle is independent from the container but still managed by docker. Upon creation, the content of the mount target is merged into the volume. </a:t>
            </a:r>
          </a:p>
          <a:p>
            <a:pPr marL="342900" indent="-342900">
              <a:buAutoNum type="arabicParenR"/>
            </a:pPr>
            <a:endParaRPr lang="en-US" noProof="0" dirty="0"/>
          </a:p>
          <a:p>
            <a:pPr marL="0" marR="0" lvl="0" indent="0" algn="l" defTabSz="1088776" rtl="0" eaLnBrk="1" fontAlgn="auto" latinLnBrk="0" hangingPunct="1">
              <a:lnSpc>
                <a:spcPct val="100000"/>
              </a:lnSpc>
              <a:spcBef>
                <a:spcPts val="0"/>
              </a:spcBef>
              <a:spcAft>
                <a:spcPts val="0"/>
              </a:spcAft>
              <a:buClrTx/>
              <a:buSzTx/>
              <a:buFontTx/>
              <a:buNone/>
              <a:tabLst/>
              <a:defRPr/>
            </a:pPr>
            <a:r>
              <a:rPr lang="en-US" b="1" noProof="0" dirty="0"/>
              <a:t>	Command:</a:t>
            </a:r>
            <a:r>
              <a:rPr lang="en-US" b="0" noProof="0" dirty="0"/>
              <a:t> </a:t>
            </a:r>
            <a:r>
              <a:rPr lang="en-US" sz="1400" b="0" dirty="0">
                <a:highlight>
                  <a:srgbClr val="C0C0C0"/>
                </a:highlight>
                <a:latin typeface="Courier New" panose="02070309020205020404" pitchFamily="49" charset="0"/>
                <a:cs typeface="Courier New" panose="02070309020205020404" pitchFamily="49" charset="0"/>
              </a:rPr>
              <a:t>docker run --mount source=&lt;vol name&gt;,target=&lt;container path&gt; …</a:t>
            </a:r>
          </a:p>
          <a:p>
            <a:pPr marL="0" indent="0">
              <a:buNone/>
            </a:pPr>
            <a:endParaRPr lang="en-US" noProof="0" dirty="0"/>
          </a:p>
          <a:p>
            <a:pPr marL="0" indent="0">
              <a:buNone/>
            </a:pPr>
            <a:r>
              <a:rPr lang="en-US" noProof="0" dirty="0"/>
              <a:t>How to differentiate between bind mounts and named volumes? </a:t>
            </a:r>
          </a:p>
          <a:p>
            <a:pPr marL="285750" indent="-285750">
              <a:buFontTx/>
              <a:buChar char="-"/>
            </a:pPr>
            <a:r>
              <a:rPr lang="en-US" noProof="0" dirty="0"/>
              <a:t>When specifying an </a:t>
            </a:r>
            <a:r>
              <a:rPr lang="en-US" b="1" noProof="0" dirty="0"/>
              <a:t>absolute path</a:t>
            </a:r>
            <a:r>
              <a:rPr lang="en-US" noProof="0" dirty="0"/>
              <a:t>, docker assumes a </a:t>
            </a:r>
            <a:r>
              <a:rPr lang="en-US" b="1" noProof="0" dirty="0"/>
              <a:t>bind mount</a:t>
            </a:r>
            <a:r>
              <a:rPr lang="en-US" noProof="0" dirty="0"/>
              <a:t>. </a:t>
            </a:r>
          </a:p>
          <a:p>
            <a:pPr marL="285750" indent="-285750">
              <a:buFontTx/>
              <a:buChar char="-"/>
            </a:pPr>
            <a:r>
              <a:rPr lang="en-US" noProof="0" dirty="0"/>
              <a:t>When you just give </a:t>
            </a:r>
            <a:r>
              <a:rPr lang="en-US" b="1" noProof="0" dirty="0"/>
              <a:t>a name</a:t>
            </a:r>
            <a:r>
              <a:rPr lang="en-US" noProof="0" dirty="0"/>
              <a:t> (like in a relative path “config”), it will assume a </a:t>
            </a:r>
            <a:r>
              <a:rPr lang="en-US" b="1" noProof="0" dirty="0"/>
              <a:t>named volume</a:t>
            </a:r>
            <a:r>
              <a:rPr lang="en-US" noProof="0" dirty="0"/>
              <a:t> and create a volume “config”.</a:t>
            </a:r>
          </a:p>
          <a:p>
            <a:pPr marL="0" indent="0">
              <a:buNone/>
            </a:pPr>
            <a:endParaRPr lang="en-US" noProof="0" dirty="0"/>
          </a:p>
          <a:p>
            <a:pPr marL="0" indent="0">
              <a:buNone/>
            </a:pPr>
            <a:r>
              <a:rPr lang="en-US" noProof="0" dirty="0"/>
              <a:t>Note: Persistent storage is 'provided' by the host. It can be a part of the file system on the host directly but also an NFS mount. </a:t>
            </a:r>
          </a:p>
        </p:txBody>
      </p:sp>
      <p:sp>
        <p:nvSpPr>
          <p:cNvPr id="4" name="Slide Number Placeholder 3"/>
          <p:cNvSpPr>
            <a:spLocks noGrp="1"/>
          </p:cNvSpPr>
          <p:nvPr>
            <p:ph type="sldNum" sz="quarter" idx="10"/>
          </p:nvPr>
        </p:nvSpPr>
        <p:spPr/>
        <p:txBody>
          <a:bodyPr/>
          <a:lstStyle/>
          <a:p>
            <a:fld id="{7D8C2C35-2B8A-446E-BEC0-FD36716C29AC}" type="slidenum">
              <a:rPr lang="de-DE" smtClean="0"/>
              <a:pPr/>
              <a:t>5</a:t>
            </a:fld>
            <a:endParaRPr lang="de-DE" dirty="0"/>
          </a:p>
        </p:txBody>
      </p:sp>
    </p:spTree>
    <p:extLst>
      <p:ext uri="{BB962C8B-B14F-4D97-AF65-F5344CB8AC3E}">
        <p14:creationId xmlns:p14="http://schemas.microsoft.com/office/powerpoint/2010/main" val="32436628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pPr marL="0" indent="0">
              <a:buFontTx/>
              <a:buNone/>
            </a:pPr>
            <a:r>
              <a:rPr lang="en-US" b="0" dirty="0"/>
              <a:t>Volumes are the docker way to work with any kind of persistent data.</a:t>
            </a:r>
          </a:p>
          <a:p>
            <a:pPr marL="0" indent="0">
              <a:buFontTx/>
              <a:buNone/>
            </a:pPr>
            <a:endParaRPr lang="en-US" b="0" dirty="0"/>
          </a:p>
          <a:p>
            <a:pPr marL="0" indent="0">
              <a:buFontTx/>
              <a:buNone/>
            </a:pPr>
            <a:r>
              <a:rPr lang="en-US" b="0" dirty="0"/>
              <a:t>Let’s start simple and </a:t>
            </a:r>
            <a:r>
              <a:rPr lang="en-US" b="1" dirty="0"/>
              <a:t>(bind) mount</a:t>
            </a:r>
            <a:r>
              <a:rPr lang="en-US" b="0" dirty="0"/>
              <a:t> a directory into a container. Therefore assume you have a toolbox container and you need some environment in there (like a config file or </a:t>
            </a:r>
            <a:r>
              <a:rPr lang="en-US" b="0" dirty="0" err="1"/>
              <a:t>ssh</a:t>
            </a:r>
            <a:r>
              <a:rPr lang="en-US" b="0" dirty="0"/>
              <a:t> keys).</a:t>
            </a:r>
          </a:p>
          <a:p>
            <a:pPr marL="0" indent="0">
              <a:buFontTx/>
              <a:buNone/>
            </a:pPr>
            <a:endParaRPr lang="en-US" b="0" dirty="0"/>
          </a:p>
          <a:p>
            <a:pPr marL="285750" indent="-285750">
              <a:buFontTx/>
              <a:buChar char="-"/>
            </a:pPr>
            <a:r>
              <a:rPr lang="en-US" b="0" dirty="0"/>
              <a:t>docker run -it –mount type=</a:t>
            </a:r>
            <a:r>
              <a:rPr lang="en-US" b="0" dirty="0" err="1"/>
              <a:t>bind,source</a:t>
            </a:r>
            <a:r>
              <a:rPr lang="en-US" b="0" dirty="0"/>
              <a:t>=/home/</a:t>
            </a:r>
            <a:r>
              <a:rPr lang="en-US" b="0" dirty="0" err="1"/>
              <a:t>vagrant,target</a:t>
            </a:r>
            <a:r>
              <a:rPr lang="en-US" b="0" dirty="0"/>
              <a:t>=/</a:t>
            </a:r>
            <a:r>
              <a:rPr lang="en-US" b="0" dirty="0" err="1"/>
              <a:t>mnt</a:t>
            </a:r>
            <a:r>
              <a:rPr lang="en-US" b="0" dirty="0"/>
              <a:t>/home alpine:3.8</a:t>
            </a:r>
          </a:p>
          <a:p>
            <a:pPr marL="285750" indent="-285750">
              <a:buFontTx/>
              <a:buChar char="-"/>
            </a:pPr>
            <a:r>
              <a:rPr lang="en-US" b="0" dirty="0"/>
              <a:t>Show the content of /</a:t>
            </a:r>
            <a:r>
              <a:rPr lang="en-US" b="0" dirty="0" err="1"/>
              <a:t>mnt</a:t>
            </a:r>
            <a:r>
              <a:rPr lang="en-US" b="0" dirty="0"/>
              <a:t>/home, which would be you’re home directory</a:t>
            </a:r>
          </a:p>
          <a:p>
            <a:pPr marL="285750" indent="-285750">
              <a:buFontTx/>
              <a:buChar char="-"/>
            </a:pPr>
            <a:endParaRPr lang="en-US" b="0" dirty="0"/>
          </a:p>
          <a:p>
            <a:pPr marL="0" indent="0">
              <a:buFontTx/>
              <a:buNone/>
            </a:pPr>
            <a:r>
              <a:rPr lang="en-US" b="0" dirty="0"/>
              <a:t>Let’s see what else you could do with a bind mount:</a:t>
            </a:r>
          </a:p>
          <a:p>
            <a:pPr marL="285750" indent="-285750">
              <a:buFontTx/>
              <a:buChar char="-"/>
            </a:pPr>
            <a:r>
              <a:rPr lang="en-US" b="0" dirty="0"/>
              <a:t>Docker run -it --mount type=</a:t>
            </a:r>
            <a:r>
              <a:rPr lang="en-US" b="0" dirty="0" err="1"/>
              <a:t>bind,source</a:t>
            </a:r>
            <a:r>
              <a:rPr lang="en-US" b="0" dirty="0"/>
              <a:t>=/home/</a:t>
            </a:r>
            <a:r>
              <a:rPr lang="en-US" b="0" dirty="0" err="1"/>
              <a:t>vagrant,target</a:t>
            </a:r>
            <a:r>
              <a:rPr lang="en-US" b="0" dirty="0"/>
              <a:t>=/</a:t>
            </a:r>
            <a:r>
              <a:rPr lang="en-US" b="0" dirty="0" err="1"/>
              <a:t>etc</a:t>
            </a:r>
            <a:r>
              <a:rPr lang="en-US" b="0" dirty="0"/>
              <a:t> alpine:3.8</a:t>
            </a:r>
          </a:p>
          <a:p>
            <a:pPr marL="285750" indent="-285750">
              <a:buFontTx/>
              <a:buChar char="-"/>
            </a:pPr>
            <a:r>
              <a:rPr lang="en-US" b="0" dirty="0"/>
              <a:t>What happens? Well, our home directory is mounted to /etc. The original content of /</a:t>
            </a:r>
            <a:r>
              <a:rPr lang="en-US" b="0" dirty="0" err="1"/>
              <a:t>etc</a:t>
            </a:r>
            <a:r>
              <a:rPr lang="en-US" b="0" dirty="0"/>
              <a:t> is still there but hidden.</a:t>
            </a:r>
          </a:p>
          <a:p>
            <a:pPr marL="285750" indent="-285750">
              <a:buFontTx/>
              <a:buChar char="-"/>
            </a:pPr>
            <a:endParaRPr lang="en-US" b="0" dirty="0"/>
          </a:p>
          <a:p>
            <a:pPr marL="0" indent="0">
              <a:buFontTx/>
              <a:buNone/>
            </a:pPr>
            <a:r>
              <a:rPr lang="en-US" b="0" dirty="0"/>
              <a:t>Of course you can also inject a </a:t>
            </a:r>
            <a:r>
              <a:rPr lang="en-US" b="0" dirty="0" err="1"/>
              <a:t>nginx</a:t>
            </a:r>
            <a:r>
              <a:rPr lang="en-US" b="0" dirty="0"/>
              <a:t> index page or any configuration this way, but that’s part of the exercise ;)</a:t>
            </a:r>
          </a:p>
          <a:p>
            <a:pPr marL="0" indent="0">
              <a:buFontTx/>
              <a:buNone/>
            </a:pPr>
            <a:endParaRPr lang="en-US" b="0" dirty="0"/>
          </a:p>
          <a:p>
            <a:pPr marL="0" indent="0">
              <a:buFontTx/>
              <a:buNone/>
            </a:pPr>
            <a:r>
              <a:rPr lang="en-US" b="0" dirty="0"/>
              <a:t>Let’s move on to </a:t>
            </a:r>
            <a:r>
              <a:rPr lang="en-US" b="1" dirty="0"/>
              <a:t>docker volumes</a:t>
            </a:r>
            <a:r>
              <a:rPr lang="en-US" b="0" dirty="0"/>
              <a:t>. When working with a container, you might want to persist some data during runtime. For this example you will use a Jenkins and make it’s home a volume.</a:t>
            </a:r>
          </a:p>
          <a:p>
            <a:pPr marL="285750" indent="-285750">
              <a:buFontTx/>
              <a:buChar char="-"/>
            </a:pPr>
            <a:r>
              <a:rPr lang="en-US" b="0" dirty="0"/>
              <a:t>docker run -d -P --mount source=</a:t>
            </a:r>
            <a:r>
              <a:rPr lang="en-US" b="0" dirty="0" err="1"/>
              <a:t>jenkins_home,target</a:t>
            </a:r>
            <a:r>
              <a:rPr lang="en-US" b="0" dirty="0"/>
              <a:t>=/var/</a:t>
            </a:r>
            <a:r>
              <a:rPr lang="en-US" b="0" dirty="0" err="1"/>
              <a:t>jenkins_home</a:t>
            </a:r>
            <a:r>
              <a:rPr lang="en-US" b="0" dirty="0"/>
              <a:t> </a:t>
            </a:r>
            <a:r>
              <a:rPr lang="en-US" b="0" dirty="0" err="1"/>
              <a:t>jenkins</a:t>
            </a:r>
            <a:r>
              <a:rPr lang="en-US" b="0" dirty="0"/>
              <a:t>/</a:t>
            </a:r>
            <a:r>
              <a:rPr lang="en-US" b="0" dirty="0" err="1"/>
              <a:t>jenkins:lts</a:t>
            </a:r>
            <a:endParaRPr lang="en-US" b="0" dirty="0"/>
          </a:p>
          <a:p>
            <a:pPr marL="285750" indent="-285750">
              <a:buFontTx/>
              <a:buChar char="-"/>
            </a:pPr>
            <a:r>
              <a:rPr lang="en-US" b="0" dirty="0"/>
              <a:t>Next, get the ports and connect the port that forwards to container port 8080</a:t>
            </a:r>
          </a:p>
          <a:p>
            <a:pPr marL="285750" indent="-285750">
              <a:buFontTx/>
              <a:buChar char="-"/>
            </a:pPr>
            <a:r>
              <a:rPr lang="en-US" b="0" dirty="0"/>
              <a:t>On the </a:t>
            </a:r>
            <a:r>
              <a:rPr lang="en-US" b="0" dirty="0" err="1"/>
              <a:t>jenkins</a:t>
            </a:r>
            <a:r>
              <a:rPr lang="en-US" b="0" dirty="0"/>
              <a:t> logon page, you’re asked for a password, run “docker logs &lt;container name&gt;”  and obtain the logon token</a:t>
            </a:r>
          </a:p>
          <a:p>
            <a:pPr marL="285750" indent="-285750">
              <a:buFontTx/>
              <a:buChar char="-"/>
            </a:pPr>
            <a:r>
              <a:rPr lang="en-US" b="0" dirty="0"/>
              <a:t>Logon to the </a:t>
            </a:r>
            <a:r>
              <a:rPr lang="en-US" b="0" dirty="0" err="1"/>
              <a:t>jenkins</a:t>
            </a:r>
            <a:r>
              <a:rPr lang="en-US" b="0" dirty="0"/>
              <a:t> and choose “select plugins to install”, select “none” (upper left corner) and continue. </a:t>
            </a:r>
          </a:p>
          <a:p>
            <a:pPr marL="285750" indent="-285750">
              <a:buFontTx/>
              <a:buChar char="-"/>
            </a:pPr>
            <a:r>
              <a:rPr lang="en-US" b="0" dirty="0"/>
              <a:t>Create a user </a:t>
            </a:r>
            <a:r>
              <a:rPr lang="en-US" b="0" dirty="0" err="1"/>
              <a:t>e.g</a:t>
            </a:r>
            <a:r>
              <a:rPr lang="en-US" b="0" dirty="0"/>
              <a:t> ‘root’ with a simple password and finish the setup.</a:t>
            </a:r>
          </a:p>
          <a:p>
            <a:pPr marL="285750" indent="-285750">
              <a:buFontTx/>
              <a:buChar char="-"/>
            </a:pPr>
            <a:r>
              <a:rPr lang="en-US" b="0" dirty="0"/>
              <a:t>Now stop the container and restart it – obviously you’re still able to logon with the credentials created before.</a:t>
            </a:r>
          </a:p>
          <a:p>
            <a:pPr marL="285750" indent="-285750">
              <a:buFontTx/>
              <a:buChar char="-"/>
            </a:pPr>
            <a:r>
              <a:rPr lang="en-US" b="0" dirty="0"/>
              <a:t>Finally, delete the container and with that also the RW layer and re-execute the docker run </a:t>
            </a:r>
            <a:r>
              <a:rPr lang="en-US" b="0" dirty="0" err="1"/>
              <a:t>jenkins</a:t>
            </a:r>
            <a:r>
              <a:rPr lang="en-US" b="0" dirty="0"/>
              <a:t> command. </a:t>
            </a:r>
          </a:p>
          <a:p>
            <a:pPr marL="285750" indent="-285750">
              <a:buFontTx/>
              <a:buChar char="-"/>
            </a:pPr>
            <a:r>
              <a:rPr lang="en-US" b="0" dirty="0"/>
              <a:t>Connect to your new </a:t>
            </a:r>
            <a:r>
              <a:rPr lang="en-US" b="0" dirty="0" err="1"/>
              <a:t>jenkins</a:t>
            </a:r>
            <a:r>
              <a:rPr lang="en-US" b="0" dirty="0"/>
              <a:t> (get the ports before) and logon with the same credentials as you’re still referring to the same </a:t>
            </a:r>
            <a:r>
              <a:rPr lang="en-US" b="0" dirty="0" err="1"/>
              <a:t>jenkins</a:t>
            </a:r>
            <a:r>
              <a:rPr lang="en-US" b="0" dirty="0"/>
              <a:t> home.</a:t>
            </a:r>
          </a:p>
          <a:p>
            <a:pPr marL="285750" indent="-285750">
              <a:buFontTx/>
              <a:buChar char="-"/>
            </a:pPr>
            <a:r>
              <a:rPr lang="en-US" b="0" dirty="0"/>
              <a:t>Inspect the </a:t>
            </a:r>
            <a:r>
              <a:rPr lang="en-US" b="0" dirty="0" err="1"/>
              <a:t>jenkins_home</a:t>
            </a:r>
            <a:r>
              <a:rPr lang="en-US" b="0" dirty="0"/>
              <a:t> volume (docker volume inspect </a:t>
            </a:r>
            <a:r>
              <a:rPr lang="en-US" b="0" dirty="0" err="1"/>
              <a:t>jenkins_home</a:t>
            </a:r>
            <a:r>
              <a:rPr lang="en-US" b="0" dirty="0"/>
              <a:t>) and go to it’s path (probably you need to be root for that) and show the content.</a:t>
            </a:r>
          </a:p>
          <a:p>
            <a:pPr marL="285750" indent="-285750">
              <a:buFontTx/>
              <a:buChar char="-"/>
            </a:pPr>
            <a:endParaRPr lang="en-US" b="0" dirty="0"/>
          </a:p>
          <a:p>
            <a:pPr marL="0" indent="0">
              <a:buFontTx/>
              <a:buNone/>
            </a:pPr>
            <a:r>
              <a:rPr lang="en-US" b="0" dirty="0"/>
              <a:t>Highlight, that the volume upon creation was empty. With the first start of </a:t>
            </a:r>
            <a:r>
              <a:rPr lang="en-US" b="0" dirty="0" err="1"/>
              <a:t>jenkins</a:t>
            </a:r>
            <a:r>
              <a:rPr lang="en-US" b="0" dirty="0"/>
              <a:t>, content was written to it. However when launching the 2</a:t>
            </a:r>
            <a:r>
              <a:rPr lang="en-US" b="0" baseline="30000" dirty="0"/>
              <a:t>nd</a:t>
            </a:r>
            <a:r>
              <a:rPr lang="en-US" b="0" dirty="0"/>
              <a:t> </a:t>
            </a:r>
            <a:r>
              <a:rPr lang="en-US" b="0" dirty="0" err="1"/>
              <a:t>jenkins</a:t>
            </a:r>
            <a:r>
              <a:rPr lang="en-US" b="0" dirty="0"/>
              <a:t> container the content was not overwritten / re-initialized. So if you need to persist some initial data, a named volume might be useful.</a:t>
            </a:r>
          </a:p>
          <a:p>
            <a:pPr marL="0" indent="0">
              <a:buFontTx/>
              <a:buNone/>
            </a:pPr>
            <a:endParaRPr lang="en-US" b="0" dirty="0"/>
          </a:p>
          <a:p>
            <a:pPr marL="0" indent="0">
              <a:buFontTx/>
              <a:buNone/>
            </a:pPr>
            <a:r>
              <a:rPr lang="en-US" b="0" dirty="0"/>
              <a:t>Downsides: it’s hard to move a volume to another host, but the k8s storage </a:t>
            </a:r>
            <a:r>
              <a:rPr lang="en-US" b="0" dirty="0" err="1"/>
              <a:t>api</a:t>
            </a:r>
            <a:r>
              <a:rPr lang="en-US" b="0" dirty="0"/>
              <a:t> will provide better ways of adding persistence. </a:t>
            </a:r>
          </a:p>
          <a:p>
            <a:pPr marL="0" indent="0">
              <a:buFontTx/>
              <a:buNone/>
            </a:pPr>
            <a:endParaRPr lang="en-US" b="0"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6</a:t>
            </a:fld>
            <a:endParaRPr lang="de-DE" dirty="0"/>
          </a:p>
        </p:txBody>
      </p:sp>
    </p:spTree>
    <p:extLst>
      <p:ext uri="{BB962C8B-B14F-4D97-AF65-F5344CB8AC3E}">
        <p14:creationId xmlns:p14="http://schemas.microsoft.com/office/powerpoint/2010/main" val="3606468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7</a:t>
            </a:fld>
            <a:endParaRPr lang="de-DE" dirty="0"/>
          </a:p>
        </p:txBody>
      </p:sp>
    </p:spTree>
    <p:extLst>
      <p:ext uri="{BB962C8B-B14F-4D97-AF65-F5344CB8AC3E}">
        <p14:creationId xmlns:p14="http://schemas.microsoft.com/office/powerpoint/2010/main" val="1402029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de-DE" smtClean="0"/>
              <a:pPr/>
              <a:t>8</a:t>
            </a:fld>
            <a:endParaRPr lang="de-DE"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4089868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en-US" smtClean="0"/>
              <a:pPr/>
              <a:t>9</a:t>
            </a:fld>
            <a:endParaRPr lang="en-US"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a:t>
            </a:r>
          </a:p>
        </p:txBody>
      </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134484936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white">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sp>
        <p:nvSpPr>
          <p:cNvPr id="7" name="Picture Placeholder 6"/>
          <p:cNvSpPr>
            <a:spLocks noGrp="1"/>
          </p:cNvSpPr>
          <p:nvPr>
            <p:ph type="pic" sz="quarter" idx="16"/>
          </p:nvPr>
        </p:nvSpPr>
        <p:spPr>
          <a:xfrm>
            <a:off x="6954855" y="963000"/>
            <a:ext cx="4932000" cy="4932000"/>
          </a:xfrm>
        </p:spPr>
        <p:txBody>
          <a:bodyPr/>
          <a:lstStyle/>
          <a:p>
            <a:endParaRPr lang="en-US" dirty="0"/>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50494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72766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680594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solidFill>
                  <a:schemeClr val="tx1"/>
                </a:solidFill>
              </a:defRPr>
            </a:lvl1pPr>
            <a:lvl2pPr marL="395921" indent="0">
              <a:buNone/>
              <a:defRPr sz="1200">
                <a:solidFill>
                  <a:schemeClr val="tx1"/>
                </a:solidFill>
              </a:defRPr>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lvl1pPr>
              <a:defRPr>
                <a:solidFill>
                  <a:schemeClr val="tx1"/>
                </a:solidFill>
              </a:defRPr>
            </a:lvl1pPr>
          </a:lstStyle>
          <a:p>
            <a:r>
              <a:rPr lang="en-US" noProof="0" dirty="0"/>
              <a:t>Insert page title (sentence case)</a:t>
            </a:r>
            <a:endParaRPr lang="en-US" dirty="0"/>
          </a:p>
        </p:txBody>
      </p:sp>
    </p:spTree>
    <p:extLst>
      <p:ext uri="{BB962C8B-B14F-4D97-AF65-F5344CB8AC3E}">
        <p14:creationId xmlns:p14="http://schemas.microsoft.com/office/powerpoint/2010/main" val="932785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190104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79248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you.</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16" name="Group 15"/>
          <p:cNvGrpSpPr/>
          <p:nvPr userDrawn="1"/>
        </p:nvGrpSpPr>
        <p:grpSpPr>
          <a:xfrm>
            <a:off x="0" y="0"/>
            <a:ext cx="12196800" cy="251942"/>
            <a:chOff x="0" y="0"/>
            <a:chExt cx="12196800" cy="251942"/>
          </a:xfrm>
        </p:grpSpPr>
        <p:sp>
          <p:nvSpPr>
            <p:cNvPr id="17" name="Rectangle 16"/>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8" name="Secondary Motion Band"/>
            <p:cNvGrpSpPr/>
            <p:nvPr userDrawn="1"/>
          </p:nvGrpSpPr>
          <p:grpSpPr>
            <a:xfrm>
              <a:off x="10683752" y="0"/>
              <a:ext cx="1513048" cy="251942"/>
              <a:chOff x="10682127" y="0"/>
              <a:chExt cx="1513048" cy="252000"/>
            </a:xfrm>
          </p:grpSpPr>
          <p:sp>
            <p:nvSpPr>
              <p:cNvPr id="19" name="Rectangle 18"/>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1" name="Rectangle 20"/>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451925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en-US" sz="1100" kern="1200" noProof="0" dirty="0" err="1">
                <a:solidFill>
                  <a:schemeClr val="tx1"/>
                </a:solidFill>
                <a:effectLst/>
                <a:latin typeface="Arial"/>
                <a:ea typeface="+mn-ea"/>
                <a:cs typeface="+mn-cs"/>
              </a:rPr>
              <a:t>Weitergabe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Vervielfältigung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Teilen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daraus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welchem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Zweck</a:t>
            </a:r>
            <a:r>
              <a:rPr lang="en-US" sz="1100" kern="1200" noProof="0" dirty="0">
                <a:solidFill>
                  <a:schemeClr val="tx1"/>
                </a:solidFill>
                <a:effectLst/>
                <a:latin typeface="Arial"/>
                <a:ea typeface="+mn-ea"/>
                <a:cs typeface="+mn-cs"/>
              </a:rPr>
              <a:t> und in </a:t>
            </a:r>
            <a:r>
              <a:rPr lang="en-US" sz="1100" kern="1200" noProof="0" dirty="0" err="1">
                <a:solidFill>
                  <a:schemeClr val="tx1"/>
                </a:solidFill>
                <a:effectLst/>
                <a:latin typeface="Arial"/>
                <a:ea typeface="+mn-ea"/>
                <a:cs typeface="+mn-cs"/>
              </a:rPr>
              <a:t>welcher</a:t>
            </a:r>
            <a:r>
              <a:rPr lang="en-US" sz="1100" kern="1200" noProof="0" dirty="0">
                <a:solidFill>
                  <a:schemeClr val="tx1"/>
                </a:solidFill>
                <a:effectLst/>
                <a:latin typeface="Arial"/>
                <a:ea typeface="+mn-ea"/>
                <a:cs typeface="+mn-cs"/>
              </a:rPr>
              <a:t> Form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immer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ausdrückliche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schriftliche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Genehmigung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gestattet</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vorherige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Ankündigung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von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Vertriebsfirmen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angebotenen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Softwarekomponenten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Softwarehersteller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länderspezifische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aufweisen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Die </a:t>
            </a:r>
            <a:r>
              <a:rPr lang="en-US" sz="1100" kern="1200" noProof="0" dirty="0" err="1">
                <a:solidFill>
                  <a:schemeClr val="tx1"/>
                </a:solidFill>
                <a:effectLst/>
                <a:latin typeface="Arial"/>
                <a:ea typeface="+mn-ea"/>
                <a:cs typeface="+mn-cs"/>
              </a:rPr>
              <a:t>vorliegenden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bereitgestellt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ausschließlich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Informationszwecken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keinerlei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Haftung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Gewährleistung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Fehler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Unvollständigkeiten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lediglich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nach</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Maßgabe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die in der </a:t>
            </a:r>
            <a:r>
              <a:rPr lang="en-US" sz="1100" kern="1200" noProof="0" dirty="0" err="1">
                <a:solidFill>
                  <a:schemeClr val="tx1"/>
                </a:solidFill>
                <a:effectLst/>
                <a:latin typeface="Arial"/>
                <a:ea typeface="+mn-ea"/>
                <a:cs typeface="+mn-cs"/>
              </a:rPr>
              <a:t>Vereinbarung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ausdrücklich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geregelt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Garantie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interpretieren</a:t>
            </a:r>
            <a:r>
              <a:rPr lang="en-US" sz="1100" kern="1200" noProof="0" dirty="0">
                <a:solidFill>
                  <a:schemeClr val="tx1"/>
                </a:solidFill>
                <a:effectLst/>
                <a:latin typeface="Arial"/>
                <a:ea typeface="+mn-ea"/>
                <a:cs typeface="+mn-cs"/>
              </a:rPr>
              <a:t>. </a:t>
            </a:r>
          </a:p>
          <a:p>
            <a:pPr>
              <a:spcBef>
                <a:spcPts val="1200"/>
              </a:spcBef>
            </a:pPr>
            <a:r>
              <a:rPr lang="en-US" sz="1100" kern="1200" noProof="0" dirty="0" err="1">
                <a:solidFill>
                  <a:schemeClr val="tx1"/>
                </a:solidFill>
                <a:effectLst/>
                <a:latin typeface="Arial"/>
                <a:ea typeface="+mn-ea"/>
                <a:cs typeface="+mn-cs"/>
              </a:rPr>
              <a:t>Insbesondere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keiner</a:t>
            </a:r>
            <a:r>
              <a:rPr lang="en-US" sz="1100" kern="1200" noProof="0" dirty="0">
                <a:solidFill>
                  <a:schemeClr val="tx1"/>
                </a:solidFill>
                <a:effectLst/>
                <a:latin typeface="Arial"/>
                <a:ea typeface="+mn-ea"/>
                <a:cs typeface="+mn-cs"/>
              </a:rPr>
              <a:t> Weise </a:t>
            </a:r>
            <a:r>
              <a:rPr lang="en-US" sz="1100" kern="1200" noProof="0" dirty="0" err="1">
                <a:solidFill>
                  <a:schemeClr val="tx1"/>
                </a:solidFill>
                <a:effectLst/>
                <a:latin typeface="Arial"/>
                <a:ea typeface="+mn-ea"/>
                <a:cs typeface="+mn-cs"/>
              </a:rPr>
              <a:t>verpflichtet</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dargestellte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Geschäftsabläufe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verfolgen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wiedergegebene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entwickeln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veröffentlichen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Strategie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etwaige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künftige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Entwicklungen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Plattformen</a:t>
            </a:r>
            <a:r>
              <a:rPr lang="en-US" sz="1100" kern="1200" noProof="0" dirty="0">
                <a:solidFill>
                  <a:schemeClr val="tx1"/>
                </a:solidFill>
                <a:effectLst/>
                <a:latin typeface="Arial"/>
                <a:ea typeface="+mn-ea"/>
                <a:cs typeface="+mn-cs"/>
              </a:rPr>
              <a:t>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jederzeit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Angabe</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Gründen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unangekündigt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stellen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Zusage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Versprechen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rechtliche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Verpflichtung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Lieferung</a:t>
            </a:r>
            <a:r>
              <a:rPr lang="en-US" sz="1100" kern="1200" noProof="0" dirty="0">
                <a:solidFill>
                  <a:schemeClr val="tx1"/>
                </a:solidFill>
                <a:effectLst/>
                <a:latin typeface="Arial"/>
                <a:ea typeface="+mn-ea"/>
                <a:cs typeface="+mn-cs"/>
              </a:rPr>
              <a:t> von Material, Code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Sämtliche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unterliegen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Risiken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Unsicherheiten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tatsächlichen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Ergebnisse</a:t>
            </a:r>
            <a:r>
              <a:rPr lang="en-US" sz="1100" kern="1200" noProof="0" dirty="0">
                <a:solidFill>
                  <a:schemeClr val="tx1"/>
                </a:solidFill>
                <a:effectLst/>
                <a:latin typeface="Arial"/>
                <a:ea typeface="+mn-ea"/>
                <a:cs typeface="+mn-cs"/>
              </a:rPr>
              <a:t> von den </a:t>
            </a:r>
            <a:r>
              <a:rPr lang="en-US" sz="1100" kern="1200" noProof="0" dirty="0" err="1">
                <a:solidFill>
                  <a:schemeClr val="tx1"/>
                </a:solidFill>
                <a:effectLst/>
                <a:latin typeface="Arial"/>
                <a:ea typeface="+mn-ea"/>
                <a:cs typeface="+mn-cs"/>
              </a:rPr>
              <a:t>Erwartungen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abweichen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Dem </a:t>
            </a:r>
            <a:r>
              <a:rPr lang="en-US" sz="1100" kern="1200" noProof="0" dirty="0" err="1">
                <a:solidFill>
                  <a:schemeClr val="tx1"/>
                </a:solidFill>
                <a:effectLst/>
                <a:latin typeface="Arial"/>
                <a:ea typeface="+mn-ea"/>
                <a:cs typeface="+mn-cs"/>
              </a:rPr>
              <a:t>Leser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wird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empfohlen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übertriebenes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Vertrauen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schenken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sich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Kaufentscheidungen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auf </a:t>
            </a:r>
            <a:r>
              <a:rPr lang="en-US" sz="1100" kern="1200" noProof="0" dirty="0" err="1">
                <a:solidFill>
                  <a:schemeClr val="tx1"/>
                </a:solidFill>
                <a:effectLst/>
                <a:latin typeface="Arial"/>
                <a:ea typeface="+mn-ea"/>
                <a:cs typeface="+mn-cs"/>
              </a:rPr>
              <a:t>sie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stützen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SAP und </a:t>
            </a:r>
            <a:r>
              <a:rPr lang="en-US" sz="1100" kern="1200" noProof="0" dirty="0" err="1">
                <a:solidFill>
                  <a:schemeClr val="tx1"/>
                </a:solidFill>
                <a:effectLst/>
                <a:latin typeface="Arial"/>
                <a:ea typeface="+mn-ea"/>
                <a:cs typeface="+mn-cs"/>
              </a:rPr>
              <a:t>andere</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Dokument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erwähnte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von SAP </a:t>
            </a:r>
            <a:r>
              <a:rPr lang="en-US" sz="1100" kern="1200" noProof="0" dirty="0" err="1">
                <a:solidFill>
                  <a:schemeClr val="tx1"/>
                </a:solidFill>
                <a:effectLst/>
                <a:latin typeface="Arial"/>
                <a:ea typeface="+mn-ea"/>
                <a:cs typeface="+mn-cs"/>
              </a:rPr>
              <a:t>sowie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dazugehörigen</a:t>
            </a:r>
            <a:r>
              <a:rPr lang="en-US" sz="1100" kern="1200" noProof="0" dirty="0">
                <a:solidFill>
                  <a:schemeClr val="tx1"/>
                </a:solidFill>
                <a:effectLst/>
                <a:latin typeface="Arial"/>
                <a:ea typeface="+mn-ea"/>
                <a:cs typeface="+mn-cs"/>
              </a:rPr>
              <a:t> Logos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eingetragene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SAP SE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Deutschland und </a:t>
            </a:r>
            <a:r>
              <a:rPr lang="en-US" sz="1100" kern="1200" noProof="0" dirty="0" err="1">
                <a:solidFill>
                  <a:schemeClr val="tx1"/>
                </a:solidFill>
                <a:effectLst/>
                <a:latin typeface="Arial"/>
                <a:ea typeface="+mn-ea"/>
                <a:cs typeface="+mn-cs"/>
              </a:rPr>
              <a:t>verschiedenen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weltweit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Alle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Namen</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Produkten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Firmen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Vermerke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finden</a:t>
            </a:r>
            <a:r>
              <a:rPr lang="en-US" sz="1100" kern="1200" noProof="0" dirty="0">
                <a:solidFill>
                  <a:schemeClr val="tx1"/>
                </a:solidFill>
                <a:effectLst/>
                <a:latin typeface="Arial"/>
                <a:ea typeface="+mn-ea"/>
                <a:cs typeface="+mn-cs"/>
              </a:rPr>
              <a:t> Sie auf der </a:t>
            </a:r>
            <a:r>
              <a:rPr lang="en-US" sz="1100" kern="1200" noProof="0" dirty="0" err="1">
                <a:solidFill>
                  <a:schemeClr val="tx1"/>
                </a:solidFill>
                <a:effectLst/>
                <a:latin typeface="Arial"/>
                <a:ea typeface="+mn-ea"/>
                <a:cs typeface="+mn-cs"/>
              </a:rPr>
              <a:t>Seite</a:t>
            </a:r>
            <a:r>
              <a:rPr lang="en-US" sz="1100" kern="1200" noProof="0" dirty="0">
                <a:solidFill>
                  <a:schemeClr val="tx1"/>
                </a:solidFill>
                <a:effectLst/>
                <a:latin typeface="Arial"/>
                <a:ea typeface="+mn-ea"/>
                <a:cs typeface="+mn-cs"/>
              </a:rPr>
              <a:t> </a:t>
            </a:r>
            <a:r>
              <a:rPr lang="en-US" sz="1100" kern="1200" noProof="0" dirty="0">
                <a:solidFill>
                  <a:schemeClr val="tx1"/>
                </a:solidFill>
                <a:effectLst/>
                <a:latin typeface="Arial"/>
                <a:ea typeface="+mn-ea"/>
                <a:cs typeface="+mn-cs"/>
                <a:hlinkClick r:id="rId2"/>
              </a:rPr>
              <a:t>http://www.sap.com/corporate-de/legal/copyright/index.epx</a:t>
            </a:r>
            <a:endParaRPr lang="en-US"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a:t>
            </a:r>
            <a:r>
              <a:rPr lang="en-US" sz="2400" b="0" noProof="0" dirty="0" err="1"/>
              <a:t>oder</a:t>
            </a:r>
            <a:r>
              <a:rPr lang="en-US" sz="2400" b="0" noProof="0" dirty="0"/>
              <a:t> </a:t>
            </a:r>
            <a:r>
              <a:rPr lang="en-US" sz="2400" b="0" noProof="0" dirty="0" err="1"/>
              <a:t>ein</a:t>
            </a:r>
            <a:r>
              <a:rPr lang="en-US" sz="2400" b="0" noProof="0" dirty="0"/>
              <a:t> SAP-</a:t>
            </a:r>
            <a:r>
              <a:rPr lang="en-US" sz="2400" b="0" noProof="0" dirty="0" err="1"/>
              <a:t>Konzernunternehmen</a:t>
            </a:r>
            <a:r>
              <a:rPr lang="en-US" sz="2400" b="0" noProof="0" dirty="0"/>
              <a:t>. </a:t>
            </a:r>
            <a:r>
              <a:rPr lang="en-US" sz="2400" b="0" noProof="0" dirty="0" err="1"/>
              <a:t>Alle</a:t>
            </a:r>
            <a:r>
              <a:rPr lang="en-US" sz="2400" b="0" noProof="0" dirty="0"/>
              <a:t> </a:t>
            </a:r>
            <a:r>
              <a:rPr lang="en-US" sz="2400" b="0" noProof="0" dirty="0" err="1"/>
              <a:t>Rechte</a:t>
            </a:r>
            <a:r>
              <a:rPr lang="en-US" sz="2400" b="0" noProof="0" dirty="0"/>
              <a:t> </a:t>
            </a:r>
            <a:r>
              <a:rPr lang="en-US" sz="2400" b="0" noProof="0" dirty="0" err="1"/>
              <a:t>vorbehalten</a:t>
            </a:r>
            <a:r>
              <a:rPr lang="en-US" sz="2400" b="0" noProof="0" dirty="0"/>
              <a:t>.</a:t>
            </a:r>
          </a:p>
        </p:txBody>
      </p:sp>
      <p:grpSp>
        <p:nvGrpSpPr>
          <p:cNvPr id="16" name="Group 15"/>
          <p:cNvGrpSpPr/>
          <p:nvPr userDrawn="1"/>
        </p:nvGrpSpPr>
        <p:grpSpPr>
          <a:xfrm>
            <a:off x="0" y="0"/>
            <a:ext cx="12196800" cy="251942"/>
            <a:chOff x="0" y="0"/>
            <a:chExt cx="12196800" cy="251942"/>
          </a:xfrm>
        </p:grpSpPr>
        <p:sp>
          <p:nvSpPr>
            <p:cNvPr id="17" name="Rectangle 16"/>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8" name="Secondary Motion Band"/>
            <p:cNvGrpSpPr/>
            <p:nvPr userDrawn="1"/>
          </p:nvGrpSpPr>
          <p:grpSpPr>
            <a:xfrm>
              <a:off x="10683752" y="0"/>
              <a:ext cx="1513048" cy="251942"/>
              <a:chOff x="10682127" y="0"/>
              <a:chExt cx="1513048" cy="252000"/>
            </a:xfrm>
          </p:grpSpPr>
          <p:sp>
            <p:nvSpPr>
              <p:cNvPr id="19" name="Rectangle 18"/>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1" name="Rectangle 20"/>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191186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4" name="Group 3"/>
          <p:cNvGrpSpPr/>
          <p:nvPr userDrawn="1"/>
        </p:nvGrpSpPr>
        <p:grpSpPr>
          <a:xfrm>
            <a:off x="0" y="0"/>
            <a:ext cx="12196800" cy="251942"/>
            <a:chOff x="0" y="0"/>
            <a:chExt cx="12196800" cy="251942"/>
          </a:xfrm>
        </p:grpSpPr>
        <p:sp>
          <p:nvSpPr>
            <p:cNvPr id="13" name="Rectangle 12"/>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4" name="Secondary Motion Band"/>
            <p:cNvGrpSpPr/>
            <p:nvPr userDrawn="1"/>
          </p:nvGrpSpPr>
          <p:grpSpPr>
            <a:xfrm>
              <a:off x="10683752" y="0"/>
              <a:ext cx="1513048" cy="251942"/>
              <a:chOff x="10682127" y="0"/>
              <a:chExt cx="1513048" cy="252000"/>
            </a:xfrm>
          </p:grpSpPr>
          <p:sp>
            <p:nvSpPr>
              <p:cNvPr id="15" name="Rectangle 14"/>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9" name="Rectangle 18"/>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73" r:id="rId3"/>
    <p:sldLayoutId id="2147483775" r:id="rId4"/>
    <p:sldLayoutId id="2147483741" r:id="rId5"/>
    <p:sldLayoutId id="2147483765" r:id="rId6"/>
    <p:sldLayoutId id="2147483767" r:id="rId7"/>
    <p:sldLayoutId id="2147483743" r:id="rId8"/>
    <p:sldLayoutId id="2147483774" r:id="rId9"/>
    <p:sldLayoutId id="2147483745" r:id="rId10"/>
    <p:sldLayoutId id="2147483760" r:id="rId11"/>
    <p:sldLayoutId id="2147483768" r:id="rId12"/>
    <p:sldLayoutId id="2147483769" r:id="rId13"/>
    <p:sldLayoutId id="2147483770" r:id="rId14"/>
    <p:sldLayoutId id="2147483744" r:id="rId15"/>
    <p:sldLayoutId id="2147483757" r:id="rId16"/>
    <p:sldLayoutId id="2147483748" r:id="rId17"/>
    <p:sldLayoutId id="2147483762" r:id="rId18"/>
    <p:sldLayoutId id="2147483771" r:id="rId19"/>
    <p:sldLayoutId id="2147483763" r:id="rId20"/>
    <p:sldLayoutId id="2147483751" r:id="rId21"/>
    <p:sldLayoutId id="2147483753" r:id="rId22"/>
    <p:sldLayoutId id="2147483756" r:id="rId23"/>
    <p:sldLayoutId id="2147483740" r:id="rId24"/>
    <p:sldLayoutId id="2147483754" r:id="rId25"/>
    <p:sldLayoutId id="2147483755" r:id="rId26"/>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954855" y="963000"/>
            <a:ext cx="4932000" cy="4932000"/>
          </a:xfrm>
          <a:prstGeom prst="rect">
            <a:avLst/>
          </a:prstGeom>
        </p:spPr>
      </p:pic>
      <p:sp>
        <p:nvSpPr>
          <p:cNvPr id="17" name="Text Placeholder 16"/>
          <p:cNvSpPr>
            <a:spLocks noGrp="1"/>
          </p:cNvSpPr>
          <p:nvPr>
            <p:ph type="body" sz="quarter" idx="14"/>
          </p:nvPr>
        </p:nvSpPr>
        <p:spPr/>
        <p:txBody>
          <a:bodyPr/>
          <a:lstStyle/>
          <a:p>
            <a:r>
              <a:rPr lang="en-US" dirty="0"/>
              <a:t>Ports </a:t>
            </a:r>
            <a:r>
              <a:rPr lang="en-US" dirty="0">
                <a:solidFill>
                  <a:schemeClr val="accent1"/>
                </a:solidFill>
              </a:rPr>
              <a:t>and </a:t>
            </a:r>
            <a:r>
              <a:rPr lang="en-US" dirty="0"/>
              <a:t>Volumes</a:t>
            </a:r>
            <a:br>
              <a:rPr lang="en-US" dirty="0"/>
            </a:br>
            <a:endParaRPr lang="en-US" dirty="0">
              <a:solidFill>
                <a:schemeClr val="accent1"/>
              </a:solidFill>
            </a:endParaRPr>
          </a:p>
        </p:txBody>
      </p:sp>
    </p:spTree>
    <p:extLst>
      <p:ext uri="{BB962C8B-B14F-4D97-AF65-F5344CB8AC3E}">
        <p14:creationId xmlns:p14="http://schemas.microsoft.com/office/powerpoint/2010/main" val="104613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E2710-B4DF-475B-882F-319E4C8DE8E5}"/>
              </a:ext>
            </a:extLst>
          </p:cNvPr>
          <p:cNvSpPr>
            <a:spLocks noGrp="1"/>
          </p:cNvSpPr>
          <p:nvPr>
            <p:ph type="title"/>
          </p:nvPr>
        </p:nvSpPr>
        <p:spPr/>
        <p:txBody>
          <a:bodyPr/>
          <a:lstStyle/>
          <a:p>
            <a:r>
              <a:rPr lang="de-DE" dirty="0"/>
              <a:t>Docker </a:t>
            </a:r>
            <a:r>
              <a:rPr lang="de-DE" dirty="0" err="1"/>
              <a:t>networking</a:t>
            </a:r>
            <a:endParaRPr lang="en-US" dirty="0"/>
          </a:p>
        </p:txBody>
      </p:sp>
      <p:sp>
        <p:nvSpPr>
          <p:cNvPr id="3" name="Rectangle 2">
            <a:extLst>
              <a:ext uri="{FF2B5EF4-FFF2-40B4-BE49-F238E27FC236}">
                <a16:creationId xmlns:a16="http://schemas.microsoft.com/office/drawing/2014/main" id="{99F100DE-7CA3-4D85-A752-20DB736E6071}"/>
              </a:ext>
            </a:extLst>
          </p:cNvPr>
          <p:cNvSpPr/>
          <p:nvPr/>
        </p:nvSpPr>
        <p:spPr>
          <a:xfrm>
            <a:off x="774385" y="1553142"/>
            <a:ext cx="6859782" cy="3751716"/>
          </a:xfrm>
          <a:prstGeom prst="rect">
            <a:avLst/>
          </a:prstGeom>
          <a:solidFill>
            <a:srgbClr val="5B9BD5">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 name="Flowchart: Alternate Process 3">
            <a:extLst>
              <a:ext uri="{FF2B5EF4-FFF2-40B4-BE49-F238E27FC236}">
                <a16:creationId xmlns:a16="http://schemas.microsoft.com/office/drawing/2014/main" id="{2F0925D2-B973-4697-8818-B68913667E3A}"/>
              </a:ext>
            </a:extLst>
          </p:cNvPr>
          <p:cNvSpPr/>
          <p:nvPr/>
        </p:nvSpPr>
        <p:spPr>
          <a:xfrm>
            <a:off x="774384" y="1420318"/>
            <a:ext cx="4038735" cy="265647"/>
          </a:xfrm>
          <a:prstGeom prst="flowChartAlternateProcess">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prstClr val="black"/>
                </a:solidFill>
                <a:effectLst/>
                <a:uLnTx/>
                <a:uFillTx/>
                <a:latin typeface="Calibri" panose="020F0502020204030204"/>
                <a:ea typeface="+mn-ea"/>
                <a:cs typeface="+mn-cs"/>
              </a:rPr>
              <a:t>HOST</a:t>
            </a:r>
            <a:endPar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1" name="Arrow: Bent 10">
            <a:extLst>
              <a:ext uri="{FF2B5EF4-FFF2-40B4-BE49-F238E27FC236}">
                <a16:creationId xmlns:a16="http://schemas.microsoft.com/office/drawing/2014/main" id="{41A13426-3499-4DAD-B52E-39AAF1DDE3F3}"/>
              </a:ext>
            </a:extLst>
          </p:cNvPr>
          <p:cNvSpPr/>
          <p:nvPr/>
        </p:nvSpPr>
        <p:spPr bwMode="gray">
          <a:xfrm rot="10800000" flipV="1">
            <a:off x="5347275" y="2605291"/>
            <a:ext cx="1176112" cy="2593241"/>
          </a:xfrm>
          <a:prstGeom prst="bentArrow">
            <a:avLst>
              <a:gd name="adj1" fmla="val 15156"/>
              <a:gd name="adj2" fmla="val 20932"/>
              <a:gd name="adj3" fmla="val 19576"/>
              <a:gd name="adj4" fmla="val 43750"/>
            </a:avLst>
          </a:prstGeom>
          <a:solidFill>
            <a:srgbClr val="002060"/>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0" name="Arrow: Chevron 9">
            <a:extLst>
              <a:ext uri="{FF2B5EF4-FFF2-40B4-BE49-F238E27FC236}">
                <a16:creationId xmlns:a16="http://schemas.microsoft.com/office/drawing/2014/main" id="{00AEA19E-E702-4C4A-90A1-C9C673F60408}"/>
              </a:ext>
            </a:extLst>
          </p:cNvPr>
          <p:cNvSpPr/>
          <p:nvPr/>
        </p:nvSpPr>
        <p:spPr bwMode="gray">
          <a:xfrm rot="16200000">
            <a:off x="6168110" y="5051474"/>
            <a:ext cx="507492" cy="569375"/>
          </a:xfrm>
          <a:prstGeom prst="chevron">
            <a:avLst>
              <a:gd name="adj" fmla="val 23118"/>
            </a:avLst>
          </a:prstGeom>
          <a:solidFill>
            <a:schemeClr val="accent5"/>
          </a:solidFill>
          <a:ln w="6350" algn="ctr">
            <a:noFill/>
            <a:miter lim="800000"/>
            <a:headEnd/>
            <a:tailEnd/>
          </a:ln>
        </p:spPr>
        <p:txBody>
          <a:bodyPr vert="vert"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a:ln>
                  <a:noFill/>
                </a:ln>
                <a:effectLst/>
                <a:uLnTx/>
                <a:uFillTx/>
                <a:ea typeface="Arial Unicode MS" pitchFamily="34" charset="-128"/>
                <a:cs typeface="Arial Unicode MS" pitchFamily="34" charset="-128"/>
              </a:rPr>
              <a:t>:80</a:t>
            </a:r>
            <a:endParaRPr kumimoji="0" lang="en-US" sz="16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Rectangle 6">
            <a:extLst>
              <a:ext uri="{FF2B5EF4-FFF2-40B4-BE49-F238E27FC236}">
                <a16:creationId xmlns:a16="http://schemas.microsoft.com/office/drawing/2014/main" id="{BBDAC356-3B0F-49BA-AAA4-D07339A9DF8D}"/>
              </a:ext>
            </a:extLst>
          </p:cNvPr>
          <p:cNvSpPr/>
          <p:nvPr/>
        </p:nvSpPr>
        <p:spPr bwMode="gray">
          <a:xfrm>
            <a:off x="2370159" y="2412814"/>
            <a:ext cx="2966483" cy="839972"/>
          </a:xfrm>
          <a:prstGeom prst="rect">
            <a:avLst/>
          </a:prstGeom>
          <a:solidFill>
            <a:schemeClr val="accent1"/>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solidFill>
                  <a:schemeClr val="bg1"/>
                </a:solidFill>
                <a:effectLst/>
                <a:uLnTx/>
                <a:uFillTx/>
                <a:latin typeface="Arial Black" panose="020B0A04020102020204" pitchFamily="34" charset="0"/>
                <a:ea typeface="Arial Unicode MS" pitchFamily="34" charset="-128"/>
                <a:cs typeface="Arial Unicode MS" pitchFamily="34" charset="-128"/>
              </a:rPr>
              <a:t>nginx</a:t>
            </a:r>
            <a:endParaRPr kumimoji="0" lang="en-US" sz="1800" b="0" i="0" u="none" strike="noStrike" kern="0" cap="none" spc="0" normalizeH="0" baseline="0" noProof="0" dirty="0" err="1">
              <a:ln>
                <a:noFill/>
              </a:ln>
              <a:solidFill>
                <a:schemeClr val="bg1"/>
              </a:solidFill>
              <a:effectLst/>
              <a:uLnTx/>
              <a:uFillTx/>
              <a:latin typeface="Arial Black" panose="020B0A04020102020204" pitchFamily="34" charset="0"/>
              <a:ea typeface="Arial Unicode MS" pitchFamily="34" charset="-128"/>
              <a:cs typeface="Arial Unicode MS" pitchFamily="34" charset="-128"/>
            </a:endParaRPr>
          </a:p>
        </p:txBody>
      </p:sp>
      <p:sp>
        <p:nvSpPr>
          <p:cNvPr id="13" name="Flowchart: Alternate Process 12">
            <a:extLst>
              <a:ext uri="{FF2B5EF4-FFF2-40B4-BE49-F238E27FC236}">
                <a16:creationId xmlns:a16="http://schemas.microsoft.com/office/drawing/2014/main" id="{0B460C97-B6AC-48FB-891A-640BC6E992C9}"/>
              </a:ext>
            </a:extLst>
          </p:cNvPr>
          <p:cNvSpPr/>
          <p:nvPr/>
        </p:nvSpPr>
        <p:spPr>
          <a:xfrm>
            <a:off x="774383" y="1420399"/>
            <a:ext cx="4038735" cy="265647"/>
          </a:xfrm>
          <a:prstGeom prst="flowChartAlternateProcess">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DOCKER_</a:t>
            </a:r>
            <a:r>
              <a:rPr kumimoji="0" sz="1600" b="0" i="0" u="none" strike="noStrike" kern="0" cap="none" spc="0" normalizeH="0" baseline="0" noProof="0" dirty="0">
                <a:ln>
                  <a:noFill/>
                </a:ln>
                <a:solidFill>
                  <a:prstClr val="black"/>
                </a:solidFill>
                <a:effectLst/>
                <a:uLnTx/>
                <a:uFillTx/>
                <a:latin typeface="Calibri" panose="020F0502020204030204"/>
                <a:ea typeface="+mn-ea"/>
                <a:cs typeface="+mn-cs"/>
              </a:rPr>
              <a:t>HOST</a:t>
            </a:r>
            <a:endPar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nvGrpSpPr>
          <p:cNvPr id="48" name="Group 47">
            <a:extLst>
              <a:ext uri="{FF2B5EF4-FFF2-40B4-BE49-F238E27FC236}">
                <a16:creationId xmlns:a16="http://schemas.microsoft.com/office/drawing/2014/main" id="{27EE6C9A-B86A-43FA-A0D9-BBC56BB21F0F}"/>
              </a:ext>
            </a:extLst>
          </p:cNvPr>
          <p:cNvGrpSpPr/>
          <p:nvPr/>
        </p:nvGrpSpPr>
        <p:grpSpPr>
          <a:xfrm>
            <a:off x="1480977" y="4754512"/>
            <a:ext cx="2106169" cy="691542"/>
            <a:chOff x="1608577" y="4957319"/>
            <a:chExt cx="2106169" cy="691542"/>
          </a:xfrm>
        </p:grpSpPr>
        <p:cxnSp>
          <p:nvCxnSpPr>
            <p:cNvPr id="38" name="Straight Arrow Connector 37">
              <a:extLst>
                <a:ext uri="{FF2B5EF4-FFF2-40B4-BE49-F238E27FC236}">
                  <a16:creationId xmlns:a16="http://schemas.microsoft.com/office/drawing/2014/main" id="{A5BD9760-6F8A-40E5-BFD7-5522085F64C7}"/>
                </a:ext>
              </a:extLst>
            </p:cNvPr>
            <p:cNvCxnSpPr>
              <a:cxnSpLocks/>
            </p:cNvCxnSpPr>
            <p:nvPr/>
          </p:nvCxnSpPr>
          <p:spPr>
            <a:xfrm flipH="1">
              <a:off x="1608577" y="5063809"/>
              <a:ext cx="1312775" cy="585052"/>
            </a:xfrm>
            <a:prstGeom prst="straightConnector1">
              <a:avLst/>
            </a:prstGeom>
            <a:ln w="107950">
              <a:solidFill>
                <a:schemeClr val="tx1">
                  <a:lumMod val="65000"/>
                  <a:lumOff val="35000"/>
                </a:schemeClr>
              </a:solidFill>
              <a:headEnd type="none" w="med" len="med"/>
              <a:tailEnd type="none" w="med" len="sm"/>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02C0794-394B-4100-9E79-1CCF950AD92C}"/>
                </a:ext>
              </a:extLst>
            </p:cNvPr>
            <p:cNvSpPr txBox="1"/>
            <p:nvPr/>
          </p:nvSpPr>
          <p:spPr>
            <a:xfrm>
              <a:off x="2651394" y="4957319"/>
              <a:ext cx="1063352" cy="215444"/>
            </a:xfrm>
            <a:prstGeom prst="rect">
              <a:avLst/>
            </a:prstGeom>
            <a:solidFill>
              <a:schemeClr val="bg1"/>
            </a:solidFill>
            <a:ln>
              <a:solidFill>
                <a:schemeClr val="tx1">
                  <a:lumMod val="65000"/>
                  <a:lumOff val="35000"/>
                </a:schemeClr>
              </a:solidFill>
            </a:ln>
          </p:spPr>
          <p:txBody>
            <a:bodyPr wrap="square" lIns="0" tIns="0" rIns="0" bIns="0" rtlCol="0">
              <a:spAutoFit/>
            </a:bodyPr>
            <a:lstStyle/>
            <a:p>
              <a:pPr algn="ctr" fontAlgn="base">
                <a:spcBef>
                  <a:spcPct val="50000"/>
                </a:spcBef>
                <a:spcAft>
                  <a:spcPct val="0"/>
                </a:spcAft>
                <a:buClr>
                  <a:srgbClr val="F0AB00"/>
                </a:buClr>
                <a:buSzPct val="80000"/>
              </a:pPr>
              <a:r>
                <a:rPr lang="de-DE" sz="1400" b="1" i="1" kern="0" dirty="0">
                  <a:solidFill>
                    <a:schemeClr val="tx1">
                      <a:lumMod val="95000"/>
                      <a:lumOff val="5000"/>
                    </a:schemeClr>
                  </a:solidFill>
                  <a:ea typeface="Arial Unicode MS" pitchFamily="34" charset="-128"/>
                  <a:cs typeface="Arial Unicode MS" pitchFamily="34" charset="-128"/>
                </a:rPr>
                <a:t>172.17.0.1</a:t>
              </a:r>
              <a:endParaRPr lang="en-US" sz="1200" b="1" i="1" kern="0" dirty="0" err="1">
                <a:solidFill>
                  <a:schemeClr val="tx1">
                    <a:lumMod val="95000"/>
                    <a:lumOff val="5000"/>
                  </a:schemeClr>
                </a:solidFill>
                <a:ea typeface="Arial Unicode MS" pitchFamily="34" charset="-128"/>
                <a:cs typeface="Arial Unicode MS" pitchFamily="34" charset="-128"/>
              </a:endParaRPr>
            </a:p>
          </p:txBody>
        </p:sp>
      </p:grpSp>
      <p:cxnSp>
        <p:nvCxnSpPr>
          <p:cNvPr id="33" name="Straight Arrow Connector 32">
            <a:extLst>
              <a:ext uri="{FF2B5EF4-FFF2-40B4-BE49-F238E27FC236}">
                <a16:creationId xmlns:a16="http://schemas.microsoft.com/office/drawing/2014/main" id="{1568AF94-BAD5-46E3-BB04-A01DBF1A1B42}"/>
              </a:ext>
            </a:extLst>
          </p:cNvPr>
          <p:cNvCxnSpPr>
            <a:cxnSpLocks/>
          </p:cNvCxnSpPr>
          <p:nvPr/>
        </p:nvCxnSpPr>
        <p:spPr>
          <a:xfrm>
            <a:off x="1992824" y="3347428"/>
            <a:ext cx="530970" cy="1047698"/>
          </a:xfrm>
          <a:prstGeom prst="straightConnector1">
            <a:avLst/>
          </a:prstGeom>
          <a:ln w="107950">
            <a:solidFill>
              <a:schemeClr val="tx1">
                <a:lumMod val="65000"/>
                <a:lumOff val="35000"/>
              </a:schemeClr>
            </a:solidFill>
            <a:headEnd type="none" w="med" len="med"/>
            <a:tailEnd type="none" w="med" len="sm"/>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601C5B9-FC16-42DD-B92C-49BBA58D246A}"/>
              </a:ext>
            </a:extLst>
          </p:cNvPr>
          <p:cNvCxnSpPr>
            <a:cxnSpLocks/>
          </p:cNvCxnSpPr>
          <p:nvPr/>
        </p:nvCxnSpPr>
        <p:spPr>
          <a:xfrm flipH="1">
            <a:off x="4994041" y="3288532"/>
            <a:ext cx="134187" cy="1162945"/>
          </a:xfrm>
          <a:prstGeom prst="straightConnector1">
            <a:avLst/>
          </a:prstGeom>
          <a:ln w="107950">
            <a:solidFill>
              <a:schemeClr val="tx1">
                <a:lumMod val="65000"/>
                <a:lumOff val="35000"/>
              </a:schemeClr>
            </a:solidFill>
            <a:headEnd type="none" w="med" len="med"/>
            <a:tailEnd type="none" w="med" len="sm"/>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8C422438-8D30-4AEC-BBF9-5CAB52D60415}"/>
              </a:ext>
            </a:extLst>
          </p:cNvPr>
          <p:cNvGrpSpPr/>
          <p:nvPr/>
        </p:nvGrpSpPr>
        <p:grpSpPr>
          <a:xfrm>
            <a:off x="1125043" y="2061241"/>
            <a:ext cx="2679405" cy="1304777"/>
            <a:chOff x="1213981" y="2444296"/>
            <a:chExt cx="2679405" cy="1304777"/>
          </a:xfrm>
        </p:grpSpPr>
        <p:grpSp>
          <p:nvGrpSpPr>
            <p:cNvPr id="22" name="Group 21">
              <a:extLst>
                <a:ext uri="{FF2B5EF4-FFF2-40B4-BE49-F238E27FC236}">
                  <a16:creationId xmlns:a16="http://schemas.microsoft.com/office/drawing/2014/main" id="{4E569764-56EC-4A19-997E-C06AB2DDA63E}"/>
                </a:ext>
              </a:extLst>
            </p:cNvPr>
            <p:cNvGrpSpPr/>
            <p:nvPr/>
          </p:nvGrpSpPr>
          <p:grpSpPr>
            <a:xfrm>
              <a:off x="1213981" y="2444296"/>
              <a:ext cx="2679405" cy="1304777"/>
              <a:chOff x="7495954" y="3274783"/>
              <a:chExt cx="2679405" cy="1304777"/>
            </a:xfrm>
          </p:grpSpPr>
          <p:sp>
            <p:nvSpPr>
              <p:cNvPr id="24" name="TextBox 23">
                <a:extLst>
                  <a:ext uri="{FF2B5EF4-FFF2-40B4-BE49-F238E27FC236}">
                    <a16:creationId xmlns:a16="http://schemas.microsoft.com/office/drawing/2014/main" id="{E5975F35-F60A-495D-8CE0-9DE79F2AD3F0}"/>
                  </a:ext>
                </a:extLst>
              </p:cNvPr>
              <p:cNvSpPr txBox="1"/>
              <p:nvPr/>
            </p:nvSpPr>
            <p:spPr>
              <a:xfrm>
                <a:off x="7605601" y="4364116"/>
                <a:ext cx="1063352" cy="215444"/>
              </a:xfrm>
              <a:prstGeom prst="rect">
                <a:avLst/>
              </a:prstGeom>
              <a:solidFill>
                <a:schemeClr val="bg1"/>
              </a:solidFill>
              <a:ln>
                <a:solidFill>
                  <a:schemeClr val="accent3">
                    <a:lumMod val="50000"/>
                  </a:schemeClr>
                </a:solidFill>
              </a:ln>
            </p:spPr>
            <p:txBody>
              <a:bodyPr wrap="square" lIns="0" tIns="0" rIns="0" bIns="0" rtlCol="0">
                <a:spAutoFit/>
              </a:bodyPr>
              <a:lstStyle/>
              <a:p>
                <a:pPr algn="ctr" fontAlgn="base">
                  <a:spcBef>
                    <a:spcPct val="50000"/>
                  </a:spcBef>
                  <a:spcAft>
                    <a:spcPct val="0"/>
                  </a:spcAft>
                  <a:buClr>
                    <a:srgbClr val="F0AB00"/>
                  </a:buClr>
                  <a:buSzPct val="80000"/>
                </a:pPr>
                <a:r>
                  <a:rPr lang="de-DE" sz="1400" b="1" i="1" kern="0" dirty="0">
                    <a:solidFill>
                      <a:schemeClr val="tx1">
                        <a:lumMod val="95000"/>
                        <a:lumOff val="5000"/>
                      </a:schemeClr>
                    </a:solidFill>
                    <a:ea typeface="Arial Unicode MS" pitchFamily="34" charset="-128"/>
                    <a:cs typeface="Arial Unicode MS" pitchFamily="34" charset="-128"/>
                  </a:rPr>
                  <a:t>172.17.0.2</a:t>
                </a:r>
                <a:endParaRPr lang="en-US" sz="1200" b="1" i="1" kern="0" dirty="0" err="1">
                  <a:solidFill>
                    <a:schemeClr val="tx1">
                      <a:lumMod val="95000"/>
                      <a:lumOff val="5000"/>
                    </a:schemeClr>
                  </a:solidFill>
                  <a:ea typeface="Arial Unicode MS" pitchFamily="34" charset="-128"/>
                  <a:cs typeface="Arial Unicode MS" pitchFamily="34" charset="-128"/>
                </a:endParaRPr>
              </a:p>
            </p:txBody>
          </p:sp>
          <p:sp>
            <p:nvSpPr>
              <p:cNvPr id="23" name="Cube 22">
                <a:extLst>
                  <a:ext uri="{FF2B5EF4-FFF2-40B4-BE49-F238E27FC236}">
                    <a16:creationId xmlns:a16="http://schemas.microsoft.com/office/drawing/2014/main" id="{5DB873EC-5E1B-4FF9-B5E2-8F1AC7D7B3F2}"/>
                  </a:ext>
                </a:extLst>
              </p:cNvPr>
              <p:cNvSpPr/>
              <p:nvPr/>
            </p:nvSpPr>
            <p:spPr bwMode="gray">
              <a:xfrm>
                <a:off x="7495954" y="3274783"/>
                <a:ext cx="2679405" cy="1095154"/>
              </a:xfrm>
              <a:prstGeom prst="cube">
                <a:avLst/>
              </a:prstGeom>
              <a:solidFill>
                <a:schemeClr val="accent3">
                  <a:lumMod val="5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42" name="Rectangle 41">
              <a:extLst>
                <a:ext uri="{FF2B5EF4-FFF2-40B4-BE49-F238E27FC236}">
                  <a16:creationId xmlns:a16="http://schemas.microsoft.com/office/drawing/2014/main" id="{770356EC-47E8-4538-9E1F-5939AC05FC04}"/>
                </a:ext>
              </a:extLst>
            </p:cNvPr>
            <p:cNvSpPr/>
            <p:nvPr/>
          </p:nvSpPr>
          <p:spPr bwMode="gray">
            <a:xfrm>
              <a:off x="1569915" y="2938771"/>
              <a:ext cx="1737655" cy="403825"/>
            </a:xfrm>
            <a:prstGeom prst="rect">
              <a:avLst/>
            </a:prstGeom>
            <a:solidFill>
              <a:schemeClr val="accent1"/>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solidFill>
                    <a:schemeClr val="bg1"/>
                  </a:solidFill>
                  <a:effectLst/>
                  <a:uLnTx/>
                  <a:uFillTx/>
                  <a:latin typeface="Arial Black" panose="020B0A04020102020204" pitchFamily="34" charset="0"/>
                  <a:ea typeface="Arial Unicode MS" pitchFamily="34" charset="-128"/>
                  <a:cs typeface="Arial Unicode MS" pitchFamily="34" charset="-128"/>
                </a:rPr>
                <a:t>nginx</a:t>
              </a:r>
              <a:endParaRPr kumimoji="0" lang="en-US" sz="1800" b="0" i="0" u="none" strike="noStrike" kern="0" cap="none" spc="0" normalizeH="0" baseline="0" noProof="0" dirty="0" err="1">
                <a:ln>
                  <a:noFill/>
                </a:ln>
                <a:solidFill>
                  <a:schemeClr val="bg1"/>
                </a:solidFill>
                <a:effectLst/>
                <a:uLnTx/>
                <a:uFillTx/>
                <a:latin typeface="Arial Black" panose="020B0A04020102020204" pitchFamily="34" charset="0"/>
                <a:ea typeface="Arial Unicode MS" pitchFamily="34" charset="-128"/>
                <a:cs typeface="Arial Unicode MS" pitchFamily="34" charset="-128"/>
              </a:endParaRPr>
            </a:p>
          </p:txBody>
        </p:sp>
      </p:grpSp>
      <p:grpSp>
        <p:nvGrpSpPr>
          <p:cNvPr id="44" name="Group 43">
            <a:extLst>
              <a:ext uri="{FF2B5EF4-FFF2-40B4-BE49-F238E27FC236}">
                <a16:creationId xmlns:a16="http://schemas.microsoft.com/office/drawing/2014/main" id="{DC50166E-E486-47FF-8D2E-78149690D90D}"/>
              </a:ext>
            </a:extLst>
          </p:cNvPr>
          <p:cNvGrpSpPr/>
          <p:nvPr/>
        </p:nvGrpSpPr>
        <p:grpSpPr>
          <a:xfrm>
            <a:off x="4322914" y="2060635"/>
            <a:ext cx="2679405" cy="1304777"/>
            <a:chOff x="4354967" y="2443989"/>
            <a:chExt cx="2679405" cy="1304777"/>
          </a:xfrm>
        </p:grpSpPr>
        <p:grpSp>
          <p:nvGrpSpPr>
            <p:cNvPr id="29" name="Group 28">
              <a:extLst>
                <a:ext uri="{FF2B5EF4-FFF2-40B4-BE49-F238E27FC236}">
                  <a16:creationId xmlns:a16="http://schemas.microsoft.com/office/drawing/2014/main" id="{3FD2EB18-F609-4545-8908-6010BEE065B4}"/>
                </a:ext>
              </a:extLst>
            </p:cNvPr>
            <p:cNvGrpSpPr/>
            <p:nvPr/>
          </p:nvGrpSpPr>
          <p:grpSpPr>
            <a:xfrm>
              <a:off x="4354967" y="2443989"/>
              <a:ext cx="2679405" cy="1304777"/>
              <a:chOff x="7495954" y="3274783"/>
              <a:chExt cx="2679405" cy="1304777"/>
            </a:xfrm>
          </p:grpSpPr>
          <p:sp>
            <p:nvSpPr>
              <p:cNvPr id="31" name="TextBox 30">
                <a:extLst>
                  <a:ext uri="{FF2B5EF4-FFF2-40B4-BE49-F238E27FC236}">
                    <a16:creationId xmlns:a16="http://schemas.microsoft.com/office/drawing/2014/main" id="{1078E841-3B9E-44C4-9D7B-364270174506}"/>
                  </a:ext>
                </a:extLst>
              </p:cNvPr>
              <p:cNvSpPr txBox="1"/>
              <p:nvPr/>
            </p:nvSpPr>
            <p:spPr>
              <a:xfrm>
                <a:off x="7605601" y="4364116"/>
                <a:ext cx="1063352" cy="215444"/>
              </a:xfrm>
              <a:prstGeom prst="rect">
                <a:avLst/>
              </a:prstGeom>
              <a:solidFill>
                <a:schemeClr val="bg1"/>
              </a:solidFill>
              <a:ln>
                <a:solidFill>
                  <a:schemeClr val="accent3">
                    <a:lumMod val="50000"/>
                  </a:schemeClr>
                </a:solidFill>
              </a:ln>
            </p:spPr>
            <p:txBody>
              <a:bodyPr wrap="square" lIns="0" tIns="0" rIns="0" bIns="0" rtlCol="0">
                <a:spAutoFit/>
              </a:bodyPr>
              <a:lstStyle/>
              <a:p>
                <a:pPr algn="ctr" fontAlgn="base">
                  <a:spcBef>
                    <a:spcPct val="50000"/>
                  </a:spcBef>
                  <a:spcAft>
                    <a:spcPct val="0"/>
                  </a:spcAft>
                  <a:buClr>
                    <a:srgbClr val="F0AB00"/>
                  </a:buClr>
                  <a:buSzPct val="80000"/>
                </a:pPr>
                <a:r>
                  <a:rPr lang="de-DE" sz="1400" b="1" i="1" kern="0" dirty="0">
                    <a:solidFill>
                      <a:schemeClr val="tx1">
                        <a:lumMod val="95000"/>
                        <a:lumOff val="5000"/>
                      </a:schemeClr>
                    </a:solidFill>
                    <a:ea typeface="Arial Unicode MS" pitchFamily="34" charset="-128"/>
                    <a:cs typeface="Arial Unicode MS" pitchFamily="34" charset="-128"/>
                  </a:rPr>
                  <a:t>172.17.0.3</a:t>
                </a:r>
                <a:endParaRPr lang="en-US" sz="1200" b="1" i="1" kern="0" dirty="0" err="1">
                  <a:solidFill>
                    <a:schemeClr val="tx1">
                      <a:lumMod val="95000"/>
                      <a:lumOff val="5000"/>
                    </a:schemeClr>
                  </a:solidFill>
                  <a:ea typeface="Arial Unicode MS" pitchFamily="34" charset="-128"/>
                  <a:cs typeface="Arial Unicode MS" pitchFamily="34" charset="-128"/>
                </a:endParaRPr>
              </a:p>
            </p:txBody>
          </p:sp>
          <p:sp>
            <p:nvSpPr>
              <p:cNvPr id="30" name="Cube 29">
                <a:extLst>
                  <a:ext uri="{FF2B5EF4-FFF2-40B4-BE49-F238E27FC236}">
                    <a16:creationId xmlns:a16="http://schemas.microsoft.com/office/drawing/2014/main" id="{D5D592C7-F26E-4D63-96E4-0BF56C7434B4}"/>
                  </a:ext>
                </a:extLst>
              </p:cNvPr>
              <p:cNvSpPr/>
              <p:nvPr/>
            </p:nvSpPr>
            <p:spPr bwMode="gray">
              <a:xfrm>
                <a:off x="7495954" y="3274783"/>
                <a:ext cx="2679405" cy="1095154"/>
              </a:xfrm>
              <a:prstGeom prst="cube">
                <a:avLst/>
              </a:prstGeom>
              <a:solidFill>
                <a:schemeClr val="accent3">
                  <a:lumMod val="5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43" name="Rectangle 42">
              <a:extLst>
                <a:ext uri="{FF2B5EF4-FFF2-40B4-BE49-F238E27FC236}">
                  <a16:creationId xmlns:a16="http://schemas.microsoft.com/office/drawing/2014/main" id="{DC8F5A32-EDD3-4048-9018-117B8DC2F56C}"/>
                </a:ext>
              </a:extLst>
            </p:cNvPr>
            <p:cNvSpPr/>
            <p:nvPr/>
          </p:nvSpPr>
          <p:spPr bwMode="gray">
            <a:xfrm>
              <a:off x="4699533" y="2931074"/>
              <a:ext cx="1737655" cy="403825"/>
            </a:xfrm>
            <a:prstGeom prst="rect">
              <a:avLst/>
            </a:prstGeom>
            <a:solidFill>
              <a:schemeClr val="accent1"/>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solidFill>
                    <a:schemeClr val="bg1"/>
                  </a:solidFill>
                  <a:effectLst/>
                  <a:uLnTx/>
                  <a:uFillTx/>
                  <a:latin typeface="Arial Black" panose="020B0A04020102020204" pitchFamily="34" charset="0"/>
                  <a:ea typeface="Arial Unicode MS" pitchFamily="34" charset="-128"/>
                  <a:cs typeface="Arial Unicode MS" pitchFamily="34" charset="-128"/>
                </a:rPr>
                <a:t>nginx</a:t>
              </a:r>
              <a:endParaRPr kumimoji="0" lang="en-US" sz="1800" b="0" i="0" u="none" strike="noStrike" kern="0" cap="none" spc="0" normalizeH="0" baseline="0" noProof="0" dirty="0" err="1">
                <a:ln>
                  <a:noFill/>
                </a:ln>
                <a:solidFill>
                  <a:schemeClr val="bg1"/>
                </a:solidFill>
                <a:effectLst/>
                <a:uLnTx/>
                <a:uFillTx/>
                <a:latin typeface="Arial Black" panose="020B0A04020102020204" pitchFamily="34" charset="0"/>
                <a:ea typeface="Arial Unicode MS" pitchFamily="34" charset="-128"/>
                <a:cs typeface="Arial Unicode MS" pitchFamily="34" charset="-128"/>
              </a:endParaRPr>
            </a:p>
          </p:txBody>
        </p:sp>
      </p:grpSp>
      <p:sp>
        <p:nvSpPr>
          <p:cNvPr id="46" name="Arrow: Chevron 45">
            <a:extLst>
              <a:ext uri="{FF2B5EF4-FFF2-40B4-BE49-F238E27FC236}">
                <a16:creationId xmlns:a16="http://schemas.microsoft.com/office/drawing/2014/main" id="{A31A4E26-EC33-4866-94E4-FF744DBCBF5D}"/>
              </a:ext>
            </a:extLst>
          </p:cNvPr>
          <p:cNvSpPr/>
          <p:nvPr/>
        </p:nvSpPr>
        <p:spPr bwMode="gray">
          <a:xfrm rot="16200000">
            <a:off x="2910480" y="2993156"/>
            <a:ext cx="507492" cy="569375"/>
          </a:xfrm>
          <a:prstGeom prst="chevron">
            <a:avLst>
              <a:gd name="adj" fmla="val 23118"/>
            </a:avLst>
          </a:prstGeom>
          <a:solidFill>
            <a:schemeClr val="accent5"/>
          </a:solidFill>
          <a:ln w="6350" algn="ctr">
            <a:noFill/>
            <a:miter lim="800000"/>
            <a:headEnd/>
            <a:tailEnd/>
          </a:ln>
        </p:spPr>
        <p:txBody>
          <a:bodyPr vert="vert"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a:ln>
                  <a:noFill/>
                </a:ln>
                <a:effectLst/>
                <a:uLnTx/>
                <a:uFillTx/>
                <a:ea typeface="Arial Unicode MS" pitchFamily="34" charset="-128"/>
                <a:cs typeface="Arial Unicode MS" pitchFamily="34" charset="-128"/>
              </a:rPr>
              <a:t>:80</a:t>
            </a:r>
            <a:endParaRPr kumimoji="0" lang="en-US" sz="16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7" name="Arrow: Chevron 46">
            <a:extLst>
              <a:ext uri="{FF2B5EF4-FFF2-40B4-BE49-F238E27FC236}">
                <a16:creationId xmlns:a16="http://schemas.microsoft.com/office/drawing/2014/main" id="{506EDDA8-F01B-4ED4-A243-A2CF76C323D4}"/>
              </a:ext>
            </a:extLst>
          </p:cNvPr>
          <p:cNvSpPr/>
          <p:nvPr/>
        </p:nvSpPr>
        <p:spPr bwMode="gray">
          <a:xfrm rot="16200000">
            <a:off x="6108537" y="2993156"/>
            <a:ext cx="507492" cy="569375"/>
          </a:xfrm>
          <a:prstGeom prst="chevron">
            <a:avLst>
              <a:gd name="adj" fmla="val 23118"/>
            </a:avLst>
          </a:prstGeom>
          <a:solidFill>
            <a:schemeClr val="accent5"/>
          </a:solidFill>
          <a:ln w="6350" algn="ctr">
            <a:noFill/>
            <a:miter lim="800000"/>
            <a:headEnd/>
            <a:tailEnd/>
          </a:ln>
        </p:spPr>
        <p:txBody>
          <a:bodyPr vert="vert"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a:ln>
                  <a:noFill/>
                </a:ln>
                <a:effectLst/>
                <a:uLnTx/>
                <a:uFillTx/>
                <a:ea typeface="Arial Unicode MS" pitchFamily="34" charset="-128"/>
                <a:cs typeface="Arial Unicode MS" pitchFamily="34" charset="-128"/>
              </a:rPr>
              <a:t>:80</a:t>
            </a:r>
            <a:endParaRPr kumimoji="0" lang="en-US" sz="16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9" name="Arrow: Chevron 48">
            <a:extLst>
              <a:ext uri="{FF2B5EF4-FFF2-40B4-BE49-F238E27FC236}">
                <a16:creationId xmlns:a16="http://schemas.microsoft.com/office/drawing/2014/main" id="{C1FE1659-A746-4BDE-B7F1-4EB76860CD6E}"/>
              </a:ext>
            </a:extLst>
          </p:cNvPr>
          <p:cNvSpPr/>
          <p:nvPr/>
        </p:nvSpPr>
        <p:spPr bwMode="gray">
          <a:xfrm rot="16200000">
            <a:off x="4572137" y="5051850"/>
            <a:ext cx="507492" cy="569375"/>
          </a:xfrm>
          <a:prstGeom prst="chevron">
            <a:avLst>
              <a:gd name="adj" fmla="val 23118"/>
            </a:avLst>
          </a:prstGeom>
          <a:solidFill>
            <a:schemeClr val="accent4"/>
          </a:solidFill>
          <a:ln w="6350" algn="ctr">
            <a:noFill/>
            <a:miter lim="800000"/>
            <a:headEnd/>
            <a:tailEnd/>
          </a:ln>
        </p:spPr>
        <p:txBody>
          <a:bodyPr vert="vert"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a:ln>
                  <a:noFill/>
                </a:ln>
                <a:effectLst/>
                <a:uLnTx/>
                <a:uFillTx/>
                <a:ea typeface="Arial Unicode MS" pitchFamily="34" charset="-128"/>
                <a:cs typeface="Arial Unicode MS" pitchFamily="34" charset="-128"/>
              </a:rPr>
              <a:t>:80</a:t>
            </a:r>
            <a:endParaRPr kumimoji="0" lang="en-US" sz="16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50" name="Arrow: Chevron 49">
            <a:extLst>
              <a:ext uri="{FF2B5EF4-FFF2-40B4-BE49-F238E27FC236}">
                <a16:creationId xmlns:a16="http://schemas.microsoft.com/office/drawing/2014/main" id="{E9AB6A27-BAE2-44C6-BCC6-6FE9E4B32BEA}"/>
              </a:ext>
            </a:extLst>
          </p:cNvPr>
          <p:cNvSpPr/>
          <p:nvPr/>
        </p:nvSpPr>
        <p:spPr bwMode="gray">
          <a:xfrm rot="16200000">
            <a:off x="5227302" y="5053558"/>
            <a:ext cx="507492" cy="569375"/>
          </a:xfrm>
          <a:prstGeom prst="chevron">
            <a:avLst>
              <a:gd name="adj" fmla="val 23118"/>
            </a:avLst>
          </a:prstGeom>
          <a:solidFill>
            <a:schemeClr val="accent4"/>
          </a:solidFill>
          <a:ln w="6350" algn="ctr">
            <a:noFill/>
            <a:miter lim="800000"/>
            <a:headEnd/>
            <a:tailEnd/>
          </a:ln>
        </p:spPr>
        <p:txBody>
          <a:bodyPr vert="vert"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a:ln>
                  <a:noFill/>
                </a:ln>
                <a:effectLst/>
                <a:uLnTx/>
                <a:uFillTx/>
                <a:ea typeface="Arial Unicode MS" pitchFamily="34" charset="-128"/>
                <a:cs typeface="Arial Unicode MS" pitchFamily="34" charset="-128"/>
              </a:rPr>
              <a:t>:81</a:t>
            </a:r>
            <a:endParaRPr kumimoji="0" lang="en-US" sz="1600" b="1"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55" name="Connector: Elbow 54">
            <a:extLst>
              <a:ext uri="{FF2B5EF4-FFF2-40B4-BE49-F238E27FC236}">
                <a16:creationId xmlns:a16="http://schemas.microsoft.com/office/drawing/2014/main" id="{01D7C98C-3D3F-4740-B828-F911A6FD4BC5}"/>
              </a:ext>
            </a:extLst>
          </p:cNvPr>
          <p:cNvCxnSpPr>
            <a:cxnSpLocks/>
            <a:stCxn id="49" idx="3"/>
            <a:endCxn id="46" idx="1"/>
          </p:cNvCxnSpPr>
          <p:nvPr/>
        </p:nvCxnSpPr>
        <p:spPr>
          <a:xfrm rot="16200000" flipV="1">
            <a:off x="3160794" y="3417701"/>
            <a:ext cx="1668524" cy="1661657"/>
          </a:xfrm>
          <a:prstGeom prst="bentConnector3">
            <a:avLst>
              <a:gd name="adj1" fmla="val 79313"/>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CC575FBA-572D-4133-8A3B-715A6A70DB54}"/>
              </a:ext>
            </a:extLst>
          </p:cNvPr>
          <p:cNvCxnSpPr>
            <a:cxnSpLocks/>
            <a:stCxn id="50" idx="3"/>
            <a:endCxn id="47" idx="1"/>
          </p:cNvCxnSpPr>
          <p:nvPr/>
        </p:nvCxnSpPr>
        <p:spPr>
          <a:xfrm rot="5400000" flipH="1" flipV="1">
            <a:off x="5086550" y="3808767"/>
            <a:ext cx="1670232" cy="881235"/>
          </a:xfrm>
          <a:prstGeom prst="bentConnector3">
            <a:avLst>
              <a:gd name="adj1" fmla="val 79283"/>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C1D0C5E-DFE5-427B-81FE-834C297A5D44}"/>
              </a:ext>
            </a:extLst>
          </p:cNvPr>
          <p:cNvSpPr txBox="1"/>
          <p:nvPr/>
        </p:nvSpPr>
        <p:spPr>
          <a:xfrm>
            <a:off x="912607" y="5304858"/>
            <a:ext cx="1398536" cy="246126"/>
          </a:xfrm>
          <a:prstGeom prst="rect">
            <a:avLst/>
          </a:prstGeom>
          <a:solidFill>
            <a:schemeClr val="bg1"/>
          </a:solidFill>
          <a:ln>
            <a:solidFill>
              <a:schemeClr val="accent3">
                <a:lumMod val="50000"/>
              </a:schemeClr>
            </a:solidFill>
          </a:ln>
        </p:spPr>
        <p:txBody>
          <a:bodyPr wrap="square" lIns="0" tIns="0" rIns="0" bIns="0" rtlCol="0">
            <a:spAutoFit/>
          </a:bodyPr>
          <a:lstStyle/>
          <a:p>
            <a:pPr algn="ctr" fontAlgn="base">
              <a:spcBef>
                <a:spcPct val="50000"/>
              </a:spcBef>
              <a:spcAft>
                <a:spcPct val="0"/>
              </a:spcAft>
              <a:buClr>
                <a:srgbClr val="F0AB00"/>
              </a:buClr>
              <a:buSzPct val="80000"/>
            </a:pPr>
            <a:r>
              <a:rPr lang="de-DE" sz="1600" b="1" i="1" kern="0" dirty="0">
                <a:solidFill>
                  <a:schemeClr val="tx1">
                    <a:lumMod val="95000"/>
                    <a:lumOff val="5000"/>
                  </a:schemeClr>
                </a:solidFill>
                <a:ea typeface="Arial Unicode MS" pitchFamily="34" charset="-128"/>
                <a:cs typeface="Arial Unicode MS" pitchFamily="34" charset="-128"/>
              </a:rPr>
              <a:t>192.168.2.42</a:t>
            </a:r>
            <a:endParaRPr lang="en-US" sz="1400" b="1" i="1" kern="0" dirty="0" err="1">
              <a:solidFill>
                <a:schemeClr val="tx1">
                  <a:lumMod val="95000"/>
                  <a:lumOff val="5000"/>
                </a:schemeClr>
              </a:solidFill>
              <a:ea typeface="Arial Unicode MS" pitchFamily="34" charset="-128"/>
              <a:cs typeface="Arial Unicode MS" pitchFamily="34" charset="-128"/>
            </a:endParaRPr>
          </a:p>
        </p:txBody>
      </p:sp>
      <p:sp>
        <p:nvSpPr>
          <p:cNvPr id="28" name="Cloud 27">
            <a:extLst>
              <a:ext uri="{FF2B5EF4-FFF2-40B4-BE49-F238E27FC236}">
                <a16:creationId xmlns:a16="http://schemas.microsoft.com/office/drawing/2014/main" id="{29510FB0-3A9E-422B-9D6E-74B95CABA393}"/>
              </a:ext>
            </a:extLst>
          </p:cNvPr>
          <p:cNvSpPr/>
          <p:nvPr/>
        </p:nvSpPr>
        <p:spPr bwMode="gray">
          <a:xfrm>
            <a:off x="1535505" y="4091238"/>
            <a:ext cx="5071729" cy="720478"/>
          </a:xfrm>
          <a:prstGeom prst="cloud">
            <a:avLst/>
          </a:prstGeom>
          <a:solidFill>
            <a:schemeClr val="tx2">
              <a:lumMod val="7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400" b="1" i="0" u="none" strike="noStrike" kern="0" cap="none" spc="0" normalizeH="0" baseline="0" noProof="0" dirty="0">
                <a:ln>
                  <a:noFill/>
                </a:ln>
                <a:solidFill>
                  <a:schemeClr val="bg1"/>
                </a:solidFill>
                <a:effectLst/>
                <a:uLnTx/>
                <a:uFillTx/>
                <a:ea typeface="Arial Unicode MS" pitchFamily="34" charset="-128"/>
                <a:cs typeface="Arial Unicode MS" pitchFamily="34" charset="-128"/>
              </a:rPr>
              <a:t>172.17.0.0/16</a:t>
            </a:r>
            <a:endParaRPr kumimoji="0" lang="en-US" sz="1400" b="1" i="0" u="none" strike="noStrike" kern="0" cap="none" spc="0" normalizeH="0" baseline="0" noProof="0" dirty="0" err="1">
              <a:ln>
                <a:noFill/>
              </a:ln>
              <a:solidFill>
                <a:schemeClr val="bg1"/>
              </a:solidFill>
              <a:effectLst/>
              <a:uLnTx/>
              <a:uFillTx/>
              <a:ea typeface="Arial Unicode MS" pitchFamily="34" charset="-128"/>
              <a:cs typeface="Arial Unicode MS" pitchFamily="34" charset="-128"/>
            </a:endParaRPr>
          </a:p>
        </p:txBody>
      </p:sp>
      <p:sp>
        <p:nvSpPr>
          <p:cNvPr id="96" name="Text Placeholder 10">
            <a:extLst>
              <a:ext uri="{FF2B5EF4-FFF2-40B4-BE49-F238E27FC236}">
                <a16:creationId xmlns:a16="http://schemas.microsoft.com/office/drawing/2014/main" id="{5DD9B2F5-92E0-41E0-B436-C1224E8F5143}"/>
              </a:ext>
            </a:extLst>
          </p:cNvPr>
          <p:cNvSpPr txBox="1">
            <a:spLocks/>
          </p:cNvSpPr>
          <p:nvPr/>
        </p:nvSpPr>
        <p:spPr>
          <a:xfrm>
            <a:off x="8019167" y="2285864"/>
            <a:ext cx="3611697" cy="2286271"/>
          </a:xfrm>
          <a:prstGeom prst="rect">
            <a:avLst/>
          </a:prstGeom>
        </p:spPr>
        <p:txBody>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dirty="0"/>
              <a:t>Containers in isolated network</a:t>
            </a:r>
          </a:p>
          <a:p>
            <a:pPr lvl="1"/>
            <a:r>
              <a:rPr lang="en-US" dirty="0"/>
              <a:t>private network 172.17.0.0/16</a:t>
            </a:r>
          </a:p>
          <a:p>
            <a:pPr lvl="1"/>
            <a:r>
              <a:rPr lang="en-US" dirty="0"/>
              <a:t>Containers can see each other</a:t>
            </a:r>
          </a:p>
          <a:p>
            <a:pPr lvl="1"/>
            <a:r>
              <a:rPr lang="en-US" dirty="0"/>
              <a:t>Not reachable from outside</a:t>
            </a:r>
          </a:p>
          <a:p>
            <a:pPr lvl="1"/>
            <a:r>
              <a:rPr lang="en-US" dirty="0"/>
              <a:t>NAT to connect to the outside world</a:t>
            </a:r>
          </a:p>
          <a:p>
            <a:pPr marL="0" lvl="1" indent="0">
              <a:buFont typeface="Wingdings" pitchFamily="2" charset="2"/>
              <a:buNone/>
            </a:pPr>
            <a:endParaRPr lang="en-US" dirty="0"/>
          </a:p>
        </p:txBody>
      </p:sp>
    </p:spTree>
    <p:extLst>
      <p:ext uri="{BB962C8B-B14F-4D97-AF65-F5344CB8AC3E}">
        <p14:creationId xmlns:p14="http://schemas.microsoft.com/office/powerpoint/2010/main" val="499221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7"/>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10"/>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1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0" grpId="0" animBg="1"/>
      <p:bldP spid="10" grpId="1" animBg="1"/>
      <p:bldP spid="7" grpId="0" animBg="1"/>
      <p:bldP spid="7" grpId="1" animBg="1"/>
      <p:bldP spid="13" grpId="0" animBg="1"/>
      <p:bldP spid="46" grpId="0" animBg="1"/>
      <p:bldP spid="47" grpId="0" animBg="1"/>
      <p:bldP spid="49" grpId="0" animBg="1"/>
      <p:bldP spid="50" grpId="0" animBg="1"/>
      <p:bldP spid="28" grpId="0" animBg="1"/>
      <p:bldP spid="9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E2F9976-F390-45F1-BE27-19B256B71AA2}"/>
              </a:ext>
            </a:extLst>
          </p:cNvPr>
          <p:cNvSpPr/>
          <p:nvPr/>
        </p:nvSpPr>
        <p:spPr>
          <a:xfrm>
            <a:off x="7930403" y="1811231"/>
            <a:ext cx="2907216" cy="3235538"/>
          </a:xfrm>
          <a:prstGeom prst="rect">
            <a:avLst/>
          </a:prstGeom>
          <a:solidFill>
            <a:srgbClr val="5B9BD5">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1" name="Text Placeholder 10"/>
          <p:cNvSpPr>
            <a:spLocks noGrp="1"/>
          </p:cNvSpPr>
          <p:nvPr>
            <p:ph type="body" sz="quarter" idx="10"/>
          </p:nvPr>
        </p:nvSpPr>
        <p:spPr>
          <a:xfrm>
            <a:off x="674121" y="1491022"/>
            <a:ext cx="6088582" cy="4230000"/>
          </a:xfrm>
        </p:spPr>
        <p:txBody>
          <a:bodyPr anchor="ctr"/>
          <a:lstStyle/>
          <a:p>
            <a:r>
              <a:rPr lang="en-US" dirty="0"/>
              <a:t>Port forwarding</a:t>
            </a:r>
          </a:p>
          <a:p>
            <a:pPr lvl="1"/>
            <a:r>
              <a:rPr lang="en-US" dirty="0"/>
              <a:t>Port forwarding to host</a:t>
            </a:r>
          </a:p>
          <a:p>
            <a:pPr marL="179387" lvl="2" indent="0">
              <a:buNone/>
            </a:pPr>
            <a:r>
              <a:rPr lang="en-US" sz="1600" b="1" dirty="0">
                <a:highlight>
                  <a:srgbClr val="C0C0C0"/>
                </a:highlight>
                <a:latin typeface="Courier New" panose="02070309020205020404" pitchFamily="49" charset="0"/>
                <a:cs typeface="Courier New" panose="02070309020205020404" pitchFamily="49" charset="0"/>
              </a:rPr>
              <a:t>docker run -p &lt;host port&gt;:&lt;container port&gt; …</a:t>
            </a:r>
          </a:p>
          <a:p>
            <a:pPr lvl="1"/>
            <a:r>
              <a:rPr lang="en-US" dirty="0"/>
              <a:t>Containers expose ports, can be mapped automatically</a:t>
            </a:r>
          </a:p>
          <a:p>
            <a:pPr marL="179387" lvl="2" indent="0">
              <a:buNone/>
            </a:pPr>
            <a:r>
              <a:rPr lang="en-US" sz="1600" b="1" dirty="0">
                <a:highlight>
                  <a:srgbClr val="C0C0C0"/>
                </a:highlight>
                <a:latin typeface="Courier New" panose="02070309020205020404" pitchFamily="49" charset="0"/>
                <a:cs typeface="Courier New" panose="02070309020205020404" pitchFamily="49" charset="0"/>
              </a:rPr>
              <a:t>docker run -P …</a:t>
            </a:r>
          </a:p>
          <a:p>
            <a:pPr lvl="1"/>
            <a:r>
              <a:rPr lang="en-US" dirty="0"/>
              <a:t>Exposed ports can be inspected</a:t>
            </a:r>
          </a:p>
        </p:txBody>
      </p:sp>
      <p:sp>
        <p:nvSpPr>
          <p:cNvPr id="4" name="Title 3"/>
          <p:cNvSpPr>
            <a:spLocks noGrp="1"/>
          </p:cNvSpPr>
          <p:nvPr>
            <p:ph type="title"/>
          </p:nvPr>
        </p:nvSpPr>
        <p:spPr>
          <a:xfrm>
            <a:off x="503999" y="639467"/>
            <a:ext cx="11186476" cy="369332"/>
          </a:xfrm>
        </p:spPr>
        <p:txBody>
          <a:bodyPr/>
          <a:lstStyle/>
          <a:p>
            <a:r>
              <a:rPr lang="en-US" dirty="0"/>
              <a:t>Port forwarding</a:t>
            </a:r>
          </a:p>
        </p:txBody>
      </p:sp>
      <p:grpSp>
        <p:nvGrpSpPr>
          <p:cNvPr id="17" name="Group 16">
            <a:extLst>
              <a:ext uri="{FF2B5EF4-FFF2-40B4-BE49-F238E27FC236}">
                <a16:creationId xmlns:a16="http://schemas.microsoft.com/office/drawing/2014/main" id="{ABE38EB3-CD82-41C0-93A3-5A9FE96D9F2A}"/>
              </a:ext>
            </a:extLst>
          </p:cNvPr>
          <p:cNvGrpSpPr/>
          <p:nvPr/>
        </p:nvGrpSpPr>
        <p:grpSpPr>
          <a:xfrm>
            <a:off x="8044309" y="1922412"/>
            <a:ext cx="2679405" cy="1095154"/>
            <a:chOff x="4354967" y="2443989"/>
            <a:chExt cx="2679405" cy="1095154"/>
          </a:xfrm>
        </p:grpSpPr>
        <p:sp>
          <p:nvSpPr>
            <p:cNvPr id="22" name="Cube 21">
              <a:extLst>
                <a:ext uri="{FF2B5EF4-FFF2-40B4-BE49-F238E27FC236}">
                  <a16:creationId xmlns:a16="http://schemas.microsoft.com/office/drawing/2014/main" id="{7E60C3E7-8308-4529-B506-29AFDAA48503}"/>
                </a:ext>
              </a:extLst>
            </p:cNvPr>
            <p:cNvSpPr/>
            <p:nvPr/>
          </p:nvSpPr>
          <p:spPr bwMode="gray">
            <a:xfrm>
              <a:off x="4354967" y="2443989"/>
              <a:ext cx="2679405" cy="1095154"/>
            </a:xfrm>
            <a:prstGeom prst="cube">
              <a:avLst/>
            </a:prstGeom>
            <a:solidFill>
              <a:schemeClr val="accent3">
                <a:lumMod val="5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a:extLst>
                <a:ext uri="{FF2B5EF4-FFF2-40B4-BE49-F238E27FC236}">
                  <a16:creationId xmlns:a16="http://schemas.microsoft.com/office/drawing/2014/main" id="{4F659412-BB95-49A2-AD49-FD3E273CBB3C}"/>
                </a:ext>
              </a:extLst>
            </p:cNvPr>
            <p:cNvSpPr/>
            <p:nvPr/>
          </p:nvSpPr>
          <p:spPr bwMode="gray">
            <a:xfrm>
              <a:off x="4699533" y="2931074"/>
              <a:ext cx="1737655" cy="403825"/>
            </a:xfrm>
            <a:prstGeom prst="rect">
              <a:avLst/>
            </a:prstGeom>
            <a:solidFill>
              <a:schemeClr val="accent1"/>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solidFill>
                    <a:schemeClr val="bg1"/>
                  </a:solidFill>
                  <a:effectLst/>
                  <a:uLnTx/>
                  <a:uFillTx/>
                  <a:latin typeface="Arial Black" panose="020B0A04020102020204" pitchFamily="34" charset="0"/>
                  <a:ea typeface="Arial Unicode MS" pitchFamily="34" charset="-128"/>
                  <a:cs typeface="Arial Unicode MS" pitchFamily="34" charset="-128"/>
                </a:rPr>
                <a:t>nginx</a:t>
              </a:r>
              <a:endParaRPr kumimoji="0" lang="en-US" sz="1800" b="0" i="0" u="none" strike="noStrike" kern="0" cap="none" spc="0" normalizeH="0" baseline="0" noProof="0" dirty="0" err="1">
                <a:ln>
                  <a:noFill/>
                </a:ln>
                <a:solidFill>
                  <a:schemeClr val="bg1"/>
                </a:solidFill>
                <a:effectLst/>
                <a:uLnTx/>
                <a:uFillTx/>
                <a:latin typeface="Arial Black" panose="020B0A04020102020204" pitchFamily="34" charset="0"/>
                <a:ea typeface="Arial Unicode MS" pitchFamily="34" charset="-128"/>
                <a:cs typeface="Arial Unicode MS" pitchFamily="34" charset="-128"/>
              </a:endParaRPr>
            </a:p>
          </p:txBody>
        </p:sp>
      </p:grpSp>
      <p:sp>
        <p:nvSpPr>
          <p:cNvPr id="25" name="Cloud 24">
            <a:extLst>
              <a:ext uri="{FF2B5EF4-FFF2-40B4-BE49-F238E27FC236}">
                <a16:creationId xmlns:a16="http://schemas.microsoft.com/office/drawing/2014/main" id="{8DBA15A5-110B-428C-851E-2CD7236DE417}"/>
              </a:ext>
            </a:extLst>
          </p:cNvPr>
          <p:cNvSpPr/>
          <p:nvPr/>
        </p:nvSpPr>
        <p:spPr bwMode="gray">
          <a:xfrm>
            <a:off x="8115542" y="3606022"/>
            <a:ext cx="2284320" cy="720478"/>
          </a:xfrm>
          <a:prstGeom prst="cloud">
            <a:avLst/>
          </a:prstGeom>
          <a:solidFill>
            <a:schemeClr val="tx2">
              <a:lumMod val="7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1" i="0" u="none" strike="noStrike" kern="0" cap="none" spc="0" normalizeH="0" baseline="0" noProof="0" dirty="0" err="1">
              <a:ln>
                <a:noFill/>
              </a:ln>
              <a:solidFill>
                <a:schemeClr val="bg1"/>
              </a:solidFill>
              <a:effectLst/>
              <a:uLnTx/>
              <a:uFillTx/>
              <a:ea typeface="Arial Unicode MS" pitchFamily="34" charset="-128"/>
              <a:cs typeface="Arial Unicode MS" pitchFamily="34" charset="-128"/>
            </a:endParaRPr>
          </a:p>
        </p:txBody>
      </p:sp>
      <p:sp>
        <p:nvSpPr>
          <p:cNvPr id="2" name="Flowchart: Alternate Process 1">
            <a:extLst>
              <a:ext uri="{FF2B5EF4-FFF2-40B4-BE49-F238E27FC236}">
                <a16:creationId xmlns:a16="http://schemas.microsoft.com/office/drawing/2014/main" id="{DB70F776-BEB1-4E60-943D-E5D29A597CEF}"/>
              </a:ext>
            </a:extLst>
          </p:cNvPr>
          <p:cNvSpPr/>
          <p:nvPr/>
        </p:nvSpPr>
        <p:spPr bwMode="gray">
          <a:xfrm>
            <a:off x="8186953" y="4418071"/>
            <a:ext cx="2141498" cy="346927"/>
          </a:xfrm>
          <a:prstGeom prst="flowChartAlternateProcess">
            <a:avLst/>
          </a:prstGeom>
          <a:solidFill>
            <a:schemeClr val="accent5">
              <a:lumMod val="75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400" b="1" i="0" u="none" strike="noStrike" kern="0" cap="none" spc="0" normalizeH="0" baseline="0" noProof="0" dirty="0">
                <a:ln>
                  <a:noFill/>
                </a:ln>
                <a:solidFill>
                  <a:schemeClr val="bg1"/>
                </a:solidFill>
                <a:effectLst/>
                <a:uLnTx/>
                <a:uFillTx/>
                <a:ea typeface="Arial Unicode MS" pitchFamily="34" charset="-128"/>
                <a:cs typeface="Arial Unicode MS" pitchFamily="34" charset="-128"/>
              </a:rPr>
              <a:t>NAT</a:t>
            </a:r>
            <a:endParaRPr kumimoji="0" lang="en-US" sz="1400" b="1" i="0" u="none" strike="noStrike" kern="0" cap="none" spc="0" normalizeH="0" baseline="0" noProof="0" dirty="0" err="1">
              <a:ln>
                <a:noFill/>
              </a:ln>
              <a:solidFill>
                <a:schemeClr val="bg1"/>
              </a:solidFill>
              <a:effectLst/>
              <a:uLnTx/>
              <a:uFillTx/>
              <a:ea typeface="Arial Unicode MS" pitchFamily="34" charset="-128"/>
              <a:cs typeface="Arial Unicode MS" pitchFamily="34" charset="-128"/>
            </a:endParaRPr>
          </a:p>
        </p:txBody>
      </p:sp>
      <p:sp>
        <p:nvSpPr>
          <p:cNvPr id="27" name="Arrow: Chevron 26">
            <a:extLst>
              <a:ext uri="{FF2B5EF4-FFF2-40B4-BE49-F238E27FC236}">
                <a16:creationId xmlns:a16="http://schemas.microsoft.com/office/drawing/2014/main" id="{72C6E6D7-26DD-435C-8C38-DEA99C90C3AE}"/>
              </a:ext>
            </a:extLst>
          </p:cNvPr>
          <p:cNvSpPr/>
          <p:nvPr/>
        </p:nvSpPr>
        <p:spPr bwMode="gray">
          <a:xfrm rot="16200000">
            <a:off x="9588097" y="2845085"/>
            <a:ext cx="507492" cy="569375"/>
          </a:xfrm>
          <a:prstGeom prst="chevron">
            <a:avLst>
              <a:gd name="adj" fmla="val 23118"/>
            </a:avLst>
          </a:prstGeom>
          <a:solidFill>
            <a:schemeClr val="accent5"/>
          </a:solidFill>
          <a:ln w="6350" algn="ctr">
            <a:noFill/>
            <a:miter lim="800000"/>
            <a:headEnd/>
            <a:tailEnd/>
          </a:ln>
        </p:spPr>
        <p:txBody>
          <a:bodyPr vert="vert"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a:ln>
                  <a:noFill/>
                </a:ln>
                <a:effectLst/>
                <a:uLnTx/>
                <a:uFillTx/>
                <a:ea typeface="Arial Unicode MS" pitchFamily="34" charset="-128"/>
                <a:cs typeface="Arial Unicode MS" pitchFamily="34" charset="-128"/>
              </a:rPr>
              <a:t>:80</a:t>
            </a:r>
            <a:endParaRPr kumimoji="0" lang="en-US" sz="16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Arrow: Right 8">
            <a:extLst>
              <a:ext uri="{FF2B5EF4-FFF2-40B4-BE49-F238E27FC236}">
                <a16:creationId xmlns:a16="http://schemas.microsoft.com/office/drawing/2014/main" id="{ECE85BC9-8D34-4493-B376-7652AB116C1E}"/>
              </a:ext>
            </a:extLst>
          </p:cNvPr>
          <p:cNvSpPr/>
          <p:nvPr/>
        </p:nvSpPr>
        <p:spPr bwMode="gray">
          <a:xfrm rot="16200000">
            <a:off x="8983515" y="4017291"/>
            <a:ext cx="1716655" cy="282887"/>
          </a:xfrm>
          <a:prstGeom prst="rightArrow">
            <a:avLst/>
          </a:prstGeom>
          <a:solidFill>
            <a:schemeClr val="bg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4" name="Arrow: Chevron 23">
            <a:extLst>
              <a:ext uri="{FF2B5EF4-FFF2-40B4-BE49-F238E27FC236}">
                <a16:creationId xmlns:a16="http://schemas.microsoft.com/office/drawing/2014/main" id="{94448444-4948-4862-AB52-73B88EF71E61}"/>
              </a:ext>
            </a:extLst>
          </p:cNvPr>
          <p:cNvSpPr/>
          <p:nvPr/>
        </p:nvSpPr>
        <p:spPr bwMode="gray">
          <a:xfrm rot="16200000">
            <a:off x="9588097" y="4863153"/>
            <a:ext cx="507492" cy="569375"/>
          </a:xfrm>
          <a:prstGeom prst="chevron">
            <a:avLst>
              <a:gd name="adj" fmla="val 23118"/>
            </a:avLst>
          </a:prstGeom>
          <a:solidFill>
            <a:schemeClr val="accent4"/>
          </a:solidFill>
          <a:ln w="6350" algn="ctr">
            <a:noFill/>
            <a:miter lim="800000"/>
            <a:headEnd/>
            <a:tailEnd/>
          </a:ln>
        </p:spPr>
        <p:txBody>
          <a:bodyPr vert="vert"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a:ln>
                  <a:noFill/>
                </a:ln>
                <a:effectLst/>
                <a:uLnTx/>
                <a:uFillTx/>
                <a:ea typeface="Arial Unicode MS" pitchFamily="34" charset="-128"/>
                <a:cs typeface="Arial Unicode MS" pitchFamily="34" charset="-128"/>
              </a:rPr>
              <a:t>:81</a:t>
            </a:r>
            <a:endParaRPr kumimoji="0" lang="en-US" sz="1600" b="1"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504935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BEB1A8-C9D3-4723-A64F-42E02E22325A}"/>
              </a:ext>
            </a:extLst>
          </p:cNvPr>
          <p:cNvSpPr>
            <a:spLocks noGrp="1"/>
          </p:cNvSpPr>
          <p:nvPr>
            <p:ph type="title"/>
          </p:nvPr>
        </p:nvSpPr>
        <p:spPr/>
        <p:txBody>
          <a:bodyPr/>
          <a:lstStyle/>
          <a:p>
            <a:r>
              <a:rPr lang="en-US" dirty="0"/>
              <a:t>Demo</a:t>
            </a:r>
          </a:p>
        </p:txBody>
      </p:sp>
      <p:pic>
        <p:nvPicPr>
          <p:cNvPr id="6" name="Picture 5">
            <a:extLst>
              <a:ext uri="{FF2B5EF4-FFF2-40B4-BE49-F238E27FC236}">
                <a16:creationId xmlns:a16="http://schemas.microsoft.com/office/drawing/2014/main" id="{8D1ACC5F-52FE-4C32-9E61-49F09FCEB59D}"/>
              </a:ext>
            </a:extLst>
          </p:cNvPr>
          <p:cNvPicPr>
            <a:picLocks noChangeAspect="1"/>
          </p:cNvPicPr>
          <p:nvPr/>
        </p:nvPicPr>
        <p:blipFill>
          <a:blip r:embed="rId3"/>
          <a:stretch>
            <a:fillRect/>
          </a:stretch>
        </p:blipFill>
        <p:spPr>
          <a:xfrm>
            <a:off x="4521420" y="1853181"/>
            <a:ext cx="3151638" cy="3151638"/>
          </a:xfrm>
          <a:prstGeom prst="rect">
            <a:avLst/>
          </a:prstGeom>
        </p:spPr>
      </p:pic>
    </p:spTree>
    <p:extLst>
      <p:ext uri="{BB962C8B-B14F-4D97-AF65-F5344CB8AC3E}">
        <p14:creationId xmlns:p14="http://schemas.microsoft.com/office/powerpoint/2010/main" val="1472279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be 5">
            <a:extLst>
              <a:ext uri="{FF2B5EF4-FFF2-40B4-BE49-F238E27FC236}">
                <a16:creationId xmlns:a16="http://schemas.microsoft.com/office/drawing/2014/main" id="{7CD00E4C-2CF9-4E13-BF36-3251AC5788D3}"/>
              </a:ext>
            </a:extLst>
          </p:cNvPr>
          <p:cNvSpPr/>
          <p:nvPr/>
        </p:nvSpPr>
        <p:spPr bwMode="gray">
          <a:xfrm>
            <a:off x="504349" y="1323529"/>
            <a:ext cx="3738599" cy="3519693"/>
          </a:xfrm>
          <a:prstGeom prst="cube">
            <a:avLst>
              <a:gd name="adj" fmla="val 12493"/>
            </a:avLst>
          </a:prstGeom>
          <a:solidFill>
            <a:schemeClr val="accent3">
              <a:lumMod val="50000"/>
            </a:schemeClr>
          </a:solidFill>
          <a:ln w="6350" algn="ctr">
            <a:noFill/>
            <a:miter lim="800000"/>
            <a:headEnd/>
            <a:tailEnd/>
          </a:ln>
        </p:spPr>
        <p:txBody>
          <a:bodyPr lIns="90000" tIns="72000" rIns="90000" bIns="72000" rtlCol="0" anchor="t"/>
          <a:lstStyle/>
          <a:p>
            <a:pPr algn="ctr" defTabSz="914400" fontAlgn="base">
              <a:spcBef>
                <a:spcPct val="50000"/>
              </a:spcBef>
              <a:spcAft>
                <a:spcPct val="0"/>
              </a:spcAft>
              <a:buClr>
                <a:srgbClr val="F0AB00"/>
              </a:buClr>
              <a:buSzPct val="80000"/>
            </a:pPr>
            <a:r>
              <a:rPr lang="en-US" sz="1800" kern="0" dirty="0">
                <a:solidFill>
                  <a:schemeClr val="bg1"/>
                </a:solidFill>
                <a:ea typeface="Arial Unicode MS" pitchFamily="34" charset="-128"/>
              </a:rPr>
              <a:t>Container</a:t>
            </a:r>
          </a:p>
        </p:txBody>
      </p:sp>
      <p:sp>
        <p:nvSpPr>
          <p:cNvPr id="4" name="Title 3"/>
          <p:cNvSpPr>
            <a:spLocks noGrp="1"/>
          </p:cNvSpPr>
          <p:nvPr>
            <p:ph type="title"/>
          </p:nvPr>
        </p:nvSpPr>
        <p:spPr>
          <a:xfrm>
            <a:off x="504349" y="515646"/>
            <a:ext cx="11186476" cy="369332"/>
          </a:xfrm>
        </p:spPr>
        <p:txBody>
          <a:bodyPr/>
          <a:lstStyle/>
          <a:p>
            <a:r>
              <a:rPr lang="en-US" dirty="0"/>
              <a:t>Volumes</a:t>
            </a:r>
          </a:p>
        </p:txBody>
      </p:sp>
      <p:sp>
        <p:nvSpPr>
          <p:cNvPr id="19" name="Rectangle 18"/>
          <p:cNvSpPr/>
          <p:nvPr/>
        </p:nvSpPr>
        <p:spPr bwMode="gray">
          <a:xfrm>
            <a:off x="5198078" y="1323528"/>
            <a:ext cx="2399224" cy="3519694"/>
          </a:xfrm>
          <a:prstGeom prst="rect">
            <a:avLst/>
          </a:prstGeom>
          <a:solidFill>
            <a:schemeClr val="bg1">
              <a:lumMod val="95000"/>
            </a:schemeClr>
          </a:solidFill>
          <a:ln w="6350" algn="ctr">
            <a:solidFill>
              <a:schemeClr val="tx1"/>
            </a:solid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Local Filesystem</a:t>
            </a:r>
          </a:p>
        </p:txBody>
      </p:sp>
      <p:grpSp>
        <p:nvGrpSpPr>
          <p:cNvPr id="14" name="Group 13">
            <a:extLst>
              <a:ext uri="{FF2B5EF4-FFF2-40B4-BE49-F238E27FC236}">
                <a16:creationId xmlns:a16="http://schemas.microsoft.com/office/drawing/2014/main" id="{A5219D93-B028-4AFC-9A58-631CA6381F73}"/>
              </a:ext>
            </a:extLst>
          </p:cNvPr>
          <p:cNvGrpSpPr/>
          <p:nvPr/>
        </p:nvGrpSpPr>
        <p:grpSpPr>
          <a:xfrm>
            <a:off x="688057" y="3342671"/>
            <a:ext cx="2913925" cy="1167723"/>
            <a:chOff x="508988" y="3121001"/>
            <a:chExt cx="2913925" cy="1080875"/>
          </a:xfrm>
        </p:grpSpPr>
        <p:sp>
          <p:nvSpPr>
            <p:cNvPr id="15" name="Rectangle 14">
              <a:extLst>
                <a:ext uri="{FF2B5EF4-FFF2-40B4-BE49-F238E27FC236}">
                  <a16:creationId xmlns:a16="http://schemas.microsoft.com/office/drawing/2014/main" id="{E1F49C17-01F3-4D35-A58F-265D99D96ECB}"/>
                </a:ext>
              </a:extLst>
            </p:cNvPr>
            <p:cNvSpPr/>
            <p:nvPr/>
          </p:nvSpPr>
          <p:spPr bwMode="gray">
            <a:xfrm>
              <a:off x="508988" y="3121001"/>
              <a:ext cx="2913925" cy="1080875"/>
            </a:xfrm>
            <a:prstGeom prst="rect">
              <a:avLst/>
            </a:prstGeom>
            <a:solidFill>
              <a:schemeClr val="accent2">
                <a:lumMod val="20000"/>
                <a:lumOff val="80000"/>
              </a:schemeClr>
            </a:solidFill>
            <a:ln w="6350" algn="ctr">
              <a:solidFill>
                <a:schemeClr val="tx1"/>
              </a:solidFill>
              <a:miter lim="800000"/>
              <a:headEnd/>
              <a:tailEnd/>
            </a:ln>
          </p:spPr>
          <p:txBody>
            <a:bodyPr vert="vert270" lIns="90000" tIns="72000" rIns="90000" bIns="72000" rtlCol="0" anchor="t" anchorCtr="0"/>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1" i="1" u="none" strike="noStrike" kern="0" cap="none" spc="0" normalizeH="0" baseline="0" dirty="0">
                  <a:ln>
                    <a:noFill/>
                  </a:ln>
                  <a:effectLst/>
                  <a:uLnTx/>
                  <a:uFillTx/>
                  <a:ea typeface="Arial Unicode MS" pitchFamily="34" charset="-128"/>
                  <a:cs typeface="Arial Unicode MS" pitchFamily="34" charset="-128"/>
                </a:rPr>
                <a:t>Image</a:t>
              </a:r>
            </a:p>
          </p:txBody>
        </p:sp>
        <p:sp>
          <p:nvSpPr>
            <p:cNvPr id="16" name="Rectangle 15">
              <a:extLst>
                <a:ext uri="{FF2B5EF4-FFF2-40B4-BE49-F238E27FC236}">
                  <a16:creationId xmlns:a16="http://schemas.microsoft.com/office/drawing/2014/main" id="{6D0B2E5D-98B0-4EA4-A371-C48D4D9E0746}"/>
                </a:ext>
              </a:extLst>
            </p:cNvPr>
            <p:cNvSpPr/>
            <p:nvPr/>
          </p:nvSpPr>
          <p:spPr bwMode="gray">
            <a:xfrm>
              <a:off x="881430" y="3800405"/>
              <a:ext cx="2461079" cy="243559"/>
            </a:xfrm>
            <a:prstGeom prst="rect">
              <a:avLst/>
            </a:prstGeom>
            <a:solidFill>
              <a:schemeClr val="accent6">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100" b="0" i="0" u="none" strike="noStrike" kern="0" cap="none" spc="0" normalizeH="0" baseline="0" dirty="0">
                  <a:ln>
                    <a:noFill/>
                  </a:ln>
                  <a:solidFill>
                    <a:schemeClr val="bg1"/>
                  </a:solidFill>
                  <a:effectLst/>
                  <a:uLnTx/>
                  <a:uFillTx/>
                  <a:ea typeface="Arial Unicode MS" pitchFamily="34" charset="-128"/>
                  <a:cs typeface="Arial Unicode MS" pitchFamily="34" charset="-128"/>
                </a:rPr>
                <a:t>Debian</a:t>
              </a:r>
            </a:p>
          </p:txBody>
        </p:sp>
        <p:sp>
          <p:nvSpPr>
            <p:cNvPr id="18" name="Rectangle 17">
              <a:extLst>
                <a:ext uri="{FF2B5EF4-FFF2-40B4-BE49-F238E27FC236}">
                  <a16:creationId xmlns:a16="http://schemas.microsoft.com/office/drawing/2014/main" id="{DA5CED9C-6E2B-4F4C-A8AC-066852230908}"/>
                </a:ext>
              </a:extLst>
            </p:cNvPr>
            <p:cNvSpPr/>
            <p:nvPr/>
          </p:nvSpPr>
          <p:spPr bwMode="gray">
            <a:xfrm>
              <a:off x="881430" y="3492750"/>
              <a:ext cx="2461079" cy="243559"/>
            </a:xfrm>
            <a:prstGeom prst="rect">
              <a:avLst/>
            </a:prstGeom>
            <a:solidFill>
              <a:schemeClr val="accent3">
                <a:lumMod val="5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100" b="0" i="0" u="none" strike="noStrike" kern="0" cap="none" spc="0" normalizeH="0" baseline="0" dirty="0" err="1">
                  <a:ln>
                    <a:noFill/>
                  </a:ln>
                  <a:solidFill>
                    <a:schemeClr val="bg1"/>
                  </a:solidFill>
                  <a:effectLst/>
                  <a:uLnTx/>
                  <a:uFillTx/>
                  <a:ea typeface="Arial Unicode MS" pitchFamily="34" charset="-128"/>
                  <a:cs typeface="Arial Unicode MS" pitchFamily="34" charset="-128"/>
                </a:rPr>
                <a:t>nginx</a:t>
              </a:r>
              <a:endParaRPr kumimoji="0" lang="en-US" sz="11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20" name="Rectangle 19">
              <a:extLst>
                <a:ext uri="{FF2B5EF4-FFF2-40B4-BE49-F238E27FC236}">
                  <a16:creationId xmlns:a16="http://schemas.microsoft.com/office/drawing/2014/main" id="{6FD5F795-AAC0-4C79-A2E6-98F44A56A491}"/>
                </a:ext>
              </a:extLst>
            </p:cNvPr>
            <p:cNvSpPr/>
            <p:nvPr/>
          </p:nvSpPr>
          <p:spPr bwMode="gray">
            <a:xfrm>
              <a:off x="881430" y="3185095"/>
              <a:ext cx="2461079" cy="243559"/>
            </a:xfrm>
            <a:prstGeom prst="rect">
              <a:avLst/>
            </a:prstGeom>
            <a:solidFill>
              <a:schemeClr val="accent3">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100" kern="0" dirty="0">
                  <a:solidFill>
                    <a:schemeClr val="bg1"/>
                  </a:solidFill>
                  <a:ea typeface="Arial Unicode MS" pitchFamily="34" charset="-128"/>
                  <a:cs typeface="Arial Unicode MS" pitchFamily="34" charset="-128"/>
                </a:rPr>
                <a:t>PHP</a:t>
              </a:r>
              <a:endParaRPr kumimoji="0" lang="en-US" sz="11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grpSp>
      <p:sp>
        <p:nvSpPr>
          <p:cNvPr id="21" name="Rectangle 20">
            <a:extLst>
              <a:ext uri="{FF2B5EF4-FFF2-40B4-BE49-F238E27FC236}">
                <a16:creationId xmlns:a16="http://schemas.microsoft.com/office/drawing/2014/main" id="{2B2BD01B-EB58-48E3-A0ED-93FE6B10B9DF}"/>
              </a:ext>
            </a:extLst>
          </p:cNvPr>
          <p:cNvSpPr/>
          <p:nvPr/>
        </p:nvSpPr>
        <p:spPr bwMode="gray">
          <a:xfrm>
            <a:off x="688056" y="2266873"/>
            <a:ext cx="2913925" cy="867959"/>
          </a:xfrm>
          <a:prstGeom prst="rect">
            <a:avLst/>
          </a:prstGeom>
          <a:solidFill>
            <a:schemeClr val="accent4">
              <a:lumMod val="20000"/>
              <a:lumOff val="80000"/>
            </a:schemeClr>
          </a:solidFill>
          <a:ln>
            <a:headEnd/>
            <a:tailEnd/>
          </a:ln>
        </p:spPr>
        <p:style>
          <a:lnRef idx="2">
            <a:schemeClr val="accent4">
              <a:shade val="50000"/>
            </a:schemeClr>
          </a:lnRef>
          <a:fillRef idx="1">
            <a:schemeClr val="accent4"/>
          </a:fillRef>
          <a:effectRef idx="0">
            <a:schemeClr val="accent4"/>
          </a:effectRef>
          <a:fontRef idx="minor">
            <a:schemeClr val="lt1"/>
          </a:fontRef>
        </p:style>
        <p:txBody>
          <a:bodyPr lIns="540000" tIns="72000" rIns="90000" bIns="72000" rtlCol="0" anchor="ctr"/>
          <a:lstStyle/>
          <a:p>
            <a:pPr defTabSz="914400" fontAlgn="base">
              <a:spcBef>
                <a:spcPct val="50000"/>
              </a:spcBef>
              <a:spcAft>
                <a:spcPct val="0"/>
              </a:spcAft>
              <a:buClr>
                <a:srgbClr val="F0AB00"/>
              </a:buClr>
              <a:buSzPct val="80000"/>
            </a:pPr>
            <a:r>
              <a:rPr lang="en-US" sz="1400" b="1" kern="0" dirty="0">
                <a:ln w="0"/>
                <a:solidFill>
                  <a:schemeClr val="tx1">
                    <a:lumMod val="85000"/>
                    <a:lumOff val="15000"/>
                  </a:schemeClr>
                </a:solidFill>
                <a:ea typeface="Arial Unicode MS" pitchFamily="34" charset="-128"/>
                <a:cs typeface="Arial Unicode MS" pitchFamily="34" charset="-128"/>
              </a:rPr>
              <a:t>writable layer</a:t>
            </a:r>
            <a:endParaRPr kumimoji="0" lang="en-US" sz="1400" b="1" u="none" strike="noStrike" kern="0" normalizeH="0" baseline="0" dirty="0">
              <a:ln w="0"/>
              <a:solidFill>
                <a:schemeClr val="tx1">
                  <a:lumMod val="85000"/>
                  <a:lumOff val="15000"/>
                </a:schemeClr>
              </a:solidFill>
              <a:uLnTx/>
              <a:uFillTx/>
              <a:ea typeface="Arial Unicode MS" pitchFamily="34" charset="-128"/>
              <a:cs typeface="Arial Unicode MS" pitchFamily="34" charset="-128"/>
            </a:endParaRPr>
          </a:p>
        </p:txBody>
      </p:sp>
      <p:grpSp>
        <p:nvGrpSpPr>
          <p:cNvPr id="47" name="Group 46">
            <a:extLst>
              <a:ext uri="{FF2B5EF4-FFF2-40B4-BE49-F238E27FC236}">
                <a16:creationId xmlns:a16="http://schemas.microsoft.com/office/drawing/2014/main" id="{F886E96C-2ED2-4305-8D49-0BE88B0DB353}"/>
              </a:ext>
            </a:extLst>
          </p:cNvPr>
          <p:cNvGrpSpPr/>
          <p:nvPr/>
        </p:nvGrpSpPr>
        <p:grpSpPr>
          <a:xfrm>
            <a:off x="5606458" y="2130846"/>
            <a:ext cx="1289173" cy="2379548"/>
            <a:chOff x="7238951" y="2755075"/>
            <a:chExt cx="1289173" cy="2379548"/>
          </a:xfrm>
        </p:grpSpPr>
        <p:grpSp>
          <p:nvGrpSpPr>
            <p:cNvPr id="8" name="Group 7">
              <a:extLst>
                <a:ext uri="{FF2B5EF4-FFF2-40B4-BE49-F238E27FC236}">
                  <a16:creationId xmlns:a16="http://schemas.microsoft.com/office/drawing/2014/main" id="{B7ECFD49-E7D7-4303-B555-A6EEE434DC96}"/>
                </a:ext>
              </a:extLst>
            </p:cNvPr>
            <p:cNvGrpSpPr/>
            <p:nvPr/>
          </p:nvGrpSpPr>
          <p:grpSpPr>
            <a:xfrm>
              <a:off x="7597213" y="2932257"/>
              <a:ext cx="930911" cy="2202366"/>
              <a:chOff x="7537837" y="2911727"/>
              <a:chExt cx="930911" cy="2202366"/>
            </a:xfrm>
          </p:grpSpPr>
          <p:pic>
            <p:nvPicPr>
              <p:cNvPr id="17" name="Picture 16"/>
              <p:cNvPicPr>
                <a:picLocks noChangeAspect="1"/>
              </p:cNvPicPr>
              <p:nvPr/>
            </p:nvPicPr>
            <p:blipFill>
              <a:blip r:embed="rId3"/>
              <a:stretch>
                <a:fillRect/>
              </a:stretch>
            </p:blipFill>
            <p:spPr>
              <a:xfrm>
                <a:off x="7717768" y="2911727"/>
                <a:ext cx="571050" cy="571050"/>
              </a:xfrm>
              <a:prstGeom prst="rect">
                <a:avLst/>
              </a:prstGeom>
            </p:spPr>
          </p:pic>
          <p:pic>
            <p:nvPicPr>
              <p:cNvPr id="27" name="Picture 26"/>
              <p:cNvPicPr>
                <a:picLocks noChangeAspect="1"/>
              </p:cNvPicPr>
              <p:nvPr/>
            </p:nvPicPr>
            <p:blipFill>
              <a:blip r:embed="rId3"/>
              <a:stretch>
                <a:fillRect/>
              </a:stretch>
            </p:blipFill>
            <p:spPr>
              <a:xfrm>
                <a:off x="7724026" y="3457080"/>
                <a:ext cx="558534" cy="558534"/>
              </a:xfrm>
              <a:prstGeom prst="rect">
                <a:avLst/>
              </a:prstGeom>
            </p:spPr>
          </p:pic>
          <p:pic>
            <p:nvPicPr>
              <p:cNvPr id="29" name="Picture 28"/>
              <p:cNvPicPr>
                <a:picLocks noChangeAspect="1"/>
              </p:cNvPicPr>
              <p:nvPr/>
            </p:nvPicPr>
            <p:blipFill>
              <a:blip r:embed="rId3"/>
              <a:stretch>
                <a:fillRect/>
              </a:stretch>
            </p:blipFill>
            <p:spPr>
              <a:xfrm>
                <a:off x="7723174" y="4553855"/>
                <a:ext cx="560238" cy="560238"/>
              </a:xfrm>
              <a:prstGeom prst="rect">
                <a:avLst/>
              </a:prstGeom>
            </p:spPr>
          </p:pic>
          <p:pic>
            <p:nvPicPr>
              <p:cNvPr id="30" name="Picture 29"/>
              <p:cNvPicPr>
                <a:picLocks noChangeAspect="1"/>
              </p:cNvPicPr>
              <p:nvPr/>
            </p:nvPicPr>
            <p:blipFill>
              <a:blip r:embed="rId3"/>
              <a:stretch>
                <a:fillRect/>
              </a:stretch>
            </p:blipFill>
            <p:spPr>
              <a:xfrm>
                <a:off x="7537837" y="3823165"/>
                <a:ext cx="930911" cy="930911"/>
              </a:xfrm>
              <a:prstGeom prst="rect">
                <a:avLst/>
              </a:prstGeom>
            </p:spPr>
          </p:pic>
        </p:grpSp>
        <p:grpSp>
          <p:nvGrpSpPr>
            <p:cNvPr id="46" name="Group 45">
              <a:extLst>
                <a:ext uri="{FF2B5EF4-FFF2-40B4-BE49-F238E27FC236}">
                  <a16:creationId xmlns:a16="http://schemas.microsoft.com/office/drawing/2014/main" id="{34CFC0F4-F9A2-48BD-BCB7-4B42201CEFF9}"/>
                </a:ext>
              </a:extLst>
            </p:cNvPr>
            <p:cNvGrpSpPr/>
            <p:nvPr/>
          </p:nvGrpSpPr>
          <p:grpSpPr>
            <a:xfrm>
              <a:off x="7238951" y="2755075"/>
              <a:ext cx="544449" cy="2099429"/>
              <a:chOff x="7350826" y="2755075"/>
              <a:chExt cx="374486" cy="2099429"/>
            </a:xfrm>
          </p:grpSpPr>
          <p:cxnSp>
            <p:nvCxnSpPr>
              <p:cNvPr id="10" name="Straight Connector 9">
                <a:extLst>
                  <a:ext uri="{FF2B5EF4-FFF2-40B4-BE49-F238E27FC236}">
                    <a16:creationId xmlns:a16="http://schemas.microsoft.com/office/drawing/2014/main" id="{E183B98C-1BAE-4B03-9430-1594DB2EA6EE}"/>
                  </a:ext>
                </a:extLst>
              </p:cNvPr>
              <p:cNvCxnSpPr>
                <a:cxnSpLocks/>
              </p:cNvCxnSpPr>
              <p:nvPr/>
            </p:nvCxnSpPr>
            <p:spPr>
              <a:xfrm>
                <a:off x="7350826" y="2755075"/>
                <a:ext cx="0" cy="2099428"/>
              </a:xfrm>
              <a:prstGeom prst="line">
                <a:avLst/>
              </a:prstGeom>
              <a:ln w="317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20F7DB4-95BB-4ADA-A99B-5037980A2B59}"/>
                  </a:ext>
                </a:extLst>
              </p:cNvPr>
              <p:cNvCxnSpPr>
                <a:cxnSpLocks/>
                <a:stCxn id="29" idx="1"/>
              </p:cNvCxnSpPr>
              <p:nvPr/>
            </p:nvCxnSpPr>
            <p:spPr>
              <a:xfrm flipH="1">
                <a:off x="7350827" y="4854504"/>
                <a:ext cx="373901" cy="0"/>
              </a:xfrm>
              <a:prstGeom prst="line">
                <a:avLst/>
              </a:prstGeom>
              <a:ln w="317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965C9DD-E2CD-4FA8-A841-048E86ABCD5C}"/>
                  </a:ext>
                </a:extLst>
              </p:cNvPr>
              <p:cNvCxnSpPr>
                <a:cxnSpLocks/>
                <a:stCxn id="30" idx="1"/>
              </p:cNvCxnSpPr>
              <p:nvPr/>
            </p:nvCxnSpPr>
            <p:spPr>
              <a:xfrm flipH="1">
                <a:off x="7350827" y="4309151"/>
                <a:ext cx="246386" cy="0"/>
              </a:xfrm>
              <a:prstGeom prst="line">
                <a:avLst/>
              </a:prstGeom>
              <a:ln w="317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433907A-3D6E-4542-A5ED-3400BECB84FB}"/>
                  </a:ext>
                </a:extLst>
              </p:cNvPr>
              <p:cNvCxnSpPr>
                <a:cxnSpLocks/>
                <a:stCxn id="27" idx="1"/>
              </p:cNvCxnSpPr>
              <p:nvPr/>
            </p:nvCxnSpPr>
            <p:spPr>
              <a:xfrm flipH="1">
                <a:off x="7350836" y="3756877"/>
                <a:ext cx="374476" cy="0"/>
              </a:xfrm>
              <a:prstGeom prst="line">
                <a:avLst/>
              </a:prstGeom>
              <a:ln w="317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13428F3-C3AF-4E41-8CFF-C87AEE67790C}"/>
                  </a:ext>
                </a:extLst>
              </p:cNvPr>
              <p:cNvCxnSpPr>
                <a:cxnSpLocks/>
                <a:stCxn id="17" idx="1"/>
              </p:cNvCxnSpPr>
              <p:nvPr/>
            </p:nvCxnSpPr>
            <p:spPr>
              <a:xfrm flipH="1">
                <a:off x="7350827" y="3217782"/>
                <a:ext cx="370182" cy="0"/>
              </a:xfrm>
              <a:prstGeom prst="line">
                <a:avLst/>
              </a:prstGeom>
              <a:ln w="317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pic>
        <p:nvPicPr>
          <p:cNvPr id="48" name="Picture 47">
            <a:extLst>
              <a:ext uri="{FF2B5EF4-FFF2-40B4-BE49-F238E27FC236}">
                <a16:creationId xmlns:a16="http://schemas.microsoft.com/office/drawing/2014/main" id="{60B31A11-F3EB-4E98-817A-6B2847BE92C5}"/>
              </a:ext>
            </a:extLst>
          </p:cNvPr>
          <p:cNvPicPr>
            <a:picLocks noChangeAspect="1"/>
          </p:cNvPicPr>
          <p:nvPr/>
        </p:nvPicPr>
        <p:blipFill>
          <a:blip r:embed="rId3"/>
          <a:stretch>
            <a:fillRect/>
          </a:stretch>
        </p:blipFill>
        <p:spPr>
          <a:xfrm>
            <a:off x="2758371" y="2387239"/>
            <a:ext cx="633461" cy="633461"/>
          </a:xfrm>
          <a:prstGeom prst="rect">
            <a:avLst/>
          </a:prstGeom>
        </p:spPr>
      </p:pic>
      <p:sp>
        <p:nvSpPr>
          <p:cNvPr id="61" name="Speech Bubble: Rectangle 60">
            <a:extLst>
              <a:ext uri="{FF2B5EF4-FFF2-40B4-BE49-F238E27FC236}">
                <a16:creationId xmlns:a16="http://schemas.microsoft.com/office/drawing/2014/main" id="{5C5CB96B-C1DD-45A6-BA39-3340CA4C5EF9}"/>
              </a:ext>
            </a:extLst>
          </p:cNvPr>
          <p:cNvSpPr/>
          <p:nvPr/>
        </p:nvSpPr>
        <p:spPr bwMode="gray">
          <a:xfrm>
            <a:off x="1090375" y="5246229"/>
            <a:ext cx="2401326" cy="418823"/>
          </a:xfrm>
          <a:prstGeom prst="wedgeRectCallout">
            <a:avLst>
              <a:gd name="adj1" fmla="val 98049"/>
              <a:gd name="adj2" fmla="val -93088"/>
            </a:avLst>
          </a:prstGeom>
          <a:noFill/>
          <a:ln w="6350" algn="ctr">
            <a:solidFill>
              <a:srgbClr val="C0000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Volume mount</a:t>
            </a:r>
          </a:p>
        </p:txBody>
      </p:sp>
      <p:cxnSp>
        <p:nvCxnSpPr>
          <p:cNvPr id="26" name="Straight Connector 25">
            <a:extLst>
              <a:ext uri="{FF2B5EF4-FFF2-40B4-BE49-F238E27FC236}">
                <a16:creationId xmlns:a16="http://schemas.microsoft.com/office/drawing/2014/main" id="{ED15DC52-41D9-430D-8549-44698C9BA01C}"/>
              </a:ext>
            </a:extLst>
          </p:cNvPr>
          <p:cNvCxnSpPr>
            <a:cxnSpLocks/>
          </p:cNvCxnSpPr>
          <p:nvPr/>
        </p:nvCxnSpPr>
        <p:spPr>
          <a:xfrm>
            <a:off x="6895631" y="3684921"/>
            <a:ext cx="223325" cy="0"/>
          </a:xfrm>
          <a:prstGeom prst="line">
            <a:avLst/>
          </a:prstGeom>
          <a:ln w="50800" cap="rnd">
            <a:headEnd type="non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31" name="Straight Connector 30">
            <a:extLst>
              <a:ext uri="{FF2B5EF4-FFF2-40B4-BE49-F238E27FC236}">
                <a16:creationId xmlns:a16="http://schemas.microsoft.com/office/drawing/2014/main" id="{5FDE4011-0962-4593-8B90-63D731558D23}"/>
              </a:ext>
            </a:extLst>
          </p:cNvPr>
          <p:cNvCxnSpPr>
            <a:cxnSpLocks/>
          </p:cNvCxnSpPr>
          <p:nvPr/>
        </p:nvCxnSpPr>
        <p:spPr>
          <a:xfrm>
            <a:off x="7118956" y="3684921"/>
            <a:ext cx="0" cy="1401429"/>
          </a:xfrm>
          <a:prstGeom prst="line">
            <a:avLst/>
          </a:prstGeom>
          <a:ln w="50800" cap="rnd">
            <a:headEnd type="non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33" name="Straight Connector 32">
            <a:extLst>
              <a:ext uri="{FF2B5EF4-FFF2-40B4-BE49-F238E27FC236}">
                <a16:creationId xmlns:a16="http://schemas.microsoft.com/office/drawing/2014/main" id="{A363E0CE-6AF5-49EC-9B52-353268A1C6EC}"/>
              </a:ext>
            </a:extLst>
          </p:cNvPr>
          <p:cNvCxnSpPr>
            <a:cxnSpLocks/>
          </p:cNvCxnSpPr>
          <p:nvPr/>
        </p:nvCxnSpPr>
        <p:spPr>
          <a:xfrm flipH="1">
            <a:off x="4733926" y="5086350"/>
            <a:ext cx="2385030" cy="0"/>
          </a:xfrm>
          <a:prstGeom prst="line">
            <a:avLst/>
          </a:prstGeom>
          <a:ln w="50800" cap="rnd">
            <a:headEnd type="non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35" name="Straight Connector 34">
            <a:extLst>
              <a:ext uri="{FF2B5EF4-FFF2-40B4-BE49-F238E27FC236}">
                <a16:creationId xmlns:a16="http://schemas.microsoft.com/office/drawing/2014/main" id="{5541CB42-B963-4834-A3D6-F6D10D8E9804}"/>
              </a:ext>
            </a:extLst>
          </p:cNvPr>
          <p:cNvCxnSpPr/>
          <p:nvPr/>
        </p:nvCxnSpPr>
        <p:spPr>
          <a:xfrm flipV="1">
            <a:off x="4733925" y="2700852"/>
            <a:ext cx="0" cy="2375973"/>
          </a:xfrm>
          <a:prstGeom prst="line">
            <a:avLst/>
          </a:prstGeom>
          <a:ln w="50800" cap="rnd">
            <a:headEnd type="non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38" name="Straight Arrow Connector 37">
            <a:extLst>
              <a:ext uri="{FF2B5EF4-FFF2-40B4-BE49-F238E27FC236}">
                <a16:creationId xmlns:a16="http://schemas.microsoft.com/office/drawing/2014/main" id="{991A4A48-888F-424B-A51D-0176E5345C81}"/>
              </a:ext>
            </a:extLst>
          </p:cNvPr>
          <p:cNvCxnSpPr>
            <a:endCxn id="48" idx="3"/>
          </p:cNvCxnSpPr>
          <p:nvPr/>
        </p:nvCxnSpPr>
        <p:spPr>
          <a:xfrm flipH="1">
            <a:off x="3391832" y="2700852"/>
            <a:ext cx="1332568" cy="3118"/>
          </a:xfrm>
          <a:prstGeom prst="straightConnector1">
            <a:avLst/>
          </a:prstGeom>
          <a:ln w="50800" cap="rnd">
            <a:headEnd type="none" w="med" len="med"/>
            <a:tailEnd type="triangle"/>
          </a:ln>
        </p:spPr>
        <p:style>
          <a:lnRef idx="1">
            <a:schemeClr val="accent5"/>
          </a:lnRef>
          <a:fillRef idx="0">
            <a:schemeClr val="accent5"/>
          </a:fillRef>
          <a:effectRef idx="0">
            <a:schemeClr val="accent5"/>
          </a:effectRef>
          <a:fontRef idx="minor">
            <a:schemeClr val="tx1"/>
          </a:fontRef>
        </p:style>
      </p:cxnSp>
      <p:sp>
        <p:nvSpPr>
          <p:cNvPr id="49" name="Text Placeholder 10">
            <a:extLst>
              <a:ext uri="{FF2B5EF4-FFF2-40B4-BE49-F238E27FC236}">
                <a16:creationId xmlns:a16="http://schemas.microsoft.com/office/drawing/2014/main" id="{B66C6C8D-BCC1-4270-87F9-C211EF374EAB}"/>
              </a:ext>
            </a:extLst>
          </p:cNvPr>
          <p:cNvSpPr>
            <a:spLocks noGrp="1"/>
          </p:cNvSpPr>
          <p:nvPr>
            <p:ph type="body" sz="quarter" idx="10"/>
          </p:nvPr>
        </p:nvSpPr>
        <p:spPr>
          <a:xfrm>
            <a:off x="8262588" y="1323527"/>
            <a:ext cx="2957919" cy="3519693"/>
          </a:xfrm>
        </p:spPr>
        <p:txBody>
          <a:bodyPr anchor="ctr"/>
          <a:lstStyle/>
          <a:p>
            <a:r>
              <a:rPr lang="en-US" sz="1800" dirty="0"/>
              <a:t>Bind mounts</a:t>
            </a:r>
          </a:p>
          <a:p>
            <a:pPr lvl="1"/>
            <a:r>
              <a:rPr lang="en-US" sz="1600" dirty="0"/>
              <a:t>Hides everything in destination directory</a:t>
            </a:r>
          </a:p>
          <a:p>
            <a:pPr marL="0" lvl="1" indent="0">
              <a:buNone/>
            </a:pPr>
            <a:endParaRPr lang="en-US" sz="1600" dirty="0"/>
          </a:p>
          <a:p>
            <a:pPr marL="0" lvl="1" indent="0">
              <a:buNone/>
            </a:pPr>
            <a:r>
              <a:rPr lang="en-US" dirty="0"/>
              <a:t>Named volumes</a:t>
            </a:r>
          </a:p>
          <a:p>
            <a:pPr lvl="1"/>
            <a:r>
              <a:rPr lang="en-US" sz="1600" dirty="0"/>
              <a:t>Contents in container are </a:t>
            </a:r>
            <a:r>
              <a:rPr lang="en-US" sz="1600" i="1" dirty="0"/>
              <a:t>merged</a:t>
            </a:r>
            <a:r>
              <a:rPr lang="en-US" sz="1600" dirty="0"/>
              <a:t> with volume</a:t>
            </a:r>
          </a:p>
          <a:p>
            <a:pPr lvl="1"/>
            <a:r>
              <a:rPr lang="en-US" sz="1600" dirty="0"/>
              <a:t>No straightforward access from host</a:t>
            </a:r>
          </a:p>
        </p:txBody>
      </p:sp>
    </p:spTree>
    <p:extLst>
      <p:ext uri="{BB962C8B-B14F-4D97-AF65-F5344CB8AC3E}">
        <p14:creationId xmlns:p14="http://schemas.microsoft.com/office/powerpoint/2010/main" val="3492311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fade">
                                      <p:cBhvr>
                                        <p:cTn id="1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BEB1A8-C9D3-4723-A64F-42E02E22325A}"/>
              </a:ext>
            </a:extLst>
          </p:cNvPr>
          <p:cNvSpPr>
            <a:spLocks noGrp="1"/>
          </p:cNvSpPr>
          <p:nvPr>
            <p:ph type="title"/>
          </p:nvPr>
        </p:nvSpPr>
        <p:spPr/>
        <p:txBody>
          <a:bodyPr/>
          <a:lstStyle/>
          <a:p>
            <a:r>
              <a:rPr lang="en-US" dirty="0"/>
              <a:t>Demo</a:t>
            </a:r>
          </a:p>
        </p:txBody>
      </p:sp>
      <p:pic>
        <p:nvPicPr>
          <p:cNvPr id="6" name="Picture 5">
            <a:extLst>
              <a:ext uri="{FF2B5EF4-FFF2-40B4-BE49-F238E27FC236}">
                <a16:creationId xmlns:a16="http://schemas.microsoft.com/office/drawing/2014/main" id="{8D1ACC5F-52FE-4C32-9E61-49F09FCEB59D}"/>
              </a:ext>
            </a:extLst>
          </p:cNvPr>
          <p:cNvPicPr>
            <a:picLocks noChangeAspect="1"/>
          </p:cNvPicPr>
          <p:nvPr/>
        </p:nvPicPr>
        <p:blipFill>
          <a:blip r:embed="rId3"/>
          <a:stretch>
            <a:fillRect/>
          </a:stretch>
        </p:blipFill>
        <p:spPr>
          <a:xfrm>
            <a:off x="4521420" y="1853181"/>
            <a:ext cx="3151638" cy="3151638"/>
          </a:xfrm>
          <a:prstGeom prst="rect">
            <a:avLst/>
          </a:prstGeom>
        </p:spPr>
      </p:pic>
    </p:spTree>
    <p:extLst>
      <p:ext uri="{BB962C8B-B14F-4D97-AF65-F5344CB8AC3E}">
        <p14:creationId xmlns:p14="http://schemas.microsoft.com/office/powerpoint/2010/main" val="1806006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BEB1A8-C9D3-4723-A64F-42E02E22325A}"/>
              </a:ext>
            </a:extLst>
          </p:cNvPr>
          <p:cNvSpPr>
            <a:spLocks noGrp="1"/>
          </p:cNvSpPr>
          <p:nvPr>
            <p:ph type="title"/>
          </p:nvPr>
        </p:nvSpPr>
        <p:spPr/>
        <p:txBody>
          <a:bodyPr/>
          <a:lstStyle/>
          <a:p>
            <a:r>
              <a:rPr lang="en-US" dirty="0"/>
              <a:t>Exercise #3 – Ports and Volumes</a:t>
            </a:r>
          </a:p>
        </p:txBody>
      </p:sp>
      <p:pic>
        <p:nvPicPr>
          <p:cNvPr id="8" name="Picture 7">
            <a:extLst>
              <a:ext uri="{FF2B5EF4-FFF2-40B4-BE49-F238E27FC236}">
                <a16:creationId xmlns:a16="http://schemas.microsoft.com/office/drawing/2014/main" id="{D6B8C527-073F-471B-A282-22B63876CA6B}"/>
              </a:ext>
            </a:extLst>
          </p:cNvPr>
          <p:cNvPicPr>
            <a:picLocks noChangeAspect="1"/>
          </p:cNvPicPr>
          <p:nvPr/>
        </p:nvPicPr>
        <p:blipFill>
          <a:blip r:embed="rId3"/>
          <a:stretch>
            <a:fillRect/>
          </a:stretch>
        </p:blipFill>
        <p:spPr>
          <a:xfrm>
            <a:off x="4571712" y="1903473"/>
            <a:ext cx="3051054" cy="3051054"/>
          </a:xfrm>
          <a:prstGeom prst="rect">
            <a:avLst/>
          </a:prstGeom>
        </p:spPr>
      </p:pic>
    </p:spTree>
    <p:extLst>
      <p:ext uri="{BB962C8B-B14F-4D97-AF65-F5344CB8AC3E}">
        <p14:creationId xmlns:p14="http://schemas.microsoft.com/office/powerpoint/2010/main" val="2452954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436631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AP_2017_16x9_white">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white.potx" id="{09507692-57C8-4E82-A325-C2A287EE40F0}" vid="{EBED01C1-DD25-4F44-B246-2D1B402CEA63}"/>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13C8A4F00697141B6FA960F762861E8" ma:contentTypeVersion="7" ma:contentTypeDescription="Create a new document." ma:contentTypeScope="" ma:versionID="75679eb20af3838b1eab1fbe72fef032">
  <xsd:schema xmlns:xsd="http://www.w3.org/2001/XMLSchema" xmlns:xs="http://www.w3.org/2001/XMLSchema" xmlns:p="http://schemas.microsoft.com/office/2006/metadata/properties" xmlns:ns3="49a59b68-094c-48f7-af2b-0072ac24b77e" targetNamespace="http://schemas.microsoft.com/office/2006/metadata/properties" ma:root="true" ma:fieldsID="223f61b356e47f140bcb594d278c0c55" ns3:_="">
    <xsd:import namespace="49a59b68-094c-48f7-af2b-0072ac24b77e"/>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a59b68-094c-48f7-af2b-0072ac24b7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2223F73-0F08-4D22-88C9-602F4313BC72}">
  <ds:schemaRefs>
    <ds:schemaRef ds:uri="http://schemas.microsoft.com/sharepoint/v3/contenttype/forms"/>
  </ds:schemaRefs>
</ds:datastoreItem>
</file>

<file path=customXml/itemProps2.xml><?xml version="1.0" encoding="utf-8"?>
<ds:datastoreItem xmlns:ds="http://schemas.openxmlformats.org/officeDocument/2006/customXml" ds:itemID="{EE15B31B-466C-488E-B171-800C9BAA728E}">
  <ds:schemaRefs>
    <ds:schemaRef ds:uri="http://schemas.openxmlformats.org/package/2006/metadata/core-properties"/>
    <ds:schemaRef ds:uri="http://purl.org/dc/elements/1.1/"/>
    <ds:schemaRef ds:uri="http://purl.org/dc/terms/"/>
    <ds:schemaRef ds:uri="http://schemas.microsoft.com/office/2006/metadata/properties"/>
    <ds:schemaRef ds:uri="http://purl.org/dc/dcmitype/"/>
    <ds:schemaRef ds:uri="http://schemas.microsoft.com/office/2006/documentManagement/types"/>
    <ds:schemaRef ds:uri="http://schemas.microsoft.com/office/infopath/2007/PartnerControls"/>
    <ds:schemaRef ds:uri="49a59b68-094c-48f7-af2b-0072ac24b77e"/>
    <ds:schemaRef ds:uri="http://www.w3.org/XML/1998/namespace"/>
  </ds:schemaRefs>
</ds:datastoreItem>
</file>

<file path=customXml/itemProps3.xml><?xml version="1.0" encoding="utf-8"?>
<ds:datastoreItem xmlns:ds="http://schemas.openxmlformats.org/officeDocument/2006/customXml" ds:itemID="{9234AC07-8006-4F61-93F8-4AB6A04320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9a59b68-094c-48f7-af2b-0072ac24b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15</TotalTime>
  <Words>1401</Words>
  <Application>Microsoft Office PowerPoint</Application>
  <PresentationFormat>Custom</PresentationFormat>
  <Paragraphs>128</Paragraphs>
  <Slides>9</Slides>
  <Notes>8</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Arial Black</vt:lpstr>
      <vt:lpstr>Calibri</vt:lpstr>
      <vt:lpstr>Courier New</vt:lpstr>
      <vt:lpstr>Symbol</vt:lpstr>
      <vt:lpstr>Wingdings</vt:lpstr>
      <vt:lpstr>Wingdings</vt:lpstr>
      <vt:lpstr>SAP_2017_16x9_white</vt:lpstr>
      <vt:lpstr>PowerPoint Presentation</vt:lpstr>
      <vt:lpstr>Docker networking</vt:lpstr>
      <vt:lpstr>Port forwarding</vt:lpstr>
      <vt:lpstr>Demo</vt:lpstr>
      <vt:lpstr>Volumes</vt:lpstr>
      <vt:lpstr>Demo</vt:lpstr>
      <vt:lpstr>Exercise #3 – Ports and Volumes</vt:lpstr>
      <vt:lpstr>PowerPoint Presentation</vt:lpstr>
      <vt:lpstr>PowerPoint Presentation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2017/16:9/white</cp:keywords>
  <cp:lastModifiedBy>Buchner, Thomas</cp:lastModifiedBy>
  <cp:revision>638</cp:revision>
  <dcterms:created xsi:type="dcterms:W3CDTF">2015-10-14T11:21:43Z</dcterms:created>
  <dcterms:modified xsi:type="dcterms:W3CDTF">2023-01-11T14:13:54Z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1357826825</vt:i4>
  </property>
  <property fmtid="{D5CDD505-2E9C-101B-9397-08002B2CF9AE}" pid="3" name="_NewReviewCycle">
    <vt:lpwstr/>
  </property>
  <property fmtid="{D5CDD505-2E9C-101B-9397-08002B2CF9AE}" pid="4" name="_EmailSubject">
    <vt:lpwstr>Color Palette/Stationery Next Steps </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ContentTypeId">
    <vt:lpwstr>0x010100413C8A4F00697141B6FA960F762861E8</vt:lpwstr>
  </property>
</Properties>
</file>