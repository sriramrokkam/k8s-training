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5"/>
  </p:notesMasterIdLst>
  <p:handoutMasterIdLst>
    <p:handoutMasterId r:id="rId16"/>
  </p:handoutMasterIdLst>
  <p:sldIdLst>
    <p:sldId id="433" r:id="rId2"/>
    <p:sldId id="442" r:id="rId3"/>
    <p:sldId id="446" r:id="rId4"/>
    <p:sldId id="450" r:id="rId5"/>
    <p:sldId id="518" r:id="rId6"/>
    <p:sldId id="516" r:id="rId7"/>
    <p:sldId id="449" r:id="rId8"/>
    <p:sldId id="454" r:id="rId9"/>
    <p:sldId id="447" r:id="rId10"/>
    <p:sldId id="517" r:id="rId11"/>
    <p:sldId id="448" r:id="rId12"/>
    <p:sldId id="515" r:id="rId13"/>
    <p:sldId id="265" r:id="rId14"/>
  </p:sldIdLst>
  <p:sldSz cx="12195175" cy="6858000"/>
  <p:notesSz cx="20561300" cy="29452888"/>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9278" userDrawn="1">
          <p15:clr>
            <a:srgbClr val="A4A3A4"/>
          </p15:clr>
        </p15:guide>
        <p15:guide id="2" pos="647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74239" autoAdjust="0"/>
  </p:normalViewPr>
  <p:slideViewPr>
    <p:cSldViewPr snapToGrid="0" showGuides="1">
      <p:cViewPr varScale="1">
        <p:scale>
          <a:sx n="117" d="100"/>
          <a:sy n="117" d="100"/>
        </p:scale>
        <p:origin x="1254" y="96"/>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99" d="100"/>
          <a:sy n="99" d="100"/>
        </p:scale>
        <p:origin x="3570" y="90"/>
      </p:cViewPr>
      <p:guideLst>
        <p:guide orient="horz" pos="9278"/>
        <p:guide pos="647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825702" y="27975131"/>
            <a:ext cx="8909897" cy="1472645"/>
          </a:xfrm>
          <a:prstGeom prst="rect">
            <a:avLst/>
          </a:prstGeom>
        </p:spPr>
        <p:txBody>
          <a:bodyPr vert="horz" lIns="275170" tIns="137585" rIns="275170" bIns="137585" rtlCol="0" anchor="b"/>
          <a:lstStyle>
            <a:lvl1pPr algn="r">
              <a:defRPr sz="3600"/>
            </a:lvl1pPr>
          </a:lstStyle>
          <a:p>
            <a:pPr algn="ctr"/>
            <a:fld id="{47855BD9-AF71-426C-9B9B-B0E52B88852E}" type="slidenum">
              <a:rPr lang="de-DE" sz="3000"/>
              <a:pPr algn="ctr"/>
              <a:t>‹#›</a:t>
            </a:fld>
            <a:endParaRPr lang="de-DE" sz="3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98538" y="1974850"/>
            <a:ext cx="18564225" cy="10439400"/>
          </a:xfrm>
          <a:prstGeom prst="rect">
            <a:avLst/>
          </a:prstGeom>
          <a:noFill/>
          <a:ln w="12700">
            <a:solidFill>
              <a:prstClr val="black"/>
            </a:solidFill>
          </a:ln>
        </p:spPr>
        <p:txBody>
          <a:bodyPr vert="horz" lIns="275170" tIns="137585" rIns="275170" bIns="137585" rtlCol="0" anchor="ctr"/>
          <a:lstStyle/>
          <a:p>
            <a:endParaRPr lang="de-DE" dirty="0"/>
          </a:p>
        </p:txBody>
      </p:sp>
      <p:sp>
        <p:nvSpPr>
          <p:cNvPr id="5" name="Notes Placeholder 4"/>
          <p:cNvSpPr>
            <a:spLocks noGrp="1"/>
          </p:cNvSpPr>
          <p:nvPr>
            <p:ph type="body" sz="quarter" idx="3"/>
          </p:nvPr>
        </p:nvSpPr>
        <p:spPr>
          <a:xfrm>
            <a:off x="1645984" y="13271070"/>
            <a:ext cx="17269333" cy="146992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8867059" y="28782022"/>
            <a:ext cx="2827183" cy="661460"/>
          </a:xfrm>
          <a:prstGeom prst="rect">
            <a:avLst/>
          </a:prstGeom>
        </p:spPr>
        <p:txBody>
          <a:bodyPr vert="horz" lIns="275170" tIns="137585" rIns="275170" bIns="137585" rtlCol="0" anchor="b"/>
          <a:lstStyle>
            <a:lvl1pPr algn="ctr">
              <a:defRPr sz="24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130138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 isolation of individual apps is one of many goals achieved with container technology, it introduces new issues. </a:t>
            </a:r>
          </a:p>
          <a:p>
            <a:r>
              <a:rPr lang="en-US" dirty="0"/>
              <a:t>How should these container work together? </a:t>
            </a:r>
          </a:p>
          <a:p>
            <a:r>
              <a:rPr lang="en-US" dirty="0"/>
              <a:t>How can the communicate?</a:t>
            </a:r>
          </a:p>
          <a:p>
            <a:endParaRPr lang="en-US" dirty="0"/>
          </a:p>
          <a:p>
            <a:r>
              <a:rPr lang="en-US" dirty="0"/>
              <a:t>Kubernetes helps with an advanced network concepts as well as service discovery features.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2753081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218542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takes a “construction plan” and instantiates it as often as you want – as long as you have enough resources</a:t>
            </a:r>
          </a:p>
          <a:p>
            <a:r>
              <a:rPr lang="en-US" dirty="0"/>
              <a:t>What you describe, is what you get.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266914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takes a “construction plan” and instantiates it as often as you want – as long as you have enough resources</a:t>
            </a:r>
          </a:p>
          <a:p>
            <a:r>
              <a:rPr lang="en-US" dirty="0"/>
              <a:t>What you describe, is what you get.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1493564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orchestrates your workloads &amp; applications – also several of them in parallel.</a:t>
            </a:r>
          </a:p>
          <a:p>
            <a:r>
              <a:rPr lang="en-US" dirty="0"/>
              <a:t>In order to put this picture together, we will look at different dimensions during the training</a:t>
            </a:r>
            <a:r>
              <a:rPr lang="en-US"/>
              <a:t>. </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2088780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859907" indent="-859907">
              <a:buFontTx/>
              <a:buChar char="-"/>
            </a:pPr>
            <a:r>
              <a:rPr lang="en-US" dirty="0"/>
              <a:t>The demo is based on the “sock shop” e-commerce platform developed by </a:t>
            </a:r>
            <a:r>
              <a:rPr lang="en-US" dirty="0" err="1"/>
              <a:t>weaveworks</a:t>
            </a:r>
            <a:r>
              <a:rPr lang="en-US" dirty="0"/>
              <a:t>. This is a full-blown demo application, including content – however you have to wait ~2min until the content is fully loaded. </a:t>
            </a:r>
          </a:p>
          <a:p>
            <a:pPr marL="859907" indent="-859907">
              <a:buFontTx/>
              <a:buChar char="-"/>
            </a:pPr>
            <a:endParaRPr lang="en-US" dirty="0"/>
          </a:p>
          <a:p>
            <a:pPr marL="859907" indent="-859907">
              <a:buFontTx/>
              <a:buChar char="-"/>
            </a:pPr>
            <a:r>
              <a:rPr lang="en-US" dirty="0"/>
              <a:t>To demo use the sock-</a:t>
            </a:r>
            <a:r>
              <a:rPr lang="en-US" dirty="0" err="1"/>
              <a:t>shop.yaml</a:t>
            </a:r>
            <a:r>
              <a:rPr lang="en-US" dirty="0"/>
              <a:t> from the </a:t>
            </a:r>
            <a:r>
              <a:rPr lang="en-US" dirty="0" err="1"/>
              <a:t>kubernetes</a:t>
            </a:r>
            <a:r>
              <a:rPr lang="en-US" dirty="0"/>
              <a:t>/demo folder to deploy all components. Adapt the host on the Ingress according to the cluster-name and project-name, used within your training (line with ‘host: sock-</a:t>
            </a:r>
            <a:r>
              <a:rPr lang="en-US" dirty="0" err="1"/>
              <a:t>shop.ingress</a:t>
            </a:r>
            <a:r>
              <a:rPr lang="en-US" dirty="0"/>
              <a:t>.&lt;cluster-name&gt;.&lt;project-name&gt;.shoot.canary.k8s-hana.ondemand.com’) before you call ‘</a:t>
            </a:r>
            <a:r>
              <a:rPr lang="en-US" dirty="0" err="1"/>
              <a:t>kubectl</a:t>
            </a:r>
            <a:r>
              <a:rPr lang="en-US" dirty="0"/>
              <a:t> apply –f sock-</a:t>
            </a:r>
            <a:r>
              <a:rPr lang="en-US" dirty="0" err="1"/>
              <a:t>shop.yaml</a:t>
            </a:r>
            <a:r>
              <a:rPr lang="en-US" dirty="0"/>
              <a:t>’.</a:t>
            </a:r>
          </a:p>
          <a:p>
            <a:pPr marL="859907" indent="-859907">
              <a:buFontTx/>
              <a:buChar char="-"/>
            </a:pPr>
            <a:endParaRPr lang="en-US" dirty="0"/>
          </a:p>
          <a:p>
            <a:pPr marL="859907" indent="-859907">
              <a:buFontTx/>
              <a:buChar char="-"/>
            </a:pPr>
            <a:r>
              <a:rPr lang="en-US" dirty="0"/>
              <a:t>To show how K8s works, just delete a pod and see how the sock-shop still works properly.</a:t>
            </a:r>
          </a:p>
          <a:p>
            <a:pPr marL="859907" indent="-859907">
              <a:buFontTx/>
              <a:buChar char="-"/>
            </a:pPr>
            <a:endParaRPr lang="en-US" dirty="0"/>
          </a:p>
          <a:p>
            <a:pPr marL="859907" indent="-859907">
              <a:buFontTx/>
              <a:buChar char="-"/>
            </a:pPr>
            <a:r>
              <a:rPr lang="en-US" dirty="0"/>
              <a:t>You can find all needed K8s entities in the namespace ‘sock-shop’, which gets automatically created.</a:t>
            </a:r>
          </a:p>
          <a:p>
            <a:pPr marL="859907" indent="-859907">
              <a:buFontTx/>
              <a:buChar char="-"/>
            </a:pPr>
            <a:endParaRPr lang="en-US" dirty="0"/>
          </a:p>
          <a:p>
            <a:pPr marL="859907" indent="-859907">
              <a:buFontTx/>
              <a:buChar char="-"/>
            </a:pPr>
            <a:r>
              <a:rPr lang="en-US" dirty="0"/>
              <a:t>The URL to call the sock-shop in the browser is: sock-</a:t>
            </a:r>
            <a:r>
              <a:rPr lang="en-US" dirty="0" err="1"/>
              <a:t>shop.ingress</a:t>
            </a:r>
            <a:r>
              <a:rPr lang="en-US" dirty="0"/>
              <a:t>.&lt;cluster-name&gt;.&lt;project-name&gt;.shoot.canary.k8s-hana.ondemand.com (e.g. http://sock-shop.ingress.wdfcw43a.k8s-train.shoot.canary.k8s-hana.ondemand.com/)</a:t>
            </a:r>
          </a:p>
          <a:p>
            <a:pPr marL="859907" indent="-859907">
              <a:buFontTx/>
              <a:buChar char="-"/>
            </a:pPr>
            <a:endParaRPr lang="en-US" dirty="0"/>
          </a:p>
          <a:p>
            <a:pPr marL="859907" indent="-859907">
              <a:buFontTx/>
              <a:buChar char="-"/>
            </a:pPr>
            <a:r>
              <a:rPr lang="en-US" dirty="0"/>
              <a:t>The design of the sock-shop is based a micro-services architecture and was containerized appropriately. See https://github.com/microservices-demo/microservices-demo/blob/master/internal-docs/design.md for further details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711056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467728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146731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itself is something between infrastructure and platform. It is not as opinionated as cloud foundry but provides more than pure IaaS provider.</a:t>
            </a:r>
          </a:p>
          <a:p>
            <a:r>
              <a:rPr lang="en-US" dirty="0"/>
              <a:t>When combining K8s with addons such as </a:t>
            </a:r>
            <a:r>
              <a:rPr lang="en-US" dirty="0" err="1"/>
              <a:t>Kyma</a:t>
            </a:r>
            <a:r>
              <a:rPr lang="en-US" dirty="0"/>
              <a:t> or </a:t>
            </a:r>
            <a:r>
              <a:rPr lang="en-US" dirty="0" err="1"/>
              <a:t>Knative</a:t>
            </a:r>
            <a:r>
              <a:rPr lang="en-US" dirty="0"/>
              <a:t>, it is possible to move up the stack and provider higher level services.</a:t>
            </a:r>
          </a:p>
          <a:p>
            <a:endParaRPr lang="en-US" dirty="0"/>
          </a:p>
          <a:p>
            <a:r>
              <a:rPr lang="en-US" dirty="0"/>
              <a:t>If there has to be a classification, it’s probably fair to say that K8s provides a runtime environment for applications of all kind</a:t>
            </a:r>
            <a:r>
              <a:rPr lang="en-US"/>
              <a:t>. </a:t>
            </a:r>
            <a:endParaRPr lang="en-US" dirty="0"/>
          </a:p>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3588197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
        <p:nvSpPr>
          <p:cNvPr id="6" name="Slide Image Placeholder 5"/>
          <p:cNvSpPr>
            <a:spLocks noGrp="1" noRot="1" noChangeAspect="1"/>
          </p:cNvSpPr>
          <p:nvPr>
            <p:ph type="sldImg"/>
          </p:nvPr>
        </p:nvSpPr>
        <p:spPr>
          <a:xfrm>
            <a:off x="998538" y="1974850"/>
            <a:ext cx="18564225" cy="10439400"/>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hyperlink" Target="https://i.kym-cdn.com/photos/images/original/001/142/233/897.gi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hyperlink" Target="https://twitter.com/IanColdwater/status/1315850704016285702?s=20" TargetMode="External"/><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6.xml"/><Relationship Id="rId16" Type="http://schemas.openxmlformats.org/officeDocument/2006/relationships/image" Target="../media/image23.svg"/><Relationship Id="rId1" Type="http://schemas.openxmlformats.org/officeDocument/2006/relationships/slideLayout" Target="../slideLayouts/slideLayout8.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hyperlink" Target="https://kubernetes.io/docs/home/"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twitter.com/memenetes/status/1305612451443023876?s=20" TargetMode="Externa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kubernetes/community/blob/master/communication.md"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hyperlink" Target="https://groups.google.com/forum/#!forum/kubernetes-users" TargetMode="External"/><Relationship Id="rId5" Type="http://schemas.openxmlformats.org/officeDocument/2006/relationships/hyperlink" Target="https://github.com/kubernetes" TargetMode="Externa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30.png"/><Relationship Id="rId5" Type="http://schemas.openxmlformats.org/officeDocument/2006/relationships/image" Target="../media/image2.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a:xfrm>
            <a:off x="450197" y="954659"/>
            <a:ext cx="10899174" cy="997196"/>
          </a:xfrm>
        </p:spPr>
        <p:txBody>
          <a:bodyPr/>
          <a:lstStyle/>
          <a:p>
            <a:r>
              <a:rPr lang="en-US" dirty="0"/>
              <a:t>An (non-technical) introduction to</a:t>
            </a:r>
          </a:p>
          <a:p>
            <a:r>
              <a:rPr lang="en-US" dirty="0">
                <a:solidFill>
                  <a:schemeClr val="accent1"/>
                </a:solidFill>
              </a:rPr>
              <a:t>Kubernetes</a:t>
            </a:r>
          </a:p>
        </p:txBody>
      </p:sp>
      <p:pic>
        <p:nvPicPr>
          <p:cNvPr id="1028" name="Picture 4" descr="Bildergebnis für kuberne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6985" y="2142308"/>
            <a:ext cx="3725598" cy="37255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01" y="504000"/>
            <a:ext cx="11186476" cy="553998"/>
          </a:xfrm>
        </p:spPr>
        <p:txBody>
          <a:bodyPr/>
          <a:lstStyle/>
          <a:p>
            <a:pPr algn="ctr"/>
            <a:r>
              <a:rPr lang="en-US" sz="3600" dirty="0"/>
              <a:t>We have isolated containers!</a:t>
            </a:r>
          </a:p>
        </p:txBody>
      </p:sp>
      <p:pic>
        <p:nvPicPr>
          <p:cNvPr id="1026" name="Picture 2" descr="https://i.kym-cdn.com/photos/images/original/001/142/233/897.gif">
            <a:extLst>
              <a:ext uri="{FF2B5EF4-FFF2-40B4-BE49-F238E27FC236}">
                <a16:creationId xmlns:a16="http://schemas.microsoft.com/office/drawing/2014/main" id="{1BB82D96-E312-4B93-8E2A-1376E90FB9B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577186" y="1832469"/>
            <a:ext cx="7040802" cy="35204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D590C08-612C-4505-A457-A42E8D833E1D}"/>
              </a:ext>
            </a:extLst>
          </p:cNvPr>
          <p:cNvSpPr/>
          <p:nvPr/>
        </p:nvSpPr>
        <p:spPr>
          <a:xfrm>
            <a:off x="2635934" y="5529141"/>
            <a:ext cx="7586782" cy="338554"/>
          </a:xfrm>
          <a:prstGeom prst="rect">
            <a:avLst/>
          </a:prstGeom>
        </p:spPr>
        <p:txBody>
          <a:bodyPr wrap="square">
            <a:spAutoFit/>
          </a:bodyPr>
          <a:lstStyle/>
          <a:p>
            <a:pPr algn="ctr"/>
            <a:r>
              <a:rPr lang="en-US" sz="1600" dirty="0">
                <a:hlinkClick r:id="rId4"/>
              </a:rPr>
              <a:t>https://i.kym-cdn.com/photos/images/original/001/142/233/897.gif</a:t>
            </a:r>
            <a:r>
              <a:rPr lang="en-US" sz="1600" dirty="0"/>
              <a:t> </a:t>
            </a:r>
          </a:p>
        </p:txBody>
      </p:sp>
    </p:spTree>
    <p:extLst>
      <p:ext uri="{BB962C8B-B14F-4D97-AF65-F5344CB8AC3E}">
        <p14:creationId xmlns:p14="http://schemas.microsoft.com/office/powerpoint/2010/main" val="2698542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1" y="443040"/>
            <a:ext cx="11186476" cy="369332"/>
          </a:xfrm>
        </p:spPr>
        <p:txBody>
          <a:bodyPr/>
          <a:lstStyle/>
          <a:p>
            <a:r>
              <a:rPr lang="en-US" dirty="0"/>
              <a:t>So, what is this Kubernetes all about then?</a:t>
            </a: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21" y="3213020"/>
            <a:ext cx="2247900" cy="29337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435421" y="1117286"/>
            <a:ext cx="10285412" cy="1938992"/>
          </a:xfrm>
          <a:prstGeom prst="rect">
            <a:avLst/>
          </a:prstGeom>
        </p:spPr>
        <p:txBody>
          <a:bodyPr wrap="square">
            <a:spAutoFit/>
          </a:bodyPr>
          <a:lstStyle/>
          <a:p>
            <a:r>
              <a:rPr lang="en-US" sz="2000" b="1" dirty="0"/>
              <a:t>Do you remember, how fun it was to …</a:t>
            </a:r>
          </a:p>
          <a:p>
            <a:pPr marL="342900" indent="-342900">
              <a:buFont typeface="Wingdings" panose="05000000000000000000" pitchFamily="2" charset="2"/>
              <a:buChar char="§"/>
            </a:pPr>
            <a:r>
              <a:rPr lang="en-US" sz="2000" b="1" dirty="0"/>
              <a:t>start and stop every container?</a:t>
            </a:r>
          </a:p>
          <a:p>
            <a:pPr marL="342900" indent="-342900">
              <a:buFont typeface="Wingdings" panose="05000000000000000000" pitchFamily="2" charset="2"/>
              <a:buChar char="§"/>
            </a:pPr>
            <a:r>
              <a:rPr lang="en-US" sz="2000" b="1" dirty="0"/>
              <a:t>map ports and don’t get confused?</a:t>
            </a:r>
          </a:p>
          <a:p>
            <a:pPr marL="342900" indent="-342900">
              <a:buFont typeface="Wingdings" panose="05000000000000000000" pitchFamily="2" charset="2"/>
              <a:buChar char="§"/>
            </a:pPr>
            <a:r>
              <a:rPr lang="en-US" sz="2000" b="1" dirty="0"/>
              <a:t>check the health of a container?</a:t>
            </a:r>
          </a:p>
          <a:p>
            <a:pPr marL="342900" indent="-342900">
              <a:buFont typeface="Wingdings" panose="05000000000000000000" pitchFamily="2" charset="2"/>
              <a:buChar char="§"/>
            </a:pPr>
            <a:r>
              <a:rPr lang="en-US" sz="2000" b="1" dirty="0"/>
              <a:t>miss a volume on a different host?</a:t>
            </a:r>
          </a:p>
          <a:p>
            <a:pPr marL="342900" indent="-342900">
              <a:buFont typeface="Wingdings" panose="05000000000000000000" pitchFamily="2" charset="2"/>
              <a:buChar char="§"/>
            </a:pPr>
            <a:r>
              <a:rPr lang="en-US" sz="2000" b="1" dirty="0"/>
              <a:t>…</a:t>
            </a:r>
          </a:p>
        </p:txBody>
      </p:sp>
      <p:pic>
        <p:nvPicPr>
          <p:cNvPr id="14"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4521" y="3213020"/>
            <a:ext cx="2247900" cy="29337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3621" y="3213020"/>
            <a:ext cx="2247900" cy="29337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2721" y="3213020"/>
            <a:ext cx="2247900"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66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 tell me…</a:t>
            </a:r>
          </a:p>
        </p:txBody>
      </p:sp>
      <p:pic>
        <p:nvPicPr>
          <p:cNvPr id="9" name="Picture 8">
            <a:extLst>
              <a:ext uri="{FF2B5EF4-FFF2-40B4-BE49-F238E27FC236}">
                <a16:creationId xmlns:a16="http://schemas.microsoft.com/office/drawing/2014/main" id="{726EC35F-FB30-42DA-B9B9-ADC511AFC363}"/>
              </a:ext>
            </a:extLst>
          </p:cNvPr>
          <p:cNvPicPr>
            <a:picLocks noChangeAspect="1"/>
          </p:cNvPicPr>
          <p:nvPr/>
        </p:nvPicPr>
        <p:blipFill>
          <a:blip r:embed="rId3"/>
          <a:stretch>
            <a:fillRect/>
          </a:stretch>
        </p:blipFill>
        <p:spPr>
          <a:xfrm>
            <a:off x="824593" y="1477735"/>
            <a:ext cx="6252063" cy="3526972"/>
          </a:xfrm>
          <a:prstGeom prst="rect">
            <a:avLst/>
          </a:prstGeom>
        </p:spPr>
      </p:pic>
      <p:sp>
        <p:nvSpPr>
          <p:cNvPr id="10" name="Speech Bubble: Oval 9">
            <a:extLst>
              <a:ext uri="{FF2B5EF4-FFF2-40B4-BE49-F238E27FC236}">
                <a16:creationId xmlns:a16="http://schemas.microsoft.com/office/drawing/2014/main" id="{F89EAE71-D374-4898-B505-86C9A28A6383}"/>
              </a:ext>
            </a:extLst>
          </p:cNvPr>
          <p:cNvSpPr/>
          <p:nvPr/>
        </p:nvSpPr>
        <p:spPr bwMode="gray">
          <a:xfrm>
            <a:off x="6506936" y="1232807"/>
            <a:ext cx="4863646" cy="3239520"/>
          </a:xfrm>
          <a:prstGeom prst="wedgeEllipseCallout">
            <a:avLst>
              <a:gd name="adj1" fmla="val 48183"/>
              <a:gd name="adj2" fmla="val 84876"/>
            </a:avLst>
          </a:prstGeom>
          <a:solidFill>
            <a:schemeClr val="bg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I’ve always dreamt of having four instances of my awesome software that would restart automatically, have reliable load balancing and persistent disks without me having to overlook the whole thing all the time…</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57237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Tell me, what is it you truly desire…</a:t>
            </a:r>
          </a:p>
        </p:txBody>
      </p:sp>
      <p:pic>
        <p:nvPicPr>
          <p:cNvPr id="1036" name="Picture 1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001" y="2171700"/>
            <a:ext cx="3705613" cy="254222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Harlech Cast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651" y="1524001"/>
            <a:ext cx="5762370" cy="3839608"/>
          </a:xfrm>
          <a:prstGeom prst="rect">
            <a:avLst/>
          </a:prstGeom>
          <a:noFill/>
          <a:extLst>
            <a:ext uri="{909E8E84-426E-40DD-AFC4-6F175D3DCCD1}">
              <a14:hiddenFill xmlns:a14="http://schemas.microsoft.com/office/drawing/2010/main">
                <a:solidFill>
                  <a:srgbClr val="FFFFFF"/>
                </a:solidFill>
              </a14:hiddenFill>
            </a:ext>
          </a:extLst>
        </p:spPr>
      </p:pic>
      <p:sp>
        <p:nvSpPr>
          <p:cNvPr id="2" name="Arrow: Notched Right 1"/>
          <p:cNvSpPr/>
          <p:nvPr/>
        </p:nvSpPr>
        <p:spPr bwMode="gray">
          <a:xfrm>
            <a:off x="1485900" y="5577515"/>
            <a:ext cx="8275320" cy="869551"/>
          </a:xfrm>
          <a:prstGeom prst="notchedRightArrow">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All it takes,</a:t>
            </a:r>
            <a:r>
              <a:rPr kumimoji="0" lang="en-US" sz="1800" b="1" i="0" u="none" strike="noStrike" kern="0" cap="none" spc="0" normalizeH="0" noProof="0" dirty="0">
                <a:ln>
                  <a:noFill/>
                </a:ln>
                <a:effectLst/>
                <a:uLnTx/>
                <a:uFillTx/>
                <a:ea typeface="Arial Unicode MS" pitchFamily="34" charset="-128"/>
                <a:cs typeface="Arial Unicode MS" pitchFamily="34" charset="-128"/>
              </a:rPr>
              <a:t> is a description and some bricks…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497478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1249F2-7319-4BAD-97B8-62D35EF7F512}"/>
              </a:ext>
            </a:extLst>
          </p:cNvPr>
          <p:cNvSpPr>
            <a:spLocks noGrp="1"/>
          </p:cNvSpPr>
          <p:nvPr>
            <p:ph type="title"/>
          </p:nvPr>
        </p:nvSpPr>
        <p:spPr/>
        <p:txBody>
          <a:bodyPr/>
          <a:lstStyle/>
          <a:p>
            <a:r>
              <a:rPr lang="en-US" dirty="0"/>
              <a:t>How it works</a:t>
            </a:r>
          </a:p>
        </p:txBody>
      </p:sp>
      <p:pic>
        <p:nvPicPr>
          <p:cNvPr id="1026" name="Picture 2" descr="Bild">
            <a:extLst>
              <a:ext uri="{FF2B5EF4-FFF2-40B4-BE49-F238E27FC236}">
                <a16:creationId xmlns:a16="http://schemas.microsoft.com/office/drawing/2014/main" id="{36264113-8370-4D88-BB42-9681C3C1A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364" y="1260944"/>
            <a:ext cx="9429750" cy="4876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E165326-FB68-42D8-984E-F1335F0A4517}"/>
              </a:ext>
            </a:extLst>
          </p:cNvPr>
          <p:cNvSpPr/>
          <p:nvPr/>
        </p:nvSpPr>
        <p:spPr>
          <a:xfrm>
            <a:off x="3578620" y="6248357"/>
            <a:ext cx="5037238" cy="276999"/>
          </a:xfrm>
          <a:prstGeom prst="rect">
            <a:avLst/>
          </a:prstGeom>
        </p:spPr>
        <p:txBody>
          <a:bodyPr wrap="square">
            <a:spAutoFit/>
          </a:bodyPr>
          <a:lstStyle/>
          <a:p>
            <a:pPr algn="ctr"/>
            <a:r>
              <a:rPr lang="de-DE" sz="1200" dirty="0">
                <a:solidFill>
                  <a:srgbClr val="000000"/>
                </a:solidFill>
                <a:latin typeface="+mj-lt"/>
                <a:hlinkClick r:id="rId3"/>
              </a:rPr>
              <a:t>https://twitter.com/IanColdwater/status/1315850704016285702?s=20</a:t>
            </a:r>
            <a:r>
              <a:rPr lang="de-DE" sz="1200" dirty="0">
                <a:solidFill>
                  <a:srgbClr val="000000"/>
                </a:solidFill>
                <a:latin typeface="+mj-lt"/>
              </a:rPr>
              <a:t> </a:t>
            </a:r>
            <a:endParaRPr lang="en-US" sz="1200" dirty="0">
              <a:latin typeface="+mj-lt"/>
            </a:endParaRPr>
          </a:p>
        </p:txBody>
      </p:sp>
    </p:spTree>
    <p:extLst>
      <p:ext uri="{BB962C8B-B14F-4D97-AF65-F5344CB8AC3E}">
        <p14:creationId xmlns:p14="http://schemas.microsoft.com/office/powerpoint/2010/main" val="3000389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1" y="443040"/>
            <a:ext cx="11186476" cy="369332"/>
          </a:xfrm>
        </p:spPr>
        <p:txBody>
          <a:bodyPr/>
          <a:lstStyle/>
          <a:p>
            <a:r>
              <a:rPr lang="en-US" dirty="0"/>
              <a:t>Orchestration</a:t>
            </a:r>
          </a:p>
        </p:txBody>
      </p:sp>
      <p:grpSp>
        <p:nvGrpSpPr>
          <p:cNvPr id="18" name="Group 17">
            <a:extLst>
              <a:ext uri="{FF2B5EF4-FFF2-40B4-BE49-F238E27FC236}">
                <a16:creationId xmlns:a16="http://schemas.microsoft.com/office/drawing/2014/main" id="{B69A46AE-DE73-404F-9BAB-D15B97CB7123}"/>
              </a:ext>
            </a:extLst>
          </p:cNvPr>
          <p:cNvGrpSpPr/>
          <p:nvPr/>
        </p:nvGrpSpPr>
        <p:grpSpPr>
          <a:xfrm>
            <a:off x="772497" y="1733848"/>
            <a:ext cx="2323560" cy="1707191"/>
            <a:chOff x="1561877" y="1737431"/>
            <a:chExt cx="1559573" cy="1115506"/>
          </a:xfrm>
        </p:grpSpPr>
        <p:pic>
          <p:nvPicPr>
            <p:cNvPr id="4" name="Graphic 3" descr="Daily Calendar">
              <a:extLst>
                <a:ext uri="{FF2B5EF4-FFF2-40B4-BE49-F238E27FC236}">
                  <a16:creationId xmlns:a16="http://schemas.microsoft.com/office/drawing/2014/main" id="{39AA8793-7466-4583-8A6F-D88121D83E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4464" y="1737431"/>
              <a:ext cx="914400" cy="914400"/>
            </a:xfrm>
            <a:prstGeom prst="rect">
              <a:avLst/>
            </a:prstGeom>
          </p:spPr>
        </p:pic>
        <p:sp>
          <p:nvSpPr>
            <p:cNvPr id="17" name="TextBox 16">
              <a:extLst>
                <a:ext uri="{FF2B5EF4-FFF2-40B4-BE49-F238E27FC236}">
                  <a16:creationId xmlns:a16="http://schemas.microsoft.com/office/drawing/2014/main" id="{19EF0DB5-02DD-437A-A11D-E5AE55DB0893}"/>
                </a:ext>
              </a:extLst>
            </p:cNvPr>
            <p:cNvSpPr txBox="1"/>
            <p:nvPr/>
          </p:nvSpPr>
          <p:spPr>
            <a:xfrm>
              <a:off x="1561877" y="2651831"/>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Scheduling</a:t>
              </a:r>
            </a:p>
          </p:txBody>
        </p:sp>
      </p:grpSp>
      <p:grpSp>
        <p:nvGrpSpPr>
          <p:cNvPr id="20" name="Group 19">
            <a:extLst>
              <a:ext uri="{FF2B5EF4-FFF2-40B4-BE49-F238E27FC236}">
                <a16:creationId xmlns:a16="http://schemas.microsoft.com/office/drawing/2014/main" id="{2C44110E-EA80-47EA-8CD7-14A076D66186}"/>
              </a:ext>
            </a:extLst>
          </p:cNvPr>
          <p:cNvGrpSpPr/>
          <p:nvPr/>
        </p:nvGrpSpPr>
        <p:grpSpPr>
          <a:xfrm>
            <a:off x="6775559" y="1262404"/>
            <a:ext cx="2323560" cy="1621959"/>
            <a:chOff x="1731542" y="3909581"/>
            <a:chExt cx="1559573" cy="1059814"/>
          </a:xfrm>
        </p:grpSpPr>
        <p:pic>
          <p:nvPicPr>
            <p:cNvPr id="8" name="Graphic 7" descr="Network">
              <a:extLst>
                <a:ext uri="{FF2B5EF4-FFF2-40B4-BE49-F238E27FC236}">
                  <a16:creationId xmlns:a16="http://schemas.microsoft.com/office/drawing/2014/main" id="{0CD553ED-5DD4-49BC-A99A-40C38AEFB1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54129" y="3909581"/>
              <a:ext cx="914400" cy="914400"/>
            </a:xfrm>
            <a:prstGeom prst="rect">
              <a:avLst/>
            </a:prstGeom>
          </p:spPr>
        </p:pic>
        <p:sp>
          <p:nvSpPr>
            <p:cNvPr id="19" name="TextBox 18">
              <a:extLst>
                <a:ext uri="{FF2B5EF4-FFF2-40B4-BE49-F238E27FC236}">
                  <a16:creationId xmlns:a16="http://schemas.microsoft.com/office/drawing/2014/main" id="{AE2129B9-A904-47CB-8F0B-D42F92D6E15F}"/>
                </a:ext>
              </a:extLst>
            </p:cNvPr>
            <p:cNvSpPr txBox="1"/>
            <p:nvPr/>
          </p:nvSpPr>
          <p:spPr>
            <a:xfrm>
              <a:off x="1731542" y="4768289"/>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Network</a:t>
              </a:r>
            </a:p>
          </p:txBody>
        </p:sp>
      </p:grpSp>
      <p:grpSp>
        <p:nvGrpSpPr>
          <p:cNvPr id="22" name="Group 21">
            <a:extLst>
              <a:ext uri="{FF2B5EF4-FFF2-40B4-BE49-F238E27FC236}">
                <a16:creationId xmlns:a16="http://schemas.microsoft.com/office/drawing/2014/main" id="{B716BBF2-8367-429B-A4DF-8DD0DC170B59}"/>
              </a:ext>
            </a:extLst>
          </p:cNvPr>
          <p:cNvGrpSpPr/>
          <p:nvPr/>
        </p:nvGrpSpPr>
        <p:grpSpPr>
          <a:xfrm>
            <a:off x="8745024" y="880252"/>
            <a:ext cx="2323560" cy="1707191"/>
            <a:chOff x="3700510" y="3714542"/>
            <a:chExt cx="1559573" cy="1115506"/>
          </a:xfrm>
        </p:grpSpPr>
        <p:pic>
          <p:nvPicPr>
            <p:cNvPr id="12" name="Graphic 11" descr="Magnifying glass">
              <a:extLst>
                <a:ext uri="{FF2B5EF4-FFF2-40B4-BE49-F238E27FC236}">
                  <a16:creationId xmlns:a16="http://schemas.microsoft.com/office/drawing/2014/main" id="{4A195BEC-D22F-4D94-B107-1968022B7F6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23097" y="3714542"/>
              <a:ext cx="914400" cy="914400"/>
            </a:xfrm>
            <a:prstGeom prst="rect">
              <a:avLst/>
            </a:prstGeom>
          </p:spPr>
        </p:pic>
        <p:sp>
          <p:nvSpPr>
            <p:cNvPr id="21" name="TextBox 20">
              <a:extLst>
                <a:ext uri="{FF2B5EF4-FFF2-40B4-BE49-F238E27FC236}">
                  <a16:creationId xmlns:a16="http://schemas.microsoft.com/office/drawing/2014/main" id="{BA607291-BAB4-4EDA-B9AE-9995839B2A35}"/>
                </a:ext>
              </a:extLst>
            </p:cNvPr>
            <p:cNvSpPr txBox="1"/>
            <p:nvPr/>
          </p:nvSpPr>
          <p:spPr>
            <a:xfrm>
              <a:off x="3700510" y="4628942"/>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Service Discovery</a:t>
              </a:r>
            </a:p>
          </p:txBody>
        </p:sp>
      </p:grpSp>
      <p:grpSp>
        <p:nvGrpSpPr>
          <p:cNvPr id="23" name="Group 22">
            <a:extLst>
              <a:ext uri="{FF2B5EF4-FFF2-40B4-BE49-F238E27FC236}">
                <a16:creationId xmlns:a16="http://schemas.microsoft.com/office/drawing/2014/main" id="{3F250D4B-79B2-4CD0-9673-33441A8B2788}"/>
              </a:ext>
            </a:extLst>
          </p:cNvPr>
          <p:cNvGrpSpPr/>
          <p:nvPr/>
        </p:nvGrpSpPr>
        <p:grpSpPr>
          <a:xfrm>
            <a:off x="1885957" y="3416507"/>
            <a:ext cx="2323560" cy="1714655"/>
            <a:chOff x="5702093" y="4168165"/>
            <a:chExt cx="1559573" cy="1120383"/>
          </a:xfrm>
        </p:grpSpPr>
        <p:pic>
          <p:nvPicPr>
            <p:cNvPr id="10" name="Graphic 9" descr="Database">
              <a:extLst>
                <a:ext uri="{FF2B5EF4-FFF2-40B4-BE49-F238E27FC236}">
                  <a16:creationId xmlns:a16="http://schemas.microsoft.com/office/drawing/2014/main" id="{97C78FAB-FDAD-40C4-98EB-5AA0AF27E4B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24680" y="4168165"/>
              <a:ext cx="914400" cy="914400"/>
            </a:xfrm>
            <a:prstGeom prst="rect">
              <a:avLst/>
            </a:prstGeom>
          </p:spPr>
        </p:pic>
        <p:sp>
          <p:nvSpPr>
            <p:cNvPr id="24" name="TextBox 23">
              <a:extLst>
                <a:ext uri="{FF2B5EF4-FFF2-40B4-BE49-F238E27FC236}">
                  <a16:creationId xmlns:a16="http://schemas.microsoft.com/office/drawing/2014/main" id="{737BA83E-889C-4B79-9BA3-A728AD9D1F4E}"/>
                </a:ext>
              </a:extLst>
            </p:cNvPr>
            <p:cNvSpPr txBox="1"/>
            <p:nvPr/>
          </p:nvSpPr>
          <p:spPr>
            <a:xfrm>
              <a:off x="5702093" y="5087442"/>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Storage</a:t>
              </a:r>
            </a:p>
          </p:txBody>
        </p:sp>
      </p:grpSp>
      <p:grpSp>
        <p:nvGrpSpPr>
          <p:cNvPr id="25" name="Group 24">
            <a:extLst>
              <a:ext uri="{FF2B5EF4-FFF2-40B4-BE49-F238E27FC236}">
                <a16:creationId xmlns:a16="http://schemas.microsoft.com/office/drawing/2014/main" id="{BC1237FD-7426-45D3-820D-B93B4B61108E}"/>
              </a:ext>
            </a:extLst>
          </p:cNvPr>
          <p:cNvGrpSpPr/>
          <p:nvPr/>
        </p:nvGrpSpPr>
        <p:grpSpPr>
          <a:xfrm>
            <a:off x="3093446" y="1834808"/>
            <a:ext cx="2323560" cy="1714655"/>
            <a:chOff x="7409323" y="2072323"/>
            <a:chExt cx="1559573" cy="1120383"/>
          </a:xfrm>
        </p:grpSpPr>
        <p:pic>
          <p:nvPicPr>
            <p:cNvPr id="14" name="Graphic 13" descr="Server">
              <a:extLst>
                <a:ext uri="{FF2B5EF4-FFF2-40B4-BE49-F238E27FC236}">
                  <a16:creationId xmlns:a16="http://schemas.microsoft.com/office/drawing/2014/main" id="{F9E21C87-E917-42DB-8899-E9147585728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31910" y="2072323"/>
              <a:ext cx="914400" cy="914400"/>
            </a:xfrm>
            <a:prstGeom prst="rect">
              <a:avLst/>
            </a:prstGeom>
          </p:spPr>
        </p:pic>
        <p:sp>
          <p:nvSpPr>
            <p:cNvPr id="26" name="TextBox 25">
              <a:extLst>
                <a:ext uri="{FF2B5EF4-FFF2-40B4-BE49-F238E27FC236}">
                  <a16:creationId xmlns:a16="http://schemas.microsoft.com/office/drawing/2014/main" id="{67C8655B-8E49-49B5-A767-8BF940A2D1AE}"/>
                </a:ext>
              </a:extLst>
            </p:cNvPr>
            <p:cNvSpPr txBox="1"/>
            <p:nvPr/>
          </p:nvSpPr>
          <p:spPr>
            <a:xfrm>
              <a:off x="7409323" y="2991600"/>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Scaling</a:t>
              </a:r>
            </a:p>
          </p:txBody>
        </p:sp>
      </p:grpSp>
      <p:grpSp>
        <p:nvGrpSpPr>
          <p:cNvPr id="31" name="Group 30">
            <a:extLst>
              <a:ext uri="{FF2B5EF4-FFF2-40B4-BE49-F238E27FC236}">
                <a16:creationId xmlns:a16="http://schemas.microsoft.com/office/drawing/2014/main" id="{2AE6B682-F819-4AA5-B5EF-C27C61D5BC93}"/>
              </a:ext>
            </a:extLst>
          </p:cNvPr>
          <p:cNvGrpSpPr/>
          <p:nvPr/>
        </p:nvGrpSpPr>
        <p:grpSpPr>
          <a:xfrm>
            <a:off x="7937339" y="4277566"/>
            <a:ext cx="2323560" cy="1707191"/>
            <a:chOff x="8843912" y="4506604"/>
            <a:chExt cx="1559573" cy="1115506"/>
          </a:xfrm>
        </p:grpSpPr>
        <p:pic>
          <p:nvPicPr>
            <p:cNvPr id="30" name="Graphic 29" descr="Security Camera">
              <a:extLst>
                <a:ext uri="{FF2B5EF4-FFF2-40B4-BE49-F238E27FC236}">
                  <a16:creationId xmlns:a16="http://schemas.microsoft.com/office/drawing/2014/main" id="{2F638C90-77F1-493C-A208-AF0E5844F02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66498" y="4506604"/>
              <a:ext cx="914400" cy="914400"/>
            </a:xfrm>
            <a:prstGeom prst="rect">
              <a:avLst/>
            </a:prstGeom>
          </p:spPr>
        </p:pic>
        <p:sp>
          <p:nvSpPr>
            <p:cNvPr id="32" name="TextBox 31">
              <a:extLst>
                <a:ext uri="{FF2B5EF4-FFF2-40B4-BE49-F238E27FC236}">
                  <a16:creationId xmlns:a16="http://schemas.microsoft.com/office/drawing/2014/main" id="{2D6238C8-49A0-4D0F-AAB2-EE291AEA2DB3}"/>
                </a:ext>
              </a:extLst>
            </p:cNvPr>
            <p:cNvSpPr txBox="1"/>
            <p:nvPr/>
          </p:nvSpPr>
          <p:spPr>
            <a:xfrm>
              <a:off x="8843912" y="5421004"/>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Observability</a:t>
              </a:r>
            </a:p>
          </p:txBody>
        </p:sp>
      </p:grpSp>
      <p:grpSp>
        <p:nvGrpSpPr>
          <p:cNvPr id="33" name="Group 32">
            <a:extLst>
              <a:ext uri="{FF2B5EF4-FFF2-40B4-BE49-F238E27FC236}">
                <a16:creationId xmlns:a16="http://schemas.microsoft.com/office/drawing/2014/main" id="{68242BF6-F362-46FA-9054-69A29E52F275}"/>
              </a:ext>
            </a:extLst>
          </p:cNvPr>
          <p:cNvGrpSpPr/>
          <p:nvPr/>
        </p:nvGrpSpPr>
        <p:grpSpPr>
          <a:xfrm>
            <a:off x="6097587" y="3851017"/>
            <a:ext cx="2323560" cy="1729098"/>
            <a:chOff x="6726962" y="4134325"/>
            <a:chExt cx="1559573" cy="1129820"/>
          </a:xfrm>
        </p:grpSpPr>
        <p:pic>
          <p:nvPicPr>
            <p:cNvPr id="28" name="Graphic 27" descr="Handcuffs">
              <a:extLst>
                <a:ext uri="{FF2B5EF4-FFF2-40B4-BE49-F238E27FC236}">
                  <a16:creationId xmlns:a16="http://schemas.microsoft.com/office/drawing/2014/main" id="{6EF9D682-6C0C-499F-9469-97A4F56D05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9549" y="4134325"/>
              <a:ext cx="914400" cy="914400"/>
            </a:xfrm>
            <a:prstGeom prst="rect">
              <a:avLst/>
            </a:prstGeom>
          </p:spPr>
        </p:pic>
        <p:sp>
          <p:nvSpPr>
            <p:cNvPr id="34" name="TextBox 33">
              <a:extLst>
                <a:ext uri="{FF2B5EF4-FFF2-40B4-BE49-F238E27FC236}">
                  <a16:creationId xmlns:a16="http://schemas.microsoft.com/office/drawing/2014/main" id="{FB8BD162-F24F-43A2-A41D-B90EFBD5DBCC}"/>
                </a:ext>
              </a:extLst>
            </p:cNvPr>
            <p:cNvSpPr txBox="1"/>
            <p:nvPr/>
          </p:nvSpPr>
          <p:spPr>
            <a:xfrm>
              <a:off x="6726962" y="5063039"/>
              <a:ext cx="1559573" cy="20110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Security</a:t>
              </a:r>
            </a:p>
          </p:txBody>
        </p:sp>
      </p:grpSp>
    </p:spTree>
    <p:extLst>
      <p:ext uri="{BB962C8B-B14F-4D97-AF65-F5344CB8AC3E}">
        <p14:creationId xmlns:p14="http://schemas.microsoft.com/office/powerpoint/2010/main" val="29089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3E944-42BF-41EE-84F7-320F8E39B576}"/>
              </a:ext>
            </a:extLst>
          </p:cNvPr>
          <p:cNvSpPr>
            <a:spLocks noGrp="1"/>
          </p:cNvSpPr>
          <p:nvPr>
            <p:ph type="title"/>
          </p:nvPr>
        </p:nvSpPr>
        <p:spPr/>
        <p:txBody>
          <a:bodyPr/>
          <a:lstStyle/>
          <a:p>
            <a:r>
              <a:rPr lang="en-US" dirty="0"/>
              <a:t>Getting started: let‘s buy some socks</a:t>
            </a:r>
          </a:p>
        </p:txBody>
      </p:sp>
      <p:pic>
        <p:nvPicPr>
          <p:cNvPr id="4" name="Picture 3">
            <a:extLst>
              <a:ext uri="{FF2B5EF4-FFF2-40B4-BE49-F238E27FC236}">
                <a16:creationId xmlns:a16="http://schemas.microsoft.com/office/drawing/2014/main" id="{E7DDE766-5BAC-492B-B460-5D63FF7BC52C}"/>
              </a:ext>
            </a:extLst>
          </p:cNvPr>
          <p:cNvPicPr>
            <a:picLocks noChangeAspect="1"/>
          </p:cNvPicPr>
          <p:nvPr/>
        </p:nvPicPr>
        <p:blipFill>
          <a:blip r:embed="rId3"/>
          <a:stretch>
            <a:fillRect/>
          </a:stretch>
        </p:blipFill>
        <p:spPr>
          <a:xfrm>
            <a:off x="2418723" y="1048775"/>
            <a:ext cx="7357031" cy="5257542"/>
          </a:xfrm>
          <a:prstGeom prst="rect">
            <a:avLst/>
          </a:prstGeom>
        </p:spPr>
      </p:pic>
      <p:pic>
        <p:nvPicPr>
          <p:cNvPr id="5" name="Picture 4">
            <a:extLst>
              <a:ext uri="{FF2B5EF4-FFF2-40B4-BE49-F238E27FC236}">
                <a16:creationId xmlns:a16="http://schemas.microsoft.com/office/drawing/2014/main" id="{9377D6B2-0289-4B8C-A793-F902D649DEBB}"/>
              </a:ext>
            </a:extLst>
          </p:cNvPr>
          <p:cNvPicPr>
            <a:picLocks noChangeAspect="1"/>
          </p:cNvPicPr>
          <p:nvPr/>
        </p:nvPicPr>
        <p:blipFill>
          <a:blip r:embed="rId4"/>
          <a:stretch>
            <a:fillRect/>
          </a:stretch>
        </p:blipFill>
        <p:spPr>
          <a:xfrm>
            <a:off x="1841832" y="1346622"/>
            <a:ext cx="8510813" cy="4630315"/>
          </a:xfrm>
          <a:prstGeom prst="rect">
            <a:avLst/>
          </a:prstGeom>
          <a:effectLst>
            <a:softEdge rad="635000"/>
          </a:effectLst>
        </p:spPr>
      </p:pic>
    </p:spTree>
    <p:extLst>
      <p:ext uri="{BB962C8B-B14F-4D97-AF65-F5344CB8AC3E}">
        <p14:creationId xmlns:p14="http://schemas.microsoft.com/office/powerpoint/2010/main" val="117422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facts about K8s, </a:t>
            </a:r>
            <a:r>
              <a:rPr lang="en-US" dirty="0" err="1"/>
              <a:t>kubernetes</a:t>
            </a:r>
            <a:r>
              <a:rPr lang="en-US" dirty="0"/>
              <a:t>, …</a:t>
            </a:r>
          </a:p>
        </p:txBody>
      </p:sp>
      <p:sp>
        <p:nvSpPr>
          <p:cNvPr id="5" name="TextBox 4"/>
          <p:cNvSpPr txBox="1"/>
          <p:nvPr/>
        </p:nvSpPr>
        <p:spPr>
          <a:xfrm>
            <a:off x="504001" y="1447800"/>
            <a:ext cx="9691559" cy="3877985"/>
          </a:xfrm>
          <a:prstGeom prst="rect">
            <a:avLst/>
          </a:prstGeom>
          <a:noFill/>
        </p:spPr>
        <p:txBody>
          <a:bodyPr wrap="square" lIns="0" tIns="0" rIns="0" bIns="0" rtlCol="0">
            <a:spAutoFit/>
          </a:bodyPr>
          <a:lstStyle/>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Kubernetes = Greek for “helmsman” or “pilot”</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Based on Google’s Borg – a cluster manager for container orchestration</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Open sourced by Google and firstly announced in 2014</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v1.0 was released in July 2015</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By now K8s is governed by the Cloud Native Computing Foundation (CNCF)</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Vanilla Kubernetes is the basis for commercial products like </a:t>
            </a:r>
            <a:r>
              <a:rPr lang="en-US" sz="1800" kern="0" dirty="0" err="1">
                <a:ea typeface="Arial Unicode MS" pitchFamily="34" charset="-128"/>
                <a:cs typeface="Arial Unicode MS" pitchFamily="34" charset="-128"/>
              </a:rPr>
              <a:t>RedHat’s</a:t>
            </a: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Openshift</a:t>
            </a:r>
            <a:r>
              <a:rPr lang="en-US" sz="1800" kern="0" dirty="0">
                <a:ea typeface="Arial Unicode MS" pitchFamily="34" charset="-128"/>
                <a:cs typeface="Arial Unicode MS" pitchFamily="34" charset="-128"/>
              </a:rPr>
              <a:t> or CoreOS’ tectonic</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New minor releases roughly every 3 month</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Extensive list of beta features</a:t>
            </a:r>
          </a:p>
          <a:p>
            <a:pPr marL="285750" indent="-285750" fontAlgn="base">
              <a:spcBef>
                <a:spcPct val="50000"/>
              </a:spcBef>
              <a:spcAft>
                <a:spcPct val="0"/>
              </a:spcAft>
              <a:buClr>
                <a:schemeClr val="tx1"/>
              </a:buClr>
              <a:buSzPct val="100000"/>
              <a:buFont typeface="Wingdings" panose="05000000000000000000" pitchFamily="2" charset="2"/>
              <a:buChar char="§"/>
            </a:pPr>
            <a:r>
              <a:rPr lang="en-US" sz="1800" kern="0" dirty="0">
                <a:ea typeface="Arial Unicode MS" pitchFamily="34" charset="-128"/>
                <a:cs typeface="Arial Unicode MS" pitchFamily="34" charset="-128"/>
              </a:rPr>
              <a:t>Documentation: </a:t>
            </a:r>
            <a:r>
              <a:rPr lang="en-US" sz="1800" kern="0" dirty="0">
                <a:ea typeface="Arial Unicode MS" pitchFamily="34" charset="-128"/>
                <a:cs typeface="Arial Unicode MS" pitchFamily="34" charset="-128"/>
                <a:hlinkClick r:id="rId3"/>
              </a:rPr>
              <a:t>https://kubernetes.io/docs/home/</a:t>
            </a:r>
            <a:r>
              <a:rPr lang="en-US" sz="1800" kern="0" dirty="0">
                <a:ea typeface="Arial Unicode MS" pitchFamily="34" charset="-128"/>
                <a:cs typeface="Arial Unicode MS" pitchFamily="34" charset="-128"/>
              </a:rPr>
              <a:t> - concepts, tasks, API reference</a:t>
            </a:r>
          </a:p>
        </p:txBody>
      </p:sp>
    </p:spTree>
    <p:extLst>
      <p:ext uri="{BB962C8B-B14F-4D97-AF65-F5344CB8AC3E}">
        <p14:creationId xmlns:p14="http://schemas.microsoft.com/office/powerpoint/2010/main" val="3263224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2B548-5EEB-4E4A-A8E4-F449F9422596}"/>
              </a:ext>
            </a:extLst>
          </p:cNvPr>
          <p:cNvSpPr>
            <a:spLocks noGrp="1"/>
          </p:cNvSpPr>
          <p:nvPr>
            <p:ph type="title"/>
          </p:nvPr>
        </p:nvSpPr>
        <p:spPr/>
        <p:txBody>
          <a:bodyPr/>
          <a:lstStyle/>
          <a:p>
            <a:r>
              <a:rPr lang="en-US" dirty="0"/>
              <a:t>Documentation</a:t>
            </a:r>
          </a:p>
        </p:txBody>
      </p:sp>
      <p:sp>
        <p:nvSpPr>
          <p:cNvPr id="3" name="Rectangle 2">
            <a:extLst>
              <a:ext uri="{FF2B5EF4-FFF2-40B4-BE49-F238E27FC236}">
                <a16:creationId xmlns:a16="http://schemas.microsoft.com/office/drawing/2014/main" id="{8D2E5199-2E3E-4166-A8DB-D5A7DE841F4C}"/>
              </a:ext>
            </a:extLst>
          </p:cNvPr>
          <p:cNvSpPr/>
          <p:nvPr/>
        </p:nvSpPr>
        <p:spPr>
          <a:xfrm>
            <a:off x="2394050" y="5739258"/>
            <a:ext cx="7406377" cy="369332"/>
          </a:xfrm>
          <a:prstGeom prst="rect">
            <a:avLst/>
          </a:prstGeom>
        </p:spPr>
        <p:txBody>
          <a:bodyPr wrap="square">
            <a:spAutoFit/>
          </a:bodyPr>
          <a:lstStyle/>
          <a:p>
            <a:pPr algn="ctr"/>
            <a:r>
              <a:rPr lang="de-DE" sz="1800" dirty="0">
                <a:solidFill>
                  <a:srgbClr val="000000"/>
                </a:solidFill>
                <a:latin typeface="+mj-lt"/>
                <a:hlinkClick r:id="rId2"/>
              </a:rPr>
              <a:t>https://twitter.com/memenetes/status/1305612451443023876?s=20</a:t>
            </a:r>
            <a:r>
              <a:rPr lang="de-DE" sz="1800" dirty="0">
                <a:solidFill>
                  <a:srgbClr val="000000"/>
                </a:solidFill>
                <a:latin typeface="+mj-lt"/>
              </a:rPr>
              <a:t> </a:t>
            </a:r>
            <a:endParaRPr lang="en-US" sz="1800" dirty="0">
              <a:latin typeface="+mj-lt"/>
            </a:endParaRPr>
          </a:p>
        </p:txBody>
      </p:sp>
      <p:pic>
        <p:nvPicPr>
          <p:cNvPr id="4" name="Picture 3">
            <a:extLst>
              <a:ext uri="{FF2B5EF4-FFF2-40B4-BE49-F238E27FC236}">
                <a16:creationId xmlns:a16="http://schemas.microsoft.com/office/drawing/2014/main" id="{0B682552-E443-46F1-8B3B-E9EA8D5CEBE7}"/>
              </a:ext>
            </a:extLst>
          </p:cNvPr>
          <p:cNvPicPr>
            <a:picLocks noChangeAspect="1"/>
          </p:cNvPicPr>
          <p:nvPr/>
        </p:nvPicPr>
        <p:blipFill>
          <a:blip r:embed="rId3"/>
          <a:stretch>
            <a:fillRect/>
          </a:stretch>
        </p:blipFill>
        <p:spPr>
          <a:xfrm>
            <a:off x="3488460" y="988354"/>
            <a:ext cx="5217555" cy="4750904"/>
          </a:xfrm>
          <a:prstGeom prst="rect">
            <a:avLst/>
          </a:prstGeom>
        </p:spPr>
      </p:pic>
    </p:spTree>
    <p:extLst>
      <p:ext uri="{BB962C8B-B14F-4D97-AF65-F5344CB8AC3E}">
        <p14:creationId xmlns:p14="http://schemas.microsoft.com/office/powerpoint/2010/main" val="442116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it doesn’t always work as expected …</a:t>
            </a:r>
          </a:p>
        </p:txBody>
      </p:sp>
      <p:sp>
        <p:nvSpPr>
          <p:cNvPr id="3" name="Rectangle 2"/>
          <p:cNvSpPr/>
          <p:nvPr/>
        </p:nvSpPr>
        <p:spPr>
          <a:xfrm>
            <a:off x="504001" y="5851688"/>
            <a:ext cx="9554399" cy="415498"/>
          </a:xfrm>
          <a:prstGeom prst="rect">
            <a:avLst/>
          </a:prstGeom>
        </p:spPr>
        <p:txBody>
          <a:bodyPr wrap="square">
            <a:spAutoFit/>
          </a:bodyPr>
          <a:lstStyle/>
          <a:p>
            <a:r>
              <a:rPr lang="en-US" dirty="0">
                <a:hlinkClick r:id="rId3"/>
              </a:rPr>
              <a:t>https://github.com/kubernetes/community/blob/master/communication.md</a:t>
            </a:r>
            <a:r>
              <a:rPr lang="en-US" dirty="0"/>
              <a:t> </a:t>
            </a:r>
          </a:p>
        </p:txBody>
      </p:sp>
      <p:pic>
        <p:nvPicPr>
          <p:cNvPr id="4" name="Picture 3"/>
          <p:cNvPicPr>
            <a:picLocks noChangeAspect="1"/>
          </p:cNvPicPr>
          <p:nvPr/>
        </p:nvPicPr>
        <p:blipFill>
          <a:blip r:embed="rId4"/>
          <a:stretch>
            <a:fillRect/>
          </a:stretch>
        </p:blipFill>
        <p:spPr>
          <a:xfrm>
            <a:off x="504001" y="1170215"/>
            <a:ext cx="9249599" cy="3520576"/>
          </a:xfrm>
          <a:prstGeom prst="rect">
            <a:avLst/>
          </a:prstGeom>
        </p:spPr>
      </p:pic>
      <p:sp>
        <p:nvSpPr>
          <p:cNvPr id="5" name="Rectangle 4"/>
          <p:cNvSpPr/>
          <p:nvPr/>
        </p:nvSpPr>
        <p:spPr>
          <a:xfrm>
            <a:off x="504001" y="5298469"/>
            <a:ext cx="3788217" cy="415498"/>
          </a:xfrm>
          <a:prstGeom prst="rect">
            <a:avLst/>
          </a:prstGeom>
        </p:spPr>
        <p:txBody>
          <a:bodyPr wrap="none">
            <a:spAutoFit/>
          </a:bodyPr>
          <a:lstStyle/>
          <a:p>
            <a:r>
              <a:rPr lang="en-US" dirty="0">
                <a:hlinkClick r:id="rId5"/>
              </a:rPr>
              <a:t>https://github.com/kubernetes</a:t>
            </a:r>
            <a:r>
              <a:rPr lang="en-US" dirty="0"/>
              <a:t> </a:t>
            </a:r>
          </a:p>
        </p:txBody>
      </p:sp>
      <p:sp>
        <p:nvSpPr>
          <p:cNvPr id="6" name="Rectangle 5"/>
          <p:cNvSpPr/>
          <p:nvPr/>
        </p:nvSpPr>
        <p:spPr>
          <a:xfrm>
            <a:off x="504000" y="4767554"/>
            <a:ext cx="8792399" cy="415498"/>
          </a:xfrm>
          <a:prstGeom prst="rect">
            <a:avLst/>
          </a:prstGeom>
        </p:spPr>
        <p:txBody>
          <a:bodyPr wrap="square">
            <a:spAutoFit/>
          </a:bodyPr>
          <a:lstStyle/>
          <a:p>
            <a:r>
              <a:rPr lang="en-US" dirty="0">
                <a:hlinkClick r:id="rId6"/>
              </a:rPr>
              <a:t>https://groups.google.com/forum/#!forum/kubernetes-users</a:t>
            </a:r>
            <a:r>
              <a:rPr lang="en-US" dirty="0"/>
              <a:t> </a:t>
            </a:r>
          </a:p>
        </p:txBody>
      </p:sp>
    </p:spTree>
    <p:extLst>
      <p:ext uri="{BB962C8B-B14F-4D97-AF65-F5344CB8AC3E}">
        <p14:creationId xmlns:p14="http://schemas.microsoft.com/office/powerpoint/2010/main" val="2777277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3FDFC6-6E05-43C4-8B6A-E19272E427A3}"/>
              </a:ext>
            </a:extLst>
          </p:cNvPr>
          <p:cNvSpPr>
            <a:spLocks noGrp="1"/>
          </p:cNvSpPr>
          <p:nvPr>
            <p:ph type="title"/>
          </p:nvPr>
        </p:nvSpPr>
        <p:spPr/>
        <p:txBody>
          <a:bodyPr/>
          <a:lstStyle/>
          <a:p>
            <a:r>
              <a:rPr lang="en-US" dirty="0"/>
              <a:t>[A-Z]* as a Service</a:t>
            </a:r>
          </a:p>
        </p:txBody>
      </p:sp>
      <p:grpSp>
        <p:nvGrpSpPr>
          <p:cNvPr id="9" name="Group 8">
            <a:extLst>
              <a:ext uri="{FF2B5EF4-FFF2-40B4-BE49-F238E27FC236}">
                <a16:creationId xmlns:a16="http://schemas.microsoft.com/office/drawing/2014/main" id="{0667D608-5A94-4F2F-B6AF-FECC46194C26}"/>
              </a:ext>
            </a:extLst>
          </p:cNvPr>
          <p:cNvGrpSpPr/>
          <p:nvPr/>
        </p:nvGrpSpPr>
        <p:grpSpPr>
          <a:xfrm>
            <a:off x="504001" y="1330958"/>
            <a:ext cx="7261014" cy="4927601"/>
            <a:chOff x="2479041" y="1053252"/>
            <a:chExt cx="7261014" cy="4927601"/>
          </a:xfrm>
          <a:solidFill>
            <a:schemeClr val="tx2">
              <a:lumMod val="90000"/>
            </a:schemeClr>
          </a:solidFill>
        </p:grpSpPr>
        <p:sp>
          <p:nvSpPr>
            <p:cNvPr id="4" name="Rectangle 3">
              <a:extLst>
                <a:ext uri="{FF2B5EF4-FFF2-40B4-BE49-F238E27FC236}">
                  <a16:creationId xmlns:a16="http://schemas.microsoft.com/office/drawing/2014/main" id="{B98C3772-9528-4CC2-9AE9-183DD3C12612}"/>
                </a:ext>
              </a:extLst>
            </p:cNvPr>
            <p:cNvSpPr/>
            <p:nvPr/>
          </p:nvSpPr>
          <p:spPr bwMode="gray">
            <a:xfrm>
              <a:off x="2479042" y="4944533"/>
              <a:ext cx="7261013" cy="1036320"/>
            </a:xfrm>
            <a:prstGeom prst="rect">
              <a:avLst/>
            </a:prstGeom>
            <a:grp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Infrastructure</a:t>
              </a:r>
            </a:p>
          </p:txBody>
        </p:sp>
        <p:sp>
          <p:nvSpPr>
            <p:cNvPr id="5" name="Rectangle 4">
              <a:extLst>
                <a:ext uri="{FF2B5EF4-FFF2-40B4-BE49-F238E27FC236}">
                  <a16:creationId xmlns:a16="http://schemas.microsoft.com/office/drawing/2014/main" id="{656C25E8-0925-4552-ABA9-3F36D29D9011}"/>
                </a:ext>
              </a:extLst>
            </p:cNvPr>
            <p:cNvSpPr/>
            <p:nvPr/>
          </p:nvSpPr>
          <p:spPr bwMode="gray">
            <a:xfrm>
              <a:off x="2479041" y="3660986"/>
              <a:ext cx="7261013" cy="1036320"/>
            </a:xfrm>
            <a:prstGeom prst="rect">
              <a:avLst/>
            </a:prstGeom>
            <a:grp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Platform</a:t>
              </a:r>
            </a:p>
          </p:txBody>
        </p:sp>
        <p:sp>
          <p:nvSpPr>
            <p:cNvPr id="6" name="Rectangle 5">
              <a:extLst>
                <a:ext uri="{FF2B5EF4-FFF2-40B4-BE49-F238E27FC236}">
                  <a16:creationId xmlns:a16="http://schemas.microsoft.com/office/drawing/2014/main" id="{175A54EB-42D9-4D2A-9ED1-427F19E3E9A2}"/>
                </a:ext>
              </a:extLst>
            </p:cNvPr>
            <p:cNvSpPr/>
            <p:nvPr/>
          </p:nvSpPr>
          <p:spPr bwMode="gray">
            <a:xfrm>
              <a:off x="2479041" y="1053252"/>
              <a:ext cx="7261013" cy="1036320"/>
            </a:xfrm>
            <a:prstGeom prst="rect">
              <a:avLst/>
            </a:prstGeom>
            <a:grp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Software</a:t>
              </a:r>
            </a:p>
          </p:txBody>
        </p:sp>
        <p:sp>
          <p:nvSpPr>
            <p:cNvPr id="7" name="Rectangle 6">
              <a:extLst>
                <a:ext uri="{FF2B5EF4-FFF2-40B4-BE49-F238E27FC236}">
                  <a16:creationId xmlns:a16="http://schemas.microsoft.com/office/drawing/2014/main" id="{86CEDFF8-A300-4A8C-AFA7-A6372BC9AB9B}"/>
                </a:ext>
              </a:extLst>
            </p:cNvPr>
            <p:cNvSpPr/>
            <p:nvPr/>
          </p:nvSpPr>
          <p:spPr bwMode="gray">
            <a:xfrm>
              <a:off x="2479041" y="2357119"/>
              <a:ext cx="3325707" cy="1036320"/>
            </a:xfrm>
            <a:prstGeom prst="rect">
              <a:avLst/>
            </a:prstGeom>
            <a:grp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Serverless</a:t>
              </a:r>
            </a:p>
          </p:txBody>
        </p:sp>
        <p:sp>
          <p:nvSpPr>
            <p:cNvPr id="8" name="Rectangle 7">
              <a:extLst>
                <a:ext uri="{FF2B5EF4-FFF2-40B4-BE49-F238E27FC236}">
                  <a16:creationId xmlns:a16="http://schemas.microsoft.com/office/drawing/2014/main" id="{C021B4D4-0F25-46B2-8073-A7A6AA542736}"/>
                </a:ext>
              </a:extLst>
            </p:cNvPr>
            <p:cNvSpPr/>
            <p:nvPr/>
          </p:nvSpPr>
          <p:spPr bwMode="gray">
            <a:xfrm>
              <a:off x="6414347" y="2357119"/>
              <a:ext cx="3325707" cy="1036320"/>
            </a:xfrm>
            <a:prstGeom prst="rect">
              <a:avLst/>
            </a:prstGeom>
            <a:grp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Functions</a:t>
              </a:r>
            </a:p>
          </p:txBody>
        </p:sp>
      </p:grpSp>
      <p:grpSp>
        <p:nvGrpSpPr>
          <p:cNvPr id="17" name="Group 16">
            <a:extLst>
              <a:ext uri="{FF2B5EF4-FFF2-40B4-BE49-F238E27FC236}">
                <a16:creationId xmlns:a16="http://schemas.microsoft.com/office/drawing/2014/main" id="{034ABF63-0607-4065-9D91-ACBD1268BFE2}"/>
              </a:ext>
            </a:extLst>
          </p:cNvPr>
          <p:cNvGrpSpPr/>
          <p:nvPr/>
        </p:nvGrpSpPr>
        <p:grpSpPr>
          <a:xfrm>
            <a:off x="8188959" y="3854021"/>
            <a:ext cx="3237653" cy="833123"/>
            <a:chOff x="8188959" y="3826931"/>
            <a:chExt cx="3237653" cy="833123"/>
          </a:xfrm>
        </p:grpSpPr>
        <p:sp>
          <p:nvSpPr>
            <p:cNvPr id="10" name="Speech Bubble: Rectangle 9">
              <a:extLst>
                <a:ext uri="{FF2B5EF4-FFF2-40B4-BE49-F238E27FC236}">
                  <a16:creationId xmlns:a16="http://schemas.microsoft.com/office/drawing/2014/main" id="{681ABFCD-947B-4DBA-9E3C-213BDBFB5484}"/>
                </a:ext>
              </a:extLst>
            </p:cNvPr>
            <p:cNvSpPr/>
            <p:nvPr/>
          </p:nvSpPr>
          <p:spPr bwMode="gray">
            <a:xfrm>
              <a:off x="8188959" y="3826931"/>
              <a:ext cx="3237653" cy="833123"/>
            </a:xfrm>
            <a:prstGeom prst="wedgeRectCallout">
              <a:avLst>
                <a:gd name="adj1" fmla="val -61051"/>
                <a:gd name="adj2" fmla="val -10554"/>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026" name="Picture 2" descr="Logo">
              <a:extLst>
                <a:ext uri="{FF2B5EF4-FFF2-40B4-BE49-F238E27FC236}">
                  <a16:creationId xmlns:a16="http://schemas.microsoft.com/office/drawing/2014/main" id="{0DBE51BE-AE78-4F7C-A34A-76C8A6BD1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0718" y="4059515"/>
              <a:ext cx="3014133" cy="4119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DF6256B7-768F-4573-9D12-3AB49100C326}"/>
              </a:ext>
            </a:extLst>
          </p:cNvPr>
          <p:cNvGrpSpPr/>
          <p:nvPr/>
        </p:nvGrpSpPr>
        <p:grpSpPr>
          <a:xfrm>
            <a:off x="8188959" y="2797813"/>
            <a:ext cx="3237653" cy="833123"/>
            <a:chOff x="8188959" y="2757174"/>
            <a:chExt cx="3237653" cy="833123"/>
          </a:xfrm>
        </p:grpSpPr>
        <p:sp>
          <p:nvSpPr>
            <p:cNvPr id="19" name="Speech Bubble: Rectangle 18">
              <a:extLst>
                <a:ext uri="{FF2B5EF4-FFF2-40B4-BE49-F238E27FC236}">
                  <a16:creationId xmlns:a16="http://schemas.microsoft.com/office/drawing/2014/main" id="{CE02E064-BE2A-46C1-8DD2-2DFD63C0A138}"/>
                </a:ext>
              </a:extLst>
            </p:cNvPr>
            <p:cNvSpPr/>
            <p:nvPr/>
          </p:nvSpPr>
          <p:spPr bwMode="gray">
            <a:xfrm>
              <a:off x="8188959" y="2757174"/>
              <a:ext cx="3237653" cy="833123"/>
            </a:xfrm>
            <a:prstGeom prst="wedgeRectCallout">
              <a:avLst>
                <a:gd name="adj1" fmla="val -61470"/>
                <a:gd name="adj2" fmla="val -7302"/>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030" name="Picture 6" descr="logo.png">
              <a:extLst>
                <a:ext uri="{FF2B5EF4-FFF2-40B4-BE49-F238E27FC236}">
                  <a16:creationId xmlns:a16="http://schemas.microsoft.com/office/drawing/2014/main" id="{4D7B5B0E-CFCA-4A50-AF13-1F37D59BF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3407" y="2816411"/>
              <a:ext cx="1964268" cy="6921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Bildergebnis für kubernetes">
              <a:extLst>
                <a:ext uri="{FF2B5EF4-FFF2-40B4-BE49-F238E27FC236}">
                  <a16:creationId xmlns:a16="http://schemas.microsoft.com/office/drawing/2014/main" id="{D6ED3151-54D1-46BE-9A0C-4082096FE4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3551" y="2832525"/>
              <a:ext cx="640919" cy="640919"/>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2A7A66E0-4660-4A6B-A7D6-CB55BFA8D4F3}"/>
              </a:ext>
            </a:extLst>
          </p:cNvPr>
          <p:cNvSpPr/>
          <p:nvPr/>
        </p:nvSpPr>
        <p:spPr bwMode="gray">
          <a:xfrm>
            <a:off x="504000" y="4773319"/>
            <a:ext cx="7261013" cy="59944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(Application) Runtime</a:t>
            </a:r>
          </a:p>
        </p:txBody>
      </p:sp>
      <p:grpSp>
        <p:nvGrpSpPr>
          <p:cNvPr id="18" name="Group 17">
            <a:extLst>
              <a:ext uri="{FF2B5EF4-FFF2-40B4-BE49-F238E27FC236}">
                <a16:creationId xmlns:a16="http://schemas.microsoft.com/office/drawing/2014/main" id="{E283EB26-96D1-4AE7-B749-6CBC1755E110}"/>
              </a:ext>
            </a:extLst>
          </p:cNvPr>
          <p:cNvGrpSpPr/>
          <p:nvPr/>
        </p:nvGrpSpPr>
        <p:grpSpPr>
          <a:xfrm>
            <a:off x="8188959" y="4934374"/>
            <a:ext cx="3237653" cy="833123"/>
            <a:chOff x="8188959" y="4975012"/>
            <a:chExt cx="3237653" cy="833123"/>
          </a:xfrm>
        </p:grpSpPr>
        <p:sp>
          <p:nvSpPr>
            <p:cNvPr id="16" name="Speech Bubble: Rectangle 15">
              <a:extLst>
                <a:ext uri="{FF2B5EF4-FFF2-40B4-BE49-F238E27FC236}">
                  <a16:creationId xmlns:a16="http://schemas.microsoft.com/office/drawing/2014/main" id="{620238D5-AF33-4115-9B3D-E86AE8B02E4D}"/>
                </a:ext>
              </a:extLst>
            </p:cNvPr>
            <p:cNvSpPr/>
            <p:nvPr/>
          </p:nvSpPr>
          <p:spPr bwMode="gray">
            <a:xfrm>
              <a:off x="8188959" y="4975012"/>
              <a:ext cx="3237653" cy="833123"/>
            </a:xfrm>
            <a:prstGeom prst="wedgeRectCallout">
              <a:avLst>
                <a:gd name="adj1" fmla="val -77160"/>
                <a:gd name="adj2" fmla="val -39822"/>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4" name="Picture 4" descr="Bildergebnis für kubernetes">
              <a:extLst>
                <a:ext uri="{FF2B5EF4-FFF2-40B4-BE49-F238E27FC236}">
                  <a16:creationId xmlns:a16="http://schemas.microsoft.com/office/drawing/2014/main" id="{90FF3481-7282-409C-BEFD-DCCE305644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9080" y="5052574"/>
              <a:ext cx="640919" cy="6409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ame_blue.png">
              <a:extLst>
                <a:ext uri="{FF2B5EF4-FFF2-40B4-BE49-F238E27FC236}">
                  <a16:creationId xmlns:a16="http://schemas.microsoft.com/office/drawing/2014/main" id="{5714406E-FCC0-4C73-9872-C91377D6DD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9063" y="5235285"/>
              <a:ext cx="1796711" cy="2661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4954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822</Words>
  <Application>Microsoft Office PowerPoint</Application>
  <PresentationFormat>Custom</PresentationFormat>
  <Paragraphs>86</Paragraphs>
  <Slides>13</Slides>
  <Notes>11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Courier New</vt:lpstr>
      <vt:lpstr>Symbol</vt:lpstr>
      <vt:lpstr>wingdings</vt:lpstr>
      <vt:lpstr>wingdings</vt:lpstr>
      <vt:lpstr>SAP_2017_16x9_black</vt:lpstr>
      <vt:lpstr>PowerPoint Presentation</vt:lpstr>
      <vt:lpstr>We have isolated containers!</vt:lpstr>
      <vt:lpstr>So, what is this Kubernetes all about then?</vt:lpstr>
      <vt:lpstr>So tell me…</vt:lpstr>
      <vt:lpstr>Tell me, what is it you truly desire…</vt:lpstr>
      <vt:lpstr>How it works</vt:lpstr>
      <vt:lpstr>Orchestration</vt:lpstr>
      <vt:lpstr>Getting started: let‘s buy some socks</vt:lpstr>
      <vt:lpstr>Some facts about K8s, kubernetes, …</vt:lpstr>
      <vt:lpstr>Documentation</vt:lpstr>
      <vt:lpstr>If it doesn’t always work as expected …</vt:lpstr>
      <vt:lpstr>[A-Z]* as a Service</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429</cp:revision>
  <cp:lastPrinted>2018-10-30T16:03:14Z</cp:lastPrinted>
  <dcterms:created xsi:type="dcterms:W3CDTF">2015-10-14T11:21:43Z</dcterms:created>
  <dcterms:modified xsi:type="dcterms:W3CDTF">2022-06-03T09:36:53Z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