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1"/>
  </p:sldMasterIdLst>
  <p:notesMasterIdLst>
    <p:notesMasterId r:id="rId21"/>
  </p:notesMasterIdLst>
  <p:handoutMasterIdLst>
    <p:handoutMasterId r:id="rId22"/>
  </p:handoutMasterIdLst>
  <p:sldIdLst>
    <p:sldId id="433" r:id="rId2"/>
    <p:sldId id="457" r:id="rId3"/>
    <p:sldId id="453" r:id="rId4"/>
    <p:sldId id="458" r:id="rId5"/>
    <p:sldId id="466" r:id="rId6"/>
    <p:sldId id="364" r:id="rId7"/>
    <p:sldId id="468" r:id="rId8"/>
    <p:sldId id="445" r:id="rId9"/>
    <p:sldId id="469" r:id="rId10"/>
    <p:sldId id="448" r:id="rId11"/>
    <p:sldId id="449" r:id="rId12"/>
    <p:sldId id="450" r:id="rId13"/>
    <p:sldId id="439" r:id="rId14"/>
    <p:sldId id="467" r:id="rId15"/>
    <p:sldId id="441" r:id="rId16"/>
    <p:sldId id="440" r:id="rId17"/>
    <p:sldId id="442" r:id="rId18"/>
    <p:sldId id="456" r:id="rId19"/>
    <p:sldId id="265" r:id="rId20"/>
  </p:sldIdLst>
  <p:sldSz cx="12195175" cy="6858000"/>
  <p:notesSz cx="6858000" cy="914400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1" userDrawn="1">
          <p15:clr>
            <a:srgbClr val="A4A3A4"/>
          </p15:clr>
        </p15:guide>
        <p15:guide id="2" orient="horz" pos="1022" userDrawn="1">
          <p15:clr>
            <a:srgbClr val="A4A3A4"/>
          </p15:clr>
        </p15:guide>
        <p15:guide id="3" orient="horz" pos="4004" userDrawn="1">
          <p15:clr>
            <a:srgbClr val="A4A3A4"/>
          </p15:clr>
        </p15:guide>
        <p15:guide id="4" pos="303" userDrawn="1">
          <p15:clr>
            <a:srgbClr val="A4A3A4"/>
          </p15:clr>
        </p15:guide>
        <p15:guide id="5" pos="7356" userDrawn="1">
          <p15:clr>
            <a:srgbClr val="A4A3A4"/>
          </p15:clr>
        </p15:guide>
        <p15:guide id="7" orient="horz" pos="3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rtsch, Holger" initials="PH" lastIdx="3" clrIdx="0">
    <p:extLst>
      <p:ext uri="{19B8F6BF-5375-455C-9EA6-DF929625EA0E}">
        <p15:presenceInfo xmlns:p15="http://schemas.microsoft.com/office/powerpoint/2012/main" userId="S-1-5-21-74642-3284969411-2123768488-12025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0F46A7"/>
    <a:srgbClr val="970A82"/>
    <a:srgbClr val="FF3399"/>
    <a:srgbClr val="FF0000"/>
    <a:srgbClr val="FFFFFF"/>
    <a:srgbClr val="FEE3A1"/>
    <a:srgbClr val="FFF1D0"/>
    <a:srgbClr val="FFF8E7"/>
    <a:srgbClr val="FECE59"/>
    <a:srgbClr val="0032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25" autoAdjust="0"/>
    <p:restoredTop sz="76005" autoAdjust="0"/>
  </p:normalViewPr>
  <p:slideViewPr>
    <p:cSldViewPr snapToGrid="0" showGuides="1">
      <p:cViewPr>
        <p:scale>
          <a:sx n="109" d="100"/>
          <a:sy n="109" d="100"/>
        </p:scale>
        <p:origin x="3096" y="160"/>
      </p:cViewPr>
      <p:guideLst>
        <p:guide pos="3841"/>
        <p:guide orient="horz" pos="1022"/>
        <p:guide orient="horz" pos="4004"/>
        <p:guide pos="303"/>
        <p:guide pos="7356"/>
        <p:guide orient="horz" pos="300"/>
      </p:guideLst>
    </p:cSldViewPr>
  </p:slideViewPr>
  <p:outlineViewPr>
    <p:cViewPr>
      <p:scale>
        <a:sx n="33" d="100"/>
        <a:sy n="33" d="100"/>
      </p:scale>
      <p:origin x="0" y="-6394"/>
    </p:cViewPr>
  </p:outlineViewPr>
  <p:notesTextViewPr>
    <p:cViewPr>
      <p:scale>
        <a:sx n="150" d="100"/>
        <a:sy n="150" d="100"/>
      </p:scale>
      <p:origin x="0" y="0"/>
    </p:cViewPr>
  </p:notesTextViewPr>
  <p:sorterViewPr>
    <p:cViewPr varScale="1">
      <p:scale>
        <a:sx n="1" d="1"/>
        <a:sy n="1" d="1"/>
      </p:scale>
      <p:origin x="0" y="0"/>
    </p:cViewPr>
  </p:sorterViewPr>
  <p:notesViewPr>
    <p:cSldViewPr snapToGrid="0" showGuides="1">
      <p:cViewPr varScale="1">
        <p:scale>
          <a:sx n="99" d="100"/>
          <a:sy n="99" d="100"/>
        </p:scale>
        <p:origin x="357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4D5D8D-46B5-4050-A8A2-9358720318CB}" type="doc">
      <dgm:prSet loTypeId="urn:microsoft.com/office/officeart/2005/8/layout/hProcess4" loCatId="process" qsTypeId="urn:microsoft.com/office/officeart/2005/8/quickstyle/simple1" qsCatId="simple" csTypeId="urn:microsoft.com/office/officeart/2005/8/colors/accent0_1" csCatId="mainScheme" phldr="1"/>
      <dgm:spPr/>
      <dgm:t>
        <a:bodyPr/>
        <a:lstStyle/>
        <a:p>
          <a:endParaRPr lang="en-US"/>
        </a:p>
      </dgm:t>
    </dgm:pt>
    <dgm:pt modelId="{5F7701CA-FAE9-401E-8919-DA68891591F1}">
      <dgm:prSet phldrT="[Text]"/>
      <dgm:spPr/>
      <dgm:t>
        <a:bodyPr/>
        <a:lstStyle/>
        <a:p>
          <a:r>
            <a:rPr lang="en-US" dirty="0"/>
            <a:t>Observe</a:t>
          </a:r>
        </a:p>
      </dgm:t>
    </dgm:pt>
    <dgm:pt modelId="{57EC1A04-2D89-479D-B4CD-41E513268C4C}" type="parTrans" cxnId="{788EE39B-32B1-4162-8BBC-1C338A4C1A09}">
      <dgm:prSet/>
      <dgm:spPr/>
      <dgm:t>
        <a:bodyPr/>
        <a:lstStyle/>
        <a:p>
          <a:endParaRPr lang="en-US"/>
        </a:p>
      </dgm:t>
    </dgm:pt>
    <dgm:pt modelId="{1E496758-F884-4589-8FBC-E44F78EEE5A6}" type="sibTrans" cxnId="{788EE39B-32B1-4162-8BBC-1C338A4C1A09}">
      <dgm:prSet/>
      <dgm:spPr/>
      <dgm:t>
        <a:bodyPr/>
        <a:lstStyle/>
        <a:p>
          <a:endParaRPr lang="en-US"/>
        </a:p>
      </dgm:t>
    </dgm:pt>
    <dgm:pt modelId="{3511B0DC-F6D6-48BD-9E3E-8060DA330747}">
      <dgm:prSet phldrT="[Text]"/>
      <dgm:spPr/>
      <dgm:t>
        <a:bodyPr/>
        <a:lstStyle/>
        <a:p>
          <a:r>
            <a:rPr lang="en-US" dirty="0"/>
            <a:t>Analyze</a:t>
          </a:r>
        </a:p>
      </dgm:t>
    </dgm:pt>
    <dgm:pt modelId="{DB215E9B-41B1-4594-AECD-054A768F9C75}" type="parTrans" cxnId="{4AA21BBC-29B0-4376-8FA9-2ECF348FFB0B}">
      <dgm:prSet/>
      <dgm:spPr/>
      <dgm:t>
        <a:bodyPr/>
        <a:lstStyle/>
        <a:p>
          <a:endParaRPr lang="en-US"/>
        </a:p>
      </dgm:t>
    </dgm:pt>
    <dgm:pt modelId="{4DA7C20A-7791-417E-8B3D-4A6E6D60BD33}" type="sibTrans" cxnId="{4AA21BBC-29B0-4376-8FA9-2ECF348FFB0B}">
      <dgm:prSet/>
      <dgm:spPr/>
      <dgm:t>
        <a:bodyPr/>
        <a:lstStyle/>
        <a:p>
          <a:endParaRPr lang="en-US"/>
        </a:p>
      </dgm:t>
    </dgm:pt>
    <dgm:pt modelId="{FB9AAE57-5715-4E83-B795-233F80C28DD5}">
      <dgm:prSet phldrT="[Text]"/>
      <dgm:spPr/>
      <dgm:t>
        <a:bodyPr/>
        <a:lstStyle/>
        <a:p>
          <a:r>
            <a:rPr lang="en-US" dirty="0"/>
            <a:t>Act</a:t>
          </a:r>
        </a:p>
      </dgm:t>
    </dgm:pt>
    <dgm:pt modelId="{DEC4E5B5-5AAD-461A-8948-F5A4F37B3F48}" type="parTrans" cxnId="{2816C6BF-DAD6-46C7-876C-AD193175ADED}">
      <dgm:prSet/>
      <dgm:spPr/>
      <dgm:t>
        <a:bodyPr/>
        <a:lstStyle/>
        <a:p>
          <a:endParaRPr lang="en-US"/>
        </a:p>
      </dgm:t>
    </dgm:pt>
    <dgm:pt modelId="{51F931F7-68A4-4543-AC94-B359BC369D41}" type="sibTrans" cxnId="{2816C6BF-DAD6-46C7-876C-AD193175ADED}">
      <dgm:prSet/>
      <dgm:spPr/>
      <dgm:t>
        <a:bodyPr/>
        <a:lstStyle/>
        <a:p>
          <a:endParaRPr lang="en-US"/>
        </a:p>
      </dgm:t>
    </dgm:pt>
    <dgm:pt modelId="{06A4AA28-4648-46CF-81EC-A9DC778D7A58}">
      <dgm:prSet phldrT="[Text]"/>
      <dgm:spPr/>
      <dgm:t>
        <a:bodyPr/>
        <a:lstStyle/>
        <a:p>
          <a:r>
            <a:rPr lang="en-US" dirty="0"/>
            <a:t>Control loop</a:t>
          </a:r>
        </a:p>
      </dgm:t>
    </dgm:pt>
    <dgm:pt modelId="{DDE15C73-0CA4-4049-B9B1-41E65338FCA2}" type="parTrans" cxnId="{19129A15-A57B-4CA4-956E-3249B877D054}">
      <dgm:prSet/>
      <dgm:spPr/>
      <dgm:t>
        <a:bodyPr/>
        <a:lstStyle/>
        <a:p>
          <a:endParaRPr lang="en-US"/>
        </a:p>
      </dgm:t>
    </dgm:pt>
    <dgm:pt modelId="{2DD8EFFD-B8DF-4DDF-B0A0-46123496D507}" type="sibTrans" cxnId="{19129A15-A57B-4CA4-956E-3249B877D054}">
      <dgm:prSet/>
      <dgm:spPr/>
      <dgm:t>
        <a:bodyPr/>
        <a:lstStyle/>
        <a:p>
          <a:endParaRPr lang="en-US"/>
        </a:p>
      </dgm:t>
    </dgm:pt>
    <dgm:pt modelId="{045C94F8-2FB8-4591-9445-135ADC651512}">
      <dgm:prSet phldrT="[Text]"/>
      <dgm:spPr/>
      <dgm:t>
        <a:bodyPr/>
        <a:lstStyle/>
        <a:p>
          <a:r>
            <a:rPr lang="en-US" dirty="0"/>
            <a:t>Watches API for changes</a:t>
          </a:r>
        </a:p>
      </dgm:t>
    </dgm:pt>
    <dgm:pt modelId="{2DAE4E03-5591-4C7C-AEFB-59F1267FBB7D}" type="parTrans" cxnId="{FD2FA777-862B-4D2E-BB7D-92BEC9536E89}">
      <dgm:prSet/>
      <dgm:spPr/>
      <dgm:t>
        <a:bodyPr/>
        <a:lstStyle/>
        <a:p>
          <a:endParaRPr lang="en-US"/>
        </a:p>
      </dgm:t>
    </dgm:pt>
    <dgm:pt modelId="{F0692511-A122-4957-BB26-F4BA9C66E1B7}" type="sibTrans" cxnId="{FD2FA777-862B-4D2E-BB7D-92BEC9536E89}">
      <dgm:prSet/>
      <dgm:spPr/>
      <dgm:t>
        <a:bodyPr/>
        <a:lstStyle/>
        <a:p>
          <a:endParaRPr lang="en-US"/>
        </a:p>
      </dgm:t>
    </dgm:pt>
    <dgm:pt modelId="{B2CD7ED9-4770-4D36-8561-1FBD7A58A734}">
      <dgm:prSet phldrT="[Text]"/>
      <dgm:spPr/>
      <dgm:t>
        <a:bodyPr/>
        <a:lstStyle/>
        <a:p>
          <a:r>
            <a:rPr lang="en-US" dirty="0"/>
            <a:t>Current state</a:t>
          </a:r>
        </a:p>
      </dgm:t>
    </dgm:pt>
    <dgm:pt modelId="{BFC98D57-6DD8-4ED9-AB9C-ACEC6CAD1AC3}" type="parTrans" cxnId="{022BC16C-04DC-482D-9D4B-FA96E08F940C}">
      <dgm:prSet/>
      <dgm:spPr/>
      <dgm:t>
        <a:bodyPr/>
        <a:lstStyle/>
        <a:p>
          <a:endParaRPr lang="en-US"/>
        </a:p>
      </dgm:t>
    </dgm:pt>
    <dgm:pt modelId="{CA6AF4FE-8A82-4760-8116-56336E1EFEAA}" type="sibTrans" cxnId="{022BC16C-04DC-482D-9D4B-FA96E08F940C}">
      <dgm:prSet/>
      <dgm:spPr/>
      <dgm:t>
        <a:bodyPr/>
        <a:lstStyle/>
        <a:p>
          <a:endParaRPr lang="en-US"/>
        </a:p>
      </dgm:t>
    </dgm:pt>
    <dgm:pt modelId="{C6CB76E7-A6D6-4352-91C0-0ADD32857D4B}">
      <dgm:prSet phldrT="[Text]"/>
      <dgm:spPr/>
      <dgm:t>
        <a:bodyPr/>
        <a:lstStyle/>
        <a:p>
          <a:r>
            <a:rPr lang="en-US" dirty="0"/>
            <a:t>Desired state</a:t>
          </a:r>
        </a:p>
      </dgm:t>
    </dgm:pt>
    <dgm:pt modelId="{DC5DAB65-CE0D-449E-8136-60B6B6D7A8C1}" type="parTrans" cxnId="{4D81CC28-0FE3-49F8-8446-3F350EEFCA66}">
      <dgm:prSet/>
      <dgm:spPr/>
      <dgm:t>
        <a:bodyPr/>
        <a:lstStyle/>
        <a:p>
          <a:endParaRPr lang="en-US"/>
        </a:p>
      </dgm:t>
    </dgm:pt>
    <dgm:pt modelId="{60AE151D-67FE-4C59-8C08-CD278EDDCF9E}" type="sibTrans" cxnId="{4D81CC28-0FE3-49F8-8446-3F350EEFCA66}">
      <dgm:prSet/>
      <dgm:spPr/>
      <dgm:t>
        <a:bodyPr/>
        <a:lstStyle/>
        <a:p>
          <a:endParaRPr lang="en-US"/>
        </a:p>
      </dgm:t>
    </dgm:pt>
    <dgm:pt modelId="{E78D1906-0CE8-4399-8C8D-E3C236BEACE3}">
      <dgm:prSet phldrT="[Text]"/>
      <dgm:spPr/>
      <dgm:t>
        <a:bodyPr/>
        <a:lstStyle/>
        <a:p>
          <a:r>
            <a:rPr lang="en-US" dirty="0"/>
            <a:t>Detect delta</a:t>
          </a:r>
        </a:p>
      </dgm:t>
    </dgm:pt>
    <dgm:pt modelId="{9AB13A9C-F4B1-42A0-A41C-9C39EED59449}" type="parTrans" cxnId="{65F35EC0-F854-42B9-9D18-95AE7B6D27DD}">
      <dgm:prSet/>
      <dgm:spPr/>
      <dgm:t>
        <a:bodyPr/>
        <a:lstStyle/>
        <a:p>
          <a:endParaRPr lang="en-US"/>
        </a:p>
      </dgm:t>
    </dgm:pt>
    <dgm:pt modelId="{90C4778B-FD8B-42DB-AF4F-404A2B65E116}" type="sibTrans" cxnId="{65F35EC0-F854-42B9-9D18-95AE7B6D27DD}">
      <dgm:prSet/>
      <dgm:spPr/>
      <dgm:t>
        <a:bodyPr/>
        <a:lstStyle/>
        <a:p>
          <a:endParaRPr lang="en-US"/>
        </a:p>
      </dgm:t>
    </dgm:pt>
    <dgm:pt modelId="{696FA73C-B230-4880-8378-B971884CEEBC}">
      <dgm:prSet phldrT="[Text]"/>
      <dgm:spPr/>
      <dgm:t>
        <a:bodyPr/>
        <a:lstStyle/>
        <a:p>
          <a:r>
            <a:rPr lang="en-US" dirty="0"/>
            <a:t>Enforce the desired state</a:t>
          </a:r>
        </a:p>
      </dgm:t>
    </dgm:pt>
    <dgm:pt modelId="{A93BC907-0599-45D8-A8D5-041BED871836}" type="parTrans" cxnId="{446E92E5-5B6E-44CD-9742-F58C326B67A4}">
      <dgm:prSet/>
      <dgm:spPr/>
      <dgm:t>
        <a:bodyPr/>
        <a:lstStyle/>
        <a:p>
          <a:endParaRPr lang="en-US"/>
        </a:p>
      </dgm:t>
    </dgm:pt>
    <dgm:pt modelId="{02150E8D-B51C-4C9D-81FB-C999B40C0026}" type="sibTrans" cxnId="{446E92E5-5B6E-44CD-9742-F58C326B67A4}">
      <dgm:prSet/>
      <dgm:spPr/>
      <dgm:t>
        <a:bodyPr/>
        <a:lstStyle/>
        <a:p>
          <a:endParaRPr lang="en-US"/>
        </a:p>
      </dgm:t>
    </dgm:pt>
    <dgm:pt modelId="{0F069941-C7CC-4ACD-9EEF-FB14FC3C8B17}" type="pres">
      <dgm:prSet presAssocID="{BC4D5D8D-46B5-4050-A8A2-9358720318CB}" presName="Name0" presStyleCnt="0">
        <dgm:presLayoutVars>
          <dgm:dir/>
          <dgm:animLvl val="lvl"/>
          <dgm:resizeHandles val="exact"/>
        </dgm:presLayoutVars>
      </dgm:prSet>
      <dgm:spPr/>
    </dgm:pt>
    <dgm:pt modelId="{4069138C-71BC-4043-B37B-B3FB9CBC49C4}" type="pres">
      <dgm:prSet presAssocID="{BC4D5D8D-46B5-4050-A8A2-9358720318CB}" presName="tSp" presStyleCnt="0"/>
      <dgm:spPr/>
    </dgm:pt>
    <dgm:pt modelId="{63D577A2-365B-40D5-9C2F-78227141A330}" type="pres">
      <dgm:prSet presAssocID="{BC4D5D8D-46B5-4050-A8A2-9358720318CB}" presName="bSp" presStyleCnt="0"/>
      <dgm:spPr/>
    </dgm:pt>
    <dgm:pt modelId="{25FE5F9F-5032-451D-9D60-6310C69482FD}" type="pres">
      <dgm:prSet presAssocID="{BC4D5D8D-46B5-4050-A8A2-9358720318CB}" presName="process" presStyleCnt="0"/>
      <dgm:spPr/>
    </dgm:pt>
    <dgm:pt modelId="{4B20B26C-9C20-49EB-8C66-B99E5CEAE3C2}" type="pres">
      <dgm:prSet presAssocID="{5F7701CA-FAE9-401E-8919-DA68891591F1}" presName="composite1" presStyleCnt="0"/>
      <dgm:spPr/>
    </dgm:pt>
    <dgm:pt modelId="{7B6EF50B-482B-4590-998C-E38EB00C168A}" type="pres">
      <dgm:prSet presAssocID="{5F7701CA-FAE9-401E-8919-DA68891591F1}" presName="dummyNode1" presStyleLbl="node1" presStyleIdx="0" presStyleCnt="3"/>
      <dgm:spPr/>
    </dgm:pt>
    <dgm:pt modelId="{76AF6D70-EF0F-4D94-8B10-5B3008C85ED0}" type="pres">
      <dgm:prSet presAssocID="{5F7701CA-FAE9-401E-8919-DA68891591F1}" presName="childNode1" presStyleLbl="bgAcc1" presStyleIdx="0" presStyleCnt="3">
        <dgm:presLayoutVars>
          <dgm:bulletEnabled val="1"/>
        </dgm:presLayoutVars>
      </dgm:prSet>
      <dgm:spPr/>
    </dgm:pt>
    <dgm:pt modelId="{59F1278C-608A-40AD-AE92-1B1BA4D0FD3D}" type="pres">
      <dgm:prSet presAssocID="{5F7701CA-FAE9-401E-8919-DA68891591F1}" presName="childNode1tx" presStyleLbl="bgAcc1" presStyleIdx="0" presStyleCnt="3">
        <dgm:presLayoutVars>
          <dgm:bulletEnabled val="1"/>
        </dgm:presLayoutVars>
      </dgm:prSet>
      <dgm:spPr/>
    </dgm:pt>
    <dgm:pt modelId="{8740B661-5258-4F6A-BBF1-9BC2872E0547}" type="pres">
      <dgm:prSet presAssocID="{5F7701CA-FAE9-401E-8919-DA68891591F1}" presName="parentNode1" presStyleLbl="node1" presStyleIdx="0" presStyleCnt="3">
        <dgm:presLayoutVars>
          <dgm:chMax val="1"/>
          <dgm:bulletEnabled val="1"/>
        </dgm:presLayoutVars>
      </dgm:prSet>
      <dgm:spPr/>
    </dgm:pt>
    <dgm:pt modelId="{B25D8576-B0AF-432C-B834-2BDD99795808}" type="pres">
      <dgm:prSet presAssocID="{5F7701CA-FAE9-401E-8919-DA68891591F1}" presName="connSite1" presStyleCnt="0"/>
      <dgm:spPr/>
    </dgm:pt>
    <dgm:pt modelId="{DE045CBA-ECA2-453C-BFCF-A4743461A41D}" type="pres">
      <dgm:prSet presAssocID="{1E496758-F884-4589-8FBC-E44F78EEE5A6}" presName="Name9" presStyleLbl="sibTrans2D1" presStyleIdx="0" presStyleCnt="2"/>
      <dgm:spPr/>
    </dgm:pt>
    <dgm:pt modelId="{ADAD66C3-4642-4472-B366-D8BBE3716B80}" type="pres">
      <dgm:prSet presAssocID="{3511B0DC-F6D6-48BD-9E3E-8060DA330747}" presName="composite2" presStyleCnt="0"/>
      <dgm:spPr/>
    </dgm:pt>
    <dgm:pt modelId="{F3F43C73-9886-42DA-ADE1-BB542466A931}" type="pres">
      <dgm:prSet presAssocID="{3511B0DC-F6D6-48BD-9E3E-8060DA330747}" presName="dummyNode2" presStyleLbl="node1" presStyleIdx="0" presStyleCnt="3"/>
      <dgm:spPr/>
    </dgm:pt>
    <dgm:pt modelId="{2100B73E-41CC-441C-BAC0-823A501FB953}" type="pres">
      <dgm:prSet presAssocID="{3511B0DC-F6D6-48BD-9E3E-8060DA330747}" presName="childNode2" presStyleLbl="bgAcc1" presStyleIdx="1" presStyleCnt="3">
        <dgm:presLayoutVars>
          <dgm:bulletEnabled val="1"/>
        </dgm:presLayoutVars>
      </dgm:prSet>
      <dgm:spPr/>
    </dgm:pt>
    <dgm:pt modelId="{BDE1A59F-632B-4E78-BDBB-6B8F36D66ACD}" type="pres">
      <dgm:prSet presAssocID="{3511B0DC-F6D6-48BD-9E3E-8060DA330747}" presName="childNode2tx" presStyleLbl="bgAcc1" presStyleIdx="1" presStyleCnt="3">
        <dgm:presLayoutVars>
          <dgm:bulletEnabled val="1"/>
        </dgm:presLayoutVars>
      </dgm:prSet>
      <dgm:spPr/>
    </dgm:pt>
    <dgm:pt modelId="{77134645-C330-4227-A436-590F23FB91E4}" type="pres">
      <dgm:prSet presAssocID="{3511B0DC-F6D6-48BD-9E3E-8060DA330747}" presName="parentNode2" presStyleLbl="node1" presStyleIdx="1" presStyleCnt="3">
        <dgm:presLayoutVars>
          <dgm:chMax val="0"/>
          <dgm:bulletEnabled val="1"/>
        </dgm:presLayoutVars>
      </dgm:prSet>
      <dgm:spPr/>
    </dgm:pt>
    <dgm:pt modelId="{47377A2C-75E3-4C26-B5A9-E6A15B364DA0}" type="pres">
      <dgm:prSet presAssocID="{3511B0DC-F6D6-48BD-9E3E-8060DA330747}" presName="connSite2" presStyleCnt="0"/>
      <dgm:spPr/>
    </dgm:pt>
    <dgm:pt modelId="{97C182FE-34B2-4A5F-BF6F-C8F658CF5256}" type="pres">
      <dgm:prSet presAssocID="{4DA7C20A-7791-417E-8B3D-4A6E6D60BD33}" presName="Name18" presStyleLbl="sibTrans2D1" presStyleIdx="1" presStyleCnt="2"/>
      <dgm:spPr/>
    </dgm:pt>
    <dgm:pt modelId="{5F617D4D-27C9-4C6F-81A5-AA7B1C84BC13}" type="pres">
      <dgm:prSet presAssocID="{FB9AAE57-5715-4E83-B795-233F80C28DD5}" presName="composite1" presStyleCnt="0"/>
      <dgm:spPr/>
    </dgm:pt>
    <dgm:pt modelId="{143D1DE8-C625-4EAF-A935-B3431676C477}" type="pres">
      <dgm:prSet presAssocID="{FB9AAE57-5715-4E83-B795-233F80C28DD5}" presName="dummyNode1" presStyleLbl="node1" presStyleIdx="1" presStyleCnt="3"/>
      <dgm:spPr/>
    </dgm:pt>
    <dgm:pt modelId="{1EA0866B-1050-4C4C-8A04-2910F3F5F2C3}" type="pres">
      <dgm:prSet presAssocID="{FB9AAE57-5715-4E83-B795-233F80C28DD5}" presName="childNode1" presStyleLbl="bgAcc1" presStyleIdx="2" presStyleCnt="3">
        <dgm:presLayoutVars>
          <dgm:bulletEnabled val="1"/>
        </dgm:presLayoutVars>
      </dgm:prSet>
      <dgm:spPr/>
    </dgm:pt>
    <dgm:pt modelId="{70A74145-C002-4907-B26E-B7E0A678C51A}" type="pres">
      <dgm:prSet presAssocID="{FB9AAE57-5715-4E83-B795-233F80C28DD5}" presName="childNode1tx" presStyleLbl="bgAcc1" presStyleIdx="2" presStyleCnt="3">
        <dgm:presLayoutVars>
          <dgm:bulletEnabled val="1"/>
        </dgm:presLayoutVars>
      </dgm:prSet>
      <dgm:spPr/>
    </dgm:pt>
    <dgm:pt modelId="{5BFFEAEE-23B1-4DBB-A971-39909A154747}" type="pres">
      <dgm:prSet presAssocID="{FB9AAE57-5715-4E83-B795-233F80C28DD5}" presName="parentNode1" presStyleLbl="node1" presStyleIdx="2" presStyleCnt="3">
        <dgm:presLayoutVars>
          <dgm:chMax val="1"/>
          <dgm:bulletEnabled val="1"/>
        </dgm:presLayoutVars>
      </dgm:prSet>
      <dgm:spPr/>
    </dgm:pt>
    <dgm:pt modelId="{9B1811DB-300F-4DFE-B0F3-83467025BA14}" type="pres">
      <dgm:prSet presAssocID="{FB9AAE57-5715-4E83-B795-233F80C28DD5}" presName="connSite1" presStyleCnt="0"/>
      <dgm:spPr/>
    </dgm:pt>
  </dgm:ptLst>
  <dgm:cxnLst>
    <dgm:cxn modelId="{4CC0F50F-E639-46A7-BA9B-C38C48A8E5A7}" type="presOf" srcId="{FB9AAE57-5715-4E83-B795-233F80C28DD5}" destId="{5BFFEAEE-23B1-4DBB-A971-39909A154747}" srcOrd="0" destOrd="0" presId="urn:microsoft.com/office/officeart/2005/8/layout/hProcess4"/>
    <dgm:cxn modelId="{19129A15-A57B-4CA4-956E-3249B877D054}" srcId="{5F7701CA-FAE9-401E-8919-DA68891591F1}" destId="{06A4AA28-4648-46CF-81EC-A9DC778D7A58}" srcOrd="0" destOrd="0" parTransId="{DDE15C73-0CA4-4049-B9B1-41E65338FCA2}" sibTransId="{2DD8EFFD-B8DF-4DDF-B0A0-46123496D507}"/>
    <dgm:cxn modelId="{4D81CC28-0FE3-49F8-8446-3F350EEFCA66}" srcId="{3511B0DC-F6D6-48BD-9E3E-8060DA330747}" destId="{C6CB76E7-A6D6-4352-91C0-0ADD32857D4B}" srcOrd="1" destOrd="0" parTransId="{DC5DAB65-CE0D-449E-8136-60B6B6D7A8C1}" sibTransId="{60AE151D-67FE-4C59-8C08-CD278EDDCF9E}"/>
    <dgm:cxn modelId="{CD5E4348-559C-4A1D-B671-C271C78CE60C}" type="presOf" srcId="{4DA7C20A-7791-417E-8B3D-4A6E6D60BD33}" destId="{97C182FE-34B2-4A5F-BF6F-C8F658CF5256}" srcOrd="0" destOrd="0" presId="urn:microsoft.com/office/officeart/2005/8/layout/hProcess4"/>
    <dgm:cxn modelId="{370A7950-74C6-46AC-BD6B-CFC6FA4385FB}" type="presOf" srcId="{06A4AA28-4648-46CF-81EC-A9DC778D7A58}" destId="{76AF6D70-EF0F-4D94-8B10-5B3008C85ED0}" srcOrd="0" destOrd="0" presId="urn:microsoft.com/office/officeart/2005/8/layout/hProcess4"/>
    <dgm:cxn modelId="{61AA9D58-A016-4FBC-9C02-0633F5D95AC3}" type="presOf" srcId="{5F7701CA-FAE9-401E-8919-DA68891591F1}" destId="{8740B661-5258-4F6A-BBF1-9BC2872E0547}" srcOrd="0" destOrd="0" presId="urn:microsoft.com/office/officeart/2005/8/layout/hProcess4"/>
    <dgm:cxn modelId="{A6BBB958-741B-42BD-9B0E-CFBC186A3C54}" type="presOf" srcId="{E78D1906-0CE8-4399-8C8D-E3C236BEACE3}" destId="{BDE1A59F-632B-4E78-BDBB-6B8F36D66ACD}" srcOrd="1" destOrd="2" presId="urn:microsoft.com/office/officeart/2005/8/layout/hProcess4"/>
    <dgm:cxn modelId="{2AB9E25B-F590-47F7-B0D3-691E1853FC1F}" type="presOf" srcId="{E78D1906-0CE8-4399-8C8D-E3C236BEACE3}" destId="{2100B73E-41CC-441C-BAC0-823A501FB953}" srcOrd="0" destOrd="2" presId="urn:microsoft.com/office/officeart/2005/8/layout/hProcess4"/>
    <dgm:cxn modelId="{95085E67-5884-441F-B103-8E71061E819E}" type="presOf" srcId="{1E496758-F884-4589-8FBC-E44F78EEE5A6}" destId="{DE045CBA-ECA2-453C-BFCF-A4743461A41D}" srcOrd="0" destOrd="0" presId="urn:microsoft.com/office/officeart/2005/8/layout/hProcess4"/>
    <dgm:cxn modelId="{022BC16C-04DC-482D-9D4B-FA96E08F940C}" srcId="{3511B0DC-F6D6-48BD-9E3E-8060DA330747}" destId="{B2CD7ED9-4770-4D36-8561-1FBD7A58A734}" srcOrd="0" destOrd="0" parTransId="{BFC98D57-6DD8-4ED9-AB9C-ACEC6CAD1AC3}" sibTransId="{CA6AF4FE-8A82-4760-8116-56336E1EFEAA}"/>
    <dgm:cxn modelId="{FD2FA777-862B-4D2E-BB7D-92BEC9536E89}" srcId="{5F7701CA-FAE9-401E-8919-DA68891591F1}" destId="{045C94F8-2FB8-4591-9445-135ADC651512}" srcOrd="1" destOrd="0" parTransId="{2DAE4E03-5591-4C7C-AEFB-59F1267FBB7D}" sibTransId="{F0692511-A122-4957-BB26-F4BA9C66E1B7}"/>
    <dgm:cxn modelId="{4BAFAA84-A6FF-4EC7-9584-C02E3A6BB20F}" type="presOf" srcId="{B2CD7ED9-4770-4D36-8561-1FBD7A58A734}" destId="{2100B73E-41CC-441C-BAC0-823A501FB953}" srcOrd="0" destOrd="0" presId="urn:microsoft.com/office/officeart/2005/8/layout/hProcess4"/>
    <dgm:cxn modelId="{3DD8D885-928A-45E9-B1CE-E985BD54F0ED}" type="presOf" srcId="{045C94F8-2FB8-4591-9445-135ADC651512}" destId="{59F1278C-608A-40AD-AE92-1B1BA4D0FD3D}" srcOrd="1" destOrd="1" presId="urn:microsoft.com/office/officeart/2005/8/layout/hProcess4"/>
    <dgm:cxn modelId="{52C41288-D24D-4335-ACEA-B7BB0A819297}" type="presOf" srcId="{3511B0DC-F6D6-48BD-9E3E-8060DA330747}" destId="{77134645-C330-4227-A436-590F23FB91E4}" srcOrd="0" destOrd="0" presId="urn:microsoft.com/office/officeart/2005/8/layout/hProcess4"/>
    <dgm:cxn modelId="{DE5FB28D-694F-4FBC-92D3-3C7F817EEB57}" type="presOf" srcId="{06A4AA28-4648-46CF-81EC-A9DC778D7A58}" destId="{59F1278C-608A-40AD-AE92-1B1BA4D0FD3D}" srcOrd="1" destOrd="0" presId="urn:microsoft.com/office/officeart/2005/8/layout/hProcess4"/>
    <dgm:cxn modelId="{C4078792-38FE-4491-A15C-F77A3D7ADB90}" type="presOf" srcId="{C6CB76E7-A6D6-4352-91C0-0ADD32857D4B}" destId="{BDE1A59F-632B-4E78-BDBB-6B8F36D66ACD}" srcOrd="1" destOrd="1" presId="urn:microsoft.com/office/officeart/2005/8/layout/hProcess4"/>
    <dgm:cxn modelId="{478F2B98-78D1-4EC9-9DC0-156B0B8E8F78}" type="presOf" srcId="{BC4D5D8D-46B5-4050-A8A2-9358720318CB}" destId="{0F069941-C7CC-4ACD-9EEF-FB14FC3C8B17}" srcOrd="0" destOrd="0" presId="urn:microsoft.com/office/officeart/2005/8/layout/hProcess4"/>
    <dgm:cxn modelId="{788EE39B-32B1-4162-8BBC-1C338A4C1A09}" srcId="{BC4D5D8D-46B5-4050-A8A2-9358720318CB}" destId="{5F7701CA-FAE9-401E-8919-DA68891591F1}" srcOrd="0" destOrd="0" parTransId="{57EC1A04-2D89-479D-B4CD-41E513268C4C}" sibTransId="{1E496758-F884-4589-8FBC-E44F78EEE5A6}"/>
    <dgm:cxn modelId="{DE68409D-01E2-4E6D-8D16-F12866419616}" type="presOf" srcId="{045C94F8-2FB8-4591-9445-135ADC651512}" destId="{76AF6D70-EF0F-4D94-8B10-5B3008C85ED0}" srcOrd="0" destOrd="1" presId="urn:microsoft.com/office/officeart/2005/8/layout/hProcess4"/>
    <dgm:cxn modelId="{3EBDD0B0-D8AA-4086-95FE-4ECD167CE4C8}" type="presOf" srcId="{696FA73C-B230-4880-8378-B971884CEEBC}" destId="{1EA0866B-1050-4C4C-8A04-2910F3F5F2C3}" srcOrd="0" destOrd="0" presId="urn:microsoft.com/office/officeart/2005/8/layout/hProcess4"/>
    <dgm:cxn modelId="{66F95FB8-D453-4942-9163-074BDA92941E}" type="presOf" srcId="{B2CD7ED9-4770-4D36-8561-1FBD7A58A734}" destId="{BDE1A59F-632B-4E78-BDBB-6B8F36D66ACD}" srcOrd="1" destOrd="0" presId="urn:microsoft.com/office/officeart/2005/8/layout/hProcess4"/>
    <dgm:cxn modelId="{4AA21BBC-29B0-4376-8FA9-2ECF348FFB0B}" srcId="{BC4D5D8D-46B5-4050-A8A2-9358720318CB}" destId="{3511B0DC-F6D6-48BD-9E3E-8060DA330747}" srcOrd="1" destOrd="0" parTransId="{DB215E9B-41B1-4594-AECD-054A768F9C75}" sibTransId="{4DA7C20A-7791-417E-8B3D-4A6E6D60BD33}"/>
    <dgm:cxn modelId="{2816C6BF-DAD6-46C7-876C-AD193175ADED}" srcId="{BC4D5D8D-46B5-4050-A8A2-9358720318CB}" destId="{FB9AAE57-5715-4E83-B795-233F80C28DD5}" srcOrd="2" destOrd="0" parTransId="{DEC4E5B5-5AAD-461A-8948-F5A4F37B3F48}" sibTransId="{51F931F7-68A4-4543-AC94-B359BC369D41}"/>
    <dgm:cxn modelId="{65F35EC0-F854-42B9-9D18-95AE7B6D27DD}" srcId="{3511B0DC-F6D6-48BD-9E3E-8060DA330747}" destId="{E78D1906-0CE8-4399-8C8D-E3C236BEACE3}" srcOrd="2" destOrd="0" parTransId="{9AB13A9C-F4B1-42A0-A41C-9C39EED59449}" sibTransId="{90C4778B-FD8B-42DB-AF4F-404A2B65E116}"/>
    <dgm:cxn modelId="{3B7226CB-A000-4274-A1EC-88457C87881C}" type="presOf" srcId="{C6CB76E7-A6D6-4352-91C0-0ADD32857D4B}" destId="{2100B73E-41CC-441C-BAC0-823A501FB953}" srcOrd="0" destOrd="1" presId="urn:microsoft.com/office/officeart/2005/8/layout/hProcess4"/>
    <dgm:cxn modelId="{A97063E3-83B6-481C-8CA1-F402CC8C5AE1}" type="presOf" srcId="{696FA73C-B230-4880-8378-B971884CEEBC}" destId="{70A74145-C002-4907-B26E-B7E0A678C51A}" srcOrd="1" destOrd="0" presId="urn:microsoft.com/office/officeart/2005/8/layout/hProcess4"/>
    <dgm:cxn modelId="{446E92E5-5B6E-44CD-9742-F58C326B67A4}" srcId="{FB9AAE57-5715-4E83-B795-233F80C28DD5}" destId="{696FA73C-B230-4880-8378-B971884CEEBC}" srcOrd="0" destOrd="0" parTransId="{A93BC907-0599-45D8-A8D5-041BED871836}" sibTransId="{02150E8D-B51C-4C9D-81FB-C999B40C0026}"/>
    <dgm:cxn modelId="{0F9A3861-FD60-4F2B-95B6-897EE26148CF}" type="presParOf" srcId="{0F069941-C7CC-4ACD-9EEF-FB14FC3C8B17}" destId="{4069138C-71BC-4043-B37B-B3FB9CBC49C4}" srcOrd="0" destOrd="0" presId="urn:microsoft.com/office/officeart/2005/8/layout/hProcess4"/>
    <dgm:cxn modelId="{631D7406-72C3-47E6-88F4-C0752EB43F0D}" type="presParOf" srcId="{0F069941-C7CC-4ACD-9EEF-FB14FC3C8B17}" destId="{63D577A2-365B-40D5-9C2F-78227141A330}" srcOrd="1" destOrd="0" presId="urn:microsoft.com/office/officeart/2005/8/layout/hProcess4"/>
    <dgm:cxn modelId="{BADB31CF-B4A8-4A9B-A689-B640D9553B7F}" type="presParOf" srcId="{0F069941-C7CC-4ACD-9EEF-FB14FC3C8B17}" destId="{25FE5F9F-5032-451D-9D60-6310C69482FD}" srcOrd="2" destOrd="0" presId="urn:microsoft.com/office/officeart/2005/8/layout/hProcess4"/>
    <dgm:cxn modelId="{629E19D1-D21B-4361-877B-FB83AF71B876}" type="presParOf" srcId="{25FE5F9F-5032-451D-9D60-6310C69482FD}" destId="{4B20B26C-9C20-49EB-8C66-B99E5CEAE3C2}" srcOrd="0" destOrd="0" presId="urn:microsoft.com/office/officeart/2005/8/layout/hProcess4"/>
    <dgm:cxn modelId="{BE1BBC4F-BD41-4DDC-B752-F6D8CA3DC3FA}" type="presParOf" srcId="{4B20B26C-9C20-49EB-8C66-B99E5CEAE3C2}" destId="{7B6EF50B-482B-4590-998C-E38EB00C168A}" srcOrd="0" destOrd="0" presId="urn:microsoft.com/office/officeart/2005/8/layout/hProcess4"/>
    <dgm:cxn modelId="{50B1D1C5-05E2-49F6-B72E-584B4F2CFC05}" type="presParOf" srcId="{4B20B26C-9C20-49EB-8C66-B99E5CEAE3C2}" destId="{76AF6D70-EF0F-4D94-8B10-5B3008C85ED0}" srcOrd="1" destOrd="0" presId="urn:microsoft.com/office/officeart/2005/8/layout/hProcess4"/>
    <dgm:cxn modelId="{C894726B-84EE-43C4-9D56-5799EB094482}" type="presParOf" srcId="{4B20B26C-9C20-49EB-8C66-B99E5CEAE3C2}" destId="{59F1278C-608A-40AD-AE92-1B1BA4D0FD3D}" srcOrd="2" destOrd="0" presId="urn:microsoft.com/office/officeart/2005/8/layout/hProcess4"/>
    <dgm:cxn modelId="{2A5A938A-DC35-45E7-8718-56A124163C5C}" type="presParOf" srcId="{4B20B26C-9C20-49EB-8C66-B99E5CEAE3C2}" destId="{8740B661-5258-4F6A-BBF1-9BC2872E0547}" srcOrd="3" destOrd="0" presId="urn:microsoft.com/office/officeart/2005/8/layout/hProcess4"/>
    <dgm:cxn modelId="{0B95E0FC-D0BB-40B4-B7F1-A1BD817EFC0D}" type="presParOf" srcId="{4B20B26C-9C20-49EB-8C66-B99E5CEAE3C2}" destId="{B25D8576-B0AF-432C-B834-2BDD99795808}" srcOrd="4" destOrd="0" presId="urn:microsoft.com/office/officeart/2005/8/layout/hProcess4"/>
    <dgm:cxn modelId="{E39277AB-C5E4-49CA-9DD5-4A1425172D5D}" type="presParOf" srcId="{25FE5F9F-5032-451D-9D60-6310C69482FD}" destId="{DE045CBA-ECA2-453C-BFCF-A4743461A41D}" srcOrd="1" destOrd="0" presId="urn:microsoft.com/office/officeart/2005/8/layout/hProcess4"/>
    <dgm:cxn modelId="{9754CE92-3926-44DC-93F4-09AFCEC0A33F}" type="presParOf" srcId="{25FE5F9F-5032-451D-9D60-6310C69482FD}" destId="{ADAD66C3-4642-4472-B366-D8BBE3716B80}" srcOrd="2" destOrd="0" presId="urn:microsoft.com/office/officeart/2005/8/layout/hProcess4"/>
    <dgm:cxn modelId="{80D6298D-AD8F-45FB-B1A8-E6D4A7867C48}" type="presParOf" srcId="{ADAD66C3-4642-4472-B366-D8BBE3716B80}" destId="{F3F43C73-9886-42DA-ADE1-BB542466A931}" srcOrd="0" destOrd="0" presId="urn:microsoft.com/office/officeart/2005/8/layout/hProcess4"/>
    <dgm:cxn modelId="{83A2C28A-075E-467E-B6C8-93F9BB617CCA}" type="presParOf" srcId="{ADAD66C3-4642-4472-B366-D8BBE3716B80}" destId="{2100B73E-41CC-441C-BAC0-823A501FB953}" srcOrd="1" destOrd="0" presId="urn:microsoft.com/office/officeart/2005/8/layout/hProcess4"/>
    <dgm:cxn modelId="{71BA2074-8C4F-4590-849C-83F100CC59D3}" type="presParOf" srcId="{ADAD66C3-4642-4472-B366-D8BBE3716B80}" destId="{BDE1A59F-632B-4E78-BDBB-6B8F36D66ACD}" srcOrd="2" destOrd="0" presId="urn:microsoft.com/office/officeart/2005/8/layout/hProcess4"/>
    <dgm:cxn modelId="{1F8EEE2D-0420-46A8-A327-4DA37B0FDB6A}" type="presParOf" srcId="{ADAD66C3-4642-4472-B366-D8BBE3716B80}" destId="{77134645-C330-4227-A436-590F23FB91E4}" srcOrd="3" destOrd="0" presId="urn:microsoft.com/office/officeart/2005/8/layout/hProcess4"/>
    <dgm:cxn modelId="{55566251-A2D1-42CF-BE48-C4EEB81643B1}" type="presParOf" srcId="{ADAD66C3-4642-4472-B366-D8BBE3716B80}" destId="{47377A2C-75E3-4C26-B5A9-E6A15B364DA0}" srcOrd="4" destOrd="0" presId="urn:microsoft.com/office/officeart/2005/8/layout/hProcess4"/>
    <dgm:cxn modelId="{A3ABDD4F-E8A1-4441-B6AF-68182CFFAC4E}" type="presParOf" srcId="{25FE5F9F-5032-451D-9D60-6310C69482FD}" destId="{97C182FE-34B2-4A5F-BF6F-C8F658CF5256}" srcOrd="3" destOrd="0" presId="urn:microsoft.com/office/officeart/2005/8/layout/hProcess4"/>
    <dgm:cxn modelId="{43BD0F53-64A6-4A51-BE45-B5E04F1D402B}" type="presParOf" srcId="{25FE5F9F-5032-451D-9D60-6310C69482FD}" destId="{5F617D4D-27C9-4C6F-81A5-AA7B1C84BC13}" srcOrd="4" destOrd="0" presId="urn:microsoft.com/office/officeart/2005/8/layout/hProcess4"/>
    <dgm:cxn modelId="{50363928-79D2-4A58-900A-C5BD52514791}" type="presParOf" srcId="{5F617D4D-27C9-4C6F-81A5-AA7B1C84BC13}" destId="{143D1DE8-C625-4EAF-A935-B3431676C477}" srcOrd="0" destOrd="0" presId="urn:microsoft.com/office/officeart/2005/8/layout/hProcess4"/>
    <dgm:cxn modelId="{AF3119F9-895D-478C-A3D7-CAC1DE8EF85B}" type="presParOf" srcId="{5F617D4D-27C9-4C6F-81A5-AA7B1C84BC13}" destId="{1EA0866B-1050-4C4C-8A04-2910F3F5F2C3}" srcOrd="1" destOrd="0" presId="urn:microsoft.com/office/officeart/2005/8/layout/hProcess4"/>
    <dgm:cxn modelId="{E6AD2C6C-E3A7-41F1-BF35-477364806A03}" type="presParOf" srcId="{5F617D4D-27C9-4C6F-81A5-AA7B1C84BC13}" destId="{70A74145-C002-4907-B26E-B7E0A678C51A}" srcOrd="2" destOrd="0" presId="urn:microsoft.com/office/officeart/2005/8/layout/hProcess4"/>
    <dgm:cxn modelId="{3E356680-AAEF-4EBB-A9D0-BD02FA8769B2}" type="presParOf" srcId="{5F617D4D-27C9-4C6F-81A5-AA7B1C84BC13}" destId="{5BFFEAEE-23B1-4DBB-A971-39909A154747}" srcOrd="3" destOrd="0" presId="urn:microsoft.com/office/officeart/2005/8/layout/hProcess4"/>
    <dgm:cxn modelId="{80DBB82A-2360-4ED4-A9D0-5C81A376B62A}" type="presParOf" srcId="{5F617D4D-27C9-4C6F-81A5-AA7B1C84BC13}" destId="{9B1811DB-300F-4DFE-B0F3-83467025BA14}" srcOrd="4" destOrd="0" presId="urn:microsoft.com/office/officeart/2005/8/layout/h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AF6D70-EF0F-4D94-8B10-5B3008C85ED0}">
      <dsp:nvSpPr>
        <dsp:cNvPr id="0" name=""/>
        <dsp:cNvSpPr/>
      </dsp:nvSpPr>
      <dsp:spPr>
        <a:xfrm>
          <a:off x="944355" y="988205"/>
          <a:ext cx="2302285" cy="1898904"/>
        </a:xfrm>
        <a:prstGeom prst="roundRect">
          <a:avLst>
            <a:gd name="adj" fmla="val 10000"/>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7625" tIns="47625" rIns="47625" bIns="476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Control loop</a:t>
          </a:r>
        </a:p>
        <a:p>
          <a:pPr marL="228600" lvl="1" indent="-228600" algn="l" defTabSz="1111250">
            <a:lnSpc>
              <a:spcPct val="90000"/>
            </a:lnSpc>
            <a:spcBef>
              <a:spcPct val="0"/>
            </a:spcBef>
            <a:spcAft>
              <a:spcPct val="15000"/>
            </a:spcAft>
            <a:buChar char="•"/>
          </a:pPr>
          <a:r>
            <a:rPr lang="en-US" sz="2500" kern="1200" dirty="0"/>
            <a:t>Watches API for changes</a:t>
          </a:r>
        </a:p>
      </dsp:txBody>
      <dsp:txXfrm>
        <a:off x="988054" y="1031904"/>
        <a:ext cx="2214887" cy="1404598"/>
      </dsp:txXfrm>
    </dsp:sp>
    <dsp:sp modelId="{DE045CBA-ECA2-453C-BFCF-A4743461A41D}">
      <dsp:nvSpPr>
        <dsp:cNvPr id="0" name=""/>
        <dsp:cNvSpPr/>
      </dsp:nvSpPr>
      <dsp:spPr>
        <a:xfrm>
          <a:off x="2192835" y="1277605"/>
          <a:ext cx="2779586" cy="2779586"/>
        </a:xfrm>
        <a:prstGeom prst="leftCircularArrow">
          <a:avLst>
            <a:gd name="adj1" fmla="val 4014"/>
            <a:gd name="adj2" fmla="val 504215"/>
            <a:gd name="adj3" fmla="val 2279726"/>
            <a:gd name="adj4" fmla="val 9024489"/>
            <a:gd name="adj5" fmla="val 4683"/>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740B661-5258-4F6A-BBF1-9BC2872E0547}">
      <dsp:nvSpPr>
        <dsp:cNvPr id="0" name=""/>
        <dsp:cNvSpPr/>
      </dsp:nvSpPr>
      <dsp:spPr>
        <a:xfrm>
          <a:off x="1455974" y="2480201"/>
          <a:ext cx="2046476" cy="813816"/>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48260" rIns="72390" bIns="48260" numCol="1" spcCol="1270" anchor="ctr" anchorCtr="0">
          <a:noAutofit/>
        </a:bodyPr>
        <a:lstStyle/>
        <a:p>
          <a:pPr marL="0" lvl="0" indent="0" algn="ctr" defTabSz="1689100">
            <a:lnSpc>
              <a:spcPct val="90000"/>
            </a:lnSpc>
            <a:spcBef>
              <a:spcPct val="0"/>
            </a:spcBef>
            <a:spcAft>
              <a:spcPct val="35000"/>
            </a:spcAft>
            <a:buNone/>
          </a:pPr>
          <a:r>
            <a:rPr lang="en-US" sz="3800" kern="1200" dirty="0"/>
            <a:t>Observe</a:t>
          </a:r>
        </a:p>
      </dsp:txBody>
      <dsp:txXfrm>
        <a:off x="1479810" y="2504037"/>
        <a:ext cx="1998804" cy="766144"/>
      </dsp:txXfrm>
    </dsp:sp>
    <dsp:sp modelId="{2100B73E-41CC-441C-BAC0-823A501FB953}">
      <dsp:nvSpPr>
        <dsp:cNvPr id="0" name=""/>
        <dsp:cNvSpPr/>
      </dsp:nvSpPr>
      <dsp:spPr>
        <a:xfrm>
          <a:off x="4033728" y="988205"/>
          <a:ext cx="2302285" cy="1898904"/>
        </a:xfrm>
        <a:prstGeom prst="roundRect">
          <a:avLst>
            <a:gd name="adj" fmla="val 10000"/>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7625" tIns="47625" rIns="47625" bIns="476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Current state</a:t>
          </a:r>
        </a:p>
        <a:p>
          <a:pPr marL="228600" lvl="1" indent="-228600" algn="l" defTabSz="1111250">
            <a:lnSpc>
              <a:spcPct val="90000"/>
            </a:lnSpc>
            <a:spcBef>
              <a:spcPct val="0"/>
            </a:spcBef>
            <a:spcAft>
              <a:spcPct val="15000"/>
            </a:spcAft>
            <a:buChar char="•"/>
          </a:pPr>
          <a:r>
            <a:rPr lang="en-US" sz="2500" kern="1200" dirty="0"/>
            <a:t>Desired state</a:t>
          </a:r>
        </a:p>
        <a:p>
          <a:pPr marL="228600" lvl="1" indent="-228600" algn="l" defTabSz="1111250">
            <a:lnSpc>
              <a:spcPct val="90000"/>
            </a:lnSpc>
            <a:spcBef>
              <a:spcPct val="0"/>
            </a:spcBef>
            <a:spcAft>
              <a:spcPct val="15000"/>
            </a:spcAft>
            <a:buChar char="•"/>
          </a:pPr>
          <a:r>
            <a:rPr lang="en-US" sz="2500" kern="1200" dirty="0"/>
            <a:t>Detect delta</a:t>
          </a:r>
        </a:p>
      </dsp:txBody>
      <dsp:txXfrm>
        <a:off x="4077427" y="1438812"/>
        <a:ext cx="2214887" cy="1404598"/>
      </dsp:txXfrm>
    </dsp:sp>
    <dsp:sp modelId="{97C182FE-34B2-4A5F-BF6F-C8F658CF5256}">
      <dsp:nvSpPr>
        <dsp:cNvPr id="0" name=""/>
        <dsp:cNvSpPr/>
      </dsp:nvSpPr>
      <dsp:spPr>
        <a:xfrm>
          <a:off x="5263022" y="-256330"/>
          <a:ext cx="3073766" cy="3073766"/>
        </a:xfrm>
        <a:prstGeom prst="circularArrow">
          <a:avLst>
            <a:gd name="adj1" fmla="val 3630"/>
            <a:gd name="adj2" fmla="val 451759"/>
            <a:gd name="adj3" fmla="val 19372730"/>
            <a:gd name="adj4" fmla="val 12575511"/>
            <a:gd name="adj5" fmla="val 4235"/>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7134645-C330-4227-A436-590F23FB91E4}">
      <dsp:nvSpPr>
        <dsp:cNvPr id="0" name=""/>
        <dsp:cNvSpPr/>
      </dsp:nvSpPr>
      <dsp:spPr>
        <a:xfrm>
          <a:off x="4545347" y="581297"/>
          <a:ext cx="2046476" cy="813816"/>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48260" rIns="72390" bIns="48260" numCol="1" spcCol="1270" anchor="ctr" anchorCtr="0">
          <a:noAutofit/>
        </a:bodyPr>
        <a:lstStyle/>
        <a:p>
          <a:pPr marL="0" lvl="0" indent="0" algn="ctr" defTabSz="1689100">
            <a:lnSpc>
              <a:spcPct val="90000"/>
            </a:lnSpc>
            <a:spcBef>
              <a:spcPct val="0"/>
            </a:spcBef>
            <a:spcAft>
              <a:spcPct val="35000"/>
            </a:spcAft>
            <a:buNone/>
          </a:pPr>
          <a:r>
            <a:rPr lang="en-US" sz="3800" kern="1200" dirty="0"/>
            <a:t>Analyze</a:t>
          </a:r>
        </a:p>
      </dsp:txBody>
      <dsp:txXfrm>
        <a:off x="4569183" y="605133"/>
        <a:ext cx="1998804" cy="766144"/>
      </dsp:txXfrm>
    </dsp:sp>
    <dsp:sp modelId="{1EA0866B-1050-4C4C-8A04-2910F3F5F2C3}">
      <dsp:nvSpPr>
        <dsp:cNvPr id="0" name=""/>
        <dsp:cNvSpPr/>
      </dsp:nvSpPr>
      <dsp:spPr>
        <a:xfrm>
          <a:off x="7123101" y="988205"/>
          <a:ext cx="2302285" cy="1898904"/>
        </a:xfrm>
        <a:prstGeom prst="roundRect">
          <a:avLst>
            <a:gd name="adj" fmla="val 10000"/>
          </a:avLst>
        </a:prstGeom>
        <a:solidFill>
          <a:schemeClr val="dk1">
            <a:alpha val="90000"/>
            <a:tint val="40000"/>
            <a:hueOff val="0"/>
            <a:satOff val="0"/>
            <a:lumOff val="0"/>
            <a:alphaOff val="0"/>
          </a:schemeClr>
        </a:solidFill>
        <a:ln w="1905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7625" tIns="47625" rIns="47625" bIns="476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Enforce the desired state</a:t>
          </a:r>
        </a:p>
      </dsp:txBody>
      <dsp:txXfrm>
        <a:off x="7166800" y="1031904"/>
        <a:ext cx="2214887" cy="1404598"/>
      </dsp:txXfrm>
    </dsp:sp>
    <dsp:sp modelId="{5BFFEAEE-23B1-4DBB-A971-39909A154747}">
      <dsp:nvSpPr>
        <dsp:cNvPr id="0" name=""/>
        <dsp:cNvSpPr/>
      </dsp:nvSpPr>
      <dsp:spPr>
        <a:xfrm>
          <a:off x="7634720" y="2480201"/>
          <a:ext cx="2046476" cy="813816"/>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48260" rIns="72390" bIns="48260" numCol="1" spcCol="1270" anchor="ctr" anchorCtr="0">
          <a:noAutofit/>
        </a:bodyPr>
        <a:lstStyle/>
        <a:p>
          <a:pPr marL="0" lvl="0" indent="0" algn="ctr" defTabSz="1689100">
            <a:lnSpc>
              <a:spcPct val="90000"/>
            </a:lnSpc>
            <a:spcBef>
              <a:spcPct val="0"/>
            </a:spcBef>
            <a:spcAft>
              <a:spcPct val="35000"/>
            </a:spcAft>
            <a:buNone/>
          </a:pPr>
          <a:r>
            <a:rPr lang="en-US" sz="3800" kern="1200" dirty="0"/>
            <a:t>Act</a:t>
          </a:r>
        </a:p>
      </dsp:txBody>
      <dsp:txXfrm>
        <a:off x="7658556" y="2504037"/>
        <a:ext cx="1998804" cy="766144"/>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‹Nr.›</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a:lvl1pPr>
          </a:lstStyle>
          <a:p>
            <a:fld id="{7D8C2C35-2B8A-446E-BEC0-FD36716C29AC}" type="slidenum">
              <a:rPr lang="de-DE" smtClean="0"/>
              <a:pPr/>
              <a:t>‹Nr.›</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000" indent="-180000" algn="l" defTabSz="1088776" rtl="0" eaLnBrk="1" latinLnBrk="0" hangingPunct="1">
      <a:buClr>
        <a:schemeClr val="accent1"/>
      </a:buClr>
      <a:buSzPct val="100000"/>
      <a:buFont typeface="Wingdings" pitchFamily="2" charset="2"/>
      <a:buChar char=""/>
      <a:defRPr sz="1400" kern="1200">
        <a:solidFill>
          <a:schemeClr val="tx1"/>
        </a:solidFill>
        <a:latin typeface="+mn-lt"/>
        <a:ea typeface="+mn-ea"/>
        <a:cs typeface="+mn-cs"/>
      </a:defRPr>
    </a:lvl2pPr>
    <a:lvl3pPr marL="360000" indent="-180000"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a:t>
            </a:fld>
            <a:endParaRPr lang="de-DE" dirty="0"/>
          </a:p>
        </p:txBody>
      </p:sp>
    </p:spTree>
    <p:extLst>
      <p:ext uri="{BB962C8B-B14F-4D97-AF65-F5344CB8AC3E}">
        <p14:creationId xmlns:p14="http://schemas.microsoft.com/office/powerpoint/2010/main" val="9775888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look at </a:t>
            </a:r>
            <a:r>
              <a:rPr lang="en-US" dirty="0" err="1"/>
              <a:t>kubernetes</a:t>
            </a:r>
            <a:r>
              <a:rPr lang="en-US" dirty="0"/>
              <a:t> from different perspectives – application centric as well as administrative. Lets start looking at k8s from the application point of view and which concepts k8s offers to run your code.</a:t>
            </a:r>
          </a:p>
          <a:p>
            <a:r>
              <a:rPr lang="en-US" dirty="0"/>
              <a:t>For an application, k8s is an abstraction of </a:t>
            </a:r>
            <a:r>
              <a:rPr lang="en-US" dirty="0" err="1"/>
              <a:t>cpu</a:t>
            </a:r>
            <a:r>
              <a:rPr lang="en-US" dirty="0"/>
              <a:t>, memory, I/O, network, storage, … which we can consume to run our code.</a:t>
            </a:r>
          </a:p>
        </p:txBody>
      </p:sp>
      <p:sp>
        <p:nvSpPr>
          <p:cNvPr id="4" name="Slide Number Placeholder 3"/>
          <p:cNvSpPr>
            <a:spLocks noGrp="1"/>
          </p:cNvSpPr>
          <p:nvPr>
            <p:ph type="sldNum" sz="quarter" idx="10"/>
          </p:nvPr>
        </p:nvSpPr>
        <p:spPr/>
        <p:txBody>
          <a:bodyPr/>
          <a:lstStyle/>
          <a:p>
            <a:fld id="{7D8C2C35-2B8A-446E-BEC0-FD36716C29AC}" type="slidenum">
              <a:rPr lang="de-DE" smtClean="0"/>
              <a:pPr/>
              <a:t>2</a:t>
            </a:fld>
            <a:endParaRPr lang="de-DE" dirty="0"/>
          </a:p>
        </p:txBody>
      </p:sp>
    </p:spTree>
    <p:extLst>
      <p:ext uri="{BB962C8B-B14F-4D97-AF65-F5344CB8AC3E}">
        <p14:creationId xmlns:p14="http://schemas.microsoft.com/office/powerpoint/2010/main" val="14133276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dirty="0"/>
              <a:t>Lets take a look at all the concepts that </a:t>
            </a:r>
            <a:r>
              <a:rPr lang="en-US" dirty="0" err="1"/>
              <a:t>kubernetes</a:t>
            </a:r>
            <a:r>
              <a:rPr lang="en-US" dirty="0"/>
              <a:t> knows and uses to run your code.</a:t>
            </a:r>
          </a:p>
          <a:p>
            <a:endParaRPr lang="en-US" dirty="0"/>
          </a:p>
          <a:p>
            <a:r>
              <a:rPr lang="en-US" dirty="0"/>
              <a:t>The central part remains our image, which contains the application we want to run. In the end Kubernetes runs lots and lots of container – however in a smart way ;)</a:t>
            </a:r>
          </a:p>
          <a:p>
            <a:endParaRPr lang="en-US" dirty="0"/>
          </a:p>
          <a:p>
            <a:r>
              <a:rPr lang="en-US" dirty="0"/>
              <a:t>But Kubernetes doesn’t allow you to schedule individual container, it wraps it into something called a “pod” – it can be considered as a logical host with 1..n container in it.</a:t>
            </a:r>
          </a:p>
          <a:p>
            <a:endParaRPr lang="en-US" dirty="0"/>
          </a:p>
          <a:p>
            <a:r>
              <a:rPr lang="en-US" dirty="0"/>
              <a:t>While deploying a pod manually works, it doesn’t allow to scale nor to run reliably. With deployments </a:t>
            </a:r>
            <a:r>
              <a:rPr lang="en-US" dirty="0" err="1"/>
              <a:t>etc</a:t>
            </a:r>
            <a:r>
              <a:rPr lang="en-US" dirty="0"/>
              <a:t> we get different constructs allowing to run one to many pods with different characteristics.</a:t>
            </a:r>
          </a:p>
          <a:p>
            <a:endParaRPr lang="en-US" dirty="0"/>
          </a:p>
          <a:p>
            <a:r>
              <a:rPr lang="en-US" dirty="0"/>
              <a:t>The networking entities provide cluster internal as well as external connectivity. </a:t>
            </a:r>
          </a:p>
          <a:p>
            <a:endParaRPr lang="en-US" dirty="0"/>
          </a:p>
          <a:p>
            <a:endParaRPr lang="en-US" dirty="0"/>
          </a:p>
          <a:p>
            <a:r>
              <a:rPr lang="en-US" dirty="0"/>
              <a:t>With the different data &amp; persistence entities it is possible to store data as well as to inject configuration or passwords at runtime.</a:t>
            </a:r>
          </a:p>
          <a:p>
            <a:endParaRPr lang="en-US" dirty="0"/>
          </a:p>
          <a:p>
            <a:r>
              <a:rPr lang="en-US" dirty="0"/>
              <a:t>Policies provide a runtime security context on networking as well as container level.</a:t>
            </a:r>
          </a:p>
          <a:p>
            <a:endParaRPr lang="en-US" dirty="0"/>
          </a:p>
          <a:p>
            <a:r>
              <a:rPr lang="en-US" dirty="0"/>
              <a:t>Resources have also an API representation – you can get information about nodes and manage consumption per pod etc.</a:t>
            </a:r>
          </a:p>
          <a:p>
            <a:endParaRPr lang="en-US" dirty="0"/>
          </a:p>
          <a:p>
            <a:r>
              <a:rPr lang="en-US" dirty="0"/>
              <a:t>Finally cluster access and permissions is managed with the entities of the IAM group.</a:t>
            </a:r>
          </a:p>
          <a:p>
            <a:endParaRPr lang="en-US" dirty="0"/>
          </a:p>
          <a:p>
            <a:endParaRPr lang="en-US" dirty="0"/>
          </a:p>
          <a:p>
            <a:r>
              <a:rPr lang="en-US" dirty="0"/>
              <a:t>Further details: </a:t>
            </a:r>
          </a:p>
          <a:p>
            <a:pPr marL="285750" indent="-285750">
              <a:buFontTx/>
              <a:buChar char="-"/>
            </a:pPr>
            <a:r>
              <a:rPr lang="en-US" dirty="0"/>
              <a:t>Ingress: </a:t>
            </a:r>
          </a:p>
          <a:p>
            <a:pPr marL="465750" lvl="1" indent="-285750">
              <a:buFontTx/>
              <a:buChar char="-"/>
            </a:pPr>
            <a:r>
              <a:rPr lang="en-US" dirty="0"/>
              <a:t>Allows to create a network entity on top of services to expose applications</a:t>
            </a:r>
          </a:p>
          <a:p>
            <a:pPr marL="465750" lvl="1" indent="-285750">
              <a:buFontTx/>
              <a:buChar char="-"/>
            </a:pPr>
            <a:r>
              <a:rPr lang="en-US" dirty="0"/>
              <a:t>Expose applications via a URL</a:t>
            </a:r>
          </a:p>
          <a:p>
            <a:pPr marL="465750" lvl="1" indent="-285750">
              <a:buFontTx/>
              <a:buChar char="-"/>
            </a:pPr>
            <a:r>
              <a:rPr lang="en-US" dirty="0"/>
              <a:t>Requires an “ingress-controller” inside the cluster </a:t>
            </a:r>
          </a:p>
          <a:p>
            <a:pPr marL="465750" lvl="1" indent="-285750">
              <a:buFontTx/>
              <a:buChar char="-"/>
            </a:pPr>
            <a:r>
              <a:rPr lang="en-US" dirty="0"/>
              <a:t>https://kubernetes.io/docs/concepts/services-networking/ingress/</a:t>
            </a:r>
          </a:p>
          <a:p>
            <a:pPr marL="285750" lvl="0" indent="-285750">
              <a:buFontTx/>
              <a:buChar char="-"/>
            </a:pPr>
            <a:r>
              <a:rPr lang="en-US" dirty="0"/>
              <a:t>Endpoints are networking objects backing services to enable routing etc. Endpoints can be created manually to point to external applications. So external apps can be integrated into the cluster.</a:t>
            </a:r>
          </a:p>
          <a:p>
            <a:pPr marL="285750" lvl="0" indent="-285750">
              <a:buFontTx/>
              <a:buChar char="-"/>
            </a:pPr>
            <a:r>
              <a:rPr lang="en-US" dirty="0"/>
              <a:t>Network policies are the cluster’s firewall to regulate access to pods etc. They cover ingress and egress traffic cluster internally and externally. There are more info on this topic later.</a:t>
            </a:r>
          </a:p>
          <a:p>
            <a:pPr marL="285750" lvl="0" indent="-285750">
              <a:buFontTx/>
              <a:buChar char="-"/>
            </a:pPr>
            <a:r>
              <a:rPr lang="en-US" dirty="0"/>
              <a:t>Job/</a:t>
            </a:r>
            <a:r>
              <a:rPr lang="en-US" dirty="0" err="1"/>
              <a:t>CronJob</a:t>
            </a:r>
            <a:r>
              <a:rPr lang="en-US" dirty="0"/>
              <a:t>:</a:t>
            </a:r>
          </a:p>
          <a:p>
            <a:pPr marL="465750" lvl="1" indent="-285750">
              <a:buFontTx/>
              <a:buChar char="-"/>
            </a:pPr>
            <a:r>
              <a:rPr lang="en-US" dirty="0"/>
              <a:t>Schedule a pod and run as task to completion </a:t>
            </a:r>
          </a:p>
          <a:p>
            <a:pPr marL="465750" lvl="1" indent="-285750">
              <a:buFontTx/>
              <a:buChar char="-"/>
            </a:pPr>
            <a:r>
              <a:rPr lang="en-US" dirty="0" err="1"/>
              <a:t>CronJob</a:t>
            </a:r>
            <a:r>
              <a:rPr lang="en-US" dirty="0"/>
              <a:t> allows to schedule jobs periodically</a:t>
            </a:r>
          </a:p>
          <a:p>
            <a:pPr marL="465750" lvl="1" indent="-285750">
              <a:buFontTx/>
              <a:buChar char="-"/>
            </a:pPr>
            <a:r>
              <a:rPr lang="en-US" dirty="0"/>
              <a:t>https://kubernetes.io/docs/concepts/workloads/controllers/jobs-run-to-completion/</a:t>
            </a:r>
          </a:p>
          <a:p>
            <a:pPr marL="285750" lvl="0" indent="-285750">
              <a:buFontTx/>
              <a:buChar char="-"/>
            </a:pPr>
            <a:r>
              <a:rPr lang="en-US" dirty="0" err="1"/>
              <a:t>DaemonSet</a:t>
            </a:r>
            <a:endParaRPr lang="en-US" dirty="0"/>
          </a:p>
          <a:p>
            <a:pPr marL="465750" lvl="1" indent="-285750">
              <a:buFontTx/>
              <a:buChar char="-"/>
            </a:pPr>
            <a:r>
              <a:rPr lang="en-US" dirty="0"/>
              <a:t>Ensures that all (or explicitly specified) nodes run a copy of a pod. For example a </a:t>
            </a:r>
            <a:r>
              <a:rPr lang="en-US" dirty="0" err="1"/>
              <a:t>kube</a:t>
            </a:r>
            <a:r>
              <a:rPr lang="en-US" dirty="0"/>
              <a:t>-proxy can run as a pod on every node managed by a </a:t>
            </a:r>
            <a:r>
              <a:rPr lang="en-US" dirty="0" err="1"/>
              <a:t>daemonSet</a:t>
            </a:r>
            <a:r>
              <a:rPr lang="en-US" dirty="0"/>
              <a:t>.</a:t>
            </a:r>
          </a:p>
          <a:p>
            <a:pPr marL="465750" lvl="1" indent="-285750">
              <a:buFontTx/>
              <a:buChar char="-"/>
            </a:pPr>
            <a:r>
              <a:rPr lang="en-US" dirty="0"/>
              <a:t>https://kubernetes.io/docs/concepts/workloads/controllers/daemonset/</a:t>
            </a:r>
          </a:p>
          <a:p>
            <a:pPr marL="285750" lvl="0" indent="-285750">
              <a:buFontTx/>
              <a:buChar char="-"/>
            </a:pPr>
            <a:r>
              <a:rPr lang="en-US" dirty="0" err="1"/>
              <a:t>StatefulSet</a:t>
            </a:r>
            <a:endParaRPr lang="en-US" dirty="0"/>
          </a:p>
          <a:p>
            <a:pPr marL="465750" lvl="1" indent="-285750">
              <a:buFontTx/>
              <a:buChar char="-"/>
            </a:pPr>
            <a:r>
              <a:rPr lang="en-US" sz="1400" b="0" i="0" kern="1200" dirty="0">
                <a:solidFill>
                  <a:schemeClr val="tx1"/>
                </a:solidFill>
                <a:effectLst/>
                <a:latin typeface="+mn-lt"/>
                <a:ea typeface="+mn-ea"/>
                <a:cs typeface="+mn-cs"/>
              </a:rPr>
              <a:t>Manages the deployment and scaling of a set </a:t>
            </a:r>
            <a:r>
              <a:rPr lang="en-US" sz="1400" b="0" i="0" u="none" kern="1200" dirty="0">
                <a:solidFill>
                  <a:schemeClr val="tx1"/>
                </a:solidFill>
                <a:effectLst/>
                <a:latin typeface="+mn-lt"/>
                <a:ea typeface="+mn-ea"/>
                <a:cs typeface="+mn-cs"/>
              </a:rPr>
              <a:t>of pods</a:t>
            </a:r>
            <a:r>
              <a:rPr lang="en-US" sz="1400" b="0" i="0" kern="1200" dirty="0">
                <a:solidFill>
                  <a:schemeClr val="tx1"/>
                </a:solidFill>
                <a:effectLst/>
                <a:latin typeface="+mn-lt"/>
                <a:ea typeface="+mn-ea"/>
                <a:cs typeface="+mn-cs"/>
              </a:rPr>
              <a:t>, and provides guarantees about the ordering and uniqueness of these pods.</a:t>
            </a:r>
          </a:p>
          <a:p>
            <a:pPr marL="465750" lvl="1" indent="-285750">
              <a:buFontTx/>
              <a:buChar char="-"/>
            </a:pPr>
            <a:r>
              <a:rPr lang="en-US" sz="1400" b="0" i="0" kern="1200" dirty="0">
                <a:solidFill>
                  <a:schemeClr val="tx1"/>
                </a:solidFill>
                <a:effectLst/>
                <a:latin typeface="+mn-lt"/>
                <a:ea typeface="+mn-ea"/>
                <a:cs typeface="+mn-cs"/>
              </a:rPr>
              <a:t>Similar to deployments, however it provides more stability with regards to names/identifiers</a:t>
            </a:r>
          </a:p>
          <a:p>
            <a:pPr marL="465750" lvl="1" indent="-285750">
              <a:buFontTx/>
              <a:buChar char="-"/>
            </a:pPr>
            <a:r>
              <a:rPr lang="en-US" dirty="0"/>
              <a:t>https://kubernetes.io/docs/concepts/workloads/controllers/statefulset/</a:t>
            </a:r>
          </a:p>
          <a:p>
            <a:pPr marL="285750" lvl="0" indent="-285750">
              <a:buFontTx/>
              <a:buChar char="-"/>
            </a:pPr>
            <a:r>
              <a:rPr lang="en-US" dirty="0"/>
              <a:t>Pod Security Policy</a:t>
            </a:r>
          </a:p>
          <a:p>
            <a:pPr marL="465750" lvl="1" indent="-285750">
              <a:buFontTx/>
              <a:buChar char="-"/>
            </a:pPr>
            <a:r>
              <a:rPr lang="en-US" dirty="0"/>
              <a:t>Defines conditions pods must run with. </a:t>
            </a:r>
          </a:p>
          <a:p>
            <a:pPr marL="465750" lvl="1" indent="-285750">
              <a:buFontTx/>
              <a:buChar char="-"/>
            </a:pPr>
            <a:r>
              <a:rPr lang="en-US" dirty="0"/>
              <a:t>Conditions cover aspects like </a:t>
            </a:r>
            <a:r>
              <a:rPr lang="en-US" dirty="0" err="1"/>
              <a:t>runAsUser</a:t>
            </a:r>
            <a:r>
              <a:rPr lang="en-US" dirty="0"/>
              <a:t>, file system groups, privileges of containers, … an more</a:t>
            </a:r>
          </a:p>
          <a:p>
            <a:pPr marL="465750" lvl="1" indent="-285750">
              <a:buFontTx/>
              <a:buChar char="-"/>
            </a:pPr>
            <a:r>
              <a:rPr lang="en-US" dirty="0"/>
              <a:t>https://kubernetes.io/docs/concepts/policy/pod-security-policy/</a:t>
            </a:r>
          </a:p>
          <a:p>
            <a:pPr marL="285750" lvl="0" indent="-285750">
              <a:buFontTx/>
              <a:buChar char="-"/>
            </a:pPr>
            <a:r>
              <a:rPr lang="en-US" dirty="0"/>
              <a:t>Resource Quotas</a:t>
            </a:r>
          </a:p>
          <a:p>
            <a:pPr marL="465750" lvl="1" indent="-285750">
              <a:buFontTx/>
              <a:buChar char="-"/>
            </a:pPr>
            <a:r>
              <a:rPr lang="en-US" dirty="0"/>
              <a:t>Set quotas on namespace level</a:t>
            </a:r>
          </a:p>
          <a:p>
            <a:pPr marL="465750" lvl="1" indent="-285750">
              <a:buFontTx/>
              <a:buChar char="-"/>
            </a:pPr>
            <a:r>
              <a:rPr lang="en-US" dirty="0"/>
              <a:t>Limit the number of resources (pod, </a:t>
            </a:r>
            <a:r>
              <a:rPr lang="en-US" dirty="0" err="1"/>
              <a:t>pvc</a:t>
            </a:r>
            <a:r>
              <a:rPr lang="en-US" dirty="0"/>
              <a:t>, service, …) allowed in this namespace =&gt; object count quota</a:t>
            </a:r>
          </a:p>
          <a:p>
            <a:pPr marL="465750" lvl="1" indent="-285750">
              <a:buFontTx/>
              <a:buChar char="-"/>
            </a:pPr>
            <a:r>
              <a:rPr lang="en-US" dirty="0"/>
              <a:t>Limit the resources allowed to be consumed by pods or other objects =&gt; (compute) resource quota</a:t>
            </a:r>
          </a:p>
          <a:p>
            <a:pPr marL="465750" lvl="1" indent="-285750">
              <a:buFontTx/>
              <a:buChar char="-"/>
            </a:pPr>
            <a:r>
              <a:rPr lang="en-US" dirty="0"/>
              <a:t>Can also enforce applications to specify minimal resources required and max resources wanted.</a:t>
            </a:r>
          </a:p>
          <a:p>
            <a:pPr marL="465750" lvl="1" indent="-285750">
              <a:buFontTx/>
              <a:buChar char="-"/>
            </a:pPr>
            <a:r>
              <a:rPr lang="en-US" dirty="0"/>
              <a:t>https://kubernetes.io/docs/concepts/policy/resource-quotas/</a:t>
            </a:r>
          </a:p>
          <a:p>
            <a:pPr marL="285750" lvl="0" indent="-285750">
              <a:buFontTx/>
              <a:buChar char="-"/>
            </a:pPr>
            <a:r>
              <a:rPr lang="en-US" dirty="0"/>
              <a:t>Roles: a role defines a setup of API objects that can be accessed in a certain way. Example: a role can allow only list/read access to pods. Another role could also allow to list/read, create &amp; delete pods</a:t>
            </a:r>
          </a:p>
          <a:p>
            <a:pPr marL="285750" lvl="0" indent="-285750">
              <a:buFontTx/>
              <a:buChar char="-"/>
            </a:pPr>
            <a:r>
              <a:rPr lang="en-US" dirty="0"/>
              <a:t>Role Bindings: assign roles to service accounts /technical users</a:t>
            </a:r>
          </a:p>
          <a:p>
            <a:endParaRPr lang="en-US" dirty="0"/>
          </a:p>
          <a:p>
            <a:r>
              <a:rPr lang="en-US" dirty="0"/>
              <a:t> </a:t>
            </a:r>
          </a:p>
        </p:txBody>
      </p:sp>
      <p:sp>
        <p:nvSpPr>
          <p:cNvPr id="4" name="Slide Number Placeholder 3"/>
          <p:cNvSpPr>
            <a:spLocks noGrp="1"/>
          </p:cNvSpPr>
          <p:nvPr>
            <p:ph type="sldNum" sz="quarter" idx="10"/>
          </p:nvPr>
        </p:nvSpPr>
        <p:spPr/>
        <p:txBody>
          <a:bodyPr/>
          <a:lstStyle/>
          <a:p>
            <a:fld id="{7D8C2C35-2B8A-446E-BEC0-FD36716C29AC}" type="slidenum">
              <a:rPr lang="de-DE" smtClean="0"/>
              <a:pPr/>
              <a:t>3</a:t>
            </a:fld>
            <a:endParaRPr lang="de-DE" dirty="0"/>
          </a:p>
        </p:txBody>
      </p:sp>
    </p:spTree>
    <p:extLst>
      <p:ext uri="{BB962C8B-B14F-4D97-AF65-F5344CB8AC3E}">
        <p14:creationId xmlns:p14="http://schemas.microsoft.com/office/powerpoint/2010/main" val="25689052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order to understand k8s basic knowledge of the (physical) cluster components is essential.  </a:t>
            </a:r>
          </a:p>
        </p:txBody>
      </p:sp>
      <p:sp>
        <p:nvSpPr>
          <p:cNvPr id="4" name="Slide Number Placeholder 3"/>
          <p:cNvSpPr>
            <a:spLocks noGrp="1"/>
          </p:cNvSpPr>
          <p:nvPr>
            <p:ph type="sldNum" sz="quarter" idx="10"/>
          </p:nvPr>
        </p:nvSpPr>
        <p:spPr/>
        <p:txBody>
          <a:bodyPr/>
          <a:lstStyle/>
          <a:p>
            <a:fld id="{7D8C2C35-2B8A-446E-BEC0-FD36716C29AC}" type="slidenum">
              <a:rPr lang="de-DE" smtClean="0"/>
              <a:pPr/>
              <a:t>4</a:t>
            </a:fld>
            <a:endParaRPr lang="de-DE" dirty="0"/>
          </a:p>
        </p:txBody>
      </p:sp>
    </p:spTree>
    <p:extLst>
      <p:ext uri="{BB962C8B-B14F-4D97-AF65-F5344CB8AC3E}">
        <p14:creationId xmlns:p14="http://schemas.microsoft.com/office/powerpoint/2010/main" val="38368418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API Server is the center piece. All requests towards the cluster go through it. </a:t>
            </a:r>
          </a:p>
          <a:p>
            <a:r>
              <a:rPr lang="en-US" dirty="0"/>
              <a:t>The cluster components also talk to the </a:t>
            </a:r>
            <a:r>
              <a:rPr lang="en-US" dirty="0" err="1"/>
              <a:t>api</a:t>
            </a:r>
            <a:r>
              <a:rPr lang="en-US" dirty="0"/>
              <a:t> server to sync their activities.</a:t>
            </a:r>
          </a:p>
          <a:p>
            <a:endParaRPr lang="en-US" dirty="0"/>
          </a:p>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5</a:t>
            </a:fld>
            <a:endParaRPr lang="de-DE" dirty="0"/>
          </a:p>
        </p:txBody>
      </p:sp>
    </p:spTree>
    <p:extLst>
      <p:ext uri="{BB962C8B-B14F-4D97-AF65-F5344CB8AC3E}">
        <p14:creationId xmlns:p14="http://schemas.microsoft.com/office/powerpoint/2010/main" val="31928008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dirty="0"/>
              <a:t>The API Server is the center piece. All requests towards the cluster go through it. </a:t>
            </a:r>
          </a:p>
          <a:p>
            <a:r>
              <a:rPr lang="en-US" dirty="0"/>
              <a:t>The cluster components also talk to the </a:t>
            </a:r>
            <a:r>
              <a:rPr lang="en-US" dirty="0" err="1"/>
              <a:t>api</a:t>
            </a:r>
            <a:r>
              <a:rPr lang="en-US" dirty="0"/>
              <a:t> server to sync their activities.</a:t>
            </a:r>
          </a:p>
          <a:p>
            <a:endParaRPr lang="en-US" dirty="0"/>
          </a:p>
          <a:p>
            <a:r>
              <a:rPr lang="en-US" b="1" dirty="0"/>
              <a:t>Control Plane </a:t>
            </a:r>
          </a:p>
          <a:p>
            <a:r>
              <a:rPr lang="en-US" dirty="0" err="1"/>
              <a:t>etcd</a:t>
            </a:r>
            <a:endParaRPr lang="en-US" dirty="0"/>
          </a:p>
          <a:p>
            <a:pPr lvl="1"/>
            <a:r>
              <a:rPr lang="en-US" dirty="0"/>
              <a:t>(distributed), high-availability key-value store</a:t>
            </a:r>
          </a:p>
          <a:p>
            <a:pPr lvl="1"/>
            <a:r>
              <a:rPr lang="en-US" dirty="0"/>
              <a:t>Persists state of the cluster</a:t>
            </a:r>
          </a:p>
          <a:p>
            <a:r>
              <a:rPr lang="en-US" dirty="0"/>
              <a:t>API Server</a:t>
            </a:r>
          </a:p>
          <a:p>
            <a:pPr lvl="1"/>
            <a:r>
              <a:rPr lang="en-US" dirty="0"/>
              <a:t>Central entry point to modify and inspect the cluster state.</a:t>
            </a:r>
          </a:p>
          <a:p>
            <a:pPr lvl="1"/>
            <a:r>
              <a:rPr lang="en-US" dirty="0"/>
              <a:t>Receives RESTful requests and persists changes in </a:t>
            </a:r>
            <a:r>
              <a:rPr lang="en-US" dirty="0" err="1"/>
              <a:t>etcd</a:t>
            </a:r>
            <a:r>
              <a:rPr lang="en-US" dirty="0"/>
              <a:t>.</a:t>
            </a:r>
          </a:p>
          <a:p>
            <a:r>
              <a:rPr lang="en-US" dirty="0"/>
              <a:t>Controller-Manager</a:t>
            </a:r>
          </a:p>
          <a:p>
            <a:pPr lvl="1"/>
            <a:r>
              <a:rPr lang="en-US" dirty="0"/>
              <a:t>Manages controllers.  Various controllers are working to align the spec of a resource with its state.</a:t>
            </a:r>
          </a:p>
          <a:p>
            <a:r>
              <a:rPr lang="en-US" dirty="0"/>
              <a:t>Scheduler</a:t>
            </a:r>
          </a:p>
          <a:p>
            <a:pPr lvl="1"/>
            <a:r>
              <a:rPr lang="en-US" dirty="0"/>
              <a:t>Binds pods to nodes for execution</a:t>
            </a:r>
          </a:p>
          <a:p>
            <a:endParaRPr lang="en-US" dirty="0"/>
          </a:p>
          <a:p>
            <a:r>
              <a:rPr lang="en-US" b="1" dirty="0"/>
              <a:t>Worker</a:t>
            </a:r>
          </a:p>
          <a:p>
            <a:r>
              <a:rPr lang="en-US" dirty="0" err="1"/>
              <a:t>kubelet</a:t>
            </a:r>
            <a:endParaRPr lang="en-US" dirty="0"/>
          </a:p>
          <a:p>
            <a:pPr lvl="1"/>
            <a:r>
              <a:rPr lang="en-US" dirty="0"/>
              <a:t>Runs on every node in a  cluster</a:t>
            </a:r>
          </a:p>
          <a:p>
            <a:pPr lvl="1"/>
            <a:r>
              <a:rPr lang="en-US" dirty="0"/>
              <a:t>Manages the containers running on the worker node</a:t>
            </a:r>
          </a:p>
          <a:p>
            <a:pPr lvl="1"/>
            <a:r>
              <a:rPr lang="en-US" dirty="0"/>
              <a:t>Talks to API Server to see if new pods are bound to worker node</a:t>
            </a:r>
          </a:p>
          <a:p>
            <a:pPr lvl="1"/>
            <a:r>
              <a:rPr lang="en-US" dirty="0"/>
              <a:t>Monitors the state of the node</a:t>
            </a:r>
          </a:p>
          <a:p>
            <a:pPr lvl="1"/>
            <a:r>
              <a:rPr lang="en-US" dirty="0"/>
              <a:t>Actually starts containers</a:t>
            </a:r>
          </a:p>
          <a:p>
            <a:pPr>
              <a:spcBef>
                <a:spcPts val="1800"/>
              </a:spcBef>
            </a:pPr>
            <a:r>
              <a:rPr lang="en-US" dirty="0" err="1"/>
              <a:t>kube</a:t>
            </a:r>
            <a:r>
              <a:rPr lang="en-US" dirty="0"/>
              <a:t>-proxy</a:t>
            </a:r>
          </a:p>
          <a:p>
            <a:pPr lvl="1"/>
            <a:r>
              <a:rPr lang="en-US" dirty="0"/>
              <a:t>Implements virtual IPs for services in the cluster network.</a:t>
            </a:r>
          </a:p>
          <a:p>
            <a:pPr>
              <a:spcBef>
                <a:spcPts val="1800"/>
              </a:spcBef>
            </a:pPr>
            <a:r>
              <a:rPr lang="en-US" dirty="0"/>
              <a:t>Container Runtime</a:t>
            </a:r>
          </a:p>
          <a:p>
            <a:pPr lvl="1"/>
            <a:r>
              <a:rPr lang="en-US" dirty="0"/>
              <a:t>Container runtime on the individual node, used to be Docker but the community moved on to </a:t>
            </a:r>
            <a:r>
              <a:rPr lang="en-US" dirty="0" err="1"/>
              <a:t>ContainerD</a:t>
            </a:r>
            <a:r>
              <a:rPr lang="en-US" dirty="0"/>
              <a:t>, cri-o or similar things</a:t>
            </a:r>
          </a:p>
          <a:p>
            <a:pPr>
              <a:spcBef>
                <a:spcPts val="1800"/>
              </a:spcBef>
            </a:pPr>
            <a:r>
              <a:rPr lang="en-US" dirty="0"/>
              <a:t>Pod</a:t>
            </a:r>
          </a:p>
          <a:p>
            <a:pPr lvl="1"/>
            <a:r>
              <a:rPr lang="en-US" dirty="0"/>
              <a:t>The smallest, schedulable resource that is managed by the </a:t>
            </a:r>
            <a:r>
              <a:rPr lang="en-US" dirty="0" err="1"/>
              <a:t>kubelet</a:t>
            </a:r>
            <a:r>
              <a:rPr lang="en-US" dirty="0"/>
              <a:t> on the node</a:t>
            </a:r>
          </a:p>
          <a:p>
            <a:pPr lvl="1"/>
            <a:r>
              <a:rPr lang="en-US" dirty="0"/>
              <a:t>Pods wrap around one or more (docker) containers</a:t>
            </a:r>
          </a:p>
          <a:p>
            <a:endParaRPr lang="en-US" dirty="0"/>
          </a:p>
          <a:p>
            <a:r>
              <a:rPr lang="en-US" b="1" dirty="0"/>
              <a:t>Client</a:t>
            </a:r>
          </a:p>
          <a:p>
            <a:r>
              <a:rPr lang="en-US" dirty="0" err="1"/>
              <a:t>kubectl</a:t>
            </a:r>
            <a:endParaRPr lang="en-US" dirty="0"/>
          </a:p>
          <a:p>
            <a:pPr lvl="1"/>
            <a:r>
              <a:rPr lang="en-US" dirty="0"/>
              <a:t>Command line client for Kubernetes. Talks via REST to the API Server.</a:t>
            </a:r>
          </a:p>
          <a:p>
            <a:pPr lvl="1"/>
            <a:r>
              <a:rPr lang="en-US" dirty="0"/>
              <a:t>Cluster administration tasks</a:t>
            </a:r>
          </a:p>
          <a:p>
            <a:pPr lvl="1"/>
            <a:r>
              <a:rPr lang="en-US" dirty="0"/>
              <a:t>User tasks like creating, deleting and modifying of resources</a:t>
            </a:r>
          </a:p>
          <a:p>
            <a:pPr lvl="1"/>
            <a:r>
              <a:rPr lang="en-US" dirty="0"/>
              <a:t>Run `</a:t>
            </a:r>
            <a:r>
              <a:rPr lang="en-US" dirty="0" err="1"/>
              <a:t>kubectl</a:t>
            </a:r>
            <a:r>
              <a:rPr lang="en-US" dirty="0"/>
              <a:t>` or `</a:t>
            </a:r>
            <a:r>
              <a:rPr lang="en-US" dirty="0" err="1"/>
              <a:t>kubectl</a:t>
            </a:r>
            <a:r>
              <a:rPr lang="en-US" dirty="0"/>
              <a:t> &lt;command&gt; --help` to get detailed information</a:t>
            </a:r>
            <a:br>
              <a:rPr lang="en-US" dirty="0"/>
            </a:br>
            <a:endParaRPr lang="en-US" dirty="0"/>
          </a:p>
          <a:p>
            <a:pPr marL="0" lvl="1" indent="0">
              <a:buNone/>
            </a:pPr>
            <a:r>
              <a:rPr lang="en-US" dirty="0"/>
              <a:t>The rest </a:t>
            </a:r>
            <a:r>
              <a:rPr lang="en-US" dirty="0" err="1"/>
              <a:t>api</a:t>
            </a:r>
            <a:r>
              <a:rPr lang="en-US" dirty="0"/>
              <a:t> can also be used directly with tools like curl.</a:t>
            </a:r>
          </a:p>
          <a:p>
            <a:pPr marL="0" lvl="1" indent="0">
              <a:buNone/>
            </a:pPr>
            <a:endParaRPr lang="en-US" dirty="0"/>
          </a:p>
          <a:p>
            <a:pPr marL="0" lvl="1" indent="0">
              <a:buNone/>
            </a:pPr>
            <a:r>
              <a:rPr lang="en-US" dirty="0"/>
              <a:t>There are official client libraries for the REST API at least for go, python or java.</a:t>
            </a:r>
          </a:p>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6</a:t>
            </a:fld>
            <a:endParaRPr lang="de-DE" dirty="0"/>
          </a:p>
        </p:txBody>
      </p:sp>
    </p:spTree>
    <p:extLst>
      <p:ext uri="{BB962C8B-B14F-4D97-AF65-F5344CB8AC3E}">
        <p14:creationId xmlns:p14="http://schemas.microsoft.com/office/powerpoint/2010/main" val="17305530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Now that we explained all the components, let’s walk through an example and see them in action.</a:t>
            </a:r>
          </a:p>
          <a:p>
            <a:pPr marL="285750" indent="-285750">
              <a:buFontTx/>
              <a:buChar char="-"/>
            </a:pPr>
            <a:r>
              <a:rPr lang="en-US" dirty="0"/>
              <a:t>The user wants to run an </a:t>
            </a:r>
            <a:r>
              <a:rPr lang="en-US" dirty="0" err="1"/>
              <a:t>nginx</a:t>
            </a:r>
            <a:r>
              <a:rPr lang="en-US" dirty="0"/>
              <a:t> webserver and declares this wish via </a:t>
            </a:r>
            <a:r>
              <a:rPr lang="en-US" dirty="0" err="1"/>
              <a:t>kubectl</a:t>
            </a:r>
            <a:r>
              <a:rPr lang="en-US" dirty="0"/>
              <a:t> to the cluster’s API server.</a:t>
            </a:r>
          </a:p>
          <a:p>
            <a:pPr marL="285750" indent="-285750">
              <a:buFontTx/>
              <a:buChar char="-"/>
            </a:pPr>
            <a:r>
              <a:rPr lang="en-US" dirty="0"/>
              <a:t>The API server stores the desired state in </a:t>
            </a:r>
            <a:r>
              <a:rPr lang="en-US" dirty="0" err="1"/>
              <a:t>etcd</a:t>
            </a:r>
            <a:endParaRPr lang="en-US" dirty="0"/>
          </a:p>
          <a:p>
            <a:pPr marL="285750" indent="-285750">
              <a:buFontTx/>
              <a:buChar char="-"/>
            </a:pPr>
            <a:r>
              <a:rPr lang="en-US" dirty="0"/>
              <a:t>The controller manager will engage the replication controller which will create pod resources according to the required number of replicas.</a:t>
            </a:r>
          </a:p>
          <a:p>
            <a:pPr marL="285750" indent="-285750">
              <a:buFontTx/>
              <a:buChar char="-"/>
            </a:pPr>
            <a:r>
              <a:rPr lang="en-US" dirty="0"/>
              <a:t>The scheduler monitors the API server for unscheduled pods and assigns a node to the pod definition (stored in </a:t>
            </a:r>
            <a:r>
              <a:rPr lang="en-US" dirty="0" err="1"/>
              <a:t>etcd</a:t>
            </a:r>
            <a:r>
              <a:rPr lang="en-US" dirty="0"/>
              <a:t>)</a:t>
            </a:r>
          </a:p>
          <a:p>
            <a:pPr marL="285750" indent="-285750">
              <a:buFontTx/>
              <a:buChar char="-"/>
            </a:pPr>
            <a:r>
              <a:rPr lang="en-US" dirty="0"/>
              <a:t>The </a:t>
            </a:r>
            <a:r>
              <a:rPr lang="en-US" dirty="0" err="1"/>
              <a:t>kubelet</a:t>
            </a:r>
            <a:r>
              <a:rPr lang="en-US" dirty="0"/>
              <a:t> monitors, if there are new pods to be scheduled on its worker note. If yes, it takes action -&gt; start a container and update the pods status</a:t>
            </a:r>
          </a:p>
          <a:p>
            <a:endParaRPr lang="en-US" dirty="0"/>
          </a:p>
          <a:p>
            <a:r>
              <a:rPr lang="en-US" dirty="0"/>
              <a:t>https://medium.com/jorgeacetozi/kubernetes-master-components-etcd-api-server-controller-manager-and-scheduler-3a0179fc8186</a:t>
            </a:r>
          </a:p>
        </p:txBody>
      </p:sp>
      <p:sp>
        <p:nvSpPr>
          <p:cNvPr id="4" name="Slide Number Placeholder 3"/>
          <p:cNvSpPr>
            <a:spLocks noGrp="1"/>
          </p:cNvSpPr>
          <p:nvPr>
            <p:ph type="sldNum" sz="quarter" idx="10"/>
          </p:nvPr>
        </p:nvSpPr>
        <p:spPr/>
        <p:txBody>
          <a:bodyPr/>
          <a:lstStyle/>
          <a:p>
            <a:fld id="{7D8C2C35-2B8A-446E-BEC0-FD36716C29AC}" type="slidenum">
              <a:rPr lang="de-DE" smtClean="0"/>
              <a:pPr/>
              <a:t>7</a:t>
            </a:fld>
            <a:endParaRPr lang="de-DE" dirty="0"/>
          </a:p>
        </p:txBody>
      </p:sp>
    </p:spTree>
    <p:extLst>
      <p:ext uri="{BB962C8B-B14F-4D97-AF65-F5344CB8AC3E}">
        <p14:creationId xmlns:p14="http://schemas.microsoft.com/office/powerpoint/2010/main" val="34319416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buNone/>
            </a:pPr>
            <a:r>
              <a:rPr lang="en-US" dirty="0"/>
              <a:t>Based on the previous example, can we describe an abstraction of the schema? =&gt; Observe, Analyze, Act</a:t>
            </a:r>
          </a:p>
          <a:p>
            <a:pPr marL="0" indent="0">
              <a:buNone/>
            </a:pPr>
            <a:r>
              <a:rPr lang="en-US" dirty="0"/>
              <a:t>The user declares the desired state and the cluster takes care of its fulfillment. This holds true for all actions like create, update/patch or deletion of a resource.</a:t>
            </a:r>
          </a:p>
          <a:p>
            <a:pPr marL="0" indent="0">
              <a:buNone/>
            </a:pPr>
            <a:endParaRPr lang="en-US" dirty="0"/>
          </a:p>
          <a:p>
            <a:pPr marL="342900" indent="-342900">
              <a:buAutoNum type="arabicParenR"/>
            </a:pPr>
            <a:r>
              <a:rPr lang="en-US" dirty="0"/>
              <a:t>Observe - a control loop, checking certain objects for their state.</a:t>
            </a:r>
          </a:p>
          <a:p>
            <a:pPr marL="342900" indent="-342900">
              <a:buAutoNum type="arabicParenR"/>
            </a:pPr>
            <a:r>
              <a:rPr lang="en-US" dirty="0"/>
              <a:t>Analyze – check the current state against a desired state (may be stored in a different resource, outside of the cluster, hardcoded, …) </a:t>
            </a:r>
          </a:p>
          <a:p>
            <a:pPr marL="342900" indent="-342900">
              <a:buAutoNum type="arabicParenR"/>
            </a:pPr>
            <a:r>
              <a:rPr lang="en-US" dirty="0"/>
              <a:t>Action – if there’s a difference between desired &amp; current state, the controller should act and trigger a defined action to bring the observed objects into the desired state</a:t>
            </a:r>
          </a:p>
        </p:txBody>
      </p:sp>
      <p:sp>
        <p:nvSpPr>
          <p:cNvPr id="4" name="Slide Number Placeholder 3"/>
          <p:cNvSpPr>
            <a:spLocks noGrp="1"/>
          </p:cNvSpPr>
          <p:nvPr>
            <p:ph type="sldNum" sz="quarter" idx="10"/>
          </p:nvPr>
        </p:nvSpPr>
        <p:spPr/>
        <p:txBody>
          <a:bodyPr/>
          <a:lstStyle/>
          <a:p>
            <a:fld id="{7D8C2C35-2B8A-446E-BEC0-FD36716C29AC}" type="slidenum">
              <a:rPr lang="de-DE" smtClean="0"/>
              <a:pPr/>
              <a:t>8</a:t>
            </a:fld>
            <a:endParaRPr lang="de-DE" dirty="0"/>
          </a:p>
        </p:txBody>
      </p:sp>
    </p:spTree>
    <p:extLst>
      <p:ext uri="{BB962C8B-B14F-4D97-AF65-F5344CB8AC3E}">
        <p14:creationId xmlns:p14="http://schemas.microsoft.com/office/powerpoint/2010/main" val="11882566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fontScale="92500" lnSpcReduction="10000"/>
          </a:bodyPr>
          <a:lstStyle/>
          <a:p>
            <a:br>
              <a:rPr lang="en-US" noProof="0" dirty="0"/>
            </a:br>
            <a:r>
              <a:rPr lang="en-US" noProof="0" dirty="0"/>
              <a:t>The API Server is the interface to the cluster. Whether it is a user (via </a:t>
            </a:r>
            <a:r>
              <a:rPr lang="en-US" noProof="0" dirty="0" err="1"/>
              <a:t>kubectl</a:t>
            </a:r>
            <a:r>
              <a:rPr lang="en-US" noProof="0" dirty="0"/>
              <a:t>) or a controller, every interaction with the clusters state is handled through the API server.</a:t>
            </a:r>
          </a:p>
          <a:p>
            <a:endParaRPr lang="en-US" noProof="0" dirty="0"/>
          </a:p>
          <a:p>
            <a:r>
              <a:rPr lang="en-US" noProof="0" dirty="0"/>
              <a:t>Authorization &amp; Authentication:</a:t>
            </a:r>
          </a:p>
          <a:p>
            <a:r>
              <a:rPr lang="en-US" noProof="0" dirty="0"/>
              <a:t>Is the request equipped with proper credentials? Is the user allowed to perform the requested action?</a:t>
            </a:r>
          </a:p>
          <a:p>
            <a:endParaRPr lang="en-US" noProof="0" dirty="0"/>
          </a:p>
          <a:p>
            <a:r>
              <a:rPr lang="en-US" noProof="0" dirty="0"/>
              <a:t>RESTful interface to all resources:</a:t>
            </a:r>
          </a:p>
          <a:p>
            <a:r>
              <a:rPr lang="en-US" noProof="0" dirty="0"/>
              <a:t>Provides an interface to query and modify all known resources within a single cluster. State changes will be persisted in </a:t>
            </a:r>
            <a:r>
              <a:rPr lang="en-US" noProof="0" dirty="0" err="1"/>
              <a:t>etcd</a:t>
            </a:r>
            <a:r>
              <a:rPr lang="en-US" noProof="0" dirty="0"/>
              <a:t> eventually.</a:t>
            </a:r>
          </a:p>
          <a:p>
            <a:r>
              <a:rPr lang="en-US" noProof="0" dirty="0"/>
              <a:t>In addition, the API allows long-running “watch” connections where it will stream events of changes to resource to the caller. This is heavily used by controllers and prevents excessive polling</a:t>
            </a:r>
          </a:p>
          <a:p>
            <a:endParaRPr lang="en-US" noProof="0" dirty="0"/>
          </a:p>
          <a:p>
            <a:r>
              <a:rPr lang="en-US" noProof="0" dirty="0"/>
              <a:t>Admission &amp; Mutation:</a:t>
            </a:r>
          </a:p>
          <a:p>
            <a:r>
              <a:rPr lang="en-US" noProof="0" dirty="0"/>
              <a:t>Perform checks and validate, if a resource is configured properly. Validate a given configuration (allow /deny) and apply default values. Can also include custom configuration as well as defaulting values.</a:t>
            </a:r>
          </a:p>
          <a:p>
            <a:endParaRPr lang="en-US" noProof="0" dirty="0"/>
          </a:p>
          <a:p>
            <a:r>
              <a:rPr lang="en-US" noProof="0" dirty="0"/>
              <a:t>Extensibility:</a:t>
            </a:r>
          </a:p>
          <a:p>
            <a:r>
              <a:rPr lang="en-US" noProof="0" dirty="0"/>
              <a:t>Register custom resources that become fully discoverable and automatically provide a RESTful interface for those.</a:t>
            </a:r>
          </a:p>
        </p:txBody>
      </p:sp>
      <p:sp>
        <p:nvSpPr>
          <p:cNvPr id="4" name="Foliennummernplatzhalter 3"/>
          <p:cNvSpPr>
            <a:spLocks noGrp="1"/>
          </p:cNvSpPr>
          <p:nvPr>
            <p:ph type="sldNum" sz="quarter" idx="5"/>
          </p:nvPr>
        </p:nvSpPr>
        <p:spPr/>
        <p:txBody>
          <a:bodyPr/>
          <a:lstStyle/>
          <a:p>
            <a:fld id="{7D8C2C35-2B8A-446E-BEC0-FD36716C29AC}" type="slidenum">
              <a:rPr lang="de-DE" smtClean="0"/>
              <a:pPr/>
              <a:t>9</a:t>
            </a:fld>
            <a:endParaRPr lang="de-DE" dirty="0"/>
          </a:p>
        </p:txBody>
      </p:sp>
    </p:spTree>
    <p:extLst>
      <p:ext uri="{BB962C8B-B14F-4D97-AF65-F5344CB8AC3E}">
        <p14:creationId xmlns:p14="http://schemas.microsoft.com/office/powerpoint/2010/main" val="3252713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api</a:t>
            </a:r>
            <a:r>
              <a:rPr lang="en-US" dirty="0"/>
              <a:t> is structured in different groups/version. Within these, namespaces group a set of resources. Within a namespace, names have to be unique.</a:t>
            </a:r>
          </a:p>
          <a:p>
            <a:endParaRPr lang="en-US" dirty="0"/>
          </a:p>
          <a:p>
            <a:r>
              <a:rPr lang="en-US" dirty="0"/>
              <a:t>The core API group, was the first and contains objects like pods or service. Later the API tree was split into topic specific groups to bundle resources e.g. for networking. The core API group hasn’t been touched though.</a:t>
            </a:r>
          </a:p>
          <a:p>
            <a:endParaRPr lang="en-US" dirty="0"/>
          </a:p>
          <a:p>
            <a:r>
              <a:rPr lang="en-US" b="1" dirty="0"/>
              <a:t>Namespace</a:t>
            </a:r>
          </a:p>
          <a:p>
            <a:pPr lvl="1"/>
            <a:r>
              <a:rPr lang="en-US" dirty="0"/>
              <a:t>Logical realm for applications to run within</a:t>
            </a:r>
          </a:p>
          <a:p>
            <a:pPr lvl="1"/>
            <a:r>
              <a:rPr lang="en-US" dirty="0"/>
              <a:t>Isolate resources and restrict visibility to objects in the same namespace</a:t>
            </a:r>
          </a:p>
          <a:p>
            <a:pPr lvl="1"/>
            <a:r>
              <a:rPr lang="en-US" dirty="0"/>
              <a:t>Basic user management is handled on namespace level</a:t>
            </a:r>
          </a:p>
          <a:p>
            <a:pPr lvl="1"/>
            <a:r>
              <a:rPr lang="en-US" dirty="0"/>
              <a:t>Resource quotas / limits managed per namespace</a:t>
            </a:r>
          </a:p>
          <a:p>
            <a:pPr lvl="1"/>
            <a:r>
              <a:rPr lang="en-US" dirty="0"/>
              <a:t>Uniqueness of names required per namespace</a:t>
            </a:r>
          </a:p>
          <a:p>
            <a:pPr lvl="1"/>
            <a:r>
              <a:rPr lang="en-US" dirty="0"/>
              <a:t>Access to services in a different namespace via FQDN &lt;service-name&gt;.&lt;namespace&gt;</a:t>
            </a:r>
          </a:p>
          <a:p>
            <a:pPr lvl="1"/>
            <a:r>
              <a:rPr lang="en-US" dirty="0"/>
              <a:t>Use –n (--namespace) &lt;namespace&gt; switch with </a:t>
            </a:r>
            <a:r>
              <a:rPr lang="en-US" dirty="0" err="1"/>
              <a:t>kubectl</a:t>
            </a:r>
            <a:r>
              <a:rPr lang="en-US" dirty="0"/>
              <a:t> to access resources</a:t>
            </a:r>
          </a:p>
          <a:p>
            <a:pPr lvl="1"/>
            <a:endParaRPr lang="en-US" dirty="0"/>
          </a:p>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10</a:t>
            </a:fld>
            <a:endParaRPr lang="de-DE" dirty="0"/>
          </a:p>
        </p:txBody>
      </p:sp>
    </p:spTree>
    <p:extLst>
      <p:ext uri="{BB962C8B-B14F-4D97-AF65-F5344CB8AC3E}">
        <p14:creationId xmlns:p14="http://schemas.microsoft.com/office/powerpoint/2010/main" val="40115595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beta: </a:t>
            </a:r>
          </a:p>
          <a:p>
            <a:pPr marL="285750" indent="-285750">
              <a:buFontTx/>
              <a:buChar char="-"/>
            </a:pPr>
            <a:r>
              <a:rPr lang="en-US" noProof="0" dirty="0"/>
              <a:t>aims for backwards compatibility, </a:t>
            </a:r>
          </a:p>
          <a:p>
            <a:pPr marL="285750" indent="-285750">
              <a:buFontTx/>
              <a:buChar char="-"/>
            </a:pPr>
            <a:r>
              <a:rPr lang="en-US" noProof="0" dirty="0"/>
              <a:t>may have bugs</a:t>
            </a:r>
          </a:p>
          <a:p>
            <a:pPr marL="285750" indent="-285750">
              <a:buFontTx/>
              <a:buChar char="-"/>
            </a:pPr>
            <a:r>
              <a:rPr lang="en-US" noProof="0" dirty="0"/>
              <a:t>used in production with caution</a:t>
            </a:r>
          </a:p>
          <a:p>
            <a:pPr marL="285750" indent="-285750">
              <a:buFontTx/>
              <a:buChar char="-"/>
            </a:pPr>
            <a:endParaRPr lang="en-US" noProof="0" dirty="0"/>
          </a:p>
          <a:p>
            <a:pPr marL="0" indent="0">
              <a:buFontTx/>
              <a:buNone/>
            </a:pPr>
            <a:r>
              <a:rPr lang="en-US" noProof="0" dirty="0"/>
              <a:t>v1 / GA:</a:t>
            </a:r>
          </a:p>
          <a:p>
            <a:pPr marL="285750" indent="-285750">
              <a:buFontTx/>
              <a:buChar char="-"/>
            </a:pPr>
            <a:r>
              <a:rPr lang="en-US" noProof="0" dirty="0"/>
              <a:t>no bugs of course</a:t>
            </a:r>
          </a:p>
          <a:p>
            <a:pPr marL="285750" indent="-285750">
              <a:buFontTx/>
              <a:buChar char="-"/>
            </a:pPr>
            <a:r>
              <a:rPr lang="en-US" noProof="0" dirty="0"/>
              <a:t>available until deprecated (Kubernetes has a very strictly defined policy for deprecating features, in general 3 releases or max 1 year, see https://kubernetes.io/docs/reference/using-api/</a:t>
            </a:r>
            <a:r>
              <a:rPr lang="en-US" noProof="0"/>
              <a:t>deprecation-policy/)</a:t>
            </a:r>
          </a:p>
          <a:p>
            <a:pPr marL="285750" indent="-285750">
              <a:buFontTx/>
              <a:buChar char="-"/>
            </a:pPr>
            <a:endParaRPr lang="en-US" noProof="0"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11</a:t>
            </a:fld>
            <a:endParaRPr lang="de-DE" dirty="0"/>
          </a:p>
        </p:txBody>
      </p:sp>
    </p:spTree>
    <p:extLst>
      <p:ext uri="{BB962C8B-B14F-4D97-AF65-F5344CB8AC3E}">
        <p14:creationId xmlns:p14="http://schemas.microsoft.com/office/powerpoint/2010/main" val="23687854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lvl="1" indent="0">
              <a:buNone/>
            </a:pPr>
            <a:r>
              <a:rPr lang="en-US" b="1" dirty="0"/>
              <a:t>Basics</a:t>
            </a:r>
          </a:p>
          <a:p>
            <a:pPr lvl="1"/>
            <a:r>
              <a:rPr lang="en-US" dirty="0"/>
              <a:t>Logical realm for applications to run within</a:t>
            </a:r>
          </a:p>
          <a:p>
            <a:pPr lvl="1"/>
            <a:r>
              <a:rPr lang="en-US" dirty="0"/>
              <a:t>Isolate resources and restrict visibility to objects in the same namespace</a:t>
            </a:r>
          </a:p>
          <a:p>
            <a:pPr lvl="1"/>
            <a:r>
              <a:rPr lang="en-US" dirty="0"/>
              <a:t>Basic user management is handled on namespace level</a:t>
            </a:r>
          </a:p>
          <a:p>
            <a:pPr lvl="1"/>
            <a:r>
              <a:rPr lang="en-US" dirty="0"/>
              <a:t>Resource quotas / limits managed per namespace</a:t>
            </a:r>
          </a:p>
          <a:p>
            <a:pPr lvl="1"/>
            <a:r>
              <a:rPr lang="en-US" dirty="0"/>
              <a:t>Uniqueness of names required per namespace</a:t>
            </a:r>
          </a:p>
          <a:p>
            <a:pPr lvl="1"/>
            <a:r>
              <a:rPr lang="en-US" dirty="0"/>
              <a:t>Access to services in a different namespace via FQDN &lt;service-name&gt;.&lt;namespace&gt;</a:t>
            </a:r>
          </a:p>
          <a:p>
            <a:pPr lvl="1"/>
            <a:r>
              <a:rPr lang="en-US" dirty="0"/>
              <a:t>Use –n (--namespace) &lt;namespace&gt; switch with </a:t>
            </a:r>
            <a:r>
              <a:rPr lang="en-US" dirty="0" err="1"/>
              <a:t>kubectl</a:t>
            </a:r>
            <a:r>
              <a:rPr lang="en-US" dirty="0"/>
              <a:t> to access resources</a:t>
            </a:r>
          </a:p>
          <a:p>
            <a:endParaRPr lang="en-US" dirty="0"/>
          </a:p>
          <a:p>
            <a:r>
              <a:rPr lang="en-US" b="1" dirty="0" err="1"/>
              <a:t>Kube</a:t>
            </a:r>
            <a:r>
              <a:rPr lang="en-US" b="1" dirty="0"/>
              <a:t>-system</a:t>
            </a:r>
            <a:r>
              <a:rPr lang="en-US" dirty="0"/>
              <a:t>: </a:t>
            </a:r>
          </a:p>
          <a:p>
            <a:r>
              <a:rPr lang="en-US" dirty="0"/>
              <a:t>This namespace usually hosts components which are administrative or should be available as cluster wide services. Typically these are the DNS, network components like the </a:t>
            </a:r>
            <a:r>
              <a:rPr lang="en-US" dirty="0" err="1"/>
              <a:t>kube</a:t>
            </a:r>
            <a:r>
              <a:rPr lang="en-US" dirty="0"/>
              <a:t>-proxy &amp; calico or node-exporter (collecting node metrics)… But also addons like the ingress controller are hosted there. </a:t>
            </a:r>
            <a:r>
              <a:rPr lang="en-US" dirty="0" err="1"/>
              <a:t>Kube</a:t>
            </a:r>
            <a:r>
              <a:rPr lang="en-US" dirty="0"/>
              <a:t>-system exists in almost all clusters</a:t>
            </a:r>
          </a:p>
          <a:p>
            <a:endParaRPr lang="en-US" dirty="0"/>
          </a:p>
          <a:p>
            <a:r>
              <a:rPr lang="en-US" b="1" dirty="0"/>
              <a:t>Default</a:t>
            </a:r>
            <a:r>
              <a:rPr lang="en-US" dirty="0"/>
              <a:t>:</a:t>
            </a:r>
          </a:p>
          <a:p>
            <a:r>
              <a:rPr lang="en-US" dirty="0"/>
              <a:t>Is just like any other namespace. However if no namespace target is specified (via </a:t>
            </a:r>
            <a:r>
              <a:rPr lang="en-US" dirty="0" err="1"/>
              <a:t>kubectl</a:t>
            </a:r>
            <a:r>
              <a:rPr lang="en-US" dirty="0"/>
              <a:t> -n or within the context of the </a:t>
            </a:r>
            <a:r>
              <a:rPr lang="en-US" dirty="0" err="1"/>
              <a:t>kube.config</a:t>
            </a:r>
            <a:r>
              <a:rPr lang="en-US" dirty="0"/>
              <a:t>), the default namespace is targeted. Default exists in almost all clusters.</a:t>
            </a:r>
          </a:p>
          <a:p>
            <a:endParaRPr lang="en-US" dirty="0"/>
          </a:p>
          <a:p>
            <a:r>
              <a:rPr lang="en-US" b="1" dirty="0"/>
              <a:t>Part-0001</a:t>
            </a:r>
            <a:r>
              <a:rPr lang="en-US" dirty="0"/>
              <a:t>: </a:t>
            </a:r>
          </a:p>
          <a:p>
            <a:r>
              <a:rPr lang="en-US" dirty="0"/>
              <a:t>Participant namespaces are created as part of the training preparation. Each participant gets an individual namespace and the </a:t>
            </a:r>
            <a:r>
              <a:rPr lang="en-US" dirty="0" err="1"/>
              <a:t>kube.config</a:t>
            </a:r>
            <a:r>
              <a:rPr lang="en-US" dirty="0"/>
              <a:t> has a corresponding entry in the context section to send all requests to this namespace per default.</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12</a:t>
            </a:fld>
            <a:endParaRPr lang="de-DE" dirty="0"/>
          </a:p>
        </p:txBody>
      </p:sp>
    </p:spTree>
    <p:extLst>
      <p:ext uri="{BB962C8B-B14F-4D97-AF65-F5344CB8AC3E}">
        <p14:creationId xmlns:p14="http://schemas.microsoft.com/office/powerpoint/2010/main" val="3339197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kubectl</a:t>
            </a:r>
            <a:r>
              <a:rPr lang="en-US" dirty="0"/>
              <a:t> binary allows to access the API in an easy way to get information or modify resources.</a:t>
            </a:r>
          </a:p>
          <a:p>
            <a:endParaRPr lang="en-US" dirty="0"/>
          </a:p>
          <a:p>
            <a:r>
              <a:rPr lang="en-US" dirty="0"/>
              <a:t>It uses a config file to know, which API server to talk to and how to authenticate requests. Of course you can have multiple config files and switch between them.</a:t>
            </a:r>
          </a:p>
          <a:p>
            <a:r>
              <a:rPr lang="en-US" dirty="0"/>
              <a:t>Following ways exist to make use of a </a:t>
            </a:r>
            <a:r>
              <a:rPr lang="en-US" dirty="0" err="1"/>
              <a:t>kubeconfig</a:t>
            </a:r>
            <a:r>
              <a:rPr lang="en-US" dirty="0"/>
              <a:t>:</a:t>
            </a:r>
          </a:p>
          <a:p>
            <a:r>
              <a:rPr lang="en-US" dirty="0"/>
              <a:t>- Specify --</a:t>
            </a:r>
            <a:r>
              <a:rPr lang="en-US" dirty="0" err="1"/>
              <a:t>kubeconfig</a:t>
            </a:r>
            <a:r>
              <a:rPr lang="en-US" dirty="0"/>
              <a:t>=&lt;config file&gt; flag for each </a:t>
            </a:r>
            <a:r>
              <a:rPr lang="en-US" dirty="0" err="1"/>
              <a:t>kubectl</a:t>
            </a:r>
            <a:r>
              <a:rPr lang="en-US" dirty="0"/>
              <a:t> command</a:t>
            </a:r>
          </a:p>
          <a:p>
            <a:r>
              <a:rPr lang="en-US" dirty="0"/>
              <a:t>- Export an environment variable KUBECONFIG pointing to one or many config files. In case of multiple files, use </a:t>
            </a:r>
            <a:r>
              <a:rPr lang="en-US" dirty="0" err="1"/>
              <a:t>kubectl</a:t>
            </a:r>
            <a:r>
              <a:rPr lang="en-US" dirty="0"/>
              <a:t> config use-context &lt;context-name&gt; to activate a </a:t>
            </a:r>
            <a:r>
              <a:rPr lang="en-US" dirty="0" err="1"/>
              <a:t>specifc</a:t>
            </a:r>
            <a:endParaRPr lang="en-US" dirty="0"/>
          </a:p>
          <a:p>
            <a:r>
              <a:rPr lang="en-US" dirty="0"/>
              <a:t>- The default location of the file: ~/.</a:t>
            </a:r>
            <a:r>
              <a:rPr lang="en-US" dirty="0" err="1"/>
              <a:t>kube</a:t>
            </a:r>
            <a:r>
              <a:rPr lang="en-US" dirty="0"/>
              <a:t>/config</a:t>
            </a:r>
          </a:p>
          <a:p>
            <a:endParaRPr lang="en-US" dirty="0"/>
          </a:p>
          <a:p>
            <a:r>
              <a:rPr lang="en-US" dirty="0"/>
              <a:t>The syntax follow an intuitive pattern – firstly, specify a command (what to do) and then add parameters which contain details of what to do. Then, add flags to modify the way it is done.</a:t>
            </a:r>
          </a:p>
          <a:p>
            <a:endParaRPr lang="en-US" dirty="0"/>
          </a:p>
          <a:p>
            <a:r>
              <a:rPr lang="en-US" dirty="0"/>
              <a:t>Usually, the command is a verb and the parameters specify a resource type (like “node”) and then depending on the command a specific resource by name (sometimes optional)</a:t>
            </a:r>
          </a:p>
        </p:txBody>
      </p:sp>
      <p:sp>
        <p:nvSpPr>
          <p:cNvPr id="4" name="Slide Number Placeholder 3"/>
          <p:cNvSpPr>
            <a:spLocks noGrp="1"/>
          </p:cNvSpPr>
          <p:nvPr>
            <p:ph type="sldNum" sz="quarter" idx="5"/>
          </p:nvPr>
        </p:nvSpPr>
        <p:spPr/>
        <p:txBody>
          <a:bodyPr/>
          <a:lstStyle/>
          <a:p>
            <a:fld id="{7D8C2C35-2B8A-446E-BEC0-FD36716C29AC}" type="slidenum">
              <a:rPr lang="de-DE" smtClean="0"/>
              <a:pPr/>
              <a:t>14</a:t>
            </a:fld>
            <a:endParaRPr lang="de-DE" dirty="0"/>
          </a:p>
        </p:txBody>
      </p:sp>
    </p:spTree>
    <p:extLst>
      <p:ext uri="{BB962C8B-B14F-4D97-AF65-F5344CB8AC3E}">
        <p14:creationId xmlns:p14="http://schemas.microsoft.com/office/powerpoint/2010/main" val="28753795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8C2C35-2B8A-446E-BEC0-FD36716C29AC}" type="slidenum">
              <a:rPr lang="de-DE" smtClean="0"/>
              <a:pPr/>
              <a:t>15</a:t>
            </a:fld>
            <a:endParaRPr lang="de-DE" dirty="0"/>
          </a:p>
        </p:txBody>
      </p:sp>
    </p:spTree>
    <p:extLst>
      <p:ext uri="{BB962C8B-B14F-4D97-AF65-F5344CB8AC3E}">
        <p14:creationId xmlns:p14="http://schemas.microsoft.com/office/powerpoint/2010/main" val="15249757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pPr marL="342900" indent="-342900">
              <a:buSzPct val="100000"/>
              <a:buFont typeface="Wingdings" panose="05000000000000000000" pitchFamily="2" charset="2"/>
              <a:buChar char="§"/>
            </a:pPr>
            <a:r>
              <a:rPr lang="en-US" dirty="0"/>
              <a:t>Call </a:t>
            </a:r>
            <a:r>
              <a:rPr lang="en-US" dirty="0" err="1"/>
              <a:t>kubectl</a:t>
            </a:r>
            <a:r>
              <a:rPr lang="en-US" dirty="0"/>
              <a:t> without any sub-command and explain how to get more info </a:t>
            </a:r>
          </a:p>
          <a:p>
            <a:pPr marL="180000" lvl="1" indent="0">
              <a:buSzPct val="100000"/>
              <a:buFont typeface="Wingdings" panose="05000000000000000000" pitchFamily="2" charset="2"/>
              <a:buNone/>
            </a:pPr>
            <a:endParaRPr lang="en-US" dirty="0"/>
          </a:p>
          <a:p>
            <a:pPr marL="342900" indent="-342900">
              <a:buSzPct val="100000"/>
              <a:buFont typeface="Wingdings" panose="05000000000000000000" pitchFamily="2" charset="2"/>
              <a:buChar char="§"/>
            </a:pPr>
            <a:r>
              <a:rPr lang="en-US" dirty="0"/>
              <a:t>Show access to cluster with </a:t>
            </a:r>
            <a:r>
              <a:rPr lang="en-US" dirty="0" err="1"/>
              <a:t>kubectl</a:t>
            </a:r>
            <a:r>
              <a:rPr lang="en-US" dirty="0"/>
              <a:t> -&gt; </a:t>
            </a:r>
            <a:r>
              <a:rPr lang="en-US" dirty="0" err="1"/>
              <a:t>kubectl</a:t>
            </a:r>
            <a:r>
              <a:rPr lang="en-US" dirty="0"/>
              <a:t> get nodes</a:t>
            </a:r>
          </a:p>
          <a:p>
            <a:pPr marL="342900" indent="-342900">
              <a:buSzPct val="100000"/>
              <a:buFont typeface="Wingdings" panose="05000000000000000000" pitchFamily="2" charset="2"/>
              <a:buChar char="§"/>
            </a:pPr>
            <a:r>
              <a:rPr lang="en-US" dirty="0"/>
              <a:t>Explain basic syntax of </a:t>
            </a:r>
            <a:r>
              <a:rPr lang="en-US" dirty="0" err="1"/>
              <a:t>kubectl</a:t>
            </a:r>
            <a:r>
              <a:rPr lang="en-US" dirty="0"/>
              <a:t> [verb] [resource type] [specific resource by name or label] [options / switches like –o </a:t>
            </a:r>
            <a:r>
              <a:rPr lang="en-US" dirty="0" err="1"/>
              <a:t>yaml</a:t>
            </a:r>
            <a:r>
              <a:rPr lang="en-US" dirty="0"/>
              <a:t>]</a:t>
            </a:r>
          </a:p>
          <a:p>
            <a:pPr marL="342900" marR="0" lvl="0" indent="-342900" algn="l" defTabSz="1088776" rtl="0" eaLnBrk="1" fontAlgn="auto" latinLnBrk="0" hangingPunct="1">
              <a:lnSpc>
                <a:spcPct val="100000"/>
              </a:lnSpc>
              <a:spcBef>
                <a:spcPts val="0"/>
              </a:spcBef>
              <a:spcAft>
                <a:spcPts val="0"/>
              </a:spcAft>
              <a:buClrTx/>
              <a:buSzPct val="100000"/>
              <a:buFont typeface="Wingdings" panose="05000000000000000000" pitchFamily="2" charset="2"/>
              <a:buChar char="§"/>
              <a:tabLst/>
              <a:defRPr/>
            </a:pPr>
            <a:r>
              <a:rPr lang="en-US" dirty="0"/>
              <a:t>Show </a:t>
            </a:r>
            <a:r>
              <a:rPr lang="en-US" dirty="0" err="1"/>
              <a:t>kubectl</a:t>
            </a:r>
            <a:r>
              <a:rPr lang="en-US" dirty="0"/>
              <a:t> get &amp; describe nodes and talk about details of the node, like resource utilization or docker version</a:t>
            </a:r>
          </a:p>
          <a:p>
            <a:pPr marL="342900" marR="0" lvl="0" indent="-342900" algn="l" defTabSz="1088776" rtl="0" eaLnBrk="1" fontAlgn="auto" latinLnBrk="0" hangingPunct="1">
              <a:lnSpc>
                <a:spcPct val="100000"/>
              </a:lnSpc>
              <a:spcBef>
                <a:spcPts val="0"/>
              </a:spcBef>
              <a:spcAft>
                <a:spcPts val="0"/>
              </a:spcAft>
              <a:buClrTx/>
              <a:buSzPct val="100000"/>
              <a:buFont typeface="Wingdings" panose="05000000000000000000" pitchFamily="2" charset="2"/>
              <a:buChar char="§"/>
              <a:tabLst/>
              <a:defRPr/>
            </a:pPr>
            <a:endParaRPr lang="en-US" dirty="0"/>
          </a:p>
          <a:p>
            <a:pPr marL="342900" indent="-342900">
              <a:buSzPct val="100000"/>
              <a:buFont typeface="Wingdings" panose="05000000000000000000" pitchFamily="2" charset="2"/>
              <a:buChar char="§"/>
            </a:pPr>
            <a:r>
              <a:rPr lang="en-US" dirty="0"/>
              <a:t>Show and explain </a:t>
            </a:r>
            <a:r>
              <a:rPr lang="en-US" dirty="0" err="1"/>
              <a:t>kubectl</a:t>
            </a:r>
            <a:r>
              <a:rPr lang="en-US" dirty="0"/>
              <a:t> config *</a:t>
            </a:r>
          </a:p>
          <a:p>
            <a:pPr marL="522900" lvl="1" indent="-342900">
              <a:buSzPct val="100000"/>
              <a:buFont typeface="Wingdings" panose="05000000000000000000" pitchFamily="2" charset="2"/>
              <a:buChar char="§"/>
            </a:pPr>
            <a:r>
              <a:rPr lang="en-US" dirty="0"/>
              <a:t>Explain KUBECONFIG env variable &amp; the default location ~/.</a:t>
            </a:r>
            <a:r>
              <a:rPr lang="en-US" dirty="0" err="1"/>
              <a:t>kube</a:t>
            </a:r>
            <a:r>
              <a:rPr lang="en-US" dirty="0"/>
              <a:t>/config</a:t>
            </a:r>
          </a:p>
          <a:p>
            <a:pPr marL="522900" lvl="1" indent="-342900">
              <a:buSzPct val="100000"/>
              <a:buFont typeface="Wingdings" panose="05000000000000000000" pitchFamily="2" charset="2"/>
              <a:buChar char="§"/>
            </a:pPr>
            <a:r>
              <a:rPr lang="en-US" dirty="0"/>
              <a:t>Show the </a:t>
            </a:r>
            <a:r>
              <a:rPr lang="en-US" dirty="0" err="1"/>
              <a:t>kubeconfig</a:t>
            </a:r>
            <a:r>
              <a:rPr lang="en-US" dirty="0"/>
              <a:t> </a:t>
            </a:r>
            <a:r>
              <a:rPr lang="en-US" dirty="0" err="1"/>
              <a:t>yaml</a:t>
            </a:r>
            <a:r>
              <a:rPr lang="en-US" dirty="0"/>
              <a:t> file with the current context and the namespace</a:t>
            </a:r>
          </a:p>
          <a:p>
            <a:pPr marL="342900" marR="0" lvl="0" indent="-342900" algn="l" defTabSz="1088776" rtl="0" eaLnBrk="1" fontAlgn="auto" latinLnBrk="0" hangingPunct="1">
              <a:lnSpc>
                <a:spcPct val="100000"/>
              </a:lnSpc>
              <a:spcBef>
                <a:spcPts val="0"/>
              </a:spcBef>
              <a:spcAft>
                <a:spcPts val="0"/>
              </a:spcAft>
              <a:buClrTx/>
              <a:buSzPct val="100000"/>
              <a:buFont typeface="Wingdings" panose="05000000000000000000" pitchFamily="2" charset="2"/>
              <a:buChar char="§"/>
              <a:tabLst/>
              <a:defRPr/>
            </a:pPr>
            <a:endParaRPr lang="en-US" dirty="0"/>
          </a:p>
          <a:p>
            <a:pPr marL="342900" marR="0" lvl="0" indent="-342900" algn="l" defTabSz="1088776" rtl="0" eaLnBrk="1" fontAlgn="auto" latinLnBrk="0" hangingPunct="1">
              <a:lnSpc>
                <a:spcPct val="100000"/>
              </a:lnSpc>
              <a:spcBef>
                <a:spcPts val="0"/>
              </a:spcBef>
              <a:spcAft>
                <a:spcPts val="0"/>
              </a:spcAft>
              <a:buClrTx/>
              <a:buSzPct val="100000"/>
              <a:buFont typeface="Wingdings" panose="05000000000000000000" pitchFamily="2" charset="2"/>
              <a:buChar char="§"/>
              <a:tabLst/>
              <a:defRPr/>
            </a:pPr>
            <a:r>
              <a:rPr lang="en-US" dirty="0"/>
              <a:t>Show all namespaces in cluster, if not yet mentioned, explain that everyone has their own namespace. Please be a good citizen and don’t sabotage the others.</a:t>
            </a:r>
          </a:p>
          <a:p>
            <a:pPr marL="342900" marR="0" lvl="0" indent="-342900" algn="l" defTabSz="1088776" rtl="0" eaLnBrk="1" fontAlgn="auto" latinLnBrk="0" hangingPunct="1">
              <a:lnSpc>
                <a:spcPct val="100000"/>
              </a:lnSpc>
              <a:spcBef>
                <a:spcPts val="0"/>
              </a:spcBef>
              <a:spcAft>
                <a:spcPts val="0"/>
              </a:spcAft>
              <a:buClrTx/>
              <a:buSzPct val="100000"/>
              <a:buFont typeface="Wingdings" panose="05000000000000000000" pitchFamily="2" charset="2"/>
              <a:buChar char="§"/>
              <a:tabLst/>
              <a:defRPr/>
            </a:pPr>
            <a:r>
              <a:rPr lang="en-US" dirty="0"/>
              <a:t>Query a pod from a dedicated namespace ( e.g. </a:t>
            </a:r>
            <a:r>
              <a:rPr lang="en-US" dirty="0" err="1"/>
              <a:t>kube</a:t>
            </a:r>
            <a:r>
              <a:rPr lang="en-US" dirty="0"/>
              <a:t>-system), explain “-n &lt;namespace&gt;” flag</a:t>
            </a:r>
          </a:p>
          <a:p>
            <a:pPr marL="342900" marR="0" lvl="0" indent="-342900" algn="l" defTabSz="1088776" rtl="0" eaLnBrk="1" fontAlgn="auto" latinLnBrk="0" hangingPunct="1">
              <a:lnSpc>
                <a:spcPct val="100000"/>
              </a:lnSpc>
              <a:spcBef>
                <a:spcPts val="0"/>
              </a:spcBef>
              <a:spcAft>
                <a:spcPts val="0"/>
              </a:spcAft>
              <a:buClrTx/>
              <a:buSzPct val="100000"/>
              <a:buFont typeface="Wingdings" panose="05000000000000000000" pitchFamily="2" charset="2"/>
              <a:buChar char="§"/>
              <a:tabLst/>
              <a:defRPr/>
            </a:pPr>
            <a:endParaRPr lang="en-US" dirty="0"/>
          </a:p>
          <a:p>
            <a:pPr marL="342900" marR="0" lvl="0" indent="-342900" algn="l" defTabSz="1088776" rtl="0" eaLnBrk="1" fontAlgn="auto" latinLnBrk="0" hangingPunct="1">
              <a:lnSpc>
                <a:spcPct val="100000"/>
              </a:lnSpc>
              <a:spcBef>
                <a:spcPts val="0"/>
              </a:spcBef>
              <a:spcAft>
                <a:spcPts val="0"/>
              </a:spcAft>
              <a:buClrTx/>
              <a:buSzPct val="100000"/>
              <a:buFont typeface="Wingdings" panose="05000000000000000000" pitchFamily="2" charset="2"/>
              <a:buChar char="§"/>
              <a:tabLst/>
              <a:defRPr/>
            </a:pPr>
            <a:r>
              <a:rPr lang="en-US" dirty="0"/>
              <a:t>Run </a:t>
            </a:r>
            <a:r>
              <a:rPr lang="en-US" dirty="0" err="1"/>
              <a:t>kubectl</a:t>
            </a:r>
            <a:r>
              <a:rPr lang="en-US" dirty="0"/>
              <a:t> proxy &amp;</a:t>
            </a:r>
          </a:p>
          <a:p>
            <a:pPr marL="342900" marR="0" lvl="0" indent="-342900" algn="l" defTabSz="1088776" rtl="0" eaLnBrk="1" fontAlgn="auto" latinLnBrk="0" hangingPunct="1">
              <a:lnSpc>
                <a:spcPct val="100000"/>
              </a:lnSpc>
              <a:spcBef>
                <a:spcPts val="0"/>
              </a:spcBef>
              <a:spcAft>
                <a:spcPts val="0"/>
              </a:spcAft>
              <a:buClrTx/>
              <a:buSzPct val="100000"/>
              <a:buFont typeface="Wingdings" panose="05000000000000000000" pitchFamily="2" charset="2"/>
              <a:buChar char="§"/>
              <a:tabLst/>
              <a:defRPr/>
            </a:pPr>
            <a:r>
              <a:rPr lang="en-US" dirty="0"/>
              <a:t>Open localhost:8001 in browser and show </a:t>
            </a:r>
            <a:r>
              <a:rPr lang="en-US" dirty="0" err="1"/>
              <a:t>api</a:t>
            </a:r>
            <a:r>
              <a:rPr lang="en-US" dirty="0"/>
              <a:t> tree, traverse through it and go to namespace </a:t>
            </a:r>
            <a:r>
              <a:rPr lang="en-US" dirty="0" err="1"/>
              <a:t>kube</a:t>
            </a:r>
            <a:r>
              <a:rPr lang="en-US" dirty="0"/>
              <a:t>-system and show some pods</a:t>
            </a:r>
          </a:p>
          <a:p>
            <a:pPr marL="342900" indent="-342900">
              <a:buSzPct val="100000"/>
              <a:buFont typeface="Wingdings" panose="05000000000000000000" pitchFamily="2" charset="2"/>
              <a:buChar char="§"/>
            </a:pPr>
            <a:r>
              <a:rPr lang="en-US" dirty="0"/>
              <a:t>Query API server with curl (again via localhost)</a:t>
            </a:r>
          </a:p>
          <a:p>
            <a:pPr marL="342900" indent="-342900">
              <a:buSzPct val="100000"/>
              <a:buFont typeface="Wingdings" panose="05000000000000000000" pitchFamily="2" charset="2"/>
              <a:buChar char="§"/>
            </a:pPr>
            <a:r>
              <a:rPr lang="en-US" dirty="0"/>
              <a:t>If you have </a:t>
            </a:r>
            <a:r>
              <a:rPr lang="en-US" dirty="0" err="1"/>
              <a:t>kubectl</a:t>
            </a:r>
            <a:r>
              <a:rPr lang="en-US" dirty="0"/>
              <a:t> version v1.11 or higher:</a:t>
            </a:r>
          </a:p>
          <a:p>
            <a:pPr marL="522900" lvl="1" indent="-342900">
              <a:buSzPct val="100000"/>
              <a:buFont typeface="Wingdings" panose="05000000000000000000" pitchFamily="2" charset="2"/>
              <a:buChar char="§"/>
            </a:pPr>
            <a:r>
              <a:rPr lang="en-US" dirty="0"/>
              <a:t>Show </a:t>
            </a:r>
            <a:r>
              <a:rPr lang="en-US" dirty="0" err="1"/>
              <a:t>kubectl</a:t>
            </a:r>
            <a:r>
              <a:rPr lang="en-US" dirty="0"/>
              <a:t> </a:t>
            </a:r>
            <a:r>
              <a:rPr lang="en-US" dirty="0" err="1"/>
              <a:t>api</a:t>
            </a:r>
            <a:r>
              <a:rPr lang="en-US" dirty="0"/>
              <a:t>-versions =&gt; similar to what you did with the proxy, just easier</a:t>
            </a:r>
          </a:p>
          <a:p>
            <a:pPr marL="522900" lvl="1" indent="-342900">
              <a:buSzPct val="100000"/>
              <a:buFont typeface="Wingdings" panose="05000000000000000000" pitchFamily="2" charset="2"/>
              <a:buChar char="§"/>
            </a:pPr>
            <a:r>
              <a:rPr lang="en-US" dirty="0"/>
              <a:t>Show </a:t>
            </a:r>
            <a:r>
              <a:rPr lang="en-US" dirty="0" err="1"/>
              <a:t>kubectl</a:t>
            </a:r>
            <a:r>
              <a:rPr lang="en-US" dirty="0"/>
              <a:t> </a:t>
            </a:r>
            <a:r>
              <a:rPr lang="en-US" dirty="0" err="1"/>
              <a:t>api</a:t>
            </a:r>
            <a:r>
              <a:rPr lang="en-US" dirty="0"/>
              <a:t>-resources =&gt; gives info about all the cluster resources </a:t>
            </a:r>
            <a:r>
              <a:rPr lang="en-US" dirty="0" err="1"/>
              <a:t>incl</a:t>
            </a:r>
            <a:r>
              <a:rPr lang="en-US" dirty="0"/>
              <a:t> short names!</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16</a:t>
            </a:fld>
            <a:endParaRPr lang="de-DE" dirty="0"/>
          </a:p>
        </p:txBody>
      </p:sp>
    </p:spTree>
    <p:extLst>
      <p:ext uri="{BB962C8B-B14F-4D97-AF65-F5344CB8AC3E}">
        <p14:creationId xmlns:p14="http://schemas.microsoft.com/office/powerpoint/2010/main" val="20721897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~10min</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18</a:t>
            </a:fld>
            <a:endParaRPr lang="de-DE" dirty="0"/>
          </a:p>
        </p:txBody>
      </p:sp>
    </p:spTree>
    <p:extLst>
      <p:ext uri="{BB962C8B-B14F-4D97-AF65-F5344CB8AC3E}">
        <p14:creationId xmlns:p14="http://schemas.microsoft.com/office/powerpoint/2010/main" val="34432484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de-DE" smtClean="0"/>
              <a:pPr/>
              <a:t>19</a:t>
            </a:fld>
            <a:endParaRPr lang="de-DE" dirty="0"/>
          </a:p>
        </p:txBody>
      </p:sp>
      <p:sp>
        <p:nvSpPr>
          <p:cNvPr id="6" name="Slide Image Placeholder 5"/>
          <p:cNvSpPr>
            <a:spLocks noGrp="1" noRot="1" noChangeAspect="1"/>
          </p:cNvSpPr>
          <p:nvPr>
            <p:ph type="sldImg"/>
          </p:nvPr>
        </p:nvSpPr>
        <p:spPr>
          <a:xfrm>
            <a:off x="547688" y="612775"/>
            <a:ext cx="5762625" cy="3241675"/>
          </a:xfrm>
        </p:spPr>
      </p:sp>
      <p:sp>
        <p:nvSpPr>
          <p:cNvPr id="7" name="Notes Placeholder 6"/>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5442643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hyperlink" Target="http://global.sap.com/corporate-en/legal/copyright/index.epx"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hyperlink" Target="http://www.sap.com/corporate-de/legal/copyright/index.epx"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image">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solidFill>
            <a:schemeClr val="tx2">
              <a:alpha val="70000"/>
            </a:schemeClr>
          </a:solidFill>
        </p:spPr>
        <p:txBody>
          <a:bodyPr tIns="504000"/>
          <a:lstStyle>
            <a:lvl1pPr algn="ctr">
              <a:defRPr sz="1600">
                <a:solidFill>
                  <a:schemeClr val="tx1"/>
                </a:solidFill>
              </a:defRPr>
            </a:lvl1pPr>
          </a:lstStyle>
          <a:p>
            <a:r>
              <a:rPr lang="en-US" dirty="0"/>
              <a:t>Click to insert title image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grpSp>
        <p:nvGrpSpPr>
          <p:cNvPr id="2" name="Group 1"/>
          <p:cNvGrpSpPr/>
          <p:nvPr userDrawn="1"/>
        </p:nvGrpSpPr>
        <p:grpSpPr>
          <a:xfrm>
            <a:off x="9171173" y="0"/>
            <a:ext cx="3024002" cy="3430006"/>
            <a:chOff x="9171173" y="0"/>
            <a:chExt cx="3024002" cy="3430006"/>
          </a:xfrm>
        </p:grpSpPr>
        <p:sp>
          <p:nvSpPr>
            <p:cNvPr id="17" name="Rectangle 16"/>
            <p:cNvSpPr/>
            <p:nvPr userDrawn="1"/>
          </p:nvSpPr>
          <p:spPr bwMode="gray">
            <a:xfrm>
              <a:off x="11187175" y="0"/>
              <a:ext cx="1008000" cy="3430006"/>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3430006"/>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3430006"/>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24527176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 illustration scene art">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noFill/>
        </p:spPr>
        <p:txBody>
          <a:bodyPr tIns="504000"/>
          <a:lstStyle>
            <a:lvl1pPr algn="ctr">
              <a:defRPr sz="1600">
                <a:solidFill>
                  <a:schemeClr val="tx1"/>
                </a:solidFill>
              </a:defRPr>
            </a:lvl1pPr>
          </a:lstStyle>
          <a:p>
            <a:r>
              <a:rPr lang="en-US" dirty="0"/>
              <a:t>Click to insert illustration scene art</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30188748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black">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6" name="Speaker"/>
          <p:cNvSpPr>
            <a:spLocks noGrp="1"/>
          </p:cNvSpPr>
          <p:nvPr userDrawn="1">
            <p:ph type="subTitle" idx="1" hasCustomPrompt="1"/>
          </p:nvPr>
        </p:nvSpPr>
        <p:spPr bwMode="gray">
          <a:xfrm>
            <a:off x="288000" y="4268503"/>
            <a:ext cx="8595171"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0" y="2706317"/>
            <a:ext cx="8595171"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grpSp>
        <p:nvGrpSpPr>
          <p:cNvPr id="2" name="Group 1"/>
          <p:cNvGrpSpPr/>
          <p:nvPr userDrawn="1"/>
        </p:nvGrpSpPr>
        <p:grpSpPr>
          <a:xfrm>
            <a:off x="9171173" y="0"/>
            <a:ext cx="3024002" cy="6858000"/>
            <a:chOff x="9171173" y="0"/>
            <a:chExt cx="3024002" cy="6855990"/>
          </a:xfrm>
        </p:grpSpPr>
        <p:sp>
          <p:nvSpPr>
            <p:cNvPr id="17" name="Rectangle 16"/>
            <p:cNvSpPr/>
            <p:nvPr userDrawn="1"/>
          </p:nvSpPr>
          <p:spPr bwMode="gray">
            <a:xfrm>
              <a:off x="11187175" y="0"/>
              <a:ext cx="1008000" cy="6855990"/>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685599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685599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Tree>
    <p:extLst>
      <p:ext uri="{BB962C8B-B14F-4D97-AF65-F5344CB8AC3E}">
        <p14:creationId xmlns:p14="http://schemas.microsoft.com/office/powerpoint/2010/main" val="198241062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with pictogram">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6" name="Speaker"/>
          <p:cNvSpPr>
            <a:spLocks noGrp="1"/>
          </p:cNvSpPr>
          <p:nvPr userDrawn="1">
            <p:ph type="subTitle" idx="1" hasCustomPrompt="1"/>
          </p:nvPr>
        </p:nvSpPr>
        <p:spPr bwMode="gray">
          <a:xfrm>
            <a:off x="288001" y="4268503"/>
            <a:ext cx="637343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1" y="2706317"/>
            <a:ext cx="6373430"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7" name="Picture Placeholder 6"/>
          <p:cNvSpPr>
            <a:spLocks noGrp="1"/>
          </p:cNvSpPr>
          <p:nvPr>
            <p:ph type="pic" sz="quarter" idx="16"/>
          </p:nvPr>
        </p:nvSpPr>
        <p:spPr>
          <a:xfrm>
            <a:off x="6954855" y="963000"/>
            <a:ext cx="4932000" cy="4932000"/>
          </a:xfrm>
        </p:spPr>
        <p:txBody>
          <a:bodyPr/>
          <a:lstStyle/>
          <a:p>
            <a:endParaRPr lang="de-DE" dirty="0"/>
          </a:p>
        </p:txBody>
      </p:sp>
    </p:spTree>
    <p:extLst>
      <p:ext uri="{BB962C8B-B14F-4D97-AF65-F5344CB8AC3E}">
        <p14:creationId xmlns:p14="http://schemas.microsoft.com/office/powerpoint/2010/main" val="304804629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4000" y="1620000"/>
            <a:ext cx="11185200" cy="4230000"/>
          </a:xfrm>
        </p:spPr>
        <p:txBody>
          <a:bodyPr>
            <a:noAutofit/>
          </a:bodyPr>
          <a:lstStyle>
            <a:lvl1pPr marL="0" marR="0" indent="0" algn="l" defTabSz="1088558" rtl="0" eaLnBrk="1" fontAlgn="auto" latinLnBrk="0" hangingPunct="1">
              <a:lnSpc>
                <a:spcPct val="100000"/>
              </a:lnSpc>
              <a:spcBef>
                <a:spcPts val="3000"/>
              </a:spcBef>
              <a:spcAft>
                <a:spcPts val="0"/>
              </a:spcAft>
              <a:buClr>
                <a:schemeClr val="accent1"/>
              </a:buClr>
              <a:buSzPct val="80000"/>
              <a:buFontTx/>
              <a:buNone/>
              <a:tabLst/>
              <a:defRPr sz="2000" b="0"/>
            </a:lvl1pPr>
            <a:lvl2pPr marL="179964" marR="0" indent="-179964" algn="l" defTabSz="1088558" rtl="0" eaLnBrk="1" fontAlgn="auto" latinLnBrk="0" hangingPunct="1">
              <a:lnSpc>
                <a:spcPct val="100000"/>
              </a:lnSpc>
              <a:spcBef>
                <a:spcPts val="600"/>
              </a:spcBef>
              <a:spcAft>
                <a:spcPts val="0"/>
              </a:spcAft>
              <a:buClr>
                <a:schemeClr val="accent1"/>
              </a:buClr>
              <a:buSzPct val="100000"/>
              <a:buFont typeface="Wingdings" panose="05000000000000000000" pitchFamily="2" charset="2"/>
              <a:buChar char="§"/>
              <a:tabLst/>
              <a:defRPr sz="1800"/>
            </a:lvl2pPr>
            <a:lvl3pPr marL="359928" marR="0" indent="-179352" algn="l" defTabSz="1088558"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892" marR="0" indent="-179964" algn="l" defTabSz="1088558"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p:txBody>
      </p:sp>
      <p:sp>
        <p:nvSpPr>
          <p:cNvPr id="3" name="Agenda title"/>
          <p:cNvSpPr>
            <a:spLocks noGrp="1"/>
          </p:cNvSpPr>
          <p:nvPr>
            <p:ph type="title" hasCustomPrompt="1"/>
          </p:nvPr>
        </p:nvSpPr>
        <p:spPr/>
        <p:txBody>
          <a:bodyPr/>
          <a:lstStyle>
            <a:lvl1pPr>
              <a:defRPr/>
            </a:lvl1pPr>
          </a:lstStyle>
          <a:p>
            <a:r>
              <a:rPr lang="en-US" dirty="0"/>
              <a:t>Agenda</a:t>
            </a:r>
          </a:p>
        </p:txBody>
      </p:sp>
    </p:spTree>
    <p:extLst>
      <p:ext uri="{BB962C8B-B14F-4D97-AF65-F5344CB8AC3E}">
        <p14:creationId xmlns:p14="http://schemas.microsoft.com/office/powerpoint/2010/main" val="1859360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gray">
          <a:xfrm>
            <a:off x="504000" y="3090446"/>
            <a:ext cx="11185200" cy="677108"/>
          </a:xfrm>
        </p:spPr>
        <p:txBody>
          <a:bodyPr anchor="ctr" anchorCtr="0">
            <a:noAutofit/>
          </a:bodyPr>
          <a:lstStyle>
            <a:lvl1pPr>
              <a:defRPr sz="4400">
                <a:solidFill>
                  <a:schemeClr val="tx1"/>
                </a:solidFill>
                <a:latin typeface="+mj-lt"/>
              </a:defRPr>
            </a:lvl1pPr>
          </a:lstStyle>
          <a:p>
            <a:r>
              <a:rPr lang="en-US" dirty="0"/>
              <a:t>Divider page</a:t>
            </a:r>
            <a:endParaRPr lang="de-DE" dirty="0"/>
          </a:p>
        </p:txBody>
      </p:sp>
    </p:spTree>
    <p:extLst>
      <p:ext uri="{BB962C8B-B14F-4D97-AF65-F5344CB8AC3E}">
        <p14:creationId xmlns:p14="http://schemas.microsoft.com/office/powerpoint/2010/main" val="410952787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dirty="0"/>
              <a:t>Placeholder for image and illustration scene art</a:t>
            </a:r>
          </a:p>
        </p:txBody>
      </p:sp>
      <p:sp>
        <p:nvSpPr>
          <p:cNvPr id="2" name="Divider text"/>
          <p:cNvSpPr>
            <a:spLocks noGrp="1"/>
          </p:cNvSpPr>
          <p:nvPr>
            <p:ph type="ctrTitle" hasCustomPrompt="1"/>
          </p:nvPr>
        </p:nvSpPr>
        <p:spPr bwMode="gray">
          <a:xfrm>
            <a:off x="504000" y="1375046"/>
            <a:ext cx="11185200" cy="677108"/>
          </a:xfrm>
        </p:spPr>
        <p:txBody>
          <a:bodyPr anchor="t" anchorCtr="0">
            <a:noAutofit/>
          </a:bodyPr>
          <a:lstStyle>
            <a:lvl1pPr>
              <a:defRPr sz="4400">
                <a:solidFill>
                  <a:schemeClr val="tx1"/>
                </a:solidFill>
                <a:latin typeface="+mj-lt"/>
              </a:defRPr>
            </a:lvl1pPr>
          </a:lstStyle>
          <a:p>
            <a:r>
              <a:rPr lang="en-US" dirty="0"/>
              <a:t>Divider page</a:t>
            </a:r>
            <a:endParaRPr lang="de-DE" dirty="0"/>
          </a:p>
        </p:txBody>
      </p:sp>
    </p:spTree>
    <p:extLst>
      <p:ext uri="{BB962C8B-B14F-4D97-AF65-F5344CB8AC3E}">
        <p14:creationId xmlns:p14="http://schemas.microsoft.com/office/powerpoint/2010/main" val="100898527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466743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3999" y="1620000"/>
            <a:ext cx="11186477"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129332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 column 1"/>
          <p:cNvSpPr>
            <a:spLocks noGrp="1"/>
          </p:cNvSpPr>
          <p:nvPr>
            <p:ph type="body" sz="quarter" idx="11" hasCustomPrompt="1"/>
          </p:nvPr>
        </p:nvSpPr>
        <p:spPr>
          <a:xfrm>
            <a:off x="6362477"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630481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4315238"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866416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7" name="Text placeholder - column 2"/>
          <p:cNvSpPr>
            <a:spLocks noGrp="1"/>
          </p:cNvSpPr>
          <p:nvPr>
            <p:ph type="body" sz="quarter" idx="13" hasCustomPrompt="1"/>
          </p:nvPr>
        </p:nvSpPr>
        <p:spPr>
          <a:xfrm>
            <a:off x="6362477"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6362477"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2504941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7" name="Text placeholder - column 2"/>
          <p:cNvSpPr>
            <a:spLocks noGrp="1"/>
          </p:cNvSpPr>
          <p:nvPr>
            <p:ph type="body" sz="quarter" idx="13" hasCustomPrompt="1"/>
          </p:nvPr>
        </p:nvSpPr>
        <p:spPr>
          <a:xfrm>
            <a:off x="8299277"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8299277"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9" name="Text placeholder - column 2"/>
          <p:cNvSpPr>
            <a:spLocks noGrp="1"/>
          </p:cNvSpPr>
          <p:nvPr>
            <p:ph type="body" sz="quarter" idx="15" hasCustomPrompt="1"/>
          </p:nvPr>
        </p:nvSpPr>
        <p:spPr>
          <a:xfrm>
            <a:off x="4401639"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4401639"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727667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3878220"/>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7" name="Text placeholder - column 2"/>
          <p:cNvSpPr>
            <a:spLocks noGrp="1"/>
          </p:cNvSpPr>
          <p:nvPr>
            <p:ph type="body" sz="quarter" idx="13" hasCustomPrompt="1"/>
          </p:nvPr>
        </p:nvSpPr>
        <p:spPr>
          <a:xfrm>
            <a:off x="9274877"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9274877"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9" name="Text placeholder - column 2"/>
          <p:cNvSpPr>
            <a:spLocks noGrp="1"/>
          </p:cNvSpPr>
          <p:nvPr>
            <p:ph type="body" sz="quarter" idx="15" hasCustomPrompt="1"/>
          </p:nvPr>
        </p:nvSpPr>
        <p:spPr>
          <a:xfrm>
            <a:off x="3427626"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3427626"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3" name="Text placeholder - column 2"/>
          <p:cNvSpPr>
            <a:spLocks noGrp="1"/>
          </p:cNvSpPr>
          <p:nvPr>
            <p:ph type="body" sz="quarter" idx="17" hasCustomPrompt="1"/>
          </p:nvPr>
        </p:nvSpPr>
        <p:spPr>
          <a:xfrm>
            <a:off x="6351252"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6351252"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2680594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lvl1pPr>
            <a:lvl2pPr marL="395921" indent="0">
              <a:buNone/>
              <a:defRPr sz="1200"/>
            </a:lvl2pPr>
          </a:lstStyle>
          <a:p>
            <a:pPr lvl="0"/>
            <a:r>
              <a:rPr lang="en-US" noProof="0" dirty="0"/>
              <a:t>“Quote goes here </a:t>
            </a:r>
            <a:br>
              <a:rPr lang="en-US" noProof="0" dirty="0"/>
            </a:br>
            <a:r>
              <a:rPr lang="en-US" noProof="0" dirty="0"/>
              <a:t>and here.”</a:t>
            </a:r>
          </a:p>
          <a:p>
            <a:pPr lvl="1"/>
            <a:r>
              <a:rPr lang="en-US" noProof="0" dirty="0"/>
              <a:t>Source</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grpSp>
        <p:nvGrpSpPr>
          <p:cNvPr id="3" name="Group 2"/>
          <p:cNvGrpSpPr/>
          <p:nvPr userDrawn="1"/>
        </p:nvGrpSpPr>
        <p:grpSpPr>
          <a:xfrm>
            <a:off x="0" y="0"/>
            <a:ext cx="12195175" cy="251942"/>
            <a:chOff x="0" y="0"/>
            <a:chExt cx="12195175" cy="251942"/>
          </a:xfrm>
        </p:grpSpPr>
        <p:sp>
          <p:nvSpPr>
            <p:cNvPr id="9" name="Rectangle 8"/>
            <p:cNvSpPr/>
            <p:nvPr userDrawn="1"/>
          </p:nvSpPr>
          <p:spPr bwMode="gray">
            <a:xfrm>
              <a:off x="0" y="0"/>
              <a:ext cx="12195175" cy="251942"/>
            </a:xfrm>
            <a:prstGeom prst="rect">
              <a:avLst/>
            </a:prstGeom>
            <a:solidFill>
              <a:schemeClr val="bg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4" name="Secondary Motion Band"/>
            <p:cNvGrpSpPr/>
            <p:nvPr userDrawn="1"/>
          </p:nvGrpSpPr>
          <p:grpSpPr>
            <a:xfrm>
              <a:off x="10682127" y="0"/>
              <a:ext cx="1513048" cy="251942"/>
              <a:chOff x="10682127" y="0"/>
              <a:chExt cx="1513048" cy="252000"/>
            </a:xfrm>
          </p:grpSpPr>
          <p:sp>
            <p:nvSpPr>
              <p:cNvPr id="6" name="Rectangle 5"/>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7" name="Rectangle 6"/>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9327859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with image 1">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8127175" y="252000"/>
            <a:ext cx="4068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7" name="Text Placeholder 6"/>
          <p:cNvSpPr>
            <a:spLocks noGrp="1"/>
          </p:cNvSpPr>
          <p:nvPr>
            <p:ph type="body" sz="quarter" idx="11" hasCustomPrompt="1"/>
          </p:nvPr>
        </p:nvSpPr>
        <p:spPr bwMode="gray">
          <a:xfrm>
            <a:off x="503999" y="1620000"/>
            <a:ext cx="709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3" name="Title 2"/>
          <p:cNvSpPr>
            <a:spLocks noGrp="1"/>
          </p:cNvSpPr>
          <p:nvPr>
            <p:ph type="title" hasCustomPrompt="1"/>
          </p:nvPr>
        </p:nvSpPr>
        <p:spPr>
          <a:xfrm>
            <a:off x="504001" y="504000"/>
            <a:ext cx="709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4250202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ext with image 2">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6111175" y="252000"/>
            <a:ext cx="6084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7" name="Text Placeholder 6"/>
          <p:cNvSpPr>
            <a:spLocks noGrp="1"/>
          </p:cNvSpPr>
          <p:nvPr>
            <p:ph type="body" sz="quarter" idx="11" hasCustomPrompt="1"/>
          </p:nvPr>
        </p:nvSpPr>
        <p:spPr bwMode="gray">
          <a:xfrm>
            <a:off x="503999" y="1620000"/>
            <a:ext cx="511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2" name="Title 1"/>
          <p:cNvSpPr>
            <a:spLocks noGrp="1"/>
          </p:cNvSpPr>
          <p:nvPr>
            <p:ph type="title" hasCustomPrompt="1"/>
          </p:nvPr>
        </p:nvSpPr>
        <p:spPr>
          <a:xfrm>
            <a:off x="504001" y="504000"/>
            <a:ext cx="511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5527877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ith motion band">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252000"/>
            <a:ext cx="12195175"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19010498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0"/>
            <a:ext cx="12195175" cy="6858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41397911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4"/>
          <p:cNvSpPr>
            <a:spLocks noGrp="1"/>
          </p:cNvSpPr>
          <p:nvPr>
            <p:ph type="pic" sz="quarter" idx="13" hasCustomPrompt="1"/>
          </p:nvPr>
        </p:nvSpPr>
        <p:spPr bwMode="gray">
          <a:xfrm>
            <a:off x="6362477" y="1601628"/>
            <a:ext cx="5328000" cy="4230000"/>
          </a:xfrm>
          <a:solidFill>
            <a:schemeClr val="tx2">
              <a:alpha val="70000"/>
            </a:schemeClr>
          </a:solid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screenshot</a:t>
            </a:r>
            <a:endParaRPr lang="de-DE" dirty="0"/>
          </a:p>
        </p:txBody>
      </p:sp>
      <p:sp>
        <p:nvSpPr>
          <p:cNvPr id="4" name="Text Placeholder 3"/>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504000" y="1620000"/>
            <a:ext cx="11185200" cy="4230000"/>
          </a:xfrm>
          <a:solidFill>
            <a:schemeClr val="tx2">
              <a:alpha val="70000"/>
            </a:schemeClr>
          </a:solidFill>
        </p:spPr>
        <p:txBody>
          <a:bodyPr tIns="1368000"/>
          <a:lstStyle>
            <a:lvl1pPr algn="ctr">
              <a:defRPr sz="1400" b="0"/>
            </a:lvl1pPr>
          </a:lstStyle>
          <a:p>
            <a:pPr lvl="0"/>
            <a:r>
              <a:rPr lang="en-US" dirty="0"/>
              <a:t>Click to add content</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41860987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lank with motion band">
    <p:spTree>
      <p:nvGrpSpPr>
        <p:cNvPr id="1" name=""/>
        <p:cNvGrpSpPr/>
        <p:nvPr/>
      </p:nvGrpSpPr>
      <p:grpSpPr>
        <a:xfrm>
          <a:off x="0" y="0"/>
          <a:ext cx="0" cy="0"/>
          <a:chOff x="0" y="0"/>
          <a:chExt cx="0" cy="0"/>
        </a:xfrm>
      </p:grpSpPr>
      <p:sp>
        <p:nvSpPr>
          <p:cNvPr id="7" name="Rectangle 6"/>
          <p:cNvSpPr/>
          <p:nvPr userDrawn="1"/>
        </p:nvSpPr>
        <p:spPr bwMode="gray">
          <a:xfrm>
            <a:off x="236220" y="1142735"/>
            <a:ext cx="11795760" cy="220929"/>
          </a:xfrm>
          <a:prstGeom prst="rect">
            <a:avLst/>
          </a:prstGeom>
          <a:solidFill>
            <a:schemeClr val="bg1"/>
          </a:solidFill>
          <a:ln w="6350" algn="ctr">
            <a:noFill/>
            <a:miter lim="800000"/>
            <a:headEnd/>
            <a:tailEnd/>
          </a:ln>
        </p:spPr>
        <p:txBody>
          <a:bodyPr lIns="89979" tIns="71983" rIns="89979" bIns="71983"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3792483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2181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hank you and contact information">
    <p:spTree>
      <p:nvGrpSpPr>
        <p:cNvPr id="1" name=""/>
        <p:cNvGrpSpPr/>
        <p:nvPr/>
      </p:nvGrpSpPr>
      <p:grpSpPr>
        <a:xfrm>
          <a:off x="0" y="0"/>
          <a:ext cx="0" cy="0"/>
          <a:chOff x="0" y="0"/>
          <a:chExt cx="0" cy="0"/>
        </a:xfrm>
      </p:grpSpPr>
      <p:sp>
        <p:nvSpPr>
          <p:cNvPr id="93" name="Contact information"/>
          <p:cNvSpPr>
            <a:spLocks noGrp="1"/>
          </p:cNvSpPr>
          <p:nvPr>
            <p:ph type="body" sz="quarter" idx="10" hasCustomPrompt="1"/>
          </p:nvPr>
        </p:nvSpPr>
        <p:spPr>
          <a:xfrm>
            <a:off x="504000" y="2905487"/>
            <a:ext cx="5328000" cy="2501010"/>
          </a:xfrm>
        </p:spPr>
        <p:txBody>
          <a:bodyPr anchor="t" anchorCtr="0">
            <a:noAutofit/>
          </a:bodyPr>
          <a:lstStyle>
            <a:lvl1pPr>
              <a:spcBef>
                <a:spcPts val="0"/>
              </a:spcBef>
              <a:spcAft>
                <a:spcPts val="1200"/>
              </a:spcAft>
              <a:defRPr sz="1600" b="0"/>
            </a:lvl1pPr>
            <a:lvl2pPr marL="0" indent="0">
              <a:spcBef>
                <a:spcPts val="0"/>
              </a:spcBef>
              <a:buNone/>
              <a:defRPr sz="1600" b="0"/>
            </a:lvl2pPr>
          </a:lstStyle>
          <a:p>
            <a:r>
              <a:rPr lang="en-US" dirty="0"/>
              <a:t>Contact information:</a:t>
            </a:r>
          </a:p>
          <a:p>
            <a:pPr lvl="1"/>
            <a:r>
              <a:rPr lang="en-US" dirty="0"/>
              <a:t>F name L name</a:t>
            </a:r>
          </a:p>
          <a:p>
            <a:pPr lvl="1"/>
            <a:r>
              <a:rPr lang="en-US" dirty="0"/>
              <a:t>Title</a:t>
            </a:r>
          </a:p>
          <a:p>
            <a:pPr lvl="1"/>
            <a:r>
              <a:rPr lang="en-US" dirty="0"/>
              <a:t>Address</a:t>
            </a:r>
          </a:p>
          <a:p>
            <a:pPr lvl="1"/>
            <a:r>
              <a:rPr lang="en-US" dirty="0"/>
              <a:t>Phone number</a:t>
            </a:r>
          </a:p>
        </p:txBody>
      </p:sp>
      <p:sp>
        <p:nvSpPr>
          <p:cNvPr id="2" name="Thank you"/>
          <p:cNvSpPr>
            <a:spLocks noGrp="1"/>
          </p:cNvSpPr>
          <p:nvPr>
            <p:ph type="ctrTitle" hasCustomPrompt="1"/>
          </p:nvPr>
        </p:nvSpPr>
        <p:spPr bwMode="gray">
          <a:xfrm>
            <a:off x="504000" y="1467009"/>
            <a:ext cx="5328000" cy="923116"/>
          </a:xfrm>
        </p:spPr>
        <p:txBody>
          <a:bodyPr anchor="t" anchorCtr="0">
            <a:noAutofit/>
          </a:bodyPr>
          <a:lstStyle>
            <a:lvl1pPr>
              <a:defRPr sz="5500">
                <a:solidFill>
                  <a:schemeClr val="accent1"/>
                </a:solidFill>
                <a:latin typeface="+mj-lt"/>
              </a:defRPr>
            </a:lvl1pPr>
          </a:lstStyle>
          <a:p>
            <a:r>
              <a:rPr lang="en-US" dirty="0"/>
              <a:t>Thank you.</a:t>
            </a:r>
            <a:endParaRPr lang="de-DE" dirty="0"/>
          </a:p>
        </p:txBody>
      </p:sp>
      <p:pic>
        <p:nvPicPr>
          <p:cNvPr id="10"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4000" y="5994000"/>
            <a:ext cx="1578462" cy="360000"/>
          </a:xfrm>
          <a:prstGeom prst="rect">
            <a:avLst/>
          </a:prstGeom>
        </p:spPr>
      </p:pic>
    </p:spTree>
    <p:extLst>
      <p:ext uri="{BB962C8B-B14F-4D97-AF65-F5344CB8AC3E}">
        <p14:creationId xmlns:p14="http://schemas.microsoft.com/office/powerpoint/2010/main" val="781090314"/>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pyright">
    <p:spTree>
      <p:nvGrpSpPr>
        <p:cNvPr id="1" name=""/>
        <p:cNvGrpSpPr/>
        <p:nvPr/>
      </p:nvGrpSpPr>
      <p:grpSpPr>
        <a:xfrm>
          <a:off x="0" y="0"/>
          <a:ext cx="0" cy="0"/>
          <a:chOff x="0" y="0"/>
          <a:chExt cx="0" cy="0"/>
        </a:xfrm>
      </p:grpSpPr>
      <p:sp>
        <p:nvSpPr>
          <p:cNvPr id="4" name="TextBox 3"/>
          <p:cNvSpPr txBox="1"/>
          <p:nvPr/>
        </p:nvSpPr>
        <p:spPr bwMode="gray">
          <a:xfrm>
            <a:off x="503999" y="1620000"/>
            <a:ext cx="11185200" cy="3153980"/>
          </a:xfrm>
          <a:prstGeom prst="rect">
            <a:avLst/>
          </a:prstGeom>
          <a:noFill/>
        </p:spPr>
        <p:txBody>
          <a:bodyPr wrap="square" lIns="0" tIns="0" rIns="0" bIns="0" rtlCol="0">
            <a:spAutoFit/>
          </a:bodyPr>
          <a:lstStyle/>
          <a:p>
            <a:pPr>
              <a:spcBef>
                <a:spcPts val="1200"/>
              </a:spcBef>
            </a:pPr>
            <a:r>
              <a:rPr lang="en-US" sz="1100" kern="1200" dirty="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1200"/>
              </a:spcBef>
            </a:pPr>
            <a:r>
              <a:rPr lang="en-US" sz="1100" kern="1200" dirty="0">
                <a:solidFill>
                  <a:schemeClr val="tx1"/>
                </a:solidFill>
                <a:latin typeface="Arial"/>
                <a:ea typeface="Arial Unicode MS" panose="020B0604020202020204" pitchFamily="34" charset="-128"/>
                <a:cs typeface="+mn-cs"/>
              </a:rPr>
              <a:t>The information contained herein may be changed without prior notice. Some software products marketed by SAP SE and its distributors contain proprietary software components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of other software vendors. National product specifications may vary.</a:t>
            </a:r>
          </a:p>
          <a:p>
            <a:pPr>
              <a:spcBef>
                <a:spcPts val="1200"/>
              </a:spcBef>
            </a:pPr>
            <a:r>
              <a:rPr lang="en-US" sz="1100" kern="1200" dirty="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set forth in the express warranty statements accompanying such products and services, if any. Nothing herein should be construed as constituting an additional warranty. </a:t>
            </a:r>
          </a:p>
          <a:p>
            <a:pPr>
              <a:spcBef>
                <a:spcPts val="1200"/>
              </a:spcBef>
            </a:pPr>
            <a:r>
              <a:rPr lang="en-US" sz="1100" kern="1200" dirty="0">
                <a:solidFill>
                  <a:schemeClr val="tx1"/>
                </a:solidFill>
                <a:latin typeface="Arial"/>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1200"/>
              </a:spcBef>
            </a:pPr>
            <a:r>
              <a:rPr lang="en-US" sz="1100" kern="1200" dirty="0">
                <a:solidFill>
                  <a:schemeClr val="tx1"/>
                </a:solidFill>
                <a:latin typeface="Arial"/>
                <a:ea typeface="Arial Unicode MS" panose="020B0604020202020204" pitchFamily="34" charset="-128"/>
                <a:cs typeface="+mn-cs"/>
              </a:rPr>
              <a:t>SAP and other SAP products and services mentioned herein as well as their respective logos are trademarks or registered trademarks of SAP SE (or an SAP affiliate company)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in Germany and other countries. All other product and service names mentioned are the trademarks of their respective companies.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See </a:t>
            </a:r>
            <a:r>
              <a:rPr lang="en-US" sz="1100" kern="1200" dirty="0">
                <a:solidFill>
                  <a:schemeClr val="tx2"/>
                </a:solidFill>
                <a:latin typeface="Arial"/>
                <a:ea typeface="Arial Unicode MS" panose="020B0604020202020204" pitchFamily="34" charset="-128"/>
                <a:cs typeface="+mn-cs"/>
                <a:hlinkClick r:id="rId2"/>
              </a:rPr>
              <a:t>http://global.sap.com/corporate-en/legal/copyright/index.epx</a:t>
            </a:r>
            <a:r>
              <a:rPr lang="en-US" sz="1100" kern="1200" dirty="0">
                <a:solidFill>
                  <a:schemeClr val="tx2"/>
                </a:solidFill>
                <a:latin typeface="Arial"/>
                <a:ea typeface="Arial Unicode MS" panose="020B0604020202020204" pitchFamily="34" charset="-128"/>
                <a:cs typeface="+mn-cs"/>
              </a:rPr>
              <a:t> </a:t>
            </a:r>
            <a:r>
              <a:rPr lang="en-US" sz="1100" kern="1200" dirty="0">
                <a:solidFill>
                  <a:schemeClr val="tx1"/>
                </a:solidFill>
                <a:latin typeface="Arial"/>
                <a:ea typeface="Arial Unicode MS" panose="020B0604020202020204" pitchFamily="34" charset="-128"/>
                <a:cs typeface="+mn-cs"/>
              </a:rPr>
              <a:t>for additional trademark information and notices.</a:t>
            </a:r>
          </a:p>
        </p:txBody>
      </p:sp>
      <p:sp>
        <p:nvSpPr>
          <p:cNvPr id="5" name="TextBox 4"/>
          <p:cNvSpPr txBox="1"/>
          <p:nvPr userDrawn="1"/>
        </p:nvSpPr>
        <p:spPr bwMode="gray">
          <a:xfrm>
            <a:off x="504000" y="719834"/>
            <a:ext cx="9540674"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or an SAP affiliate company. All rights reserved.</a:t>
            </a:r>
          </a:p>
        </p:txBody>
      </p:sp>
      <p:grpSp>
        <p:nvGrpSpPr>
          <p:cNvPr id="6" name="Secondary Motion Band"/>
          <p:cNvGrpSpPr/>
          <p:nvPr userDrawn="1"/>
        </p:nvGrpSpPr>
        <p:grpSpPr>
          <a:xfrm>
            <a:off x="10682127" y="0"/>
            <a:ext cx="1513048" cy="251942"/>
            <a:chOff x="10682127" y="0"/>
            <a:chExt cx="1513048" cy="252000"/>
          </a:xfrm>
        </p:grpSpPr>
        <p:sp>
          <p:nvSpPr>
            <p:cNvPr id="7" name="Rectangle 6"/>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4519251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pyright german">
    <p:spTree>
      <p:nvGrpSpPr>
        <p:cNvPr id="1" name=""/>
        <p:cNvGrpSpPr/>
        <p:nvPr/>
      </p:nvGrpSpPr>
      <p:grpSpPr>
        <a:xfrm>
          <a:off x="0" y="0"/>
          <a:ext cx="0" cy="0"/>
          <a:chOff x="0" y="0"/>
          <a:chExt cx="0" cy="0"/>
        </a:xfrm>
      </p:grpSpPr>
      <p:sp>
        <p:nvSpPr>
          <p:cNvPr id="4" name="TextBox 3"/>
          <p:cNvSpPr txBox="1"/>
          <p:nvPr userDrawn="1"/>
        </p:nvSpPr>
        <p:spPr bwMode="gray">
          <a:xfrm>
            <a:off x="504000" y="1620000"/>
            <a:ext cx="11185200" cy="3830931"/>
          </a:xfrm>
          <a:prstGeom prst="rect">
            <a:avLst/>
          </a:prstGeom>
          <a:noFill/>
        </p:spPr>
        <p:txBody>
          <a:bodyPr wrap="square" lIns="0" tIns="0" rIns="0" bIns="0" rtlCol="0">
            <a:spAutoFit/>
          </a:bodyPr>
          <a:lstStyle/>
          <a:p>
            <a:pPr>
              <a:spcBef>
                <a:spcPts val="1200"/>
              </a:spcBef>
            </a:pPr>
            <a:r>
              <a:rPr lang="de-DE" sz="1100" kern="1200" noProof="0" dirty="0">
                <a:solidFill>
                  <a:schemeClr val="tx1"/>
                </a:solidFill>
                <a:effectLst/>
                <a:latin typeface="Arial"/>
                <a:ea typeface="+mn-ea"/>
                <a:cs typeface="+mn-cs"/>
              </a:rPr>
              <a:t>Weitergabe und Vervielfältigung dieser Publikation oder von Teilen daraus sind, zu welchem Zweck und in welcher Form auch immer, ohne die ausdrückliche schriftliche Genehmigung durch SAP SE oder ein SAP-Konzernunternehmen nicht gestattet.</a:t>
            </a:r>
          </a:p>
          <a:p>
            <a:pPr>
              <a:spcBef>
                <a:spcPts val="1200"/>
              </a:spcBef>
            </a:pPr>
            <a:r>
              <a:rPr lang="de-DE" sz="1100" kern="1200" noProof="0" dirty="0">
                <a:solidFill>
                  <a:schemeClr val="tx1"/>
                </a:solidFill>
                <a:effectLst/>
                <a:latin typeface="Arial"/>
                <a:ea typeface="+mn-ea"/>
                <a:cs typeface="+mn-cs"/>
              </a:rPr>
              <a:t>In dieser Publikation enthaltene Informationen können ohne vorherige Ankündigung geändert werden. Die von SAP SE oder deren Vertriebsfirmen angebotenen Softwareprodukte können Softwarekomponenten auch anderer Softwarehersteller enthalten. Produkte können länderspezifische Unterschiede aufweisen.</a:t>
            </a:r>
          </a:p>
          <a:p>
            <a:pPr>
              <a:spcBef>
                <a:spcPts val="1200"/>
              </a:spcBef>
            </a:pPr>
            <a:r>
              <a:rPr lang="de-DE" sz="1100" kern="1200" noProof="0" dirty="0">
                <a:solidFill>
                  <a:schemeClr val="tx1"/>
                </a:solidFill>
                <a:effectLst/>
                <a:latin typeface="Arial"/>
                <a:ea typeface="+mn-ea"/>
                <a:cs typeface="+mn-cs"/>
              </a:rPr>
              <a:t>Die vorliegenden Unterlagen werden von der SAP SE oder einem SAP-Konzernunternehmen bereitgestellt und dienen ausschließlich zu Informationszwecken. </a:t>
            </a:r>
            <a:br>
              <a:rPr lang="de-DE" sz="1100" kern="1200" noProof="0" dirty="0">
                <a:solidFill>
                  <a:schemeClr val="tx1"/>
                </a:solidFill>
                <a:effectLst/>
                <a:latin typeface="Arial"/>
                <a:ea typeface="+mn-ea"/>
                <a:cs typeface="+mn-cs"/>
              </a:rPr>
            </a:br>
            <a:r>
              <a:rPr lang="de-DE" sz="1100" kern="1200" noProof="0" dirty="0">
                <a:solidFill>
                  <a:schemeClr val="tx1"/>
                </a:solidFill>
                <a:effectLst/>
                <a:latin typeface="Arial"/>
                <a:ea typeface="+mn-ea"/>
                <a:cs typeface="+mn-cs"/>
              </a:rPr>
              <a:t>Die SAP SE oder ihre Konzernunternehmen übernehmen keinerlei Haftung oder Gewährleistung für Fehler oder Unvollständigkeiten in dieser Publikation. </a:t>
            </a:r>
            <a:br>
              <a:rPr lang="de-DE" sz="1100" kern="1200" noProof="0" dirty="0">
                <a:solidFill>
                  <a:schemeClr val="tx1"/>
                </a:solidFill>
                <a:effectLst/>
                <a:latin typeface="Arial"/>
                <a:ea typeface="+mn-ea"/>
                <a:cs typeface="+mn-cs"/>
              </a:rPr>
            </a:br>
            <a:r>
              <a:rPr lang="de-DE" sz="1100" kern="1200" noProof="0" dirty="0">
                <a:solidFill>
                  <a:schemeClr val="tx1"/>
                </a:solidFill>
                <a:effectLst/>
                <a:latin typeface="Arial"/>
                <a:ea typeface="+mn-ea"/>
                <a:cs typeface="+mn-cs"/>
              </a:rPr>
              <a:t>Die SAP SE 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p>
          <a:p>
            <a:pPr>
              <a:spcBef>
                <a:spcPts val="1200"/>
              </a:spcBef>
            </a:pPr>
            <a:r>
              <a:rPr lang="de-DE" sz="1100" kern="1200" noProof="0" dirty="0">
                <a:solidFill>
                  <a:schemeClr val="tx1"/>
                </a:solidFill>
                <a:effectLst/>
                <a:latin typeface="Arial"/>
                <a:ea typeface="+mn-ea"/>
                <a:cs typeface="+mn-cs"/>
              </a:rPr>
              <a:t>Insbesondere sind die SAP SE oder ihre Konzernunternehmen in keiner Weise verpflichtet, in dieser Publikation oder einer zugehörigen Präsentation dargestellte Geschäftsabläufe zu verfolgen oder hierin wiedergegebene Funktionen zu entwickeln oder zu veröffentlichen. Diese Publikation oder eine zugehörige Präsentation, die Strategie und etwaige künftige Entwicklungen, Produkte und/oder Plattformen der SAP SE oder ihrer Konzernunternehmen können von der SAP SE oder ihren Konzernunternehmen jederzeit und ohne Angabe von Gründen unangekündigt geändert werden. 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die tatsächlichen Ergebnisse von den Erwartungen abweichen können. Dem Leser wird empfohlen, diesen vorausschauenden Aussagen kein übertriebenes Vertrauen zu schenken und sich bei Kaufentscheidungen nicht auf sie zu stützen.</a:t>
            </a:r>
          </a:p>
          <a:p>
            <a:pPr>
              <a:spcBef>
                <a:spcPts val="1200"/>
              </a:spcBef>
            </a:pPr>
            <a:r>
              <a:rPr lang="de-DE" sz="1100" kern="1200" noProof="0" dirty="0">
                <a:solidFill>
                  <a:schemeClr val="tx1"/>
                </a:solidFill>
                <a:effectLst/>
                <a:latin typeface="Arial"/>
                <a:ea typeface="+mn-ea"/>
                <a:cs typeface="+mn-cs"/>
              </a:rPr>
              <a:t>SAP und andere in diesem Dokument erwähnte Produkte und Dienstleistungen von SAP sowie die dazugehörigen Logos sind Marken oder eingetragene Marken der SAP SE </a:t>
            </a:r>
            <a:br>
              <a:rPr lang="de-DE" sz="1100" kern="1200" noProof="0" dirty="0">
                <a:solidFill>
                  <a:schemeClr val="tx1"/>
                </a:solidFill>
                <a:effectLst/>
                <a:latin typeface="Arial"/>
                <a:ea typeface="+mn-ea"/>
                <a:cs typeface="+mn-cs"/>
              </a:rPr>
            </a:br>
            <a:r>
              <a:rPr lang="de-DE" sz="1100" kern="1200" noProof="0" dirty="0">
                <a:solidFill>
                  <a:schemeClr val="tx1"/>
                </a:solidFill>
                <a:effectLst/>
                <a:latin typeface="Arial"/>
                <a:ea typeface="+mn-ea"/>
                <a:cs typeface="+mn-cs"/>
              </a:rPr>
              <a:t>(oder von einem SAP-Konzernunternehmen) in Deutschland und verschiedenen anderen Ländern weltweit. Alle anderen Namen von Produkten und Dienstleistungen sind Marken der jeweiligen Firmen. </a:t>
            </a:r>
            <a:br>
              <a:rPr lang="de-DE" sz="1100" kern="1200" noProof="0" dirty="0">
                <a:solidFill>
                  <a:schemeClr val="tx1"/>
                </a:solidFill>
                <a:effectLst/>
                <a:latin typeface="Arial"/>
                <a:ea typeface="+mn-ea"/>
                <a:cs typeface="+mn-cs"/>
              </a:rPr>
            </a:br>
            <a:r>
              <a:rPr lang="de-DE" sz="1100" kern="1200" noProof="0" dirty="0">
                <a:solidFill>
                  <a:schemeClr val="tx1"/>
                </a:solidFill>
                <a:effectLst/>
                <a:latin typeface="Arial"/>
                <a:ea typeface="+mn-ea"/>
                <a:cs typeface="+mn-cs"/>
              </a:rPr>
              <a:t>Zusätzliche Informationen zur Marke und Vermerke finden Sie auf der Seite </a:t>
            </a:r>
            <a:r>
              <a:rPr lang="de-DE" sz="1100" kern="1200" noProof="0" dirty="0">
                <a:solidFill>
                  <a:schemeClr val="tx1"/>
                </a:solidFill>
                <a:effectLst/>
                <a:latin typeface="Arial"/>
                <a:ea typeface="+mn-ea"/>
                <a:cs typeface="+mn-cs"/>
                <a:hlinkClick r:id="rId2"/>
              </a:rPr>
              <a:t>http://www.sap.com/corporate-de/legal/copyright/index.epx</a:t>
            </a:r>
            <a:endParaRPr lang="de-DE" sz="1100" kern="1200" noProof="0" dirty="0">
              <a:solidFill>
                <a:schemeClr val="tx1"/>
              </a:solidFill>
              <a:effectLst/>
              <a:latin typeface="Arial"/>
              <a:ea typeface="+mn-ea"/>
              <a:cs typeface="+mn-cs"/>
            </a:endParaRPr>
          </a:p>
        </p:txBody>
      </p:sp>
      <p:sp>
        <p:nvSpPr>
          <p:cNvPr id="5" name="TextBox 4"/>
          <p:cNvSpPr txBox="1"/>
          <p:nvPr userDrawn="1"/>
        </p:nvSpPr>
        <p:spPr bwMode="gray">
          <a:xfrm>
            <a:off x="504000" y="719834"/>
            <a:ext cx="11185200"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a:t>
            </a:r>
            <a:r>
              <a:rPr lang="de-DE" sz="2400" b="0" noProof="0" dirty="0"/>
              <a:t>2017 SAP SE oder ein SAP-Konzernunternehmen. Alle Rechte vorbehalten.</a:t>
            </a:r>
          </a:p>
        </p:txBody>
      </p:sp>
      <p:grpSp>
        <p:nvGrpSpPr>
          <p:cNvPr id="6" name="Secondary Motion Band"/>
          <p:cNvGrpSpPr/>
          <p:nvPr userDrawn="1"/>
        </p:nvGrpSpPr>
        <p:grpSpPr>
          <a:xfrm>
            <a:off x="10682127" y="0"/>
            <a:ext cx="1513048" cy="251942"/>
            <a:chOff x="10682127" y="0"/>
            <a:chExt cx="1513048" cy="252000"/>
          </a:xfrm>
        </p:grpSpPr>
        <p:sp>
          <p:nvSpPr>
            <p:cNvPr id="7" name="Rectangle 6"/>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1911862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‹Nr.›</a:t>
            </a:fld>
            <a:endParaRPr lang="en-US" sz="900" noProof="0" dirty="0"/>
          </a:p>
        </p:txBody>
      </p:sp>
      <p:sp>
        <p:nvSpPr>
          <p:cNvPr id="11" name="Classification"/>
          <p:cNvSpPr txBox="1"/>
          <p:nvPr userDrawn="1"/>
        </p:nvSpPr>
        <p:spPr bwMode="black">
          <a:xfrm>
            <a:off x="2814655" y="6559834"/>
            <a:ext cx="381515" cy="92333"/>
          </a:xfrm>
          <a:prstGeom prst="rect">
            <a:avLst/>
          </a:prstGeom>
          <a:noFill/>
        </p:spPr>
        <p:txBody>
          <a:bodyPr wrap="none" lIns="0" tIns="0" rIns="0" bIns="0" rtlCol="0">
            <a:spAutoFit/>
          </a:bodyPr>
          <a:lstStyle/>
          <a:p>
            <a:pPr marL="0" marR="0" indent="0" algn="l" defTabSz="1088558"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a:solidFill>
                  <a:schemeClr val="tx1"/>
                </a:solidFill>
                <a:latin typeface="Arial"/>
                <a:ea typeface="Arial Unicode MS"/>
                <a:cs typeface="Arial Unicode MS" pitchFamily="34" charset="-128"/>
                <a:sym typeface="Arial"/>
              </a:rPr>
              <a:t>INTERNAL</a:t>
            </a:r>
            <a:endParaRPr kumimoji="0" lang="en-US" sz="600" b="0" i="0" u="none" kern="0" baseline="0" dirty="0">
              <a:solidFill>
                <a:schemeClr val="tx1"/>
              </a:solidFill>
              <a:latin typeface="Arial"/>
              <a:ea typeface="Arial Unicode MS"/>
              <a:cs typeface="Arial Unicode MS" pitchFamily="34" charset="-128"/>
              <a:sym typeface="Arial"/>
            </a:endParaRPr>
          </a:p>
        </p:txBody>
      </p:sp>
      <p:sp>
        <p:nvSpPr>
          <p:cNvPr id="10" name="Copyright"/>
          <p:cNvSpPr txBox="1"/>
          <p:nvPr userDrawn="1"/>
        </p:nvSpPr>
        <p:spPr bwMode="black">
          <a:xfrm>
            <a:off x="504001" y="6559834"/>
            <a:ext cx="2269679" cy="92333"/>
          </a:xfrm>
          <a:prstGeom prst="rect">
            <a:avLst/>
          </a:prstGeom>
          <a:noFill/>
        </p:spPr>
        <p:txBody>
          <a:bodyPr wrap="square" lIns="0" tIns="0" rIns="0" bIns="0" rtlCol="0">
            <a:spAutoFit/>
          </a:bodyPr>
          <a:lstStyle/>
          <a:p>
            <a:pPr marL="84121" marR="0" indent="-84121" algn="l" defTabSz="1088558"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dirty="0">
                <a:solidFill>
                  <a:schemeClr val="tx1"/>
                </a:solidFill>
              </a:rPr>
              <a:t>2017 SAP SE or an SAP affiliate company. All rights reserved.  </a:t>
            </a:r>
            <a:r>
              <a:rPr kumimoji="0" lang="en-US" sz="600" b="0" i="0" u="none" kern="0" baseline="0" dirty="0">
                <a:solidFill>
                  <a:schemeClr val="tx1"/>
                </a:solidFill>
                <a:latin typeface="Arial"/>
                <a:ea typeface="Arial Unicode MS"/>
                <a:cs typeface="Arial Unicode MS" pitchFamily="34" charset="-128"/>
                <a:sym typeface="Arial"/>
              </a:rPr>
              <a:t>ǀ</a:t>
            </a:r>
          </a:p>
        </p:txBody>
      </p:sp>
      <p:sp>
        <p:nvSpPr>
          <p:cNvPr id="3" name="Text Placeholder 2"/>
          <p:cNvSpPr>
            <a:spLocks noGrp="1"/>
          </p:cNvSpPr>
          <p:nvPr userDrawn="1">
            <p:ph type="body" idx="1"/>
          </p:nvPr>
        </p:nvSpPr>
        <p:spPr bwMode="gray">
          <a:xfrm>
            <a:off x="504001" y="1620000"/>
            <a:ext cx="11186476" cy="4230235"/>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1"/>
          <p:cNvSpPr>
            <a:spLocks noGrp="1"/>
          </p:cNvSpPr>
          <p:nvPr userDrawn="1">
            <p:ph type="title"/>
          </p:nvPr>
        </p:nvSpPr>
        <p:spPr bwMode="gray">
          <a:xfrm>
            <a:off x="504001" y="504000"/>
            <a:ext cx="11186476" cy="369332"/>
          </a:xfrm>
          <a:prstGeom prst="rect">
            <a:avLst/>
          </a:prstGeom>
        </p:spPr>
        <p:txBody>
          <a:bodyPr vert="horz" wrap="square" lIns="0" tIns="0" rIns="0" bIns="0" rtlCol="0" anchor="t" anchorCtr="0">
            <a:spAutoFit/>
          </a:bodyPr>
          <a:lstStyle/>
          <a:p>
            <a:r>
              <a:rPr lang="en-US" noProof="0" dirty="0"/>
              <a:t>Insert page title (sentence case)</a:t>
            </a:r>
          </a:p>
        </p:txBody>
      </p:sp>
      <p:grpSp>
        <p:nvGrpSpPr>
          <p:cNvPr id="9" name="Secondary Motion Band"/>
          <p:cNvGrpSpPr/>
          <p:nvPr userDrawn="1"/>
        </p:nvGrpSpPr>
        <p:grpSpPr>
          <a:xfrm>
            <a:off x="10682127" y="0"/>
            <a:ext cx="1513048" cy="251942"/>
            <a:chOff x="10682127" y="0"/>
            <a:chExt cx="1513048" cy="252000"/>
          </a:xfrm>
        </p:grpSpPr>
        <p:sp>
          <p:nvSpPr>
            <p:cNvPr id="16" name="Rectangle 15"/>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7" name="Rectangle 16"/>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772" r:id="rId1"/>
    <p:sldLayoutId id="2147483776" r:id="rId2"/>
    <p:sldLayoutId id="2147483773" r:id="rId3"/>
    <p:sldLayoutId id="2147483775" r:id="rId4"/>
    <p:sldLayoutId id="2147483741" r:id="rId5"/>
    <p:sldLayoutId id="2147483765" r:id="rId6"/>
    <p:sldLayoutId id="2147483767" r:id="rId7"/>
    <p:sldLayoutId id="2147483743" r:id="rId8"/>
    <p:sldLayoutId id="2147483774" r:id="rId9"/>
    <p:sldLayoutId id="2147483745" r:id="rId10"/>
    <p:sldLayoutId id="2147483760" r:id="rId11"/>
    <p:sldLayoutId id="2147483768" r:id="rId12"/>
    <p:sldLayoutId id="2147483769" r:id="rId13"/>
    <p:sldLayoutId id="2147483770" r:id="rId14"/>
    <p:sldLayoutId id="2147483744" r:id="rId15"/>
    <p:sldLayoutId id="2147483757" r:id="rId16"/>
    <p:sldLayoutId id="2147483748" r:id="rId17"/>
    <p:sldLayoutId id="2147483762" r:id="rId18"/>
    <p:sldLayoutId id="2147483771" r:id="rId19"/>
    <p:sldLayoutId id="2147483763" r:id="rId20"/>
    <p:sldLayoutId id="2147483751" r:id="rId21"/>
    <p:sldLayoutId id="2147483753" r:id="rId22"/>
    <p:sldLayoutId id="2147483756" r:id="rId23"/>
    <p:sldLayoutId id="2147483740" r:id="rId24"/>
    <p:sldLayoutId id="2147483754" r:id="rId25"/>
    <p:sldLayoutId id="2147483755" r:id="rId26"/>
  </p:sldLayoutIdLst>
  <p:hf hdr="0" ftr="0" dt="0"/>
  <p:txStyles>
    <p:titleStyle>
      <a:lvl1pPr algn="l" defTabSz="1088558"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8.png"/><Relationship Id="rId5" Type="http://schemas.openxmlformats.org/officeDocument/2006/relationships/image" Target="../media/image7.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emf"/><Relationship Id="rId7" Type="http://schemas.openxmlformats.org/officeDocument/2006/relationships/image" Target="../media/image13.svg"/><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hyperlink" Target="https://kubernetes.io/docs/reference/generated/kubectl/kubectl-commands" TargetMode="External"/><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4"/>
          </p:nvPr>
        </p:nvSpPr>
        <p:spPr/>
        <p:txBody>
          <a:bodyPr/>
          <a:lstStyle/>
          <a:p>
            <a:r>
              <a:rPr lang="en-US" dirty="0"/>
              <a:t>Kubernetes</a:t>
            </a:r>
            <a:br>
              <a:rPr lang="en-US" dirty="0"/>
            </a:br>
            <a:r>
              <a:rPr lang="en-US" dirty="0">
                <a:solidFill>
                  <a:schemeClr val="accent1"/>
                </a:solidFill>
              </a:rPr>
              <a:t>Core components</a:t>
            </a:r>
          </a:p>
        </p:txBody>
      </p:sp>
      <p:pic>
        <p:nvPicPr>
          <p:cNvPr id="4" name="Picture 3" descr="cid:image003.png@01D31CC6.A08B1C50">
            <a:extLst>
              <a:ext uri="{FF2B5EF4-FFF2-40B4-BE49-F238E27FC236}">
                <a16:creationId xmlns:a16="http://schemas.microsoft.com/office/drawing/2014/main" id="{CE860390-F50F-48A8-AA1A-AE0217946F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0712" y="5721975"/>
            <a:ext cx="1414463" cy="113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llustration" descr="Example of an illustration" title="Illustration for title slide">
            <a:extLst>
              <a:ext uri="{FF2B5EF4-FFF2-40B4-BE49-F238E27FC236}">
                <a16:creationId xmlns:a16="http://schemas.microsoft.com/office/drawing/2014/main" id="{B362110C-4DD5-47C8-8FF0-FA1FFDF42CBA}"/>
              </a:ext>
            </a:extLst>
          </p:cNvPr>
          <p:cNvPicPr>
            <a:picLocks noGrp="1" noChangeAspect="1"/>
          </p:cNvPicPr>
          <p:nvPr>
            <p:ph type="pic" sz="quarter" idx="12"/>
          </p:nvPr>
        </p:nvPicPr>
        <p:blipFill>
          <a:blip r:embed="rId4"/>
          <a:srcRect t="3112" b="3112"/>
          <a:stretch>
            <a:fillRect/>
          </a:stretch>
        </p:blipFill>
        <p:spPr bwMode="gray">
          <a:xfrm>
            <a:off x="1" y="0"/>
            <a:ext cx="12195174" cy="3430006"/>
          </a:xfrm>
        </p:spPr>
      </p:pic>
    </p:spTree>
    <p:extLst>
      <p:ext uri="{BB962C8B-B14F-4D97-AF65-F5344CB8AC3E}">
        <p14:creationId xmlns:p14="http://schemas.microsoft.com/office/powerpoint/2010/main" val="1819205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8452040-D814-4C48-8BDD-E2BDD7BB58F8}"/>
              </a:ext>
            </a:extLst>
          </p:cNvPr>
          <p:cNvSpPr>
            <a:spLocks noGrp="1"/>
          </p:cNvSpPr>
          <p:nvPr>
            <p:ph type="ctrTitle"/>
          </p:nvPr>
        </p:nvSpPr>
        <p:spPr>
          <a:xfrm>
            <a:off x="504987" y="1551357"/>
            <a:ext cx="11185200" cy="677108"/>
          </a:xfrm>
        </p:spPr>
        <p:txBody>
          <a:bodyPr/>
          <a:lstStyle/>
          <a:p>
            <a:pPr algn="ctr"/>
            <a:r>
              <a:rPr lang="en-US" dirty="0"/>
              <a:t>K8s from application point of view</a:t>
            </a:r>
          </a:p>
        </p:txBody>
      </p:sp>
      <p:pic>
        <p:nvPicPr>
          <p:cNvPr id="3" name="Picture 2">
            <a:extLst>
              <a:ext uri="{FF2B5EF4-FFF2-40B4-BE49-F238E27FC236}">
                <a16:creationId xmlns:a16="http://schemas.microsoft.com/office/drawing/2014/main" id="{A6E1FDAE-762B-44B5-8E07-45431B300399}"/>
              </a:ext>
            </a:extLst>
          </p:cNvPr>
          <p:cNvPicPr>
            <a:picLocks noChangeAspect="1"/>
          </p:cNvPicPr>
          <p:nvPr/>
        </p:nvPicPr>
        <p:blipFill>
          <a:blip r:embed="rId3"/>
          <a:stretch>
            <a:fillRect/>
          </a:stretch>
        </p:blipFill>
        <p:spPr>
          <a:xfrm>
            <a:off x="4259082" y="2228465"/>
            <a:ext cx="3677010" cy="3677010"/>
          </a:xfrm>
          <a:prstGeom prst="rect">
            <a:avLst/>
          </a:prstGeom>
        </p:spPr>
      </p:pic>
    </p:spTree>
    <p:extLst>
      <p:ext uri="{BB962C8B-B14F-4D97-AF65-F5344CB8AC3E}">
        <p14:creationId xmlns:p14="http://schemas.microsoft.com/office/powerpoint/2010/main" val="2488021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9F675C24-6AA6-4252-AB0D-63557DC000C5}"/>
              </a:ext>
            </a:extLst>
          </p:cNvPr>
          <p:cNvSpPr/>
          <p:nvPr/>
        </p:nvSpPr>
        <p:spPr bwMode="gray">
          <a:xfrm>
            <a:off x="5681297" y="3393827"/>
            <a:ext cx="1648656" cy="1258726"/>
          </a:xfrm>
          <a:prstGeom prst="roundRect">
            <a:avLst/>
          </a:prstGeom>
          <a:solidFill>
            <a:srgbClr val="66CCFF"/>
          </a:solidFill>
          <a:ln w="12700" algn="ctr">
            <a:solidFill>
              <a:schemeClr val="bg1">
                <a:lumMod val="75000"/>
              </a:schemeClr>
            </a:solidFill>
            <a:miter lim="800000"/>
            <a:headEnd/>
            <a:tailEnd/>
          </a:ln>
        </p:spPr>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a:ln>
                  <a:noFill/>
                </a:ln>
                <a:effectLst/>
                <a:uLnTx/>
                <a:uFillTx/>
                <a:ea typeface="Arial Unicode MS" pitchFamily="34" charset="-128"/>
                <a:cs typeface="Arial Unicode MS" pitchFamily="34" charset="-128"/>
              </a:rPr>
              <a:t>Pod</a:t>
            </a:r>
          </a:p>
        </p:txBody>
      </p:sp>
      <p:sp>
        <p:nvSpPr>
          <p:cNvPr id="3" name="Title 2">
            <a:extLst>
              <a:ext uri="{FF2B5EF4-FFF2-40B4-BE49-F238E27FC236}">
                <a16:creationId xmlns:a16="http://schemas.microsoft.com/office/drawing/2014/main" id="{6BF5CF30-4312-4197-8DD2-116B13EB4099}"/>
              </a:ext>
            </a:extLst>
          </p:cNvPr>
          <p:cNvSpPr>
            <a:spLocks noGrp="1"/>
          </p:cNvSpPr>
          <p:nvPr>
            <p:ph type="title"/>
          </p:nvPr>
        </p:nvSpPr>
        <p:spPr>
          <a:xfrm>
            <a:off x="504001" y="504000"/>
            <a:ext cx="11186476" cy="738664"/>
          </a:xfrm>
        </p:spPr>
        <p:txBody>
          <a:bodyPr/>
          <a:lstStyle/>
          <a:p>
            <a:r>
              <a:rPr lang="en-US" dirty="0"/>
              <a:t>(incomplete) Kubernetes Concepts Map</a:t>
            </a:r>
            <a:br>
              <a:rPr lang="en-US" dirty="0"/>
            </a:br>
            <a:endParaRPr lang="en-US" dirty="0"/>
          </a:p>
        </p:txBody>
      </p:sp>
      <p:sp>
        <p:nvSpPr>
          <p:cNvPr id="5" name="Rectangle: Rounded Corners 4">
            <a:extLst>
              <a:ext uri="{FF2B5EF4-FFF2-40B4-BE49-F238E27FC236}">
                <a16:creationId xmlns:a16="http://schemas.microsoft.com/office/drawing/2014/main" id="{C4F07E9F-E655-4AD7-A436-4C7BF5902D16}"/>
              </a:ext>
            </a:extLst>
          </p:cNvPr>
          <p:cNvSpPr/>
          <p:nvPr/>
        </p:nvSpPr>
        <p:spPr bwMode="gray">
          <a:xfrm>
            <a:off x="5860405" y="3900861"/>
            <a:ext cx="1318846" cy="565639"/>
          </a:xfrm>
          <a:prstGeom prst="roundRect">
            <a:avLst/>
          </a:prstGeom>
          <a:solidFill>
            <a:schemeClr val="accent5">
              <a:lumMod val="40000"/>
              <a:lumOff val="60000"/>
            </a:schemeClr>
          </a:solidFill>
          <a:ln w="12700" algn="ctr">
            <a:solidFill>
              <a:schemeClr val="bg1">
                <a:lumMod val="7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a:ln>
                  <a:noFill/>
                </a:ln>
                <a:effectLst/>
                <a:uLnTx/>
                <a:uFillTx/>
                <a:ea typeface="Arial Unicode MS" pitchFamily="34" charset="-128"/>
                <a:cs typeface="Arial Unicode MS" pitchFamily="34" charset="-128"/>
              </a:rPr>
              <a:t>Container </a:t>
            </a:r>
            <a:br>
              <a:rPr kumimoji="0" lang="en-US" sz="1400" b="0" i="0" u="none" strike="noStrike" kern="0" cap="none" spc="0" normalizeH="0" baseline="0" noProof="0" dirty="0">
                <a:ln>
                  <a:noFill/>
                </a:ln>
                <a:effectLst/>
                <a:uLnTx/>
                <a:uFillTx/>
                <a:ea typeface="Arial Unicode MS" pitchFamily="34" charset="-128"/>
                <a:cs typeface="Arial Unicode MS" pitchFamily="34" charset="-128"/>
              </a:rPr>
            </a:br>
            <a:r>
              <a:rPr kumimoji="0" lang="en-US" sz="1400" b="0" i="0" u="none" strike="noStrike" kern="0" cap="none" spc="0" normalizeH="0" baseline="0" noProof="0" dirty="0">
                <a:ln>
                  <a:noFill/>
                </a:ln>
                <a:effectLst/>
                <a:uLnTx/>
                <a:uFillTx/>
                <a:ea typeface="Arial Unicode MS" pitchFamily="34" charset="-128"/>
                <a:cs typeface="Arial Unicode MS" pitchFamily="34" charset="-128"/>
              </a:rPr>
              <a:t>(your code)</a:t>
            </a:r>
          </a:p>
        </p:txBody>
      </p:sp>
      <p:cxnSp>
        <p:nvCxnSpPr>
          <p:cNvPr id="4" name="Connector: Elbow 3">
            <a:extLst>
              <a:ext uri="{FF2B5EF4-FFF2-40B4-BE49-F238E27FC236}">
                <a16:creationId xmlns:a16="http://schemas.microsoft.com/office/drawing/2014/main" id="{56C7156A-7B2E-414B-94E1-4179D55DBE39}"/>
              </a:ext>
            </a:extLst>
          </p:cNvPr>
          <p:cNvCxnSpPr>
            <a:cxnSpLocks/>
            <a:stCxn id="11" idx="2"/>
          </p:cNvCxnSpPr>
          <p:nvPr/>
        </p:nvCxnSpPr>
        <p:spPr>
          <a:xfrm rot="16200000" flipH="1">
            <a:off x="3940139" y="2006265"/>
            <a:ext cx="940814" cy="2413696"/>
          </a:xfrm>
          <a:prstGeom prst="bentConnector2">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A5CB6BD5-DA26-46A6-815D-DC8790BED9E7}"/>
              </a:ext>
            </a:extLst>
          </p:cNvPr>
          <p:cNvCxnSpPr>
            <a:cxnSpLocks/>
            <a:stCxn id="14" idx="2"/>
            <a:endCxn id="8" idx="0"/>
          </p:cNvCxnSpPr>
          <p:nvPr/>
        </p:nvCxnSpPr>
        <p:spPr>
          <a:xfrm rot="16200000" flipH="1">
            <a:off x="6094748" y="2982950"/>
            <a:ext cx="639402" cy="182351"/>
          </a:xfrm>
          <a:prstGeom prst="bentConnector3">
            <a:avLst>
              <a:gd name="adj1" fmla="val 50000"/>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4504B454-54FB-467C-A461-76D43D7E3E82}"/>
              </a:ext>
            </a:extLst>
          </p:cNvPr>
          <p:cNvCxnSpPr>
            <a:cxnSpLocks/>
            <a:stCxn id="12" idx="2"/>
          </p:cNvCxnSpPr>
          <p:nvPr/>
        </p:nvCxnSpPr>
        <p:spPr>
          <a:xfrm rot="16200000" flipH="1">
            <a:off x="4732096" y="2798143"/>
            <a:ext cx="940736" cy="829859"/>
          </a:xfrm>
          <a:prstGeom prst="bentConnector3">
            <a:avLst>
              <a:gd name="adj1" fmla="val 100239"/>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70989806-32E3-4EEA-A5CE-63FB8653B19E}"/>
              </a:ext>
            </a:extLst>
          </p:cNvPr>
          <p:cNvCxnSpPr>
            <a:cxnSpLocks/>
            <a:stCxn id="10" idx="2"/>
          </p:cNvCxnSpPr>
          <p:nvPr/>
        </p:nvCxnSpPr>
        <p:spPr>
          <a:xfrm rot="16200000" flipH="1">
            <a:off x="3137067" y="1197415"/>
            <a:ext cx="940734" cy="4031318"/>
          </a:xfrm>
          <a:prstGeom prst="bentConnector2">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7C16ACAB-D4E0-447F-B2C2-49F623895A09}"/>
              </a:ext>
            </a:extLst>
          </p:cNvPr>
          <p:cNvCxnSpPr>
            <a:cxnSpLocks/>
            <a:stCxn id="8" idx="2"/>
            <a:endCxn id="32" idx="0"/>
          </p:cNvCxnSpPr>
          <p:nvPr/>
        </p:nvCxnSpPr>
        <p:spPr>
          <a:xfrm rot="16200000" flipH="1">
            <a:off x="6253517" y="4904661"/>
            <a:ext cx="507033" cy="2816"/>
          </a:xfrm>
          <a:prstGeom prst="bentConnector3">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039B19C8-A4F6-472C-9160-E6983D1A630F}"/>
              </a:ext>
            </a:extLst>
          </p:cNvPr>
          <p:cNvGrpSpPr/>
          <p:nvPr/>
        </p:nvGrpSpPr>
        <p:grpSpPr>
          <a:xfrm>
            <a:off x="809915" y="1187937"/>
            <a:ext cx="6346839" cy="1713034"/>
            <a:chOff x="2359926" y="1522534"/>
            <a:chExt cx="6346839" cy="1713034"/>
          </a:xfrm>
        </p:grpSpPr>
        <p:sp>
          <p:nvSpPr>
            <p:cNvPr id="10" name="Rectangle: Rounded Corners 9">
              <a:extLst>
                <a:ext uri="{FF2B5EF4-FFF2-40B4-BE49-F238E27FC236}">
                  <a16:creationId xmlns:a16="http://schemas.microsoft.com/office/drawing/2014/main" id="{F1B14316-48F2-4BE8-8E82-BCD907F26C80}"/>
                </a:ext>
              </a:extLst>
            </p:cNvPr>
            <p:cNvSpPr/>
            <p:nvPr/>
          </p:nvSpPr>
          <p:spPr bwMode="gray">
            <a:xfrm>
              <a:off x="2482363" y="2511665"/>
              <a:ext cx="1318846" cy="565639"/>
            </a:xfrm>
            <a:prstGeom prst="roundRect">
              <a:avLst/>
            </a:prstGeom>
            <a:solidFill>
              <a:srgbClr val="66CCFF"/>
            </a:solidFill>
            <a:ln w="12700" algn="ctr">
              <a:solidFill>
                <a:schemeClr val="bg1">
                  <a:lumMod val="7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a:ln>
                    <a:noFill/>
                  </a:ln>
                  <a:effectLst/>
                  <a:uLnTx/>
                  <a:uFillTx/>
                  <a:ea typeface="Arial Unicode MS" pitchFamily="34" charset="-128"/>
                  <a:cs typeface="Arial Unicode MS" pitchFamily="34" charset="-128"/>
                </a:rPr>
                <a:t>Daemon</a:t>
              </a:r>
              <a:r>
                <a:rPr lang="en-US" sz="1400" kern="0" dirty="0">
                  <a:ea typeface="Arial Unicode MS" pitchFamily="34" charset="-128"/>
                  <a:cs typeface="Arial Unicode MS" pitchFamily="34" charset="-128"/>
                </a:rPr>
                <a:t>Set</a:t>
              </a:r>
              <a:endParaRPr kumimoji="0" lang="en-US" sz="14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1" name="Rectangle: Rounded Corners 10">
              <a:extLst>
                <a:ext uri="{FF2B5EF4-FFF2-40B4-BE49-F238E27FC236}">
                  <a16:creationId xmlns:a16="http://schemas.microsoft.com/office/drawing/2014/main" id="{A5F93575-8C80-4A84-8621-89579DBAFC49}"/>
                </a:ext>
              </a:extLst>
            </p:cNvPr>
            <p:cNvSpPr/>
            <p:nvPr/>
          </p:nvSpPr>
          <p:spPr bwMode="gray">
            <a:xfrm>
              <a:off x="4094286" y="2511664"/>
              <a:ext cx="1318846" cy="565639"/>
            </a:xfrm>
            <a:prstGeom prst="roundRect">
              <a:avLst/>
            </a:prstGeom>
            <a:solidFill>
              <a:srgbClr val="66CCFF"/>
            </a:solidFill>
            <a:ln w="12700" algn="ctr">
              <a:solidFill>
                <a:schemeClr val="bg1">
                  <a:lumMod val="7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a:ln>
                    <a:noFill/>
                  </a:ln>
                  <a:effectLst/>
                  <a:uLnTx/>
                  <a:uFillTx/>
                  <a:ea typeface="Arial Unicode MS" pitchFamily="34" charset="-128"/>
                  <a:cs typeface="Arial Unicode MS" pitchFamily="34" charset="-128"/>
                </a:rPr>
                <a:t>ReplicaSet</a:t>
              </a:r>
            </a:p>
          </p:txBody>
        </p:sp>
        <p:sp>
          <p:nvSpPr>
            <p:cNvPr id="12" name="Rectangle: Rounded Corners 11">
              <a:extLst>
                <a:ext uri="{FF2B5EF4-FFF2-40B4-BE49-F238E27FC236}">
                  <a16:creationId xmlns:a16="http://schemas.microsoft.com/office/drawing/2014/main" id="{1190C6BF-8BEC-45E9-9F5E-D389A7A8D97D}"/>
                </a:ext>
              </a:extLst>
            </p:cNvPr>
            <p:cNvSpPr/>
            <p:nvPr/>
          </p:nvSpPr>
          <p:spPr bwMode="gray">
            <a:xfrm>
              <a:off x="5681297" y="2511663"/>
              <a:ext cx="1312497" cy="565639"/>
            </a:xfrm>
            <a:prstGeom prst="roundRect">
              <a:avLst/>
            </a:prstGeom>
            <a:solidFill>
              <a:srgbClr val="66CCFF"/>
            </a:solidFill>
            <a:ln w="12700" algn="ctr">
              <a:solidFill>
                <a:schemeClr val="bg1">
                  <a:lumMod val="7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a:ln>
                    <a:noFill/>
                  </a:ln>
                  <a:effectLst/>
                  <a:uLnTx/>
                  <a:uFillTx/>
                  <a:ea typeface="Arial Unicode MS" pitchFamily="34" charset="-128"/>
                  <a:cs typeface="Arial Unicode MS" pitchFamily="34" charset="-128"/>
                </a:rPr>
                <a:t>StatefulSet</a:t>
              </a:r>
            </a:p>
          </p:txBody>
        </p:sp>
        <p:sp>
          <p:nvSpPr>
            <p:cNvPr id="13" name="Rectangle: Rounded Corners 12">
              <a:extLst>
                <a:ext uri="{FF2B5EF4-FFF2-40B4-BE49-F238E27FC236}">
                  <a16:creationId xmlns:a16="http://schemas.microsoft.com/office/drawing/2014/main" id="{F054A698-E283-45D0-9DBC-B0DEB07BB77B}"/>
                </a:ext>
              </a:extLst>
            </p:cNvPr>
            <p:cNvSpPr/>
            <p:nvPr/>
          </p:nvSpPr>
          <p:spPr bwMode="gray">
            <a:xfrm>
              <a:off x="4094287" y="1652939"/>
              <a:ext cx="1318846" cy="565639"/>
            </a:xfrm>
            <a:prstGeom prst="roundRect">
              <a:avLst/>
            </a:prstGeom>
            <a:solidFill>
              <a:srgbClr val="66CCFF"/>
            </a:solidFill>
            <a:ln w="12700" algn="ctr">
              <a:solidFill>
                <a:schemeClr val="bg1">
                  <a:lumMod val="7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a:ln>
                    <a:noFill/>
                  </a:ln>
                  <a:effectLst/>
                  <a:uLnTx/>
                  <a:uFillTx/>
                  <a:ea typeface="Arial Unicode MS" pitchFamily="34" charset="-128"/>
                  <a:cs typeface="Arial Unicode MS" pitchFamily="34" charset="-128"/>
                </a:rPr>
                <a:t>Deployment</a:t>
              </a:r>
            </a:p>
          </p:txBody>
        </p:sp>
        <p:sp>
          <p:nvSpPr>
            <p:cNvPr id="14" name="Rectangle: Rounded Corners 13">
              <a:extLst>
                <a:ext uri="{FF2B5EF4-FFF2-40B4-BE49-F238E27FC236}">
                  <a16:creationId xmlns:a16="http://schemas.microsoft.com/office/drawing/2014/main" id="{F901D275-53F0-473D-8647-B5403AAD2628}"/>
                </a:ext>
              </a:extLst>
            </p:cNvPr>
            <p:cNvSpPr/>
            <p:nvPr/>
          </p:nvSpPr>
          <p:spPr bwMode="gray">
            <a:xfrm>
              <a:off x="7213862" y="2523383"/>
              <a:ext cx="1318846" cy="565639"/>
            </a:xfrm>
            <a:prstGeom prst="roundRect">
              <a:avLst/>
            </a:prstGeom>
            <a:solidFill>
              <a:srgbClr val="66CCFF"/>
            </a:solidFill>
            <a:ln w="12700" algn="ctr">
              <a:solidFill>
                <a:schemeClr val="bg1">
                  <a:lumMod val="7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a:ln>
                    <a:noFill/>
                  </a:ln>
                  <a:effectLst/>
                  <a:uLnTx/>
                  <a:uFillTx/>
                  <a:ea typeface="Arial Unicode MS" pitchFamily="34" charset="-128"/>
                  <a:cs typeface="Arial Unicode MS" pitchFamily="34" charset="-128"/>
                </a:rPr>
                <a:t>Job</a:t>
              </a:r>
            </a:p>
          </p:txBody>
        </p:sp>
        <p:sp>
          <p:nvSpPr>
            <p:cNvPr id="15" name="Rectangle: Rounded Corners 14">
              <a:extLst>
                <a:ext uri="{FF2B5EF4-FFF2-40B4-BE49-F238E27FC236}">
                  <a16:creationId xmlns:a16="http://schemas.microsoft.com/office/drawing/2014/main" id="{90497154-E19F-4FBF-B9C5-44FB8B37AC50}"/>
                </a:ext>
              </a:extLst>
            </p:cNvPr>
            <p:cNvSpPr/>
            <p:nvPr/>
          </p:nvSpPr>
          <p:spPr bwMode="gray">
            <a:xfrm>
              <a:off x="7218484" y="1652938"/>
              <a:ext cx="1314224" cy="565639"/>
            </a:xfrm>
            <a:prstGeom prst="roundRect">
              <a:avLst/>
            </a:prstGeom>
            <a:solidFill>
              <a:srgbClr val="66CCFF"/>
            </a:solidFill>
            <a:ln w="12700" algn="ctr">
              <a:solidFill>
                <a:schemeClr val="bg1">
                  <a:lumMod val="7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err="1">
                  <a:ln>
                    <a:noFill/>
                  </a:ln>
                  <a:effectLst/>
                  <a:uLnTx/>
                  <a:uFillTx/>
                  <a:ea typeface="Arial Unicode MS" pitchFamily="34" charset="-128"/>
                  <a:cs typeface="Arial Unicode MS" pitchFamily="34" charset="-128"/>
                </a:rPr>
                <a:t>CronJob</a:t>
              </a:r>
              <a:endParaRPr kumimoji="0" lang="en-US" sz="14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21" name="Connector: Elbow 20">
              <a:extLst>
                <a:ext uri="{FF2B5EF4-FFF2-40B4-BE49-F238E27FC236}">
                  <a16:creationId xmlns:a16="http://schemas.microsoft.com/office/drawing/2014/main" id="{BD2D0A0B-967B-4A2D-9C80-2C02B1B9A037}"/>
                </a:ext>
              </a:extLst>
            </p:cNvPr>
            <p:cNvCxnSpPr>
              <a:cxnSpLocks/>
              <a:stCxn id="13" idx="2"/>
              <a:endCxn id="11" idx="0"/>
            </p:cNvCxnSpPr>
            <p:nvPr/>
          </p:nvCxnSpPr>
          <p:spPr>
            <a:xfrm rot="5400000">
              <a:off x="4607167" y="2365121"/>
              <a:ext cx="293086" cy="1"/>
            </a:xfrm>
            <a:prstGeom prst="bentConnector3">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B6B56E7C-8874-441E-AB5B-2CA3CCAD5526}"/>
                </a:ext>
              </a:extLst>
            </p:cNvPr>
            <p:cNvCxnSpPr>
              <a:cxnSpLocks/>
              <a:stCxn id="15" idx="2"/>
              <a:endCxn id="14" idx="0"/>
            </p:cNvCxnSpPr>
            <p:nvPr/>
          </p:nvCxnSpPr>
          <p:spPr>
            <a:xfrm rot="5400000">
              <a:off x="7722038" y="2369825"/>
              <a:ext cx="304806" cy="2311"/>
            </a:xfrm>
            <a:prstGeom prst="bentConnector3">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4AB61B0A-087F-4F8C-8930-B0A58420936D}"/>
                </a:ext>
              </a:extLst>
            </p:cNvPr>
            <p:cNvSpPr/>
            <p:nvPr/>
          </p:nvSpPr>
          <p:spPr bwMode="gray">
            <a:xfrm>
              <a:off x="2359926" y="1522534"/>
              <a:ext cx="6346839" cy="1713034"/>
            </a:xfrm>
            <a:prstGeom prst="rect">
              <a:avLst/>
            </a:prstGeom>
            <a:noFill/>
            <a:ln w="25400" algn="ctr">
              <a:solidFill>
                <a:schemeClr val="accent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6" name="TextBox 5">
              <a:extLst>
                <a:ext uri="{FF2B5EF4-FFF2-40B4-BE49-F238E27FC236}">
                  <a16:creationId xmlns:a16="http://schemas.microsoft.com/office/drawing/2014/main" id="{7DB4ECE1-B1FF-45F0-BDCF-EEF13C0395F9}"/>
                </a:ext>
              </a:extLst>
            </p:cNvPr>
            <p:cNvSpPr txBox="1"/>
            <p:nvPr/>
          </p:nvSpPr>
          <p:spPr>
            <a:xfrm>
              <a:off x="2499782" y="1605151"/>
              <a:ext cx="1284006" cy="430887"/>
            </a:xfrm>
            <a:prstGeom prst="rect">
              <a:avLst/>
            </a:prstGeom>
            <a:solidFill>
              <a:schemeClr val="bg1">
                <a:alpha val="58000"/>
              </a:schemeClr>
            </a:solidFill>
          </p:spPr>
          <p:txBody>
            <a:bodyPr wrap="none" lIns="0" tIns="0" rIns="0" bIns="0" rtlCol="0">
              <a:spAutoFit/>
            </a:bodyPr>
            <a:lstStyle/>
            <a:p>
              <a:pPr fontAlgn="base">
                <a:spcBef>
                  <a:spcPct val="50000"/>
                </a:spcBef>
                <a:spcAft>
                  <a:spcPct val="0"/>
                </a:spcAft>
                <a:buClr>
                  <a:srgbClr val="F0AB00"/>
                </a:buClr>
                <a:buSzPct val="80000"/>
              </a:pPr>
              <a:r>
                <a:rPr lang="en-US" sz="1400" kern="0" dirty="0">
                  <a:latin typeface="Arial Rounded MT Bold" panose="020F0704030504030204" pitchFamily="34" charset="0"/>
                  <a:ea typeface="Arial Unicode MS" pitchFamily="34" charset="-128"/>
                  <a:cs typeface="Arial Unicode MS" pitchFamily="34" charset="-128"/>
                </a:rPr>
                <a:t>a resource for </a:t>
              </a:r>
              <a:br>
                <a:rPr lang="en-US" sz="1400" kern="0" dirty="0">
                  <a:latin typeface="Arial Rounded MT Bold" panose="020F0704030504030204" pitchFamily="34" charset="0"/>
                  <a:ea typeface="Arial Unicode MS" pitchFamily="34" charset="-128"/>
                  <a:cs typeface="Arial Unicode MS" pitchFamily="34" charset="-128"/>
                </a:rPr>
              </a:br>
              <a:r>
                <a:rPr lang="en-US" sz="1400" kern="0" dirty="0">
                  <a:latin typeface="Arial Rounded MT Bold" panose="020F0704030504030204" pitchFamily="34" charset="0"/>
                  <a:ea typeface="Arial Unicode MS" pitchFamily="34" charset="-128"/>
                  <a:cs typeface="Arial Unicode MS" pitchFamily="34" charset="-128"/>
                </a:rPr>
                <a:t>every purpose</a:t>
              </a:r>
            </a:p>
          </p:txBody>
        </p:sp>
      </p:grpSp>
      <p:grpSp>
        <p:nvGrpSpPr>
          <p:cNvPr id="83" name="Group 82">
            <a:extLst>
              <a:ext uri="{FF2B5EF4-FFF2-40B4-BE49-F238E27FC236}">
                <a16:creationId xmlns:a16="http://schemas.microsoft.com/office/drawing/2014/main" id="{754BF503-8176-447F-B803-5E2F460FCF7E}"/>
              </a:ext>
            </a:extLst>
          </p:cNvPr>
          <p:cNvGrpSpPr/>
          <p:nvPr/>
        </p:nvGrpSpPr>
        <p:grpSpPr>
          <a:xfrm>
            <a:off x="4096785" y="4897297"/>
            <a:ext cx="5036988" cy="1696934"/>
            <a:chOff x="3933826" y="4897297"/>
            <a:chExt cx="5036988" cy="1696934"/>
          </a:xfrm>
        </p:grpSpPr>
        <p:sp>
          <p:nvSpPr>
            <p:cNvPr id="17" name="Rectangle: Rounded Corners 16">
              <a:extLst>
                <a:ext uri="{FF2B5EF4-FFF2-40B4-BE49-F238E27FC236}">
                  <a16:creationId xmlns:a16="http://schemas.microsoft.com/office/drawing/2014/main" id="{06E5FC6B-176C-4286-9988-551AA1CD1131}"/>
                </a:ext>
              </a:extLst>
            </p:cNvPr>
            <p:cNvSpPr/>
            <p:nvPr/>
          </p:nvSpPr>
          <p:spPr bwMode="gray">
            <a:xfrm>
              <a:off x="5681297" y="5218237"/>
              <a:ext cx="1318846" cy="565639"/>
            </a:xfrm>
            <a:prstGeom prst="roundRect">
              <a:avLst/>
            </a:prstGeom>
            <a:solidFill>
              <a:srgbClr val="66CCFF"/>
            </a:solidFill>
            <a:ln w="12700" algn="ctr">
              <a:solidFill>
                <a:schemeClr val="bg1">
                  <a:lumMod val="7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a:ln>
                    <a:noFill/>
                  </a:ln>
                  <a:effectLst/>
                  <a:uLnTx/>
                  <a:uFillTx/>
                  <a:ea typeface="Arial Unicode MS" pitchFamily="34" charset="-128"/>
                  <a:cs typeface="Arial Unicode MS" pitchFamily="34" charset="-128"/>
                </a:rPr>
                <a:t>Volume</a:t>
              </a:r>
            </a:p>
          </p:txBody>
        </p:sp>
        <p:sp>
          <p:nvSpPr>
            <p:cNvPr id="18" name="Rectangle: Rounded Corners 17">
              <a:extLst>
                <a:ext uri="{FF2B5EF4-FFF2-40B4-BE49-F238E27FC236}">
                  <a16:creationId xmlns:a16="http://schemas.microsoft.com/office/drawing/2014/main" id="{515D0D19-C98C-4464-AA29-34A29FD81DDE}"/>
                </a:ext>
              </a:extLst>
            </p:cNvPr>
            <p:cNvSpPr/>
            <p:nvPr/>
          </p:nvSpPr>
          <p:spPr bwMode="gray">
            <a:xfrm>
              <a:off x="4201214" y="5942135"/>
              <a:ext cx="1318846" cy="565639"/>
            </a:xfrm>
            <a:prstGeom prst="roundRect">
              <a:avLst/>
            </a:prstGeom>
            <a:solidFill>
              <a:srgbClr val="66CCFF"/>
            </a:solidFill>
            <a:ln w="12700" algn="ctr">
              <a:solidFill>
                <a:schemeClr val="bg1">
                  <a:lumMod val="7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err="1">
                  <a:ln>
                    <a:noFill/>
                  </a:ln>
                  <a:effectLst/>
                  <a:uLnTx/>
                  <a:uFillTx/>
                  <a:ea typeface="Arial Unicode MS" pitchFamily="34" charset="-128"/>
                  <a:cs typeface="Arial Unicode MS" pitchFamily="34" charset="-128"/>
                </a:rPr>
                <a:t>ConfigMap</a:t>
              </a:r>
              <a:endParaRPr kumimoji="0" lang="en-US" sz="14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9" name="Rectangle: Rounded Corners 18">
              <a:extLst>
                <a:ext uri="{FF2B5EF4-FFF2-40B4-BE49-F238E27FC236}">
                  <a16:creationId xmlns:a16="http://schemas.microsoft.com/office/drawing/2014/main" id="{B2BA1BE5-A23E-4904-B5C9-3108D1C2DBC3}"/>
                </a:ext>
              </a:extLst>
            </p:cNvPr>
            <p:cNvSpPr/>
            <p:nvPr/>
          </p:nvSpPr>
          <p:spPr bwMode="gray">
            <a:xfrm>
              <a:off x="5678125" y="5942136"/>
              <a:ext cx="1315670" cy="565639"/>
            </a:xfrm>
            <a:prstGeom prst="roundRect">
              <a:avLst/>
            </a:prstGeom>
            <a:solidFill>
              <a:srgbClr val="66CCFF"/>
            </a:solidFill>
            <a:ln w="12700" algn="ctr">
              <a:solidFill>
                <a:schemeClr val="bg1">
                  <a:lumMod val="7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a:ln>
                    <a:noFill/>
                  </a:ln>
                  <a:effectLst/>
                  <a:uLnTx/>
                  <a:uFillTx/>
                  <a:ea typeface="Arial Unicode MS" pitchFamily="34" charset="-128"/>
                  <a:cs typeface="Arial Unicode MS" pitchFamily="34" charset="-128"/>
                </a:rPr>
                <a:t>Persistent</a:t>
              </a:r>
              <a:br>
                <a:rPr kumimoji="0" lang="en-US" sz="1400" b="0" i="0" u="none" strike="noStrike" kern="0" cap="none" spc="0" normalizeH="0" baseline="0" noProof="0" dirty="0">
                  <a:ln>
                    <a:noFill/>
                  </a:ln>
                  <a:effectLst/>
                  <a:uLnTx/>
                  <a:uFillTx/>
                  <a:ea typeface="Arial Unicode MS" pitchFamily="34" charset="-128"/>
                  <a:cs typeface="Arial Unicode MS" pitchFamily="34" charset="-128"/>
                </a:rPr>
              </a:br>
              <a:r>
                <a:rPr kumimoji="0" lang="en-US" sz="1400" b="0" i="0" u="none" strike="noStrike" kern="0" cap="none" spc="0" normalizeH="0" baseline="0" noProof="0" dirty="0" err="1">
                  <a:ln>
                    <a:noFill/>
                  </a:ln>
                  <a:effectLst/>
                  <a:uLnTx/>
                  <a:uFillTx/>
                  <a:ea typeface="Arial Unicode MS" pitchFamily="34" charset="-128"/>
                  <a:cs typeface="Arial Unicode MS" pitchFamily="34" charset="-128"/>
                </a:rPr>
                <a:t>VolumeClaim</a:t>
              </a:r>
              <a:endParaRPr kumimoji="0" lang="en-US" sz="14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0" name="Rectangle: Rounded Corners 19">
              <a:extLst>
                <a:ext uri="{FF2B5EF4-FFF2-40B4-BE49-F238E27FC236}">
                  <a16:creationId xmlns:a16="http://schemas.microsoft.com/office/drawing/2014/main" id="{BF28B790-D3D9-49BA-97B5-0204FDADBC2C}"/>
                </a:ext>
              </a:extLst>
            </p:cNvPr>
            <p:cNvSpPr/>
            <p:nvPr/>
          </p:nvSpPr>
          <p:spPr bwMode="gray">
            <a:xfrm>
              <a:off x="7161380" y="5942135"/>
              <a:ext cx="1318846" cy="565639"/>
            </a:xfrm>
            <a:prstGeom prst="roundRect">
              <a:avLst/>
            </a:prstGeom>
            <a:solidFill>
              <a:srgbClr val="66CCFF"/>
            </a:solidFill>
            <a:ln w="12700" algn="ctr">
              <a:solidFill>
                <a:schemeClr val="bg1">
                  <a:lumMod val="7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a:ln>
                    <a:noFill/>
                  </a:ln>
                  <a:effectLst/>
                  <a:uLnTx/>
                  <a:uFillTx/>
                  <a:ea typeface="Arial Unicode MS" pitchFamily="34" charset="-128"/>
                  <a:cs typeface="Arial Unicode MS" pitchFamily="34" charset="-128"/>
                </a:rPr>
                <a:t>Secret</a:t>
              </a:r>
            </a:p>
          </p:txBody>
        </p:sp>
        <p:cxnSp>
          <p:nvCxnSpPr>
            <p:cNvPr id="45" name="Connector: Elbow 44">
              <a:extLst>
                <a:ext uri="{FF2B5EF4-FFF2-40B4-BE49-F238E27FC236}">
                  <a16:creationId xmlns:a16="http://schemas.microsoft.com/office/drawing/2014/main" id="{4F5314D6-2CB3-4D8B-80E7-67314E037186}"/>
                </a:ext>
              </a:extLst>
            </p:cNvPr>
            <p:cNvCxnSpPr>
              <a:cxnSpLocks/>
              <a:stCxn id="17" idx="2"/>
              <a:endCxn id="19" idx="0"/>
            </p:cNvCxnSpPr>
            <p:nvPr/>
          </p:nvCxnSpPr>
          <p:spPr>
            <a:xfrm rot="5400000">
              <a:off x="6259210" y="5860626"/>
              <a:ext cx="158260" cy="4760"/>
            </a:xfrm>
            <a:prstGeom prst="bentConnector3">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EE2D1619-1B53-4DA7-8570-4A300C9FD246}"/>
                </a:ext>
              </a:extLst>
            </p:cNvPr>
            <p:cNvCxnSpPr>
              <a:stCxn id="17" idx="1"/>
              <a:endCxn id="18" idx="0"/>
            </p:cNvCxnSpPr>
            <p:nvPr/>
          </p:nvCxnSpPr>
          <p:spPr>
            <a:xfrm rot="10800000" flipV="1">
              <a:off x="4860637" y="5501057"/>
              <a:ext cx="820660" cy="441078"/>
            </a:xfrm>
            <a:prstGeom prst="bentConnector2">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9" name="Connector: Elbow 48">
              <a:extLst>
                <a:ext uri="{FF2B5EF4-FFF2-40B4-BE49-F238E27FC236}">
                  <a16:creationId xmlns:a16="http://schemas.microsoft.com/office/drawing/2014/main" id="{0D12991A-8110-444F-9894-471E87879FCF}"/>
                </a:ext>
              </a:extLst>
            </p:cNvPr>
            <p:cNvCxnSpPr>
              <a:stCxn id="17" idx="3"/>
              <a:endCxn id="20" idx="0"/>
            </p:cNvCxnSpPr>
            <p:nvPr/>
          </p:nvCxnSpPr>
          <p:spPr>
            <a:xfrm>
              <a:off x="7000143" y="5501057"/>
              <a:ext cx="820660" cy="441078"/>
            </a:xfrm>
            <a:prstGeom prst="bentConnector2">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8AA9A5A1-A19A-4DD7-9193-A0E3FB21EB2C}"/>
                </a:ext>
              </a:extLst>
            </p:cNvPr>
            <p:cNvSpPr/>
            <p:nvPr/>
          </p:nvSpPr>
          <p:spPr bwMode="gray">
            <a:xfrm>
              <a:off x="3933826" y="5159586"/>
              <a:ext cx="4823312" cy="1434645"/>
            </a:xfrm>
            <a:prstGeom prst="rect">
              <a:avLst/>
            </a:prstGeom>
            <a:noFill/>
            <a:ln w="25400" algn="ctr">
              <a:solidFill>
                <a:schemeClr val="accent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35" name="TextBox 34">
              <a:extLst>
                <a:ext uri="{FF2B5EF4-FFF2-40B4-BE49-F238E27FC236}">
                  <a16:creationId xmlns:a16="http://schemas.microsoft.com/office/drawing/2014/main" id="{8E6776E6-95DF-4326-B02F-33B680F021F4}"/>
                </a:ext>
              </a:extLst>
            </p:cNvPr>
            <p:cNvSpPr txBox="1"/>
            <p:nvPr/>
          </p:nvSpPr>
          <p:spPr>
            <a:xfrm>
              <a:off x="7403077" y="4897297"/>
              <a:ext cx="1567737" cy="215444"/>
            </a:xfrm>
            <a:prstGeom prst="rect">
              <a:avLst/>
            </a:prstGeom>
            <a:solidFill>
              <a:schemeClr val="bg1">
                <a:alpha val="58000"/>
              </a:schemeClr>
            </a:solidFill>
          </p:spPr>
          <p:txBody>
            <a:bodyPr wrap="none" lIns="0" tIns="0" rIns="0" bIns="0" rtlCol="0">
              <a:spAutoFit/>
            </a:bodyPr>
            <a:lstStyle>
              <a:defPPr>
                <a:defRPr lang="de-DE"/>
              </a:defPPr>
              <a:lvl1pPr fontAlgn="base">
                <a:spcBef>
                  <a:spcPct val="50000"/>
                </a:spcBef>
                <a:spcAft>
                  <a:spcPct val="0"/>
                </a:spcAft>
                <a:buClr>
                  <a:srgbClr val="F0AB00"/>
                </a:buClr>
                <a:buSzPct val="80000"/>
                <a:defRPr sz="1400" kern="0">
                  <a:latin typeface="Arial Rounded MT Bold" panose="020F0704030504030204" pitchFamily="34" charset="0"/>
                  <a:ea typeface="Arial Unicode MS" pitchFamily="34" charset="-128"/>
                  <a:cs typeface="Arial Unicode MS" pitchFamily="34" charset="-128"/>
                </a:defRPr>
              </a:lvl1pPr>
            </a:lstStyle>
            <a:p>
              <a:r>
                <a:rPr lang="en-US" dirty="0"/>
                <a:t>data / persistence</a:t>
              </a:r>
            </a:p>
          </p:txBody>
        </p:sp>
      </p:grpSp>
      <p:cxnSp>
        <p:nvCxnSpPr>
          <p:cNvPr id="22" name="Straight Arrow Connector 21">
            <a:extLst>
              <a:ext uri="{FF2B5EF4-FFF2-40B4-BE49-F238E27FC236}">
                <a16:creationId xmlns:a16="http://schemas.microsoft.com/office/drawing/2014/main" id="{91467FA9-E653-4522-9AAB-5547771E9A87}"/>
              </a:ext>
            </a:extLst>
          </p:cNvPr>
          <p:cNvCxnSpPr/>
          <p:nvPr/>
        </p:nvCxnSpPr>
        <p:spPr>
          <a:xfrm>
            <a:off x="1219197" y="6203934"/>
            <a:ext cx="409278" cy="0"/>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5A418264-CAD2-49CB-98A8-CF0AACEA9BAC}"/>
              </a:ext>
            </a:extLst>
          </p:cNvPr>
          <p:cNvSpPr txBox="1"/>
          <p:nvPr/>
        </p:nvSpPr>
        <p:spPr>
          <a:xfrm>
            <a:off x="1702675" y="6088324"/>
            <a:ext cx="1154162" cy="215444"/>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400" kern="0" dirty="0">
                <a:ea typeface="Arial Unicode MS" pitchFamily="34" charset="-128"/>
                <a:cs typeface="Arial Unicode MS" pitchFamily="34" charset="-128"/>
              </a:rPr>
              <a:t>uses / controls</a:t>
            </a:r>
          </a:p>
        </p:txBody>
      </p:sp>
      <p:grpSp>
        <p:nvGrpSpPr>
          <p:cNvPr id="70" name="Group 69">
            <a:extLst>
              <a:ext uri="{FF2B5EF4-FFF2-40B4-BE49-F238E27FC236}">
                <a16:creationId xmlns:a16="http://schemas.microsoft.com/office/drawing/2014/main" id="{6241E011-BDC1-436F-8D54-2D210AA1E7A1}"/>
              </a:ext>
            </a:extLst>
          </p:cNvPr>
          <p:cNvGrpSpPr/>
          <p:nvPr/>
        </p:nvGrpSpPr>
        <p:grpSpPr>
          <a:xfrm>
            <a:off x="232297" y="3780910"/>
            <a:ext cx="5016059" cy="1007820"/>
            <a:chOff x="232297" y="3961974"/>
            <a:chExt cx="5016059" cy="1007820"/>
          </a:xfrm>
        </p:grpSpPr>
        <p:sp>
          <p:nvSpPr>
            <p:cNvPr id="9" name="Rectangle: Rounded Corners 8">
              <a:extLst>
                <a:ext uri="{FF2B5EF4-FFF2-40B4-BE49-F238E27FC236}">
                  <a16:creationId xmlns:a16="http://schemas.microsoft.com/office/drawing/2014/main" id="{DA7E3FC4-DFE9-40CA-8325-2A441C81D0E5}"/>
                </a:ext>
              </a:extLst>
            </p:cNvPr>
            <p:cNvSpPr/>
            <p:nvPr/>
          </p:nvSpPr>
          <p:spPr bwMode="gray">
            <a:xfrm>
              <a:off x="2176959" y="4324316"/>
              <a:ext cx="1318846" cy="565639"/>
            </a:xfrm>
            <a:prstGeom prst="roundRect">
              <a:avLst/>
            </a:prstGeom>
            <a:solidFill>
              <a:srgbClr val="66CCFF"/>
            </a:solidFill>
            <a:ln w="12700" algn="ctr">
              <a:solidFill>
                <a:schemeClr val="bg1">
                  <a:lumMod val="7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a:ln>
                    <a:noFill/>
                  </a:ln>
                  <a:effectLst/>
                  <a:uLnTx/>
                  <a:uFillTx/>
                  <a:ea typeface="Arial Unicode MS" pitchFamily="34" charset="-128"/>
                  <a:cs typeface="Arial Unicode MS" pitchFamily="34" charset="-128"/>
                </a:rPr>
                <a:t>Service</a:t>
              </a:r>
            </a:p>
          </p:txBody>
        </p:sp>
        <p:sp>
          <p:nvSpPr>
            <p:cNvPr id="16" name="Rectangle: Rounded Corners 15">
              <a:extLst>
                <a:ext uri="{FF2B5EF4-FFF2-40B4-BE49-F238E27FC236}">
                  <a16:creationId xmlns:a16="http://schemas.microsoft.com/office/drawing/2014/main" id="{B90585D6-702C-4C90-9EE2-09A6D605BB70}"/>
                </a:ext>
              </a:extLst>
            </p:cNvPr>
            <p:cNvSpPr/>
            <p:nvPr/>
          </p:nvSpPr>
          <p:spPr bwMode="gray">
            <a:xfrm>
              <a:off x="592878" y="4321366"/>
              <a:ext cx="1318846" cy="565639"/>
            </a:xfrm>
            <a:prstGeom prst="roundRect">
              <a:avLst/>
            </a:prstGeom>
            <a:solidFill>
              <a:srgbClr val="66CCFF"/>
            </a:solidFill>
            <a:ln w="12700" algn="ctr">
              <a:solidFill>
                <a:schemeClr val="bg1">
                  <a:lumMod val="7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a:ln>
                    <a:noFill/>
                  </a:ln>
                  <a:effectLst/>
                  <a:uLnTx/>
                  <a:uFillTx/>
                  <a:ea typeface="Arial Unicode MS" pitchFamily="34" charset="-128"/>
                  <a:cs typeface="Arial Unicode MS" pitchFamily="34" charset="-128"/>
                </a:rPr>
                <a:t>Ingress</a:t>
              </a:r>
            </a:p>
          </p:txBody>
        </p:sp>
        <p:cxnSp>
          <p:nvCxnSpPr>
            <p:cNvPr id="41" name="Connector: Elbow 40">
              <a:extLst>
                <a:ext uri="{FF2B5EF4-FFF2-40B4-BE49-F238E27FC236}">
                  <a16:creationId xmlns:a16="http://schemas.microsoft.com/office/drawing/2014/main" id="{791C0033-2639-4E44-821F-BAD88A6DBE14}"/>
                </a:ext>
              </a:extLst>
            </p:cNvPr>
            <p:cNvCxnSpPr>
              <a:stCxn id="16" idx="3"/>
              <a:endCxn id="9" idx="1"/>
            </p:cNvCxnSpPr>
            <p:nvPr/>
          </p:nvCxnSpPr>
          <p:spPr>
            <a:xfrm>
              <a:off x="1911724" y="4604186"/>
              <a:ext cx="265235" cy="2950"/>
            </a:xfrm>
            <a:prstGeom prst="bentConnector3">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453B5E50-BB99-4496-81D7-55AF178A0418}"/>
                </a:ext>
              </a:extLst>
            </p:cNvPr>
            <p:cNvSpPr/>
            <p:nvPr/>
          </p:nvSpPr>
          <p:spPr bwMode="gray">
            <a:xfrm>
              <a:off x="232297" y="4213699"/>
              <a:ext cx="5016059" cy="756095"/>
            </a:xfrm>
            <a:prstGeom prst="rect">
              <a:avLst/>
            </a:prstGeom>
            <a:noFill/>
            <a:ln w="25400" algn="ctr">
              <a:solidFill>
                <a:schemeClr val="accent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38" name="TextBox 37">
              <a:extLst>
                <a:ext uri="{FF2B5EF4-FFF2-40B4-BE49-F238E27FC236}">
                  <a16:creationId xmlns:a16="http://schemas.microsoft.com/office/drawing/2014/main" id="{1C09E1CC-6970-4FD9-8AC4-50A4089FFEEA}"/>
                </a:ext>
              </a:extLst>
            </p:cNvPr>
            <p:cNvSpPr txBox="1"/>
            <p:nvPr/>
          </p:nvSpPr>
          <p:spPr>
            <a:xfrm>
              <a:off x="251975" y="3961974"/>
              <a:ext cx="985847" cy="215444"/>
            </a:xfrm>
            <a:prstGeom prst="rect">
              <a:avLst/>
            </a:prstGeom>
            <a:solidFill>
              <a:schemeClr val="bg1">
                <a:alpha val="58000"/>
              </a:schemeClr>
            </a:solidFill>
          </p:spPr>
          <p:txBody>
            <a:bodyPr wrap="none" lIns="0" tIns="0" rIns="0" bIns="0" rtlCol="0">
              <a:spAutoFit/>
            </a:bodyPr>
            <a:lstStyle>
              <a:defPPr>
                <a:defRPr lang="de-DE"/>
              </a:defPPr>
              <a:lvl1pPr fontAlgn="base">
                <a:spcBef>
                  <a:spcPct val="50000"/>
                </a:spcBef>
                <a:spcAft>
                  <a:spcPct val="0"/>
                </a:spcAft>
                <a:buClr>
                  <a:srgbClr val="F0AB00"/>
                </a:buClr>
                <a:buSzPct val="80000"/>
                <a:defRPr sz="1400" kern="0">
                  <a:latin typeface="Arial Rounded MT Bold" panose="020F0704030504030204" pitchFamily="34" charset="0"/>
                  <a:ea typeface="Arial Unicode MS" pitchFamily="34" charset="-128"/>
                  <a:cs typeface="Arial Unicode MS" pitchFamily="34" charset="-128"/>
                </a:defRPr>
              </a:lvl1pPr>
            </a:lstStyle>
            <a:p>
              <a:r>
                <a:rPr lang="en-US" dirty="0"/>
                <a:t>networking</a:t>
              </a:r>
            </a:p>
          </p:txBody>
        </p:sp>
        <p:sp>
          <p:nvSpPr>
            <p:cNvPr id="40" name="Rectangle: Rounded Corners 39">
              <a:extLst>
                <a:ext uri="{FF2B5EF4-FFF2-40B4-BE49-F238E27FC236}">
                  <a16:creationId xmlns:a16="http://schemas.microsoft.com/office/drawing/2014/main" id="{98A8C26E-40CA-4772-8BB9-FD28401DDE3F}"/>
                </a:ext>
              </a:extLst>
            </p:cNvPr>
            <p:cNvSpPr/>
            <p:nvPr/>
          </p:nvSpPr>
          <p:spPr bwMode="gray">
            <a:xfrm>
              <a:off x="3794741" y="4308926"/>
              <a:ext cx="1318846" cy="565639"/>
            </a:xfrm>
            <a:prstGeom prst="roundRect">
              <a:avLst/>
            </a:prstGeom>
            <a:solidFill>
              <a:srgbClr val="66CCFF"/>
            </a:solidFill>
            <a:ln w="12700" algn="ctr">
              <a:solidFill>
                <a:schemeClr val="bg1">
                  <a:lumMod val="7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a:ln>
                    <a:noFill/>
                  </a:ln>
                  <a:effectLst/>
                  <a:uLnTx/>
                  <a:uFillTx/>
                  <a:ea typeface="Arial Unicode MS" pitchFamily="34" charset="-128"/>
                  <a:cs typeface="Arial Unicode MS" pitchFamily="34" charset="-128"/>
                </a:rPr>
                <a:t>Endpoint</a:t>
              </a:r>
            </a:p>
          </p:txBody>
        </p:sp>
        <p:cxnSp>
          <p:nvCxnSpPr>
            <p:cNvPr id="42" name="Connector: Elbow 41">
              <a:extLst>
                <a:ext uri="{FF2B5EF4-FFF2-40B4-BE49-F238E27FC236}">
                  <a16:creationId xmlns:a16="http://schemas.microsoft.com/office/drawing/2014/main" id="{3D05F7E3-44FD-4374-B594-3B5F41B3EAB7}"/>
                </a:ext>
              </a:extLst>
            </p:cNvPr>
            <p:cNvCxnSpPr>
              <a:cxnSpLocks/>
            </p:cNvCxnSpPr>
            <p:nvPr/>
          </p:nvCxnSpPr>
          <p:spPr>
            <a:xfrm flipV="1">
              <a:off x="3516117" y="4607482"/>
              <a:ext cx="287709" cy="2441"/>
            </a:xfrm>
            <a:prstGeom prst="bentConnector3">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82" name="Group 81">
            <a:extLst>
              <a:ext uri="{FF2B5EF4-FFF2-40B4-BE49-F238E27FC236}">
                <a16:creationId xmlns:a16="http://schemas.microsoft.com/office/drawing/2014/main" id="{7C256BE9-28E9-4B20-80F9-D5E01D341A0A}"/>
              </a:ext>
            </a:extLst>
          </p:cNvPr>
          <p:cNvGrpSpPr/>
          <p:nvPr/>
        </p:nvGrpSpPr>
        <p:grpSpPr>
          <a:xfrm>
            <a:off x="9949397" y="3634241"/>
            <a:ext cx="1864463" cy="2497555"/>
            <a:chOff x="9689922" y="3838318"/>
            <a:chExt cx="1864463" cy="2497555"/>
          </a:xfrm>
        </p:grpSpPr>
        <p:sp>
          <p:nvSpPr>
            <p:cNvPr id="50" name="Rectangle: Rounded Corners 49">
              <a:extLst>
                <a:ext uri="{FF2B5EF4-FFF2-40B4-BE49-F238E27FC236}">
                  <a16:creationId xmlns:a16="http://schemas.microsoft.com/office/drawing/2014/main" id="{89716035-5C71-4201-8F38-8885D0D09134}"/>
                </a:ext>
              </a:extLst>
            </p:cNvPr>
            <p:cNvSpPr/>
            <p:nvPr/>
          </p:nvSpPr>
          <p:spPr bwMode="gray">
            <a:xfrm>
              <a:off x="9869137" y="4320492"/>
              <a:ext cx="1523873" cy="565639"/>
            </a:xfrm>
            <a:prstGeom prst="roundRect">
              <a:avLst/>
            </a:prstGeom>
            <a:solidFill>
              <a:srgbClr val="66CCFF"/>
            </a:solidFill>
            <a:ln w="12700" algn="ctr">
              <a:solidFill>
                <a:schemeClr val="bg1">
                  <a:lumMod val="7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err="1">
                  <a:ln>
                    <a:noFill/>
                  </a:ln>
                  <a:effectLst/>
                  <a:uLnTx/>
                  <a:uFillTx/>
                  <a:ea typeface="Arial Unicode MS" pitchFamily="34" charset="-128"/>
                  <a:cs typeface="Arial Unicode MS" pitchFamily="34" charset="-128"/>
                </a:rPr>
                <a:t>ServiceAccount</a:t>
              </a:r>
              <a:endParaRPr kumimoji="0" lang="en-US" sz="14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53" name="Rectangle: Rounded Corners 52">
              <a:extLst>
                <a:ext uri="{FF2B5EF4-FFF2-40B4-BE49-F238E27FC236}">
                  <a16:creationId xmlns:a16="http://schemas.microsoft.com/office/drawing/2014/main" id="{434BB0BF-EC3D-49A3-B944-062FBA6CC931}"/>
                </a:ext>
              </a:extLst>
            </p:cNvPr>
            <p:cNvSpPr/>
            <p:nvPr/>
          </p:nvSpPr>
          <p:spPr bwMode="gray">
            <a:xfrm>
              <a:off x="9869137" y="4980205"/>
              <a:ext cx="1523873" cy="565639"/>
            </a:xfrm>
            <a:prstGeom prst="roundRect">
              <a:avLst/>
            </a:prstGeom>
            <a:solidFill>
              <a:srgbClr val="66CCFF"/>
            </a:solidFill>
            <a:ln w="12700" algn="ctr">
              <a:solidFill>
                <a:schemeClr val="bg1">
                  <a:lumMod val="7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a:ln>
                    <a:noFill/>
                  </a:ln>
                  <a:effectLst/>
                  <a:uLnTx/>
                  <a:uFillTx/>
                  <a:ea typeface="Arial Unicode MS" pitchFamily="34" charset="-128"/>
                  <a:cs typeface="Arial Unicode MS" pitchFamily="34" charset="-128"/>
                </a:rPr>
                <a:t>(Cluster) Role</a:t>
              </a:r>
            </a:p>
          </p:txBody>
        </p:sp>
        <p:sp>
          <p:nvSpPr>
            <p:cNvPr id="55" name="Rectangle: Rounded Corners 54">
              <a:extLst>
                <a:ext uri="{FF2B5EF4-FFF2-40B4-BE49-F238E27FC236}">
                  <a16:creationId xmlns:a16="http://schemas.microsoft.com/office/drawing/2014/main" id="{ABE6BDAE-48B0-4669-9800-A1142ED5A919}"/>
                </a:ext>
              </a:extLst>
            </p:cNvPr>
            <p:cNvSpPr/>
            <p:nvPr/>
          </p:nvSpPr>
          <p:spPr bwMode="gray">
            <a:xfrm>
              <a:off x="9869136" y="5673929"/>
              <a:ext cx="1523873" cy="565639"/>
            </a:xfrm>
            <a:prstGeom prst="roundRect">
              <a:avLst/>
            </a:prstGeom>
            <a:solidFill>
              <a:srgbClr val="66CCFF"/>
            </a:solidFill>
            <a:ln w="12700" algn="ctr">
              <a:solidFill>
                <a:schemeClr val="bg1">
                  <a:lumMod val="7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400" kern="0" dirty="0">
                  <a:ea typeface="Arial Unicode MS" pitchFamily="34" charset="-128"/>
                  <a:cs typeface="Arial Unicode MS" pitchFamily="34" charset="-128"/>
                </a:rPr>
                <a:t>(Cluster) </a:t>
              </a:r>
              <a:r>
                <a:rPr lang="en-US" sz="1400" kern="0" dirty="0" err="1">
                  <a:ea typeface="Arial Unicode MS" pitchFamily="34" charset="-128"/>
                  <a:cs typeface="Arial Unicode MS" pitchFamily="34" charset="-128"/>
                </a:rPr>
                <a:t>Rolebinding</a:t>
              </a:r>
              <a:endParaRPr kumimoji="0" lang="en-US" sz="14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56" name="Rectangle 55">
              <a:extLst>
                <a:ext uri="{FF2B5EF4-FFF2-40B4-BE49-F238E27FC236}">
                  <a16:creationId xmlns:a16="http://schemas.microsoft.com/office/drawing/2014/main" id="{DDDD1B24-7E65-4919-B719-8B1E14477D9A}"/>
                </a:ext>
              </a:extLst>
            </p:cNvPr>
            <p:cNvSpPr/>
            <p:nvPr/>
          </p:nvSpPr>
          <p:spPr bwMode="gray">
            <a:xfrm>
              <a:off x="9693015" y="4155825"/>
              <a:ext cx="1861370" cy="2180048"/>
            </a:xfrm>
            <a:prstGeom prst="rect">
              <a:avLst/>
            </a:prstGeom>
            <a:noFill/>
            <a:ln w="25400" algn="ctr">
              <a:solidFill>
                <a:schemeClr val="accent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57" name="TextBox 56">
              <a:extLst>
                <a:ext uri="{FF2B5EF4-FFF2-40B4-BE49-F238E27FC236}">
                  <a16:creationId xmlns:a16="http://schemas.microsoft.com/office/drawing/2014/main" id="{E76634EA-56A7-4020-96F6-7F2C09220939}"/>
                </a:ext>
              </a:extLst>
            </p:cNvPr>
            <p:cNvSpPr txBox="1"/>
            <p:nvPr/>
          </p:nvSpPr>
          <p:spPr>
            <a:xfrm>
              <a:off x="9689922" y="3838318"/>
              <a:ext cx="335028" cy="215444"/>
            </a:xfrm>
            <a:prstGeom prst="rect">
              <a:avLst/>
            </a:prstGeom>
            <a:solidFill>
              <a:schemeClr val="bg1">
                <a:alpha val="58000"/>
              </a:schemeClr>
            </a:solidFill>
          </p:spPr>
          <p:txBody>
            <a:bodyPr wrap="none" lIns="0" tIns="0" rIns="0" bIns="0" rtlCol="0">
              <a:spAutoFit/>
            </a:bodyPr>
            <a:lstStyle>
              <a:defPPr>
                <a:defRPr lang="de-DE"/>
              </a:defPPr>
              <a:lvl1pPr fontAlgn="base">
                <a:spcBef>
                  <a:spcPct val="50000"/>
                </a:spcBef>
                <a:spcAft>
                  <a:spcPct val="0"/>
                </a:spcAft>
                <a:buClr>
                  <a:srgbClr val="F0AB00"/>
                </a:buClr>
                <a:buSzPct val="80000"/>
                <a:defRPr sz="1400" kern="0">
                  <a:latin typeface="Arial Rounded MT Bold" panose="020F0704030504030204" pitchFamily="34" charset="0"/>
                  <a:ea typeface="Arial Unicode MS" pitchFamily="34" charset="-128"/>
                  <a:cs typeface="Arial Unicode MS" pitchFamily="34" charset="-128"/>
                </a:defRPr>
              </a:lvl1pPr>
            </a:lstStyle>
            <a:p>
              <a:r>
                <a:rPr lang="en-US" dirty="0"/>
                <a:t>IAM</a:t>
              </a:r>
            </a:p>
          </p:txBody>
        </p:sp>
      </p:grpSp>
      <p:cxnSp>
        <p:nvCxnSpPr>
          <p:cNvPr id="39" name="Connector: Elbow 38">
            <a:extLst>
              <a:ext uri="{FF2B5EF4-FFF2-40B4-BE49-F238E27FC236}">
                <a16:creationId xmlns:a16="http://schemas.microsoft.com/office/drawing/2014/main" id="{70B66DCA-4DAF-4079-89EC-6FB7BEE2F6DC}"/>
              </a:ext>
            </a:extLst>
          </p:cNvPr>
          <p:cNvCxnSpPr>
            <a:cxnSpLocks/>
            <a:stCxn id="40" idx="3"/>
          </p:cNvCxnSpPr>
          <p:nvPr/>
        </p:nvCxnSpPr>
        <p:spPr>
          <a:xfrm flipV="1">
            <a:off x="5113587" y="4410681"/>
            <a:ext cx="509506" cy="1"/>
          </a:xfrm>
          <a:prstGeom prst="bentConnector3">
            <a:avLst>
              <a:gd name="adj1" fmla="val 50000"/>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86" name="Group 85">
            <a:extLst>
              <a:ext uri="{FF2B5EF4-FFF2-40B4-BE49-F238E27FC236}">
                <a16:creationId xmlns:a16="http://schemas.microsoft.com/office/drawing/2014/main" id="{BF92EF2B-58BD-4690-9E02-C5D71D5AFB0D}"/>
              </a:ext>
            </a:extLst>
          </p:cNvPr>
          <p:cNvGrpSpPr/>
          <p:nvPr/>
        </p:nvGrpSpPr>
        <p:grpSpPr>
          <a:xfrm>
            <a:off x="9949397" y="612892"/>
            <a:ext cx="1861370" cy="2701211"/>
            <a:chOff x="9718013" y="975143"/>
            <a:chExt cx="1861370" cy="2701211"/>
          </a:xfrm>
        </p:grpSpPr>
        <p:sp>
          <p:nvSpPr>
            <p:cNvPr id="46" name="Rectangle: Rounded Corners 45">
              <a:extLst>
                <a:ext uri="{FF2B5EF4-FFF2-40B4-BE49-F238E27FC236}">
                  <a16:creationId xmlns:a16="http://schemas.microsoft.com/office/drawing/2014/main" id="{C98965CC-D284-42CE-9C7E-D80736C3C187}"/>
                </a:ext>
              </a:extLst>
            </p:cNvPr>
            <p:cNvSpPr/>
            <p:nvPr/>
          </p:nvSpPr>
          <p:spPr bwMode="gray">
            <a:xfrm>
              <a:off x="9885126" y="1621821"/>
              <a:ext cx="1523873" cy="565639"/>
            </a:xfrm>
            <a:prstGeom prst="roundRect">
              <a:avLst/>
            </a:prstGeom>
            <a:solidFill>
              <a:srgbClr val="66CCFF"/>
            </a:solidFill>
            <a:ln w="12700" algn="ctr">
              <a:solidFill>
                <a:schemeClr val="bg1">
                  <a:lumMod val="7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err="1">
                  <a:ln>
                    <a:noFill/>
                  </a:ln>
                  <a:effectLst/>
                  <a:uLnTx/>
                  <a:uFillTx/>
                  <a:ea typeface="Arial Unicode MS" pitchFamily="34" charset="-128"/>
                  <a:cs typeface="Arial Unicode MS" pitchFamily="34" charset="-128"/>
                </a:rPr>
                <a:t>ResourceQuota</a:t>
              </a:r>
              <a:endParaRPr kumimoji="0" lang="en-US" sz="14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48" name="Rectangle: Rounded Corners 47">
              <a:extLst>
                <a:ext uri="{FF2B5EF4-FFF2-40B4-BE49-F238E27FC236}">
                  <a16:creationId xmlns:a16="http://schemas.microsoft.com/office/drawing/2014/main" id="{EB7FB4D8-D7CD-4A4A-B243-5CCBE4A05763}"/>
                </a:ext>
              </a:extLst>
            </p:cNvPr>
            <p:cNvSpPr/>
            <p:nvPr/>
          </p:nvSpPr>
          <p:spPr bwMode="gray">
            <a:xfrm>
              <a:off x="9885125" y="2313626"/>
              <a:ext cx="1523873" cy="565639"/>
            </a:xfrm>
            <a:prstGeom prst="roundRect">
              <a:avLst/>
            </a:prstGeom>
            <a:solidFill>
              <a:srgbClr val="66CCFF"/>
            </a:solidFill>
            <a:ln w="12700" algn="ctr">
              <a:solidFill>
                <a:schemeClr val="bg1">
                  <a:lumMod val="7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err="1">
                  <a:ln>
                    <a:noFill/>
                  </a:ln>
                  <a:effectLst/>
                  <a:uLnTx/>
                  <a:uFillTx/>
                  <a:ea typeface="Arial Unicode MS" pitchFamily="34" charset="-128"/>
                  <a:cs typeface="Arial Unicode MS" pitchFamily="34" charset="-128"/>
                </a:rPr>
                <a:t>LimitRange</a:t>
              </a:r>
              <a:endParaRPr kumimoji="0" lang="en-US" sz="14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51" name="Rectangle 50">
              <a:extLst>
                <a:ext uri="{FF2B5EF4-FFF2-40B4-BE49-F238E27FC236}">
                  <a16:creationId xmlns:a16="http://schemas.microsoft.com/office/drawing/2014/main" id="{454336AE-DAEB-4AE7-B821-DE7C2BE0F156}"/>
                </a:ext>
              </a:extLst>
            </p:cNvPr>
            <p:cNvSpPr/>
            <p:nvPr/>
          </p:nvSpPr>
          <p:spPr bwMode="gray">
            <a:xfrm>
              <a:off x="9718013" y="1496307"/>
              <a:ext cx="1861370" cy="2180047"/>
            </a:xfrm>
            <a:prstGeom prst="rect">
              <a:avLst/>
            </a:prstGeom>
            <a:noFill/>
            <a:ln w="25400" algn="ctr">
              <a:solidFill>
                <a:schemeClr val="accent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52" name="TextBox 51">
              <a:extLst>
                <a:ext uri="{FF2B5EF4-FFF2-40B4-BE49-F238E27FC236}">
                  <a16:creationId xmlns:a16="http://schemas.microsoft.com/office/drawing/2014/main" id="{7F0AAD1C-E33C-4D96-924F-1FAEEA73F905}"/>
                </a:ext>
              </a:extLst>
            </p:cNvPr>
            <p:cNvSpPr txBox="1"/>
            <p:nvPr/>
          </p:nvSpPr>
          <p:spPr>
            <a:xfrm>
              <a:off x="9718013" y="975143"/>
              <a:ext cx="1325532" cy="430887"/>
            </a:xfrm>
            <a:prstGeom prst="rect">
              <a:avLst/>
            </a:prstGeom>
            <a:solidFill>
              <a:schemeClr val="bg1">
                <a:alpha val="58000"/>
              </a:schemeClr>
            </a:solidFill>
          </p:spPr>
          <p:txBody>
            <a:bodyPr wrap="square" lIns="0" tIns="0" rIns="0" bIns="0" rtlCol="0">
              <a:spAutoFit/>
            </a:bodyPr>
            <a:lstStyle>
              <a:defPPr>
                <a:defRPr lang="de-DE"/>
              </a:defPPr>
              <a:lvl1pPr fontAlgn="base">
                <a:spcBef>
                  <a:spcPct val="50000"/>
                </a:spcBef>
                <a:spcAft>
                  <a:spcPct val="0"/>
                </a:spcAft>
                <a:buClr>
                  <a:srgbClr val="F0AB00"/>
                </a:buClr>
                <a:buSzPct val="80000"/>
                <a:defRPr sz="1400" kern="0">
                  <a:latin typeface="Arial Rounded MT Bold" panose="020F0704030504030204" pitchFamily="34" charset="0"/>
                  <a:ea typeface="Arial Unicode MS" pitchFamily="34" charset="-128"/>
                  <a:cs typeface="Arial Unicode MS" pitchFamily="34" charset="-128"/>
                </a:defRPr>
              </a:lvl1pPr>
            </a:lstStyle>
            <a:p>
              <a:r>
                <a:rPr lang="en-US" dirty="0"/>
                <a:t>Resource management</a:t>
              </a:r>
            </a:p>
          </p:txBody>
        </p:sp>
        <p:sp>
          <p:nvSpPr>
            <p:cNvPr id="85" name="Rectangle: Rounded Corners 84">
              <a:extLst>
                <a:ext uri="{FF2B5EF4-FFF2-40B4-BE49-F238E27FC236}">
                  <a16:creationId xmlns:a16="http://schemas.microsoft.com/office/drawing/2014/main" id="{5698307F-5ACB-4A59-B395-A8E9638F0B0C}"/>
                </a:ext>
              </a:extLst>
            </p:cNvPr>
            <p:cNvSpPr/>
            <p:nvPr/>
          </p:nvSpPr>
          <p:spPr bwMode="gray">
            <a:xfrm>
              <a:off x="9882129" y="3005432"/>
              <a:ext cx="1523873" cy="565639"/>
            </a:xfrm>
            <a:prstGeom prst="roundRect">
              <a:avLst/>
            </a:prstGeom>
            <a:solidFill>
              <a:srgbClr val="66CCFF"/>
            </a:solidFill>
            <a:ln w="12700" algn="ctr">
              <a:solidFill>
                <a:schemeClr val="bg1">
                  <a:lumMod val="7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a:ln>
                    <a:noFill/>
                  </a:ln>
                  <a:effectLst/>
                  <a:uLnTx/>
                  <a:uFillTx/>
                  <a:ea typeface="Arial Unicode MS" pitchFamily="34" charset="-128"/>
                  <a:cs typeface="Arial Unicode MS" pitchFamily="34" charset="-128"/>
                </a:rPr>
                <a:t>Node</a:t>
              </a:r>
            </a:p>
          </p:txBody>
        </p:sp>
      </p:grpSp>
      <p:grpSp>
        <p:nvGrpSpPr>
          <p:cNvPr id="93" name="Group 92">
            <a:extLst>
              <a:ext uri="{FF2B5EF4-FFF2-40B4-BE49-F238E27FC236}">
                <a16:creationId xmlns:a16="http://schemas.microsoft.com/office/drawing/2014/main" id="{D153A88A-61E2-47F6-8E43-CC46D97B93A8}"/>
              </a:ext>
            </a:extLst>
          </p:cNvPr>
          <p:cNvGrpSpPr/>
          <p:nvPr/>
        </p:nvGrpSpPr>
        <p:grpSpPr>
          <a:xfrm>
            <a:off x="7671414" y="1242664"/>
            <a:ext cx="1783886" cy="1803056"/>
            <a:chOff x="7663052" y="2353148"/>
            <a:chExt cx="1783886" cy="1803056"/>
          </a:xfrm>
        </p:grpSpPr>
        <p:sp>
          <p:nvSpPr>
            <p:cNvPr id="88" name="Rectangle: Rounded Corners 87">
              <a:extLst>
                <a:ext uri="{FF2B5EF4-FFF2-40B4-BE49-F238E27FC236}">
                  <a16:creationId xmlns:a16="http://schemas.microsoft.com/office/drawing/2014/main" id="{404FAC13-EA89-46EE-AE15-76064499FBD1}"/>
                </a:ext>
              </a:extLst>
            </p:cNvPr>
            <p:cNvSpPr/>
            <p:nvPr/>
          </p:nvSpPr>
          <p:spPr bwMode="gray">
            <a:xfrm>
              <a:off x="7791781" y="2806923"/>
              <a:ext cx="1523873" cy="565639"/>
            </a:xfrm>
            <a:prstGeom prst="roundRect">
              <a:avLst/>
            </a:prstGeom>
            <a:solidFill>
              <a:srgbClr val="66CCFF"/>
            </a:solidFill>
            <a:ln w="12700" algn="ctr">
              <a:solidFill>
                <a:schemeClr val="bg1">
                  <a:lumMod val="7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err="1">
                  <a:ln>
                    <a:noFill/>
                  </a:ln>
                  <a:effectLst/>
                  <a:uLnTx/>
                  <a:uFillTx/>
                  <a:ea typeface="Arial Unicode MS" pitchFamily="34" charset="-128"/>
                  <a:cs typeface="Arial Unicode MS" pitchFamily="34" charset="-128"/>
                </a:rPr>
                <a:t>PodSecurity</a:t>
              </a:r>
              <a:r>
                <a:rPr kumimoji="0" lang="en-US" sz="1400" b="0" i="0" u="none" strike="noStrike" kern="0" cap="none" spc="0" normalizeH="0" baseline="0" noProof="0" dirty="0">
                  <a:ln>
                    <a:noFill/>
                  </a:ln>
                  <a:effectLst/>
                  <a:uLnTx/>
                  <a:uFillTx/>
                  <a:ea typeface="Arial Unicode MS" pitchFamily="34" charset="-128"/>
                  <a:cs typeface="Arial Unicode MS" pitchFamily="34" charset="-128"/>
                </a:rPr>
                <a:t> Policy</a:t>
              </a:r>
            </a:p>
          </p:txBody>
        </p:sp>
        <p:sp>
          <p:nvSpPr>
            <p:cNvPr id="89" name="Rectangle: Rounded Corners 88">
              <a:extLst>
                <a:ext uri="{FF2B5EF4-FFF2-40B4-BE49-F238E27FC236}">
                  <a16:creationId xmlns:a16="http://schemas.microsoft.com/office/drawing/2014/main" id="{024EF551-7E3C-457C-9DD1-9186A6095C5F}"/>
                </a:ext>
              </a:extLst>
            </p:cNvPr>
            <p:cNvSpPr/>
            <p:nvPr/>
          </p:nvSpPr>
          <p:spPr bwMode="gray">
            <a:xfrm>
              <a:off x="7791780" y="3498728"/>
              <a:ext cx="1523873" cy="565639"/>
            </a:xfrm>
            <a:prstGeom prst="roundRect">
              <a:avLst/>
            </a:prstGeom>
            <a:solidFill>
              <a:srgbClr val="66CCFF"/>
            </a:solidFill>
            <a:ln w="12700" algn="ctr">
              <a:solidFill>
                <a:schemeClr val="bg1">
                  <a:lumMod val="7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a:ln>
                    <a:noFill/>
                  </a:ln>
                  <a:effectLst/>
                  <a:uLnTx/>
                  <a:uFillTx/>
                  <a:ea typeface="Arial Unicode MS" pitchFamily="34" charset="-128"/>
                  <a:cs typeface="Arial Unicode MS" pitchFamily="34" charset="-128"/>
                </a:rPr>
                <a:t>Network Policy</a:t>
              </a:r>
            </a:p>
          </p:txBody>
        </p:sp>
        <p:sp>
          <p:nvSpPr>
            <p:cNvPr id="90" name="Rectangle 89">
              <a:extLst>
                <a:ext uri="{FF2B5EF4-FFF2-40B4-BE49-F238E27FC236}">
                  <a16:creationId xmlns:a16="http://schemas.microsoft.com/office/drawing/2014/main" id="{817C759A-ECE5-4D39-B56C-30F4487DF4DB}"/>
                </a:ext>
              </a:extLst>
            </p:cNvPr>
            <p:cNvSpPr/>
            <p:nvPr/>
          </p:nvSpPr>
          <p:spPr bwMode="gray">
            <a:xfrm>
              <a:off x="7663052" y="2681409"/>
              <a:ext cx="1783886" cy="1474795"/>
            </a:xfrm>
            <a:prstGeom prst="rect">
              <a:avLst/>
            </a:prstGeom>
            <a:noFill/>
            <a:ln w="25400" algn="ctr">
              <a:solidFill>
                <a:schemeClr val="accent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1" name="TextBox 90">
              <a:extLst>
                <a:ext uri="{FF2B5EF4-FFF2-40B4-BE49-F238E27FC236}">
                  <a16:creationId xmlns:a16="http://schemas.microsoft.com/office/drawing/2014/main" id="{58882A00-C448-4198-BC22-4E3D2B3032AC}"/>
                </a:ext>
              </a:extLst>
            </p:cNvPr>
            <p:cNvSpPr txBox="1"/>
            <p:nvPr/>
          </p:nvSpPr>
          <p:spPr>
            <a:xfrm>
              <a:off x="7663052" y="2353148"/>
              <a:ext cx="1325532" cy="215444"/>
            </a:xfrm>
            <a:prstGeom prst="rect">
              <a:avLst/>
            </a:prstGeom>
            <a:solidFill>
              <a:schemeClr val="bg1">
                <a:alpha val="58000"/>
              </a:schemeClr>
            </a:solidFill>
          </p:spPr>
          <p:txBody>
            <a:bodyPr wrap="square" lIns="0" tIns="0" rIns="0" bIns="0" rtlCol="0">
              <a:spAutoFit/>
            </a:bodyPr>
            <a:lstStyle>
              <a:defPPr>
                <a:defRPr lang="de-DE"/>
              </a:defPPr>
              <a:lvl1pPr fontAlgn="base">
                <a:spcBef>
                  <a:spcPct val="50000"/>
                </a:spcBef>
                <a:spcAft>
                  <a:spcPct val="0"/>
                </a:spcAft>
                <a:buClr>
                  <a:srgbClr val="F0AB00"/>
                </a:buClr>
                <a:buSzPct val="80000"/>
                <a:defRPr sz="1400" kern="0">
                  <a:latin typeface="Arial Rounded MT Bold" panose="020F0704030504030204" pitchFamily="34" charset="0"/>
                  <a:ea typeface="Arial Unicode MS" pitchFamily="34" charset="-128"/>
                  <a:cs typeface="Arial Unicode MS" pitchFamily="34" charset="-128"/>
                </a:defRPr>
              </a:lvl1pPr>
            </a:lstStyle>
            <a:p>
              <a:r>
                <a:rPr lang="en-US" dirty="0"/>
                <a:t>Policies</a:t>
              </a:r>
            </a:p>
          </p:txBody>
        </p:sp>
      </p:grpSp>
      <p:cxnSp>
        <p:nvCxnSpPr>
          <p:cNvPr id="103" name="Connector: Elbow 102">
            <a:extLst>
              <a:ext uri="{FF2B5EF4-FFF2-40B4-BE49-F238E27FC236}">
                <a16:creationId xmlns:a16="http://schemas.microsoft.com/office/drawing/2014/main" id="{4EF96AF3-727E-4DB6-8AE7-0CBD354AE6E0}"/>
              </a:ext>
            </a:extLst>
          </p:cNvPr>
          <p:cNvCxnSpPr>
            <a:stCxn id="90" idx="2"/>
            <a:endCxn id="8" idx="3"/>
          </p:cNvCxnSpPr>
          <p:nvPr/>
        </p:nvCxnSpPr>
        <p:spPr>
          <a:xfrm rot="5400000">
            <a:off x="7457920" y="2917753"/>
            <a:ext cx="977470" cy="1233404"/>
          </a:xfrm>
          <a:prstGeom prst="bentConnector2">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75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8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8452040-D814-4C48-8BDD-E2BDD7BB58F8}"/>
              </a:ext>
            </a:extLst>
          </p:cNvPr>
          <p:cNvSpPr>
            <a:spLocks noGrp="1"/>
          </p:cNvSpPr>
          <p:nvPr>
            <p:ph type="ctrTitle"/>
          </p:nvPr>
        </p:nvSpPr>
        <p:spPr>
          <a:xfrm>
            <a:off x="504987" y="1551357"/>
            <a:ext cx="11185200" cy="677108"/>
          </a:xfrm>
        </p:spPr>
        <p:txBody>
          <a:bodyPr/>
          <a:lstStyle/>
          <a:p>
            <a:pPr algn="ctr"/>
            <a:r>
              <a:rPr lang="en-US" dirty="0"/>
              <a:t>K8s from administrative point of view</a:t>
            </a:r>
          </a:p>
        </p:txBody>
      </p:sp>
      <p:pic>
        <p:nvPicPr>
          <p:cNvPr id="3" name="Picture 2">
            <a:extLst>
              <a:ext uri="{FF2B5EF4-FFF2-40B4-BE49-F238E27FC236}">
                <a16:creationId xmlns:a16="http://schemas.microsoft.com/office/drawing/2014/main" id="{674D8C43-632A-4ACD-ABBA-576C0600B9C5}"/>
              </a:ext>
            </a:extLst>
          </p:cNvPr>
          <p:cNvPicPr>
            <a:picLocks noChangeAspect="1"/>
          </p:cNvPicPr>
          <p:nvPr/>
        </p:nvPicPr>
        <p:blipFill>
          <a:blip r:embed="rId3"/>
          <a:stretch>
            <a:fillRect/>
          </a:stretch>
        </p:blipFill>
        <p:spPr>
          <a:xfrm>
            <a:off x="4191761" y="2355536"/>
            <a:ext cx="3811652" cy="3811652"/>
          </a:xfrm>
          <a:prstGeom prst="rect">
            <a:avLst/>
          </a:prstGeom>
        </p:spPr>
      </p:pic>
    </p:spTree>
    <p:extLst>
      <p:ext uri="{BB962C8B-B14F-4D97-AF65-F5344CB8AC3E}">
        <p14:creationId xmlns:p14="http://schemas.microsoft.com/office/powerpoint/2010/main" val="656606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p:cNvSpPr/>
          <p:nvPr/>
        </p:nvSpPr>
        <p:spPr bwMode="gray">
          <a:xfrm>
            <a:off x="7449184" y="1832717"/>
            <a:ext cx="4142483" cy="307086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endParaRPr lang="de-DE" sz="2400" b="1" kern="0" dirty="0">
              <a:ea typeface="Arial Unicode MS" pitchFamily="34" charset="-128"/>
              <a:cs typeface="Arial Unicode MS" pitchFamily="34" charset="-128"/>
            </a:endParaRPr>
          </a:p>
        </p:txBody>
      </p:sp>
      <p:sp>
        <p:nvSpPr>
          <p:cNvPr id="29" name="Rectangle 28"/>
          <p:cNvSpPr/>
          <p:nvPr/>
        </p:nvSpPr>
        <p:spPr bwMode="gray">
          <a:xfrm>
            <a:off x="7208073" y="2053590"/>
            <a:ext cx="4142483" cy="307086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endParaRPr lang="de-DE" sz="2400" b="1" kern="0" dirty="0">
              <a:ea typeface="Arial Unicode MS" pitchFamily="34" charset="-128"/>
              <a:cs typeface="Arial Unicode MS" pitchFamily="34" charset="-128"/>
            </a:endParaRPr>
          </a:p>
        </p:txBody>
      </p:sp>
      <p:sp>
        <p:nvSpPr>
          <p:cNvPr id="24" name="Title 23"/>
          <p:cNvSpPr>
            <a:spLocks noGrp="1"/>
          </p:cNvSpPr>
          <p:nvPr>
            <p:ph type="title"/>
          </p:nvPr>
        </p:nvSpPr>
        <p:spPr>
          <a:xfrm>
            <a:off x="504001" y="504000"/>
            <a:ext cx="11186476" cy="369332"/>
          </a:xfrm>
        </p:spPr>
        <p:txBody>
          <a:bodyPr/>
          <a:lstStyle/>
          <a:p>
            <a:r>
              <a:rPr lang="en-US" dirty="0"/>
              <a:t>Architecture overview (</a:t>
            </a:r>
            <a:r>
              <a:rPr lang="en-US" i="1" dirty="0"/>
              <a:t>very</a:t>
            </a:r>
            <a:r>
              <a:rPr lang="en-US" dirty="0"/>
              <a:t> high level)</a:t>
            </a:r>
          </a:p>
        </p:txBody>
      </p:sp>
      <p:sp>
        <p:nvSpPr>
          <p:cNvPr id="3" name="Rectangle 2"/>
          <p:cNvSpPr/>
          <p:nvPr/>
        </p:nvSpPr>
        <p:spPr bwMode="gray">
          <a:xfrm>
            <a:off x="504000" y="2377440"/>
            <a:ext cx="5545429" cy="307086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strike="noStrike" kern="0" cap="none" spc="0" normalizeH="0" baseline="0" noProof="0" dirty="0">
                <a:ln>
                  <a:noFill/>
                </a:ln>
                <a:effectLst/>
                <a:uLnTx/>
                <a:uFillTx/>
                <a:ea typeface="Arial Unicode MS" pitchFamily="34" charset="-128"/>
                <a:cs typeface="Arial Unicode MS" pitchFamily="34" charset="-128"/>
              </a:rPr>
              <a:t>Master</a:t>
            </a:r>
          </a:p>
        </p:txBody>
      </p:sp>
      <p:sp>
        <p:nvSpPr>
          <p:cNvPr id="8" name="Rectangle 7"/>
          <p:cNvSpPr/>
          <p:nvPr/>
        </p:nvSpPr>
        <p:spPr bwMode="gray">
          <a:xfrm>
            <a:off x="1774412" y="1411605"/>
            <a:ext cx="2037269" cy="43434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b="1" kern="0" noProof="0" dirty="0">
                <a:ea typeface="Arial Unicode MS" pitchFamily="34" charset="-128"/>
                <a:cs typeface="Arial Unicode MS" pitchFamily="34" charset="-128"/>
              </a:rPr>
              <a:t>User</a:t>
            </a:r>
            <a:endParaRPr kumimoji="0" lang="de-DE" sz="1800" b="1"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11" name="Straight Arrow Connector 10"/>
          <p:cNvCxnSpPr/>
          <p:nvPr/>
        </p:nvCxnSpPr>
        <p:spPr>
          <a:xfrm>
            <a:off x="2400303" y="1845945"/>
            <a:ext cx="7620" cy="1156335"/>
          </a:xfrm>
          <a:prstGeom prst="straightConnector1">
            <a:avLst/>
          </a:prstGeom>
          <a:ln w="57150">
            <a:solidFill>
              <a:schemeClr val="accent2"/>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28" name="Rectangle 27"/>
          <p:cNvSpPr/>
          <p:nvPr/>
        </p:nvSpPr>
        <p:spPr bwMode="gray">
          <a:xfrm>
            <a:off x="6966962" y="2280863"/>
            <a:ext cx="4142483" cy="3350317"/>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r>
              <a:rPr lang="de-DE" sz="2400" b="1" kern="0" dirty="0" err="1">
                <a:ea typeface="Arial Unicode MS" pitchFamily="34" charset="-128"/>
                <a:cs typeface="Arial Unicode MS" pitchFamily="34" charset="-128"/>
              </a:rPr>
              <a:t>Workers</a:t>
            </a:r>
            <a:r>
              <a:rPr lang="de-DE" sz="2400" b="1" kern="0" dirty="0">
                <a:ea typeface="Arial Unicode MS" pitchFamily="34" charset="-128"/>
                <a:cs typeface="Arial Unicode MS" pitchFamily="34" charset="-128"/>
              </a:rPr>
              <a:t> / </a:t>
            </a:r>
            <a:r>
              <a:rPr lang="de-DE" sz="2400" b="1" kern="0" dirty="0" err="1">
                <a:ea typeface="Arial Unicode MS" pitchFamily="34" charset="-128"/>
                <a:cs typeface="Arial Unicode MS" pitchFamily="34" charset="-128"/>
              </a:rPr>
              <a:t>Minions</a:t>
            </a:r>
            <a:endParaRPr lang="de-DE" sz="2400" b="1" kern="0" dirty="0">
              <a:ea typeface="Arial Unicode MS" pitchFamily="34" charset="-128"/>
              <a:cs typeface="Arial Unicode MS" pitchFamily="34" charset="-128"/>
            </a:endParaRPr>
          </a:p>
        </p:txBody>
      </p:sp>
      <p:cxnSp>
        <p:nvCxnSpPr>
          <p:cNvPr id="60" name="Straight Arrow Connector 59"/>
          <p:cNvCxnSpPr>
            <a:cxnSpLocks/>
          </p:cNvCxnSpPr>
          <p:nvPr/>
        </p:nvCxnSpPr>
        <p:spPr>
          <a:xfrm flipH="1">
            <a:off x="4451326" y="4271028"/>
            <a:ext cx="3065827" cy="0"/>
          </a:xfrm>
          <a:prstGeom prst="straightConnector1">
            <a:avLst/>
          </a:prstGeom>
          <a:ln w="57150">
            <a:solidFill>
              <a:schemeClr val="accent2"/>
            </a:solidFill>
            <a:headEnd type="triangle" w="med" len="med"/>
            <a:tailEnd type="triangle" w="med" len="med"/>
          </a:ln>
        </p:spPr>
        <p:style>
          <a:lnRef idx="1">
            <a:schemeClr val="accent2"/>
          </a:lnRef>
          <a:fillRef idx="0">
            <a:schemeClr val="accent2"/>
          </a:fillRef>
          <a:effectRef idx="0">
            <a:schemeClr val="accent2"/>
          </a:effectRef>
          <a:fontRef idx="minor">
            <a:schemeClr val="tx1"/>
          </a:fontRef>
        </p:style>
      </p:cxnSp>
      <p:pic>
        <p:nvPicPr>
          <p:cNvPr id="1026" name="Picture 2" descr="Image result for gru despicable me">
            <a:extLst>
              <a:ext uri="{FF2B5EF4-FFF2-40B4-BE49-F238E27FC236}">
                <a16:creationId xmlns:a16="http://schemas.microsoft.com/office/drawing/2014/main" id="{70747020-7535-487B-BAB8-825F00BF313E}"/>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7823" b="97109" l="9950" r="89673">
                        <a14:foregroundMark x1="37909" y1="17347" x2="37909" y2="17347"/>
                        <a14:foregroundMark x1="36524" y1="17347" x2="36524" y2="17347"/>
                        <a14:foregroundMark x1="49244" y1="9014" x2="49244" y2="9014"/>
                        <a14:foregroundMark x1="49244" y1="8163" x2="49244" y2="8163"/>
                        <a14:foregroundMark x1="39421" y1="11395" x2="39421" y2="11395"/>
                        <a14:foregroundMark x1="35139" y1="15646" x2="35139" y2="15646"/>
                        <a14:foregroundMark x1="35390" y1="15816" x2="35390" y2="15816"/>
                        <a14:foregroundMark x1="35013" y1="14796" x2="35013" y2="14796"/>
                        <a14:foregroundMark x1="35013" y1="15306" x2="35013" y2="15306"/>
                        <a14:foregroundMark x1="52393" y1="13435" x2="52393" y2="13435"/>
                        <a14:foregroundMark x1="54660" y1="94048" x2="54660" y2="94048"/>
                        <a14:foregroundMark x1="64106" y1="91327" x2="64106" y2="91327"/>
                        <a14:foregroundMark x1="67758" y1="97109" x2="67758" y2="97109"/>
                        <a14:foregroundMark x1="10327" y1="57313" x2="10327" y2="57313"/>
                      </a14:backgroundRemoval>
                    </a14:imgEffect>
                  </a14:imgLayer>
                </a14:imgProps>
              </a:ext>
              <a:ext uri="{28A0092B-C50C-407E-A947-70E740481C1C}">
                <a14:useLocalDpi xmlns:a14="http://schemas.microsoft.com/office/drawing/2010/main" val="0"/>
              </a:ext>
            </a:extLst>
          </a:blip>
          <a:srcRect/>
          <a:stretch>
            <a:fillRect/>
          </a:stretch>
        </p:blipFill>
        <p:spPr bwMode="auto">
          <a:xfrm>
            <a:off x="1577912" y="3135944"/>
            <a:ext cx="2868420" cy="21242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minions despicable me">
            <a:extLst>
              <a:ext uri="{FF2B5EF4-FFF2-40B4-BE49-F238E27FC236}">
                <a16:creationId xmlns:a16="http://schemas.microsoft.com/office/drawing/2014/main" id="{E087B935-AC68-4269-96EC-21D6175625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59028" y="3417004"/>
            <a:ext cx="2857500" cy="15621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4243E848-1834-4E06-8221-4A79CE55E53C}"/>
              </a:ext>
            </a:extLst>
          </p:cNvPr>
          <p:cNvPicPr>
            <a:picLocks noChangeAspect="1"/>
          </p:cNvPicPr>
          <p:nvPr/>
        </p:nvPicPr>
        <p:blipFill>
          <a:blip r:embed="rId6"/>
          <a:stretch>
            <a:fillRect/>
          </a:stretch>
        </p:blipFill>
        <p:spPr>
          <a:xfrm>
            <a:off x="1198696" y="873332"/>
            <a:ext cx="1401630" cy="1352161"/>
          </a:xfrm>
          <a:prstGeom prst="rect">
            <a:avLst/>
          </a:prstGeom>
        </p:spPr>
      </p:pic>
    </p:spTree>
    <p:extLst>
      <p:ext uri="{BB962C8B-B14F-4D97-AF65-F5344CB8AC3E}">
        <p14:creationId xmlns:p14="http://schemas.microsoft.com/office/powerpoint/2010/main" val="3918930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2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29" grpId="0" animBg="1"/>
      <p:bldP spid="3" grpId="0" animBg="1"/>
      <p:bldP spid="2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p:cNvSpPr/>
          <p:nvPr/>
        </p:nvSpPr>
        <p:spPr bwMode="gray">
          <a:xfrm>
            <a:off x="7449184" y="1832717"/>
            <a:ext cx="4142483" cy="307086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endParaRPr lang="de-DE" sz="2400" b="1" kern="0" dirty="0">
              <a:ea typeface="Arial Unicode MS" pitchFamily="34" charset="-128"/>
              <a:cs typeface="Arial Unicode MS" pitchFamily="34" charset="-128"/>
            </a:endParaRPr>
          </a:p>
        </p:txBody>
      </p:sp>
      <p:sp>
        <p:nvSpPr>
          <p:cNvPr id="29" name="Rectangle 28"/>
          <p:cNvSpPr/>
          <p:nvPr/>
        </p:nvSpPr>
        <p:spPr bwMode="gray">
          <a:xfrm>
            <a:off x="7208073" y="2053590"/>
            <a:ext cx="4142483" cy="307086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endParaRPr lang="de-DE" sz="2400" b="1" kern="0" dirty="0">
              <a:ea typeface="Arial Unicode MS" pitchFamily="34" charset="-128"/>
              <a:cs typeface="Arial Unicode MS" pitchFamily="34" charset="-128"/>
            </a:endParaRPr>
          </a:p>
        </p:txBody>
      </p:sp>
      <p:sp>
        <p:nvSpPr>
          <p:cNvPr id="24" name="Title 23"/>
          <p:cNvSpPr>
            <a:spLocks noGrp="1"/>
          </p:cNvSpPr>
          <p:nvPr>
            <p:ph type="title"/>
          </p:nvPr>
        </p:nvSpPr>
        <p:spPr>
          <a:xfrm>
            <a:off x="504001" y="504000"/>
            <a:ext cx="11186476" cy="369332"/>
          </a:xfrm>
        </p:spPr>
        <p:txBody>
          <a:bodyPr/>
          <a:lstStyle/>
          <a:p>
            <a:r>
              <a:rPr lang="en-US" dirty="0"/>
              <a:t>Architecture overview</a:t>
            </a:r>
          </a:p>
        </p:txBody>
      </p:sp>
      <p:sp>
        <p:nvSpPr>
          <p:cNvPr id="3" name="Rectangle 2"/>
          <p:cNvSpPr/>
          <p:nvPr/>
        </p:nvSpPr>
        <p:spPr bwMode="gray">
          <a:xfrm>
            <a:off x="504000" y="2377440"/>
            <a:ext cx="5545429" cy="307086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strike="noStrike" kern="0" cap="none" spc="0" normalizeH="0" baseline="0" noProof="0" dirty="0">
                <a:ln>
                  <a:noFill/>
                </a:ln>
                <a:effectLst/>
                <a:uLnTx/>
                <a:uFillTx/>
                <a:ea typeface="Arial Unicode MS" pitchFamily="34" charset="-128"/>
                <a:cs typeface="Arial Unicode MS" pitchFamily="34" charset="-128"/>
              </a:rPr>
              <a:t>Control Plane</a:t>
            </a:r>
          </a:p>
        </p:txBody>
      </p:sp>
      <p:sp>
        <p:nvSpPr>
          <p:cNvPr id="6" name="Rectangle 5"/>
          <p:cNvSpPr/>
          <p:nvPr/>
        </p:nvSpPr>
        <p:spPr bwMode="gray">
          <a:xfrm>
            <a:off x="736411" y="4255770"/>
            <a:ext cx="2037269" cy="43434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kern="0" dirty="0">
                <a:ea typeface="Arial Unicode MS" pitchFamily="34" charset="-128"/>
                <a:cs typeface="Arial Unicode MS" pitchFamily="34" charset="-128"/>
              </a:rPr>
              <a:t>Scheduler</a:t>
            </a:r>
            <a:endParaRPr kumimoji="0" lang="de-DE" sz="160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7" name="Rectangle 6"/>
          <p:cNvSpPr/>
          <p:nvPr/>
        </p:nvSpPr>
        <p:spPr bwMode="gray">
          <a:xfrm>
            <a:off x="1696531" y="4852035"/>
            <a:ext cx="2037269" cy="43434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kern="0" dirty="0">
                <a:ea typeface="Arial Unicode MS" pitchFamily="34" charset="-128"/>
                <a:cs typeface="Arial Unicode MS" pitchFamily="34" charset="-128"/>
              </a:rPr>
              <a:t>Controller Manager</a:t>
            </a:r>
            <a:endParaRPr kumimoji="0" lang="de-DE" sz="160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8" name="Rectangle 7"/>
          <p:cNvSpPr/>
          <p:nvPr/>
        </p:nvSpPr>
        <p:spPr bwMode="gray">
          <a:xfrm>
            <a:off x="1255655" y="1411605"/>
            <a:ext cx="2037269" cy="43434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b="1" kern="0" noProof="0" dirty="0" err="1">
                <a:ea typeface="Arial Unicode MS" pitchFamily="34" charset="-128"/>
                <a:cs typeface="Arial Unicode MS" pitchFamily="34" charset="-128"/>
              </a:rPr>
              <a:t>kubectl</a:t>
            </a:r>
            <a:endParaRPr kumimoji="0" lang="de-DE"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5" name="Oval 4"/>
          <p:cNvSpPr/>
          <p:nvPr/>
        </p:nvSpPr>
        <p:spPr bwMode="gray">
          <a:xfrm>
            <a:off x="1188723" y="1181100"/>
            <a:ext cx="302071" cy="312420"/>
          </a:xfrm>
          <a:prstGeom prst="ellipse">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Flowchart: Delay 8"/>
          <p:cNvSpPr/>
          <p:nvPr/>
        </p:nvSpPr>
        <p:spPr bwMode="gray">
          <a:xfrm rot="16200000">
            <a:off x="1067344" y="1589619"/>
            <a:ext cx="544828" cy="459313"/>
          </a:xfrm>
          <a:prstGeom prst="flowChartDelay">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800" b="0" i="0" u="none" strike="noStrike" kern="0" cap="none" spc="0" normalizeH="0" baseline="0" noProof="0" dirty="0" err="1">
              <a:ln>
                <a:noFill/>
              </a:ln>
              <a:effectLst/>
              <a:uLnTx/>
              <a:uFillTx/>
              <a:ea typeface="Arial Unicode MS" pitchFamily="34" charset="-128"/>
              <a:cs typeface="Arial Unicode MS" pitchFamily="34" charset="-128"/>
            </a:endParaRPr>
          </a:p>
        </p:txBody>
      </p:sp>
      <p:cxnSp>
        <p:nvCxnSpPr>
          <p:cNvPr id="11" name="Straight Arrow Connector 10"/>
          <p:cNvCxnSpPr/>
          <p:nvPr/>
        </p:nvCxnSpPr>
        <p:spPr>
          <a:xfrm>
            <a:off x="2024371" y="1845945"/>
            <a:ext cx="7620" cy="1156335"/>
          </a:xfrm>
          <a:prstGeom prst="straightConnector1">
            <a:avLst/>
          </a:prstGeom>
          <a:ln w="57150">
            <a:solidFill>
              <a:schemeClr val="accent2"/>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14" name="Straight Arrow Connector 13"/>
          <p:cNvCxnSpPr/>
          <p:nvPr/>
        </p:nvCxnSpPr>
        <p:spPr>
          <a:xfrm flipV="1">
            <a:off x="3253740" y="3848100"/>
            <a:ext cx="0" cy="1003935"/>
          </a:xfrm>
          <a:prstGeom prst="straightConnector1">
            <a:avLst/>
          </a:prstGeom>
          <a:ln w="57150">
            <a:solidFill>
              <a:schemeClr val="accent2"/>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20" name="Straight Arrow Connector 19"/>
          <p:cNvCxnSpPr/>
          <p:nvPr/>
        </p:nvCxnSpPr>
        <p:spPr>
          <a:xfrm flipV="1">
            <a:off x="2355661" y="3848100"/>
            <a:ext cx="0" cy="407671"/>
          </a:xfrm>
          <a:prstGeom prst="straightConnector1">
            <a:avLst/>
          </a:prstGeom>
          <a:ln w="57150">
            <a:solidFill>
              <a:schemeClr val="accent2"/>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23" name="Rectangle 22"/>
          <p:cNvSpPr/>
          <p:nvPr/>
        </p:nvSpPr>
        <p:spPr bwMode="gray">
          <a:xfrm>
            <a:off x="4095594" y="3742372"/>
            <a:ext cx="1703071" cy="1461135"/>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800" b="1" kern="0" dirty="0" err="1">
                <a:solidFill>
                  <a:schemeClr val="lt1"/>
                </a:solidFill>
                <a:ea typeface="Arial Unicode MS" pitchFamily="34" charset="-128"/>
              </a:rPr>
              <a:t>etcd</a:t>
            </a:r>
            <a:endParaRPr lang="de-DE" sz="1800" b="1" kern="0" dirty="0">
              <a:solidFill>
                <a:schemeClr val="lt1"/>
              </a:solidFill>
              <a:ea typeface="Arial Unicode MS" pitchFamily="34" charset="-128"/>
            </a:endParaRPr>
          </a:p>
          <a:p>
            <a:pPr algn="ctr" defTabSz="914400" fontAlgn="base">
              <a:spcBef>
                <a:spcPct val="50000"/>
              </a:spcBef>
              <a:spcAft>
                <a:spcPct val="0"/>
              </a:spcAft>
              <a:buClr>
                <a:srgbClr val="F0AB00"/>
              </a:buClr>
              <a:buSzPct val="80000"/>
            </a:pPr>
            <a:r>
              <a:rPr lang="de-DE" sz="1800" b="1" kern="0" dirty="0">
                <a:solidFill>
                  <a:schemeClr val="lt1"/>
                </a:solidFill>
                <a:ea typeface="Arial Unicode MS" pitchFamily="34" charset="-128"/>
              </a:rPr>
              <a:t>(</a:t>
            </a:r>
            <a:r>
              <a:rPr lang="de-DE" sz="1800" b="1" kern="0" dirty="0" err="1">
                <a:solidFill>
                  <a:schemeClr val="lt1"/>
                </a:solidFill>
                <a:ea typeface="Arial Unicode MS" pitchFamily="34" charset="-128"/>
              </a:rPr>
              <a:t>distributed</a:t>
            </a:r>
            <a:r>
              <a:rPr lang="de-DE" sz="1800" b="1" kern="0" dirty="0">
                <a:solidFill>
                  <a:schemeClr val="lt1"/>
                </a:solidFill>
                <a:ea typeface="Arial Unicode MS" pitchFamily="34" charset="-128"/>
              </a:rPr>
              <a:t>) </a:t>
            </a:r>
            <a:r>
              <a:rPr lang="de-DE" sz="1800" b="1" kern="0" dirty="0" err="1">
                <a:solidFill>
                  <a:schemeClr val="lt1"/>
                </a:solidFill>
                <a:ea typeface="Arial Unicode MS" pitchFamily="34" charset="-128"/>
              </a:rPr>
              <a:t>key-value</a:t>
            </a:r>
            <a:r>
              <a:rPr lang="de-DE" sz="1800" b="1" kern="0" dirty="0">
                <a:solidFill>
                  <a:schemeClr val="lt1"/>
                </a:solidFill>
                <a:ea typeface="Arial Unicode MS" pitchFamily="34" charset="-128"/>
              </a:rPr>
              <a:t> </a:t>
            </a:r>
            <a:r>
              <a:rPr lang="de-DE" sz="1800" b="1" kern="0" dirty="0" err="1">
                <a:solidFill>
                  <a:schemeClr val="lt1"/>
                </a:solidFill>
                <a:ea typeface="Arial Unicode MS" pitchFamily="34" charset="-128"/>
              </a:rPr>
              <a:t>store</a:t>
            </a:r>
            <a:endParaRPr lang="de-DE" sz="1800" b="1" kern="0" dirty="0">
              <a:solidFill>
                <a:schemeClr val="lt1"/>
              </a:solidFill>
              <a:ea typeface="Arial Unicode MS" pitchFamily="34" charset="-128"/>
            </a:endParaRPr>
          </a:p>
        </p:txBody>
      </p:sp>
      <p:cxnSp>
        <p:nvCxnSpPr>
          <p:cNvPr id="25" name="Straight Arrow Connector 24"/>
          <p:cNvCxnSpPr>
            <a:cxnSpLocks/>
          </p:cNvCxnSpPr>
          <p:nvPr/>
        </p:nvCxnSpPr>
        <p:spPr>
          <a:xfrm>
            <a:off x="3592226" y="3589020"/>
            <a:ext cx="503368" cy="577637"/>
          </a:xfrm>
          <a:prstGeom prst="straightConnector1">
            <a:avLst/>
          </a:prstGeom>
          <a:ln w="571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bwMode="gray">
          <a:xfrm>
            <a:off x="6966962" y="2280863"/>
            <a:ext cx="4142483" cy="3350317"/>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r>
              <a:rPr lang="de-DE" sz="2400" b="1" kern="0" dirty="0">
                <a:ea typeface="Arial Unicode MS" pitchFamily="34" charset="-128"/>
                <a:cs typeface="Arial Unicode MS" pitchFamily="34" charset="-128"/>
              </a:rPr>
              <a:t>Nodes</a:t>
            </a:r>
          </a:p>
        </p:txBody>
      </p:sp>
      <p:sp>
        <p:nvSpPr>
          <p:cNvPr id="31" name="Rectangle 30"/>
          <p:cNvSpPr/>
          <p:nvPr/>
        </p:nvSpPr>
        <p:spPr bwMode="gray">
          <a:xfrm>
            <a:off x="7155812" y="3444087"/>
            <a:ext cx="3757367" cy="2114703"/>
          </a:xfrm>
          <a:prstGeom prst="rect">
            <a:avLst/>
          </a:prstGeom>
          <a:solidFill>
            <a:schemeClr val="accent1">
              <a:lumMod val="60000"/>
              <a:lumOff val="40000"/>
            </a:schemeClr>
          </a:solidFill>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b"/>
          <a:lstStyle/>
          <a:p>
            <a:pPr marR="0" algn="ctr" defTabSz="914400" eaLnBrk="1" fontAlgn="base" latinLnBrk="0" hangingPunct="1">
              <a:lnSpc>
                <a:spcPct val="100000"/>
              </a:lnSpc>
              <a:spcBef>
                <a:spcPct val="50000"/>
              </a:spcBef>
              <a:spcAft>
                <a:spcPct val="0"/>
              </a:spcAft>
              <a:buClr>
                <a:srgbClr val="F0AB00"/>
              </a:buClr>
              <a:buSzPct val="80000"/>
              <a:tabLst/>
            </a:pPr>
            <a:r>
              <a:rPr lang="de-DE" sz="2000" b="1" kern="0" dirty="0">
                <a:ea typeface="Arial Unicode MS" pitchFamily="34" charset="-128"/>
                <a:cs typeface="Arial Unicode MS" pitchFamily="34" charset="-128"/>
              </a:rPr>
              <a:t>C</a:t>
            </a:r>
            <a:r>
              <a:rPr lang="de-DE" sz="2000" b="1" kern="0" noProof="0" dirty="0" err="1">
                <a:ea typeface="Arial Unicode MS" pitchFamily="34" charset="-128"/>
                <a:cs typeface="Arial Unicode MS" pitchFamily="34" charset="-128"/>
              </a:rPr>
              <a:t>ontainer</a:t>
            </a:r>
            <a:r>
              <a:rPr lang="de-DE" sz="2000" b="1" kern="0" noProof="0" dirty="0">
                <a:ea typeface="Arial Unicode MS" pitchFamily="34" charset="-128"/>
                <a:cs typeface="Arial Unicode MS" pitchFamily="34" charset="-128"/>
              </a:rPr>
              <a:t> </a:t>
            </a:r>
            <a:r>
              <a:rPr lang="de-DE" sz="2000" b="1" kern="0" noProof="0" dirty="0" err="1">
                <a:ea typeface="Arial Unicode MS" pitchFamily="34" charset="-128"/>
                <a:cs typeface="Arial Unicode MS" pitchFamily="34" charset="-128"/>
              </a:rPr>
              <a:t>runtime</a:t>
            </a:r>
            <a:endParaRPr kumimoji="0" lang="de-DE" sz="2400" b="1" i="0" strike="noStrike" kern="0" cap="none" spc="0" normalizeH="0" baseline="0" noProof="0" dirty="0">
              <a:ln>
                <a:noFill/>
              </a:ln>
              <a:effectLst/>
              <a:uLnTx/>
              <a:uFillTx/>
              <a:ea typeface="Arial Unicode MS" pitchFamily="34" charset="-128"/>
              <a:cs typeface="Arial Unicode MS" pitchFamily="34" charset="-128"/>
            </a:endParaRPr>
          </a:p>
        </p:txBody>
      </p:sp>
      <p:sp>
        <p:nvSpPr>
          <p:cNvPr id="32" name="Rectangle 31"/>
          <p:cNvSpPr/>
          <p:nvPr/>
        </p:nvSpPr>
        <p:spPr bwMode="gray">
          <a:xfrm>
            <a:off x="7484508" y="2782474"/>
            <a:ext cx="1237682" cy="43434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kern="0" dirty="0" err="1">
                <a:ea typeface="Arial Unicode MS" pitchFamily="34" charset="-128"/>
                <a:cs typeface="Arial Unicode MS" pitchFamily="34" charset="-128"/>
              </a:rPr>
              <a:t>kubelet</a:t>
            </a:r>
            <a:endParaRPr kumimoji="0" lang="de-DE" sz="160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34" name="Rectangle 33"/>
          <p:cNvSpPr/>
          <p:nvPr/>
        </p:nvSpPr>
        <p:spPr bwMode="gray">
          <a:xfrm>
            <a:off x="7518359" y="3840520"/>
            <a:ext cx="1208595" cy="773906"/>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b="1" kern="0" noProof="0" dirty="0">
                <a:ea typeface="Arial Unicode MS" pitchFamily="34" charset="-128"/>
                <a:cs typeface="Arial Unicode MS" pitchFamily="34" charset="-128"/>
              </a:rPr>
              <a:t>Container</a:t>
            </a:r>
            <a:endParaRPr kumimoji="0" lang="de-DE" sz="16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35" name="Rectangle 34"/>
          <p:cNvSpPr/>
          <p:nvPr/>
        </p:nvSpPr>
        <p:spPr bwMode="gray">
          <a:xfrm>
            <a:off x="9375019" y="3840520"/>
            <a:ext cx="1208595" cy="773906"/>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b="1" kern="0" noProof="0" dirty="0">
                <a:ea typeface="Arial Unicode MS" pitchFamily="34" charset="-128"/>
                <a:cs typeface="Arial Unicode MS" pitchFamily="34" charset="-128"/>
              </a:rPr>
              <a:t>Container</a:t>
            </a:r>
            <a:endParaRPr kumimoji="0" lang="de-DE" sz="16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36" name="Rectangle 35"/>
          <p:cNvSpPr/>
          <p:nvPr/>
        </p:nvSpPr>
        <p:spPr bwMode="gray">
          <a:xfrm>
            <a:off x="9360476" y="2788712"/>
            <a:ext cx="1237682" cy="43434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kern="0" dirty="0" err="1">
                <a:ea typeface="Arial Unicode MS" pitchFamily="34" charset="-128"/>
                <a:cs typeface="Arial Unicode MS" pitchFamily="34" charset="-128"/>
              </a:rPr>
              <a:t>proxy</a:t>
            </a:r>
            <a:endParaRPr kumimoji="0" lang="de-DE" sz="160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37" name="Cloud 36"/>
          <p:cNvSpPr/>
          <p:nvPr/>
        </p:nvSpPr>
        <p:spPr bwMode="gray">
          <a:xfrm>
            <a:off x="8563179" y="590715"/>
            <a:ext cx="1929198" cy="830177"/>
          </a:xfrm>
          <a:prstGeom prst="cloud">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800" b="0" i="0" u="none" strike="noStrike" kern="0" cap="none" spc="0" normalizeH="0" baseline="0" noProof="0" dirty="0" err="1">
              <a:ln>
                <a:noFill/>
              </a:ln>
              <a:effectLst/>
              <a:uLnTx/>
              <a:uFillTx/>
              <a:ea typeface="Arial Unicode MS" pitchFamily="34" charset="-128"/>
              <a:cs typeface="Arial Unicode MS" pitchFamily="34" charset="-128"/>
            </a:endParaRPr>
          </a:p>
        </p:txBody>
      </p:sp>
      <p:cxnSp>
        <p:nvCxnSpPr>
          <p:cNvPr id="38" name="Straight Arrow Connector 37"/>
          <p:cNvCxnSpPr>
            <a:cxnSpLocks/>
            <a:endCxn id="36" idx="0"/>
          </p:cNvCxnSpPr>
          <p:nvPr/>
        </p:nvCxnSpPr>
        <p:spPr>
          <a:xfrm flipH="1">
            <a:off x="9979317" y="1319842"/>
            <a:ext cx="14544" cy="1468870"/>
          </a:xfrm>
          <a:prstGeom prst="straightConnector1">
            <a:avLst/>
          </a:prstGeom>
          <a:ln w="57150">
            <a:solidFill>
              <a:schemeClr val="accent2"/>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43" name="Straight Arrow Connector 42"/>
          <p:cNvCxnSpPr>
            <a:stCxn id="36" idx="2"/>
            <a:endCxn id="35" idx="0"/>
          </p:cNvCxnSpPr>
          <p:nvPr/>
        </p:nvCxnSpPr>
        <p:spPr>
          <a:xfrm>
            <a:off x="9979317" y="3223052"/>
            <a:ext cx="0" cy="617468"/>
          </a:xfrm>
          <a:prstGeom prst="straightConnector1">
            <a:avLst/>
          </a:prstGeom>
          <a:ln w="28575">
            <a:solidFill>
              <a:schemeClr val="accent2"/>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46" name="Straight Arrow Connector 45"/>
          <p:cNvCxnSpPr>
            <a:stCxn id="36" idx="2"/>
            <a:endCxn id="34" idx="0"/>
          </p:cNvCxnSpPr>
          <p:nvPr/>
        </p:nvCxnSpPr>
        <p:spPr>
          <a:xfrm flipH="1">
            <a:off x="8122657" y="3223052"/>
            <a:ext cx="1856660" cy="617468"/>
          </a:xfrm>
          <a:prstGeom prst="straightConnector1">
            <a:avLst/>
          </a:prstGeom>
          <a:ln w="28575">
            <a:solidFill>
              <a:schemeClr val="accent2"/>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53" name="Straight Arrow Connector 52"/>
          <p:cNvCxnSpPr>
            <a:stCxn id="32" idx="2"/>
            <a:endCxn id="34" idx="0"/>
          </p:cNvCxnSpPr>
          <p:nvPr/>
        </p:nvCxnSpPr>
        <p:spPr>
          <a:xfrm>
            <a:off x="8103349" y="3216814"/>
            <a:ext cx="19308" cy="623706"/>
          </a:xfrm>
          <a:prstGeom prst="straightConnector1">
            <a:avLst/>
          </a:prstGeom>
          <a:ln w="28575">
            <a:solidFill>
              <a:schemeClr val="accent2"/>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57" name="Straight Arrow Connector 56"/>
          <p:cNvCxnSpPr>
            <a:stCxn id="32" idx="2"/>
            <a:endCxn id="35" idx="0"/>
          </p:cNvCxnSpPr>
          <p:nvPr/>
        </p:nvCxnSpPr>
        <p:spPr>
          <a:xfrm>
            <a:off x="8103349" y="3216814"/>
            <a:ext cx="1875968" cy="623706"/>
          </a:xfrm>
          <a:prstGeom prst="straightConnector1">
            <a:avLst/>
          </a:prstGeom>
          <a:ln w="28575">
            <a:solidFill>
              <a:schemeClr val="accent2"/>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60" name="Straight Arrow Connector 59"/>
          <p:cNvCxnSpPr>
            <a:cxnSpLocks/>
            <a:stCxn id="32" idx="1"/>
          </p:cNvCxnSpPr>
          <p:nvPr/>
        </p:nvCxnSpPr>
        <p:spPr>
          <a:xfrm flipH="1">
            <a:off x="3544584" y="2999644"/>
            <a:ext cx="3939924" cy="20958"/>
          </a:xfrm>
          <a:prstGeom prst="straightConnector1">
            <a:avLst/>
          </a:prstGeom>
          <a:ln w="57150">
            <a:solidFill>
              <a:schemeClr val="accent2"/>
            </a:solidFill>
            <a:headEnd type="triangle" w="med" len="med"/>
            <a:tailEnd type="triangle" w="med" len="med"/>
          </a:ln>
        </p:spPr>
        <p:style>
          <a:lnRef idx="1">
            <a:schemeClr val="accent2"/>
          </a:lnRef>
          <a:fillRef idx="0">
            <a:schemeClr val="accent2"/>
          </a:fillRef>
          <a:effectRef idx="0">
            <a:schemeClr val="accent2"/>
          </a:effectRef>
          <a:fontRef idx="minor">
            <a:schemeClr val="tx1"/>
          </a:fontRef>
        </p:style>
      </p:cxnSp>
      <p:sp>
        <p:nvSpPr>
          <p:cNvPr id="2" name="Rectangle: Rounded Corners 1">
            <a:extLst>
              <a:ext uri="{FF2B5EF4-FFF2-40B4-BE49-F238E27FC236}">
                <a16:creationId xmlns:a16="http://schemas.microsoft.com/office/drawing/2014/main" id="{2A37C6D0-F857-43F3-9FFE-BF75EF04DD52}"/>
              </a:ext>
            </a:extLst>
          </p:cNvPr>
          <p:cNvSpPr/>
          <p:nvPr/>
        </p:nvSpPr>
        <p:spPr bwMode="gray">
          <a:xfrm>
            <a:off x="7421347" y="3639487"/>
            <a:ext cx="1402246" cy="1403553"/>
          </a:xfrm>
          <a:prstGeom prst="roundRect">
            <a:avLst/>
          </a:prstGeom>
          <a:noFill/>
          <a:ln w="19050" algn="ctr">
            <a:solidFill>
              <a:schemeClr val="tx1"/>
            </a:solidFill>
            <a:prstDash val="dash"/>
            <a:miter lim="800000"/>
            <a:headEnd/>
            <a:tailEnd/>
          </a:ln>
        </p:spPr>
        <p:txBody>
          <a:bodyPr lIns="90000" tIns="72000" rIns="90000" bIns="72000" rtlCol="0" anchor="b"/>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Pod</a:t>
            </a:r>
          </a:p>
        </p:txBody>
      </p:sp>
      <p:sp>
        <p:nvSpPr>
          <p:cNvPr id="4" name="Rectangle 3"/>
          <p:cNvSpPr/>
          <p:nvPr/>
        </p:nvSpPr>
        <p:spPr bwMode="gray">
          <a:xfrm>
            <a:off x="1147891" y="2981732"/>
            <a:ext cx="2415540" cy="84582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1" i="0" u="none" strike="noStrike" kern="0" cap="none" spc="0" normalizeH="0" baseline="0" noProof="0" dirty="0">
                <a:ln>
                  <a:noFill/>
                </a:ln>
                <a:effectLst/>
                <a:uLnTx/>
                <a:uFillTx/>
                <a:ea typeface="Arial Unicode MS" pitchFamily="34" charset="-128"/>
                <a:cs typeface="Arial Unicode MS" pitchFamily="34" charset="-128"/>
              </a:rPr>
              <a:t>API</a:t>
            </a:r>
            <a:r>
              <a:rPr kumimoji="0" lang="de-DE" sz="1800" b="1" i="0" u="none" strike="noStrike" kern="0" cap="none" spc="0" normalizeH="0" noProof="0" dirty="0">
                <a:ln>
                  <a:noFill/>
                </a:ln>
                <a:effectLst/>
                <a:uLnTx/>
                <a:uFillTx/>
                <a:ea typeface="Arial Unicode MS" pitchFamily="34" charset="-128"/>
                <a:cs typeface="Arial Unicode MS" pitchFamily="34" charset="-128"/>
              </a:rPr>
              <a:t> Server</a:t>
            </a:r>
            <a:endParaRPr kumimoji="0" lang="de-DE"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45" name="Rectangle: Rounded Corners 44">
            <a:extLst>
              <a:ext uri="{FF2B5EF4-FFF2-40B4-BE49-F238E27FC236}">
                <a16:creationId xmlns:a16="http://schemas.microsoft.com/office/drawing/2014/main" id="{6A1B9FB8-E0C7-4972-AB85-18F2C06E6708}"/>
              </a:ext>
            </a:extLst>
          </p:cNvPr>
          <p:cNvSpPr/>
          <p:nvPr/>
        </p:nvSpPr>
        <p:spPr bwMode="gray">
          <a:xfrm>
            <a:off x="9292738" y="3636368"/>
            <a:ext cx="1402246" cy="1403553"/>
          </a:xfrm>
          <a:prstGeom prst="roundRect">
            <a:avLst/>
          </a:prstGeom>
          <a:noFill/>
          <a:ln w="19050" algn="ctr">
            <a:solidFill>
              <a:schemeClr val="tx1"/>
            </a:solidFill>
            <a:prstDash val="dash"/>
            <a:miter lim="800000"/>
            <a:headEnd/>
            <a:tailEnd/>
          </a:ln>
        </p:spPr>
        <p:txBody>
          <a:bodyPr lIns="90000" tIns="72000" rIns="90000" bIns="72000" rtlCol="0" anchor="b"/>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Pod</a:t>
            </a:r>
          </a:p>
        </p:txBody>
      </p:sp>
    </p:spTree>
    <p:extLst>
      <p:ext uri="{BB962C8B-B14F-4D97-AF65-F5344CB8AC3E}">
        <p14:creationId xmlns:p14="http://schemas.microsoft.com/office/powerpoint/2010/main" val="3602749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p:cNvSpPr>
            <a:spLocks noGrp="1"/>
          </p:cNvSpPr>
          <p:nvPr>
            <p:ph type="title"/>
          </p:nvPr>
        </p:nvSpPr>
        <p:spPr>
          <a:xfrm>
            <a:off x="504001" y="504000"/>
            <a:ext cx="11186476" cy="369332"/>
          </a:xfrm>
        </p:spPr>
        <p:txBody>
          <a:bodyPr/>
          <a:lstStyle/>
          <a:p>
            <a:r>
              <a:rPr lang="en-US" dirty="0"/>
              <a:t>What happens if we run </a:t>
            </a:r>
            <a:r>
              <a:rPr lang="en-US" dirty="0" err="1"/>
              <a:t>nginx</a:t>
            </a:r>
            <a:r>
              <a:rPr lang="en-US" dirty="0"/>
              <a:t>?</a:t>
            </a:r>
          </a:p>
        </p:txBody>
      </p:sp>
      <p:sp>
        <p:nvSpPr>
          <p:cNvPr id="3" name="Rectangle 2"/>
          <p:cNvSpPr/>
          <p:nvPr/>
        </p:nvSpPr>
        <p:spPr bwMode="gray">
          <a:xfrm>
            <a:off x="504000" y="2377440"/>
            <a:ext cx="5545429" cy="307086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strike="noStrike" kern="0" cap="none" spc="0" normalizeH="0" baseline="0" noProof="0" dirty="0">
                <a:ln>
                  <a:noFill/>
                </a:ln>
                <a:effectLst/>
                <a:uLnTx/>
                <a:uFillTx/>
                <a:ea typeface="Arial Unicode MS" pitchFamily="34" charset="-128"/>
                <a:cs typeface="Arial Unicode MS" pitchFamily="34" charset="-128"/>
              </a:rPr>
              <a:t>Control Plane</a:t>
            </a:r>
          </a:p>
        </p:txBody>
      </p:sp>
      <p:cxnSp>
        <p:nvCxnSpPr>
          <p:cNvPr id="11" name="Straight Arrow Connector 10"/>
          <p:cNvCxnSpPr/>
          <p:nvPr/>
        </p:nvCxnSpPr>
        <p:spPr>
          <a:xfrm>
            <a:off x="2024371" y="1845945"/>
            <a:ext cx="7620" cy="1156335"/>
          </a:xfrm>
          <a:prstGeom prst="straightConnector1">
            <a:avLst/>
          </a:prstGeom>
          <a:ln w="57150">
            <a:solidFill>
              <a:schemeClr val="accent1"/>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14" name="Straight Arrow Connector 13"/>
          <p:cNvCxnSpPr/>
          <p:nvPr/>
        </p:nvCxnSpPr>
        <p:spPr>
          <a:xfrm flipV="1">
            <a:off x="3253740" y="3848100"/>
            <a:ext cx="0" cy="1003935"/>
          </a:xfrm>
          <a:prstGeom prst="straightConnector1">
            <a:avLst/>
          </a:prstGeom>
          <a:ln w="57150">
            <a:solidFill>
              <a:schemeClr val="accent1"/>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20" name="Straight Arrow Connector 19"/>
          <p:cNvCxnSpPr/>
          <p:nvPr/>
        </p:nvCxnSpPr>
        <p:spPr>
          <a:xfrm flipV="1">
            <a:off x="2355661" y="3848100"/>
            <a:ext cx="0" cy="407671"/>
          </a:xfrm>
          <a:prstGeom prst="straightConnector1">
            <a:avLst/>
          </a:prstGeom>
          <a:ln w="57150">
            <a:solidFill>
              <a:schemeClr val="accent1"/>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23" name="Rectangle 22"/>
          <p:cNvSpPr/>
          <p:nvPr/>
        </p:nvSpPr>
        <p:spPr bwMode="gray">
          <a:xfrm>
            <a:off x="4095594" y="3742372"/>
            <a:ext cx="1703071" cy="1461135"/>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800" b="1" kern="0" dirty="0" err="1">
                <a:solidFill>
                  <a:schemeClr val="lt1"/>
                </a:solidFill>
                <a:ea typeface="Arial Unicode MS" pitchFamily="34" charset="-128"/>
              </a:rPr>
              <a:t>etcd</a:t>
            </a:r>
            <a:endParaRPr lang="de-DE" sz="1800" b="1" kern="0" dirty="0">
              <a:solidFill>
                <a:schemeClr val="lt1"/>
              </a:solidFill>
              <a:ea typeface="Arial Unicode MS" pitchFamily="34" charset="-128"/>
            </a:endParaRPr>
          </a:p>
          <a:p>
            <a:pPr algn="ctr" defTabSz="914400" fontAlgn="base">
              <a:spcBef>
                <a:spcPct val="50000"/>
              </a:spcBef>
              <a:spcAft>
                <a:spcPct val="0"/>
              </a:spcAft>
              <a:buClr>
                <a:srgbClr val="F0AB00"/>
              </a:buClr>
              <a:buSzPct val="80000"/>
            </a:pPr>
            <a:r>
              <a:rPr lang="de-DE" sz="1800" b="1" kern="0" dirty="0">
                <a:solidFill>
                  <a:schemeClr val="lt1"/>
                </a:solidFill>
                <a:ea typeface="Arial Unicode MS" pitchFamily="34" charset="-128"/>
              </a:rPr>
              <a:t>(</a:t>
            </a:r>
            <a:r>
              <a:rPr lang="de-DE" sz="1800" b="1" kern="0" dirty="0" err="1">
                <a:solidFill>
                  <a:schemeClr val="lt1"/>
                </a:solidFill>
                <a:ea typeface="Arial Unicode MS" pitchFamily="34" charset="-128"/>
              </a:rPr>
              <a:t>distributed</a:t>
            </a:r>
            <a:r>
              <a:rPr lang="de-DE" sz="1800" b="1" kern="0" dirty="0">
                <a:solidFill>
                  <a:schemeClr val="lt1"/>
                </a:solidFill>
                <a:ea typeface="Arial Unicode MS" pitchFamily="34" charset="-128"/>
              </a:rPr>
              <a:t>) </a:t>
            </a:r>
            <a:r>
              <a:rPr lang="de-DE" sz="1800" b="1" kern="0" dirty="0" err="1">
                <a:solidFill>
                  <a:schemeClr val="lt1"/>
                </a:solidFill>
                <a:ea typeface="Arial Unicode MS" pitchFamily="34" charset="-128"/>
              </a:rPr>
              <a:t>key-value</a:t>
            </a:r>
            <a:r>
              <a:rPr lang="de-DE" sz="1800" b="1" kern="0" dirty="0">
                <a:solidFill>
                  <a:schemeClr val="lt1"/>
                </a:solidFill>
                <a:ea typeface="Arial Unicode MS" pitchFamily="34" charset="-128"/>
              </a:rPr>
              <a:t> </a:t>
            </a:r>
            <a:r>
              <a:rPr lang="de-DE" sz="1800" b="1" kern="0" dirty="0" err="1">
                <a:solidFill>
                  <a:schemeClr val="lt1"/>
                </a:solidFill>
                <a:ea typeface="Arial Unicode MS" pitchFamily="34" charset="-128"/>
              </a:rPr>
              <a:t>store</a:t>
            </a:r>
            <a:endParaRPr lang="de-DE" sz="1800" b="1" kern="0" dirty="0">
              <a:solidFill>
                <a:schemeClr val="lt1"/>
              </a:solidFill>
              <a:ea typeface="Arial Unicode MS" pitchFamily="34" charset="-128"/>
            </a:endParaRPr>
          </a:p>
        </p:txBody>
      </p:sp>
      <p:cxnSp>
        <p:nvCxnSpPr>
          <p:cNvPr id="25" name="Straight Arrow Connector 24"/>
          <p:cNvCxnSpPr>
            <a:cxnSpLocks/>
          </p:cNvCxnSpPr>
          <p:nvPr/>
        </p:nvCxnSpPr>
        <p:spPr>
          <a:xfrm>
            <a:off x="3592226" y="3589020"/>
            <a:ext cx="503368" cy="577637"/>
          </a:xfrm>
          <a:prstGeom prst="straightConnector1">
            <a:avLst/>
          </a:prstGeom>
          <a:ln w="57150">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bwMode="gray">
          <a:xfrm>
            <a:off x="6966962" y="2280863"/>
            <a:ext cx="4142483" cy="3350317"/>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r>
              <a:rPr lang="de-DE" sz="2400" b="1" kern="0" dirty="0">
                <a:ea typeface="Arial Unicode MS" pitchFamily="34" charset="-128"/>
                <a:cs typeface="Arial Unicode MS" pitchFamily="34" charset="-128"/>
              </a:rPr>
              <a:t>Nodes</a:t>
            </a:r>
          </a:p>
        </p:txBody>
      </p:sp>
      <p:sp>
        <p:nvSpPr>
          <p:cNvPr id="31" name="Rectangle 30"/>
          <p:cNvSpPr/>
          <p:nvPr/>
        </p:nvSpPr>
        <p:spPr bwMode="gray">
          <a:xfrm>
            <a:off x="7155812" y="3444087"/>
            <a:ext cx="3757367" cy="2114703"/>
          </a:xfrm>
          <a:prstGeom prst="rect">
            <a:avLst/>
          </a:prstGeom>
          <a:solidFill>
            <a:schemeClr val="accent1">
              <a:lumMod val="60000"/>
              <a:lumOff val="40000"/>
            </a:schemeClr>
          </a:solidFill>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b"/>
          <a:lstStyle/>
          <a:p>
            <a:pPr marR="0" algn="ctr" defTabSz="914400" eaLnBrk="1" fontAlgn="base" latinLnBrk="0" hangingPunct="1">
              <a:lnSpc>
                <a:spcPct val="100000"/>
              </a:lnSpc>
              <a:spcBef>
                <a:spcPct val="50000"/>
              </a:spcBef>
              <a:spcAft>
                <a:spcPct val="0"/>
              </a:spcAft>
              <a:buClr>
                <a:srgbClr val="F0AB00"/>
              </a:buClr>
              <a:buSzPct val="80000"/>
              <a:tabLst/>
            </a:pPr>
            <a:r>
              <a:rPr lang="de-DE" sz="2000" b="1" kern="0" dirty="0">
                <a:ea typeface="Arial Unicode MS" pitchFamily="34" charset="-128"/>
                <a:cs typeface="Arial Unicode MS" pitchFamily="34" charset="-128"/>
              </a:rPr>
              <a:t>C</a:t>
            </a:r>
            <a:r>
              <a:rPr lang="de-DE" sz="2000" b="1" kern="0" noProof="0" dirty="0" err="1">
                <a:ea typeface="Arial Unicode MS" pitchFamily="34" charset="-128"/>
                <a:cs typeface="Arial Unicode MS" pitchFamily="34" charset="-128"/>
              </a:rPr>
              <a:t>ontainer</a:t>
            </a:r>
            <a:r>
              <a:rPr lang="de-DE" sz="2000" b="1" kern="0" noProof="0" dirty="0">
                <a:ea typeface="Arial Unicode MS" pitchFamily="34" charset="-128"/>
                <a:cs typeface="Arial Unicode MS" pitchFamily="34" charset="-128"/>
              </a:rPr>
              <a:t> </a:t>
            </a:r>
            <a:r>
              <a:rPr lang="de-DE" sz="2000" b="1" kern="0" noProof="0" dirty="0" err="1">
                <a:ea typeface="Arial Unicode MS" pitchFamily="34" charset="-128"/>
                <a:cs typeface="Arial Unicode MS" pitchFamily="34" charset="-128"/>
              </a:rPr>
              <a:t>runtime</a:t>
            </a:r>
            <a:endParaRPr kumimoji="0" lang="de-DE" sz="2400" b="1" i="0" strike="noStrike" kern="0" cap="none" spc="0" normalizeH="0" baseline="0" noProof="0" dirty="0">
              <a:ln>
                <a:noFill/>
              </a:ln>
              <a:effectLst/>
              <a:uLnTx/>
              <a:uFillTx/>
              <a:ea typeface="Arial Unicode MS" pitchFamily="34" charset="-128"/>
              <a:cs typeface="Arial Unicode MS" pitchFamily="34" charset="-128"/>
            </a:endParaRPr>
          </a:p>
        </p:txBody>
      </p:sp>
      <p:sp>
        <p:nvSpPr>
          <p:cNvPr id="36" name="Rectangle 35"/>
          <p:cNvSpPr/>
          <p:nvPr/>
        </p:nvSpPr>
        <p:spPr bwMode="gray">
          <a:xfrm>
            <a:off x="9360476" y="2788712"/>
            <a:ext cx="1237682" cy="43434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kern="0" dirty="0" err="1">
                <a:ea typeface="Arial Unicode MS" pitchFamily="34" charset="-128"/>
                <a:cs typeface="Arial Unicode MS" pitchFamily="34" charset="-128"/>
              </a:rPr>
              <a:t>proxy</a:t>
            </a:r>
            <a:endParaRPr kumimoji="0" lang="de-DE" sz="160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53" name="Straight Arrow Connector 52"/>
          <p:cNvCxnSpPr>
            <a:stCxn id="32" idx="2"/>
            <a:endCxn id="34" idx="0"/>
          </p:cNvCxnSpPr>
          <p:nvPr/>
        </p:nvCxnSpPr>
        <p:spPr>
          <a:xfrm>
            <a:off x="8103349" y="3216814"/>
            <a:ext cx="19308" cy="623706"/>
          </a:xfrm>
          <a:prstGeom prst="straightConnector1">
            <a:avLst/>
          </a:prstGeom>
          <a:ln w="28575">
            <a:solidFill>
              <a:schemeClr val="accent1"/>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60" name="Straight Arrow Connector 59"/>
          <p:cNvCxnSpPr>
            <a:cxnSpLocks/>
            <a:stCxn id="32" idx="1"/>
          </p:cNvCxnSpPr>
          <p:nvPr/>
        </p:nvCxnSpPr>
        <p:spPr>
          <a:xfrm flipH="1">
            <a:off x="3544584" y="2999644"/>
            <a:ext cx="3939924" cy="20958"/>
          </a:xfrm>
          <a:prstGeom prst="straightConnector1">
            <a:avLst/>
          </a:prstGeom>
          <a:ln w="57150">
            <a:solidFill>
              <a:schemeClr val="accent1"/>
            </a:solidFill>
            <a:headEnd type="triangle" w="med" len="med"/>
            <a:tailEnd type="triangle" w="med" len="med"/>
          </a:ln>
        </p:spPr>
        <p:style>
          <a:lnRef idx="1">
            <a:schemeClr val="accent2"/>
          </a:lnRef>
          <a:fillRef idx="0">
            <a:schemeClr val="accent2"/>
          </a:fillRef>
          <a:effectRef idx="0">
            <a:schemeClr val="accent2"/>
          </a:effectRef>
          <a:fontRef idx="minor">
            <a:schemeClr val="tx1"/>
          </a:fontRef>
        </p:style>
      </p:cxnSp>
      <p:grpSp>
        <p:nvGrpSpPr>
          <p:cNvPr id="10" name="Group 9">
            <a:extLst>
              <a:ext uri="{FF2B5EF4-FFF2-40B4-BE49-F238E27FC236}">
                <a16:creationId xmlns:a16="http://schemas.microsoft.com/office/drawing/2014/main" id="{A5AD358D-3538-4139-B916-50D459A1583B}"/>
              </a:ext>
            </a:extLst>
          </p:cNvPr>
          <p:cNvGrpSpPr/>
          <p:nvPr/>
        </p:nvGrpSpPr>
        <p:grpSpPr>
          <a:xfrm>
            <a:off x="7421347" y="3639487"/>
            <a:ext cx="1402246" cy="1403553"/>
            <a:chOff x="7421347" y="3639487"/>
            <a:chExt cx="1402246" cy="1403553"/>
          </a:xfrm>
        </p:grpSpPr>
        <p:sp>
          <p:nvSpPr>
            <p:cNvPr id="34" name="Rectangle 33"/>
            <p:cNvSpPr/>
            <p:nvPr/>
          </p:nvSpPr>
          <p:spPr bwMode="gray">
            <a:xfrm>
              <a:off x="7518359" y="3840520"/>
              <a:ext cx="1208595" cy="773906"/>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b="1" kern="0" noProof="0" dirty="0">
                  <a:ea typeface="Arial Unicode MS" pitchFamily="34" charset="-128"/>
                  <a:cs typeface="Arial Unicode MS" pitchFamily="34" charset="-128"/>
                </a:rPr>
                <a:t>Container</a:t>
              </a:r>
              <a:endParaRPr kumimoji="0" lang="de-DE" sz="16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 name="Rectangle: Rounded Corners 1">
              <a:extLst>
                <a:ext uri="{FF2B5EF4-FFF2-40B4-BE49-F238E27FC236}">
                  <a16:creationId xmlns:a16="http://schemas.microsoft.com/office/drawing/2014/main" id="{2A37C6D0-F857-43F3-9FFE-BF75EF04DD52}"/>
                </a:ext>
              </a:extLst>
            </p:cNvPr>
            <p:cNvSpPr/>
            <p:nvPr/>
          </p:nvSpPr>
          <p:spPr bwMode="gray">
            <a:xfrm>
              <a:off x="7421347" y="3639487"/>
              <a:ext cx="1402246" cy="1403553"/>
            </a:xfrm>
            <a:prstGeom prst="roundRect">
              <a:avLst/>
            </a:prstGeom>
            <a:noFill/>
            <a:ln w="19050" algn="ctr">
              <a:solidFill>
                <a:schemeClr val="tx1"/>
              </a:solidFill>
              <a:prstDash val="dash"/>
              <a:miter lim="800000"/>
              <a:headEnd/>
              <a:tailEnd/>
            </a:ln>
          </p:spPr>
          <p:txBody>
            <a:bodyPr lIns="90000" tIns="72000" rIns="90000" bIns="72000" rtlCol="0" anchor="b"/>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Pod</a:t>
              </a:r>
            </a:p>
          </p:txBody>
        </p:sp>
      </p:grpSp>
      <p:sp>
        <p:nvSpPr>
          <p:cNvPr id="4" name="Rectangle 3"/>
          <p:cNvSpPr/>
          <p:nvPr/>
        </p:nvSpPr>
        <p:spPr bwMode="gray">
          <a:xfrm>
            <a:off x="1147891" y="2981732"/>
            <a:ext cx="2415540" cy="84582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1" i="0" u="none" strike="noStrike" kern="0" cap="none" spc="0" normalizeH="0" baseline="0" noProof="0" dirty="0">
                <a:ln>
                  <a:noFill/>
                </a:ln>
                <a:effectLst/>
                <a:uLnTx/>
                <a:uFillTx/>
                <a:ea typeface="Arial Unicode MS" pitchFamily="34" charset="-128"/>
                <a:cs typeface="Arial Unicode MS" pitchFamily="34" charset="-128"/>
              </a:rPr>
              <a:t>API</a:t>
            </a:r>
            <a:r>
              <a:rPr kumimoji="0" lang="de-DE" sz="1800" b="1" i="0" u="none" strike="noStrike" kern="0" cap="none" spc="0" normalizeH="0" noProof="0" dirty="0">
                <a:ln>
                  <a:noFill/>
                </a:ln>
                <a:effectLst/>
                <a:uLnTx/>
                <a:uFillTx/>
                <a:ea typeface="Arial Unicode MS" pitchFamily="34" charset="-128"/>
                <a:cs typeface="Arial Unicode MS" pitchFamily="34" charset="-128"/>
              </a:rPr>
              <a:t> Server</a:t>
            </a:r>
            <a:endParaRPr kumimoji="0" lang="de-DE" sz="1800" b="1" i="0" u="none" strike="noStrike" kern="0" cap="none" spc="0" normalizeH="0" baseline="0" noProof="0" dirty="0">
              <a:ln>
                <a:noFill/>
              </a:ln>
              <a:effectLst/>
              <a:uLnTx/>
              <a:uFillTx/>
              <a:ea typeface="Arial Unicode MS" pitchFamily="34" charset="-128"/>
              <a:cs typeface="Arial Unicode MS" pitchFamily="34" charset="-128"/>
            </a:endParaRPr>
          </a:p>
        </p:txBody>
      </p:sp>
      <p:grpSp>
        <p:nvGrpSpPr>
          <p:cNvPr id="12" name="Group 11">
            <a:extLst>
              <a:ext uri="{FF2B5EF4-FFF2-40B4-BE49-F238E27FC236}">
                <a16:creationId xmlns:a16="http://schemas.microsoft.com/office/drawing/2014/main" id="{A63AD95D-CDB3-44EB-AE2E-F2719346B22E}"/>
              </a:ext>
            </a:extLst>
          </p:cNvPr>
          <p:cNvGrpSpPr/>
          <p:nvPr/>
        </p:nvGrpSpPr>
        <p:grpSpPr>
          <a:xfrm>
            <a:off x="9292738" y="3636368"/>
            <a:ext cx="1402246" cy="1403553"/>
            <a:chOff x="9292738" y="3636368"/>
            <a:chExt cx="1402246" cy="1403553"/>
          </a:xfrm>
        </p:grpSpPr>
        <p:sp>
          <p:nvSpPr>
            <p:cNvPr id="35" name="Rectangle 34"/>
            <p:cNvSpPr/>
            <p:nvPr/>
          </p:nvSpPr>
          <p:spPr bwMode="gray">
            <a:xfrm>
              <a:off x="9375019" y="3840520"/>
              <a:ext cx="1208595" cy="773906"/>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b="1" kern="0" noProof="0" dirty="0">
                  <a:ea typeface="Arial Unicode MS" pitchFamily="34" charset="-128"/>
                  <a:cs typeface="Arial Unicode MS" pitchFamily="34" charset="-128"/>
                </a:rPr>
                <a:t>Container</a:t>
              </a:r>
              <a:endParaRPr kumimoji="0" lang="de-DE" sz="16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45" name="Rectangle: Rounded Corners 44">
              <a:extLst>
                <a:ext uri="{FF2B5EF4-FFF2-40B4-BE49-F238E27FC236}">
                  <a16:creationId xmlns:a16="http://schemas.microsoft.com/office/drawing/2014/main" id="{6A1B9FB8-E0C7-4972-AB85-18F2C06E6708}"/>
                </a:ext>
              </a:extLst>
            </p:cNvPr>
            <p:cNvSpPr/>
            <p:nvPr/>
          </p:nvSpPr>
          <p:spPr bwMode="gray">
            <a:xfrm>
              <a:off x="9292738" y="3636368"/>
              <a:ext cx="1402246" cy="1403553"/>
            </a:xfrm>
            <a:prstGeom prst="roundRect">
              <a:avLst/>
            </a:prstGeom>
            <a:noFill/>
            <a:ln w="19050" algn="ctr">
              <a:solidFill>
                <a:schemeClr val="tx1"/>
              </a:solidFill>
              <a:prstDash val="dash"/>
              <a:miter lim="800000"/>
              <a:headEnd/>
              <a:tailEnd/>
            </a:ln>
          </p:spPr>
          <p:txBody>
            <a:bodyPr lIns="90000" tIns="72000" rIns="90000" bIns="72000" rtlCol="0" anchor="b"/>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Pod</a:t>
              </a:r>
            </a:p>
          </p:txBody>
        </p:sp>
      </p:grpSp>
      <p:sp>
        <p:nvSpPr>
          <p:cNvPr id="8" name="Rectangle 7"/>
          <p:cNvSpPr/>
          <p:nvPr/>
        </p:nvSpPr>
        <p:spPr bwMode="gray">
          <a:xfrm>
            <a:off x="1255655" y="1411605"/>
            <a:ext cx="2037269" cy="43434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b="1" kern="0" noProof="0" dirty="0" err="1">
                <a:ea typeface="Arial Unicode MS" pitchFamily="34" charset="-128"/>
                <a:cs typeface="Arial Unicode MS" pitchFamily="34" charset="-128"/>
              </a:rPr>
              <a:t>kubectl</a:t>
            </a:r>
            <a:endParaRPr kumimoji="0" lang="de-DE"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9" name="Flowchart: Delay 8"/>
          <p:cNvSpPr/>
          <p:nvPr/>
        </p:nvSpPr>
        <p:spPr bwMode="gray">
          <a:xfrm rot="16200000">
            <a:off x="1067344" y="1589619"/>
            <a:ext cx="544828" cy="459313"/>
          </a:xfrm>
          <a:prstGeom prst="flowChartDelay">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5" name="Oval 4"/>
          <p:cNvSpPr/>
          <p:nvPr/>
        </p:nvSpPr>
        <p:spPr bwMode="gray">
          <a:xfrm>
            <a:off x="1188723" y="1181100"/>
            <a:ext cx="302071" cy="312420"/>
          </a:xfrm>
          <a:prstGeom prst="ellipse">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33" name="Speech Bubble: Rectangle 32">
            <a:extLst>
              <a:ext uri="{FF2B5EF4-FFF2-40B4-BE49-F238E27FC236}">
                <a16:creationId xmlns:a16="http://schemas.microsoft.com/office/drawing/2014/main" id="{073DD332-3DCC-4F94-A2B9-01BD50641268}"/>
              </a:ext>
            </a:extLst>
          </p:cNvPr>
          <p:cNvSpPr/>
          <p:nvPr/>
        </p:nvSpPr>
        <p:spPr bwMode="gray">
          <a:xfrm>
            <a:off x="3952730" y="1242609"/>
            <a:ext cx="1279079" cy="521968"/>
          </a:xfrm>
          <a:prstGeom prst="wedgeRectCallout">
            <a:avLst>
              <a:gd name="adj1" fmla="val -134620"/>
              <a:gd name="adj2" fmla="val 26138"/>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noProof="0" dirty="0">
                <a:ea typeface="Arial Unicode MS" pitchFamily="34" charset="-128"/>
                <a:cs typeface="Arial Unicode MS" pitchFamily="34" charset="-128"/>
              </a:rPr>
              <a:t>Run </a:t>
            </a:r>
            <a:r>
              <a:rPr lang="en-US" sz="1800" kern="0" noProof="0" dirty="0" err="1">
                <a:ea typeface="Arial Unicode MS" pitchFamily="34" charset="-128"/>
                <a:cs typeface="Arial Unicode MS" pitchFamily="34" charset="-128"/>
              </a:rPr>
              <a:t>nginx</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7" name="Rectangle 6"/>
          <p:cNvSpPr/>
          <p:nvPr/>
        </p:nvSpPr>
        <p:spPr bwMode="gray">
          <a:xfrm>
            <a:off x="1696531" y="4852035"/>
            <a:ext cx="2037269" cy="43434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kern="0" dirty="0">
                <a:ea typeface="Arial Unicode MS" pitchFamily="34" charset="-128"/>
                <a:cs typeface="Arial Unicode MS" pitchFamily="34" charset="-128"/>
              </a:rPr>
              <a:t>Controller Manager</a:t>
            </a:r>
            <a:endParaRPr kumimoji="0" lang="de-DE" sz="160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6" name="Rectangle 5"/>
          <p:cNvSpPr/>
          <p:nvPr/>
        </p:nvSpPr>
        <p:spPr bwMode="gray">
          <a:xfrm>
            <a:off x="736411" y="4255770"/>
            <a:ext cx="2037269" cy="43434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kern="0" dirty="0">
                <a:ea typeface="Arial Unicode MS" pitchFamily="34" charset="-128"/>
                <a:cs typeface="Arial Unicode MS" pitchFamily="34" charset="-128"/>
              </a:rPr>
              <a:t>Scheduler</a:t>
            </a:r>
            <a:endParaRPr kumimoji="0" lang="de-DE" sz="160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57" name="Straight Arrow Connector 56"/>
          <p:cNvCxnSpPr>
            <a:stCxn id="32" idx="2"/>
            <a:endCxn id="35" idx="0"/>
          </p:cNvCxnSpPr>
          <p:nvPr/>
        </p:nvCxnSpPr>
        <p:spPr>
          <a:xfrm>
            <a:off x="8103349" y="3216814"/>
            <a:ext cx="1875968" cy="623706"/>
          </a:xfrm>
          <a:prstGeom prst="straightConnector1">
            <a:avLst/>
          </a:prstGeom>
          <a:ln w="28575">
            <a:solidFill>
              <a:schemeClr val="accent1"/>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32" name="Rectangle 31"/>
          <p:cNvSpPr/>
          <p:nvPr/>
        </p:nvSpPr>
        <p:spPr bwMode="gray">
          <a:xfrm>
            <a:off x="7484508" y="2782474"/>
            <a:ext cx="1237682" cy="43434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kern="0" dirty="0" err="1">
                <a:ea typeface="Arial Unicode MS" pitchFamily="34" charset="-128"/>
                <a:cs typeface="Arial Unicode MS" pitchFamily="34" charset="-128"/>
              </a:rPr>
              <a:t>kubelet</a:t>
            </a:r>
            <a:endParaRPr kumimoji="0" lang="de-DE" sz="160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2311102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59C333-28D0-4634-874F-97F7337CB0CD}"/>
              </a:ext>
            </a:extLst>
          </p:cNvPr>
          <p:cNvSpPr>
            <a:spLocks noGrp="1"/>
          </p:cNvSpPr>
          <p:nvPr>
            <p:ph type="title"/>
          </p:nvPr>
        </p:nvSpPr>
        <p:spPr/>
        <p:txBody>
          <a:bodyPr/>
          <a:lstStyle/>
          <a:p>
            <a:r>
              <a:rPr lang="en-US" dirty="0"/>
              <a:t>What happens, when “run </a:t>
            </a:r>
            <a:r>
              <a:rPr lang="en-US" dirty="0" err="1"/>
              <a:t>nginx</a:t>
            </a:r>
            <a:r>
              <a:rPr lang="en-US" dirty="0"/>
              <a:t>” is declared?</a:t>
            </a:r>
          </a:p>
        </p:txBody>
      </p:sp>
      <p:graphicFrame>
        <p:nvGraphicFramePr>
          <p:cNvPr id="6" name="Diagram 5">
            <a:extLst>
              <a:ext uri="{FF2B5EF4-FFF2-40B4-BE49-F238E27FC236}">
                <a16:creationId xmlns:a16="http://schemas.microsoft.com/office/drawing/2014/main" id="{96400DA1-E9AF-4D54-8833-28161067C5A9}"/>
              </a:ext>
            </a:extLst>
          </p:cNvPr>
          <p:cNvGraphicFramePr/>
          <p:nvPr>
            <p:extLst>
              <p:ext uri="{D42A27DB-BD31-4B8C-83A1-F6EECF244321}">
                <p14:modId xmlns:p14="http://schemas.microsoft.com/office/powerpoint/2010/main" val="1328628864"/>
              </p:ext>
            </p:extLst>
          </p:nvPr>
        </p:nvGraphicFramePr>
        <p:xfrm>
          <a:off x="504001" y="1680752"/>
          <a:ext cx="10625553" cy="38753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8665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9B3C3558-C095-714D-B5BC-58285D1A5815}"/>
              </a:ext>
            </a:extLst>
          </p:cNvPr>
          <p:cNvSpPr>
            <a:spLocks noGrp="1"/>
          </p:cNvSpPr>
          <p:nvPr>
            <p:ph type="title"/>
          </p:nvPr>
        </p:nvSpPr>
        <p:spPr/>
        <p:txBody>
          <a:bodyPr/>
          <a:lstStyle/>
          <a:p>
            <a:r>
              <a:rPr lang="de-DE" dirty="0"/>
              <a:t>API Server</a:t>
            </a:r>
          </a:p>
        </p:txBody>
      </p:sp>
      <p:sp>
        <p:nvSpPr>
          <p:cNvPr id="9" name="Rechteck 8">
            <a:extLst>
              <a:ext uri="{FF2B5EF4-FFF2-40B4-BE49-F238E27FC236}">
                <a16:creationId xmlns:a16="http://schemas.microsoft.com/office/drawing/2014/main" id="{EABCBE22-9B04-084F-96CD-9D772E5EC758}"/>
              </a:ext>
            </a:extLst>
          </p:cNvPr>
          <p:cNvSpPr/>
          <p:nvPr/>
        </p:nvSpPr>
        <p:spPr bwMode="gray">
          <a:xfrm>
            <a:off x="922275" y="2356231"/>
            <a:ext cx="10349928" cy="1306286"/>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t"/>
          <a:lstStyle/>
          <a:p>
            <a:pPr marR="0" algn="ctr" defTabSz="914400" eaLnBrk="1" fontAlgn="base" latinLnBrk="0" hangingPunct="1">
              <a:lnSpc>
                <a:spcPct val="150000"/>
              </a:lnSpc>
              <a:spcBef>
                <a:spcPct val="50000"/>
              </a:spcBef>
              <a:spcAft>
                <a:spcPct val="0"/>
              </a:spcAft>
              <a:buClr>
                <a:srgbClr val="F0AB00"/>
              </a:buClr>
              <a:buSzPct val="80000"/>
              <a:tabLst/>
            </a:pPr>
            <a:r>
              <a:rPr kumimoji="0" lang="de-DE" sz="1800" b="1" i="0" u="none" strike="noStrike" kern="0" cap="none" spc="0" normalizeH="0" baseline="0" noProof="0" dirty="0">
                <a:ln>
                  <a:noFill/>
                </a:ln>
                <a:effectLst/>
                <a:uLnTx/>
                <a:uFillTx/>
                <a:ea typeface="Arial Unicode MS" pitchFamily="34" charset="-128"/>
                <a:cs typeface="Arial Unicode MS" pitchFamily="34" charset="-128"/>
              </a:rPr>
              <a:t>API Server</a:t>
            </a:r>
          </a:p>
        </p:txBody>
      </p:sp>
      <p:sp>
        <p:nvSpPr>
          <p:cNvPr id="10" name="Rechteck 9">
            <a:extLst>
              <a:ext uri="{FF2B5EF4-FFF2-40B4-BE49-F238E27FC236}">
                <a16:creationId xmlns:a16="http://schemas.microsoft.com/office/drawing/2014/main" id="{7F76FE9B-BFE8-F940-9B11-9902E3A988B8}"/>
              </a:ext>
            </a:extLst>
          </p:cNvPr>
          <p:cNvSpPr/>
          <p:nvPr/>
        </p:nvSpPr>
        <p:spPr bwMode="gray">
          <a:xfrm>
            <a:off x="1314994" y="2933647"/>
            <a:ext cx="2316480" cy="124532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a:ln>
                  <a:noFill/>
                </a:ln>
                <a:effectLst/>
                <a:uLnTx/>
                <a:uFillTx/>
                <a:ea typeface="Arial Unicode MS" pitchFamily="34" charset="-128"/>
                <a:cs typeface="Arial Unicode MS" pitchFamily="34" charset="-128"/>
              </a:rPr>
              <a:t>Authorization &amp; Authentication</a:t>
            </a:r>
          </a:p>
        </p:txBody>
      </p:sp>
      <p:sp>
        <p:nvSpPr>
          <p:cNvPr id="11" name="Rechteck 10">
            <a:extLst>
              <a:ext uri="{FF2B5EF4-FFF2-40B4-BE49-F238E27FC236}">
                <a16:creationId xmlns:a16="http://schemas.microsoft.com/office/drawing/2014/main" id="{300BA241-3C38-6541-A50A-EC520A6D85F5}"/>
              </a:ext>
            </a:extLst>
          </p:cNvPr>
          <p:cNvSpPr/>
          <p:nvPr/>
        </p:nvSpPr>
        <p:spPr bwMode="gray">
          <a:xfrm>
            <a:off x="3780759" y="2933647"/>
            <a:ext cx="2316480" cy="124532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dirty="0">
                <a:ln>
                  <a:noFill/>
                </a:ln>
                <a:effectLst/>
                <a:uLnTx/>
                <a:uFillTx/>
                <a:ea typeface="Arial Unicode MS" pitchFamily="34" charset="-128"/>
                <a:cs typeface="Arial Unicode MS" pitchFamily="34" charset="-128"/>
              </a:rPr>
              <a:t>RESTful interface to all resources</a:t>
            </a:r>
          </a:p>
        </p:txBody>
      </p:sp>
      <p:sp>
        <p:nvSpPr>
          <p:cNvPr id="13" name="Rechteck 12">
            <a:extLst>
              <a:ext uri="{FF2B5EF4-FFF2-40B4-BE49-F238E27FC236}">
                <a16:creationId xmlns:a16="http://schemas.microsoft.com/office/drawing/2014/main" id="{70449EEC-C01B-744D-B641-9028A470CC57}"/>
              </a:ext>
            </a:extLst>
          </p:cNvPr>
          <p:cNvSpPr/>
          <p:nvPr/>
        </p:nvSpPr>
        <p:spPr bwMode="gray">
          <a:xfrm>
            <a:off x="8713685" y="2933647"/>
            <a:ext cx="2316480" cy="124532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dirty="0">
                <a:ln>
                  <a:noFill/>
                </a:ln>
                <a:effectLst/>
                <a:uLnTx/>
                <a:uFillTx/>
                <a:ea typeface="Arial Unicode MS" pitchFamily="34" charset="-128"/>
                <a:cs typeface="Arial Unicode MS" pitchFamily="34" charset="-128"/>
              </a:rPr>
              <a:t>Extensibility / register custom resources</a:t>
            </a:r>
          </a:p>
        </p:txBody>
      </p:sp>
      <p:sp>
        <p:nvSpPr>
          <p:cNvPr id="14" name="Rechteck 13">
            <a:extLst>
              <a:ext uri="{FF2B5EF4-FFF2-40B4-BE49-F238E27FC236}">
                <a16:creationId xmlns:a16="http://schemas.microsoft.com/office/drawing/2014/main" id="{4671CF31-0C83-F74D-9F46-20BCE21968F7}"/>
              </a:ext>
            </a:extLst>
          </p:cNvPr>
          <p:cNvSpPr/>
          <p:nvPr/>
        </p:nvSpPr>
        <p:spPr bwMode="gray">
          <a:xfrm>
            <a:off x="6247222" y="2933647"/>
            <a:ext cx="2316480" cy="124532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dirty="0">
                <a:ln>
                  <a:noFill/>
                </a:ln>
                <a:effectLst/>
                <a:uLnTx/>
                <a:uFillTx/>
                <a:ea typeface="Arial Unicode MS" pitchFamily="34" charset="-128"/>
                <a:cs typeface="Arial Unicode MS" pitchFamily="34" charset="-128"/>
              </a:rPr>
              <a:t>Admission &amp; Mutation</a:t>
            </a:r>
          </a:p>
        </p:txBody>
      </p:sp>
      <p:pic>
        <p:nvPicPr>
          <p:cNvPr id="16" name="Grafik 15">
            <a:extLst>
              <a:ext uri="{FF2B5EF4-FFF2-40B4-BE49-F238E27FC236}">
                <a16:creationId xmlns:a16="http://schemas.microsoft.com/office/drawing/2014/main" id="{9FE2E5DD-FCAC-5544-A95E-1426BD60AE0A}"/>
              </a:ext>
            </a:extLst>
          </p:cNvPr>
          <p:cNvPicPr>
            <a:picLocks noChangeAspect="1"/>
          </p:cNvPicPr>
          <p:nvPr/>
        </p:nvPicPr>
        <p:blipFill>
          <a:blip r:embed="rId3"/>
          <a:stretch>
            <a:fillRect/>
          </a:stretch>
        </p:blipFill>
        <p:spPr>
          <a:xfrm>
            <a:off x="5220939" y="5132213"/>
            <a:ext cx="1752600" cy="1498600"/>
          </a:xfrm>
          <a:prstGeom prst="rect">
            <a:avLst/>
          </a:prstGeom>
        </p:spPr>
      </p:pic>
      <p:sp>
        <p:nvSpPr>
          <p:cNvPr id="17" name="Pfeil nach unten 16">
            <a:extLst>
              <a:ext uri="{FF2B5EF4-FFF2-40B4-BE49-F238E27FC236}">
                <a16:creationId xmlns:a16="http://schemas.microsoft.com/office/drawing/2014/main" id="{90E2C602-AFB1-4E40-BD19-A5BC932CE719}"/>
              </a:ext>
            </a:extLst>
          </p:cNvPr>
          <p:cNvSpPr/>
          <p:nvPr/>
        </p:nvSpPr>
        <p:spPr bwMode="gray">
          <a:xfrm>
            <a:off x="5875170" y="4333739"/>
            <a:ext cx="444137" cy="649080"/>
          </a:xfrm>
          <a:prstGeom prst="down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4" name="Grafik 3" descr="Benutzer mit einfarbiger Füllung">
            <a:extLst>
              <a:ext uri="{FF2B5EF4-FFF2-40B4-BE49-F238E27FC236}">
                <a16:creationId xmlns:a16="http://schemas.microsoft.com/office/drawing/2014/main" id="{8FBDFABB-A880-F24E-9460-1F585E865DC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81799" y="974359"/>
            <a:ext cx="914400" cy="914400"/>
          </a:xfrm>
          <a:prstGeom prst="rect">
            <a:avLst/>
          </a:prstGeom>
        </p:spPr>
      </p:pic>
      <p:pic>
        <p:nvPicPr>
          <p:cNvPr id="6" name="Grafik 5" descr="Webdesign mit einfarbiger Füllung">
            <a:extLst>
              <a:ext uri="{FF2B5EF4-FFF2-40B4-BE49-F238E27FC236}">
                <a16:creationId xmlns:a16="http://schemas.microsoft.com/office/drawing/2014/main" id="{F11A073E-07C2-614A-972E-3CC783FDBB6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798977" y="974359"/>
            <a:ext cx="914400" cy="914400"/>
          </a:xfrm>
          <a:prstGeom prst="rect">
            <a:avLst/>
          </a:prstGeom>
        </p:spPr>
      </p:pic>
      <p:cxnSp>
        <p:nvCxnSpPr>
          <p:cNvPr id="8" name="Gewinkelte Verbindung 7">
            <a:extLst>
              <a:ext uri="{FF2B5EF4-FFF2-40B4-BE49-F238E27FC236}">
                <a16:creationId xmlns:a16="http://schemas.microsoft.com/office/drawing/2014/main" id="{AD8F7F17-D4C3-9447-BF0A-62ED0726F70C}"/>
              </a:ext>
            </a:extLst>
          </p:cNvPr>
          <p:cNvCxnSpPr>
            <a:stCxn id="4" idx="3"/>
            <a:endCxn id="9" idx="0"/>
          </p:cNvCxnSpPr>
          <p:nvPr/>
        </p:nvCxnSpPr>
        <p:spPr>
          <a:xfrm>
            <a:off x="5396199" y="1431559"/>
            <a:ext cx="701040" cy="924672"/>
          </a:xfrm>
          <a:prstGeom prst="bentConnector2">
            <a:avLst/>
          </a:prstGeom>
          <a:ln w="38100">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18" name="Gewinkelte Verbindung 17">
            <a:extLst>
              <a:ext uri="{FF2B5EF4-FFF2-40B4-BE49-F238E27FC236}">
                <a16:creationId xmlns:a16="http://schemas.microsoft.com/office/drawing/2014/main" id="{6F6E005C-3B95-8244-9E3A-3D54FB17E46A}"/>
              </a:ext>
            </a:extLst>
          </p:cNvPr>
          <p:cNvCxnSpPr>
            <a:cxnSpLocks/>
            <a:stCxn id="6" idx="1"/>
            <a:endCxn id="9" idx="0"/>
          </p:cNvCxnSpPr>
          <p:nvPr/>
        </p:nvCxnSpPr>
        <p:spPr>
          <a:xfrm rot="10800000" flipV="1">
            <a:off x="6097239" y="1431559"/>
            <a:ext cx="701738" cy="924672"/>
          </a:xfrm>
          <a:prstGeom prst="bentConnector2">
            <a:avLst/>
          </a:prstGeom>
          <a:ln w="38100">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20" name="Textfeld 19">
            <a:extLst>
              <a:ext uri="{FF2B5EF4-FFF2-40B4-BE49-F238E27FC236}">
                <a16:creationId xmlns:a16="http://schemas.microsoft.com/office/drawing/2014/main" id="{17655D40-1288-4D4F-91BB-2573547648B0}"/>
              </a:ext>
            </a:extLst>
          </p:cNvPr>
          <p:cNvSpPr txBox="1"/>
          <p:nvPr/>
        </p:nvSpPr>
        <p:spPr>
          <a:xfrm>
            <a:off x="4116176" y="736947"/>
            <a:ext cx="1645645" cy="276999"/>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HTTP Verbs</a:t>
            </a:r>
          </a:p>
        </p:txBody>
      </p:sp>
      <p:sp>
        <p:nvSpPr>
          <p:cNvPr id="15" name="Textfeld 14">
            <a:extLst>
              <a:ext uri="{FF2B5EF4-FFF2-40B4-BE49-F238E27FC236}">
                <a16:creationId xmlns:a16="http://schemas.microsoft.com/office/drawing/2014/main" id="{810000F1-A82E-7D4F-A8C9-CAC362578145}"/>
              </a:ext>
            </a:extLst>
          </p:cNvPr>
          <p:cNvSpPr txBox="1"/>
          <p:nvPr/>
        </p:nvSpPr>
        <p:spPr>
          <a:xfrm>
            <a:off x="6448108" y="738291"/>
            <a:ext cx="1645645" cy="276999"/>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Watch</a:t>
            </a:r>
          </a:p>
        </p:txBody>
      </p:sp>
    </p:spTree>
    <p:extLst>
      <p:ext uri="{BB962C8B-B14F-4D97-AF65-F5344CB8AC3E}">
        <p14:creationId xmlns:p14="http://schemas.microsoft.com/office/powerpoint/2010/main" val="3782367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187B6B1-1962-F343-B945-09936343593B}"/>
              </a:ext>
            </a:extLst>
          </p:cNvPr>
          <p:cNvSpPr>
            <a:spLocks noGrp="1"/>
          </p:cNvSpPr>
          <p:nvPr>
            <p:ph type="body" sz="quarter" idx="10"/>
          </p:nvPr>
        </p:nvSpPr>
        <p:spPr>
          <a:xfrm>
            <a:off x="504000" y="1620000"/>
            <a:ext cx="11185200" cy="4230000"/>
          </a:xfrm>
        </p:spPr>
        <p:txBody>
          <a:bodyPr/>
          <a:lstStyle/>
          <a:p>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api</a:t>
            </a:r>
            <a:r>
              <a:rPr lang="en-US" b="1" dirty="0">
                <a:latin typeface="Courier New" panose="02070309020205020404" pitchFamily="49" charset="0"/>
                <a:cs typeface="Courier New" panose="02070309020205020404" pitchFamily="49" charset="0"/>
              </a:rPr>
              <a:t>/v1/</a:t>
            </a:r>
            <a:r>
              <a:rPr lang="en-US" dirty="0">
                <a:latin typeface="Courier New" panose="02070309020205020404" pitchFamily="49" charset="0"/>
                <a:cs typeface="Courier New" panose="02070309020205020404" pitchFamily="49" charset="0"/>
              </a:rPr>
              <a:t>	</a:t>
            </a:r>
            <a:r>
              <a:rPr lang="en-US" dirty="0"/>
              <a:t>		 </a:t>
            </a:r>
            <a:r>
              <a:rPr lang="en-US" dirty="0">
                <a:solidFill>
                  <a:schemeClr val="tx1">
                    <a:lumMod val="75000"/>
                  </a:schemeClr>
                </a:solidFill>
                <a:latin typeface="Courier New" panose="02070309020205020404" pitchFamily="49" charset="0"/>
                <a:cs typeface="Courier New" panose="02070309020205020404" pitchFamily="49" charset="0"/>
              </a:rPr>
              <a:t>-- core objects like pods or nodes</a:t>
            </a:r>
          </a:p>
          <a:p>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apis</a:t>
            </a:r>
            <a:r>
              <a:rPr lang="en-US" b="1" dirty="0">
                <a:latin typeface="Courier New" panose="02070309020205020404" pitchFamily="49" charset="0"/>
                <a:cs typeface="Courier New" panose="02070309020205020404" pitchFamily="49" charset="0"/>
              </a:rPr>
              <a:t>/&lt;</a:t>
            </a:r>
            <a:r>
              <a:rPr lang="en-US" b="1" dirty="0" err="1">
                <a:latin typeface="Courier New" panose="02070309020205020404" pitchFamily="49" charset="0"/>
                <a:cs typeface="Courier New" panose="02070309020205020404" pitchFamily="49" charset="0"/>
              </a:rPr>
              <a:t>apigroup</a:t>
            </a:r>
            <a:r>
              <a:rPr lang="en-US" b="1" dirty="0">
                <a:latin typeface="Courier New" panose="02070309020205020404" pitchFamily="49" charset="0"/>
                <a:cs typeface="Courier New" panose="02070309020205020404" pitchFamily="49" charset="0"/>
              </a:rPr>
              <a:t>&gt;/&lt;version&gt; </a:t>
            </a:r>
            <a:r>
              <a:rPr lang="en-US" b="1" dirty="0"/>
              <a:t>	</a:t>
            </a:r>
            <a:r>
              <a:rPr lang="en-US" dirty="0">
                <a:solidFill>
                  <a:schemeClr val="tx1">
                    <a:lumMod val="75000"/>
                  </a:schemeClr>
                </a:solidFill>
                <a:latin typeface="Courier New" panose="02070309020205020404" pitchFamily="49" charset="0"/>
                <a:cs typeface="Courier New" panose="02070309020205020404" pitchFamily="49" charset="0"/>
              </a:rPr>
              <a:t>-- added later as the API grew</a:t>
            </a:r>
          </a:p>
          <a:p>
            <a:r>
              <a:rPr lang="en-US" b="1" dirty="0">
                <a:latin typeface="Courier New" panose="02070309020205020404" pitchFamily="49" charset="0"/>
                <a:cs typeface="Courier New" panose="02070309020205020404" pitchFamily="49" charset="0"/>
              </a:rPr>
              <a:t>/.../namespaces/&lt;name&gt;/...	</a:t>
            </a:r>
            <a:r>
              <a:rPr lang="en-US" dirty="0">
                <a:latin typeface="Courier New" panose="02070309020205020404" pitchFamily="49" charset="0"/>
                <a:cs typeface="Courier New" panose="02070309020205020404" pitchFamily="49" charset="0"/>
              </a:rPr>
              <a:t>-- prefix to many resources for separation</a:t>
            </a:r>
          </a:p>
          <a:p>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api</a:t>
            </a:r>
            <a:r>
              <a:rPr lang="en-US" dirty="0">
                <a:latin typeface="Courier New" panose="02070309020205020404" pitchFamily="49" charset="0"/>
                <a:cs typeface="Courier New" panose="02070309020205020404" pitchFamily="49" charset="0"/>
              </a:rPr>
              <a:t>/v1/nodes/worker-mowz3-z1-f47b7-584d5</a:t>
            </a:r>
          </a:p>
          <a:p>
            <a:r>
              <a:rPr lang="en-US" dirty="0">
                <a:solidFill>
                  <a:schemeClr val="tx1">
                    <a:lumMod val="75000"/>
                  </a:schemeClr>
                </a:solidFill>
              </a:rPr>
              <a:t>/</a:t>
            </a:r>
            <a:r>
              <a:rPr lang="en-US" dirty="0" err="1">
                <a:solidFill>
                  <a:schemeClr val="tx1">
                    <a:lumMod val="75000"/>
                  </a:schemeClr>
                </a:solidFill>
                <a:latin typeface="Courier New" panose="02070309020205020404" pitchFamily="49" charset="0"/>
                <a:cs typeface="Courier New" panose="02070309020205020404" pitchFamily="49" charset="0"/>
              </a:rPr>
              <a:t>apis</a:t>
            </a:r>
            <a:r>
              <a:rPr lang="en-US" dirty="0">
                <a:solidFill>
                  <a:schemeClr val="tx1">
                    <a:lumMod val="75000"/>
                  </a:schemeClr>
                </a:solidFill>
                <a:latin typeface="Courier New" panose="02070309020205020404" pitchFamily="49" charset="0"/>
                <a:cs typeface="Courier New" panose="02070309020205020404" pitchFamily="49" charset="0"/>
              </a:rPr>
              <a:t>/apps/v1/namespaces/default/deployments/</a:t>
            </a:r>
            <a:r>
              <a:rPr lang="en-US" dirty="0" err="1">
                <a:solidFill>
                  <a:schemeClr val="tx1">
                    <a:lumMod val="75000"/>
                  </a:schemeClr>
                </a:solidFill>
                <a:latin typeface="Courier New" panose="02070309020205020404" pitchFamily="49" charset="0"/>
                <a:cs typeface="Courier New" panose="02070309020205020404" pitchFamily="49" charset="0"/>
              </a:rPr>
              <a:t>nginx</a:t>
            </a:r>
            <a:endParaRPr lang="en-US" dirty="0">
              <a:solidFill>
                <a:schemeClr val="tx1">
                  <a:lumMod val="75000"/>
                </a:schemeClr>
              </a:solidFill>
              <a:latin typeface="Courier New" panose="02070309020205020404" pitchFamily="49" charset="0"/>
              <a:cs typeface="Courier New" panose="02070309020205020404" pitchFamily="49" charset="0"/>
            </a:endParaRPr>
          </a:p>
          <a:p>
            <a:r>
              <a:rPr lang="en-US" dirty="0">
                <a:solidFill>
                  <a:schemeClr val="tx1">
                    <a:lumMod val="75000"/>
                  </a:schemeClr>
                </a:solidFill>
              </a:rPr>
              <a:t>/</a:t>
            </a:r>
            <a:r>
              <a:rPr lang="en-US" dirty="0" err="1">
                <a:solidFill>
                  <a:schemeClr val="tx1">
                    <a:lumMod val="75000"/>
                  </a:schemeClr>
                </a:solidFill>
                <a:latin typeface="Courier New" panose="02070309020205020404" pitchFamily="49" charset="0"/>
                <a:cs typeface="Courier New" panose="02070309020205020404" pitchFamily="49" charset="0"/>
              </a:rPr>
              <a:t>apis</a:t>
            </a:r>
            <a:r>
              <a:rPr lang="en-US" dirty="0">
                <a:solidFill>
                  <a:schemeClr val="tx1">
                    <a:lumMod val="75000"/>
                  </a:schemeClr>
                </a:solidFill>
                <a:latin typeface="Courier New" panose="02070309020205020404" pitchFamily="49" charset="0"/>
                <a:cs typeface="Courier New" panose="02070309020205020404" pitchFamily="49" charset="0"/>
              </a:rPr>
              <a:t>/apps/v1/namespaces/test/deployments/</a:t>
            </a:r>
            <a:r>
              <a:rPr lang="en-US" dirty="0" err="1">
                <a:solidFill>
                  <a:schemeClr val="tx1">
                    <a:lumMod val="75000"/>
                  </a:schemeClr>
                </a:solidFill>
                <a:latin typeface="Courier New" panose="02070309020205020404" pitchFamily="49" charset="0"/>
                <a:cs typeface="Courier New" panose="02070309020205020404" pitchFamily="49" charset="0"/>
              </a:rPr>
              <a:t>nginx</a:t>
            </a:r>
            <a:endParaRPr lang="en-US" dirty="0">
              <a:solidFill>
                <a:schemeClr val="tx1">
                  <a:lumMod val="75000"/>
                </a:schemeClr>
              </a:solidFill>
              <a:latin typeface="Courier New" panose="02070309020205020404" pitchFamily="49" charset="0"/>
              <a:cs typeface="Courier New" panose="02070309020205020404" pitchFamily="49" charset="0"/>
            </a:endParaRPr>
          </a:p>
        </p:txBody>
      </p:sp>
      <p:sp>
        <p:nvSpPr>
          <p:cNvPr id="3" name="Title 2">
            <a:extLst>
              <a:ext uri="{FF2B5EF4-FFF2-40B4-BE49-F238E27FC236}">
                <a16:creationId xmlns:a16="http://schemas.microsoft.com/office/drawing/2014/main" id="{60ADE174-6361-924B-9F5E-46A0C40DC7AB}"/>
              </a:ext>
            </a:extLst>
          </p:cNvPr>
          <p:cNvSpPr>
            <a:spLocks noGrp="1"/>
          </p:cNvSpPr>
          <p:nvPr>
            <p:ph type="title"/>
          </p:nvPr>
        </p:nvSpPr>
        <p:spPr/>
        <p:txBody>
          <a:bodyPr/>
          <a:lstStyle/>
          <a:p>
            <a:r>
              <a:rPr lang="en-US" dirty="0"/>
              <a:t>API Structure</a:t>
            </a:r>
          </a:p>
        </p:txBody>
      </p:sp>
    </p:spTree>
    <p:extLst>
      <p:ext uri="{BB962C8B-B14F-4D97-AF65-F5344CB8AC3E}">
        <p14:creationId xmlns:p14="http://schemas.microsoft.com/office/powerpoint/2010/main" val="3554825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187B6B1-1962-F343-B945-09936343593B}"/>
              </a:ext>
            </a:extLst>
          </p:cNvPr>
          <p:cNvSpPr>
            <a:spLocks noGrp="1"/>
          </p:cNvSpPr>
          <p:nvPr>
            <p:ph type="body" sz="quarter" idx="10"/>
          </p:nvPr>
        </p:nvSpPr>
        <p:spPr/>
        <p:txBody>
          <a:bodyPr/>
          <a:lstStyle/>
          <a:p>
            <a:pPr marL="2511425" indent="-2511425" defTabSz="989013">
              <a:tabLst>
                <a:tab pos="1885950" algn="l"/>
              </a:tabLst>
            </a:pPr>
            <a:r>
              <a:rPr lang="en-US" sz="2900" dirty="0"/>
              <a:t>v1</a:t>
            </a:r>
            <a:r>
              <a:rPr lang="en-US" sz="2900" b="1" dirty="0"/>
              <a:t>alpha</a:t>
            </a:r>
            <a:r>
              <a:rPr lang="en-US" sz="2900" dirty="0"/>
              <a:t>1	</a:t>
            </a:r>
            <a:r>
              <a:rPr lang="en-US" sz="2900" dirty="0">
                <a:solidFill>
                  <a:schemeClr val="tx1">
                    <a:lumMod val="75000"/>
                  </a:schemeClr>
                </a:solidFill>
              </a:rPr>
              <a:t>-- 	cluster may explode, volatile </a:t>
            </a:r>
            <a:r>
              <a:rPr lang="en-US" sz="2900" dirty="0" err="1">
                <a:solidFill>
                  <a:schemeClr val="tx1">
                    <a:lumMod val="75000"/>
                  </a:schemeClr>
                </a:solidFill>
              </a:rPr>
              <a:t>api</a:t>
            </a:r>
            <a:r>
              <a:rPr lang="en-US" sz="2900" dirty="0">
                <a:solidFill>
                  <a:schemeClr val="tx1">
                    <a:lumMod val="75000"/>
                  </a:schemeClr>
                </a:solidFill>
              </a:rPr>
              <a:t> changes expected</a:t>
            </a:r>
          </a:p>
          <a:p>
            <a:pPr marL="2511425" indent="-2511425" defTabSz="989013">
              <a:tabLst>
                <a:tab pos="1885950" algn="l"/>
              </a:tabLst>
            </a:pPr>
            <a:r>
              <a:rPr lang="en-US" sz="2900" dirty="0"/>
              <a:t>v1</a:t>
            </a:r>
            <a:r>
              <a:rPr lang="en-US" sz="2900" b="1" dirty="0"/>
              <a:t>beta</a:t>
            </a:r>
            <a:r>
              <a:rPr lang="en-US" sz="2900" dirty="0"/>
              <a:t>1	</a:t>
            </a:r>
            <a:r>
              <a:rPr lang="en-US" sz="2900" dirty="0">
                <a:solidFill>
                  <a:schemeClr val="tx1">
                    <a:lumMod val="75000"/>
                  </a:schemeClr>
                </a:solidFill>
              </a:rPr>
              <a:t>-- 	well tested and generally stable,  API semantics may still change in an incompatible fashion</a:t>
            </a:r>
          </a:p>
          <a:p>
            <a:pPr marL="2511425" indent="-2511425" defTabSz="989013">
              <a:tabLst>
                <a:tab pos="1885950" algn="l"/>
              </a:tabLst>
            </a:pPr>
            <a:r>
              <a:rPr lang="en-US" sz="2900" dirty="0"/>
              <a:t>v1	</a:t>
            </a:r>
            <a:r>
              <a:rPr lang="en-US" sz="2900" dirty="0">
                <a:solidFill>
                  <a:schemeClr val="tx1">
                    <a:lumMod val="75000"/>
                  </a:schemeClr>
                </a:solidFill>
              </a:rPr>
              <a:t>-- 	GA (general availability)</a:t>
            </a:r>
          </a:p>
        </p:txBody>
      </p:sp>
      <p:sp>
        <p:nvSpPr>
          <p:cNvPr id="3" name="Title 2">
            <a:extLst>
              <a:ext uri="{FF2B5EF4-FFF2-40B4-BE49-F238E27FC236}">
                <a16:creationId xmlns:a16="http://schemas.microsoft.com/office/drawing/2014/main" id="{60ADE174-6361-924B-9F5E-46A0C40DC7AB}"/>
              </a:ext>
            </a:extLst>
          </p:cNvPr>
          <p:cNvSpPr>
            <a:spLocks noGrp="1"/>
          </p:cNvSpPr>
          <p:nvPr>
            <p:ph type="title"/>
          </p:nvPr>
        </p:nvSpPr>
        <p:spPr/>
        <p:txBody>
          <a:bodyPr/>
          <a:lstStyle/>
          <a:p>
            <a:r>
              <a:rPr lang="en-US" dirty="0"/>
              <a:t>API Versioning</a:t>
            </a:r>
          </a:p>
        </p:txBody>
      </p:sp>
    </p:spTree>
    <p:extLst>
      <p:ext uri="{BB962C8B-B14F-4D97-AF65-F5344CB8AC3E}">
        <p14:creationId xmlns:p14="http://schemas.microsoft.com/office/powerpoint/2010/main" val="20954461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DDB6F6-F619-4F12-B174-E27E8966A003}"/>
              </a:ext>
            </a:extLst>
          </p:cNvPr>
          <p:cNvSpPr>
            <a:spLocks noGrp="1"/>
          </p:cNvSpPr>
          <p:nvPr>
            <p:ph type="title"/>
          </p:nvPr>
        </p:nvSpPr>
        <p:spPr/>
        <p:txBody>
          <a:bodyPr/>
          <a:lstStyle/>
          <a:p>
            <a:r>
              <a:rPr lang="en-US" dirty="0"/>
              <a:t>Namespaces within the training cluster</a:t>
            </a:r>
          </a:p>
        </p:txBody>
      </p:sp>
      <p:grpSp>
        <p:nvGrpSpPr>
          <p:cNvPr id="26" name="Group 25">
            <a:extLst>
              <a:ext uri="{FF2B5EF4-FFF2-40B4-BE49-F238E27FC236}">
                <a16:creationId xmlns:a16="http://schemas.microsoft.com/office/drawing/2014/main" id="{2D89BC41-3CE2-4473-8D0F-4A1798FBB7C0}"/>
              </a:ext>
            </a:extLst>
          </p:cNvPr>
          <p:cNvGrpSpPr/>
          <p:nvPr/>
        </p:nvGrpSpPr>
        <p:grpSpPr>
          <a:xfrm>
            <a:off x="877018" y="1268362"/>
            <a:ext cx="4854580" cy="1511816"/>
            <a:chOff x="513224" y="1307690"/>
            <a:chExt cx="4854580" cy="1511816"/>
          </a:xfrm>
        </p:grpSpPr>
        <p:sp>
          <p:nvSpPr>
            <p:cNvPr id="4" name="Rectangle 3">
              <a:extLst>
                <a:ext uri="{FF2B5EF4-FFF2-40B4-BE49-F238E27FC236}">
                  <a16:creationId xmlns:a16="http://schemas.microsoft.com/office/drawing/2014/main" id="{214C8442-982C-4092-A3CB-ABA185A54016}"/>
                </a:ext>
              </a:extLst>
            </p:cNvPr>
            <p:cNvSpPr/>
            <p:nvPr/>
          </p:nvSpPr>
          <p:spPr bwMode="gray">
            <a:xfrm>
              <a:off x="513224" y="1307690"/>
              <a:ext cx="4854580" cy="1511816"/>
            </a:xfrm>
            <a:prstGeom prst="rect">
              <a:avLst/>
            </a:prstGeom>
            <a:solidFill>
              <a:schemeClr val="accent1">
                <a:lumMod val="40000"/>
                <a:lumOff val="60000"/>
              </a:schemeClr>
            </a:solidFill>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b"/>
            <a:lstStyle/>
            <a:p>
              <a:pPr marR="0" defTabSz="914400" eaLnBrk="1" fontAlgn="base" latinLnBrk="0" hangingPunct="1">
                <a:lnSpc>
                  <a:spcPct val="100000"/>
                </a:lnSpc>
                <a:spcBef>
                  <a:spcPct val="50000"/>
                </a:spcBef>
                <a:spcAft>
                  <a:spcPct val="0"/>
                </a:spcAft>
                <a:buClr>
                  <a:srgbClr val="F0AB00"/>
                </a:buClr>
                <a:buSzPct val="80000"/>
                <a:tabLst/>
              </a:pPr>
              <a:r>
                <a:rPr lang="en-US" sz="2000" b="1" kern="0">
                  <a:ea typeface="Arial Unicode MS" pitchFamily="34" charset="-128"/>
                  <a:cs typeface="Arial Unicode MS" pitchFamily="34" charset="-128"/>
                </a:rPr>
                <a:t>Namespace: kube-system</a:t>
              </a:r>
              <a:endParaRPr kumimoji="0" lang="en-US" sz="2400" b="1" i="0" strike="noStrike" kern="0" cap="none" spc="0" normalizeH="0" baseline="0">
                <a:ln>
                  <a:noFill/>
                </a:ln>
                <a:effectLst/>
                <a:uLnTx/>
                <a:uFillTx/>
                <a:ea typeface="Arial Unicode MS" pitchFamily="34" charset="-128"/>
                <a:cs typeface="Arial Unicode MS" pitchFamily="34" charset="-128"/>
              </a:endParaRPr>
            </a:p>
          </p:txBody>
        </p:sp>
        <p:sp>
          <p:nvSpPr>
            <p:cNvPr id="5" name="Rectangle 4">
              <a:extLst>
                <a:ext uri="{FF2B5EF4-FFF2-40B4-BE49-F238E27FC236}">
                  <a16:creationId xmlns:a16="http://schemas.microsoft.com/office/drawing/2014/main" id="{C615211E-CF95-4F16-97DE-3F7FB2BD419F}"/>
                </a:ext>
              </a:extLst>
            </p:cNvPr>
            <p:cNvSpPr/>
            <p:nvPr/>
          </p:nvSpPr>
          <p:spPr bwMode="gray">
            <a:xfrm>
              <a:off x="915794" y="1462802"/>
              <a:ext cx="1208595" cy="80487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600" b="1" kern="0">
                  <a:ea typeface="Arial Unicode MS" pitchFamily="34" charset="-128"/>
                  <a:cs typeface="Arial Unicode MS" pitchFamily="34" charset="-128"/>
                </a:rPr>
                <a:t>DNS</a:t>
              </a:r>
              <a:endParaRPr kumimoji="0" lang="en-US" sz="1600" b="1" i="0" u="none" strike="noStrike" kern="0" cap="none" spc="0" normalizeH="0" baseline="0">
                <a:ln>
                  <a:noFill/>
                </a:ln>
                <a:effectLst/>
                <a:uLnTx/>
                <a:uFillTx/>
                <a:ea typeface="Arial Unicode MS" pitchFamily="34" charset="-128"/>
                <a:cs typeface="Arial Unicode MS" pitchFamily="34" charset="-128"/>
              </a:endParaRPr>
            </a:p>
          </p:txBody>
        </p:sp>
        <p:sp>
          <p:nvSpPr>
            <p:cNvPr id="6" name="Rectangle 5">
              <a:extLst>
                <a:ext uri="{FF2B5EF4-FFF2-40B4-BE49-F238E27FC236}">
                  <a16:creationId xmlns:a16="http://schemas.microsoft.com/office/drawing/2014/main" id="{19A99A67-3C0E-4CAC-83B2-321B8BC04CC3}"/>
                </a:ext>
              </a:extLst>
            </p:cNvPr>
            <p:cNvSpPr/>
            <p:nvPr/>
          </p:nvSpPr>
          <p:spPr bwMode="gray">
            <a:xfrm>
              <a:off x="2336217" y="1462802"/>
              <a:ext cx="1208595" cy="80487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600" b="1" i="0" u="none" strike="noStrike" kern="0" cap="none" spc="0" normalizeH="0" baseline="0" dirty="0">
                  <a:ln>
                    <a:noFill/>
                  </a:ln>
                  <a:effectLst/>
                  <a:uLnTx/>
                  <a:uFillTx/>
                  <a:ea typeface="Arial Unicode MS" pitchFamily="34" charset="-128"/>
                  <a:cs typeface="Arial Unicode MS" pitchFamily="34" charset="-128"/>
                </a:rPr>
                <a:t>Proxy</a:t>
              </a:r>
            </a:p>
          </p:txBody>
        </p:sp>
        <p:sp>
          <p:nvSpPr>
            <p:cNvPr id="7" name="Rectangle 6">
              <a:extLst>
                <a:ext uri="{FF2B5EF4-FFF2-40B4-BE49-F238E27FC236}">
                  <a16:creationId xmlns:a16="http://schemas.microsoft.com/office/drawing/2014/main" id="{C98FB8D3-99EB-414B-B671-D31C210C67F9}"/>
                </a:ext>
              </a:extLst>
            </p:cNvPr>
            <p:cNvSpPr/>
            <p:nvPr/>
          </p:nvSpPr>
          <p:spPr bwMode="gray">
            <a:xfrm>
              <a:off x="3756640" y="1462802"/>
              <a:ext cx="1208595" cy="80487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600" b="1" kern="0" dirty="0">
                  <a:ea typeface="Arial Unicode MS" pitchFamily="34" charset="-128"/>
                  <a:cs typeface="Arial Unicode MS" pitchFamily="34" charset="-128"/>
                </a:rPr>
                <a:t>Addons</a:t>
              </a:r>
              <a:endParaRPr kumimoji="0" lang="en-US" sz="1600" b="1" i="0" u="none" strike="noStrike" kern="0" cap="none" spc="0" normalizeH="0" baseline="0" dirty="0">
                <a:ln>
                  <a:noFill/>
                </a:ln>
                <a:effectLst/>
                <a:uLnTx/>
                <a:uFillTx/>
                <a:ea typeface="Arial Unicode MS" pitchFamily="34" charset="-128"/>
                <a:cs typeface="Arial Unicode MS" pitchFamily="34" charset="-128"/>
              </a:endParaRPr>
            </a:p>
          </p:txBody>
        </p:sp>
      </p:grpSp>
      <p:grpSp>
        <p:nvGrpSpPr>
          <p:cNvPr id="27" name="Group 26">
            <a:extLst>
              <a:ext uri="{FF2B5EF4-FFF2-40B4-BE49-F238E27FC236}">
                <a16:creationId xmlns:a16="http://schemas.microsoft.com/office/drawing/2014/main" id="{9AD6FDF6-0A99-415A-B245-C0C3354E20B7}"/>
              </a:ext>
            </a:extLst>
          </p:cNvPr>
          <p:cNvGrpSpPr/>
          <p:nvPr/>
        </p:nvGrpSpPr>
        <p:grpSpPr>
          <a:xfrm>
            <a:off x="867795" y="3117929"/>
            <a:ext cx="4854580" cy="1511816"/>
            <a:chOff x="504001" y="3157257"/>
            <a:chExt cx="4854580" cy="1511816"/>
          </a:xfrm>
        </p:grpSpPr>
        <p:sp>
          <p:nvSpPr>
            <p:cNvPr id="12" name="Rectangle 11">
              <a:extLst>
                <a:ext uri="{FF2B5EF4-FFF2-40B4-BE49-F238E27FC236}">
                  <a16:creationId xmlns:a16="http://schemas.microsoft.com/office/drawing/2014/main" id="{046ECA79-747B-4C07-B12A-81BF24494448}"/>
                </a:ext>
              </a:extLst>
            </p:cNvPr>
            <p:cNvSpPr/>
            <p:nvPr/>
          </p:nvSpPr>
          <p:spPr bwMode="gray">
            <a:xfrm>
              <a:off x="504001" y="3157257"/>
              <a:ext cx="4854580" cy="1511816"/>
            </a:xfrm>
            <a:prstGeom prst="rect">
              <a:avLst/>
            </a:prstGeom>
            <a:solidFill>
              <a:schemeClr val="accent1">
                <a:lumMod val="40000"/>
                <a:lumOff val="60000"/>
              </a:schemeClr>
            </a:solidFill>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b"/>
            <a:lstStyle/>
            <a:p>
              <a:pPr marR="0" defTabSz="914400" eaLnBrk="1" fontAlgn="base" latinLnBrk="0" hangingPunct="1">
                <a:lnSpc>
                  <a:spcPct val="100000"/>
                </a:lnSpc>
                <a:spcBef>
                  <a:spcPct val="50000"/>
                </a:spcBef>
                <a:spcAft>
                  <a:spcPct val="0"/>
                </a:spcAft>
                <a:buClr>
                  <a:srgbClr val="F0AB00"/>
                </a:buClr>
                <a:buSzPct val="80000"/>
                <a:tabLst/>
              </a:pPr>
              <a:r>
                <a:rPr lang="en-US" sz="2000" b="1" kern="0">
                  <a:ea typeface="Arial Unicode MS" pitchFamily="34" charset="-128"/>
                  <a:cs typeface="Arial Unicode MS" pitchFamily="34" charset="-128"/>
                </a:rPr>
                <a:t>Namespace: default</a:t>
              </a:r>
              <a:endParaRPr kumimoji="0" lang="en-US" sz="2400" b="1" i="0" strike="noStrike" kern="0" cap="none" spc="0" normalizeH="0" baseline="0">
                <a:ln>
                  <a:noFill/>
                </a:ln>
                <a:effectLst/>
                <a:uLnTx/>
                <a:uFillTx/>
                <a:ea typeface="Arial Unicode MS" pitchFamily="34" charset="-128"/>
                <a:cs typeface="Arial Unicode MS" pitchFamily="34" charset="-128"/>
              </a:endParaRPr>
            </a:p>
          </p:txBody>
        </p:sp>
        <p:sp>
          <p:nvSpPr>
            <p:cNvPr id="13" name="Rectangle 12">
              <a:extLst>
                <a:ext uri="{FF2B5EF4-FFF2-40B4-BE49-F238E27FC236}">
                  <a16:creationId xmlns:a16="http://schemas.microsoft.com/office/drawing/2014/main" id="{45D07B47-8595-4A6F-9CB0-81A05CD9BA20}"/>
                </a:ext>
              </a:extLst>
            </p:cNvPr>
            <p:cNvSpPr/>
            <p:nvPr/>
          </p:nvSpPr>
          <p:spPr bwMode="gray">
            <a:xfrm>
              <a:off x="906571" y="3312369"/>
              <a:ext cx="1208595" cy="80487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600" b="1" i="0" u="none" strike="noStrike" kern="0" cap="none" spc="0" normalizeH="0" baseline="0" dirty="0">
                  <a:ln>
                    <a:noFill/>
                  </a:ln>
                  <a:effectLst/>
                  <a:uLnTx/>
                  <a:uFillTx/>
                  <a:ea typeface="Arial Unicode MS" pitchFamily="34" charset="-128"/>
                  <a:cs typeface="Arial Unicode MS" pitchFamily="34" charset="-128"/>
                </a:rPr>
                <a:t>Demo-1</a:t>
              </a:r>
            </a:p>
          </p:txBody>
        </p:sp>
        <p:sp>
          <p:nvSpPr>
            <p:cNvPr id="14" name="Rectangle 13">
              <a:extLst>
                <a:ext uri="{FF2B5EF4-FFF2-40B4-BE49-F238E27FC236}">
                  <a16:creationId xmlns:a16="http://schemas.microsoft.com/office/drawing/2014/main" id="{E2C024BD-E75C-44D4-ACE7-22D9E0749965}"/>
                </a:ext>
              </a:extLst>
            </p:cNvPr>
            <p:cNvSpPr/>
            <p:nvPr/>
          </p:nvSpPr>
          <p:spPr bwMode="gray">
            <a:xfrm>
              <a:off x="2326994" y="3312369"/>
              <a:ext cx="1208595" cy="80487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600" b="1" i="0" u="none" strike="noStrike" kern="0" cap="none" spc="0" normalizeH="0" baseline="0" dirty="0">
                  <a:ln>
                    <a:noFill/>
                  </a:ln>
                  <a:effectLst/>
                  <a:uLnTx/>
                  <a:uFillTx/>
                  <a:ea typeface="Arial Unicode MS" pitchFamily="34" charset="-128"/>
                  <a:cs typeface="Arial Unicode MS" pitchFamily="34" charset="-128"/>
                </a:rPr>
                <a:t>Demo-2</a:t>
              </a:r>
            </a:p>
          </p:txBody>
        </p:sp>
        <p:sp>
          <p:nvSpPr>
            <p:cNvPr id="15" name="Rectangle 14">
              <a:extLst>
                <a:ext uri="{FF2B5EF4-FFF2-40B4-BE49-F238E27FC236}">
                  <a16:creationId xmlns:a16="http://schemas.microsoft.com/office/drawing/2014/main" id="{585DEF37-A4A9-4B9A-B68D-726CADD89ED0}"/>
                </a:ext>
              </a:extLst>
            </p:cNvPr>
            <p:cNvSpPr/>
            <p:nvPr/>
          </p:nvSpPr>
          <p:spPr bwMode="gray">
            <a:xfrm>
              <a:off x="3747417" y="3312369"/>
              <a:ext cx="1208595" cy="80487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600" b="1" kern="0" dirty="0">
                  <a:ea typeface="Arial Unicode MS" pitchFamily="34" charset="-128"/>
                  <a:cs typeface="Arial Unicode MS" pitchFamily="34" charset="-128"/>
                </a:rPr>
                <a:t>Demo-3</a:t>
              </a:r>
              <a:endParaRPr kumimoji="0" lang="en-US" sz="1600" b="1" i="0" u="none" strike="noStrike" kern="0" cap="none" spc="0" normalizeH="0" baseline="0" dirty="0">
                <a:ln>
                  <a:noFill/>
                </a:ln>
                <a:effectLst/>
                <a:uLnTx/>
                <a:uFillTx/>
                <a:ea typeface="Arial Unicode MS" pitchFamily="34" charset="-128"/>
                <a:cs typeface="Arial Unicode MS" pitchFamily="34" charset="-128"/>
              </a:endParaRPr>
            </a:p>
          </p:txBody>
        </p:sp>
      </p:grpSp>
      <p:grpSp>
        <p:nvGrpSpPr>
          <p:cNvPr id="28" name="Group 27">
            <a:extLst>
              <a:ext uri="{FF2B5EF4-FFF2-40B4-BE49-F238E27FC236}">
                <a16:creationId xmlns:a16="http://schemas.microsoft.com/office/drawing/2014/main" id="{21A9DF6F-0C9F-4BF4-BE99-CA60EBEC19AB}"/>
              </a:ext>
            </a:extLst>
          </p:cNvPr>
          <p:cNvGrpSpPr/>
          <p:nvPr/>
        </p:nvGrpSpPr>
        <p:grpSpPr>
          <a:xfrm>
            <a:off x="867795" y="4967496"/>
            <a:ext cx="4854580" cy="1511816"/>
            <a:chOff x="504001" y="5006824"/>
            <a:chExt cx="4854580" cy="1511816"/>
          </a:xfrm>
        </p:grpSpPr>
        <p:sp>
          <p:nvSpPr>
            <p:cNvPr id="22" name="Rectangle 21">
              <a:extLst>
                <a:ext uri="{FF2B5EF4-FFF2-40B4-BE49-F238E27FC236}">
                  <a16:creationId xmlns:a16="http://schemas.microsoft.com/office/drawing/2014/main" id="{18261F3B-6FC2-4B0B-8E20-EC982C081D66}"/>
                </a:ext>
              </a:extLst>
            </p:cNvPr>
            <p:cNvSpPr/>
            <p:nvPr/>
          </p:nvSpPr>
          <p:spPr bwMode="gray">
            <a:xfrm>
              <a:off x="504001" y="5006824"/>
              <a:ext cx="4854580" cy="1511816"/>
            </a:xfrm>
            <a:prstGeom prst="rect">
              <a:avLst/>
            </a:prstGeom>
            <a:solidFill>
              <a:schemeClr val="accent1">
                <a:lumMod val="40000"/>
                <a:lumOff val="60000"/>
              </a:schemeClr>
            </a:solidFill>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b"/>
            <a:lstStyle/>
            <a:p>
              <a:pPr defTabSz="914400" fontAlgn="base">
                <a:spcBef>
                  <a:spcPct val="50000"/>
                </a:spcBef>
                <a:spcAft>
                  <a:spcPct val="0"/>
                </a:spcAft>
                <a:buClr>
                  <a:srgbClr val="F0AB00"/>
                </a:buClr>
                <a:buSzPct val="80000"/>
              </a:pPr>
              <a:r>
                <a:rPr lang="en-US" sz="2000" b="1" kern="0" dirty="0">
                  <a:ea typeface="Arial Unicode MS" pitchFamily="34" charset="-128"/>
                  <a:cs typeface="Arial Unicode MS" pitchFamily="34" charset="-128"/>
                </a:rPr>
                <a:t>Namespace: part-00[01..n]</a:t>
              </a:r>
              <a:endParaRPr kumimoji="0" lang="en-US" sz="2400" b="1" i="0" strike="noStrike" kern="0" cap="none" spc="0" normalizeH="0" baseline="0" dirty="0">
                <a:ln>
                  <a:noFill/>
                </a:ln>
                <a:effectLst/>
                <a:uLnTx/>
                <a:uFillTx/>
                <a:ea typeface="Arial Unicode MS" pitchFamily="34" charset="-128"/>
                <a:cs typeface="Arial Unicode MS" pitchFamily="34" charset="-128"/>
              </a:endParaRPr>
            </a:p>
          </p:txBody>
        </p:sp>
        <p:sp>
          <p:nvSpPr>
            <p:cNvPr id="23" name="Rectangle 22">
              <a:extLst>
                <a:ext uri="{FF2B5EF4-FFF2-40B4-BE49-F238E27FC236}">
                  <a16:creationId xmlns:a16="http://schemas.microsoft.com/office/drawing/2014/main" id="{7D166FF2-214E-43A1-97D6-779B07BFFCF1}"/>
                </a:ext>
              </a:extLst>
            </p:cNvPr>
            <p:cNvSpPr/>
            <p:nvPr/>
          </p:nvSpPr>
          <p:spPr bwMode="gray">
            <a:xfrm>
              <a:off x="906571" y="5161936"/>
              <a:ext cx="1208595" cy="80487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600" b="1" i="0" u="none" strike="noStrike" kern="0" cap="none" spc="0" normalizeH="0" baseline="0">
                  <a:ln>
                    <a:noFill/>
                  </a:ln>
                  <a:effectLst/>
                  <a:uLnTx/>
                  <a:uFillTx/>
                  <a:ea typeface="Arial Unicode MS" pitchFamily="34" charset="-128"/>
                  <a:cs typeface="Arial Unicode MS" pitchFamily="34" charset="-128"/>
                </a:rPr>
                <a:t>workload</a:t>
              </a:r>
            </a:p>
          </p:txBody>
        </p:sp>
        <p:sp>
          <p:nvSpPr>
            <p:cNvPr id="24" name="Rectangle 23">
              <a:extLst>
                <a:ext uri="{FF2B5EF4-FFF2-40B4-BE49-F238E27FC236}">
                  <a16:creationId xmlns:a16="http://schemas.microsoft.com/office/drawing/2014/main" id="{CFF415CC-EA12-4616-ABAA-C32DD8A4FD9C}"/>
                </a:ext>
              </a:extLst>
            </p:cNvPr>
            <p:cNvSpPr/>
            <p:nvPr/>
          </p:nvSpPr>
          <p:spPr bwMode="gray">
            <a:xfrm>
              <a:off x="2326994" y="5161936"/>
              <a:ext cx="1208595" cy="80487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600" b="1" i="0" u="none" strike="noStrike" kern="0" cap="none" spc="0" normalizeH="0" baseline="0">
                  <a:ln>
                    <a:noFill/>
                  </a:ln>
                  <a:effectLst/>
                  <a:uLnTx/>
                  <a:uFillTx/>
                  <a:ea typeface="Arial Unicode MS" pitchFamily="34" charset="-128"/>
                  <a:cs typeface="Arial Unicode MS" pitchFamily="34" charset="-128"/>
                </a:rPr>
                <a:t>workload</a:t>
              </a:r>
            </a:p>
          </p:txBody>
        </p:sp>
        <p:sp>
          <p:nvSpPr>
            <p:cNvPr id="25" name="Rectangle 24">
              <a:extLst>
                <a:ext uri="{FF2B5EF4-FFF2-40B4-BE49-F238E27FC236}">
                  <a16:creationId xmlns:a16="http://schemas.microsoft.com/office/drawing/2014/main" id="{62537236-910A-4593-B7A0-16CC9CF60445}"/>
                </a:ext>
              </a:extLst>
            </p:cNvPr>
            <p:cNvSpPr/>
            <p:nvPr/>
          </p:nvSpPr>
          <p:spPr bwMode="gray">
            <a:xfrm>
              <a:off x="3747417" y="5161936"/>
              <a:ext cx="1208595" cy="80487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600" b="1" kern="0">
                  <a:ea typeface="Arial Unicode MS" pitchFamily="34" charset="-128"/>
                  <a:cs typeface="Arial Unicode MS" pitchFamily="34" charset="-128"/>
                </a:rPr>
                <a:t>workload</a:t>
              </a:r>
              <a:endParaRPr kumimoji="0" lang="en-US" sz="1600" b="1" i="0" u="none" strike="noStrike" kern="0" cap="none" spc="0" normalizeH="0" baseline="0">
                <a:ln>
                  <a:noFill/>
                </a:ln>
                <a:effectLst/>
                <a:uLnTx/>
                <a:uFillTx/>
                <a:ea typeface="Arial Unicode MS" pitchFamily="34" charset="-128"/>
                <a:cs typeface="Arial Unicode MS" pitchFamily="34" charset="-128"/>
              </a:endParaRPr>
            </a:p>
          </p:txBody>
        </p:sp>
      </p:grpSp>
      <p:sp>
        <p:nvSpPr>
          <p:cNvPr id="29" name="Speech Bubble: Rectangle 28">
            <a:extLst>
              <a:ext uri="{FF2B5EF4-FFF2-40B4-BE49-F238E27FC236}">
                <a16:creationId xmlns:a16="http://schemas.microsoft.com/office/drawing/2014/main" id="{6C29D8AD-F864-46E5-A7D1-421B29F4CAB8}"/>
              </a:ext>
            </a:extLst>
          </p:cNvPr>
          <p:cNvSpPr/>
          <p:nvPr/>
        </p:nvSpPr>
        <p:spPr bwMode="gray">
          <a:xfrm>
            <a:off x="6248401" y="1423474"/>
            <a:ext cx="5442076" cy="1041116"/>
          </a:xfrm>
          <a:prstGeom prst="wedgeRectCallout">
            <a:avLst>
              <a:gd name="adj1" fmla="val -67277"/>
              <a:gd name="adj2" fmla="val -18124"/>
            </a:avLst>
          </a:prstGeom>
          <a:solidFill>
            <a:schemeClr val="bg1"/>
          </a:solidFill>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Hosts cluster-wide components &amp; administrative workloads</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30" name="Speech Bubble: Rectangle 29">
            <a:extLst>
              <a:ext uri="{FF2B5EF4-FFF2-40B4-BE49-F238E27FC236}">
                <a16:creationId xmlns:a16="http://schemas.microsoft.com/office/drawing/2014/main" id="{A9B079EB-E00B-4FBD-BF98-0219002848EF}"/>
              </a:ext>
            </a:extLst>
          </p:cNvPr>
          <p:cNvSpPr/>
          <p:nvPr/>
        </p:nvSpPr>
        <p:spPr bwMode="gray">
          <a:xfrm>
            <a:off x="6248401" y="3273041"/>
            <a:ext cx="5442076" cy="1041116"/>
          </a:xfrm>
          <a:prstGeom prst="wedgeRectCallout">
            <a:avLst>
              <a:gd name="adj1" fmla="val -67277"/>
              <a:gd name="adj2" fmla="val -18124"/>
            </a:avLst>
          </a:prstGeom>
          <a:solidFill>
            <a:schemeClr val="bg1"/>
          </a:solidFill>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Hosts any workload and is the default target for all </a:t>
            </a: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kubectl</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 commands, if no namespace is specified.</a:t>
            </a:r>
          </a:p>
        </p:txBody>
      </p:sp>
      <p:sp>
        <p:nvSpPr>
          <p:cNvPr id="31" name="Speech Bubble: Rectangle 30">
            <a:extLst>
              <a:ext uri="{FF2B5EF4-FFF2-40B4-BE49-F238E27FC236}">
                <a16:creationId xmlns:a16="http://schemas.microsoft.com/office/drawing/2014/main" id="{A3F59E37-8DF2-404D-91F1-104A4C0C1460}"/>
              </a:ext>
            </a:extLst>
          </p:cNvPr>
          <p:cNvSpPr/>
          <p:nvPr/>
        </p:nvSpPr>
        <p:spPr bwMode="gray">
          <a:xfrm>
            <a:off x="6248401" y="5122608"/>
            <a:ext cx="5442076" cy="1041116"/>
          </a:xfrm>
          <a:prstGeom prst="wedgeRectCallout">
            <a:avLst>
              <a:gd name="adj1" fmla="val -67277"/>
              <a:gd name="adj2" fmla="val -18124"/>
            </a:avLst>
          </a:prstGeom>
          <a:solidFill>
            <a:schemeClr val="bg1"/>
          </a:solidFill>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Individual namespace per participant.</a:t>
            </a:r>
          </a:p>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Environment to run all exercises.</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825795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504000" y="1620000"/>
            <a:ext cx="6193980" cy="4230000"/>
          </a:xfrm>
        </p:spPr>
        <p:txBody>
          <a:bodyPr/>
          <a:lstStyle/>
          <a:p>
            <a:r>
              <a:rPr lang="en-US" dirty="0"/>
              <a:t>YAML: “YAML </a:t>
            </a:r>
            <a:r>
              <a:rPr lang="en-US" dirty="0" err="1"/>
              <a:t>Ain't</a:t>
            </a:r>
            <a:r>
              <a:rPr lang="en-US" dirty="0"/>
              <a:t> Markup Language”</a:t>
            </a:r>
          </a:p>
          <a:p>
            <a:pPr marL="342900" indent="-342900">
              <a:buSzPct val="100000"/>
              <a:buFont typeface="Wingdings" panose="05000000000000000000" pitchFamily="2" charset="2"/>
              <a:buChar char="§"/>
            </a:pPr>
            <a:r>
              <a:rPr lang="en-US" dirty="0"/>
              <a:t>YAML is a human friendly data serialization standard for all programming languages.</a:t>
            </a:r>
          </a:p>
          <a:p>
            <a:pPr marL="342900" indent="-342900">
              <a:buSzPct val="100000"/>
              <a:buFont typeface="Wingdings" panose="05000000000000000000" pitchFamily="2" charset="2"/>
              <a:buChar char="§"/>
            </a:pPr>
            <a:r>
              <a:rPr lang="en-US" dirty="0"/>
              <a:t>          Indentation based</a:t>
            </a:r>
          </a:p>
          <a:p>
            <a:pPr marL="342900" indent="-342900">
              <a:buSzPct val="100000"/>
              <a:buFont typeface="Wingdings" panose="05000000000000000000" pitchFamily="2" charset="2"/>
              <a:buChar char="§"/>
            </a:pPr>
            <a:r>
              <a:rPr lang="en-US" dirty="0"/>
              <a:t>Supports </a:t>
            </a:r>
            <a:r>
              <a:rPr lang="en-US" dirty="0" err="1"/>
              <a:t>key:value</a:t>
            </a:r>
            <a:r>
              <a:rPr lang="en-US" dirty="0"/>
              <a:t> maps and lists</a:t>
            </a:r>
          </a:p>
          <a:p>
            <a:pPr marL="342900" indent="-342900">
              <a:buSzPct val="100000"/>
              <a:buFont typeface="Wingdings" panose="05000000000000000000" pitchFamily="2" charset="2"/>
              <a:buChar char="§"/>
            </a:pPr>
            <a:r>
              <a:rPr lang="en-US" dirty="0"/>
              <a:t>Supports nesting - a value can also contain another </a:t>
            </a:r>
            <a:r>
              <a:rPr lang="en-US" dirty="0" err="1"/>
              <a:t>key:value</a:t>
            </a:r>
            <a:r>
              <a:rPr lang="en-US" dirty="0"/>
              <a:t> map or a list</a:t>
            </a:r>
          </a:p>
          <a:p>
            <a:endParaRPr lang="en-US" dirty="0"/>
          </a:p>
        </p:txBody>
      </p:sp>
      <p:sp>
        <p:nvSpPr>
          <p:cNvPr id="3" name="Title 2"/>
          <p:cNvSpPr>
            <a:spLocks noGrp="1"/>
          </p:cNvSpPr>
          <p:nvPr>
            <p:ph type="title"/>
          </p:nvPr>
        </p:nvSpPr>
        <p:spPr/>
        <p:txBody>
          <a:bodyPr/>
          <a:lstStyle/>
          <a:p>
            <a:r>
              <a:rPr lang="de-DE" dirty="0"/>
              <a:t>YAML</a:t>
            </a:r>
          </a:p>
        </p:txBody>
      </p:sp>
      <p:pic>
        <p:nvPicPr>
          <p:cNvPr id="5" name="Picture 4">
            <a:extLst>
              <a:ext uri="{FF2B5EF4-FFF2-40B4-BE49-F238E27FC236}">
                <a16:creationId xmlns:a16="http://schemas.microsoft.com/office/drawing/2014/main" id="{4AB17704-E39D-46CB-BEE7-FFC756CAC527}"/>
              </a:ext>
            </a:extLst>
          </p:cNvPr>
          <p:cNvPicPr>
            <a:picLocks noChangeAspect="1"/>
          </p:cNvPicPr>
          <p:nvPr/>
        </p:nvPicPr>
        <p:blipFill>
          <a:blip r:embed="rId2"/>
          <a:stretch>
            <a:fillRect/>
          </a:stretch>
        </p:blipFill>
        <p:spPr>
          <a:xfrm>
            <a:off x="7622655" y="680850"/>
            <a:ext cx="3380968" cy="5673150"/>
          </a:xfrm>
          <a:prstGeom prst="rect">
            <a:avLst/>
          </a:prstGeom>
          <a:ln>
            <a:solidFill>
              <a:schemeClr val="tx1"/>
            </a:solidFill>
          </a:ln>
        </p:spPr>
      </p:pic>
    </p:spTree>
    <p:extLst>
      <p:ext uri="{BB962C8B-B14F-4D97-AF65-F5344CB8AC3E}">
        <p14:creationId xmlns:p14="http://schemas.microsoft.com/office/powerpoint/2010/main" val="1213574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A636256-93AE-4F2E-9226-3CEC9BC6E272}"/>
              </a:ext>
            </a:extLst>
          </p:cNvPr>
          <p:cNvSpPr>
            <a:spLocks noGrp="1"/>
          </p:cNvSpPr>
          <p:nvPr>
            <p:ph type="title"/>
          </p:nvPr>
        </p:nvSpPr>
        <p:spPr/>
        <p:txBody>
          <a:bodyPr/>
          <a:lstStyle/>
          <a:p>
            <a:r>
              <a:rPr lang="en-US" dirty="0" err="1"/>
              <a:t>kubectl</a:t>
            </a:r>
            <a:r>
              <a:rPr lang="en-US" dirty="0"/>
              <a:t> basics</a:t>
            </a:r>
          </a:p>
        </p:txBody>
      </p:sp>
      <p:sp>
        <p:nvSpPr>
          <p:cNvPr id="8" name="Scroll: Vertical 7">
            <a:extLst>
              <a:ext uri="{FF2B5EF4-FFF2-40B4-BE49-F238E27FC236}">
                <a16:creationId xmlns:a16="http://schemas.microsoft.com/office/drawing/2014/main" id="{A51F1BC3-D8E8-4B4F-8FD5-85C01E65007E}"/>
              </a:ext>
            </a:extLst>
          </p:cNvPr>
          <p:cNvSpPr/>
          <p:nvPr/>
        </p:nvSpPr>
        <p:spPr bwMode="gray">
          <a:xfrm>
            <a:off x="431140" y="1902977"/>
            <a:ext cx="1645920" cy="3052046"/>
          </a:xfrm>
          <a:prstGeom prst="verticalScroll">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defTabSz="914400" eaLnBrk="1" fontAlgn="base" latinLnBrk="0" hangingPunct="1">
              <a:lnSpc>
                <a:spcPct val="100000"/>
              </a:lnSpc>
              <a:spcBef>
                <a:spcPct val="50000"/>
              </a:spcBef>
              <a:spcAft>
                <a:spcPct val="0"/>
              </a:spcAft>
              <a:buClr>
                <a:srgbClr val="F0AB00"/>
              </a:buClr>
              <a:buSzPct val="80000"/>
              <a:tabLst/>
            </a:pPr>
            <a:r>
              <a:rPr lang="en-US" sz="1400" b="1" kern="0" dirty="0" err="1">
                <a:ea typeface="Arial Unicode MS" pitchFamily="34" charset="-128"/>
                <a:cs typeface="Arial Unicode MS" pitchFamily="34" charset="-128"/>
              </a:rPr>
              <a:t>kubeConfig</a:t>
            </a:r>
            <a:endParaRPr lang="en-US" sz="1400" b="1" kern="0" dirty="0">
              <a:ea typeface="Arial Unicode MS" pitchFamily="34" charset="-128"/>
              <a:cs typeface="Arial Unicode MS" pitchFamily="34" charset="-128"/>
            </a:endParaRPr>
          </a:p>
          <a:p>
            <a:pPr marL="180975" marR="0" indent="-180975" defTabSz="914400" eaLnBrk="1" fontAlgn="base" latinLnBrk="0" hangingPunct="1">
              <a:lnSpc>
                <a:spcPct val="100000"/>
              </a:lnSpc>
              <a:spcBef>
                <a:spcPct val="50000"/>
              </a:spcBef>
              <a:spcAft>
                <a:spcPct val="0"/>
              </a:spcAft>
              <a:buClr>
                <a:srgbClr val="F0AB00"/>
              </a:buClr>
              <a:buSzPct val="80000"/>
              <a:buFont typeface="Wingdings" panose="05000000000000000000" pitchFamily="2" charset="2"/>
              <a:buChar char="§"/>
              <a:tabLst/>
            </a:pPr>
            <a:r>
              <a:rPr kumimoji="0" lang="en-US" sz="1400" b="0" i="0" u="none" strike="noStrike" kern="0" cap="none" spc="0" normalizeH="0" noProof="0" dirty="0">
                <a:ln>
                  <a:noFill/>
                </a:ln>
                <a:effectLst/>
                <a:uLnTx/>
                <a:uFillTx/>
                <a:ea typeface="Arial Unicode MS" pitchFamily="34" charset="-128"/>
                <a:cs typeface="Arial Unicode MS" pitchFamily="34" charset="-128"/>
              </a:rPr>
              <a:t>API server</a:t>
            </a:r>
          </a:p>
          <a:p>
            <a:pPr marL="180975" marR="0" indent="-180975" defTabSz="914400" eaLnBrk="1" fontAlgn="base" latinLnBrk="0" hangingPunct="1">
              <a:lnSpc>
                <a:spcPct val="100000"/>
              </a:lnSpc>
              <a:spcBef>
                <a:spcPct val="50000"/>
              </a:spcBef>
              <a:spcAft>
                <a:spcPct val="0"/>
              </a:spcAft>
              <a:buClr>
                <a:srgbClr val="F0AB00"/>
              </a:buClr>
              <a:buSzPct val="80000"/>
              <a:buFont typeface="Wingdings" panose="05000000000000000000" pitchFamily="2" charset="2"/>
              <a:buChar char="§"/>
              <a:tabLst/>
            </a:pPr>
            <a:r>
              <a:rPr lang="en-US" sz="1400" kern="0" baseline="0" dirty="0">
                <a:ea typeface="Arial Unicode MS" pitchFamily="34" charset="-128"/>
                <a:cs typeface="Arial Unicode MS" pitchFamily="34" charset="-128"/>
              </a:rPr>
              <a:t>User </a:t>
            </a:r>
          </a:p>
          <a:p>
            <a:pPr marL="180975" marR="0" indent="-180975" defTabSz="914400" eaLnBrk="1" fontAlgn="base" latinLnBrk="0" hangingPunct="1">
              <a:lnSpc>
                <a:spcPct val="100000"/>
              </a:lnSpc>
              <a:spcBef>
                <a:spcPct val="50000"/>
              </a:spcBef>
              <a:spcAft>
                <a:spcPct val="0"/>
              </a:spcAft>
              <a:buClr>
                <a:srgbClr val="F0AB00"/>
              </a:buClr>
              <a:buSzPct val="80000"/>
              <a:buFont typeface="Wingdings" panose="05000000000000000000" pitchFamily="2" charset="2"/>
              <a:buChar char="§"/>
              <a:tabLst/>
            </a:pPr>
            <a:r>
              <a:rPr kumimoji="0" lang="en-US" sz="1400" b="0" i="0" u="none" strike="noStrike" kern="0" cap="none" spc="0" normalizeH="0" noProof="0" dirty="0">
                <a:ln>
                  <a:noFill/>
                </a:ln>
                <a:effectLst/>
                <a:uLnTx/>
                <a:uFillTx/>
                <a:ea typeface="Arial Unicode MS" pitchFamily="34" charset="-128"/>
                <a:cs typeface="Arial Unicode MS" pitchFamily="34" charset="-128"/>
              </a:rPr>
              <a:t>Access token</a:t>
            </a:r>
          </a:p>
          <a:p>
            <a:pPr marL="180975" marR="0" indent="-180975" defTabSz="914400" eaLnBrk="1" fontAlgn="base" latinLnBrk="0" hangingPunct="1">
              <a:lnSpc>
                <a:spcPct val="100000"/>
              </a:lnSpc>
              <a:spcBef>
                <a:spcPct val="50000"/>
              </a:spcBef>
              <a:spcAft>
                <a:spcPct val="0"/>
              </a:spcAft>
              <a:buClr>
                <a:srgbClr val="F0AB00"/>
              </a:buClr>
              <a:buSzPct val="80000"/>
              <a:buFont typeface="Wingdings" panose="05000000000000000000" pitchFamily="2" charset="2"/>
              <a:buChar char="§"/>
              <a:tabLst/>
            </a:pPr>
            <a:r>
              <a:rPr lang="en-US" sz="1400" kern="0" baseline="0" dirty="0">
                <a:ea typeface="Arial Unicode MS" pitchFamily="34" charset="-128"/>
                <a:cs typeface="Arial Unicode MS" pitchFamily="34" charset="-128"/>
              </a:rPr>
              <a:t>Name-space</a:t>
            </a:r>
            <a:endParaRPr kumimoji="0" lang="en-US" sz="14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9" name="Rectangle: Rounded Corners 8">
            <a:extLst>
              <a:ext uri="{FF2B5EF4-FFF2-40B4-BE49-F238E27FC236}">
                <a16:creationId xmlns:a16="http://schemas.microsoft.com/office/drawing/2014/main" id="{F5CA120C-1A00-4294-A266-65888204369B}"/>
              </a:ext>
            </a:extLst>
          </p:cNvPr>
          <p:cNvSpPr/>
          <p:nvPr/>
        </p:nvSpPr>
        <p:spPr bwMode="gray">
          <a:xfrm>
            <a:off x="2586815" y="2828736"/>
            <a:ext cx="1470660" cy="1200528"/>
          </a:xfrm>
          <a:prstGeom prst="round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kubectl</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11" name="Straight Connector 10">
            <a:extLst>
              <a:ext uri="{FF2B5EF4-FFF2-40B4-BE49-F238E27FC236}">
                <a16:creationId xmlns:a16="http://schemas.microsoft.com/office/drawing/2014/main" id="{67EDED40-3297-4A2A-99F7-D72586C985BC}"/>
              </a:ext>
            </a:extLst>
          </p:cNvPr>
          <p:cNvCxnSpPr>
            <a:stCxn id="8" idx="3"/>
            <a:endCxn id="9" idx="1"/>
          </p:cNvCxnSpPr>
          <p:nvPr/>
        </p:nvCxnSpPr>
        <p:spPr>
          <a:xfrm>
            <a:off x="1871320" y="3429000"/>
            <a:ext cx="715495" cy="0"/>
          </a:xfrm>
          <a:prstGeom prst="line">
            <a:avLst/>
          </a:prstGeom>
          <a:ln w="571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8CFA8DF-1969-48CA-BA89-571A456743A9}"/>
              </a:ext>
            </a:extLst>
          </p:cNvPr>
          <p:cNvSpPr txBox="1"/>
          <p:nvPr/>
        </p:nvSpPr>
        <p:spPr>
          <a:xfrm>
            <a:off x="5006621" y="3082749"/>
            <a:ext cx="6192788" cy="692497"/>
          </a:xfrm>
          <a:prstGeom prst="rect">
            <a:avLst/>
          </a:prstGeom>
          <a:noFill/>
        </p:spPr>
        <p:txBody>
          <a:bodyPr wrap="square" lIns="0" tIns="0" rIns="0" bIns="0" rtlCol="0" anchor="ctr">
            <a:spAutoFit/>
          </a:bodyPr>
          <a:lstStyle/>
          <a:p>
            <a:pPr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 command ]        [ parameters ]        [ flags ] </a:t>
            </a:r>
          </a:p>
          <a:p>
            <a:pPr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What to do?        In detail?                How to do it?</a:t>
            </a:r>
          </a:p>
        </p:txBody>
      </p:sp>
      <p:sp>
        <p:nvSpPr>
          <p:cNvPr id="13" name="Double Bracket 12">
            <a:extLst>
              <a:ext uri="{FF2B5EF4-FFF2-40B4-BE49-F238E27FC236}">
                <a16:creationId xmlns:a16="http://schemas.microsoft.com/office/drawing/2014/main" id="{93978770-F86B-4E2D-BC19-C10F94AEBCC0}"/>
              </a:ext>
            </a:extLst>
          </p:cNvPr>
          <p:cNvSpPr/>
          <p:nvPr/>
        </p:nvSpPr>
        <p:spPr>
          <a:xfrm>
            <a:off x="4515555" y="1481665"/>
            <a:ext cx="7174921" cy="3894667"/>
          </a:xfrm>
          <a:prstGeom prst="bracketPair">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17" name="Table 17">
            <a:extLst>
              <a:ext uri="{FF2B5EF4-FFF2-40B4-BE49-F238E27FC236}">
                <a16:creationId xmlns:a16="http://schemas.microsoft.com/office/drawing/2014/main" id="{46CD75C8-E6F1-4851-A4AF-81264B3AAB90}"/>
              </a:ext>
            </a:extLst>
          </p:cNvPr>
          <p:cNvGraphicFramePr>
            <a:graphicFrameLocks noGrp="1"/>
          </p:cNvGraphicFramePr>
          <p:nvPr>
            <p:extLst>
              <p:ext uri="{D42A27DB-BD31-4B8C-83A1-F6EECF244321}">
                <p14:modId xmlns:p14="http://schemas.microsoft.com/office/powerpoint/2010/main" val="1427288884"/>
              </p:ext>
            </p:extLst>
          </p:nvPr>
        </p:nvGraphicFramePr>
        <p:xfrm>
          <a:off x="4812305" y="2687317"/>
          <a:ext cx="6581420" cy="1483360"/>
        </p:xfrm>
        <a:graphic>
          <a:graphicData uri="http://schemas.openxmlformats.org/drawingml/2006/table">
            <a:tbl>
              <a:tblPr firstRow="1" bandRow="1">
                <a:tableStyleId>{85BE263C-DBD7-4A20-BB59-AAB30ACAA65A}</a:tableStyleId>
              </a:tblPr>
              <a:tblGrid>
                <a:gridCol w="1524000">
                  <a:extLst>
                    <a:ext uri="{9D8B030D-6E8A-4147-A177-3AD203B41FA5}">
                      <a16:colId xmlns:a16="http://schemas.microsoft.com/office/drawing/2014/main" val="2376789683"/>
                    </a:ext>
                  </a:extLst>
                </a:gridCol>
                <a:gridCol w="1828800">
                  <a:extLst>
                    <a:ext uri="{9D8B030D-6E8A-4147-A177-3AD203B41FA5}">
                      <a16:colId xmlns:a16="http://schemas.microsoft.com/office/drawing/2014/main" val="1539499000"/>
                    </a:ext>
                  </a:extLst>
                </a:gridCol>
                <a:gridCol w="1930400">
                  <a:extLst>
                    <a:ext uri="{9D8B030D-6E8A-4147-A177-3AD203B41FA5}">
                      <a16:colId xmlns:a16="http://schemas.microsoft.com/office/drawing/2014/main" val="2110585463"/>
                    </a:ext>
                  </a:extLst>
                </a:gridCol>
                <a:gridCol w="1298220">
                  <a:extLst>
                    <a:ext uri="{9D8B030D-6E8A-4147-A177-3AD203B41FA5}">
                      <a16:colId xmlns:a16="http://schemas.microsoft.com/office/drawing/2014/main" val="86469874"/>
                    </a:ext>
                  </a:extLst>
                </a:gridCol>
              </a:tblGrid>
              <a:tr h="370840">
                <a:tc>
                  <a:txBody>
                    <a:bodyPr/>
                    <a:lstStyle/>
                    <a:p>
                      <a:r>
                        <a:rPr lang="en-US" sz="1600" dirty="0"/>
                        <a:t>[command]</a:t>
                      </a:r>
                    </a:p>
                  </a:txBody>
                  <a:tcPr/>
                </a:tc>
                <a:tc>
                  <a:txBody>
                    <a:bodyPr/>
                    <a:lstStyle/>
                    <a:p>
                      <a:r>
                        <a:rPr lang="en-US" sz="1600" dirty="0"/>
                        <a:t>[resource type]</a:t>
                      </a:r>
                    </a:p>
                  </a:txBody>
                  <a:tcPr/>
                </a:tc>
                <a:tc>
                  <a:txBody>
                    <a:bodyPr/>
                    <a:lstStyle/>
                    <a:p>
                      <a:r>
                        <a:rPr lang="en-US" sz="1600" dirty="0"/>
                        <a:t>[resource name]</a:t>
                      </a:r>
                    </a:p>
                  </a:txBody>
                  <a:tcPr/>
                </a:tc>
                <a:tc>
                  <a:txBody>
                    <a:bodyPr/>
                    <a:lstStyle/>
                    <a:p>
                      <a:r>
                        <a:rPr lang="en-US" sz="1600" dirty="0"/>
                        <a:t>[flags]</a:t>
                      </a:r>
                    </a:p>
                  </a:txBody>
                  <a:tcPr/>
                </a:tc>
                <a:extLst>
                  <a:ext uri="{0D108BD9-81ED-4DB2-BD59-A6C34878D82A}">
                    <a16:rowId xmlns:a16="http://schemas.microsoft.com/office/drawing/2014/main" val="4083020415"/>
                  </a:ext>
                </a:extLst>
              </a:tr>
              <a:tr h="370840">
                <a:tc>
                  <a:txBody>
                    <a:bodyPr/>
                    <a:lstStyle/>
                    <a:p>
                      <a:r>
                        <a:rPr lang="en-US" sz="1600" dirty="0"/>
                        <a:t>get</a:t>
                      </a:r>
                    </a:p>
                  </a:txBody>
                  <a:tcPr/>
                </a:tc>
                <a:tc>
                  <a:txBody>
                    <a:bodyPr/>
                    <a:lstStyle/>
                    <a:p>
                      <a:r>
                        <a:rPr lang="en-US" sz="1600" dirty="0"/>
                        <a:t>node</a:t>
                      </a:r>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978529141"/>
                  </a:ext>
                </a:extLst>
              </a:tr>
              <a:tr h="370840">
                <a:tc>
                  <a:txBody>
                    <a:bodyPr/>
                    <a:lstStyle/>
                    <a:p>
                      <a:r>
                        <a:rPr lang="en-US" sz="1600" dirty="0"/>
                        <a:t>get</a:t>
                      </a:r>
                    </a:p>
                  </a:txBody>
                  <a:tcPr/>
                </a:tc>
                <a:tc>
                  <a:txBody>
                    <a:bodyPr/>
                    <a:lstStyle/>
                    <a:p>
                      <a:r>
                        <a:rPr lang="en-US" sz="1600" dirty="0"/>
                        <a:t>node</a:t>
                      </a:r>
                    </a:p>
                  </a:txBody>
                  <a:tcPr/>
                </a:tc>
                <a:tc>
                  <a:txBody>
                    <a:bodyPr/>
                    <a:lstStyle/>
                    <a:p>
                      <a:r>
                        <a:rPr lang="en-US" sz="1600" dirty="0"/>
                        <a:t>minion-</a:t>
                      </a:r>
                      <a:r>
                        <a:rPr lang="en-US" sz="1600" dirty="0" err="1"/>
                        <a:t>xs</a:t>
                      </a:r>
                      <a:endParaRPr lang="en-US" sz="1600" dirty="0"/>
                    </a:p>
                  </a:txBody>
                  <a:tcPr/>
                </a:tc>
                <a:tc>
                  <a:txBody>
                    <a:bodyPr/>
                    <a:lstStyle/>
                    <a:p>
                      <a:endParaRPr lang="en-US" sz="1600" dirty="0"/>
                    </a:p>
                  </a:txBody>
                  <a:tcPr/>
                </a:tc>
                <a:extLst>
                  <a:ext uri="{0D108BD9-81ED-4DB2-BD59-A6C34878D82A}">
                    <a16:rowId xmlns:a16="http://schemas.microsoft.com/office/drawing/2014/main" val="3177582650"/>
                  </a:ext>
                </a:extLst>
              </a:tr>
              <a:tr h="370840">
                <a:tc>
                  <a:txBody>
                    <a:bodyPr/>
                    <a:lstStyle/>
                    <a:p>
                      <a:r>
                        <a:rPr lang="en-US" sz="1600" dirty="0"/>
                        <a:t>get</a:t>
                      </a:r>
                    </a:p>
                  </a:txBody>
                  <a:tcPr/>
                </a:tc>
                <a:tc>
                  <a:txBody>
                    <a:bodyPr/>
                    <a:lstStyle/>
                    <a:p>
                      <a:r>
                        <a:rPr lang="en-US" sz="1600" dirty="0"/>
                        <a:t>node</a:t>
                      </a:r>
                    </a:p>
                  </a:txBody>
                  <a:tcPr/>
                </a:tc>
                <a:tc>
                  <a:txBody>
                    <a:bodyPr/>
                    <a:lstStyle/>
                    <a:p>
                      <a:r>
                        <a:rPr lang="en-US" sz="1600" dirty="0"/>
                        <a:t>minion-</a:t>
                      </a:r>
                      <a:r>
                        <a:rPr lang="en-US" sz="1600" dirty="0" err="1"/>
                        <a:t>xs</a:t>
                      </a:r>
                      <a:endParaRPr lang="en-US" sz="1600" dirty="0"/>
                    </a:p>
                  </a:txBody>
                  <a:tcPr/>
                </a:tc>
                <a:tc>
                  <a:txBody>
                    <a:bodyPr/>
                    <a:lstStyle/>
                    <a:p>
                      <a:r>
                        <a:rPr lang="en-US" sz="1600" dirty="0"/>
                        <a:t>-o wide</a:t>
                      </a:r>
                    </a:p>
                  </a:txBody>
                  <a:tcPr/>
                </a:tc>
                <a:extLst>
                  <a:ext uri="{0D108BD9-81ED-4DB2-BD59-A6C34878D82A}">
                    <a16:rowId xmlns:a16="http://schemas.microsoft.com/office/drawing/2014/main" val="1781210733"/>
                  </a:ext>
                </a:extLst>
              </a:tr>
            </a:tbl>
          </a:graphicData>
        </a:graphic>
      </p:graphicFrame>
      <p:sp>
        <p:nvSpPr>
          <p:cNvPr id="19" name="Rectangle 18">
            <a:extLst>
              <a:ext uri="{FF2B5EF4-FFF2-40B4-BE49-F238E27FC236}">
                <a16:creationId xmlns:a16="http://schemas.microsoft.com/office/drawing/2014/main" id="{80F426CA-42E8-4EC7-A504-29D1A8F70258}"/>
              </a:ext>
            </a:extLst>
          </p:cNvPr>
          <p:cNvSpPr/>
          <p:nvPr/>
        </p:nvSpPr>
        <p:spPr>
          <a:xfrm>
            <a:off x="1071238" y="5994690"/>
            <a:ext cx="10052001" cy="415498"/>
          </a:xfrm>
          <a:prstGeom prst="rect">
            <a:avLst/>
          </a:prstGeom>
        </p:spPr>
        <p:txBody>
          <a:bodyPr wrap="square">
            <a:spAutoFit/>
          </a:bodyPr>
          <a:lstStyle/>
          <a:p>
            <a:pPr algn="ctr"/>
            <a:r>
              <a:rPr lang="de-DE" dirty="0">
                <a:hlinkClick r:id="rId3"/>
              </a:rPr>
              <a:t>https://kubernetes.io/docs/reference/generated/kubectl/kubectl-commands#</a:t>
            </a:r>
            <a:endParaRPr lang="en-US" dirty="0"/>
          </a:p>
        </p:txBody>
      </p:sp>
    </p:spTree>
    <p:extLst>
      <p:ext uri="{BB962C8B-B14F-4D97-AF65-F5344CB8AC3E}">
        <p14:creationId xmlns:p14="http://schemas.microsoft.com/office/powerpoint/2010/main" val="2248210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Infrastructure for this training</a:t>
            </a:r>
          </a:p>
        </p:txBody>
      </p:sp>
      <p:grpSp>
        <p:nvGrpSpPr>
          <p:cNvPr id="7" name="Group 6"/>
          <p:cNvGrpSpPr/>
          <p:nvPr/>
        </p:nvGrpSpPr>
        <p:grpSpPr>
          <a:xfrm>
            <a:off x="417324" y="1836420"/>
            <a:ext cx="3854639" cy="4091940"/>
            <a:chOff x="404941" y="2331720"/>
            <a:chExt cx="3854639" cy="3688080"/>
          </a:xfrm>
        </p:grpSpPr>
        <p:sp>
          <p:nvSpPr>
            <p:cNvPr id="4" name="Rectangle 3"/>
            <p:cNvSpPr/>
            <p:nvPr/>
          </p:nvSpPr>
          <p:spPr bwMode="gray">
            <a:xfrm>
              <a:off x="404941" y="2331720"/>
              <a:ext cx="3854639" cy="368808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lang="de-DE" sz="2400" b="1" kern="0" dirty="0" err="1">
                  <a:ea typeface="Arial Unicode MS" pitchFamily="34" charset="-128"/>
                  <a:cs typeface="Arial Unicode MS" pitchFamily="34" charset="-128"/>
                </a:rPr>
                <a:t>local</a:t>
              </a:r>
              <a:r>
                <a:rPr lang="de-DE" sz="2400" b="1" kern="0" dirty="0">
                  <a:ea typeface="Arial Unicode MS" pitchFamily="34" charset="-128"/>
                  <a:cs typeface="Arial Unicode MS" pitchFamily="34" charset="-128"/>
                </a:rPr>
                <a:t> </a:t>
              </a:r>
              <a:r>
                <a:rPr lang="de-DE" sz="2400" b="1" kern="0" dirty="0" err="1">
                  <a:ea typeface="Arial Unicode MS" pitchFamily="34" charset="-128"/>
                  <a:cs typeface="Arial Unicode MS" pitchFamily="34" charset="-128"/>
                </a:rPr>
                <a:t>participant</a:t>
              </a:r>
              <a:r>
                <a:rPr lang="de-DE" sz="2400" b="1" kern="0" dirty="0">
                  <a:ea typeface="Arial Unicode MS" pitchFamily="34" charset="-128"/>
                  <a:cs typeface="Arial Unicode MS" pitchFamily="34" charset="-128"/>
                </a:rPr>
                <a:t> VM</a:t>
              </a:r>
              <a:endParaRPr kumimoji="0" lang="de-DE" sz="2400" b="1" i="0" strike="noStrike" kern="0" cap="none" spc="0" normalizeH="0" baseline="0" noProof="0" dirty="0">
                <a:ln>
                  <a:noFill/>
                </a:ln>
                <a:effectLst/>
                <a:uLnTx/>
                <a:uFillTx/>
                <a:ea typeface="Arial Unicode MS" pitchFamily="34" charset="-128"/>
                <a:cs typeface="Arial Unicode MS" pitchFamily="34" charset="-128"/>
              </a:endParaRPr>
            </a:p>
          </p:txBody>
        </p:sp>
        <p:sp>
          <p:nvSpPr>
            <p:cNvPr id="5" name="Scroll: Vertical 4"/>
            <p:cNvSpPr/>
            <p:nvPr/>
          </p:nvSpPr>
          <p:spPr bwMode="gray">
            <a:xfrm>
              <a:off x="563880" y="2987040"/>
              <a:ext cx="1645920" cy="2750820"/>
            </a:xfrm>
            <a:prstGeom prst="verticalScroll">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defTabSz="914400" eaLnBrk="1" fontAlgn="base" latinLnBrk="0" hangingPunct="1">
                <a:lnSpc>
                  <a:spcPct val="100000"/>
                </a:lnSpc>
                <a:spcBef>
                  <a:spcPct val="50000"/>
                </a:spcBef>
                <a:spcAft>
                  <a:spcPct val="0"/>
                </a:spcAft>
                <a:buClr>
                  <a:srgbClr val="F0AB00"/>
                </a:buClr>
                <a:buSzPct val="80000"/>
                <a:tabLst/>
              </a:pPr>
              <a:r>
                <a:rPr lang="en-US" sz="1400" b="1" kern="0" dirty="0">
                  <a:ea typeface="Arial Unicode MS" pitchFamily="34" charset="-128"/>
                  <a:cs typeface="Arial Unicode MS" pitchFamily="34" charset="-128"/>
                </a:rPr>
                <a:t>.</a:t>
              </a:r>
              <a:r>
                <a:rPr lang="en-US" sz="1400" b="1" kern="0" dirty="0" err="1">
                  <a:ea typeface="Arial Unicode MS" pitchFamily="34" charset="-128"/>
                  <a:cs typeface="Arial Unicode MS" pitchFamily="34" charset="-128"/>
                </a:rPr>
                <a:t>kube</a:t>
              </a:r>
              <a:r>
                <a:rPr lang="en-US" sz="1400" b="1" kern="0" dirty="0">
                  <a:ea typeface="Arial Unicode MS" pitchFamily="34" charset="-128"/>
                  <a:cs typeface="Arial Unicode MS" pitchFamily="34" charset="-128"/>
                </a:rPr>
                <a:t>/config</a:t>
              </a:r>
            </a:p>
            <a:p>
              <a:pPr marL="180975" marR="0" indent="-180975" defTabSz="914400" eaLnBrk="1" fontAlgn="base" latinLnBrk="0" hangingPunct="1">
                <a:lnSpc>
                  <a:spcPct val="100000"/>
                </a:lnSpc>
                <a:spcBef>
                  <a:spcPct val="50000"/>
                </a:spcBef>
                <a:spcAft>
                  <a:spcPct val="0"/>
                </a:spcAft>
                <a:buClr>
                  <a:srgbClr val="F0AB00"/>
                </a:buClr>
                <a:buSzPct val="80000"/>
                <a:buFont typeface="Wingdings" panose="05000000000000000000" pitchFamily="2" charset="2"/>
                <a:buChar char="§"/>
                <a:tabLst/>
              </a:pPr>
              <a:r>
                <a:rPr kumimoji="0" lang="en-US" sz="1400" b="0" i="0" u="none" strike="noStrike" kern="0" cap="none" spc="0" normalizeH="0" noProof="0" dirty="0">
                  <a:ln>
                    <a:noFill/>
                  </a:ln>
                  <a:effectLst/>
                  <a:uLnTx/>
                  <a:uFillTx/>
                  <a:ea typeface="Arial Unicode MS" pitchFamily="34" charset="-128"/>
                  <a:cs typeface="Arial Unicode MS" pitchFamily="34" charset="-128"/>
                </a:rPr>
                <a:t>API server</a:t>
              </a:r>
            </a:p>
            <a:p>
              <a:pPr marL="180975" marR="0" indent="-180975" defTabSz="914400" eaLnBrk="1" fontAlgn="base" latinLnBrk="0" hangingPunct="1">
                <a:lnSpc>
                  <a:spcPct val="100000"/>
                </a:lnSpc>
                <a:spcBef>
                  <a:spcPct val="50000"/>
                </a:spcBef>
                <a:spcAft>
                  <a:spcPct val="0"/>
                </a:spcAft>
                <a:buClr>
                  <a:srgbClr val="F0AB00"/>
                </a:buClr>
                <a:buSzPct val="80000"/>
                <a:buFont typeface="Wingdings" panose="05000000000000000000" pitchFamily="2" charset="2"/>
                <a:buChar char="§"/>
                <a:tabLst/>
              </a:pPr>
              <a:r>
                <a:rPr lang="en-US" sz="1400" kern="0" baseline="0" dirty="0">
                  <a:ea typeface="Arial Unicode MS" pitchFamily="34" charset="-128"/>
                  <a:cs typeface="Arial Unicode MS" pitchFamily="34" charset="-128"/>
                </a:rPr>
                <a:t>User </a:t>
              </a:r>
            </a:p>
            <a:p>
              <a:pPr marL="180975" marR="0" indent="-180975" defTabSz="914400" eaLnBrk="1" fontAlgn="base" latinLnBrk="0" hangingPunct="1">
                <a:lnSpc>
                  <a:spcPct val="100000"/>
                </a:lnSpc>
                <a:spcBef>
                  <a:spcPct val="50000"/>
                </a:spcBef>
                <a:spcAft>
                  <a:spcPct val="0"/>
                </a:spcAft>
                <a:buClr>
                  <a:srgbClr val="F0AB00"/>
                </a:buClr>
                <a:buSzPct val="80000"/>
                <a:buFont typeface="Wingdings" panose="05000000000000000000" pitchFamily="2" charset="2"/>
                <a:buChar char="§"/>
                <a:tabLst/>
              </a:pPr>
              <a:r>
                <a:rPr kumimoji="0" lang="en-US" sz="1400" b="0" i="0" u="none" strike="noStrike" kern="0" cap="none" spc="0" normalizeH="0" noProof="0" dirty="0">
                  <a:ln>
                    <a:noFill/>
                  </a:ln>
                  <a:effectLst/>
                  <a:uLnTx/>
                  <a:uFillTx/>
                  <a:ea typeface="Arial Unicode MS" pitchFamily="34" charset="-128"/>
                  <a:cs typeface="Arial Unicode MS" pitchFamily="34" charset="-128"/>
                </a:rPr>
                <a:t>Access token</a:t>
              </a:r>
            </a:p>
            <a:p>
              <a:pPr marL="180975" marR="0" indent="-180975" defTabSz="914400" eaLnBrk="1" fontAlgn="base" latinLnBrk="0" hangingPunct="1">
                <a:lnSpc>
                  <a:spcPct val="100000"/>
                </a:lnSpc>
                <a:spcBef>
                  <a:spcPct val="50000"/>
                </a:spcBef>
                <a:spcAft>
                  <a:spcPct val="0"/>
                </a:spcAft>
                <a:buClr>
                  <a:srgbClr val="F0AB00"/>
                </a:buClr>
                <a:buSzPct val="80000"/>
                <a:buFont typeface="Wingdings" panose="05000000000000000000" pitchFamily="2" charset="2"/>
                <a:buChar char="§"/>
                <a:tabLst/>
              </a:pPr>
              <a:r>
                <a:rPr lang="en-US" sz="1400" kern="0" baseline="0" dirty="0">
                  <a:ea typeface="Arial Unicode MS" pitchFamily="34" charset="-128"/>
                  <a:cs typeface="Arial Unicode MS" pitchFamily="34" charset="-128"/>
                </a:rPr>
                <a:t>Name-space</a:t>
              </a:r>
              <a:endParaRPr kumimoji="0" lang="en-US" sz="14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6" name="Rectangle: Rounded Corners 5"/>
            <p:cNvSpPr/>
            <p:nvPr/>
          </p:nvSpPr>
          <p:spPr bwMode="gray">
            <a:xfrm>
              <a:off x="2484120" y="3673245"/>
              <a:ext cx="1470660" cy="1082040"/>
            </a:xfrm>
            <a:prstGeom prst="round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kubectl</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grpSp>
      <p:cxnSp>
        <p:nvCxnSpPr>
          <p:cNvPr id="9" name="Straight Connector 8"/>
          <p:cNvCxnSpPr/>
          <p:nvPr/>
        </p:nvCxnSpPr>
        <p:spPr>
          <a:xfrm>
            <a:off x="4968240" y="1546860"/>
            <a:ext cx="30480" cy="5173980"/>
          </a:xfrm>
          <a:prstGeom prst="line">
            <a:avLst/>
          </a:prstGeom>
          <a:ln w="57150">
            <a:prstDash val="dash"/>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16" name="Rectangle 15"/>
          <p:cNvSpPr/>
          <p:nvPr/>
        </p:nvSpPr>
        <p:spPr bwMode="gray">
          <a:xfrm>
            <a:off x="5338891" y="1744980"/>
            <a:ext cx="6497447" cy="4762500"/>
          </a:xfrm>
          <a:prstGeom prst="rect">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lang="de-DE" sz="2400" kern="0" dirty="0">
                <a:ln w="0"/>
                <a:solidFill>
                  <a:schemeClr val="tx1"/>
                </a:solidFill>
                <a:effectLst>
                  <a:outerShdw blurRad="38100" dist="19050" dir="2700000" algn="tl" rotWithShape="0">
                    <a:schemeClr val="dk1">
                      <a:alpha val="40000"/>
                    </a:schemeClr>
                  </a:outerShdw>
                </a:effectLst>
                <a:ea typeface="Arial Unicode MS" pitchFamily="34" charset="-128"/>
                <a:cs typeface="Arial Unicode MS" pitchFamily="34" charset="-128"/>
              </a:rPr>
              <a:t>K8s-training </a:t>
            </a:r>
            <a:r>
              <a:rPr lang="de-DE" sz="2400" kern="0" dirty="0" err="1">
                <a:ln w="0"/>
                <a:solidFill>
                  <a:schemeClr val="tx1"/>
                </a:solidFill>
                <a:effectLst>
                  <a:outerShdw blurRad="38100" dist="19050" dir="2700000" algn="tl" rotWithShape="0">
                    <a:schemeClr val="dk1">
                      <a:alpha val="40000"/>
                    </a:schemeClr>
                  </a:outerShdw>
                </a:effectLst>
                <a:ea typeface="Arial Unicode MS" pitchFamily="34" charset="-128"/>
                <a:cs typeface="Arial Unicode MS" pitchFamily="34" charset="-128"/>
              </a:rPr>
              <a:t>cluster</a:t>
            </a:r>
            <a:endParaRPr kumimoji="0" lang="de-DE" sz="2400" i="0" strike="noStrike" kern="0" normalizeH="0" baseline="0" noProof="0" dirty="0">
              <a:ln w="0"/>
              <a:solidFill>
                <a:schemeClr val="tx1"/>
              </a:solidFill>
              <a:effectLst>
                <a:outerShdw blurRad="38100" dist="19050" dir="2700000" algn="tl" rotWithShape="0">
                  <a:schemeClr val="dk1">
                    <a:alpha val="40000"/>
                  </a:schemeClr>
                </a:outerShdw>
              </a:effectLst>
              <a:uLnTx/>
              <a:uFillTx/>
              <a:ea typeface="Arial Unicode MS" pitchFamily="34" charset="-128"/>
              <a:cs typeface="Arial Unicode MS" pitchFamily="34" charset="-128"/>
            </a:endParaRPr>
          </a:p>
        </p:txBody>
      </p:sp>
      <p:sp>
        <p:nvSpPr>
          <p:cNvPr id="19" name="Rectangle 18"/>
          <p:cNvSpPr/>
          <p:nvPr/>
        </p:nvSpPr>
        <p:spPr bwMode="gray">
          <a:xfrm>
            <a:off x="8890352" y="2540137"/>
            <a:ext cx="2724717" cy="2015489"/>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endParaRPr lang="de-DE" sz="1400" b="1" kern="0" dirty="0">
              <a:ea typeface="Arial Unicode MS" pitchFamily="34" charset="-128"/>
              <a:cs typeface="Arial Unicode MS" pitchFamily="34" charset="-128"/>
            </a:endParaRPr>
          </a:p>
        </p:txBody>
      </p:sp>
      <p:sp>
        <p:nvSpPr>
          <p:cNvPr id="20" name="Rectangle 19"/>
          <p:cNvSpPr/>
          <p:nvPr/>
        </p:nvSpPr>
        <p:spPr bwMode="gray">
          <a:xfrm>
            <a:off x="8791291" y="2756956"/>
            <a:ext cx="2724717" cy="2015489"/>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endParaRPr lang="de-DE" sz="1400" b="1" kern="0" dirty="0">
              <a:ea typeface="Arial Unicode MS" pitchFamily="34" charset="-128"/>
              <a:cs typeface="Arial Unicode MS" pitchFamily="34" charset="-128"/>
            </a:endParaRPr>
          </a:p>
        </p:txBody>
      </p:sp>
      <p:sp>
        <p:nvSpPr>
          <p:cNvPr id="21" name="Rectangle 20"/>
          <p:cNvSpPr/>
          <p:nvPr/>
        </p:nvSpPr>
        <p:spPr bwMode="gray">
          <a:xfrm>
            <a:off x="5768587" y="3105075"/>
            <a:ext cx="2392755" cy="1635766"/>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r>
              <a:rPr lang="de-DE" sz="1400" b="1" kern="0" dirty="0">
                <a:ea typeface="Arial Unicode MS" pitchFamily="34" charset="-128"/>
                <a:cs typeface="Arial Unicode MS" pitchFamily="34" charset="-128"/>
              </a:rPr>
              <a:t>Control Plane</a:t>
            </a:r>
          </a:p>
        </p:txBody>
      </p:sp>
      <p:sp>
        <p:nvSpPr>
          <p:cNvPr id="22" name="Rectangle 21"/>
          <p:cNvSpPr/>
          <p:nvPr/>
        </p:nvSpPr>
        <p:spPr bwMode="gray">
          <a:xfrm>
            <a:off x="6258465" y="3697498"/>
            <a:ext cx="1336229" cy="453581"/>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600" b="1" i="0" u="none" strike="noStrike" kern="0" cap="none" spc="0" normalizeH="0" baseline="0" noProof="0" dirty="0">
                <a:ln>
                  <a:noFill/>
                </a:ln>
                <a:effectLst/>
                <a:uLnTx/>
                <a:uFillTx/>
                <a:ea typeface="Arial Unicode MS" pitchFamily="34" charset="-128"/>
                <a:cs typeface="Arial Unicode MS" pitchFamily="34" charset="-128"/>
              </a:rPr>
              <a:t>API</a:t>
            </a:r>
            <a:r>
              <a:rPr kumimoji="0" lang="de-DE" sz="1600" b="1" i="0" u="none" strike="noStrike" kern="0" cap="none" spc="0" normalizeH="0" noProof="0" dirty="0">
                <a:ln>
                  <a:noFill/>
                </a:ln>
                <a:effectLst/>
                <a:uLnTx/>
                <a:uFillTx/>
                <a:ea typeface="Arial Unicode MS" pitchFamily="34" charset="-128"/>
                <a:cs typeface="Arial Unicode MS" pitchFamily="34" charset="-128"/>
              </a:rPr>
              <a:t> Server</a:t>
            </a:r>
            <a:endParaRPr kumimoji="0" lang="de-DE" sz="16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31" name="Rectangle 30"/>
          <p:cNvSpPr/>
          <p:nvPr/>
        </p:nvSpPr>
        <p:spPr bwMode="gray">
          <a:xfrm>
            <a:off x="6156960" y="5356744"/>
            <a:ext cx="1575643" cy="918462"/>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1" i="0" strike="noStrike" kern="0" cap="none" spc="0" normalizeH="0" baseline="0" noProof="0" dirty="0" err="1">
                <a:ln>
                  <a:noFill/>
                </a:ln>
                <a:effectLst/>
                <a:uLnTx/>
                <a:uFillTx/>
                <a:ea typeface="Arial Unicode MS" pitchFamily="34" charset="-128"/>
                <a:cs typeface="Arial Unicode MS" pitchFamily="34" charset="-128"/>
              </a:rPr>
              <a:t>etcd</a:t>
            </a:r>
            <a:endParaRPr kumimoji="0" lang="de-DE" sz="1800" b="1" i="0" strike="noStrike" kern="0" cap="none" spc="0" normalizeH="0" baseline="0" noProof="0" dirty="0">
              <a:ln>
                <a:noFill/>
              </a:ln>
              <a:effectLst/>
              <a:uLnTx/>
              <a:uFillTx/>
              <a:ea typeface="Arial Unicode MS" pitchFamily="34" charset="-128"/>
              <a:cs typeface="Arial Unicode MS" pitchFamily="34" charset="-128"/>
            </a:endParaRPr>
          </a:p>
          <a:p>
            <a:pPr marR="0" algn="ctr" defTabSz="914400" eaLnBrk="1" fontAlgn="base" latinLnBrk="0" hangingPunct="1">
              <a:lnSpc>
                <a:spcPct val="100000"/>
              </a:lnSpc>
              <a:spcBef>
                <a:spcPct val="50000"/>
              </a:spcBef>
              <a:spcAft>
                <a:spcPct val="0"/>
              </a:spcAft>
              <a:buClr>
                <a:srgbClr val="F0AB00"/>
              </a:buClr>
              <a:buSzPct val="80000"/>
              <a:tabLst/>
            </a:pPr>
            <a:r>
              <a:rPr lang="de-DE" sz="1100" b="1" kern="0" dirty="0">
                <a:ea typeface="Arial Unicode MS" pitchFamily="34" charset="-128"/>
                <a:cs typeface="Arial Unicode MS" pitchFamily="34" charset="-128"/>
              </a:rPr>
              <a:t>(</a:t>
            </a:r>
            <a:r>
              <a:rPr lang="de-DE" sz="1100" b="1" kern="0" dirty="0" err="1">
                <a:ea typeface="Arial Unicode MS" pitchFamily="34" charset="-128"/>
                <a:cs typeface="Arial Unicode MS" pitchFamily="34" charset="-128"/>
              </a:rPr>
              <a:t>distributed</a:t>
            </a:r>
            <a:r>
              <a:rPr lang="de-DE" sz="1100" b="1" kern="0" dirty="0">
                <a:ea typeface="Arial Unicode MS" pitchFamily="34" charset="-128"/>
                <a:cs typeface="Arial Unicode MS" pitchFamily="34" charset="-128"/>
              </a:rPr>
              <a:t>) </a:t>
            </a:r>
            <a:r>
              <a:rPr lang="de-DE" sz="1100" b="1" kern="0" dirty="0" err="1">
                <a:ea typeface="Arial Unicode MS" pitchFamily="34" charset="-128"/>
                <a:cs typeface="Arial Unicode MS" pitchFamily="34" charset="-128"/>
              </a:rPr>
              <a:t>key-value</a:t>
            </a:r>
            <a:r>
              <a:rPr lang="de-DE" sz="1100" b="1" kern="0" dirty="0">
                <a:ea typeface="Arial Unicode MS" pitchFamily="34" charset="-128"/>
                <a:cs typeface="Arial Unicode MS" pitchFamily="34" charset="-128"/>
              </a:rPr>
              <a:t> </a:t>
            </a:r>
            <a:r>
              <a:rPr lang="de-DE" sz="1100" b="1" kern="0" dirty="0" err="1">
                <a:ea typeface="Arial Unicode MS" pitchFamily="34" charset="-128"/>
                <a:cs typeface="Arial Unicode MS" pitchFamily="34" charset="-128"/>
              </a:rPr>
              <a:t>store</a:t>
            </a:r>
            <a:endParaRPr kumimoji="0" lang="de-DE" sz="1800" b="1" i="0" strike="noStrike" kern="0" cap="none" spc="0" normalizeH="0" baseline="0" noProof="0" dirty="0">
              <a:ln>
                <a:noFill/>
              </a:ln>
              <a:effectLst/>
              <a:uLnTx/>
              <a:uFillTx/>
              <a:ea typeface="Arial Unicode MS" pitchFamily="34" charset="-128"/>
              <a:cs typeface="Arial Unicode MS" pitchFamily="34" charset="-128"/>
            </a:endParaRPr>
          </a:p>
        </p:txBody>
      </p:sp>
      <p:cxnSp>
        <p:nvCxnSpPr>
          <p:cNvPr id="32" name="Straight Arrow Connector 31"/>
          <p:cNvCxnSpPr>
            <a:stCxn id="22" idx="2"/>
            <a:endCxn id="31" idx="0"/>
          </p:cNvCxnSpPr>
          <p:nvPr/>
        </p:nvCxnSpPr>
        <p:spPr>
          <a:xfrm>
            <a:off x="6926580" y="4151079"/>
            <a:ext cx="18202" cy="1205665"/>
          </a:xfrm>
          <a:prstGeom prst="straightConnector1">
            <a:avLst/>
          </a:prstGeom>
          <a:ln w="571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bwMode="gray">
          <a:xfrm>
            <a:off x="8733601" y="3032761"/>
            <a:ext cx="2724717" cy="2015489"/>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r>
              <a:rPr lang="de-DE" sz="1400" b="1" kern="0">
                <a:ea typeface="Arial Unicode MS" pitchFamily="34" charset="-128"/>
                <a:cs typeface="Arial Unicode MS" pitchFamily="34" charset="-128"/>
              </a:rPr>
              <a:t>Nodes</a:t>
            </a:r>
            <a:endParaRPr lang="de-DE" sz="1400" b="1" kern="0" dirty="0">
              <a:ea typeface="Arial Unicode MS" pitchFamily="34" charset="-128"/>
              <a:cs typeface="Arial Unicode MS" pitchFamily="34" charset="-128"/>
            </a:endParaRPr>
          </a:p>
        </p:txBody>
      </p:sp>
      <p:sp>
        <p:nvSpPr>
          <p:cNvPr id="34" name="Rectangle 33"/>
          <p:cNvSpPr/>
          <p:nvPr/>
        </p:nvSpPr>
        <p:spPr bwMode="gray">
          <a:xfrm>
            <a:off x="8851967" y="3722804"/>
            <a:ext cx="2551108" cy="1085192"/>
          </a:xfrm>
          <a:prstGeom prst="rect">
            <a:avLst/>
          </a:prstGeom>
          <a:solidFill>
            <a:schemeClr val="accent1">
              <a:lumMod val="60000"/>
              <a:lumOff val="40000"/>
            </a:schemeClr>
          </a:solidFill>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b"/>
          <a:lstStyle/>
          <a:p>
            <a:pPr marR="0" algn="ctr" defTabSz="914400" eaLnBrk="1" fontAlgn="base" latinLnBrk="0" hangingPunct="1">
              <a:lnSpc>
                <a:spcPct val="100000"/>
              </a:lnSpc>
              <a:spcBef>
                <a:spcPct val="50000"/>
              </a:spcBef>
              <a:spcAft>
                <a:spcPct val="0"/>
              </a:spcAft>
              <a:buClr>
                <a:srgbClr val="F0AB00"/>
              </a:buClr>
              <a:buSzPct val="80000"/>
              <a:tabLst/>
            </a:pPr>
            <a:r>
              <a:rPr lang="de-DE" sz="1200" b="1" kern="0" noProof="0" dirty="0">
                <a:ea typeface="Arial Unicode MS" pitchFamily="34" charset="-128"/>
                <a:cs typeface="Arial Unicode MS" pitchFamily="34" charset="-128"/>
              </a:rPr>
              <a:t>Container </a:t>
            </a:r>
            <a:r>
              <a:rPr lang="de-DE" sz="1200" b="1" kern="0" noProof="0" dirty="0" err="1">
                <a:ea typeface="Arial Unicode MS" pitchFamily="34" charset="-128"/>
                <a:cs typeface="Arial Unicode MS" pitchFamily="34" charset="-128"/>
              </a:rPr>
              <a:t>runtime</a:t>
            </a:r>
            <a:endParaRPr kumimoji="0" lang="de-DE" sz="1400" b="1" i="0" strike="noStrike" kern="0" cap="none" spc="0" normalizeH="0" baseline="0" noProof="0" dirty="0">
              <a:ln>
                <a:noFill/>
              </a:ln>
              <a:effectLst/>
              <a:uLnTx/>
              <a:uFillTx/>
              <a:ea typeface="Arial Unicode MS" pitchFamily="34" charset="-128"/>
              <a:cs typeface="Arial Unicode MS" pitchFamily="34" charset="-128"/>
            </a:endParaRPr>
          </a:p>
        </p:txBody>
      </p:sp>
      <p:sp>
        <p:nvSpPr>
          <p:cNvPr id="36" name="Rectangle 35"/>
          <p:cNvSpPr/>
          <p:nvPr/>
        </p:nvSpPr>
        <p:spPr bwMode="gray">
          <a:xfrm>
            <a:off x="9066103" y="3922958"/>
            <a:ext cx="889224" cy="507936"/>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050" b="1" kern="0" noProof="0" dirty="0" err="1">
                <a:ea typeface="Arial Unicode MS" pitchFamily="34" charset="-128"/>
                <a:cs typeface="Arial Unicode MS" pitchFamily="34" charset="-128"/>
              </a:rPr>
              <a:t>Pod</a:t>
            </a:r>
            <a:endParaRPr kumimoji="0" lang="de-DE" sz="105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37" name="Rectangle 36"/>
          <p:cNvSpPr/>
          <p:nvPr/>
        </p:nvSpPr>
        <p:spPr bwMode="gray">
          <a:xfrm>
            <a:off x="10287262" y="3922958"/>
            <a:ext cx="889224" cy="507936"/>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050" b="1" kern="0" noProof="0" dirty="0" err="1">
                <a:ea typeface="Arial Unicode MS" pitchFamily="34" charset="-128"/>
                <a:cs typeface="Arial Unicode MS" pitchFamily="34" charset="-128"/>
              </a:rPr>
              <a:t>Pod</a:t>
            </a:r>
            <a:endParaRPr kumimoji="0" lang="de-DE" sz="1050" b="1"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44" name="Straight Arrow Connector 43"/>
          <p:cNvCxnSpPr>
            <a:cxnSpLocks/>
            <a:endCxn id="22" idx="3"/>
          </p:cNvCxnSpPr>
          <p:nvPr/>
        </p:nvCxnSpPr>
        <p:spPr>
          <a:xfrm flipH="1">
            <a:off x="7594694" y="3922958"/>
            <a:ext cx="1138907" cy="1331"/>
          </a:xfrm>
          <a:prstGeom prst="straightConnector1">
            <a:avLst/>
          </a:prstGeom>
          <a:ln w="57150">
            <a:solidFill>
              <a:schemeClr val="accent2"/>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74" name="Rectangle: Rounded Corners 73"/>
          <p:cNvSpPr/>
          <p:nvPr/>
        </p:nvSpPr>
        <p:spPr bwMode="gray">
          <a:xfrm>
            <a:off x="2521599" y="5167223"/>
            <a:ext cx="1302244" cy="492532"/>
          </a:xfrm>
          <a:prstGeom prst="round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400" b="1" i="0" u="none" strike="noStrike" kern="0" cap="none" spc="0" normalizeH="0" baseline="0" noProof="0" dirty="0">
                <a:ln>
                  <a:noFill/>
                </a:ln>
                <a:effectLst/>
                <a:uLnTx/>
                <a:uFillTx/>
                <a:ea typeface="Arial Unicode MS" pitchFamily="34" charset="-128"/>
                <a:cs typeface="Arial Unicode MS" pitchFamily="34" charset="-128"/>
              </a:rPr>
              <a:t>@SAP</a:t>
            </a:r>
          </a:p>
        </p:txBody>
      </p:sp>
      <p:sp>
        <p:nvSpPr>
          <p:cNvPr id="75" name="Rectangle: Rounded Corners 74"/>
          <p:cNvSpPr/>
          <p:nvPr/>
        </p:nvSpPr>
        <p:spPr bwMode="gray">
          <a:xfrm>
            <a:off x="9066103" y="5738293"/>
            <a:ext cx="2637141" cy="575620"/>
          </a:xfrm>
          <a:prstGeom prst="round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dirty="0">
                <a:ln>
                  <a:noFill/>
                </a:ln>
                <a:effectLst/>
                <a:uLnTx/>
                <a:uFillTx/>
                <a:ea typeface="Arial Unicode MS" pitchFamily="34" charset="-128"/>
                <a:cs typeface="Arial Unicode MS" pitchFamily="34" charset="-128"/>
              </a:rPr>
              <a:t>Gardener on GCP</a:t>
            </a:r>
          </a:p>
        </p:txBody>
      </p:sp>
      <p:cxnSp>
        <p:nvCxnSpPr>
          <p:cNvPr id="77" name="Straight Arrow Connector 76"/>
          <p:cNvCxnSpPr>
            <a:stCxn id="6" idx="3"/>
            <a:endCxn id="21" idx="1"/>
          </p:cNvCxnSpPr>
          <p:nvPr/>
        </p:nvCxnSpPr>
        <p:spPr>
          <a:xfrm flipV="1">
            <a:off x="3967163" y="3922958"/>
            <a:ext cx="1801424" cy="2154"/>
          </a:xfrm>
          <a:prstGeom prst="straightConnector1">
            <a:avLst/>
          </a:prstGeom>
          <a:ln w="57150">
            <a:solidFill>
              <a:schemeClr val="accent2"/>
            </a:solidFill>
            <a:headEnd type="none" w="med" len="med"/>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1108862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Demo</a:t>
            </a:r>
          </a:p>
        </p:txBody>
      </p:sp>
      <p:pic>
        <p:nvPicPr>
          <p:cNvPr id="5" name="Picture 4">
            <a:extLst>
              <a:ext uri="{FF2B5EF4-FFF2-40B4-BE49-F238E27FC236}">
                <a16:creationId xmlns:a16="http://schemas.microsoft.com/office/drawing/2014/main" id="{95D1CED9-14BE-466A-944F-C9B60E3B7FEC}"/>
              </a:ext>
            </a:extLst>
          </p:cNvPr>
          <p:cNvPicPr>
            <a:picLocks noChangeAspect="1"/>
          </p:cNvPicPr>
          <p:nvPr/>
        </p:nvPicPr>
        <p:blipFill>
          <a:blip r:embed="rId3"/>
          <a:stretch>
            <a:fillRect/>
          </a:stretch>
        </p:blipFill>
        <p:spPr>
          <a:xfrm>
            <a:off x="3645157" y="976918"/>
            <a:ext cx="4904163" cy="4904163"/>
          </a:xfrm>
          <a:prstGeom prst="rect">
            <a:avLst/>
          </a:prstGeom>
        </p:spPr>
      </p:pic>
    </p:spTree>
    <p:extLst>
      <p:ext uri="{BB962C8B-B14F-4D97-AF65-F5344CB8AC3E}">
        <p14:creationId xmlns:p14="http://schemas.microsoft.com/office/powerpoint/2010/main" val="28199528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What YOU will do during this training…</a:t>
            </a:r>
          </a:p>
        </p:txBody>
      </p:sp>
      <p:grpSp>
        <p:nvGrpSpPr>
          <p:cNvPr id="13" name="Group 12"/>
          <p:cNvGrpSpPr/>
          <p:nvPr/>
        </p:nvGrpSpPr>
        <p:grpSpPr>
          <a:xfrm>
            <a:off x="2674620" y="2948940"/>
            <a:ext cx="6187440" cy="1752600"/>
            <a:chOff x="2697480" y="2743200"/>
            <a:chExt cx="6187440" cy="2034540"/>
          </a:xfrm>
        </p:grpSpPr>
        <p:sp>
          <p:nvSpPr>
            <p:cNvPr id="12" name="Rectangle: Rounded Corners 11"/>
            <p:cNvSpPr/>
            <p:nvPr/>
          </p:nvSpPr>
          <p:spPr bwMode="gray">
            <a:xfrm>
              <a:off x="2697480" y="2743200"/>
              <a:ext cx="6187440" cy="2034540"/>
            </a:xfrm>
            <a:prstGeom prst="roundRect">
              <a:avLst/>
            </a:prstGeom>
            <a:ln>
              <a:headEnd/>
              <a:tailEnd/>
            </a:ln>
          </p:spPr>
          <p:style>
            <a:lnRef idx="2">
              <a:schemeClr val="accent1"/>
            </a:lnRef>
            <a:fillRef idx="1">
              <a:schemeClr val="lt1"/>
            </a:fillRef>
            <a:effectRef idx="0">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4" name="Rectangle 3"/>
            <p:cNvSpPr/>
            <p:nvPr/>
          </p:nvSpPr>
          <p:spPr bwMode="gray">
            <a:xfrm>
              <a:off x="2989653" y="3164976"/>
              <a:ext cx="1627931" cy="1156258"/>
            </a:xfrm>
            <a:prstGeom prst="rect">
              <a:avLst/>
            </a:prstGeom>
            <a:solidFill>
              <a:schemeClr val="bg2"/>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nginx</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6" name="Rectangle 5"/>
            <p:cNvSpPr/>
            <p:nvPr/>
          </p:nvSpPr>
          <p:spPr bwMode="gray">
            <a:xfrm>
              <a:off x="6855115" y="3164976"/>
              <a:ext cx="1627931" cy="1156258"/>
            </a:xfrm>
            <a:prstGeom prst="rect">
              <a:avLst/>
            </a:prstGeom>
            <a:solidFill>
              <a:schemeClr val="bg2"/>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nginx</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7" name="Rectangle 6"/>
            <p:cNvSpPr/>
            <p:nvPr/>
          </p:nvSpPr>
          <p:spPr bwMode="gray">
            <a:xfrm>
              <a:off x="4922384" y="3164976"/>
              <a:ext cx="1627931" cy="1156258"/>
            </a:xfrm>
            <a:prstGeom prst="rect">
              <a:avLst/>
            </a:prstGeom>
            <a:solidFill>
              <a:schemeClr val="bg2"/>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nginx</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grpSp>
      <p:grpSp>
        <p:nvGrpSpPr>
          <p:cNvPr id="15" name="Group 14"/>
          <p:cNvGrpSpPr/>
          <p:nvPr/>
        </p:nvGrpSpPr>
        <p:grpSpPr>
          <a:xfrm>
            <a:off x="3482340" y="5176656"/>
            <a:ext cx="4572000" cy="1363980"/>
            <a:chOff x="3421380" y="5067300"/>
            <a:chExt cx="4572000" cy="1363980"/>
          </a:xfrm>
        </p:grpSpPr>
        <p:sp>
          <p:nvSpPr>
            <p:cNvPr id="14" name="Rectangle: Rounded Corners 13"/>
            <p:cNvSpPr/>
            <p:nvPr/>
          </p:nvSpPr>
          <p:spPr bwMode="gray">
            <a:xfrm>
              <a:off x="3421380" y="5067300"/>
              <a:ext cx="4572000" cy="1363980"/>
            </a:xfrm>
            <a:prstGeom prst="roundRect">
              <a:avLst/>
            </a:prstGeom>
            <a:ln>
              <a:headEnd/>
              <a:tailEnd/>
            </a:ln>
          </p:spPr>
          <p:style>
            <a:lnRef idx="2">
              <a:schemeClr val="accent1"/>
            </a:lnRef>
            <a:fillRef idx="1">
              <a:schemeClr val="lt1"/>
            </a:fillRef>
            <a:effectRef idx="0">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Cylinder 7"/>
            <p:cNvSpPr/>
            <p:nvPr/>
          </p:nvSpPr>
          <p:spPr bwMode="gray">
            <a:xfrm>
              <a:off x="3946888" y="5248563"/>
              <a:ext cx="998220" cy="1004248"/>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err="1">
                  <a:ln>
                    <a:noFill/>
                  </a:ln>
                  <a:effectLst/>
                  <a:uLnTx/>
                  <a:uFillTx/>
                  <a:ea typeface="Arial Unicode MS" pitchFamily="34" charset="-128"/>
                  <a:cs typeface="Arial Unicode MS" pitchFamily="34" charset="-128"/>
                </a:rPr>
                <a:t>content</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9" name="Cylinder 8"/>
            <p:cNvSpPr/>
            <p:nvPr/>
          </p:nvSpPr>
          <p:spPr bwMode="gray">
            <a:xfrm>
              <a:off x="5214379" y="5248563"/>
              <a:ext cx="998220" cy="1004248"/>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err="1">
                  <a:ln>
                    <a:noFill/>
                  </a:ln>
                  <a:effectLst/>
                  <a:uLnTx/>
                  <a:uFillTx/>
                  <a:ea typeface="Arial Unicode MS" pitchFamily="34" charset="-128"/>
                  <a:cs typeface="Arial Unicode MS" pitchFamily="34" charset="-128"/>
                </a:rPr>
                <a:t>config</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0" name="Cylinder 9"/>
            <p:cNvSpPr/>
            <p:nvPr/>
          </p:nvSpPr>
          <p:spPr bwMode="gray">
            <a:xfrm>
              <a:off x="6481870" y="5248563"/>
              <a:ext cx="998220" cy="1004248"/>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tls</a:t>
              </a:r>
              <a:r>
                <a:rPr lang="de-DE" sz="1800" kern="0" dirty="0">
                  <a:ea typeface="Arial Unicode MS" pitchFamily="34" charset="-128"/>
                  <a:cs typeface="Arial Unicode MS" pitchFamily="34" charset="-128"/>
                </a:rPr>
                <a:t> </a:t>
              </a:r>
              <a:r>
                <a:rPr lang="de-DE" sz="1800" kern="0" dirty="0" err="1">
                  <a:ea typeface="Arial Unicode MS" pitchFamily="34" charset="-128"/>
                  <a:cs typeface="Arial Unicode MS" pitchFamily="34" charset="-128"/>
                </a:rPr>
                <a:t>certs</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grpSp>
      <p:sp>
        <p:nvSpPr>
          <p:cNvPr id="16" name="Arrow: Up-Down 15"/>
          <p:cNvSpPr/>
          <p:nvPr/>
        </p:nvSpPr>
        <p:spPr bwMode="gray">
          <a:xfrm>
            <a:off x="5657231" y="4400550"/>
            <a:ext cx="222219" cy="845820"/>
          </a:xfrm>
          <a:prstGeom prst="upDown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7" name="Cloud 16"/>
          <p:cNvSpPr/>
          <p:nvPr/>
        </p:nvSpPr>
        <p:spPr bwMode="gray">
          <a:xfrm>
            <a:off x="4077319" y="1126276"/>
            <a:ext cx="3382042" cy="914400"/>
          </a:xfrm>
          <a:prstGeom prst="cloud">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Arrow: Up-Down 17"/>
          <p:cNvSpPr/>
          <p:nvPr/>
        </p:nvSpPr>
        <p:spPr bwMode="gray">
          <a:xfrm>
            <a:off x="5657231" y="2071898"/>
            <a:ext cx="222219" cy="845820"/>
          </a:xfrm>
          <a:prstGeom prst="upDown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9" name="Flowchart: Document 18"/>
          <p:cNvSpPr/>
          <p:nvPr/>
        </p:nvSpPr>
        <p:spPr bwMode="gray">
          <a:xfrm>
            <a:off x="9991415" y="5391354"/>
            <a:ext cx="1484305" cy="934584"/>
          </a:xfrm>
          <a:prstGeom prst="flowChartDocumen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Persistence</a:t>
            </a:r>
            <a:r>
              <a:rPr kumimoji="0" lang="en-US" sz="1800" b="0" i="0" u="none" strike="noStrike" kern="0" cap="none" spc="0" normalizeH="0" noProof="0" dirty="0">
                <a:ln>
                  <a:noFill/>
                </a:ln>
                <a:effectLst/>
                <a:uLnTx/>
                <a:uFillTx/>
                <a:ea typeface="Arial Unicode MS" pitchFamily="34" charset="-128"/>
                <a:cs typeface="Arial Unicode MS" pitchFamily="34" charset="-128"/>
              </a:rPr>
              <a:t> layer</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0" name="Flowchart: Document 19"/>
          <p:cNvSpPr/>
          <p:nvPr/>
        </p:nvSpPr>
        <p:spPr bwMode="gray">
          <a:xfrm>
            <a:off x="9991415" y="3465966"/>
            <a:ext cx="1484305" cy="934584"/>
          </a:xfrm>
          <a:prstGeom prst="flowChartDocumen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a:ln>
                  <a:noFill/>
                </a:ln>
                <a:effectLst/>
                <a:uLnTx/>
                <a:uFillTx/>
                <a:ea typeface="Arial Unicode MS" pitchFamily="34" charset="-128"/>
                <a:cs typeface="Arial Unicode MS" pitchFamily="34" charset="-128"/>
              </a:rPr>
              <a:t>Application</a:t>
            </a:r>
            <a:r>
              <a:rPr kumimoji="0" lang="en-US" sz="1800" b="0" i="0" u="none" strike="noStrike" kern="0" cap="none" spc="0" normalizeH="0" noProof="0">
                <a:ln>
                  <a:noFill/>
                </a:ln>
                <a:effectLst/>
                <a:uLnTx/>
                <a:uFillTx/>
                <a:ea typeface="Arial Unicode MS" pitchFamily="34" charset="-128"/>
                <a:cs typeface="Arial Unicode MS" pitchFamily="34" charset="-128"/>
              </a:rPr>
              <a:t> </a:t>
            </a:r>
            <a:r>
              <a:rPr kumimoji="0" lang="en-US" sz="1800" b="0" i="0" u="none" strike="noStrike" kern="0" cap="none" spc="0" normalizeH="0" noProof="0" dirty="0">
                <a:ln>
                  <a:noFill/>
                </a:ln>
                <a:effectLst/>
                <a:uLnTx/>
                <a:uFillTx/>
                <a:ea typeface="Arial Unicode MS" pitchFamily="34" charset="-128"/>
                <a:cs typeface="Arial Unicode MS" pitchFamily="34" charset="-128"/>
              </a:rPr>
              <a:t>layer</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2" name="Flowchart: Document 21"/>
          <p:cNvSpPr/>
          <p:nvPr/>
        </p:nvSpPr>
        <p:spPr bwMode="gray">
          <a:xfrm>
            <a:off x="9991415" y="1396844"/>
            <a:ext cx="1484305" cy="934584"/>
          </a:xfrm>
          <a:prstGeom prst="flowChartDocumen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Networking</a:t>
            </a:r>
            <a:r>
              <a:rPr kumimoji="0" lang="en-US" sz="1800" b="0" i="0" u="none" strike="noStrike" kern="0" cap="none" spc="0" normalizeH="0" noProof="0" dirty="0">
                <a:ln>
                  <a:noFill/>
                </a:ln>
                <a:effectLst/>
                <a:uLnTx/>
                <a:uFillTx/>
                <a:ea typeface="Arial Unicode MS" pitchFamily="34" charset="-128"/>
                <a:cs typeface="Arial Unicode MS" pitchFamily="34" charset="-128"/>
              </a:rPr>
              <a:t> layer</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40855814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4B6938A-7A0C-4712-A9B8-41F25B66C8A4}"/>
              </a:ext>
            </a:extLst>
          </p:cNvPr>
          <p:cNvSpPr>
            <a:spLocks noGrp="1"/>
          </p:cNvSpPr>
          <p:nvPr>
            <p:ph type="title"/>
          </p:nvPr>
        </p:nvSpPr>
        <p:spPr/>
        <p:txBody>
          <a:bodyPr/>
          <a:lstStyle/>
          <a:p>
            <a:r>
              <a:rPr lang="en-US" dirty="0"/>
              <a:t>Exercise 01</a:t>
            </a:r>
          </a:p>
        </p:txBody>
      </p:sp>
      <p:pic>
        <p:nvPicPr>
          <p:cNvPr id="4" name="Picture 3">
            <a:extLst>
              <a:ext uri="{FF2B5EF4-FFF2-40B4-BE49-F238E27FC236}">
                <a16:creationId xmlns:a16="http://schemas.microsoft.com/office/drawing/2014/main" id="{007708F0-FA7C-4914-AEF1-2FD5F947DD7C}"/>
              </a:ext>
            </a:extLst>
          </p:cNvPr>
          <p:cNvPicPr>
            <a:picLocks noChangeAspect="1"/>
          </p:cNvPicPr>
          <p:nvPr/>
        </p:nvPicPr>
        <p:blipFill>
          <a:blip r:embed="rId3"/>
          <a:stretch>
            <a:fillRect/>
          </a:stretch>
        </p:blipFill>
        <p:spPr>
          <a:xfrm>
            <a:off x="4011439" y="1343200"/>
            <a:ext cx="4171599" cy="4171599"/>
          </a:xfrm>
          <a:prstGeom prst="rect">
            <a:avLst/>
          </a:prstGeom>
        </p:spPr>
      </p:pic>
    </p:spTree>
    <p:extLst>
      <p:ext uri="{BB962C8B-B14F-4D97-AF65-F5344CB8AC3E}">
        <p14:creationId xmlns:p14="http://schemas.microsoft.com/office/powerpoint/2010/main" val="27578242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SAP_2017_16x9_black">
  <a:themeElements>
    <a:clrScheme name="SAP_colors_2017">
      <a:dk1>
        <a:srgbClr val="000000"/>
      </a:dk1>
      <a:lt1>
        <a:srgbClr val="FFFFFF"/>
      </a:lt1>
      <a:dk2>
        <a:srgbClr val="CCCCCC"/>
      </a:dk2>
      <a:lt2>
        <a:srgbClr val="999999"/>
      </a:lt2>
      <a:accent1>
        <a:srgbClr val="F0AB00"/>
      </a:accent1>
      <a:accent2>
        <a:srgbClr val="666666"/>
      </a:accent2>
      <a:accent3>
        <a:srgbClr val="008FD3"/>
      </a:accent3>
      <a:accent4>
        <a:srgbClr val="4FB81C"/>
      </a:accent4>
      <a:accent5>
        <a:srgbClr val="E35500"/>
      </a:accent5>
      <a:accent6>
        <a:srgbClr val="970A82"/>
      </a:accent6>
      <a:hlink>
        <a:srgbClr val="008FD3"/>
      </a:hlink>
      <a:folHlink>
        <a:srgbClr val="008FD3"/>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7_16x9_black.potx" id="{9488014F-4BF2-4B73-9741-6D40B78C18AF}" vid="{315AB80D-2AE3-4555-B7D1-B9C512524916}"/>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2885</Words>
  <Application>Microsoft Macintosh PowerPoint</Application>
  <PresentationFormat>Benutzerdefiniert</PresentationFormat>
  <Paragraphs>388</Paragraphs>
  <Slides>19</Slides>
  <Notes>17</Notes>
  <HiddenSlides>1</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19</vt:i4>
      </vt:variant>
    </vt:vector>
  </HeadingPairs>
  <TitlesOfParts>
    <vt:vector size="26" baseType="lpstr">
      <vt:lpstr>Arial</vt:lpstr>
      <vt:lpstr>Arial Rounded MT Bold</vt:lpstr>
      <vt:lpstr>Courier New</vt:lpstr>
      <vt:lpstr>Symbol</vt:lpstr>
      <vt:lpstr>wingdings</vt:lpstr>
      <vt:lpstr>wingdings</vt:lpstr>
      <vt:lpstr>SAP_2017_16x9_black</vt:lpstr>
      <vt:lpstr>PowerPoint-Präsentation</vt:lpstr>
      <vt:lpstr>K8s from application point of view</vt:lpstr>
      <vt:lpstr>(incomplete) Kubernetes Concepts Map </vt:lpstr>
      <vt:lpstr>K8s from administrative point of view</vt:lpstr>
      <vt:lpstr>Architecture overview (very high level)</vt:lpstr>
      <vt:lpstr>Architecture overview</vt:lpstr>
      <vt:lpstr>What happens if we run nginx?</vt:lpstr>
      <vt:lpstr>What happens, when “run nginx” is declared?</vt:lpstr>
      <vt:lpstr>API Server</vt:lpstr>
      <vt:lpstr>API Structure</vt:lpstr>
      <vt:lpstr>API Versioning</vt:lpstr>
      <vt:lpstr>Namespaces within the training cluster</vt:lpstr>
      <vt:lpstr>YAML</vt:lpstr>
      <vt:lpstr>kubectl basics</vt:lpstr>
      <vt:lpstr>Infrastructure for this training</vt:lpstr>
      <vt:lpstr>Demo</vt:lpstr>
      <vt:lpstr>What YOU will do during this training…</vt:lpstr>
      <vt:lpstr>Exercise 01</vt:lpstr>
      <vt:lpstr>PowerPoint-Präsentation</vt:lpstr>
    </vt:vector>
  </TitlesOfParts>
  <Company>SAP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PPT Template</dc:title>
  <dc:creator>SAP SE</dc:creator>
  <cp:keywords>2017/16:9/black</cp:keywords>
  <cp:lastModifiedBy>Kahl, Hendrik</cp:lastModifiedBy>
  <cp:revision>535</cp:revision>
  <dcterms:created xsi:type="dcterms:W3CDTF">2015-10-14T11:21:43Z</dcterms:created>
  <dcterms:modified xsi:type="dcterms:W3CDTF">2022-03-17T05:30:23Z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1101452479</vt:i4>
  </property>
  <property fmtid="{D5CDD505-2E9C-101B-9397-08002B2CF9AE}" pid="3" name="_NewReviewCycle">
    <vt:lpwstr/>
  </property>
  <property fmtid="{D5CDD505-2E9C-101B-9397-08002B2CF9AE}" pid="4" name="_EmailSubject">
    <vt:lpwstr>SAP - PPT Exploration (Updated)</vt:lpwstr>
  </property>
  <property fmtid="{D5CDD505-2E9C-101B-9397-08002B2CF9AE}" pid="5" name="_AuthorEmail">
    <vt:lpwstr>heidi.bitz@sap.com</vt:lpwstr>
  </property>
  <property fmtid="{D5CDD505-2E9C-101B-9397-08002B2CF9AE}" pid="6" name="_AuthorEmailDisplayName">
    <vt:lpwstr>Bitz, Heidi</vt:lpwstr>
  </property>
  <property fmtid="{D5CDD505-2E9C-101B-9397-08002B2CF9AE}" pid="7" name="_PreviousAdHocReviewCycleID">
    <vt:i4>1357826825</vt:i4>
  </property>
</Properties>
</file>