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heme/themeOverride1.xml" ContentType="application/vnd.openxmlformats-officedocument.themeOverr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 id="2147483777" r:id="rId2"/>
  </p:sldMasterIdLst>
  <p:notesMasterIdLst>
    <p:notesMasterId r:id="rId20"/>
  </p:notesMasterIdLst>
  <p:handoutMasterIdLst>
    <p:handoutMasterId r:id="rId21"/>
  </p:handoutMasterIdLst>
  <p:sldIdLst>
    <p:sldId id="433" r:id="rId3"/>
    <p:sldId id="442" r:id="rId4"/>
    <p:sldId id="446" r:id="rId5"/>
    <p:sldId id="443" r:id="rId6"/>
    <p:sldId id="448" r:id="rId7"/>
    <p:sldId id="963" r:id="rId8"/>
    <p:sldId id="964" r:id="rId9"/>
    <p:sldId id="440" r:id="rId10"/>
    <p:sldId id="436" r:id="rId11"/>
    <p:sldId id="965" r:id="rId12"/>
    <p:sldId id="449" r:id="rId13"/>
    <p:sldId id="447" r:id="rId14"/>
    <p:sldId id="961" r:id="rId15"/>
    <p:sldId id="882" r:id="rId16"/>
    <p:sldId id="904" r:id="rId17"/>
    <p:sldId id="960" r:id="rId18"/>
    <p:sldId id="265" r:id="rId19"/>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464" autoAdjust="0"/>
    <p:restoredTop sz="69538" autoAdjust="0"/>
  </p:normalViewPr>
  <p:slideViewPr>
    <p:cSldViewPr snapToGrid="0" showGuides="1">
      <p:cViewPr varScale="1">
        <p:scale>
          <a:sx n="109" d="100"/>
          <a:sy n="109" d="100"/>
        </p:scale>
        <p:origin x="1758" y="108"/>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9" d="100"/>
          <a:sy n="99" d="100"/>
        </p:scale>
        <p:origin x="3570"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D8C2C35-2B8A-446E-BEC0-FD36716C29AC}" type="slidenum">
              <a:rPr lang="de-DE" smtClean="0"/>
              <a:pPr/>
              <a:t>1</a:t>
            </a:fld>
            <a:endParaRPr lang="de-DE" dirty="0"/>
          </a:p>
        </p:txBody>
      </p:sp>
    </p:spTree>
    <p:extLst>
      <p:ext uri="{BB962C8B-B14F-4D97-AF65-F5344CB8AC3E}">
        <p14:creationId xmlns:p14="http://schemas.microsoft.com/office/powerpoint/2010/main" val="38420080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actually talking about the deployment resource, we need to introduce one of the fundamental concepts of Kubernetes: labels &amp; selectors.</a:t>
            </a:r>
          </a:p>
          <a:p>
            <a:endParaRPr lang="en-US" dirty="0"/>
          </a:p>
          <a:p>
            <a:r>
              <a:rPr lang="en-US" dirty="0"/>
              <a:t>Basically, labels are </a:t>
            </a:r>
            <a:r>
              <a:rPr lang="en-US" b="1" dirty="0"/>
              <a:t>key-value pairs </a:t>
            </a:r>
            <a:r>
              <a:rPr lang="en-US" dirty="0"/>
              <a:t>and you can attach them to almost everything in Kubernetes. Keys can have a prefix separated by “/”. The parts of the key must be DNS compatible names. Labels are part of the metadata-section of a resource description and of course you can attach multiple labels to one resource.</a:t>
            </a:r>
          </a:p>
          <a:p>
            <a:endParaRPr lang="en-US" dirty="0"/>
          </a:p>
          <a:p>
            <a:r>
              <a:rPr lang="en-US" dirty="0"/>
              <a:t>But what are labels good for, if there is no selection mechanism to evaluate them? Kubernetes label selectors are the answer to this questions.</a:t>
            </a:r>
          </a:p>
          <a:p>
            <a:endParaRPr lang="en-US" dirty="0"/>
          </a:p>
          <a:p>
            <a:r>
              <a:rPr lang="en-US" dirty="0"/>
              <a:t>Selectors can be used in </a:t>
            </a:r>
            <a:r>
              <a:rPr lang="en-US" dirty="0" err="1"/>
              <a:t>kubectl</a:t>
            </a:r>
            <a:r>
              <a:rPr lang="en-US" dirty="0"/>
              <a:t> queries but also as part of resource definitions to define dependencies or even hierarchies of managed objects.</a:t>
            </a:r>
          </a:p>
          <a:p>
            <a:r>
              <a:rPr lang="en-US" dirty="0"/>
              <a:t>Mostly the selectors are part of the resource’s spec sections.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27590979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Labels are used to identify and bundle pods or nodes or any other resource, where it seem useful.</a:t>
            </a:r>
          </a:p>
          <a:p>
            <a:endParaRPr lang="en-US" dirty="0"/>
          </a:p>
          <a:p>
            <a:r>
              <a:rPr lang="en-US" dirty="0"/>
              <a:t>Pod names are not reliable because they are usually generated. To identify a set of same pods, a label helps.</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3055188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already said, labels are part of the metadata section and selectors usually occur in the spec sections.</a:t>
            </a:r>
          </a:p>
          <a:p>
            <a:endParaRPr lang="en-US" dirty="0"/>
          </a:p>
          <a:p>
            <a:r>
              <a:rPr lang="en-US" dirty="0"/>
              <a:t>Additionally manual labeling is possible via </a:t>
            </a:r>
            <a:r>
              <a:rPr lang="en-US" dirty="0" err="1"/>
              <a:t>kubectl</a:t>
            </a:r>
            <a:r>
              <a:rPr lang="en-US" dirty="0"/>
              <a:t> and label selectors can be added to </a:t>
            </a:r>
            <a:r>
              <a:rPr lang="en-US" dirty="0" err="1"/>
              <a:t>kubectl</a:t>
            </a:r>
            <a:r>
              <a:rPr lang="en-US" dirty="0"/>
              <a:t> queries.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2266578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r>
              <a:rPr lang="en-US" dirty="0"/>
              <a:t>This demo should familiarize participants with the labeling system.</a:t>
            </a:r>
          </a:p>
          <a:p>
            <a:pPr marL="285750" indent="-285750">
              <a:buFontTx/>
              <a:buChar char="-"/>
            </a:pPr>
            <a:r>
              <a:rPr lang="en-US" dirty="0"/>
              <a:t>Show labels</a:t>
            </a:r>
          </a:p>
          <a:p>
            <a:pPr marL="465750" lvl="1" indent="-285750">
              <a:buFontTx/>
              <a:buChar char="-"/>
            </a:pPr>
            <a:r>
              <a:rPr lang="en-US" dirty="0"/>
              <a:t>of nodes: </a:t>
            </a:r>
            <a:r>
              <a:rPr lang="en-US" dirty="0" err="1"/>
              <a:t>kubectl</a:t>
            </a:r>
            <a:r>
              <a:rPr lang="en-US" dirty="0"/>
              <a:t> get nodes --show-labels</a:t>
            </a:r>
          </a:p>
          <a:p>
            <a:pPr marL="465750" lvl="1" indent="-285750">
              <a:buFontTx/>
              <a:buChar char="-"/>
            </a:pPr>
            <a:r>
              <a:rPr lang="en-US" dirty="0"/>
              <a:t>of pods in </a:t>
            </a:r>
            <a:r>
              <a:rPr lang="en-US" dirty="0" err="1"/>
              <a:t>kube</a:t>
            </a:r>
            <a:r>
              <a:rPr lang="en-US" dirty="0"/>
              <a:t>-system namespace: </a:t>
            </a:r>
            <a:r>
              <a:rPr lang="en-US" dirty="0" err="1"/>
              <a:t>kubectl</a:t>
            </a:r>
            <a:r>
              <a:rPr lang="en-US" dirty="0"/>
              <a:t> get pods -n </a:t>
            </a:r>
            <a:r>
              <a:rPr lang="en-US" dirty="0" err="1"/>
              <a:t>kube</a:t>
            </a:r>
            <a:r>
              <a:rPr lang="en-US" dirty="0"/>
              <a:t>-system --show-labels</a:t>
            </a:r>
          </a:p>
          <a:p>
            <a:pPr marL="285750" indent="-285750">
              <a:buFontTx/>
              <a:buChar char="-"/>
            </a:pPr>
            <a:r>
              <a:rPr lang="en-US" dirty="0"/>
              <a:t>Show selection based on labels:</a:t>
            </a:r>
          </a:p>
          <a:p>
            <a:pPr marL="465750" lvl="1" indent="-285750">
              <a:buFontTx/>
              <a:buChar char="-"/>
            </a:pPr>
            <a:r>
              <a:rPr lang="en-US" dirty="0"/>
              <a:t>Select a group of pods from </a:t>
            </a:r>
            <a:r>
              <a:rPr lang="en-US" dirty="0" err="1"/>
              <a:t>kube</a:t>
            </a:r>
            <a:r>
              <a:rPr lang="en-US" dirty="0"/>
              <a:t>-system namespace by their labels (e.g. </a:t>
            </a:r>
            <a:r>
              <a:rPr lang="en-US" dirty="0" err="1"/>
              <a:t>kubect</a:t>
            </a:r>
            <a:r>
              <a:rPr lang="en-US" dirty="0"/>
              <a:t> get pods -n </a:t>
            </a:r>
            <a:r>
              <a:rPr lang="en-US" dirty="0" err="1"/>
              <a:t>kube</a:t>
            </a:r>
            <a:r>
              <a:rPr lang="en-US" dirty="0"/>
              <a:t>-system -l component=node-exporter)</a:t>
            </a:r>
          </a:p>
          <a:p>
            <a:pPr marL="465750" lvl="1" indent="-285750">
              <a:buFontTx/>
              <a:buChar char="-"/>
            </a:pPr>
            <a:r>
              <a:rPr lang="en-US" dirty="0"/>
              <a:t>Select a group based only based on key existence: </a:t>
            </a:r>
            <a:r>
              <a:rPr lang="en-US" dirty="0" err="1"/>
              <a:t>kubectl</a:t>
            </a:r>
            <a:r>
              <a:rPr lang="en-US" dirty="0"/>
              <a:t> get pods -n </a:t>
            </a:r>
            <a:r>
              <a:rPr lang="en-US" dirty="0" err="1"/>
              <a:t>kube</a:t>
            </a:r>
            <a:r>
              <a:rPr lang="en-US" dirty="0"/>
              <a:t>-system -l component</a:t>
            </a:r>
          </a:p>
          <a:p>
            <a:pPr marL="285750" indent="-285750">
              <a:buFontTx/>
              <a:buChar char="-"/>
            </a:pPr>
            <a:r>
              <a:rPr lang="en-US" dirty="0"/>
              <a:t>Label a pod from previous demo (re-create if necessary)</a:t>
            </a:r>
          </a:p>
          <a:p>
            <a:pPr marL="465750" lvl="1" indent="-285750">
              <a:buFontTx/>
              <a:buChar char="-"/>
            </a:pPr>
            <a:r>
              <a:rPr lang="en-US" dirty="0" err="1"/>
              <a:t>kubectl</a:t>
            </a:r>
            <a:r>
              <a:rPr lang="en-US" dirty="0"/>
              <a:t> label pod &lt;name&gt; awesome=hair</a:t>
            </a:r>
          </a:p>
          <a:p>
            <a:pPr marL="465750" lvl="1" indent="-285750">
              <a:buFontTx/>
              <a:buChar char="-"/>
            </a:pPr>
            <a:r>
              <a:rPr lang="en-US" dirty="0"/>
              <a:t>Query labeled pod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30170831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6</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9613788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change docker image for deployment:</a:t>
            </a:r>
          </a:p>
          <a:p>
            <a:r>
              <a:rPr lang="en-US" dirty="0" err="1"/>
              <a:t>kubectl</a:t>
            </a:r>
            <a:r>
              <a:rPr lang="en-US" dirty="0"/>
              <a:t> set image deployment/</a:t>
            </a:r>
            <a:r>
              <a:rPr lang="en-US" dirty="0" err="1"/>
              <a:t>nginx</a:t>
            </a:r>
            <a:r>
              <a:rPr lang="en-US" dirty="0"/>
              <a:t> </a:t>
            </a:r>
            <a:r>
              <a:rPr lang="en-US" dirty="0" err="1"/>
              <a:t>nginx</a:t>
            </a:r>
            <a:r>
              <a:rPr lang="en-US" dirty="0"/>
              <a:t>=</a:t>
            </a:r>
            <a:r>
              <a:rPr lang="en-US" dirty="0" err="1"/>
              <a:t>nginx:mainline</a:t>
            </a:r>
            <a:endParaRPr lang="en-US" dirty="0"/>
          </a:p>
          <a:p>
            <a:endParaRPr lang="en-US" dirty="0"/>
          </a:p>
          <a:p>
            <a:r>
              <a:rPr lang="en-US" dirty="0"/>
              <a:t>Rollback rollout:</a:t>
            </a:r>
          </a:p>
          <a:p>
            <a:r>
              <a:rPr lang="en-US" dirty="0" err="1"/>
              <a:t>kubectl</a:t>
            </a:r>
            <a:r>
              <a:rPr lang="en-US" dirty="0"/>
              <a:t> rollout undo deployment/</a:t>
            </a:r>
            <a:r>
              <a:rPr lang="en-US" dirty="0" err="1"/>
              <a:t>nginx</a:t>
            </a:r>
            <a:endParaRPr lang="en-US" dirty="0"/>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7</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8805593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dirty="0"/>
              <a:t>How labels &amp; selectors work here:</a:t>
            </a:r>
          </a:p>
          <a:p>
            <a:pPr marL="285750" indent="-285750">
              <a:buFontTx/>
              <a:buChar char="-"/>
            </a:pPr>
            <a:r>
              <a:rPr lang="en-US" dirty="0"/>
              <a:t>Names of pods can change</a:t>
            </a:r>
          </a:p>
          <a:p>
            <a:pPr marL="285750" indent="-285750">
              <a:buFontTx/>
              <a:buChar char="-"/>
            </a:pPr>
            <a:r>
              <a:rPr lang="en-US" dirty="0"/>
              <a:t>Labels stay</a:t>
            </a:r>
            <a:r>
              <a:rPr lang="en-US" baseline="0" dirty="0"/>
              <a:t> the same</a:t>
            </a:r>
          </a:p>
          <a:p>
            <a:pPr marL="285750" indent="-285750">
              <a:buFontTx/>
              <a:buChar char="-"/>
            </a:pPr>
            <a:r>
              <a:rPr lang="en-US" baseline="0" dirty="0"/>
              <a:t>Only with labels pods related to </a:t>
            </a:r>
            <a:r>
              <a:rPr lang="en-US" baseline="0" dirty="0" err="1"/>
              <a:t>rs</a:t>
            </a:r>
            <a:r>
              <a:rPr lang="en-US" baseline="0" dirty="0"/>
              <a:t>/deployment can be determined reliably</a:t>
            </a:r>
          </a:p>
          <a:p>
            <a:pPr marL="285750" indent="-285750">
              <a:buFontTx/>
              <a:buChar char="-"/>
            </a:pPr>
            <a:endParaRPr lang="en-US" dirty="0"/>
          </a:p>
          <a:p>
            <a:r>
              <a:rPr lang="en-US" dirty="0"/>
              <a:t>Why deployments?</a:t>
            </a:r>
          </a:p>
          <a:p>
            <a:r>
              <a:rPr lang="en-US" dirty="0"/>
              <a:t>You don’t want to know and manage individual pods. You would like to specify a template and instantiate it as often as you wish. Also you want to manage the group of pods e.g. in terms of docker image used.</a:t>
            </a:r>
          </a:p>
          <a:p>
            <a:endParaRPr lang="en-US" dirty="0"/>
          </a:p>
          <a:p>
            <a:r>
              <a:rPr lang="en-US" dirty="0"/>
              <a:t>The deployment gives you these management capabilities. In it’s resource description (</a:t>
            </a:r>
            <a:r>
              <a:rPr lang="en-US" dirty="0" err="1"/>
              <a:t>yaml</a:t>
            </a:r>
            <a:r>
              <a:rPr lang="en-US" dirty="0"/>
              <a:t> file) you specify a pod template, how pods should be labeled and of course a corresponding selector to identify your pods.</a:t>
            </a:r>
          </a:p>
          <a:p>
            <a:r>
              <a:rPr lang="en-US" dirty="0"/>
              <a:t>On cluster level the deployment creates &amp; manages a replica set which then manages the pods. </a:t>
            </a:r>
          </a:p>
          <a:p>
            <a:r>
              <a:rPr lang="en-US" dirty="0"/>
              <a:t>If you update the number of replicas, this will be sent to the </a:t>
            </a:r>
            <a:r>
              <a:rPr lang="en-US" dirty="0" err="1"/>
              <a:t>replicaSet</a:t>
            </a:r>
            <a:r>
              <a:rPr lang="en-US" dirty="0"/>
              <a:t> and the desired state is enforced via the </a:t>
            </a:r>
            <a:r>
              <a:rPr lang="en-US" dirty="0" err="1"/>
              <a:t>replicaSet</a:t>
            </a:r>
            <a:r>
              <a:rPr lang="en-US" dirty="0"/>
              <a:t>. </a:t>
            </a:r>
          </a:p>
          <a:p>
            <a:r>
              <a:rPr lang="en-US" dirty="0"/>
              <a:t>Upon update of the image, a new </a:t>
            </a:r>
            <a:r>
              <a:rPr lang="en-US" dirty="0" err="1"/>
              <a:t>replicaSet</a:t>
            </a:r>
            <a:r>
              <a:rPr lang="en-US" dirty="0"/>
              <a:t> will be created and the old one will be set to replica=0. This way you can roll-back to your old </a:t>
            </a:r>
            <a:r>
              <a:rPr lang="en-US" dirty="0" err="1"/>
              <a:t>replicaSet</a:t>
            </a:r>
            <a:r>
              <a:rPr lang="en-US" dirty="0"/>
              <a:t> (by scaling it up again).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2647646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
        <p:nvSpPr>
          <p:cNvPr id="9" name="Slide Image Placeholder 8"/>
          <p:cNvSpPr>
            <a:spLocks noGrp="1" noRot="1" noChangeAspect="1"/>
          </p:cNvSpPr>
          <p:nvPr>
            <p:ph type="sldImg"/>
          </p:nvPr>
        </p:nvSpPr>
        <p:spPr>
          <a:xfrm>
            <a:off x="547688" y="612775"/>
            <a:ext cx="5762625" cy="3241675"/>
          </a:xfrm>
        </p:spPr>
      </p:sp>
      <p:sp>
        <p:nvSpPr>
          <p:cNvPr id="10" name="Notes Placeholder 9"/>
          <p:cNvSpPr>
            <a:spLocks noGrp="1"/>
          </p:cNvSpPr>
          <p:nvPr>
            <p:ph type="body" idx="1"/>
          </p:nvPr>
        </p:nvSpPr>
        <p:spPr/>
        <p:txBody>
          <a:bodyPr>
            <a:normAutofit/>
          </a:bodyPr>
          <a:lstStyle/>
          <a:p>
            <a:r>
              <a:rPr lang="en-US" dirty="0"/>
              <a:t>Labels with red arrows pointing to have to match</a:t>
            </a:r>
          </a:p>
        </p:txBody>
      </p:sp>
    </p:spTree>
    <p:extLst>
      <p:ext uri="{BB962C8B-B14F-4D97-AF65-F5344CB8AC3E}">
        <p14:creationId xmlns:p14="http://schemas.microsoft.com/office/powerpoint/2010/main" val="30946054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Horizontal Pod </a:t>
            </a:r>
            <a:r>
              <a:rPr lang="en-US" dirty="0" err="1"/>
              <a:t>Autoscaler</a:t>
            </a:r>
            <a:r>
              <a:rPr lang="en-US" dirty="0"/>
              <a:t> (HPA) tries to keep the CPU utilization across all Pods in the Deployment at a defined level. The HPA in autoscaling/v2 can also work on other metrics like CPU or user defined metrics.</a:t>
            </a:r>
          </a:p>
          <a:p>
            <a:endParaRPr lang="en-US" dirty="0"/>
          </a:p>
          <a:p>
            <a:r>
              <a:rPr lang="en-US" dirty="0"/>
              <a:t>Downscaling happens only 5 minutes after the last upscaling to prevent thrashing.</a:t>
            </a:r>
          </a:p>
          <a:p>
            <a:endParaRPr lang="en-US" dirty="0"/>
          </a:p>
          <a:p>
            <a:r>
              <a:rPr lang="en-US" dirty="0"/>
              <a:t>There is also the Vertical Pod </a:t>
            </a:r>
            <a:r>
              <a:rPr lang="en-US" dirty="0" err="1"/>
              <a:t>Autoscaler</a:t>
            </a:r>
            <a:r>
              <a:rPr lang="en-US" dirty="0"/>
              <a:t> (VPA) which attempts to change the limits of a Pod based on workload demand. VPA is a separate project of a Kubernetes Special Interest Group (SIG) and not part of upstream Kubernetes.</a:t>
            </a:r>
          </a:p>
        </p:txBody>
      </p:sp>
      <p:sp>
        <p:nvSpPr>
          <p:cNvPr id="4" name="Slide Number Placeholder 3"/>
          <p:cNvSpPr>
            <a:spLocks noGrp="1"/>
          </p:cNvSpPr>
          <p:nvPr>
            <p:ph type="sldNum" sz="quarter" idx="10"/>
          </p:nvPr>
        </p:nvSpPr>
        <p:spPr/>
        <p:txBody>
          <a:bodyPr/>
          <a:lstStyle/>
          <a:p>
            <a:pPr marL="0" marR="0" lvl="0" indent="0" algn="ctr" defTabSz="1088776" rtl="0" eaLnBrk="1" fontAlgn="auto" latinLnBrk="0" hangingPunct="1">
              <a:lnSpc>
                <a:spcPct val="100000"/>
              </a:lnSpc>
              <a:spcBef>
                <a:spcPts val="0"/>
              </a:spcBef>
              <a:spcAft>
                <a:spcPts val="0"/>
              </a:spcAft>
              <a:buClrTx/>
              <a:buSzTx/>
              <a:buFontTx/>
              <a:buNone/>
              <a:tabLst/>
              <a:defRPr/>
            </a:pPr>
            <a:fld id="{7D8C2C35-2B8A-446E-BEC0-FD36716C29AC}" type="slidenum">
              <a:rPr kumimoji="0" lang="de-DE" sz="800" b="0" i="0" u="none" strike="noStrike" kern="1200" cap="none" spc="0" normalizeH="0" baseline="0" noProof="0" smtClean="0">
                <a:ln>
                  <a:noFill/>
                </a:ln>
                <a:solidFill>
                  <a:srgbClr val="000000"/>
                </a:solidFill>
                <a:effectLst/>
                <a:uLnTx/>
                <a:uFillTx/>
                <a:latin typeface="Arial"/>
                <a:ea typeface="+mn-ea"/>
                <a:cs typeface="+mn-cs"/>
              </a:rPr>
              <a:pPr marL="0" marR="0" lvl="0" indent="0" algn="ctr" defTabSz="1088776" rtl="0" eaLnBrk="1" fontAlgn="auto" latinLnBrk="0" hangingPunct="1">
                <a:lnSpc>
                  <a:spcPct val="100000"/>
                </a:lnSpc>
                <a:spcBef>
                  <a:spcPts val="0"/>
                </a:spcBef>
                <a:spcAft>
                  <a:spcPts val="0"/>
                </a:spcAft>
                <a:buClrTx/>
                <a:buSzTx/>
                <a:buFontTx/>
                <a:buNone/>
                <a:tabLst/>
                <a:defRPr/>
              </a:pPr>
              <a:t>10</a:t>
            </a:fld>
            <a:endParaRPr kumimoji="0" lang="de-DE" sz="8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25812453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7500" lnSpcReduction="20000"/>
          </a:bodyPr>
          <a:lstStyle/>
          <a:p>
            <a:pPr marL="0" indent="0">
              <a:buFontTx/>
              <a:buNone/>
            </a:pPr>
            <a:r>
              <a:rPr lang="en-US" dirty="0"/>
              <a:t>Explain deployments in a demo</a:t>
            </a:r>
          </a:p>
          <a:p>
            <a:pPr marL="285750" indent="-285750">
              <a:buFontTx/>
              <a:buChar char="-"/>
            </a:pPr>
            <a:r>
              <a:rPr lang="en-US" dirty="0"/>
              <a:t>Use the “</a:t>
            </a:r>
            <a:r>
              <a:rPr lang="en-US" dirty="0" err="1"/>
              <a:t>kubectl</a:t>
            </a:r>
            <a:r>
              <a:rPr lang="en-US" dirty="0"/>
              <a:t> create deployment &lt;name&gt; --image=&lt;image&gt;” command to create a deployment (note that “run” generators are deprecated for everything but pods)</a:t>
            </a:r>
          </a:p>
          <a:p>
            <a:pPr marL="285750" indent="-285750">
              <a:buFontTx/>
              <a:buChar char="-"/>
            </a:pPr>
            <a:r>
              <a:rPr lang="en-US" dirty="0"/>
              <a:t>Show the replica set with labels</a:t>
            </a:r>
          </a:p>
          <a:p>
            <a:pPr marL="285750" indent="-285750">
              <a:buFontTx/>
              <a:buChar char="-"/>
            </a:pPr>
            <a:r>
              <a:rPr lang="en-US" dirty="0"/>
              <a:t>Point out that the replica set is a “hidden” component used to manage pods &amp; generations. A user should not interact directly with a replica set</a:t>
            </a:r>
          </a:p>
          <a:p>
            <a:pPr marL="285750" indent="-285750">
              <a:buFontTx/>
              <a:buChar char="-"/>
            </a:pPr>
            <a:r>
              <a:rPr lang="en-US" dirty="0"/>
              <a:t>Scale up (</a:t>
            </a:r>
            <a:r>
              <a:rPr lang="en-US" dirty="0" err="1"/>
              <a:t>kubectl</a:t>
            </a:r>
            <a:r>
              <a:rPr lang="en-US" dirty="0"/>
              <a:t> scale </a:t>
            </a:r>
            <a:r>
              <a:rPr lang="en-US" dirty="0" err="1"/>
              <a:t>deployment|replicaset</a:t>
            </a:r>
            <a:r>
              <a:rPr lang="en-US" dirty="0"/>
              <a:t> &lt;name&gt; --replicas=5)</a:t>
            </a:r>
          </a:p>
          <a:p>
            <a:pPr marL="465750" lvl="1" indent="-285750">
              <a:buFontTx/>
              <a:buChar char="-"/>
            </a:pPr>
            <a:r>
              <a:rPr lang="en-US" dirty="0"/>
              <a:t>Scale up the replica set &amp; show pods -&gt; replica set is managed by deployment and thus overruled. </a:t>
            </a:r>
          </a:p>
          <a:p>
            <a:pPr marL="465750" lvl="1" indent="-285750">
              <a:buFontTx/>
              <a:buChar char="-"/>
            </a:pPr>
            <a:r>
              <a:rPr lang="en-US" dirty="0"/>
              <a:t>Scale up the deployment</a:t>
            </a:r>
          </a:p>
          <a:p>
            <a:pPr marL="285750" indent="-285750">
              <a:buFontTx/>
              <a:buChar char="-"/>
            </a:pPr>
            <a:r>
              <a:rPr lang="en-US" dirty="0"/>
              <a:t>Show the pods with labels</a:t>
            </a:r>
          </a:p>
          <a:p>
            <a:pPr marL="285750" indent="-285750">
              <a:buFontTx/>
              <a:buChar char="-"/>
            </a:pPr>
            <a:r>
              <a:rPr lang="en-US" dirty="0"/>
              <a:t>Delete a pod &amp; in parallel “watch </a:t>
            </a:r>
            <a:r>
              <a:rPr lang="en-US" dirty="0" err="1"/>
              <a:t>kubectl</a:t>
            </a:r>
            <a:r>
              <a:rPr lang="en-US" dirty="0"/>
              <a:t> get pods” to monitor the creation/deletion of pods</a:t>
            </a:r>
          </a:p>
          <a:p>
            <a:pPr marL="285750" indent="-285750">
              <a:buFontTx/>
              <a:buChar char="-"/>
            </a:pPr>
            <a:endParaRPr lang="en-US" dirty="0"/>
          </a:p>
          <a:p>
            <a:pPr marL="0" indent="0">
              <a:buFontTx/>
              <a:buNone/>
            </a:pPr>
            <a:r>
              <a:rPr lang="en-US" dirty="0"/>
              <a:t>Don’t forget to mention that a deployment can be created also from </a:t>
            </a:r>
            <a:r>
              <a:rPr lang="en-US" dirty="0" err="1"/>
              <a:t>yaml</a:t>
            </a:r>
            <a:r>
              <a:rPr lang="en-US" dirty="0"/>
              <a:t> file (with way more options to customize -&gt; like the labels).</a:t>
            </a:r>
          </a:p>
          <a:p>
            <a:pPr marL="0" indent="0">
              <a:buFontTx/>
              <a:buNone/>
            </a:pPr>
            <a:endParaRPr lang="en-US" dirty="0"/>
          </a:p>
          <a:p>
            <a:pPr marL="0" indent="0">
              <a:buFontTx/>
              <a:buNone/>
            </a:pPr>
            <a:r>
              <a:rPr lang="en-US" dirty="0"/>
              <a:t>Optional: do a demo for updating (assuming your deployment is called “</a:t>
            </a:r>
            <a:r>
              <a:rPr lang="en-US" dirty="0" err="1"/>
              <a:t>nginx</a:t>
            </a:r>
            <a:r>
              <a:rPr lang="en-US" dirty="0"/>
              <a: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sym typeface="Wingdings" panose="05000000000000000000" pitchFamily="2" charset="2"/>
              </a:rPr>
              <a:t>Run “</a:t>
            </a:r>
            <a:r>
              <a:rPr lang="en-US" dirty="0" err="1">
                <a:sym typeface="Wingdings" panose="05000000000000000000" pitchFamily="2" charset="2"/>
              </a:rPr>
              <a:t>kubectl</a:t>
            </a:r>
            <a:r>
              <a:rPr lang="en-US" dirty="0">
                <a:sym typeface="Wingdings" panose="05000000000000000000" pitchFamily="2" charset="2"/>
              </a:rPr>
              <a:t> rollout status deployment </a:t>
            </a:r>
            <a:r>
              <a:rPr lang="en-US" dirty="0" err="1">
                <a:sym typeface="Wingdings" panose="05000000000000000000" pitchFamily="2" charset="2"/>
              </a:rPr>
              <a:t>nginx</a:t>
            </a:r>
            <a:r>
              <a:rPr lang="en-US" dirty="0">
                <a:sym typeface="Wingdings" panose="05000000000000000000" pitchFamily="2" charset="2"/>
              </a:rPr>
              <a:t>” in a separate shell </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sym typeface="Wingdings" panose="05000000000000000000" pitchFamily="2" charset="2"/>
              </a:rPr>
              <a:t>In parallel: </a:t>
            </a:r>
            <a:r>
              <a:rPr lang="en-US" dirty="0"/>
              <a:t>“</a:t>
            </a:r>
            <a:r>
              <a:rPr lang="en-US" dirty="0" err="1"/>
              <a:t>kubectl</a:t>
            </a:r>
            <a:r>
              <a:rPr lang="en-US" dirty="0"/>
              <a:t> set image deployment/</a:t>
            </a:r>
            <a:r>
              <a:rPr lang="en-US" dirty="0" err="1"/>
              <a:t>nginx</a:t>
            </a:r>
            <a:r>
              <a:rPr lang="en-US" dirty="0"/>
              <a:t> </a:t>
            </a:r>
            <a:r>
              <a:rPr lang="en-US" dirty="0" err="1"/>
              <a:t>nginx</a:t>
            </a:r>
            <a:r>
              <a:rPr lang="en-US" dirty="0"/>
              <a:t>=</a:t>
            </a:r>
            <a:r>
              <a:rPr lang="en-US" dirty="0" err="1"/>
              <a:t>nginx:mainline</a:t>
            </a:r>
            <a:r>
              <a:rPr lang="en-US" dirty="0"/>
              <a:t> --record” </a:t>
            </a:r>
            <a:r>
              <a:rPr lang="en-US" dirty="0">
                <a:sym typeface="Wingdings" panose="05000000000000000000" pitchFamily="2" charset="2"/>
              </a:rPr>
              <a:t> make sure to set an image tag that differs from your first revision</a:t>
            </a:r>
          </a:p>
          <a:p>
            <a:pPr marL="285750" indent="-285750">
              <a:buFontTx/>
              <a:buChar char="-"/>
            </a:pPr>
            <a:r>
              <a:rPr lang="en-US" dirty="0">
                <a:sym typeface="Wingdings" panose="05000000000000000000" pitchFamily="2" charset="2"/>
              </a:rPr>
              <a:t>Point out, that the “--record“ parameter will “ log” the command and write it to the deployment’s annotations</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sym typeface="Wingdings" panose="05000000000000000000" pitchFamily="2" charset="2"/>
              </a:rPr>
              <a:t>“</a:t>
            </a:r>
            <a:r>
              <a:rPr lang="en-US" dirty="0" err="1">
                <a:sym typeface="Wingdings" panose="05000000000000000000" pitchFamily="2" charset="2"/>
              </a:rPr>
              <a:t>kubectl</a:t>
            </a:r>
            <a:r>
              <a:rPr lang="en-US" dirty="0">
                <a:sym typeface="Wingdings" panose="05000000000000000000" pitchFamily="2" charset="2"/>
              </a:rPr>
              <a:t> rollout history deployment </a:t>
            </a:r>
            <a:r>
              <a:rPr lang="en-US" dirty="0" err="1">
                <a:sym typeface="Wingdings" panose="05000000000000000000" pitchFamily="2" charset="2"/>
              </a:rPr>
              <a:t>nginx</a:t>
            </a:r>
            <a:r>
              <a:rPr lang="en-US" dirty="0">
                <a:sym typeface="Wingdings" panose="05000000000000000000" pitchFamily="2" charset="2"/>
              </a:rPr>
              <a:t>”  you should see 2 revisions incl. the “change-cause”</a:t>
            </a:r>
          </a:p>
          <a:p>
            <a:pPr marL="0" marR="0" lvl="0" indent="0" algn="l" defTabSz="1088776" rtl="0" eaLnBrk="1" fontAlgn="auto" latinLnBrk="0" hangingPunct="1">
              <a:lnSpc>
                <a:spcPct val="100000"/>
              </a:lnSpc>
              <a:spcBef>
                <a:spcPts val="0"/>
              </a:spcBef>
              <a:spcAft>
                <a:spcPts val="0"/>
              </a:spcAft>
              <a:buClrTx/>
              <a:buSzTx/>
              <a:buFontTx/>
              <a:buNone/>
              <a:tabLst/>
              <a:defRPr/>
            </a:pPr>
            <a:r>
              <a:rPr lang="en-US" dirty="0"/>
              <a:t>Optional: do a demo for a rollback</a:t>
            </a:r>
            <a:endParaRPr lang="en-US" dirty="0">
              <a:sym typeface="Wingdings" panose="05000000000000000000" pitchFamily="2" charset="2"/>
            </a:endParaRP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Re-run the “set image” command while using an invalid version tag (like “invalid” or something with a typo)</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Check the rollout status </a:t>
            </a:r>
            <a:r>
              <a:rPr lang="en-US" dirty="0">
                <a:sym typeface="Wingdings" panose="05000000000000000000" pitchFamily="2" charset="2"/>
              </a:rPr>
              <a:t> there should be one pod with the new image version in an error status &amp; at least 2 pods of the previous revision up and running.</a:t>
            </a:r>
            <a:endParaRPr lang="en-US" dirty="0"/>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Explain the rolling update strategy and why there is only one pod in status error </a:t>
            </a:r>
            <a:r>
              <a:rPr lang="en-US" dirty="0">
                <a:sym typeface="Wingdings" panose="05000000000000000000" pitchFamily="2" charset="2"/>
              </a:rPr>
              <a:t> </a:t>
            </a:r>
            <a:r>
              <a:rPr lang="en-US" dirty="0" err="1">
                <a:sym typeface="Wingdings" panose="05000000000000000000" pitchFamily="2" charset="2"/>
              </a:rPr>
              <a:t>maxUnavailable</a:t>
            </a:r>
            <a:r>
              <a:rPr lang="en-US" dirty="0">
                <a:sym typeface="Wingdings" panose="05000000000000000000" pitchFamily="2" charset="2"/>
              </a:rPr>
              <a:t> (</a:t>
            </a:r>
            <a:r>
              <a:rPr lang="de-DE" sz="1400" b="0" kern="1200" dirty="0" err="1">
                <a:solidFill>
                  <a:schemeClr val="tx1"/>
                </a:solidFill>
                <a:effectLst/>
                <a:latin typeface="+mn-lt"/>
                <a:ea typeface="+mn-ea"/>
                <a:cs typeface="+mn-cs"/>
              </a:rPr>
              <a:t>kubectl</a:t>
            </a:r>
            <a:r>
              <a:rPr lang="de-DE" sz="1400" b="0" kern="1200" dirty="0">
                <a:solidFill>
                  <a:schemeClr val="tx1"/>
                </a:solidFill>
                <a:effectLst/>
                <a:latin typeface="+mn-lt"/>
                <a:ea typeface="+mn-ea"/>
                <a:cs typeface="+mn-cs"/>
              </a:rPr>
              <a:t> </a:t>
            </a:r>
            <a:r>
              <a:rPr lang="de-DE" sz="1400" b="0" kern="1200" dirty="0" err="1">
                <a:solidFill>
                  <a:schemeClr val="tx1"/>
                </a:solidFill>
                <a:effectLst/>
                <a:latin typeface="+mn-lt"/>
                <a:ea typeface="+mn-ea"/>
                <a:cs typeface="+mn-cs"/>
              </a:rPr>
              <a:t>explain</a:t>
            </a:r>
            <a:r>
              <a:rPr lang="de-DE" sz="1400" b="0" kern="1200" dirty="0">
                <a:solidFill>
                  <a:schemeClr val="tx1"/>
                </a:solidFill>
                <a:effectLst/>
                <a:latin typeface="+mn-lt"/>
                <a:ea typeface="+mn-ea"/>
                <a:cs typeface="+mn-cs"/>
              </a:rPr>
              <a:t> </a:t>
            </a:r>
            <a:r>
              <a:rPr lang="de-DE" sz="1400" b="0" kern="1200" dirty="0" err="1">
                <a:solidFill>
                  <a:schemeClr val="tx1"/>
                </a:solidFill>
                <a:effectLst/>
                <a:latin typeface="+mn-lt"/>
                <a:ea typeface="+mn-ea"/>
                <a:cs typeface="+mn-cs"/>
              </a:rPr>
              <a:t>deployment.spec.strategy.rollingUpdate</a:t>
            </a:r>
            <a:r>
              <a:rPr lang="de-DE" sz="1400" b="0" kern="1200" dirty="0">
                <a:solidFill>
                  <a:schemeClr val="tx1"/>
                </a:solidFill>
                <a:effectLst/>
                <a:latin typeface="+mn-lt"/>
                <a:ea typeface="+mn-ea"/>
                <a:cs typeface="+mn-cs"/>
              </a:rPr>
              <a:t>)</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dirty="0"/>
              <a:t> Do the rollback: </a:t>
            </a:r>
            <a:r>
              <a:rPr lang="en-US" dirty="0" err="1"/>
              <a:t>kubectl</a:t>
            </a:r>
            <a:r>
              <a:rPr lang="en-US" dirty="0"/>
              <a:t> rollout undo deployment </a:t>
            </a:r>
            <a:r>
              <a:rPr lang="en-US" dirty="0" err="1"/>
              <a:t>nginx</a:t>
            </a:r>
            <a:endParaRPr lang="en-US" dirty="0"/>
          </a:p>
          <a:p>
            <a:pPr marL="285750" indent="-285750">
              <a:buFontTx/>
              <a:buChar cha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38059463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ctr" defTabSz="3255485" rtl="0" eaLnBrk="1" fontAlgn="auto" latinLnBrk="0" hangingPunct="1">
              <a:lnSpc>
                <a:spcPct val="100000"/>
              </a:lnSpc>
              <a:spcBef>
                <a:spcPts val="0"/>
              </a:spcBef>
              <a:spcAft>
                <a:spcPts val="0"/>
              </a:spcAft>
              <a:buClrTx/>
              <a:buSzTx/>
              <a:buFontTx/>
              <a:buNone/>
              <a:tabLst/>
              <a:defRPr/>
            </a:pPr>
            <a:fld id="{7D8C2C35-2B8A-446E-BEC0-FD36716C29AC}" type="slidenum">
              <a:rPr kumimoji="0" lang="de-DE" sz="2400" b="0" i="0" u="none" strike="noStrike" kern="1200" cap="none" spc="0" normalizeH="0" baseline="0" noProof="0">
                <a:ln>
                  <a:noFill/>
                </a:ln>
                <a:solidFill>
                  <a:srgbClr val="000000"/>
                </a:solidFill>
                <a:effectLst/>
                <a:uLnTx/>
                <a:uFillTx/>
                <a:latin typeface="Arial"/>
                <a:ea typeface="+mn-ea"/>
                <a:cs typeface="+mn-cs"/>
              </a:rPr>
              <a:pPr marL="0" marR="0" lvl="0" indent="0" algn="ctr" defTabSz="3255485" rtl="0" eaLnBrk="1" fontAlgn="auto" latinLnBrk="0" hangingPunct="1">
                <a:lnSpc>
                  <a:spcPct val="100000"/>
                </a:lnSpc>
                <a:spcBef>
                  <a:spcPts val="0"/>
                </a:spcBef>
                <a:spcAft>
                  <a:spcPts val="0"/>
                </a:spcAft>
                <a:buClrTx/>
                <a:buSzTx/>
                <a:buFontTx/>
                <a:buNone/>
                <a:tabLst/>
                <a:defRPr/>
              </a:pPr>
              <a:t>14</a:t>
            </a:fld>
            <a:endParaRPr kumimoji="0" lang="de-DE" sz="24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2698908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ctr" defTabSz="3255485" rtl="0" eaLnBrk="1" fontAlgn="auto" latinLnBrk="0" hangingPunct="1">
              <a:lnSpc>
                <a:spcPct val="100000"/>
              </a:lnSpc>
              <a:spcBef>
                <a:spcPts val="0"/>
              </a:spcBef>
              <a:spcAft>
                <a:spcPts val="0"/>
              </a:spcAft>
              <a:buClrTx/>
              <a:buSzTx/>
              <a:buFontTx/>
              <a:buNone/>
              <a:tabLst/>
              <a:defRPr/>
            </a:pPr>
            <a:fld id="{7D8C2C35-2B8A-446E-BEC0-FD36716C29AC}" type="slidenum">
              <a:rPr kumimoji="0" lang="de-DE" sz="2400" b="0" i="0" u="none" strike="noStrike" kern="1200" cap="none" spc="0" normalizeH="0" baseline="0" noProof="0">
                <a:ln>
                  <a:noFill/>
                </a:ln>
                <a:solidFill>
                  <a:srgbClr val="000000"/>
                </a:solidFill>
                <a:effectLst/>
                <a:uLnTx/>
                <a:uFillTx/>
                <a:latin typeface="Arial"/>
                <a:ea typeface="+mn-ea"/>
                <a:cs typeface="+mn-cs"/>
              </a:rPr>
              <a:pPr marL="0" marR="0" lvl="0" indent="0" algn="ctr" defTabSz="3255485" rtl="0" eaLnBrk="1" fontAlgn="auto" latinLnBrk="0" hangingPunct="1">
                <a:lnSpc>
                  <a:spcPct val="100000"/>
                </a:lnSpc>
                <a:spcBef>
                  <a:spcPts val="0"/>
                </a:spcBef>
                <a:spcAft>
                  <a:spcPts val="0"/>
                </a:spcAft>
                <a:buClrTx/>
                <a:buSzTx/>
                <a:buFontTx/>
                <a:buNone/>
                <a:tabLst/>
                <a:defRPr/>
              </a:pPr>
              <a:t>15</a:t>
            </a:fld>
            <a:endParaRPr kumimoji="0" lang="de-DE" sz="24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3424896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ctr" defTabSz="3255485" rtl="0" eaLnBrk="1" fontAlgn="auto" latinLnBrk="0" hangingPunct="1">
              <a:lnSpc>
                <a:spcPct val="100000"/>
              </a:lnSpc>
              <a:spcBef>
                <a:spcPts val="0"/>
              </a:spcBef>
              <a:spcAft>
                <a:spcPts val="0"/>
              </a:spcAft>
              <a:buClrTx/>
              <a:buSzTx/>
              <a:buFontTx/>
              <a:buNone/>
              <a:tabLst/>
              <a:defRPr/>
            </a:pPr>
            <a:fld id="{7D8C2C35-2B8A-446E-BEC0-FD36716C29AC}" type="slidenum">
              <a:rPr kumimoji="0" lang="de-DE" sz="2400" b="0" i="0" u="none" strike="noStrike" kern="1200" cap="none" spc="0" normalizeH="0" baseline="0" noProof="0">
                <a:ln>
                  <a:noFill/>
                </a:ln>
                <a:solidFill>
                  <a:srgbClr val="000000"/>
                </a:solidFill>
                <a:effectLst/>
                <a:uLnTx/>
                <a:uFillTx/>
                <a:latin typeface="Arial"/>
                <a:ea typeface="+mn-ea"/>
                <a:cs typeface="+mn-cs"/>
              </a:rPr>
              <a:pPr marL="0" marR="0" lvl="0" indent="0" algn="ctr" defTabSz="3255485" rtl="0" eaLnBrk="1" fontAlgn="auto" latinLnBrk="0" hangingPunct="1">
                <a:lnSpc>
                  <a:spcPct val="100000"/>
                </a:lnSpc>
                <a:spcBef>
                  <a:spcPts val="0"/>
                </a:spcBef>
                <a:spcAft>
                  <a:spcPts val="0"/>
                </a:spcAft>
                <a:buClrTx/>
                <a:buSzTx/>
                <a:buFontTx/>
                <a:buNone/>
                <a:tabLst/>
                <a:defRPr/>
              </a:pPr>
              <a:t>16</a:t>
            </a:fld>
            <a:endParaRPr kumimoji="0" lang="de-DE" sz="2400" b="0"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8611950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de-DE"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endParaRPr lang="de-DE" dirty="0"/>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de-DE" sz="1100" kern="1200" noProof="0" dirty="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SAP SE oder ein SAP-Konzernunternehmen nicht gestattet.</a:t>
            </a:r>
          </a:p>
          <a:p>
            <a:pPr>
              <a:spcBef>
                <a:spcPts val="1200"/>
              </a:spcBef>
            </a:pPr>
            <a:r>
              <a:rPr lang="de-DE" sz="1100" kern="1200" noProof="0" dirty="0">
                <a:solidFill>
                  <a:schemeClr val="tx1"/>
                </a:solidFill>
                <a:effectLst/>
                <a:latin typeface="Arial"/>
                <a:ea typeface="+mn-ea"/>
                <a:cs typeface="+mn-cs"/>
              </a:rPr>
              <a:t>In dieser Publikation enthaltene Informationen können ohne vorherige Ankündigung geändert werden. Die von SAP SE oder deren Vertriebsfirmen angebotenen Softwareprodukte können Softwarekomponenten auch anderer Softwarehersteller enthalten. Produkte können länderspezifische Unterschiede aufweisen.</a:t>
            </a:r>
          </a:p>
          <a:p>
            <a:pPr>
              <a:spcBef>
                <a:spcPts val="1200"/>
              </a:spcBef>
            </a:pPr>
            <a:r>
              <a:rPr lang="de-DE" sz="1100" kern="1200" noProof="0" dirty="0">
                <a:solidFill>
                  <a:schemeClr val="tx1"/>
                </a:solidFill>
                <a:effectLst/>
                <a:latin typeface="Arial"/>
                <a:ea typeface="+mn-ea"/>
                <a:cs typeface="+mn-cs"/>
              </a:rPr>
              <a:t>Die vorliegenden Unterlagen werden von der SAP SE oder einem SAP-Konzernunternehmen bereitgestellt und dienen ausschließlich zu Informationszwecken.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ihre Konzernunternehmen übernehmen keinerlei Haftung oder Gewährleistung für Fehler oder Unvollständigkeiten in dieser Publikation.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1200"/>
              </a:spcBef>
            </a:pPr>
            <a:r>
              <a:rPr lang="de-DE" sz="1100" kern="1200" noProof="0" dirty="0">
                <a:solidFill>
                  <a:schemeClr val="tx1"/>
                </a:solidFill>
                <a:effectLst/>
                <a:latin typeface="Arial"/>
                <a:ea typeface="+mn-ea"/>
                <a:cs typeface="+mn-cs"/>
              </a:rPr>
              <a:t>Insbesondere sind die SAP SE oder ihre Konzernunternehmen in keiner Weise verpflichtet, in dieser Publikation oder einer zugehörigen Präsentation dargestellte Geschäftsabläufe zu verfolgen oder hierin wiedergegebene Funktionen zu entwickeln oder zu veröffentlichen. Diese Publikation oder eine zugehörige Präsentation, die Strategie und etwaige künftige Entwicklungen, Produkte und/oder Plattformen der SAP SE oder ihrer Konzernunternehmen können von der SAP SE oder ihren Konzernunternehmen jederzeit und ohne Angabe von Gründen unangekündigt geändert werden. 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die tatsächlichen Ergebnisse von den Erwartungen abweichen können. Dem Leser wird empfohlen, diesen vorausschauenden Aussagen kein übertriebenes Vertrauen zu schenken und sich bei Kaufentscheidungen nicht auf sie zu stützen.</a:t>
            </a:r>
          </a:p>
          <a:p>
            <a:pPr>
              <a:spcBef>
                <a:spcPts val="1200"/>
              </a:spcBef>
            </a:pPr>
            <a:r>
              <a:rPr lang="de-DE" sz="1100" kern="1200" noProof="0" dirty="0">
                <a:solidFill>
                  <a:schemeClr val="tx1"/>
                </a:solidFill>
                <a:effectLst/>
                <a:latin typeface="Arial"/>
                <a:ea typeface="+mn-ea"/>
                <a:cs typeface="+mn-cs"/>
              </a:rPr>
              <a:t>SAP und andere in diesem Dokument erwähnte Produkte und Dienstleistungen von SAP sowie die dazugehörigen Logos sind Marken oder eingetragene Marken der SAP SE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(oder von einem SAP-Konzernunternehmen) in Deutschland und verschiedenen anderen Ländern weltweit. Alle anderen Namen von Produkten und Dienstleistungen sind Marken der jeweiligen Firmen.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Zusätzliche Informationen zur Marke und Vermerke finden Sie auf der Seite </a:t>
            </a:r>
            <a:r>
              <a:rPr lang="de-DE" sz="1100" kern="1200" noProof="0" dirty="0">
                <a:solidFill>
                  <a:schemeClr val="tx1"/>
                </a:solidFill>
                <a:effectLst/>
                <a:latin typeface="Arial"/>
                <a:ea typeface="+mn-ea"/>
                <a:cs typeface="+mn-cs"/>
                <a:hlinkClick r:id="rId2"/>
              </a:rPr>
              <a:t>http://www.sap.com/corporate-de/legal/copyright/index.epx</a:t>
            </a:r>
            <a:endParaRPr lang="de-DE"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a:t>
            </a:r>
            <a:r>
              <a:rPr lang="de-DE" sz="2400" b="0" noProof="0" dirty="0"/>
              <a:t>2017 SAP SE oder ein SAP-Konzernunternehmen. Alle Rechte vorbehalten.</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881921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454803305"/>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2988489963"/>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endParaRPr lang="en-US" sz="900" b="0" dirty="0"/>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de-DE" dirty="0"/>
          </a:p>
        </p:txBody>
      </p:sp>
    </p:spTree>
    <p:extLst>
      <p:ext uri="{BB962C8B-B14F-4D97-AF65-F5344CB8AC3E}">
        <p14:creationId xmlns:p14="http://schemas.microsoft.com/office/powerpoint/2010/main" val="2018608604"/>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421847828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87091151"/>
      </p:ext>
    </p:extLst>
  </p:cSld>
  <p:clrMapOvr>
    <a:masterClrMapping/>
  </p:clrMapOvr>
  <p:hf sldNum="0"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883043530"/>
      </p:ext>
    </p:extLst>
  </p:cSld>
  <p:clrMapOvr>
    <a:masterClrMapping/>
  </p:clrMapOvr>
  <p:hf sldNum="0"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2998156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5174246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56607161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3152163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60187398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22606150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244134363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bg1"/>
        </a:solidFill>
        <a:effectLst/>
      </p:bgPr>
    </p:bg>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219624242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0843093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36353112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335797800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08444832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622751984"/>
      </p:ext>
    </p:extLst>
  </p:cSld>
  <p:clrMapOvr>
    <a:masterClrMapping/>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83220333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05781917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658132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endParaRPr lang="de-DE" dirty="0"/>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938554712"/>
      </p:ext>
    </p:extLst>
  </p:cSld>
  <p:clrMapOvr>
    <a:masterClrMapping/>
  </p:clrMapOvr>
  <p:hf sldNum="0" hdr="0" ftr="0" dt="0"/>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720490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de-DE" sz="1100" kern="1200" noProof="0" dirty="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SAP SE oder ein SAP-Konzernunternehmen nicht gestattet.</a:t>
            </a:r>
          </a:p>
          <a:p>
            <a:pPr>
              <a:spcBef>
                <a:spcPts val="1200"/>
              </a:spcBef>
            </a:pPr>
            <a:r>
              <a:rPr lang="de-DE" sz="1100" kern="1200" noProof="0" dirty="0">
                <a:solidFill>
                  <a:schemeClr val="tx1"/>
                </a:solidFill>
                <a:effectLst/>
                <a:latin typeface="Arial"/>
                <a:ea typeface="+mn-ea"/>
                <a:cs typeface="+mn-cs"/>
              </a:rPr>
              <a:t>In dieser Publikation enthaltene Informationen können ohne vorherige Ankündigung geändert werden. Die von SAP SE oder deren Vertriebsfirmen angebotenen Softwareprodukte können Softwarekomponenten auch anderer Softwarehersteller enthalten. Produkte können länderspezifische Unterschiede aufweisen.</a:t>
            </a:r>
          </a:p>
          <a:p>
            <a:pPr>
              <a:spcBef>
                <a:spcPts val="1200"/>
              </a:spcBef>
            </a:pPr>
            <a:r>
              <a:rPr lang="de-DE" sz="1100" kern="1200" noProof="0" dirty="0">
                <a:solidFill>
                  <a:schemeClr val="tx1"/>
                </a:solidFill>
                <a:effectLst/>
                <a:latin typeface="Arial"/>
                <a:ea typeface="+mn-ea"/>
                <a:cs typeface="+mn-cs"/>
              </a:rPr>
              <a:t>Die vorliegenden Unterlagen werden von der SAP SE oder einem SAP-Konzernunternehmen bereitgestellt und dienen ausschließlich zu Informationszwecken.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ihre Konzernunternehmen übernehmen keinerlei Haftung oder Gewährleistung für Fehler oder Unvollständigkeiten in dieser Publikation.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Die SAP SE 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1200"/>
              </a:spcBef>
            </a:pPr>
            <a:r>
              <a:rPr lang="de-DE" sz="1100" kern="1200" noProof="0" dirty="0">
                <a:solidFill>
                  <a:schemeClr val="tx1"/>
                </a:solidFill>
                <a:effectLst/>
                <a:latin typeface="Arial"/>
                <a:ea typeface="+mn-ea"/>
                <a:cs typeface="+mn-cs"/>
              </a:rPr>
              <a:t>Insbesondere sind die SAP SE oder ihre Konzernunternehmen in keiner Weise verpflichtet, in dieser Publikation oder einer zugehörigen Präsentation dargestellte Geschäftsabläufe zu verfolgen oder hierin wiedergegebene Funktionen zu entwickeln oder zu veröffentlichen. Diese Publikation oder eine zugehörige Präsentation, die Strategie und etwaige künftige Entwicklungen, Produkte und/oder Plattformen der SAP SE oder ihrer Konzernunternehmen können von der SAP SE oder ihren Konzernunternehmen jederzeit und ohne Angabe von Gründen unangekündigt geändert werden. 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die tatsächlichen Ergebnisse von den Erwartungen abweichen können. Dem Leser wird empfohlen, diesen vorausschauenden Aussagen kein übertriebenes Vertrauen zu schenken und sich bei Kaufentscheidungen nicht auf sie zu stützen.</a:t>
            </a:r>
          </a:p>
          <a:p>
            <a:pPr>
              <a:spcBef>
                <a:spcPts val="1200"/>
              </a:spcBef>
            </a:pPr>
            <a:r>
              <a:rPr lang="de-DE" sz="1100" kern="1200" noProof="0" dirty="0">
                <a:solidFill>
                  <a:schemeClr val="tx1"/>
                </a:solidFill>
                <a:effectLst/>
                <a:latin typeface="Arial"/>
                <a:ea typeface="+mn-ea"/>
                <a:cs typeface="+mn-cs"/>
              </a:rPr>
              <a:t>SAP und andere in diesem Dokument erwähnte Produkte und Dienstleistungen von SAP sowie die dazugehörigen Logos sind Marken oder eingetragene Marken der SAP SE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(oder von einem SAP-Konzernunternehmen) in Deutschland und verschiedenen anderen Ländern weltweit. Alle anderen Namen von Produkten und Dienstleistungen sind Marken der jeweiligen Firmen. </a:t>
            </a:r>
            <a:br>
              <a:rPr lang="de-DE" sz="1100" kern="1200" noProof="0" dirty="0">
                <a:solidFill>
                  <a:schemeClr val="tx1"/>
                </a:solidFill>
                <a:effectLst/>
                <a:latin typeface="Arial"/>
                <a:ea typeface="+mn-ea"/>
                <a:cs typeface="+mn-cs"/>
              </a:rPr>
            </a:br>
            <a:r>
              <a:rPr lang="de-DE" sz="1100" kern="1200" noProof="0" dirty="0">
                <a:solidFill>
                  <a:schemeClr val="tx1"/>
                </a:solidFill>
                <a:effectLst/>
                <a:latin typeface="Arial"/>
                <a:ea typeface="+mn-ea"/>
                <a:cs typeface="+mn-cs"/>
              </a:rPr>
              <a:t>Zusätzliche Informationen zur Marke und Vermerke finden Sie auf der Seite </a:t>
            </a:r>
            <a:r>
              <a:rPr lang="de-DE" sz="1100" kern="1200" noProof="0" dirty="0">
                <a:solidFill>
                  <a:schemeClr val="tx1"/>
                </a:solidFill>
                <a:effectLst/>
                <a:latin typeface="Arial"/>
                <a:ea typeface="+mn-ea"/>
                <a:cs typeface="+mn-cs"/>
                <a:hlinkClick r:id="rId2"/>
              </a:rPr>
              <a:t>http://www.sap.com/corporate-de/legal/copyright/index.epx</a:t>
            </a:r>
            <a:endParaRPr lang="de-DE"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a:t>
            </a:r>
            <a:r>
              <a:rPr lang="de-DE" sz="2400" b="0" noProof="0" dirty="0"/>
              <a:t>2017 SAP SE oder ein SAP-Konzernunternehmen. Alle Rechte vorbehalten.</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5736705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 Type="http://schemas.openxmlformats.org/officeDocument/2006/relationships/slideLayout" Target="../slideLayouts/slideLayout29.xml"/><Relationship Id="rId21" Type="http://schemas.openxmlformats.org/officeDocument/2006/relationships/slideLayout" Target="../slideLayouts/slideLayout47.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0" Type="http://schemas.openxmlformats.org/officeDocument/2006/relationships/slideLayout" Target="../slideLayouts/slideLayout46.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5" Type="http://schemas.openxmlformats.org/officeDocument/2006/relationships/slideLayout" Target="../slideLayouts/slideLayout31.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10" Type="http://schemas.openxmlformats.org/officeDocument/2006/relationships/slideLayout" Target="../slideLayouts/slideLayout36.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169806322"/>
      </p:ext>
    </p:extLst>
  </p:cSld>
  <p:clrMap bg1="dk1" tx1="lt1" bg2="dk2" tx2="lt2" accent1="accent1" accent2="accent2" accent3="accent3" accent4="accent4" accent5="accent5" accent6="accent6" hlink="hlink" folHlink="folHlink"/>
  <p:sldLayoutIdLst>
    <p:sldLayoutId id="2147483778" r:id="rId1"/>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 id="2147483791" r:id="rId14"/>
    <p:sldLayoutId id="2147483792" r:id="rId15"/>
    <p:sldLayoutId id="2147483793" r:id="rId16"/>
    <p:sldLayoutId id="2147483794" r:id="rId17"/>
    <p:sldLayoutId id="2147483795" r:id="rId18"/>
    <p:sldLayoutId id="2147483796" r:id="rId19"/>
    <p:sldLayoutId id="2147483797" r:id="rId20"/>
    <p:sldLayoutId id="2147483798" r:id="rId21"/>
    <p:sldLayoutId id="2147483799" r:id="rId22"/>
    <p:sldLayoutId id="2147483800" r:id="rId23"/>
    <p:sldLayoutId id="2147483801" r:id="rId24"/>
    <p:sldLayoutId id="2147483802" r:id="rId25"/>
    <p:sldLayoutId id="2147483803"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kubernetes.io/docs/concepts/overview/working-with-objects/labels/" TargetMode="Externa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5.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5.xml"/><Relationship Id="rId6" Type="http://schemas.openxmlformats.org/officeDocument/2006/relationships/image" Target="../media/image11.png"/><Relationship Id="rId5" Type="http://schemas.openxmlformats.org/officeDocument/2006/relationships/image" Target="../media/image12.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5.xml"/><Relationship Id="rId6" Type="http://schemas.openxmlformats.org/officeDocument/2006/relationships/image" Target="../media/image14.png"/><Relationship Id="rId5" Type="http://schemas.openxmlformats.org/officeDocument/2006/relationships/image" Target="../media/image7.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34.xml"/><Relationship Id="rId1" Type="http://schemas.openxmlformats.org/officeDocument/2006/relationships/themeOverride" Target="../theme/themeOverride1.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4.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4.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Deployments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D24C773A-B80D-4ACD-8E88-83D16CDAEBC9}"/>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err="1"/>
              <a:t>Introducing</a:t>
            </a:r>
            <a:r>
              <a:rPr lang="de-DE" dirty="0"/>
              <a:t> </a:t>
            </a:r>
            <a:r>
              <a:rPr lang="de-DE" dirty="0" err="1"/>
              <a:t>labels</a:t>
            </a:r>
            <a:r>
              <a:rPr lang="de-DE" dirty="0"/>
              <a:t> &amp; </a:t>
            </a:r>
            <a:r>
              <a:rPr lang="de-DE" dirty="0" err="1"/>
              <a:t>selectors</a:t>
            </a:r>
            <a:endParaRPr lang="de-DE" dirty="0"/>
          </a:p>
        </p:txBody>
      </p:sp>
      <p:sp>
        <p:nvSpPr>
          <p:cNvPr id="3" name="Rectangle 2"/>
          <p:cNvSpPr/>
          <p:nvPr/>
        </p:nvSpPr>
        <p:spPr>
          <a:xfrm>
            <a:off x="1647953" y="5794159"/>
            <a:ext cx="8898572" cy="415498"/>
          </a:xfrm>
          <a:prstGeom prst="rect">
            <a:avLst/>
          </a:prstGeom>
        </p:spPr>
        <p:txBody>
          <a:bodyPr wrap="square">
            <a:spAutoFit/>
          </a:bodyPr>
          <a:lstStyle/>
          <a:p>
            <a:pPr algn="ctr"/>
            <a:r>
              <a:rPr lang="de-DE" dirty="0">
                <a:hlinkClick r:id="rId3"/>
              </a:rPr>
              <a:t>https://kubernetes.io/docs/concepts/overview/working-with-objects/labels/</a:t>
            </a:r>
            <a:r>
              <a:rPr lang="de-DE" dirty="0"/>
              <a:t> </a:t>
            </a:r>
          </a:p>
        </p:txBody>
      </p:sp>
      <p:pic>
        <p:nvPicPr>
          <p:cNvPr id="4" name="Picture 3"/>
          <p:cNvPicPr>
            <a:picLocks noChangeAspect="1"/>
          </p:cNvPicPr>
          <p:nvPr/>
        </p:nvPicPr>
        <p:blipFill>
          <a:blip r:embed="rId4"/>
          <a:stretch>
            <a:fillRect/>
          </a:stretch>
        </p:blipFill>
        <p:spPr>
          <a:xfrm>
            <a:off x="7862751" y="1200733"/>
            <a:ext cx="2638095" cy="1342857"/>
          </a:xfrm>
          <a:prstGeom prst="rect">
            <a:avLst/>
          </a:prstGeom>
        </p:spPr>
      </p:pic>
      <p:sp>
        <p:nvSpPr>
          <p:cNvPr id="5" name="Text Placeholder 2"/>
          <p:cNvSpPr txBox="1">
            <a:spLocks/>
          </p:cNvSpPr>
          <p:nvPr/>
        </p:nvSpPr>
        <p:spPr>
          <a:xfrm>
            <a:off x="504000" y="1124700"/>
            <a:ext cx="8159939" cy="4727460"/>
          </a:xfrm>
          <a:prstGeom prst="rect">
            <a:avLst/>
          </a:prstGeom>
        </p:spPr>
        <p:txBody>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lvl="1"/>
            <a:r>
              <a:rPr lang="en-US" dirty="0"/>
              <a:t>Labels are </a:t>
            </a:r>
            <a:r>
              <a:rPr lang="en-US" dirty="0" err="1"/>
              <a:t>key:value</a:t>
            </a:r>
            <a:r>
              <a:rPr lang="en-US" dirty="0"/>
              <a:t> pairs in </a:t>
            </a:r>
            <a:r>
              <a:rPr lang="en-US" dirty="0" err="1"/>
              <a:t>kubernetes</a:t>
            </a:r>
            <a:endParaRPr lang="en-US" dirty="0"/>
          </a:p>
          <a:p>
            <a:pPr lvl="1"/>
            <a:r>
              <a:rPr lang="en-US" dirty="0"/>
              <a:t>Labels are part of the “metadata” section of a resource</a:t>
            </a:r>
          </a:p>
          <a:p>
            <a:pPr lvl="1"/>
            <a:r>
              <a:rPr lang="en-US" dirty="0"/>
              <a:t>Basically everything can be labeled (pods, nodes, …)</a:t>
            </a:r>
          </a:p>
          <a:p>
            <a:pPr lvl="1"/>
            <a:r>
              <a:rPr lang="en-US" dirty="0"/>
              <a:t>Example: “</a:t>
            </a:r>
            <a:r>
              <a:rPr lang="en-US" dirty="0" err="1"/>
              <a:t>release”:”stable</a:t>
            </a:r>
            <a:r>
              <a:rPr lang="en-US" dirty="0"/>
              <a:t>”, “</a:t>
            </a:r>
            <a:r>
              <a:rPr lang="en-US" dirty="0" err="1"/>
              <a:t>release”:”canary</a:t>
            </a:r>
            <a:r>
              <a:rPr lang="en-US" dirty="0"/>
              <a:t>”, </a:t>
            </a:r>
            <a:br>
              <a:rPr lang="en-US" dirty="0"/>
            </a:br>
            <a:r>
              <a:rPr lang="en-US" dirty="0"/>
              <a:t>“</a:t>
            </a:r>
            <a:r>
              <a:rPr lang="en-US" dirty="0" err="1"/>
              <a:t>com.sap</a:t>
            </a:r>
            <a:r>
              <a:rPr lang="en-US" dirty="0"/>
              <a:t>/product-name”:”</a:t>
            </a:r>
            <a:r>
              <a:rPr lang="en-US" dirty="0" err="1"/>
              <a:t>hana</a:t>
            </a:r>
            <a:r>
              <a:rPr lang="en-US" dirty="0"/>
              <a:t>”</a:t>
            </a:r>
          </a:p>
          <a:p>
            <a:pPr lvl="1"/>
            <a:endParaRPr lang="en-US" dirty="0"/>
          </a:p>
          <a:p>
            <a:pPr lvl="1"/>
            <a:endParaRPr lang="en-US" dirty="0"/>
          </a:p>
          <a:p>
            <a:pPr lvl="1"/>
            <a:r>
              <a:rPr lang="en-US" dirty="0"/>
              <a:t>Based on labels Kubernetes offers selection / filtering / assignments</a:t>
            </a:r>
          </a:p>
          <a:p>
            <a:pPr lvl="1"/>
            <a:r>
              <a:rPr lang="en-US" dirty="0"/>
              <a:t>Equality-based selectors (true / false)</a:t>
            </a:r>
          </a:p>
          <a:p>
            <a:pPr lvl="1"/>
            <a:r>
              <a:rPr lang="en-US" dirty="0"/>
              <a:t>Set-based selectors (in, </a:t>
            </a:r>
            <a:r>
              <a:rPr lang="en-US" dirty="0" err="1"/>
              <a:t>notin</a:t>
            </a:r>
            <a:r>
              <a:rPr lang="en-US" dirty="0"/>
              <a:t>, exists)</a:t>
            </a:r>
          </a:p>
          <a:p>
            <a:pPr marL="0" lvl="1" indent="0">
              <a:buNone/>
            </a:pPr>
            <a:endParaRPr lang="en-US" dirty="0"/>
          </a:p>
        </p:txBody>
      </p:sp>
      <p:pic>
        <p:nvPicPr>
          <p:cNvPr id="6" name="Picture 5"/>
          <p:cNvPicPr>
            <a:picLocks noChangeAspect="1"/>
          </p:cNvPicPr>
          <p:nvPr/>
        </p:nvPicPr>
        <p:blipFill>
          <a:blip r:embed="rId5"/>
          <a:stretch>
            <a:fillRect/>
          </a:stretch>
        </p:blipFill>
        <p:spPr>
          <a:xfrm>
            <a:off x="7862751" y="3213685"/>
            <a:ext cx="3076190" cy="742857"/>
          </a:xfrm>
          <a:prstGeom prst="rect">
            <a:avLst/>
          </a:prstGeom>
        </p:spPr>
      </p:pic>
      <p:pic>
        <p:nvPicPr>
          <p:cNvPr id="7" name="Picture 6"/>
          <p:cNvPicPr>
            <a:picLocks noChangeAspect="1"/>
          </p:cNvPicPr>
          <p:nvPr/>
        </p:nvPicPr>
        <p:blipFill>
          <a:blip r:embed="rId6"/>
          <a:stretch>
            <a:fillRect/>
          </a:stretch>
        </p:blipFill>
        <p:spPr>
          <a:xfrm>
            <a:off x="7862751" y="4082226"/>
            <a:ext cx="3971429" cy="1266667"/>
          </a:xfrm>
          <a:prstGeom prst="rect">
            <a:avLst/>
          </a:prstGeom>
        </p:spPr>
      </p:pic>
    </p:spTree>
    <p:extLst>
      <p:ext uri="{BB962C8B-B14F-4D97-AF65-F5344CB8AC3E}">
        <p14:creationId xmlns:p14="http://schemas.microsoft.com/office/powerpoint/2010/main" val="8641918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Rounded Corners 10"/>
          <p:cNvSpPr/>
          <p:nvPr/>
        </p:nvSpPr>
        <p:spPr bwMode="gray">
          <a:xfrm>
            <a:off x="1313895" y="2669495"/>
            <a:ext cx="8904303" cy="2476870"/>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 name="Title 1"/>
          <p:cNvSpPr>
            <a:spLocks noGrp="1"/>
          </p:cNvSpPr>
          <p:nvPr>
            <p:ph type="title"/>
          </p:nvPr>
        </p:nvSpPr>
        <p:spPr/>
        <p:txBody>
          <a:bodyPr/>
          <a:lstStyle/>
          <a:p>
            <a:r>
              <a:rPr lang="en-US" dirty="0"/>
              <a:t>Why do we need labels &amp; selectors?</a:t>
            </a:r>
          </a:p>
        </p:txBody>
      </p:sp>
      <p:sp>
        <p:nvSpPr>
          <p:cNvPr id="3" name="Text Placeholder 2"/>
          <p:cNvSpPr txBox="1">
            <a:spLocks/>
          </p:cNvSpPr>
          <p:nvPr/>
        </p:nvSpPr>
        <p:spPr>
          <a:xfrm>
            <a:off x="1640342" y="1497562"/>
            <a:ext cx="8728777" cy="997063"/>
          </a:xfrm>
          <a:prstGeom prst="rect">
            <a:avLst/>
          </a:prstGeom>
        </p:spPr>
        <p:txBody>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None/>
            </a:pPr>
            <a:r>
              <a:rPr lang="en-US" b="1" dirty="0"/>
              <a:t>“In an environment, where names can change and most thing are ephemeral, we need a mechanism to identify a single or a set of objects reliably”</a:t>
            </a:r>
          </a:p>
        </p:txBody>
      </p:sp>
      <p:sp>
        <p:nvSpPr>
          <p:cNvPr id="4" name="Rectangle 3"/>
          <p:cNvSpPr/>
          <p:nvPr/>
        </p:nvSpPr>
        <p:spPr bwMode="gray">
          <a:xfrm>
            <a:off x="2595087" y="3633266"/>
            <a:ext cx="1208595" cy="773906"/>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solidFill>
                  <a:sysClr val="windowText" lastClr="000000"/>
                </a:solidFill>
                <a:ea typeface="Arial Unicode MS" pitchFamily="34" charset="-128"/>
                <a:cs typeface="Arial Unicode MS" pitchFamily="34" charset="-128"/>
              </a:rPr>
              <a:t>koopa</a:t>
            </a:r>
            <a:r>
              <a:rPr lang="de-DE" sz="1600" b="1" kern="0" noProof="0" dirty="0">
                <a:solidFill>
                  <a:sysClr val="windowText" lastClr="000000"/>
                </a:solidFill>
                <a:ea typeface="Arial Unicode MS" pitchFamily="34" charset="-128"/>
                <a:cs typeface="Arial Unicode MS" pitchFamily="34" charset="-128"/>
              </a:rPr>
              <a:t>-A</a:t>
            </a:r>
            <a:endParaRPr kumimoji="0" lang="de-DE"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5" name="Rectangle 4"/>
          <p:cNvSpPr/>
          <p:nvPr/>
        </p:nvSpPr>
        <p:spPr bwMode="gray">
          <a:xfrm>
            <a:off x="1465871" y="3450386"/>
            <a:ext cx="1729137"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species: </a:t>
            </a:r>
            <a:r>
              <a:rPr lang="en-US" sz="1800" kern="0" dirty="0" err="1">
                <a:ea typeface="Arial Unicode MS" pitchFamily="34" charset="-128"/>
                <a:cs typeface="Arial Unicode MS" pitchFamily="34" charset="-128"/>
              </a:rPr>
              <a:t>koopa</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5400432" y="3633266"/>
            <a:ext cx="1208595" cy="773906"/>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solidFill>
                  <a:sysClr val="windowText" lastClr="000000"/>
                </a:solidFill>
                <a:ea typeface="Arial Unicode MS" pitchFamily="34" charset="-128"/>
                <a:cs typeface="Arial Unicode MS" pitchFamily="34" charset="-128"/>
              </a:rPr>
              <a:t>koopa</a:t>
            </a:r>
            <a:r>
              <a:rPr lang="de-DE" sz="1600" b="1" kern="0" noProof="0" dirty="0">
                <a:solidFill>
                  <a:sysClr val="windowText" lastClr="000000"/>
                </a:solidFill>
                <a:ea typeface="Arial Unicode MS" pitchFamily="34" charset="-128"/>
                <a:cs typeface="Arial Unicode MS" pitchFamily="34" charset="-128"/>
              </a:rPr>
              <a:t>-B</a:t>
            </a:r>
            <a:endParaRPr kumimoji="0" lang="de-DE"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8" name="Rectangle 7"/>
          <p:cNvSpPr/>
          <p:nvPr/>
        </p:nvSpPr>
        <p:spPr bwMode="gray">
          <a:xfrm>
            <a:off x="8205777" y="3633266"/>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Pod</a:t>
            </a:r>
            <a:r>
              <a:rPr lang="de-DE" sz="1600" b="1" kern="0" noProof="0" dirty="0">
                <a:ea typeface="Arial Unicode MS" pitchFamily="34" charset="-128"/>
                <a:cs typeface="Arial Unicode MS" pitchFamily="34" charset="-128"/>
              </a:rPr>
              <a:t>-C</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Flowchart: Document 9"/>
          <p:cNvSpPr/>
          <p:nvPr/>
        </p:nvSpPr>
        <p:spPr bwMode="gray">
          <a:xfrm>
            <a:off x="892415" y="2438675"/>
            <a:ext cx="1926985"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Selector: species: </a:t>
            </a:r>
            <a:r>
              <a:rPr lang="en-US" sz="1800" kern="0" dirty="0" err="1">
                <a:ea typeface="Arial Unicode MS" pitchFamily="34" charset="-128"/>
                <a:cs typeface="Arial Unicode MS" pitchFamily="34" charset="-128"/>
              </a:rPr>
              <a:t>koopa</a:t>
            </a:r>
            <a:endParaRPr lang="en-US" sz="1800" kern="0" dirty="0">
              <a:ea typeface="Arial Unicode MS" pitchFamily="34" charset="-128"/>
              <a:cs typeface="Arial Unicode MS" pitchFamily="34" charset="-128"/>
            </a:endParaRPr>
          </a:p>
        </p:txBody>
      </p:sp>
      <p:sp>
        <p:nvSpPr>
          <p:cNvPr id="12" name="Rectangle 11"/>
          <p:cNvSpPr/>
          <p:nvPr/>
        </p:nvSpPr>
        <p:spPr bwMode="gray">
          <a:xfrm>
            <a:off x="8201754" y="3633266"/>
            <a:ext cx="1208595" cy="773906"/>
          </a:xfrm>
          <a:prstGeom prst="rect">
            <a:avLst/>
          </a:prstGeom>
          <a:solidFill>
            <a:schemeClr val="tx2"/>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dirty="0" err="1">
                <a:solidFill>
                  <a:sysClr val="windowText" lastClr="000000"/>
                </a:solidFill>
                <a:ea typeface="Arial Unicode MS" pitchFamily="34" charset="-128"/>
                <a:cs typeface="Arial Unicode MS" pitchFamily="34" charset="-128"/>
              </a:rPr>
              <a:t>koopa</a:t>
            </a:r>
            <a:r>
              <a:rPr lang="de-DE" sz="1600" b="1" kern="0" noProof="0" dirty="0">
                <a:solidFill>
                  <a:sysClr val="windowText" lastClr="000000"/>
                </a:solidFill>
                <a:ea typeface="Arial Unicode MS" pitchFamily="34" charset="-128"/>
                <a:cs typeface="Arial Unicode MS" pitchFamily="34" charset="-128"/>
              </a:rPr>
              <a:t>-C</a:t>
            </a:r>
            <a:endParaRPr kumimoji="0" lang="de-DE"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pic>
        <p:nvPicPr>
          <p:cNvPr id="13" name="Picture 2" descr="https://vignette.wikia.nocookie.net/nintendo/images/8/83/KoopaNSMB.png/revision/latest?cb=20110724132501&amp;path-prefix=en">
            <a:extLst>
              <a:ext uri="{FF2B5EF4-FFF2-40B4-BE49-F238E27FC236}">
                <a16:creationId xmlns:a16="http://schemas.microsoft.com/office/drawing/2014/main" id="{A1C5E14C-377A-407D-893E-54B7B1EB97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729" y="4479164"/>
            <a:ext cx="1025020" cy="163097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https://vignette.wikia.nocookie.net/nintendo/images/8/83/KoopaNSMB.png/revision/latest?cb=20110724132501&amp;path-prefix=en">
            <a:extLst>
              <a:ext uri="{FF2B5EF4-FFF2-40B4-BE49-F238E27FC236}">
                <a16:creationId xmlns:a16="http://schemas.microsoft.com/office/drawing/2014/main" id="{BAD9B6BE-86E1-420B-83D4-C7B0CBC69E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93541" y="4479164"/>
            <a:ext cx="1025020" cy="163097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https://vignette.wikia.nocookie.net/nintendo/images/8/83/KoopaNSMB.png/revision/latest?cb=20110724132501&amp;path-prefix=en">
            <a:extLst>
              <a:ext uri="{FF2B5EF4-FFF2-40B4-BE49-F238E27FC236}">
                <a16:creationId xmlns:a16="http://schemas.microsoft.com/office/drawing/2014/main" id="{A3E03BF7-047D-41A3-AEF2-AFD5868AA2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82498" y="4474528"/>
            <a:ext cx="1025020" cy="1630972"/>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1C98A382-EE16-485C-AE0F-67161D302C1C}"/>
              </a:ext>
            </a:extLst>
          </p:cNvPr>
          <p:cNvSpPr/>
          <p:nvPr/>
        </p:nvSpPr>
        <p:spPr bwMode="gray">
          <a:xfrm>
            <a:off x="4368102" y="3450386"/>
            <a:ext cx="1729137"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species: </a:t>
            </a:r>
            <a:r>
              <a:rPr lang="en-US" sz="1800" kern="0" dirty="0" err="1">
                <a:ea typeface="Arial Unicode MS" pitchFamily="34" charset="-128"/>
                <a:cs typeface="Arial Unicode MS" pitchFamily="34" charset="-128"/>
              </a:rPr>
              <a:t>koopa</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7" name="Rectangle 16">
            <a:extLst>
              <a:ext uri="{FF2B5EF4-FFF2-40B4-BE49-F238E27FC236}">
                <a16:creationId xmlns:a16="http://schemas.microsoft.com/office/drawing/2014/main" id="{1EF57EA0-4CFA-4579-AFE2-7158841999DC}"/>
              </a:ext>
            </a:extLst>
          </p:cNvPr>
          <p:cNvSpPr/>
          <p:nvPr/>
        </p:nvSpPr>
        <p:spPr bwMode="gray">
          <a:xfrm>
            <a:off x="7076914" y="3450386"/>
            <a:ext cx="1729137"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species: </a:t>
            </a:r>
            <a:r>
              <a:rPr lang="en-US" sz="1800" kern="0" dirty="0" err="1">
                <a:ea typeface="Arial Unicode MS" pitchFamily="34" charset="-128"/>
                <a:cs typeface="Arial Unicode MS" pitchFamily="34" charset="-128"/>
              </a:rPr>
              <a:t>koopa</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5974183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err="1"/>
              <a:t>Using</a:t>
            </a:r>
            <a:r>
              <a:rPr lang="de-DE" dirty="0"/>
              <a:t> </a:t>
            </a:r>
            <a:r>
              <a:rPr lang="de-DE" dirty="0" err="1"/>
              <a:t>labels</a:t>
            </a:r>
            <a:r>
              <a:rPr lang="de-DE" dirty="0"/>
              <a:t> &amp; </a:t>
            </a:r>
            <a:r>
              <a:rPr lang="de-DE" dirty="0" err="1"/>
              <a:t>selectors</a:t>
            </a:r>
            <a:endParaRPr lang="de-DE" dirty="0"/>
          </a:p>
        </p:txBody>
      </p:sp>
      <p:sp>
        <p:nvSpPr>
          <p:cNvPr id="3" name="Text Placeholder 2"/>
          <p:cNvSpPr txBox="1">
            <a:spLocks/>
          </p:cNvSpPr>
          <p:nvPr/>
        </p:nvSpPr>
        <p:spPr>
          <a:xfrm>
            <a:off x="504000" y="1124700"/>
            <a:ext cx="8159939" cy="4727460"/>
          </a:xfrm>
          <a:prstGeom prst="rect">
            <a:avLst/>
          </a:prstGeom>
        </p:spPr>
        <p:txBody>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pPr marL="0" lvl="1" indent="0">
              <a:buNone/>
            </a:pPr>
            <a:endParaRPr lang="en-US" dirty="0"/>
          </a:p>
          <a:p>
            <a:pPr lvl="1"/>
            <a:r>
              <a:rPr lang="en-US" dirty="0"/>
              <a:t>Labels &amp; selectors in resources</a:t>
            </a:r>
          </a:p>
          <a:p>
            <a:pPr lvl="2"/>
            <a:r>
              <a:rPr lang="en-US" dirty="0" err="1"/>
              <a:t>metadata.labels</a:t>
            </a:r>
            <a:r>
              <a:rPr lang="en-US" dirty="0"/>
              <a:t> </a:t>
            </a:r>
          </a:p>
          <a:p>
            <a:pPr lvl="2"/>
            <a:r>
              <a:rPr lang="en-US" dirty="0"/>
              <a:t>selector</a:t>
            </a:r>
          </a:p>
          <a:p>
            <a:pPr lvl="2"/>
            <a:r>
              <a:rPr lang="en-US" dirty="0" err="1"/>
              <a:t>selector.matchLabel</a:t>
            </a:r>
            <a:r>
              <a:rPr lang="en-US" dirty="0"/>
              <a:t> / </a:t>
            </a:r>
            <a:r>
              <a:rPr lang="en-US" dirty="0" err="1"/>
              <a:t>selector.matchExpression</a:t>
            </a:r>
            <a:endParaRPr lang="en-US" dirty="0"/>
          </a:p>
          <a:p>
            <a:pPr lvl="2"/>
            <a:endParaRPr lang="en-US" dirty="0"/>
          </a:p>
          <a:p>
            <a:pPr lvl="2"/>
            <a:endParaRPr lang="en-US" dirty="0"/>
          </a:p>
          <a:p>
            <a:pPr lvl="2"/>
            <a:endParaRPr lang="en-US" dirty="0"/>
          </a:p>
          <a:p>
            <a:pPr lvl="2"/>
            <a:endParaRPr lang="en-US" dirty="0"/>
          </a:p>
          <a:p>
            <a:pPr lvl="2"/>
            <a:endParaRPr lang="en-US" dirty="0"/>
          </a:p>
          <a:p>
            <a:pPr marL="179387" lvl="2" indent="0">
              <a:buNone/>
            </a:pPr>
            <a:endParaRPr lang="en-US" dirty="0"/>
          </a:p>
          <a:p>
            <a:pPr lvl="1"/>
            <a:r>
              <a:rPr lang="en-US" dirty="0"/>
              <a:t>With </a:t>
            </a:r>
            <a:r>
              <a:rPr lang="en-US" dirty="0" err="1"/>
              <a:t>kubectl</a:t>
            </a:r>
            <a:r>
              <a:rPr lang="en-US" dirty="0"/>
              <a:t>:</a:t>
            </a:r>
          </a:p>
          <a:p>
            <a:pPr lvl="2"/>
            <a:r>
              <a:rPr lang="en-US" dirty="0"/>
              <a:t>Attach a label to a resource: “</a:t>
            </a:r>
            <a:r>
              <a:rPr lang="en-US" dirty="0" err="1"/>
              <a:t>kubectl</a:t>
            </a:r>
            <a:r>
              <a:rPr lang="en-US" dirty="0"/>
              <a:t> label pod </a:t>
            </a:r>
            <a:r>
              <a:rPr lang="en-US" dirty="0" err="1"/>
              <a:t>mypod</a:t>
            </a:r>
            <a:r>
              <a:rPr lang="en-US" dirty="0"/>
              <a:t> status=awesome”</a:t>
            </a:r>
          </a:p>
          <a:p>
            <a:pPr lvl="2"/>
            <a:r>
              <a:rPr lang="en-US" dirty="0"/>
              <a:t>Filter for labels: “</a:t>
            </a:r>
            <a:r>
              <a:rPr lang="en-US" dirty="0" err="1"/>
              <a:t>kubectl</a:t>
            </a:r>
            <a:r>
              <a:rPr lang="en-US" dirty="0"/>
              <a:t> get pods –l status=awesome”</a:t>
            </a:r>
          </a:p>
          <a:p>
            <a:pPr lvl="2"/>
            <a:endParaRPr lang="en-US" dirty="0"/>
          </a:p>
          <a:p>
            <a:pPr marL="0" lvl="1" indent="0">
              <a:buNone/>
            </a:pPr>
            <a:endParaRPr lang="en-US" dirty="0"/>
          </a:p>
        </p:txBody>
      </p:sp>
      <p:pic>
        <p:nvPicPr>
          <p:cNvPr id="6" name="Picture 5"/>
          <p:cNvPicPr>
            <a:picLocks noChangeAspect="1"/>
          </p:cNvPicPr>
          <p:nvPr/>
        </p:nvPicPr>
        <p:blipFill>
          <a:blip r:embed="rId3"/>
          <a:stretch>
            <a:fillRect/>
          </a:stretch>
        </p:blipFill>
        <p:spPr>
          <a:xfrm>
            <a:off x="747276" y="3136512"/>
            <a:ext cx="4723809" cy="1304762"/>
          </a:xfrm>
          <a:prstGeom prst="rect">
            <a:avLst/>
          </a:prstGeom>
        </p:spPr>
      </p:pic>
    </p:spTree>
    <p:extLst>
      <p:ext uri="{BB962C8B-B14F-4D97-AF65-F5344CB8AC3E}">
        <p14:creationId xmlns:p14="http://schemas.microsoft.com/office/powerpoint/2010/main" val="38773318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18579055-10A1-480D-BCD2-CB0396843399}"/>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961122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59B34B4-C129-4847-964B-4D41E2982158}"/>
              </a:ext>
            </a:extLst>
          </p:cNvPr>
          <p:cNvSpPr>
            <a:spLocks noGrp="1"/>
          </p:cNvSpPr>
          <p:nvPr>
            <p:ph type="title"/>
          </p:nvPr>
        </p:nvSpPr>
        <p:spPr/>
        <p:txBody>
          <a:bodyPr/>
          <a:lstStyle/>
          <a:p>
            <a:r>
              <a:rPr lang="en-US" dirty="0"/>
              <a:t>Deployments</a:t>
            </a:r>
          </a:p>
        </p:txBody>
      </p:sp>
      <p:pic>
        <p:nvPicPr>
          <p:cNvPr id="1026" name="Picture 2" descr="https://vignette.wikia.nocookie.net/nintendo/images/8/83/KoopaNSMB.png/revision/latest?cb=20110724132501&amp;path-prefix=en">
            <a:extLst>
              <a:ext uri="{FF2B5EF4-FFF2-40B4-BE49-F238E27FC236}">
                <a16:creationId xmlns:a16="http://schemas.microsoft.com/office/drawing/2014/main" id="{DD6E3BCC-6AF7-43FC-8693-FDBFC61D5D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72156" y="4558083"/>
            <a:ext cx="1025020" cy="163097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https://vignette.wikia.nocookie.net/nintendo/images/8/83/KoopaNSMB.png/revision/latest?cb=20110724132501&amp;path-prefix=en">
            <a:extLst>
              <a:ext uri="{FF2B5EF4-FFF2-40B4-BE49-F238E27FC236}">
                <a16:creationId xmlns:a16="http://schemas.microsoft.com/office/drawing/2014/main" id="{44DF2202-C15C-4F6D-A36C-C7723B0C1E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23294" y="4539768"/>
            <a:ext cx="1025020" cy="163097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https://vignette.wikia.nocookie.net/nintendo/images/8/83/KoopaNSMB.png/revision/latest?cb=20110724132501&amp;path-prefix=en">
            <a:extLst>
              <a:ext uri="{FF2B5EF4-FFF2-40B4-BE49-F238E27FC236}">
                <a16:creationId xmlns:a16="http://schemas.microsoft.com/office/drawing/2014/main" id="{DBA2E3A6-4169-47A9-ABDE-8180C82525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1018" y="4558083"/>
            <a:ext cx="1025020" cy="1630972"/>
          </a:xfrm>
          <a:prstGeom prst="rect">
            <a:avLst/>
          </a:prstGeom>
          <a:noFill/>
          <a:extLst>
            <a:ext uri="{909E8E84-426E-40DD-AFC4-6F175D3DCCD1}">
              <a14:hiddenFill xmlns:a14="http://schemas.microsoft.com/office/drawing/2010/main">
                <a:solidFill>
                  <a:srgbClr val="FFFFFF"/>
                </a:solidFill>
              </a14:hiddenFill>
            </a:ext>
          </a:extLst>
        </p:spPr>
      </p:pic>
      <p:sp>
        <p:nvSpPr>
          <p:cNvPr id="8" name="Speech Bubble: Rectangle 7">
            <a:extLst>
              <a:ext uri="{FF2B5EF4-FFF2-40B4-BE49-F238E27FC236}">
                <a16:creationId xmlns:a16="http://schemas.microsoft.com/office/drawing/2014/main" id="{CA8F3B21-6614-422C-82D9-FAB987B9BE1E}"/>
              </a:ext>
            </a:extLst>
          </p:cNvPr>
          <p:cNvSpPr/>
          <p:nvPr/>
        </p:nvSpPr>
        <p:spPr bwMode="gray">
          <a:xfrm>
            <a:off x="8347032" y="1551890"/>
            <a:ext cx="3326171" cy="1072511"/>
          </a:xfrm>
          <a:prstGeom prst="wedgeRectCallout">
            <a:avLst>
              <a:gd name="adj1" fmla="val -88824"/>
              <a:gd name="adj2" fmla="val -853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Deployment</a:t>
            </a: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defines replica count, used image and more</a:t>
            </a:r>
          </a:p>
        </p:txBody>
      </p:sp>
      <p:pic>
        <p:nvPicPr>
          <p:cNvPr id="1032" name="Picture 8" descr="Related image">
            <a:extLst>
              <a:ext uri="{FF2B5EF4-FFF2-40B4-BE49-F238E27FC236}">
                <a16:creationId xmlns:a16="http://schemas.microsoft.com/office/drawing/2014/main" id="{0274FF14-135E-47F9-872A-76CDB25206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40850" y="759773"/>
            <a:ext cx="2647950" cy="2143125"/>
          </a:xfrm>
          <a:prstGeom prst="rect">
            <a:avLst/>
          </a:prstGeom>
          <a:gradFill>
            <a:gsLst>
              <a:gs pos="0">
                <a:schemeClr val="accent3">
                  <a:lumMod val="20000"/>
                  <a:lumOff val="80000"/>
                </a:schemeClr>
              </a:gs>
              <a:gs pos="50000">
                <a:schemeClr val="accent3">
                  <a:lumMod val="20000"/>
                  <a:lumOff val="80000"/>
                </a:schemeClr>
              </a:gs>
              <a:gs pos="100000">
                <a:schemeClr val="bg1"/>
              </a:gs>
            </a:gsLst>
            <a:lin ang="5400000" scaled="1"/>
          </a:gradFill>
          <a:ln>
            <a:solidFill>
              <a:schemeClr val="tx1"/>
            </a:solidFill>
          </a:ln>
        </p:spPr>
      </p:pic>
      <p:sp>
        <p:nvSpPr>
          <p:cNvPr id="21" name="Speech Bubble: Rectangle 20">
            <a:extLst>
              <a:ext uri="{FF2B5EF4-FFF2-40B4-BE49-F238E27FC236}">
                <a16:creationId xmlns:a16="http://schemas.microsoft.com/office/drawing/2014/main" id="{8D950947-1484-4F2C-9273-94DF5C9FABD7}"/>
              </a:ext>
            </a:extLst>
          </p:cNvPr>
          <p:cNvSpPr/>
          <p:nvPr/>
        </p:nvSpPr>
        <p:spPr bwMode="gray">
          <a:xfrm>
            <a:off x="8347029" y="3054348"/>
            <a:ext cx="3326171" cy="1060037"/>
          </a:xfrm>
          <a:prstGeom prst="wedgeRectCallout">
            <a:avLst>
              <a:gd name="adj1" fmla="val -88305"/>
              <a:gd name="adj2" fmla="val -385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ReplicaSet</a:t>
            </a: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spawns pods as defined in spec template &amp; adds a label ‘generation’</a:t>
            </a:r>
          </a:p>
        </p:txBody>
      </p:sp>
      <p:sp>
        <p:nvSpPr>
          <p:cNvPr id="22" name="Speech Bubble: Rectangle 21">
            <a:extLst>
              <a:ext uri="{FF2B5EF4-FFF2-40B4-BE49-F238E27FC236}">
                <a16:creationId xmlns:a16="http://schemas.microsoft.com/office/drawing/2014/main" id="{B378F0C9-0710-43E8-89C2-6CA44C5D12BF}"/>
              </a:ext>
            </a:extLst>
          </p:cNvPr>
          <p:cNvSpPr/>
          <p:nvPr/>
        </p:nvSpPr>
        <p:spPr bwMode="gray">
          <a:xfrm>
            <a:off x="8347030" y="4539768"/>
            <a:ext cx="3326171" cy="1239930"/>
          </a:xfrm>
          <a:prstGeom prst="wedgeRectCallout">
            <a:avLst>
              <a:gd name="adj1" fmla="val -78709"/>
              <a:gd name="adj2" fmla="val -717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Pods are identified by labels:</a:t>
            </a:r>
          </a:p>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species=</a:t>
            </a:r>
            <a:r>
              <a:rPr kumimoji="0" lang="en-US"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koopa</a:t>
            </a: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generation=green-shell</a:t>
            </a:r>
          </a:p>
        </p:txBody>
      </p:sp>
      <p:sp>
        <p:nvSpPr>
          <p:cNvPr id="20" name="Rectangle 19">
            <a:extLst>
              <a:ext uri="{FF2B5EF4-FFF2-40B4-BE49-F238E27FC236}">
                <a16:creationId xmlns:a16="http://schemas.microsoft.com/office/drawing/2014/main" id="{DE598B18-824C-4BC2-B699-C449E02B418F}"/>
              </a:ext>
            </a:extLst>
          </p:cNvPr>
          <p:cNvSpPr/>
          <p:nvPr/>
        </p:nvSpPr>
        <p:spPr bwMode="gray">
          <a:xfrm>
            <a:off x="1318615" y="2867183"/>
            <a:ext cx="2015135" cy="52798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species</a:t>
            </a:r>
            <a:r>
              <a:rPr kumimoji="0" lang="de-DE"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 </a:t>
            </a:r>
            <a:r>
              <a:rPr kumimoji="0" lang="de-DE"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koopa</a:t>
            </a:r>
            <a:endParaRPr kumimoji="0" lang="de-DE"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24" name="Flowchart: Document 23">
            <a:extLst>
              <a:ext uri="{FF2B5EF4-FFF2-40B4-BE49-F238E27FC236}">
                <a16:creationId xmlns:a16="http://schemas.microsoft.com/office/drawing/2014/main" id="{A5CA1BF9-ED37-4339-B739-1271C0123AC5}"/>
              </a:ext>
            </a:extLst>
          </p:cNvPr>
          <p:cNvSpPr/>
          <p:nvPr/>
        </p:nvSpPr>
        <p:spPr bwMode="gray">
          <a:xfrm>
            <a:off x="736575" y="2279442"/>
            <a:ext cx="1506583"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Selector</a:t>
            </a:r>
          </a:p>
        </p:txBody>
      </p:sp>
      <p:cxnSp>
        <p:nvCxnSpPr>
          <p:cNvPr id="14" name="Connector: Elbow 13">
            <a:extLst>
              <a:ext uri="{FF2B5EF4-FFF2-40B4-BE49-F238E27FC236}">
                <a16:creationId xmlns:a16="http://schemas.microsoft.com/office/drawing/2014/main" id="{948568E3-E30A-40FC-B829-9E1555E4FA76}"/>
              </a:ext>
            </a:extLst>
          </p:cNvPr>
          <p:cNvCxnSpPr>
            <a:cxnSpLocks/>
            <a:stCxn id="1032" idx="2"/>
          </p:cNvCxnSpPr>
          <p:nvPr/>
        </p:nvCxnSpPr>
        <p:spPr>
          <a:xfrm rot="5400000">
            <a:off x="5492429" y="2975294"/>
            <a:ext cx="144793" cy="1"/>
          </a:xfrm>
          <a:prstGeom prst="bentConnector3">
            <a:avLst>
              <a:gd name="adj1" fmla="val 50000"/>
            </a:avLst>
          </a:prstGeom>
          <a:ln w="57150">
            <a:solidFill>
              <a:schemeClr val="bg2">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94DCD3A2-04F9-4ED8-8D59-B92D55221180}"/>
              </a:ext>
            </a:extLst>
          </p:cNvPr>
          <p:cNvSpPr/>
          <p:nvPr/>
        </p:nvSpPr>
        <p:spPr bwMode="gray">
          <a:xfrm>
            <a:off x="488390" y="4862644"/>
            <a:ext cx="2723817" cy="98522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species</a:t>
            </a:r>
            <a:r>
              <a:rPr kumimoji="0" lang="de-DE"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r>
              <a:rPr kumimoji="0" lang="de-DE"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koopa</a:t>
            </a:r>
            <a:r>
              <a:rPr kumimoji="0" lang="de-DE"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generation</a:t>
            </a:r>
            <a:r>
              <a:rPr kumimoji="0" lang="de-DE"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r>
              <a:rPr kumimoji="0" lang="de-DE"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green-shell</a:t>
            </a:r>
            <a:endParaRPr kumimoji="0" lang="de-DE"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2" name="Group 24">
            <a:extLst>
              <a:ext uri="{FF2B5EF4-FFF2-40B4-BE49-F238E27FC236}">
                <a16:creationId xmlns:a16="http://schemas.microsoft.com/office/drawing/2014/main" id="{4A27418C-429B-46C2-B944-E9D1AEFE0D0B}"/>
              </a:ext>
            </a:extLst>
          </p:cNvPr>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62785" y="3045796"/>
            <a:ext cx="1204079" cy="14580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3432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2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1" grpId="0" animBg="1"/>
      <p:bldP spid="22" grpId="0" animBg="1"/>
      <p:bldP spid="20" grpId="0" animBg="1"/>
      <p:bldP spid="24"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59B34B4-C129-4847-964B-4D41E2982158}"/>
              </a:ext>
            </a:extLst>
          </p:cNvPr>
          <p:cNvSpPr>
            <a:spLocks noGrp="1"/>
          </p:cNvSpPr>
          <p:nvPr>
            <p:ph type="title"/>
          </p:nvPr>
        </p:nvSpPr>
        <p:spPr>
          <a:xfrm>
            <a:off x="504001" y="504000"/>
            <a:ext cx="11186476" cy="369332"/>
          </a:xfrm>
        </p:spPr>
        <p:txBody>
          <a:bodyPr/>
          <a:lstStyle/>
          <a:p>
            <a:r>
              <a:rPr lang="en-US" dirty="0"/>
              <a:t>Updating Deployments</a:t>
            </a:r>
          </a:p>
        </p:txBody>
      </p:sp>
      <p:pic>
        <p:nvPicPr>
          <p:cNvPr id="1026" name="Picture 2" descr="https://vignette.wikia.nocookie.net/nintendo/images/8/83/KoopaNSMB.png/revision/latest?cb=20110724132501&amp;path-prefix=en">
            <a:extLst>
              <a:ext uri="{FF2B5EF4-FFF2-40B4-BE49-F238E27FC236}">
                <a16:creationId xmlns:a16="http://schemas.microsoft.com/office/drawing/2014/main" id="{DD6E3BCC-6AF7-43FC-8693-FDBFC61D5D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7870" y="4558083"/>
            <a:ext cx="1025020" cy="163097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https://vignette.wikia.nocookie.net/nintendo/images/8/83/KoopaNSMB.png/revision/latest?cb=20110724132501&amp;path-prefix=en">
            <a:extLst>
              <a:ext uri="{FF2B5EF4-FFF2-40B4-BE49-F238E27FC236}">
                <a16:creationId xmlns:a16="http://schemas.microsoft.com/office/drawing/2014/main" id="{44DF2202-C15C-4F6D-A36C-C7723B0C1E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9008" y="4539768"/>
            <a:ext cx="1025020" cy="163097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https://vignette.wikia.nocookie.net/nintendo/images/8/83/KoopaNSMB.png/revision/latest?cb=20110724132501&amp;path-prefix=en">
            <a:extLst>
              <a:ext uri="{FF2B5EF4-FFF2-40B4-BE49-F238E27FC236}">
                <a16:creationId xmlns:a16="http://schemas.microsoft.com/office/drawing/2014/main" id="{DBA2E3A6-4169-47A9-ABDE-8180C82525E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06732" y="4558083"/>
            <a:ext cx="1025020" cy="163097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Related image">
            <a:extLst>
              <a:ext uri="{FF2B5EF4-FFF2-40B4-BE49-F238E27FC236}">
                <a16:creationId xmlns:a16="http://schemas.microsoft.com/office/drawing/2014/main" id="{0274FF14-135E-47F9-872A-76CDB25206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81132" y="809653"/>
            <a:ext cx="2647950" cy="2143125"/>
          </a:xfrm>
          <a:prstGeom prst="rect">
            <a:avLst/>
          </a:prstGeom>
          <a:gradFill>
            <a:gsLst>
              <a:gs pos="0">
                <a:schemeClr val="accent3">
                  <a:lumMod val="20000"/>
                  <a:lumOff val="80000"/>
                </a:schemeClr>
              </a:gs>
              <a:gs pos="50000">
                <a:schemeClr val="accent3">
                  <a:lumMod val="20000"/>
                  <a:lumOff val="80000"/>
                </a:schemeClr>
              </a:gs>
              <a:gs pos="100000">
                <a:schemeClr val="bg1"/>
              </a:gs>
            </a:gsLst>
            <a:lin ang="5400000" scaled="1"/>
          </a:gradFill>
          <a:ln>
            <a:solidFill>
              <a:schemeClr val="tx1"/>
            </a:solidFill>
          </a:ln>
        </p:spPr>
      </p:pic>
      <p:pic>
        <p:nvPicPr>
          <p:cNvPr id="1034" name="Picture 10" descr="Image result for nintendo koopa troopa">
            <a:extLst>
              <a:ext uri="{FF2B5EF4-FFF2-40B4-BE49-F238E27FC236}">
                <a16:creationId xmlns:a16="http://schemas.microsoft.com/office/drawing/2014/main" id="{C7A9084B-CD19-42E8-80F8-1AB06EB7020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08339" y="4558083"/>
            <a:ext cx="1275990" cy="1629787"/>
          </a:xfrm>
          <a:prstGeom prst="rect">
            <a:avLst/>
          </a:prstGeom>
          <a:noFill/>
          <a:extLst>
            <a:ext uri="{909E8E84-426E-40DD-AFC4-6F175D3DCCD1}">
              <a14:hiddenFill xmlns:a14="http://schemas.microsoft.com/office/drawing/2010/main">
                <a:solidFill>
                  <a:srgbClr val="FFFFFF"/>
                </a:solidFill>
              </a14:hiddenFill>
            </a:ext>
          </a:extLst>
        </p:spPr>
      </p:pic>
      <p:sp>
        <p:nvSpPr>
          <p:cNvPr id="23" name="Speech Bubble: Rectangle 22">
            <a:extLst>
              <a:ext uri="{FF2B5EF4-FFF2-40B4-BE49-F238E27FC236}">
                <a16:creationId xmlns:a16="http://schemas.microsoft.com/office/drawing/2014/main" id="{CCFF3E12-3E2C-4608-A8F2-7D4BB6305DFA}"/>
              </a:ext>
            </a:extLst>
          </p:cNvPr>
          <p:cNvSpPr/>
          <p:nvPr/>
        </p:nvSpPr>
        <p:spPr bwMode="gray">
          <a:xfrm>
            <a:off x="6962606" y="1432563"/>
            <a:ext cx="3164604" cy="715415"/>
          </a:xfrm>
          <a:prstGeom prst="wedgeRectCallout">
            <a:avLst>
              <a:gd name="adj1" fmla="val -70151"/>
              <a:gd name="adj2" fmla="val -371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Deployment initiates update</a:t>
            </a:r>
          </a:p>
        </p:txBody>
      </p:sp>
      <p:pic>
        <p:nvPicPr>
          <p:cNvPr id="29" name="Picture 10" descr="Image result for nintendo koopa troopa">
            <a:extLst>
              <a:ext uri="{FF2B5EF4-FFF2-40B4-BE49-F238E27FC236}">
                <a16:creationId xmlns:a16="http://schemas.microsoft.com/office/drawing/2014/main" id="{14AB6E26-1E27-4397-AC7D-F683BD970F1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68918" y="4539768"/>
            <a:ext cx="1275990" cy="1629787"/>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10" descr="Image result for nintendo koopa troopa">
            <a:extLst>
              <a:ext uri="{FF2B5EF4-FFF2-40B4-BE49-F238E27FC236}">
                <a16:creationId xmlns:a16="http://schemas.microsoft.com/office/drawing/2014/main" id="{8DABBEEF-1866-4329-8194-0A8140E36E1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29496" y="4521453"/>
            <a:ext cx="1275990" cy="1629787"/>
          </a:xfrm>
          <a:prstGeom prst="rect">
            <a:avLst/>
          </a:prstGeom>
          <a:noFill/>
          <a:extLst>
            <a:ext uri="{909E8E84-426E-40DD-AFC4-6F175D3DCCD1}">
              <a14:hiddenFill xmlns:a14="http://schemas.microsoft.com/office/drawing/2010/main">
                <a:solidFill>
                  <a:srgbClr val="FFFFFF"/>
                </a:solidFill>
              </a14:hiddenFill>
            </a:ext>
          </a:extLst>
        </p:spPr>
      </p:pic>
      <p:sp>
        <p:nvSpPr>
          <p:cNvPr id="31" name="Speech Bubble: Rectangle 30">
            <a:extLst>
              <a:ext uri="{FF2B5EF4-FFF2-40B4-BE49-F238E27FC236}">
                <a16:creationId xmlns:a16="http://schemas.microsoft.com/office/drawing/2014/main" id="{59344EF8-5F99-4B90-9F98-B5B575A802E4}"/>
              </a:ext>
            </a:extLst>
          </p:cNvPr>
          <p:cNvSpPr/>
          <p:nvPr/>
        </p:nvSpPr>
        <p:spPr bwMode="gray">
          <a:xfrm>
            <a:off x="9246990" y="2465483"/>
            <a:ext cx="1718445" cy="715415"/>
          </a:xfrm>
          <a:prstGeom prst="wedgeRectCallout">
            <a:avLst>
              <a:gd name="adj1" fmla="val -70653"/>
              <a:gd name="adj2" fmla="val 5175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New R</a:t>
            </a:r>
            <a:r>
              <a:rPr kumimoji="0" lang="en-US"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eplicaSet</a:t>
            </a: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2" name="Speech Bubble: Rectangle 31">
            <a:extLst>
              <a:ext uri="{FF2B5EF4-FFF2-40B4-BE49-F238E27FC236}">
                <a16:creationId xmlns:a16="http://schemas.microsoft.com/office/drawing/2014/main" id="{32E68E0E-C052-48B3-8A8D-C2DFFB8B4E6B}"/>
              </a:ext>
            </a:extLst>
          </p:cNvPr>
          <p:cNvSpPr/>
          <p:nvPr/>
        </p:nvSpPr>
        <p:spPr bwMode="gray">
          <a:xfrm>
            <a:off x="301925" y="1777561"/>
            <a:ext cx="2078815" cy="715415"/>
          </a:xfrm>
          <a:prstGeom prst="wedgeRectCallout">
            <a:avLst>
              <a:gd name="adj1" fmla="val 48318"/>
              <a:gd name="adj2" fmla="val 101193"/>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Scale down, but keep </a:t>
            </a:r>
            <a:r>
              <a:rPr kumimoji="0" lang="en-US"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ReplicaSet</a:t>
            </a: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3" name="Speech Bubble: Rectangle 32">
            <a:extLst>
              <a:ext uri="{FF2B5EF4-FFF2-40B4-BE49-F238E27FC236}">
                <a16:creationId xmlns:a16="http://schemas.microsoft.com/office/drawing/2014/main" id="{A2624BD2-1BD0-43B4-BC35-BA4EDC55D2D4}"/>
              </a:ext>
            </a:extLst>
          </p:cNvPr>
          <p:cNvSpPr/>
          <p:nvPr/>
        </p:nvSpPr>
        <p:spPr bwMode="gray">
          <a:xfrm>
            <a:off x="9167491" y="3363783"/>
            <a:ext cx="2743536" cy="974785"/>
          </a:xfrm>
          <a:prstGeom prst="wedgeRectCallout">
            <a:avLst>
              <a:gd name="adj1" fmla="val -39406"/>
              <a:gd name="adj2" fmla="val 7777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New label set:</a:t>
            </a:r>
          </a:p>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species=</a:t>
            </a:r>
            <a:r>
              <a:rPr kumimoji="0" lang="en-US" sz="18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koopa</a:t>
            </a:r>
            <a:r>
              <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generation=</a:t>
            </a:r>
            <a:r>
              <a:rPr kumimoji="0" lang="en-US" sz="18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red-shell</a:t>
            </a:r>
          </a:p>
        </p:txBody>
      </p:sp>
      <p:cxnSp>
        <p:nvCxnSpPr>
          <p:cNvPr id="4" name="Connector: Elbow 3">
            <a:extLst>
              <a:ext uri="{FF2B5EF4-FFF2-40B4-BE49-F238E27FC236}">
                <a16:creationId xmlns:a16="http://schemas.microsoft.com/office/drawing/2014/main" id="{72ED5063-2E4E-4757-BB7B-1351A10DA280}"/>
              </a:ext>
            </a:extLst>
          </p:cNvPr>
          <p:cNvCxnSpPr>
            <a:cxnSpLocks/>
          </p:cNvCxnSpPr>
          <p:nvPr/>
        </p:nvCxnSpPr>
        <p:spPr>
          <a:xfrm rot="5400000">
            <a:off x="3886834" y="2391727"/>
            <a:ext cx="838172" cy="1998375"/>
          </a:xfrm>
          <a:prstGeom prst="bentConnector2">
            <a:avLst/>
          </a:prstGeom>
          <a:ln w="57150">
            <a:solidFill>
              <a:schemeClr val="bg2">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92FCAAA5-9423-4184-AD0F-345B06EB86A8}"/>
              </a:ext>
            </a:extLst>
          </p:cNvPr>
          <p:cNvCxnSpPr>
            <a:cxnSpLocks/>
            <a:stCxn id="1032" idx="2"/>
            <a:endCxn id="20" idx="1"/>
          </p:cNvCxnSpPr>
          <p:nvPr/>
        </p:nvCxnSpPr>
        <p:spPr>
          <a:xfrm rot="16200000" flipH="1">
            <a:off x="5875998" y="2381887"/>
            <a:ext cx="857984" cy="1999766"/>
          </a:xfrm>
          <a:prstGeom prst="bentConnector2">
            <a:avLst/>
          </a:prstGeom>
          <a:ln w="57150">
            <a:solidFill>
              <a:schemeClr val="bg2">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9" name="Group 24">
            <a:extLst>
              <a:ext uri="{FF2B5EF4-FFF2-40B4-BE49-F238E27FC236}">
                <a16:creationId xmlns:a16="http://schemas.microsoft.com/office/drawing/2014/main" id="{1CE2F06B-986D-44E7-9132-0090E7873369}"/>
              </a:ext>
            </a:extLst>
          </p:cNvPr>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02653" y="3061944"/>
            <a:ext cx="1204079" cy="1458012"/>
          </a:xfrm>
          <a:prstGeom prst="rect">
            <a:avLst/>
          </a:prstGeom>
          <a:noFill/>
          <a:extLst>
            <a:ext uri="{909E8E84-426E-40DD-AFC4-6F175D3DCCD1}">
              <a14:hiddenFill xmlns:a14="http://schemas.microsoft.com/office/drawing/2010/main">
                <a:solidFill>
                  <a:srgbClr val="FFFFFF"/>
                </a:solidFill>
              </a14:hiddenFill>
            </a:ext>
          </a:extLst>
        </p:spPr>
      </p:pic>
      <p:pic>
        <p:nvPicPr>
          <p:cNvPr id="20" name="Group 24">
            <a:extLst>
              <a:ext uri="{FF2B5EF4-FFF2-40B4-BE49-F238E27FC236}">
                <a16:creationId xmlns:a16="http://schemas.microsoft.com/office/drawing/2014/main" id="{D9D33B36-8E29-4762-99B6-63BF44E3277D}"/>
              </a:ext>
            </a:extLst>
          </p:cNvPr>
          <p:cNvPicPr>
            <a:picLocks noChangeArrowheads="1"/>
          </p:cNvPicPr>
          <p:nvPr/>
        </p:nvPicPr>
        <p:blipFill>
          <a:blip r:embed="rId6">
            <a:duotone>
              <a:prstClr val="black"/>
              <a:schemeClr val="accent5">
                <a:tint val="45000"/>
                <a:satMod val="400000"/>
              </a:schemeClr>
            </a:duotone>
            <a:extLst>
              <a:ext uri="{28A0092B-C50C-407E-A947-70E740481C1C}">
                <a14:useLocalDpi xmlns:a14="http://schemas.microsoft.com/office/drawing/2010/main" val="0"/>
              </a:ext>
            </a:extLst>
          </a:blip>
          <a:srcRect/>
          <a:stretch>
            <a:fillRect/>
          </a:stretch>
        </p:blipFill>
        <p:spPr bwMode="auto">
          <a:xfrm>
            <a:off x="7304873" y="3081756"/>
            <a:ext cx="1204079" cy="14580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536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childTnLst>
                          </p:cTn>
                        </p:par>
                        <p:par>
                          <p:cTn id="17" fill="hold">
                            <p:stCondLst>
                              <p:cond delay="0"/>
                            </p:stCondLst>
                            <p:childTnLst>
                              <p:par>
                                <p:cTn id="18" presetID="2" presetClass="entr" presetSubtype="4" fill="hold" nodeType="afterEffect">
                                  <p:stCondLst>
                                    <p:cond delay="0"/>
                                  </p:stCondLst>
                                  <p:childTnLst>
                                    <p:set>
                                      <p:cBhvr>
                                        <p:cTn id="19" dur="1" fill="hold">
                                          <p:stCondLst>
                                            <p:cond delay="0"/>
                                          </p:stCondLst>
                                        </p:cTn>
                                        <p:tgtEl>
                                          <p:spTgt spid="1034"/>
                                        </p:tgtEl>
                                        <p:attrNameLst>
                                          <p:attrName>style.visibility</p:attrName>
                                        </p:attrNameLst>
                                      </p:cBhvr>
                                      <p:to>
                                        <p:strVal val="visible"/>
                                      </p:to>
                                    </p:set>
                                    <p:anim calcmode="lin" valueType="num">
                                      <p:cBhvr additive="base">
                                        <p:cTn id="20" dur="500" fill="hold"/>
                                        <p:tgtEl>
                                          <p:spTgt spid="1034"/>
                                        </p:tgtEl>
                                        <p:attrNameLst>
                                          <p:attrName>ppt_x</p:attrName>
                                        </p:attrNameLst>
                                      </p:cBhvr>
                                      <p:tavLst>
                                        <p:tav tm="0">
                                          <p:val>
                                            <p:strVal val="#ppt_x"/>
                                          </p:val>
                                        </p:tav>
                                        <p:tav tm="100000">
                                          <p:val>
                                            <p:strVal val="#ppt_x"/>
                                          </p:val>
                                        </p:tav>
                                      </p:tavLst>
                                    </p:anim>
                                    <p:anim calcmode="lin" valueType="num">
                                      <p:cBhvr additive="base">
                                        <p:cTn id="21" dur="500" fill="hold"/>
                                        <p:tgtEl>
                                          <p:spTgt spid="1034"/>
                                        </p:tgtEl>
                                        <p:attrNameLst>
                                          <p:attrName>ppt_y</p:attrName>
                                        </p:attrNameLst>
                                      </p:cBhvr>
                                      <p:tavLst>
                                        <p:tav tm="0">
                                          <p:val>
                                            <p:strVal val="1+#ppt_h/2"/>
                                          </p:val>
                                        </p:tav>
                                        <p:tav tm="100000">
                                          <p:val>
                                            <p:strVal val="#ppt_y"/>
                                          </p:val>
                                        </p:tav>
                                      </p:tavLst>
                                    </p:anim>
                                  </p:childTnLst>
                                </p:cTn>
                              </p:par>
                            </p:childTnLst>
                          </p:cTn>
                        </p:par>
                        <p:par>
                          <p:cTn id="22" fill="hold">
                            <p:stCondLst>
                              <p:cond delay="500"/>
                            </p:stCondLst>
                            <p:childTnLst>
                              <p:par>
                                <p:cTn id="23" presetID="42" presetClass="exit" presetSubtype="0" fill="hold" nodeType="afterEffect">
                                  <p:stCondLst>
                                    <p:cond delay="0"/>
                                  </p:stCondLst>
                                  <p:childTnLst>
                                    <p:animEffect transition="out" filter="fade">
                                      <p:cBhvr>
                                        <p:cTn id="24" dur="1000"/>
                                        <p:tgtEl>
                                          <p:spTgt spid="7"/>
                                        </p:tgtEl>
                                      </p:cBhvr>
                                    </p:animEffect>
                                    <p:anim calcmode="lin" valueType="num">
                                      <p:cBhvr>
                                        <p:cTn id="25" dur="1000"/>
                                        <p:tgtEl>
                                          <p:spTgt spid="7"/>
                                        </p:tgtEl>
                                        <p:attrNameLst>
                                          <p:attrName>ppt_x</p:attrName>
                                        </p:attrNameLst>
                                      </p:cBhvr>
                                      <p:tavLst>
                                        <p:tav tm="0">
                                          <p:val>
                                            <p:strVal val="ppt_x"/>
                                          </p:val>
                                        </p:tav>
                                        <p:tav tm="100000">
                                          <p:val>
                                            <p:strVal val="ppt_x"/>
                                          </p:val>
                                        </p:tav>
                                      </p:tavLst>
                                    </p:anim>
                                    <p:anim calcmode="lin" valueType="num">
                                      <p:cBhvr>
                                        <p:cTn id="26" dur="1000"/>
                                        <p:tgtEl>
                                          <p:spTgt spid="7"/>
                                        </p:tgtEl>
                                        <p:attrNameLst>
                                          <p:attrName>ppt_y</p:attrName>
                                        </p:attrNameLst>
                                      </p:cBhvr>
                                      <p:tavLst>
                                        <p:tav tm="0">
                                          <p:val>
                                            <p:strVal val="ppt_y"/>
                                          </p:val>
                                        </p:tav>
                                        <p:tav tm="100000">
                                          <p:val>
                                            <p:strVal val="ppt_y+.1"/>
                                          </p:val>
                                        </p:tav>
                                      </p:tavLst>
                                    </p:anim>
                                    <p:set>
                                      <p:cBhvr>
                                        <p:cTn id="27" dur="1" fill="hold">
                                          <p:stCondLst>
                                            <p:cond delay="999"/>
                                          </p:stCondLst>
                                        </p:cTn>
                                        <p:tgtEl>
                                          <p:spTgt spid="7"/>
                                        </p:tgtEl>
                                        <p:attrNameLst>
                                          <p:attrName>style.visibility</p:attrName>
                                        </p:attrNameLst>
                                      </p:cBhvr>
                                      <p:to>
                                        <p:strVal val="hidden"/>
                                      </p:to>
                                    </p:set>
                                  </p:childTnLst>
                                </p:cTn>
                              </p:par>
                            </p:childTnLst>
                          </p:cTn>
                        </p:par>
                        <p:par>
                          <p:cTn id="28" fill="hold">
                            <p:stCondLst>
                              <p:cond delay="1500"/>
                            </p:stCondLst>
                            <p:childTnLst>
                              <p:par>
                                <p:cTn id="29" presetID="42" presetClass="entr" presetSubtype="0" fill="hold"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1000"/>
                                        <p:tgtEl>
                                          <p:spTgt spid="29"/>
                                        </p:tgtEl>
                                      </p:cBhvr>
                                    </p:animEffect>
                                    <p:anim calcmode="lin" valueType="num">
                                      <p:cBhvr>
                                        <p:cTn id="32" dur="1000" fill="hold"/>
                                        <p:tgtEl>
                                          <p:spTgt spid="29"/>
                                        </p:tgtEl>
                                        <p:attrNameLst>
                                          <p:attrName>ppt_x</p:attrName>
                                        </p:attrNameLst>
                                      </p:cBhvr>
                                      <p:tavLst>
                                        <p:tav tm="0">
                                          <p:val>
                                            <p:strVal val="#ppt_x"/>
                                          </p:val>
                                        </p:tav>
                                        <p:tav tm="100000">
                                          <p:val>
                                            <p:strVal val="#ppt_x"/>
                                          </p:val>
                                        </p:tav>
                                      </p:tavLst>
                                    </p:anim>
                                    <p:anim calcmode="lin" valueType="num">
                                      <p:cBhvr>
                                        <p:cTn id="33" dur="1000" fill="hold"/>
                                        <p:tgtEl>
                                          <p:spTgt spid="29"/>
                                        </p:tgtEl>
                                        <p:attrNameLst>
                                          <p:attrName>ppt_y</p:attrName>
                                        </p:attrNameLst>
                                      </p:cBhvr>
                                      <p:tavLst>
                                        <p:tav tm="0">
                                          <p:val>
                                            <p:strVal val="#ppt_y+.1"/>
                                          </p:val>
                                        </p:tav>
                                        <p:tav tm="100000">
                                          <p:val>
                                            <p:strVal val="#ppt_y"/>
                                          </p:val>
                                        </p:tav>
                                      </p:tavLst>
                                    </p:anim>
                                  </p:childTnLst>
                                </p:cTn>
                              </p:par>
                            </p:childTnLst>
                          </p:cTn>
                        </p:par>
                        <p:par>
                          <p:cTn id="34" fill="hold">
                            <p:stCondLst>
                              <p:cond delay="2500"/>
                            </p:stCondLst>
                            <p:childTnLst>
                              <p:par>
                                <p:cTn id="35" presetID="42" presetClass="exit" presetSubtype="0" fill="hold" nodeType="afterEffect">
                                  <p:stCondLst>
                                    <p:cond delay="0"/>
                                  </p:stCondLst>
                                  <p:childTnLst>
                                    <p:animEffect transition="out" filter="fade">
                                      <p:cBhvr>
                                        <p:cTn id="36" dur="1000"/>
                                        <p:tgtEl>
                                          <p:spTgt spid="1026"/>
                                        </p:tgtEl>
                                      </p:cBhvr>
                                    </p:animEffect>
                                    <p:anim calcmode="lin" valueType="num">
                                      <p:cBhvr>
                                        <p:cTn id="37" dur="1000"/>
                                        <p:tgtEl>
                                          <p:spTgt spid="1026"/>
                                        </p:tgtEl>
                                        <p:attrNameLst>
                                          <p:attrName>ppt_x</p:attrName>
                                        </p:attrNameLst>
                                      </p:cBhvr>
                                      <p:tavLst>
                                        <p:tav tm="0">
                                          <p:val>
                                            <p:strVal val="ppt_x"/>
                                          </p:val>
                                        </p:tav>
                                        <p:tav tm="100000">
                                          <p:val>
                                            <p:strVal val="ppt_x"/>
                                          </p:val>
                                        </p:tav>
                                      </p:tavLst>
                                    </p:anim>
                                    <p:anim calcmode="lin" valueType="num">
                                      <p:cBhvr>
                                        <p:cTn id="38" dur="1000"/>
                                        <p:tgtEl>
                                          <p:spTgt spid="1026"/>
                                        </p:tgtEl>
                                        <p:attrNameLst>
                                          <p:attrName>ppt_y</p:attrName>
                                        </p:attrNameLst>
                                      </p:cBhvr>
                                      <p:tavLst>
                                        <p:tav tm="0">
                                          <p:val>
                                            <p:strVal val="ppt_y"/>
                                          </p:val>
                                        </p:tav>
                                        <p:tav tm="100000">
                                          <p:val>
                                            <p:strVal val="ppt_y+.1"/>
                                          </p:val>
                                        </p:tav>
                                      </p:tavLst>
                                    </p:anim>
                                    <p:set>
                                      <p:cBhvr>
                                        <p:cTn id="39" dur="1" fill="hold">
                                          <p:stCondLst>
                                            <p:cond delay="999"/>
                                          </p:stCondLst>
                                        </p:cTn>
                                        <p:tgtEl>
                                          <p:spTgt spid="1026"/>
                                        </p:tgtEl>
                                        <p:attrNameLst>
                                          <p:attrName>style.visibility</p:attrName>
                                        </p:attrNameLst>
                                      </p:cBhvr>
                                      <p:to>
                                        <p:strVal val="hidden"/>
                                      </p:to>
                                    </p:set>
                                  </p:childTnLst>
                                </p:cTn>
                              </p:par>
                            </p:childTnLst>
                          </p:cTn>
                        </p:par>
                        <p:par>
                          <p:cTn id="40" fill="hold">
                            <p:stCondLst>
                              <p:cond delay="3500"/>
                            </p:stCondLst>
                            <p:childTnLst>
                              <p:par>
                                <p:cTn id="41" presetID="42" presetClass="entr" presetSubtype="0" fill="hold" nodeType="after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1000"/>
                                        <p:tgtEl>
                                          <p:spTgt spid="30"/>
                                        </p:tgtEl>
                                      </p:cBhvr>
                                    </p:animEffect>
                                    <p:anim calcmode="lin" valueType="num">
                                      <p:cBhvr>
                                        <p:cTn id="44" dur="1000" fill="hold"/>
                                        <p:tgtEl>
                                          <p:spTgt spid="30"/>
                                        </p:tgtEl>
                                        <p:attrNameLst>
                                          <p:attrName>ppt_x</p:attrName>
                                        </p:attrNameLst>
                                      </p:cBhvr>
                                      <p:tavLst>
                                        <p:tav tm="0">
                                          <p:val>
                                            <p:strVal val="#ppt_x"/>
                                          </p:val>
                                        </p:tav>
                                        <p:tav tm="100000">
                                          <p:val>
                                            <p:strVal val="#ppt_x"/>
                                          </p:val>
                                        </p:tav>
                                      </p:tavLst>
                                    </p:anim>
                                    <p:anim calcmode="lin" valueType="num">
                                      <p:cBhvr>
                                        <p:cTn id="45" dur="1000" fill="hold"/>
                                        <p:tgtEl>
                                          <p:spTgt spid="30"/>
                                        </p:tgtEl>
                                        <p:attrNameLst>
                                          <p:attrName>ppt_y</p:attrName>
                                        </p:attrNameLst>
                                      </p:cBhvr>
                                      <p:tavLst>
                                        <p:tav tm="0">
                                          <p:val>
                                            <p:strVal val="#ppt_y+.1"/>
                                          </p:val>
                                        </p:tav>
                                        <p:tav tm="100000">
                                          <p:val>
                                            <p:strVal val="#ppt_y"/>
                                          </p:val>
                                        </p:tav>
                                      </p:tavLst>
                                    </p:anim>
                                  </p:childTnLst>
                                </p:cTn>
                              </p:par>
                            </p:childTnLst>
                          </p:cTn>
                        </p:par>
                        <p:par>
                          <p:cTn id="46" fill="hold">
                            <p:stCondLst>
                              <p:cond delay="4500"/>
                            </p:stCondLst>
                            <p:childTnLst>
                              <p:par>
                                <p:cTn id="47" presetID="42" presetClass="exit" presetSubtype="0" fill="hold" nodeType="afterEffect">
                                  <p:stCondLst>
                                    <p:cond delay="0"/>
                                  </p:stCondLst>
                                  <p:childTnLst>
                                    <p:animEffect transition="out" filter="fade">
                                      <p:cBhvr>
                                        <p:cTn id="48" dur="1000"/>
                                        <p:tgtEl>
                                          <p:spTgt spid="6"/>
                                        </p:tgtEl>
                                      </p:cBhvr>
                                    </p:animEffect>
                                    <p:anim calcmode="lin" valueType="num">
                                      <p:cBhvr>
                                        <p:cTn id="49" dur="1000"/>
                                        <p:tgtEl>
                                          <p:spTgt spid="6"/>
                                        </p:tgtEl>
                                        <p:attrNameLst>
                                          <p:attrName>ppt_x</p:attrName>
                                        </p:attrNameLst>
                                      </p:cBhvr>
                                      <p:tavLst>
                                        <p:tav tm="0">
                                          <p:val>
                                            <p:strVal val="ppt_x"/>
                                          </p:val>
                                        </p:tav>
                                        <p:tav tm="100000">
                                          <p:val>
                                            <p:strVal val="ppt_x"/>
                                          </p:val>
                                        </p:tav>
                                      </p:tavLst>
                                    </p:anim>
                                    <p:anim calcmode="lin" valueType="num">
                                      <p:cBhvr>
                                        <p:cTn id="50" dur="1000"/>
                                        <p:tgtEl>
                                          <p:spTgt spid="6"/>
                                        </p:tgtEl>
                                        <p:attrNameLst>
                                          <p:attrName>ppt_y</p:attrName>
                                        </p:attrNameLst>
                                      </p:cBhvr>
                                      <p:tavLst>
                                        <p:tav tm="0">
                                          <p:val>
                                            <p:strVal val="ppt_y"/>
                                          </p:val>
                                        </p:tav>
                                        <p:tav tm="100000">
                                          <p:val>
                                            <p:strVal val="ppt_y+.1"/>
                                          </p:val>
                                        </p:tav>
                                      </p:tavLst>
                                    </p:anim>
                                    <p:set>
                                      <p:cBhvr>
                                        <p:cTn id="51" dur="1" fill="hold">
                                          <p:stCondLst>
                                            <p:cond delay="999"/>
                                          </p:stCondLst>
                                        </p:cTn>
                                        <p:tgtEl>
                                          <p:spTgt spid="6"/>
                                        </p:tgtEl>
                                        <p:attrNameLst>
                                          <p:attrName>style.visibility</p:attrName>
                                        </p:attrNameLst>
                                      </p:cBhvr>
                                      <p:to>
                                        <p:strVal val="hidden"/>
                                      </p:to>
                                    </p:set>
                                  </p:childTnLst>
                                </p:cTn>
                              </p:par>
                              <p:par>
                                <p:cTn id="52" presetID="1"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p:cNvSpPr>
            <a:spLocks noGrp="1"/>
          </p:cNvSpPr>
          <p:nvPr>
            <p:ph type="title"/>
          </p:nvPr>
        </p:nvSpPr>
        <p:spPr>
          <a:xfrm>
            <a:off x="504001" y="504000"/>
            <a:ext cx="11186476" cy="369332"/>
          </a:xfrm>
        </p:spPr>
        <p:txBody>
          <a:bodyPr/>
          <a:lstStyle/>
          <a:p>
            <a:r>
              <a:rPr lang="en-US" dirty="0"/>
              <a:t>Architecture overview – deployments</a:t>
            </a:r>
          </a:p>
        </p:txBody>
      </p:sp>
      <p:sp>
        <p:nvSpPr>
          <p:cNvPr id="41" name="Rectangle 40"/>
          <p:cNvSpPr/>
          <p:nvPr/>
        </p:nvSpPr>
        <p:spPr bwMode="gray">
          <a:xfrm>
            <a:off x="504000" y="1470876"/>
            <a:ext cx="11246039" cy="4781878"/>
          </a:xfrm>
          <a:prstGeom prst="rect">
            <a:avLst/>
          </a:prstGeom>
          <a:solidFill>
            <a:schemeClr val="accent1">
              <a:lumMod val="40000"/>
              <a:lumOff val="60000"/>
            </a:schemeClr>
          </a:solidFill>
          <a:ln>
            <a:headEnd/>
            <a:tailEnd/>
          </a:ln>
        </p:spPr>
        <p:style>
          <a:lnRef idx="1">
            <a:schemeClr val="accent1"/>
          </a:lnRef>
          <a:fillRef idx="2">
            <a:schemeClr val="accent1"/>
          </a:fillRef>
          <a:effectRef idx="1">
            <a:schemeClr val="accent1"/>
          </a:effectRef>
          <a:fontRef idx="minor">
            <a:schemeClr val="dk1"/>
          </a:fontRef>
        </p:style>
        <p:txBody>
          <a:bodyPr lIns="90000" tIns="72000" rIns="90000" bIns="72000" rtlCol="0" anchor="b"/>
          <a:lstStyle/>
          <a:p>
            <a:pPr marR="0" defTabSz="914400" eaLnBrk="1" fontAlgn="base" latinLnBrk="0" hangingPunct="1">
              <a:lnSpc>
                <a:spcPct val="100000"/>
              </a:lnSpc>
              <a:spcBef>
                <a:spcPct val="50000"/>
              </a:spcBef>
              <a:spcAft>
                <a:spcPct val="0"/>
              </a:spcAft>
              <a:buClr>
                <a:srgbClr val="F0AB00"/>
              </a:buClr>
              <a:buSzPct val="80000"/>
              <a:tabLst/>
            </a:pPr>
            <a:r>
              <a:rPr lang="de-DE" sz="2000" b="1" kern="0" noProof="0" dirty="0">
                <a:ea typeface="Arial Unicode MS" pitchFamily="34" charset="-128"/>
                <a:cs typeface="Arial Unicode MS" pitchFamily="34" charset="-128"/>
              </a:rPr>
              <a:t>Namespace: </a:t>
            </a:r>
            <a:r>
              <a:rPr lang="de-DE" sz="2000" b="1" kern="0" noProof="0" dirty="0" err="1">
                <a:ea typeface="Arial Unicode MS" pitchFamily="34" charset="-128"/>
                <a:cs typeface="Arial Unicode MS" pitchFamily="34" charset="-128"/>
              </a:rPr>
              <a:t>your</a:t>
            </a:r>
            <a:r>
              <a:rPr lang="de-DE" sz="2000" b="1" kern="0" noProof="0" dirty="0">
                <a:ea typeface="Arial Unicode MS" pitchFamily="34" charset="-128"/>
                <a:cs typeface="Arial Unicode MS" pitchFamily="34" charset="-128"/>
              </a:rPr>
              <a:t>-namespace</a:t>
            </a:r>
            <a:endParaRPr kumimoji="0" lang="de-DE" sz="2400" b="1" i="0"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Rounded Corners 7"/>
          <p:cNvSpPr/>
          <p:nvPr/>
        </p:nvSpPr>
        <p:spPr bwMode="gray">
          <a:xfrm>
            <a:off x="1433799" y="1741715"/>
            <a:ext cx="9326880" cy="4024766"/>
          </a:xfrm>
          <a:prstGeom prst="roundRect">
            <a:avLst/>
          </a:prstGeom>
          <a:ln>
            <a:headEnd/>
            <a:tailEnd/>
          </a:ln>
        </p:spPr>
        <p:style>
          <a:lnRef idx="1">
            <a:schemeClr val="dk1"/>
          </a:lnRef>
          <a:fillRef idx="2">
            <a:schemeClr val="dk1"/>
          </a:fillRef>
          <a:effectRef idx="1">
            <a:schemeClr val="dk1"/>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Deployment</a:t>
            </a:r>
            <a:endParaRPr kumimoji="0" lang="en-US" sz="1800" b="1"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6" name="Group 5"/>
          <p:cNvGrpSpPr/>
          <p:nvPr/>
        </p:nvGrpSpPr>
        <p:grpSpPr>
          <a:xfrm>
            <a:off x="1959967" y="3135082"/>
            <a:ext cx="8334103" cy="2360024"/>
            <a:chOff x="1219200" y="3126373"/>
            <a:chExt cx="8334103" cy="2360024"/>
          </a:xfrm>
        </p:grpSpPr>
        <p:sp>
          <p:nvSpPr>
            <p:cNvPr id="3" name="Rectangle 2"/>
            <p:cNvSpPr/>
            <p:nvPr/>
          </p:nvSpPr>
          <p:spPr bwMode="gray">
            <a:xfrm>
              <a:off x="1219200" y="3126373"/>
              <a:ext cx="8334103" cy="2360024"/>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err="1">
                  <a:ln>
                    <a:noFill/>
                  </a:ln>
                  <a:effectLst/>
                  <a:uLnTx/>
                  <a:uFillTx/>
                  <a:ea typeface="Arial Unicode MS" pitchFamily="34" charset="-128"/>
                  <a:cs typeface="Arial Unicode MS" pitchFamily="34" charset="-128"/>
                </a:rPr>
                <a:t>ReplicaSet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2" name="Group 1"/>
            <p:cNvGrpSpPr/>
            <p:nvPr/>
          </p:nvGrpSpPr>
          <p:grpSpPr>
            <a:xfrm>
              <a:off x="1367932" y="4305495"/>
              <a:ext cx="2227644" cy="956786"/>
              <a:chOff x="1367932" y="4305495"/>
              <a:chExt cx="2227644" cy="956786"/>
            </a:xfrm>
          </p:grpSpPr>
          <p:sp>
            <p:nvSpPr>
              <p:cNvPr id="42" name="Rectangle 41"/>
              <p:cNvSpPr/>
              <p:nvPr/>
            </p:nvSpPr>
            <p:spPr bwMode="gray">
              <a:xfrm>
                <a:off x="2386981" y="4488375"/>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4" name="Rectangle 13"/>
              <p:cNvSpPr/>
              <p:nvPr/>
            </p:nvSpPr>
            <p:spPr bwMode="gray">
              <a:xfrm>
                <a:off x="1367932" y="4305495"/>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app</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0" name="Group 9"/>
            <p:cNvGrpSpPr/>
            <p:nvPr/>
          </p:nvGrpSpPr>
          <p:grpSpPr>
            <a:xfrm>
              <a:off x="3899375" y="4305495"/>
              <a:ext cx="2227644" cy="956786"/>
              <a:chOff x="1367932" y="4305495"/>
              <a:chExt cx="2227644" cy="956786"/>
            </a:xfrm>
          </p:grpSpPr>
          <p:sp>
            <p:nvSpPr>
              <p:cNvPr id="11" name="Rectangle 10"/>
              <p:cNvSpPr/>
              <p:nvPr/>
            </p:nvSpPr>
            <p:spPr bwMode="gray">
              <a:xfrm>
                <a:off x="2386981" y="4488375"/>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2" name="Rectangle 11"/>
              <p:cNvSpPr/>
              <p:nvPr/>
            </p:nvSpPr>
            <p:spPr bwMode="gray">
              <a:xfrm>
                <a:off x="1367932" y="4305495"/>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app</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3" name="Group 12"/>
            <p:cNvGrpSpPr/>
            <p:nvPr/>
          </p:nvGrpSpPr>
          <p:grpSpPr>
            <a:xfrm>
              <a:off x="6430818" y="4305495"/>
              <a:ext cx="2227644" cy="956786"/>
              <a:chOff x="1367932" y="4305495"/>
              <a:chExt cx="2227644" cy="956786"/>
            </a:xfrm>
          </p:grpSpPr>
          <p:sp>
            <p:nvSpPr>
              <p:cNvPr id="15" name="Rectangle 14"/>
              <p:cNvSpPr/>
              <p:nvPr/>
            </p:nvSpPr>
            <p:spPr bwMode="gray">
              <a:xfrm>
                <a:off x="2386981" y="4488375"/>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6" name="Rectangle 15"/>
              <p:cNvSpPr/>
              <p:nvPr/>
            </p:nvSpPr>
            <p:spPr bwMode="gray">
              <a:xfrm>
                <a:off x="1367932" y="4305495"/>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app</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5" name="Flowchart: Document 4"/>
            <p:cNvSpPr/>
            <p:nvPr/>
          </p:nvSpPr>
          <p:spPr bwMode="gray">
            <a:xfrm>
              <a:off x="1367932" y="3306309"/>
              <a:ext cx="1506583"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Selector: </a:t>
              </a:r>
              <a:r>
                <a:rPr lang="en-US" sz="1800" kern="0" dirty="0" err="1">
                  <a:ea typeface="Arial Unicode MS" pitchFamily="34" charset="-128"/>
                  <a:cs typeface="Arial Unicode MS" pitchFamily="34" charset="-128"/>
                </a:rPr>
                <a:t>app:nginx</a:t>
              </a:r>
              <a:endParaRPr lang="en-US" sz="1800" kern="0" dirty="0">
                <a:ea typeface="Arial Unicode MS" pitchFamily="34" charset="-128"/>
                <a:cs typeface="Arial Unicode MS" pitchFamily="34" charset="-128"/>
              </a:endParaRPr>
            </a:p>
          </p:txBody>
        </p:sp>
      </p:grpSp>
      <p:sp>
        <p:nvSpPr>
          <p:cNvPr id="17" name="Rectangle 16"/>
          <p:cNvSpPr/>
          <p:nvPr/>
        </p:nvSpPr>
        <p:spPr bwMode="gray">
          <a:xfrm>
            <a:off x="8479019" y="3311391"/>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app</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Flowchart: Document 19"/>
          <p:cNvSpPr/>
          <p:nvPr/>
        </p:nvSpPr>
        <p:spPr bwMode="gray">
          <a:xfrm>
            <a:off x="2108699" y="2116699"/>
            <a:ext cx="1506583"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Selector: </a:t>
            </a:r>
            <a:r>
              <a:rPr lang="en-US" sz="1800" kern="0" dirty="0" err="1">
                <a:ea typeface="Arial Unicode MS" pitchFamily="34" charset="-128"/>
                <a:cs typeface="Arial Unicode MS" pitchFamily="34" charset="-128"/>
              </a:rPr>
              <a:t>app:nginx</a:t>
            </a:r>
            <a:endParaRPr lang="en-US" sz="1800" kern="0" dirty="0">
              <a:ea typeface="Arial Unicode MS" pitchFamily="34" charset="-128"/>
              <a:cs typeface="Arial Unicode MS" pitchFamily="34" charset="-128"/>
            </a:endParaRPr>
          </a:p>
        </p:txBody>
      </p:sp>
      <p:sp>
        <p:nvSpPr>
          <p:cNvPr id="21" name="Rectangle 20"/>
          <p:cNvSpPr/>
          <p:nvPr/>
        </p:nvSpPr>
        <p:spPr bwMode="gray">
          <a:xfrm>
            <a:off x="8479019" y="2112859"/>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app</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012488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962A931E-4934-4B92-902B-4B22DC418132}"/>
              </a:ext>
            </a:extLst>
          </p:cNvPr>
          <p:cNvPicPr>
            <a:picLocks noChangeAspect="1"/>
          </p:cNvPicPr>
          <p:nvPr/>
        </p:nvPicPr>
        <p:blipFill>
          <a:blip r:embed="rId3"/>
          <a:stretch>
            <a:fillRect/>
          </a:stretch>
        </p:blipFill>
        <p:spPr>
          <a:xfrm>
            <a:off x="7574616" y="651855"/>
            <a:ext cx="3380968" cy="5673150"/>
          </a:xfrm>
          <a:prstGeom prst="rect">
            <a:avLst/>
          </a:prstGeom>
          <a:ln>
            <a:solidFill>
              <a:schemeClr val="tx1"/>
            </a:solidFill>
          </a:ln>
        </p:spPr>
      </p:pic>
      <p:sp>
        <p:nvSpPr>
          <p:cNvPr id="3" name="Text Placeholder 2"/>
          <p:cNvSpPr>
            <a:spLocks noGrp="1"/>
          </p:cNvSpPr>
          <p:nvPr>
            <p:ph type="body" sz="quarter" idx="10"/>
          </p:nvPr>
        </p:nvSpPr>
        <p:spPr>
          <a:xfrm>
            <a:off x="504001" y="1124700"/>
            <a:ext cx="6506400" cy="4727460"/>
          </a:xfrm>
        </p:spPr>
        <p:txBody>
          <a:bodyPr/>
          <a:lstStyle/>
          <a:p>
            <a:pPr lvl="1"/>
            <a:r>
              <a:rPr lang="en-US" dirty="0"/>
              <a:t>Deployments are the default construct to run stateless applications in Kubernetes</a:t>
            </a:r>
          </a:p>
          <a:p>
            <a:pPr lvl="1"/>
            <a:r>
              <a:rPr lang="en-US" dirty="0"/>
              <a:t>Create a deployment from a </a:t>
            </a:r>
            <a:r>
              <a:rPr lang="en-US" dirty="0" err="1"/>
              <a:t>yaml</a:t>
            </a:r>
            <a:r>
              <a:rPr lang="en-US" dirty="0"/>
              <a:t>/json file or by “</a:t>
            </a:r>
            <a:r>
              <a:rPr lang="en-US" dirty="0" err="1"/>
              <a:t>kubectl</a:t>
            </a:r>
            <a:r>
              <a:rPr lang="en-US" dirty="0"/>
              <a:t> create deployment &lt;name&gt; --image=&lt;image&gt;</a:t>
            </a:r>
          </a:p>
          <a:p>
            <a:pPr lvl="1"/>
            <a:r>
              <a:rPr lang="en-US" dirty="0"/>
              <a:t>Deployments create </a:t>
            </a:r>
            <a:r>
              <a:rPr lang="en-US" dirty="0" err="1"/>
              <a:t>ReplicaSets</a:t>
            </a:r>
            <a:r>
              <a:rPr lang="en-US" dirty="0"/>
              <a:t>, which then create pods</a:t>
            </a:r>
          </a:p>
          <a:p>
            <a:pPr lvl="1"/>
            <a:r>
              <a:rPr lang="en-US" dirty="0"/>
              <a:t>Resource type can scale</a:t>
            </a:r>
          </a:p>
          <a:p>
            <a:pPr lvl="1"/>
            <a:r>
              <a:rPr lang="en-US" dirty="0"/>
              <a:t>Support of rolling updates, versioning and roll-backs</a:t>
            </a:r>
          </a:p>
          <a:p>
            <a:pPr lvl="1"/>
            <a:r>
              <a:rPr lang="en-US" dirty="0"/>
              <a:t>All parts belonging to a deployment are identified by labels and corresponding </a:t>
            </a:r>
            <a:r>
              <a:rPr lang="en-US" dirty="0" err="1"/>
              <a:t>selctors</a:t>
            </a:r>
            <a:endParaRPr lang="en-US" dirty="0"/>
          </a:p>
          <a:p>
            <a:pPr lvl="1"/>
            <a:endParaRPr lang="en-US" dirty="0"/>
          </a:p>
        </p:txBody>
      </p:sp>
      <p:sp>
        <p:nvSpPr>
          <p:cNvPr id="2" name="Title 1"/>
          <p:cNvSpPr>
            <a:spLocks noGrp="1"/>
          </p:cNvSpPr>
          <p:nvPr>
            <p:ph type="title"/>
          </p:nvPr>
        </p:nvSpPr>
        <p:spPr/>
        <p:txBody>
          <a:bodyPr/>
          <a:lstStyle/>
          <a:p>
            <a:r>
              <a:rPr lang="en-US" dirty="0"/>
              <a:t>Deployments</a:t>
            </a:r>
          </a:p>
        </p:txBody>
      </p:sp>
      <p:cxnSp>
        <p:nvCxnSpPr>
          <p:cNvPr id="5" name="Straight Arrow Connector 4"/>
          <p:cNvCxnSpPr/>
          <p:nvPr/>
        </p:nvCxnSpPr>
        <p:spPr>
          <a:xfrm flipH="1">
            <a:off x="10146741" y="2111548"/>
            <a:ext cx="1059180" cy="7620"/>
          </a:xfrm>
          <a:prstGeom prst="straightConnector1">
            <a:avLst/>
          </a:prstGeom>
          <a:ln w="57150">
            <a:solidFill>
              <a:schemeClr val="accent4"/>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6" name="Straight Arrow Connector 5"/>
          <p:cNvCxnSpPr/>
          <p:nvPr/>
        </p:nvCxnSpPr>
        <p:spPr>
          <a:xfrm flipH="1">
            <a:off x="10146741" y="3488430"/>
            <a:ext cx="1059180" cy="7620"/>
          </a:xfrm>
          <a:prstGeom prst="straightConnector1">
            <a:avLst/>
          </a:prstGeom>
          <a:ln w="57150">
            <a:solidFill>
              <a:schemeClr val="accent5"/>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7" name="Straight Arrow Connector 6"/>
          <p:cNvCxnSpPr/>
          <p:nvPr/>
        </p:nvCxnSpPr>
        <p:spPr>
          <a:xfrm flipH="1">
            <a:off x="10146741" y="4597507"/>
            <a:ext cx="1059180" cy="7620"/>
          </a:xfrm>
          <a:prstGeom prst="straightConnector1">
            <a:avLst/>
          </a:prstGeom>
          <a:ln w="57150">
            <a:solidFill>
              <a:schemeClr val="accent5"/>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249990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59B34B4-C129-4847-964B-4D41E2982158}"/>
              </a:ext>
            </a:extLst>
          </p:cNvPr>
          <p:cNvSpPr>
            <a:spLocks noGrp="1"/>
          </p:cNvSpPr>
          <p:nvPr>
            <p:ph type="title"/>
          </p:nvPr>
        </p:nvSpPr>
        <p:spPr>
          <a:xfrm>
            <a:off x="504001" y="504000"/>
            <a:ext cx="11186476" cy="369332"/>
          </a:xfrm>
        </p:spPr>
        <p:txBody>
          <a:bodyPr/>
          <a:lstStyle/>
          <a:p>
            <a:r>
              <a:rPr lang="en-US" dirty="0"/>
              <a:t>Automatic Scaling</a:t>
            </a:r>
          </a:p>
        </p:txBody>
      </p:sp>
      <p:pic>
        <p:nvPicPr>
          <p:cNvPr id="1032" name="Picture 8" descr="Related image">
            <a:extLst>
              <a:ext uri="{FF2B5EF4-FFF2-40B4-BE49-F238E27FC236}">
                <a16:creationId xmlns:a16="http://schemas.microsoft.com/office/drawing/2014/main" id="{0274FF14-135E-47F9-872A-76CDB25206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92420" y="1058944"/>
            <a:ext cx="1555920" cy="1259288"/>
          </a:xfrm>
          <a:prstGeom prst="rect">
            <a:avLst/>
          </a:prstGeom>
          <a:gradFill>
            <a:gsLst>
              <a:gs pos="0">
                <a:schemeClr val="accent3">
                  <a:lumMod val="20000"/>
                  <a:lumOff val="80000"/>
                </a:schemeClr>
              </a:gs>
              <a:gs pos="50000">
                <a:schemeClr val="accent3">
                  <a:lumMod val="20000"/>
                  <a:lumOff val="80000"/>
                </a:schemeClr>
              </a:gs>
              <a:gs pos="100000">
                <a:schemeClr val="bg1"/>
              </a:gs>
            </a:gsLst>
            <a:lin ang="5400000" scaled="1"/>
          </a:gradFill>
          <a:ln>
            <a:solidFill>
              <a:schemeClr val="tx1"/>
            </a:solidFill>
          </a:ln>
        </p:spPr>
      </p:pic>
      <p:pic>
        <p:nvPicPr>
          <p:cNvPr id="19" name="Group 24">
            <a:extLst>
              <a:ext uri="{FF2B5EF4-FFF2-40B4-BE49-F238E27FC236}">
                <a16:creationId xmlns:a16="http://schemas.microsoft.com/office/drawing/2014/main" id="{1CE2F06B-986D-44E7-9132-0090E7873369}"/>
              </a:ext>
            </a:extLst>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96241" y="2765630"/>
            <a:ext cx="948278" cy="1148264"/>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 descr="https://vignette.wikia.nocookie.net/nintendo/images/8/83/KoopaNSMB.png/revision/latest?cb=20110724132501&amp;path-prefix=en">
            <a:extLst>
              <a:ext uri="{FF2B5EF4-FFF2-40B4-BE49-F238E27FC236}">
                <a16:creationId xmlns:a16="http://schemas.microsoft.com/office/drawing/2014/main" id="{9F8E4E4A-6D61-4E40-A861-09235628CA4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355406" y="4760882"/>
            <a:ext cx="770113" cy="1225374"/>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 descr="https://vignette.wikia.nocookie.net/nintendo/images/8/83/KoopaNSMB.png/revision/latest?cb=20110724132501&amp;path-prefix=en">
            <a:extLst>
              <a:ext uri="{FF2B5EF4-FFF2-40B4-BE49-F238E27FC236}">
                <a16:creationId xmlns:a16="http://schemas.microsoft.com/office/drawing/2014/main" id="{51D6EAF4-A063-4BAE-ADC9-7A9BB74CB68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0889" y="4748223"/>
            <a:ext cx="770113" cy="122537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3F0B92B0-4033-4E1F-93D0-9C8F6375D10F}"/>
              </a:ext>
            </a:extLst>
          </p:cNvPr>
          <p:cNvPicPr>
            <a:picLocks noChangeAspect="1"/>
          </p:cNvPicPr>
          <p:nvPr/>
        </p:nvPicPr>
        <p:blipFill>
          <a:blip r:embed="rId6"/>
          <a:stretch>
            <a:fillRect/>
          </a:stretch>
        </p:blipFill>
        <p:spPr>
          <a:xfrm>
            <a:off x="7772699" y="1133789"/>
            <a:ext cx="3289047" cy="4590422"/>
          </a:xfrm>
          <a:prstGeom prst="rect">
            <a:avLst/>
          </a:prstGeom>
          <a:ln w="12700">
            <a:solidFill>
              <a:schemeClr val="tx1"/>
            </a:solidFill>
          </a:ln>
        </p:spPr>
      </p:pic>
      <p:sp>
        <p:nvSpPr>
          <p:cNvPr id="11" name="Oval 10">
            <a:extLst>
              <a:ext uri="{FF2B5EF4-FFF2-40B4-BE49-F238E27FC236}">
                <a16:creationId xmlns:a16="http://schemas.microsoft.com/office/drawing/2014/main" id="{633288C2-9400-4935-9EE4-25CAC2AA9E8D}"/>
              </a:ext>
            </a:extLst>
          </p:cNvPr>
          <p:cNvSpPr/>
          <p:nvPr/>
        </p:nvSpPr>
        <p:spPr bwMode="gray">
          <a:xfrm>
            <a:off x="2408540" y="2816083"/>
            <a:ext cx="523679" cy="523679"/>
          </a:xfrm>
          <a:prstGeom prst="ellipse">
            <a:avLst/>
          </a:prstGeom>
          <a:solidFill>
            <a:schemeClr val="bg1"/>
          </a:solidFill>
          <a:ln w="25400" algn="ctr">
            <a:solidFill>
              <a:srgbClr val="FF0000"/>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800" b="1" i="0" u="none" strike="noStrike" kern="0" cap="none" spc="0" normalizeH="0" baseline="0" noProof="0" dirty="0">
                <a:ln>
                  <a:noFill/>
                </a:ln>
                <a:effectLst/>
                <a:uLnTx/>
                <a:uFillTx/>
                <a:ea typeface="Arial Unicode MS" pitchFamily="34" charset="-128"/>
                <a:cs typeface="Arial Unicode MS" pitchFamily="34" charset="-128"/>
              </a:rPr>
              <a:t>3</a:t>
            </a:r>
            <a:endParaRPr kumimoji="0" lang="en-DE" sz="2800" b="1"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3" name="Straight Arrow Connector 12">
            <a:extLst>
              <a:ext uri="{FF2B5EF4-FFF2-40B4-BE49-F238E27FC236}">
                <a16:creationId xmlns:a16="http://schemas.microsoft.com/office/drawing/2014/main" id="{16FEA55D-B262-474C-8295-B0DE47737754}"/>
              </a:ext>
            </a:extLst>
          </p:cNvPr>
          <p:cNvCxnSpPr>
            <a:cxnSpLocks/>
            <a:stCxn id="44" idx="1"/>
            <a:endCxn id="11" idx="6"/>
          </p:cNvCxnSpPr>
          <p:nvPr/>
        </p:nvCxnSpPr>
        <p:spPr>
          <a:xfrm flipH="1">
            <a:off x="2932219" y="3077921"/>
            <a:ext cx="1791787" cy="2"/>
          </a:xfrm>
          <a:prstGeom prst="straightConnector1">
            <a:avLst/>
          </a:prstGeom>
          <a:ln w="79375">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BA722EA3-E317-42CC-9279-3F6FE003FB04}"/>
              </a:ext>
            </a:extLst>
          </p:cNvPr>
          <p:cNvSpPr/>
          <p:nvPr/>
        </p:nvSpPr>
        <p:spPr bwMode="gray">
          <a:xfrm>
            <a:off x="2404593" y="2816082"/>
            <a:ext cx="523679" cy="523679"/>
          </a:xfrm>
          <a:prstGeom prst="ellipse">
            <a:avLst/>
          </a:prstGeom>
          <a:solidFill>
            <a:schemeClr val="bg1"/>
          </a:solidFill>
          <a:ln w="25400" algn="ctr">
            <a:solidFill>
              <a:srgbClr val="FF0000"/>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800" b="1" i="0" u="none" strike="noStrike" kern="0" cap="none" spc="0" normalizeH="0" baseline="0" noProof="0" dirty="0">
                <a:ln>
                  <a:noFill/>
                </a:ln>
                <a:effectLst/>
                <a:uLnTx/>
                <a:uFillTx/>
                <a:ea typeface="Arial Unicode MS" pitchFamily="34" charset="-128"/>
                <a:cs typeface="Arial Unicode MS" pitchFamily="34" charset="-128"/>
              </a:rPr>
              <a:t>5</a:t>
            </a:r>
            <a:endParaRPr kumimoji="0" lang="en-DE" sz="2800" b="1"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5" name="Straight Connector 14">
            <a:extLst>
              <a:ext uri="{FF2B5EF4-FFF2-40B4-BE49-F238E27FC236}">
                <a16:creationId xmlns:a16="http://schemas.microsoft.com/office/drawing/2014/main" id="{CF107E9E-C6FE-4BA7-92D9-C815E3616BA0}"/>
              </a:ext>
            </a:extLst>
          </p:cNvPr>
          <p:cNvCxnSpPr>
            <a:stCxn id="1032" idx="2"/>
            <a:endCxn id="19" idx="0"/>
          </p:cNvCxnSpPr>
          <p:nvPr/>
        </p:nvCxnSpPr>
        <p:spPr>
          <a:xfrm>
            <a:off x="2670380" y="2318232"/>
            <a:ext cx="0" cy="447398"/>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A3779464-7CCB-42A3-977A-AC6B0AECE2CB}"/>
              </a:ext>
            </a:extLst>
          </p:cNvPr>
          <p:cNvCxnSpPr>
            <a:stCxn id="22" idx="0"/>
            <a:endCxn id="21" idx="0"/>
          </p:cNvCxnSpPr>
          <p:nvPr/>
        </p:nvCxnSpPr>
        <p:spPr>
          <a:xfrm rot="5400000" flipH="1" flipV="1">
            <a:off x="2670380" y="3901687"/>
            <a:ext cx="12700" cy="1718391"/>
          </a:xfrm>
          <a:prstGeom prst="bentConnector3">
            <a:avLst>
              <a:gd name="adj1" fmla="val 3669236"/>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894DACAE-8812-41C6-AB92-A47D450FA4C3}"/>
              </a:ext>
            </a:extLst>
          </p:cNvPr>
          <p:cNvCxnSpPr>
            <a:stCxn id="19" idx="2"/>
            <a:endCxn id="1026" idx="0"/>
          </p:cNvCxnSpPr>
          <p:nvPr/>
        </p:nvCxnSpPr>
        <p:spPr>
          <a:xfrm>
            <a:off x="2670380" y="3913894"/>
            <a:ext cx="1" cy="846988"/>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Connector: Elbow 35">
            <a:extLst>
              <a:ext uri="{FF2B5EF4-FFF2-40B4-BE49-F238E27FC236}">
                <a16:creationId xmlns:a16="http://schemas.microsoft.com/office/drawing/2014/main" id="{829872FC-12B6-4E46-A00F-8912967A3DCB}"/>
              </a:ext>
            </a:extLst>
          </p:cNvPr>
          <p:cNvCxnSpPr>
            <a:stCxn id="25" idx="0"/>
            <a:endCxn id="24" idx="0"/>
          </p:cNvCxnSpPr>
          <p:nvPr/>
        </p:nvCxnSpPr>
        <p:spPr>
          <a:xfrm rot="16200000" flipH="1">
            <a:off x="2661874" y="2682294"/>
            <a:ext cx="12659" cy="4144517"/>
          </a:xfrm>
          <a:prstGeom prst="bentConnector3">
            <a:avLst>
              <a:gd name="adj1" fmla="val -3523398"/>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026" name="Picture 2" descr="https://vignette.wikia.nocookie.net/nintendo/images/8/83/KoopaNSMB.png/revision/latest?cb=20110724132501&amp;path-prefix=en">
            <a:extLst>
              <a:ext uri="{FF2B5EF4-FFF2-40B4-BE49-F238E27FC236}">
                <a16:creationId xmlns:a16="http://schemas.microsoft.com/office/drawing/2014/main" id="{DD6E3BCC-6AF7-43FC-8693-FDBFC61D5D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85324" y="4760882"/>
            <a:ext cx="770113" cy="1225374"/>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https://vignette.wikia.nocookie.net/nintendo/images/8/83/KoopaNSMB.png/revision/latest?cb=20110724132501&amp;path-prefix=en">
            <a:extLst>
              <a:ext uri="{FF2B5EF4-FFF2-40B4-BE49-F238E27FC236}">
                <a16:creationId xmlns:a16="http://schemas.microsoft.com/office/drawing/2014/main" id="{8841EF5E-EF2A-4681-B4EC-703BFCAC03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44519" y="4760882"/>
            <a:ext cx="770113" cy="1225374"/>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descr="https://vignette.wikia.nocookie.net/nintendo/images/8/83/KoopaNSMB.png/revision/latest?cb=20110724132501&amp;path-prefix=en">
            <a:extLst>
              <a:ext uri="{FF2B5EF4-FFF2-40B4-BE49-F238E27FC236}">
                <a16:creationId xmlns:a16="http://schemas.microsoft.com/office/drawing/2014/main" id="{B58730FA-E81E-44BB-ADA2-AB07C1DB30E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26128" y="4760882"/>
            <a:ext cx="770113" cy="1225374"/>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3">
            <a:extLst>
              <a:ext uri="{FF2B5EF4-FFF2-40B4-BE49-F238E27FC236}">
                <a16:creationId xmlns:a16="http://schemas.microsoft.com/office/drawing/2014/main" id="{64F51F5E-8492-472F-9873-D9FA491F3BC1}"/>
              </a:ext>
            </a:extLst>
          </p:cNvPr>
          <p:cNvPicPr>
            <a:picLocks noChangeAspect="1"/>
          </p:cNvPicPr>
          <p:nvPr/>
        </p:nvPicPr>
        <p:blipFill>
          <a:blip r:embed="rId7"/>
          <a:stretch>
            <a:fillRect/>
          </a:stretch>
        </p:blipFill>
        <p:spPr>
          <a:xfrm>
            <a:off x="4724006" y="2362081"/>
            <a:ext cx="1734735" cy="1431679"/>
          </a:xfrm>
          <a:prstGeom prst="rect">
            <a:avLst/>
          </a:prstGeom>
        </p:spPr>
      </p:pic>
      <p:sp>
        <p:nvSpPr>
          <p:cNvPr id="46" name="Speech Bubble: Rectangle 45">
            <a:extLst>
              <a:ext uri="{FF2B5EF4-FFF2-40B4-BE49-F238E27FC236}">
                <a16:creationId xmlns:a16="http://schemas.microsoft.com/office/drawing/2014/main" id="{0E60D679-5B28-40FF-B255-C6404868D6C6}"/>
              </a:ext>
            </a:extLst>
          </p:cNvPr>
          <p:cNvSpPr/>
          <p:nvPr/>
        </p:nvSpPr>
        <p:spPr bwMode="gray">
          <a:xfrm>
            <a:off x="4542109" y="1061603"/>
            <a:ext cx="2414903" cy="584641"/>
          </a:xfrm>
          <a:prstGeom prst="wedgeRectCallout">
            <a:avLst>
              <a:gd name="adj1" fmla="val -17464"/>
              <a:gd name="adj2" fmla="val 18697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Horizontal Pod </a:t>
            </a:r>
            <a:r>
              <a:rPr kumimoji="0" lang="en-US" sz="18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Autoscaler</a:t>
            </a:r>
            <a:r>
              <a:rPr kumimoji="0" lang="en-US" sz="18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(HPA)</a:t>
            </a: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Tree>
    <p:extLst>
      <p:ext uri="{BB962C8B-B14F-4D97-AF65-F5344CB8AC3E}">
        <p14:creationId xmlns:p14="http://schemas.microsoft.com/office/powerpoint/2010/main" val="11544478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2000" fill="hold"/>
                                        <p:tgtEl>
                                          <p:spTgt spid="1026"/>
                                        </p:tgtEl>
                                      </p:cBhvr>
                                      <p:by x="150000" y="150000"/>
                                    </p:animScale>
                                  </p:childTnLst>
                                </p:cTn>
                              </p:par>
                              <p:par>
                                <p:cTn id="7" presetID="6" presetClass="emph" presetSubtype="0" fill="hold" nodeType="withEffect">
                                  <p:stCondLst>
                                    <p:cond delay="0"/>
                                  </p:stCondLst>
                                  <p:childTnLst>
                                    <p:animScale>
                                      <p:cBhvr>
                                        <p:cTn id="8" dur="2000" fill="hold"/>
                                        <p:tgtEl>
                                          <p:spTgt spid="21"/>
                                        </p:tgtEl>
                                      </p:cBhvr>
                                      <p:by x="150000" y="150000"/>
                                    </p:animScale>
                                  </p:childTnLst>
                                </p:cTn>
                              </p:par>
                              <p:par>
                                <p:cTn id="9" presetID="6" presetClass="emph" presetSubtype="0" fill="hold" nodeType="withEffect">
                                  <p:stCondLst>
                                    <p:cond delay="0"/>
                                  </p:stCondLst>
                                  <p:childTnLst>
                                    <p:animScale>
                                      <p:cBhvr>
                                        <p:cTn id="10" dur="2000" fill="hold"/>
                                        <p:tgtEl>
                                          <p:spTgt spid="22"/>
                                        </p:tgtEl>
                                      </p:cBhvr>
                                      <p:by x="150000" y="150000"/>
                                    </p:animScale>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grpId="0"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wipe(down)">
                                      <p:cBhvr>
                                        <p:cTn id="23" dur="500"/>
                                        <p:tgtEl>
                                          <p:spTgt spid="34"/>
                                        </p:tgtEl>
                                      </p:cBhvr>
                                    </p:animEffect>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24"/>
                                        </p:tgtEl>
                                        <p:attrNameLst>
                                          <p:attrName>style.visibility</p:attrName>
                                        </p:attrNameLst>
                                      </p:cBhvr>
                                      <p:to>
                                        <p:strVal val="visible"/>
                                      </p:to>
                                    </p:set>
                                    <p:anim calcmode="lin" valueType="num">
                                      <p:cBhvr additive="base">
                                        <p:cTn id="28" dur="500" fill="hold"/>
                                        <p:tgtEl>
                                          <p:spTgt spid="24"/>
                                        </p:tgtEl>
                                        <p:attrNameLst>
                                          <p:attrName>ppt_x</p:attrName>
                                        </p:attrNameLst>
                                      </p:cBhvr>
                                      <p:tavLst>
                                        <p:tav tm="0">
                                          <p:val>
                                            <p:strVal val="#ppt_x"/>
                                          </p:val>
                                        </p:tav>
                                        <p:tav tm="100000">
                                          <p:val>
                                            <p:strVal val="#ppt_x"/>
                                          </p:val>
                                        </p:tav>
                                      </p:tavLst>
                                    </p:anim>
                                    <p:anim calcmode="lin" valueType="num">
                                      <p:cBhvr additive="base">
                                        <p:cTn id="29" dur="500" fill="hold"/>
                                        <p:tgtEl>
                                          <p:spTgt spid="24"/>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0"/>
                                  </p:stCondLst>
                                  <p:childTnLst>
                                    <p:set>
                                      <p:cBhvr>
                                        <p:cTn id="31" dur="1" fill="hold">
                                          <p:stCondLst>
                                            <p:cond delay="0"/>
                                          </p:stCondLst>
                                        </p:cTn>
                                        <p:tgtEl>
                                          <p:spTgt spid="25"/>
                                        </p:tgtEl>
                                        <p:attrNameLst>
                                          <p:attrName>style.visibility</p:attrName>
                                        </p:attrNameLst>
                                      </p:cBhvr>
                                      <p:to>
                                        <p:strVal val="visible"/>
                                      </p:to>
                                    </p:set>
                                    <p:anim calcmode="lin" valueType="num">
                                      <p:cBhvr additive="base">
                                        <p:cTn id="32" dur="500" fill="hold"/>
                                        <p:tgtEl>
                                          <p:spTgt spid="25"/>
                                        </p:tgtEl>
                                        <p:attrNameLst>
                                          <p:attrName>ppt_x</p:attrName>
                                        </p:attrNameLst>
                                      </p:cBhvr>
                                      <p:tavLst>
                                        <p:tav tm="0">
                                          <p:val>
                                            <p:strVal val="#ppt_x"/>
                                          </p:val>
                                        </p:tav>
                                        <p:tav tm="100000">
                                          <p:val>
                                            <p:strVal val="#ppt_x"/>
                                          </p:val>
                                        </p:tav>
                                      </p:tavLst>
                                    </p:anim>
                                    <p:anim calcmode="lin" valueType="num">
                                      <p:cBhvr additive="base">
                                        <p:cTn id="33" dur="500" fill="hold"/>
                                        <p:tgtEl>
                                          <p:spTgt spid="25"/>
                                        </p:tgtEl>
                                        <p:attrNameLst>
                                          <p:attrName>ppt_y</p:attrName>
                                        </p:attrNameLst>
                                      </p:cBhvr>
                                      <p:tavLst>
                                        <p:tav tm="0">
                                          <p:val>
                                            <p:strVal val="1+#ppt_h/2"/>
                                          </p:val>
                                        </p:tav>
                                        <p:tav tm="100000">
                                          <p:val>
                                            <p:strVal val="#ppt_y"/>
                                          </p:val>
                                        </p:tav>
                                      </p:tavLst>
                                    </p:anim>
                                  </p:childTnLst>
                                </p:cTn>
                              </p:par>
                            </p:childTnLst>
                          </p:cTn>
                        </p:par>
                        <p:par>
                          <p:cTn id="34" fill="hold">
                            <p:stCondLst>
                              <p:cond delay="500"/>
                            </p:stCondLst>
                            <p:childTnLst>
                              <p:par>
                                <p:cTn id="35" presetID="1" presetClass="entr" presetSubtype="0" fill="hold" nodeType="after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6" presetClass="emph" presetSubtype="0" fill="hold" nodeType="withEffect">
                                  <p:stCondLst>
                                    <p:cond delay="0"/>
                                  </p:stCondLst>
                                  <p:childTnLst>
                                    <p:animScale>
                                      <p:cBhvr>
                                        <p:cTn id="38" dur="2000" fill="hold"/>
                                        <p:tgtEl>
                                          <p:spTgt spid="21"/>
                                        </p:tgtEl>
                                      </p:cBhvr>
                                      <p:by x="100000" y="100000"/>
                                    </p:animScale>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4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5B3BEF34-58E3-4509-95B9-E61C9AF3161E}"/>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2368727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What YOU will do in exercise #03</a:t>
            </a:r>
          </a:p>
        </p:txBody>
      </p:sp>
      <p:grpSp>
        <p:nvGrpSpPr>
          <p:cNvPr id="13" name="Group 12"/>
          <p:cNvGrpSpPr/>
          <p:nvPr/>
        </p:nvGrpSpPr>
        <p:grpSpPr>
          <a:xfrm>
            <a:off x="2674620" y="294894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solidFill>
              <a:schemeClr val="accent4"/>
            </a:solidFill>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kern="0" dirty="0" err="1">
                  <a:ea typeface="Arial Unicode MS" pitchFamily="34" charset="-128"/>
                  <a:cs typeface="Arial Unicode MS" pitchFamily="34" charset="-128"/>
                </a:rPr>
                <a:t>nginx</a:t>
              </a:r>
              <a:endParaRPr lang="de-DE" sz="1800" kern="0" dirty="0">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800" kern="0" dirty="0" err="1">
                  <a:ea typeface="Arial Unicode MS" pitchFamily="34" charset="-128"/>
                  <a:cs typeface="Arial Unicode MS" pitchFamily="34" charset="-128"/>
                </a:rPr>
                <a:t>nginx</a:t>
              </a:r>
              <a:endParaRPr lang="de-DE" sz="1800" kern="0" dirty="0">
                <a:ea typeface="Arial Unicode MS" pitchFamily="34" charset="-128"/>
                <a:cs typeface="Arial Unicode MS" pitchFamily="34" charset="-128"/>
              </a:endParaRPr>
            </a:p>
          </p:txBody>
        </p:sp>
      </p:grpSp>
      <p:grpSp>
        <p:nvGrpSpPr>
          <p:cNvPr id="15" name="Group 14"/>
          <p:cNvGrpSpPr/>
          <p:nvPr/>
        </p:nvGrpSpPr>
        <p:grpSpPr>
          <a:xfrm>
            <a:off x="3482340" y="517665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400550"/>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9" y="1126276"/>
            <a:ext cx="3382042" cy="914400"/>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Arrow: Up-Down 17"/>
          <p:cNvSpPr/>
          <p:nvPr/>
        </p:nvSpPr>
        <p:spPr bwMode="gray">
          <a:xfrm>
            <a:off x="5657231" y="2071898"/>
            <a:ext cx="222219" cy="845820"/>
          </a:xfrm>
          <a:prstGeom prst="upDownArrow">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Speech Bubble: Rectangle 18">
            <a:extLst>
              <a:ext uri="{FF2B5EF4-FFF2-40B4-BE49-F238E27FC236}">
                <a16:creationId xmlns:a16="http://schemas.microsoft.com/office/drawing/2014/main" id="{AAA8C7F8-E5A3-49DE-AE4F-902A3DF77D4D}"/>
              </a:ext>
            </a:extLst>
          </p:cNvPr>
          <p:cNvSpPr/>
          <p:nvPr/>
        </p:nvSpPr>
        <p:spPr bwMode="gray">
          <a:xfrm>
            <a:off x="504001" y="1453214"/>
            <a:ext cx="2535294" cy="915844"/>
          </a:xfrm>
          <a:prstGeom prst="wedgeRectCallout">
            <a:avLst>
              <a:gd name="adj1" fmla="val 52573"/>
              <a:gd name="adj2" fmla="val 12778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Create a deployment to manage multiple instances</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0855814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8CBB580-BC1F-482E-9F76-56106F271DD8}"/>
              </a:ext>
            </a:extLst>
          </p:cNvPr>
          <p:cNvSpPr>
            <a:spLocks noGrp="1"/>
          </p:cNvSpPr>
          <p:nvPr>
            <p:ph type="ctrTitle"/>
          </p:nvPr>
        </p:nvSpPr>
        <p:spPr/>
        <p:txBody>
          <a:bodyPr/>
          <a:lstStyle/>
          <a:p>
            <a:r>
              <a:rPr lang="de-DE" dirty="0"/>
              <a:t>Appendix</a:t>
            </a:r>
          </a:p>
        </p:txBody>
      </p:sp>
    </p:spTree>
    <p:extLst>
      <p:ext uri="{BB962C8B-B14F-4D97-AF65-F5344CB8AC3E}">
        <p14:creationId xmlns:p14="http://schemas.microsoft.com/office/powerpoint/2010/main" val="37337795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2" name="Rounded Rectangle 5">
            <a:extLst>
              <a:ext uri="{FF2B5EF4-FFF2-40B4-BE49-F238E27FC236}">
                <a16:creationId xmlns:a16="http://schemas.microsoft.com/office/drawing/2014/main" id="{D894DCBA-3FDC-4C45-99D2-08AC10E865C3}"/>
              </a:ext>
            </a:extLst>
          </p:cNvPr>
          <p:cNvSpPr/>
          <p:nvPr/>
        </p:nvSpPr>
        <p:spPr bwMode="gray">
          <a:xfrm>
            <a:off x="4106917" y="1248124"/>
            <a:ext cx="7768091" cy="5231504"/>
          </a:xfrm>
          <a:prstGeom prst="roundRect">
            <a:avLst/>
          </a:prstGeom>
          <a:solidFill>
            <a:schemeClr val="tx1">
              <a:lumMod val="75000"/>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marL="0" marR="0" lvl="0" indent="0" algn="ctr" defTabSz="914217" rtl="0" eaLnBrk="1" fontAlgn="base" latinLnBrk="0" hangingPunct="1">
              <a:lnSpc>
                <a:spcPct val="100000"/>
              </a:lnSpc>
              <a:spcBef>
                <a:spcPct val="50000"/>
              </a:spcBef>
              <a:spcAft>
                <a:spcPct val="0"/>
              </a:spcAft>
              <a:buClr>
                <a:srgbClr val="F0AB00"/>
              </a:buClr>
              <a:buSzPct val="80000"/>
              <a:buFontTx/>
              <a:buNone/>
              <a:tabLst/>
              <a:defRPr/>
            </a:pPr>
            <a:endParaRPr kumimoji="0" lang="de-DE" sz="2100" b="0" i="0" u="none" strike="noStrike" kern="0" cap="none" spc="0" normalizeH="0" baseline="0" noProof="0" dirty="0">
              <a:ln>
                <a:noFill/>
              </a:ln>
              <a:solidFill>
                <a:srgbClr val="002060"/>
              </a:solidFill>
              <a:effectLst/>
              <a:uLnTx/>
              <a:uFillTx/>
              <a:latin typeface="Arial"/>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a:t>Sample Application: </a:t>
            </a:r>
            <a:r>
              <a:rPr lang="en-US" dirty="0" err="1"/>
              <a:t>Bulletinboard</a:t>
            </a:r>
            <a:endParaRPr lang="en-US" sz="2000" dirty="0"/>
          </a:p>
        </p:txBody>
      </p:sp>
      <p:sp>
        <p:nvSpPr>
          <p:cNvPr id="19" name="Cylinder 18">
            <a:extLst>
              <a:ext uri="{FF2B5EF4-FFF2-40B4-BE49-F238E27FC236}">
                <a16:creationId xmlns:a16="http://schemas.microsoft.com/office/drawing/2014/main" id="{9A1479AB-53FC-46C8-A7E1-E8E3271C2FD9}"/>
              </a:ext>
            </a:extLst>
          </p:cNvPr>
          <p:cNvSpPr/>
          <p:nvPr/>
        </p:nvSpPr>
        <p:spPr bwMode="gray">
          <a:xfrm>
            <a:off x="5999012" y="4869229"/>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postgresql</a:t>
            </a:r>
            <a:endPar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21" name="Cylinder 20">
            <a:extLst>
              <a:ext uri="{FF2B5EF4-FFF2-40B4-BE49-F238E27FC236}">
                <a16:creationId xmlns:a16="http://schemas.microsoft.com/office/drawing/2014/main" id="{548D4B52-CBB8-438A-B3CD-06F945B285F8}"/>
              </a:ext>
            </a:extLst>
          </p:cNvPr>
          <p:cNvSpPr/>
          <p:nvPr/>
        </p:nvSpPr>
        <p:spPr bwMode="gray">
          <a:xfrm>
            <a:off x="9638209" y="4869229"/>
            <a:ext cx="998220" cy="1004248"/>
          </a:xfrm>
          <a:prstGeom prst="can">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postgresql</a:t>
            </a:r>
            <a:endPar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22" name="Rectangle 21">
            <a:extLst>
              <a:ext uri="{FF2B5EF4-FFF2-40B4-BE49-F238E27FC236}">
                <a16:creationId xmlns:a16="http://schemas.microsoft.com/office/drawing/2014/main" id="{A6ACF841-B2CC-4541-98F7-C15630F04EEC}"/>
              </a:ext>
            </a:extLst>
          </p:cNvPr>
          <p:cNvSpPr/>
          <p:nvPr/>
        </p:nvSpPr>
        <p:spPr bwMode="gray">
          <a:xfrm>
            <a:off x="5824511" y="2313042"/>
            <a:ext cx="1627931" cy="996027"/>
          </a:xfrm>
          <a:prstGeom prst="rect">
            <a:avLst/>
          </a:prstGeom>
          <a:solidFill>
            <a:srgbClr val="FFC000"/>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bulletinboard</a:t>
            </a:r>
            <a: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7" name="Rectangle 16">
            <a:extLst>
              <a:ext uri="{FF2B5EF4-FFF2-40B4-BE49-F238E27FC236}">
                <a16:creationId xmlns:a16="http://schemas.microsoft.com/office/drawing/2014/main" id="{BBBAD164-0BDC-401C-82D1-EE7E337C14AC}"/>
              </a:ext>
            </a:extLst>
          </p:cNvPr>
          <p:cNvSpPr/>
          <p:nvPr/>
        </p:nvSpPr>
        <p:spPr bwMode="gray">
          <a:xfrm>
            <a:off x="5684157" y="2429683"/>
            <a:ext cx="1627931" cy="996027"/>
          </a:xfrm>
          <a:prstGeom prst="rect">
            <a:avLst/>
          </a:prstGeom>
          <a:solidFill>
            <a:srgbClr val="FFC000"/>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bulletinboard</a:t>
            </a:r>
            <a: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5" name="Rectangle 14">
            <a:extLst>
              <a:ext uri="{FF2B5EF4-FFF2-40B4-BE49-F238E27FC236}">
                <a16:creationId xmlns:a16="http://schemas.microsoft.com/office/drawing/2014/main" id="{1D223EF9-99D8-4F98-935B-7FD81C61A7B7}"/>
              </a:ext>
            </a:extLst>
          </p:cNvPr>
          <p:cNvSpPr/>
          <p:nvPr/>
        </p:nvSpPr>
        <p:spPr bwMode="gray">
          <a:xfrm>
            <a:off x="9323353" y="2433690"/>
            <a:ext cx="1627931" cy="996027"/>
          </a:xfrm>
          <a:prstGeom prst="rect">
            <a:avLst/>
          </a:prstGeom>
          <a:solidFill>
            <a:srgbClr val="FFC000"/>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bulletinboard</a:t>
            </a:r>
            <a:r>
              <a:rPr kumimoji="0" lang="de-DE" sz="14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-users</a:t>
            </a:r>
          </a:p>
        </p:txBody>
      </p:sp>
      <p:cxnSp>
        <p:nvCxnSpPr>
          <p:cNvPr id="31" name="Straight Connector 30">
            <a:extLst>
              <a:ext uri="{FF2B5EF4-FFF2-40B4-BE49-F238E27FC236}">
                <a16:creationId xmlns:a16="http://schemas.microsoft.com/office/drawing/2014/main" id="{298A4E14-5092-4A03-A319-2F0BF2E5CAC8}"/>
              </a:ext>
            </a:extLst>
          </p:cNvPr>
          <p:cNvCxnSpPr/>
          <p:nvPr/>
        </p:nvCxnSpPr>
        <p:spPr>
          <a:xfrm flipH="1">
            <a:off x="6498122" y="3425710"/>
            <a:ext cx="1" cy="1443519"/>
          </a:xfrm>
          <a:prstGeom prst="line">
            <a:avLst/>
          </a:prstGeom>
          <a:ln w="38100">
            <a:solidFill>
              <a:srgbClr val="E355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1BCBB0-03A6-445D-9FD2-C2B52BA018FD}"/>
              </a:ext>
            </a:extLst>
          </p:cNvPr>
          <p:cNvCxnSpPr>
            <a:cxnSpLocks/>
          </p:cNvCxnSpPr>
          <p:nvPr/>
        </p:nvCxnSpPr>
        <p:spPr>
          <a:xfrm>
            <a:off x="10137319" y="3429717"/>
            <a:ext cx="0" cy="1439512"/>
          </a:xfrm>
          <a:prstGeom prst="line">
            <a:avLst/>
          </a:prstGeom>
          <a:ln w="38100">
            <a:solidFill>
              <a:srgbClr val="E355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BD69F93C-B8DF-4929-8727-6A5762145774}"/>
              </a:ext>
            </a:extLst>
          </p:cNvPr>
          <p:cNvPicPr>
            <a:picLocks noChangeAspect="1"/>
          </p:cNvPicPr>
          <p:nvPr/>
        </p:nvPicPr>
        <p:blipFill>
          <a:blip r:embed="rId4"/>
          <a:stretch>
            <a:fillRect/>
          </a:stretch>
        </p:blipFill>
        <p:spPr>
          <a:xfrm>
            <a:off x="11313100" y="1248124"/>
            <a:ext cx="501015" cy="487680"/>
          </a:xfrm>
          <a:prstGeom prst="rect">
            <a:avLst/>
          </a:prstGeom>
        </p:spPr>
      </p:pic>
      <p:sp>
        <p:nvSpPr>
          <p:cNvPr id="2" name="Rectangle: Rounded Corners 1">
            <a:extLst>
              <a:ext uri="{FF2B5EF4-FFF2-40B4-BE49-F238E27FC236}">
                <a16:creationId xmlns:a16="http://schemas.microsoft.com/office/drawing/2014/main" id="{529EF7FE-7982-49C5-85A4-465320F0333D}"/>
              </a:ext>
            </a:extLst>
          </p:cNvPr>
          <p:cNvSpPr/>
          <p:nvPr/>
        </p:nvSpPr>
        <p:spPr bwMode="gray">
          <a:xfrm>
            <a:off x="5141843" y="1855304"/>
            <a:ext cx="2758664" cy="4373218"/>
          </a:xfrm>
          <a:prstGeom prst="roundRect">
            <a:avLst/>
          </a:prstGeom>
          <a:noFill/>
          <a:ln w="15875" algn="ctr">
            <a:solidFill>
              <a:srgbClr val="FF0000"/>
            </a:solidFill>
            <a:prstDash val="dash"/>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de-DE" sz="18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endParaRPr>
          </a:p>
        </p:txBody>
      </p:sp>
    </p:spTree>
    <p:extLst>
      <p:ext uri="{BB962C8B-B14F-4D97-AF65-F5344CB8AC3E}">
        <p14:creationId xmlns:p14="http://schemas.microsoft.com/office/powerpoint/2010/main" val="2382565057"/>
      </p:ext>
    </p:extLst>
  </p:cSld>
  <p:clrMapOvr>
    <a:overrideClrMapping bg1="dk1" tx1="lt1" bg2="dk2" tx2="lt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ounded Rectangle 5">
            <a:extLst>
              <a:ext uri="{FF2B5EF4-FFF2-40B4-BE49-F238E27FC236}">
                <a16:creationId xmlns:a16="http://schemas.microsoft.com/office/drawing/2014/main" id="{D894DCBA-3FDC-4C45-99D2-08AC10E865C3}"/>
              </a:ext>
            </a:extLst>
          </p:cNvPr>
          <p:cNvSpPr/>
          <p:nvPr/>
        </p:nvSpPr>
        <p:spPr bwMode="gray">
          <a:xfrm>
            <a:off x="504001" y="1230093"/>
            <a:ext cx="7768091" cy="5231504"/>
          </a:xfrm>
          <a:prstGeom prst="roundRect">
            <a:avLst/>
          </a:prstGeom>
          <a:solidFill>
            <a:schemeClr val="bg2">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marL="0" marR="0" lvl="0" indent="0" algn="ctr" defTabSz="914217" rtl="0" eaLnBrk="1" fontAlgn="base" latinLnBrk="0" hangingPunct="1">
              <a:lnSpc>
                <a:spcPct val="100000"/>
              </a:lnSpc>
              <a:spcBef>
                <a:spcPct val="50000"/>
              </a:spcBef>
              <a:spcAft>
                <a:spcPct val="0"/>
              </a:spcAft>
              <a:buClr>
                <a:srgbClr val="F0AB00"/>
              </a:buClr>
              <a:buSzPct val="80000"/>
              <a:buFontTx/>
              <a:buNone/>
              <a:tabLst/>
              <a:defRPr/>
            </a:pPr>
            <a:endParaRPr kumimoji="0" lang="de-DE" sz="2100" b="0" i="0" u="none" strike="noStrike" kern="0" cap="none" spc="0" normalizeH="0" baseline="0" noProof="0" dirty="0">
              <a:ln>
                <a:noFill/>
              </a:ln>
              <a:solidFill>
                <a:srgbClr val="002060"/>
              </a:solidFill>
              <a:effectLst/>
              <a:uLnTx/>
              <a:uFillTx/>
              <a:latin typeface="Arial"/>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err="1"/>
              <a:t>Bulletinboard</a:t>
            </a:r>
            <a:r>
              <a:rPr lang="en-US" dirty="0"/>
              <a:t> in K8s: ads DB – details labels &amp; selector</a:t>
            </a:r>
          </a:p>
        </p:txBody>
      </p:sp>
      <p:sp>
        <p:nvSpPr>
          <p:cNvPr id="18" name="Rounded Rectangle 14">
            <a:extLst>
              <a:ext uri="{FF2B5EF4-FFF2-40B4-BE49-F238E27FC236}">
                <a16:creationId xmlns:a16="http://schemas.microsoft.com/office/drawing/2014/main" id="{A950F66A-176A-4E37-BFD7-4E1A0DEFFD4F}"/>
              </a:ext>
            </a:extLst>
          </p:cNvPr>
          <p:cNvSpPr/>
          <p:nvPr/>
        </p:nvSpPr>
        <p:spPr bwMode="gray">
          <a:xfrm>
            <a:off x="1443884" y="2178392"/>
            <a:ext cx="5502925" cy="3589814"/>
          </a:xfrm>
          <a:prstGeom prst="roundRect">
            <a:avLst/>
          </a:prstGeom>
          <a:solidFill>
            <a:schemeClr val="tx1">
              <a:lumMod val="50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5" name="TextBox 34">
            <a:extLst>
              <a:ext uri="{FF2B5EF4-FFF2-40B4-BE49-F238E27FC236}">
                <a16:creationId xmlns:a16="http://schemas.microsoft.com/office/drawing/2014/main" id="{0CAE12B6-A556-4E02-BB27-43FE2F44FD56}"/>
              </a:ext>
            </a:extLst>
          </p:cNvPr>
          <p:cNvSpPr txBox="1"/>
          <p:nvPr/>
        </p:nvSpPr>
        <p:spPr>
          <a:xfrm>
            <a:off x="3802134" y="2261695"/>
            <a:ext cx="2151334"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statefulset</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ads-db-statefulset</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sp>
        <p:nvSpPr>
          <p:cNvPr id="40" name="Arrow: Pentagon 39">
            <a:extLst>
              <a:ext uri="{FF2B5EF4-FFF2-40B4-BE49-F238E27FC236}">
                <a16:creationId xmlns:a16="http://schemas.microsoft.com/office/drawing/2014/main" id="{D8CBEAFD-7CBC-48F3-8FE3-7FAA14650BC0}"/>
              </a:ext>
            </a:extLst>
          </p:cNvPr>
          <p:cNvSpPr/>
          <p:nvPr/>
        </p:nvSpPr>
        <p:spPr bwMode="gray">
          <a:xfrm flipH="1">
            <a:off x="6779875" y="2769488"/>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omponent</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41" name="Arrow: Pentagon 40">
            <a:extLst>
              <a:ext uri="{FF2B5EF4-FFF2-40B4-BE49-F238E27FC236}">
                <a16:creationId xmlns:a16="http://schemas.microsoft.com/office/drawing/2014/main" id="{FEC2ABF4-546B-45C1-A9F8-BD6674922443}"/>
              </a:ext>
            </a:extLst>
          </p:cNvPr>
          <p:cNvSpPr/>
          <p:nvPr/>
        </p:nvSpPr>
        <p:spPr bwMode="gray">
          <a:xfrm flipH="1">
            <a:off x="6779961" y="3105608"/>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module</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db</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94" name="Rounded Rectangle 14">
            <a:extLst>
              <a:ext uri="{FF2B5EF4-FFF2-40B4-BE49-F238E27FC236}">
                <a16:creationId xmlns:a16="http://schemas.microsoft.com/office/drawing/2014/main" id="{117EEB24-C436-4905-BC20-015133CA128C}"/>
              </a:ext>
            </a:extLst>
          </p:cNvPr>
          <p:cNvSpPr/>
          <p:nvPr/>
        </p:nvSpPr>
        <p:spPr bwMode="gray">
          <a:xfrm>
            <a:off x="2316292" y="3657596"/>
            <a:ext cx="1861004" cy="1621677"/>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64" name="Arrow: Pentagon 63">
            <a:extLst>
              <a:ext uri="{FF2B5EF4-FFF2-40B4-BE49-F238E27FC236}">
                <a16:creationId xmlns:a16="http://schemas.microsoft.com/office/drawing/2014/main" id="{C8ECFAC9-543D-4D75-97F7-552315C08E1F}"/>
              </a:ext>
            </a:extLst>
          </p:cNvPr>
          <p:cNvSpPr/>
          <p:nvPr/>
        </p:nvSpPr>
        <p:spPr bwMode="gray">
          <a:xfrm flipH="1">
            <a:off x="4021807" y="3854841"/>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omponent</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65" name="Arrow: Pentagon 64">
            <a:extLst>
              <a:ext uri="{FF2B5EF4-FFF2-40B4-BE49-F238E27FC236}">
                <a16:creationId xmlns:a16="http://schemas.microsoft.com/office/drawing/2014/main" id="{D246A4AE-1A5F-4330-86B4-6E5B3B860BBC}"/>
              </a:ext>
            </a:extLst>
          </p:cNvPr>
          <p:cNvSpPr/>
          <p:nvPr/>
        </p:nvSpPr>
        <p:spPr bwMode="gray">
          <a:xfrm flipH="1">
            <a:off x="4021893" y="4190961"/>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module</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db</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19" name="Cylinder 18">
            <a:extLst>
              <a:ext uri="{FF2B5EF4-FFF2-40B4-BE49-F238E27FC236}">
                <a16:creationId xmlns:a16="http://schemas.microsoft.com/office/drawing/2014/main" id="{9A1479AB-53FC-46C8-A7E1-E8E3271C2FD9}"/>
              </a:ext>
            </a:extLst>
          </p:cNvPr>
          <p:cNvSpPr/>
          <p:nvPr/>
        </p:nvSpPr>
        <p:spPr bwMode="gray">
          <a:xfrm>
            <a:off x="2758534" y="4122496"/>
            <a:ext cx="998220" cy="1004248"/>
          </a:xfrm>
          <a:prstGeom prst="can">
            <a:avLst/>
          </a:prstGeom>
          <a:solidFill>
            <a:schemeClr val="tx1"/>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Docker </a:t>
            </a: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container</a:t>
            </a: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postgres:9.6</a:t>
            </a:r>
          </a:p>
        </p:txBody>
      </p:sp>
      <p:pic>
        <p:nvPicPr>
          <p:cNvPr id="96" name="Picture 95">
            <a:extLst>
              <a:ext uri="{FF2B5EF4-FFF2-40B4-BE49-F238E27FC236}">
                <a16:creationId xmlns:a16="http://schemas.microsoft.com/office/drawing/2014/main" id="{D01B4917-E878-451A-B344-8069D558E4F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10443" y="4885457"/>
            <a:ext cx="292622" cy="292622"/>
          </a:xfrm>
          <a:prstGeom prst="rect">
            <a:avLst/>
          </a:prstGeom>
        </p:spPr>
      </p:pic>
      <p:sp>
        <p:nvSpPr>
          <p:cNvPr id="95" name="TextBox 94">
            <a:extLst>
              <a:ext uri="{FF2B5EF4-FFF2-40B4-BE49-F238E27FC236}">
                <a16:creationId xmlns:a16="http://schemas.microsoft.com/office/drawing/2014/main" id="{EBAA4D23-0B10-4510-9A89-D3B5BDE8CB86}"/>
              </a:ext>
            </a:extLst>
          </p:cNvPr>
          <p:cNvSpPr txBox="1"/>
          <p:nvPr/>
        </p:nvSpPr>
        <p:spPr>
          <a:xfrm>
            <a:off x="2556010" y="3720724"/>
            <a:ext cx="1778560" cy="369332"/>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pod</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b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b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ads-db-statefulset-0 </a:t>
            </a:r>
          </a:p>
        </p:txBody>
      </p:sp>
      <p:sp>
        <p:nvSpPr>
          <p:cNvPr id="4" name="Flowchart: Document 3">
            <a:extLst>
              <a:ext uri="{FF2B5EF4-FFF2-40B4-BE49-F238E27FC236}">
                <a16:creationId xmlns:a16="http://schemas.microsoft.com/office/drawing/2014/main" id="{784CEC2C-E6C9-412F-857D-5736D7ADFB27}"/>
              </a:ext>
            </a:extLst>
          </p:cNvPr>
          <p:cNvSpPr/>
          <p:nvPr/>
        </p:nvSpPr>
        <p:spPr bwMode="gray">
          <a:xfrm>
            <a:off x="1966946" y="2303888"/>
            <a:ext cx="1212621" cy="692435"/>
          </a:xfrm>
          <a:prstGeom prst="flowChartDocument">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a:t>
            </a: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elector</a:t>
            </a:r>
            <a: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b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component</a:t>
            </a:r>
            <a: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b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module</a:t>
            </a:r>
            <a: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db</a:t>
            </a:r>
            <a:endPar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pic>
        <p:nvPicPr>
          <p:cNvPr id="69" name="Picture 68">
            <a:extLst>
              <a:ext uri="{FF2B5EF4-FFF2-40B4-BE49-F238E27FC236}">
                <a16:creationId xmlns:a16="http://schemas.microsoft.com/office/drawing/2014/main" id="{5B4D6F10-5D39-4F96-9628-C1781D332074}"/>
              </a:ext>
            </a:extLst>
          </p:cNvPr>
          <p:cNvPicPr>
            <a:picLocks noChangeAspect="1"/>
          </p:cNvPicPr>
          <p:nvPr/>
        </p:nvPicPr>
        <p:blipFill>
          <a:blip r:embed="rId4"/>
          <a:stretch>
            <a:fillRect/>
          </a:stretch>
        </p:blipFill>
        <p:spPr>
          <a:xfrm>
            <a:off x="4690063" y="3785730"/>
            <a:ext cx="150305" cy="146304"/>
          </a:xfrm>
          <a:prstGeom prst="rect">
            <a:avLst/>
          </a:prstGeom>
        </p:spPr>
      </p:pic>
      <p:pic>
        <p:nvPicPr>
          <p:cNvPr id="70" name="Picture 69">
            <a:extLst>
              <a:ext uri="{FF2B5EF4-FFF2-40B4-BE49-F238E27FC236}">
                <a16:creationId xmlns:a16="http://schemas.microsoft.com/office/drawing/2014/main" id="{B1530BC0-E894-4A5F-A1E8-539772AF89E6}"/>
              </a:ext>
            </a:extLst>
          </p:cNvPr>
          <p:cNvPicPr>
            <a:picLocks noChangeAspect="1"/>
          </p:cNvPicPr>
          <p:nvPr/>
        </p:nvPicPr>
        <p:blipFill>
          <a:blip r:embed="rId4"/>
          <a:stretch>
            <a:fillRect/>
          </a:stretch>
        </p:blipFill>
        <p:spPr>
          <a:xfrm>
            <a:off x="4689632" y="4122496"/>
            <a:ext cx="150305" cy="146304"/>
          </a:xfrm>
          <a:prstGeom prst="rect">
            <a:avLst/>
          </a:prstGeom>
        </p:spPr>
      </p:pic>
      <p:pic>
        <p:nvPicPr>
          <p:cNvPr id="71" name="Picture 70">
            <a:extLst>
              <a:ext uri="{FF2B5EF4-FFF2-40B4-BE49-F238E27FC236}">
                <a16:creationId xmlns:a16="http://schemas.microsoft.com/office/drawing/2014/main" id="{D280D108-D8FB-4B5A-B27E-7E85D67F9C9A}"/>
              </a:ext>
            </a:extLst>
          </p:cNvPr>
          <p:cNvPicPr>
            <a:picLocks noChangeAspect="1"/>
          </p:cNvPicPr>
          <p:nvPr/>
        </p:nvPicPr>
        <p:blipFill>
          <a:blip r:embed="rId4"/>
          <a:stretch>
            <a:fillRect/>
          </a:stretch>
        </p:blipFill>
        <p:spPr>
          <a:xfrm>
            <a:off x="7469871" y="2707772"/>
            <a:ext cx="150305" cy="146304"/>
          </a:xfrm>
          <a:prstGeom prst="rect">
            <a:avLst/>
          </a:prstGeom>
        </p:spPr>
      </p:pic>
      <p:pic>
        <p:nvPicPr>
          <p:cNvPr id="72" name="Picture 71">
            <a:extLst>
              <a:ext uri="{FF2B5EF4-FFF2-40B4-BE49-F238E27FC236}">
                <a16:creationId xmlns:a16="http://schemas.microsoft.com/office/drawing/2014/main" id="{AD836BC0-CFBF-4AB2-AB7C-361C1EEF4176}"/>
              </a:ext>
            </a:extLst>
          </p:cNvPr>
          <p:cNvPicPr>
            <a:picLocks noChangeAspect="1"/>
          </p:cNvPicPr>
          <p:nvPr/>
        </p:nvPicPr>
        <p:blipFill>
          <a:blip r:embed="rId4"/>
          <a:stretch>
            <a:fillRect/>
          </a:stretch>
        </p:blipFill>
        <p:spPr>
          <a:xfrm>
            <a:off x="7448087" y="3032456"/>
            <a:ext cx="150305" cy="146304"/>
          </a:xfrm>
          <a:prstGeom prst="rect">
            <a:avLst/>
          </a:prstGeom>
        </p:spPr>
      </p:pic>
      <p:pic>
        <p:nvPicPr>
          <p:cNvPr id="79" name="Picture 78">
            <a:extLst>
              <a:ext uri="{FF2B5EF4-FFF2-40B4-BE49-F238E27FC236}">
                <a16:creationId xmlns:a16="http://schemas.microsoft.com/office/drawing/2014/main" id="{05BC518E-6B3D-4DD1-8F5D-BF7B8542DC21}"/>
              </a:ext>
            </a:extLst>
          </p:cNvPr>
          <p:cNvPicPr>
            <a:picLocks noChangeAspect="1"/>
          </p:cNvPicPr>
          <p:nvPr/>
        </p:nvPicPr>
        <p:blipFill>
          <a:blip r:embed="rId4"/>
          <a:stretch>
            <a:fillRect/>
          </a:stretch>
        </p:blipFill>
        <p:spPr>
          <a:xfrm>
            <a:off x="3986892" y="3569350"/>
            <a:ext cx="250508" cy="243840"/>
          </a:xfrm>
          <a:prstGeom prst="rect">
            <a:avLst/>
          </a:prstGeom>
        </p:spPr>
      </p:pic>
      <p:pic>
        <p:nvPicPr>
          <p:cNvPr id="22" name="Picture 21">
            <a:extLst>
              <a:ext uri="{FF2B5EF4-FFF2-40B4-BE49-F238E27FC236}">
                <a16:creationId xmlns:a16="http://schemas.microsoft.com/office/drawing/2014/main" id="{828AD81E-771C-483A-8964-B044208CF632}"/>
              </a:ext>
            </a:extLst>
          </p:cNvPr>
          <p:cNvPicPr>
            <a:picLocks noChangeAspect="1"/>
          </p:cNvPicPr>
          <p:nvPr/>
        </p:nvPicPr>
        <p:blipFill>
          <a:blip r:embed="rId4"/>
          <a:stretch>
            <a:fillRect/>
          </a:stretch>
        </p:blipFill>
        <p:spPr>
          <a:xfrm>
            <a:off x="6612911" y="2168377"/>
            <a:ext cx="250508" cy="243840"/>
          </a:xfrm>
          <a:prstGeom prst="rect">
            <a:avLst/>
          </a:prstGeom>
        </p:spPr>
      </p:pic>
      <p:pic>
        <p:nvPicPr>
          <p:cNvPr id="23" name="Picture 22">
            <a:extLst>
              <a:ext uri="{FF2B5EF4-FFF2-40B4-BE49-F238E27FC236}">
                <a16:creationId xmlns:a16="http://schemas.microsoft.com/office/drawing/2014/main" id="{CA928D7D-D8E6-4EF8-8FDD-AEBE0C1C5BF2}"/>
              </a:ext>
            </a:extLst>
          </p:cNvPr>
          <p:cNvPicPr>
            <a:picLocks noChangeAspect="1"/>
          </p:cNvPicPr>
          <p:nvPr/>
        </p:nvPicPr>
        <p:blipFill>
          <a:blip r:embed="rId4"/>
          <a:stretch>
            <a:fillRect/>
          </a:stretch>
        </p:blipFill>
        <p:spPr>
          <a:xfrm>
            <a:off x="7714706" y="1230093"/>
            <a:ext cx="501015" cy="487680"/>
          </a:xfrm>
          <a:prstGeom prst="rect">
            <a:avLst/>
          </a:prstGeom>
        </p:spPr>
      </p:pic>
    </p:spTree>
    <p:extLst>
      <p:ext uri="{BB962C8B-B14F-4D97-AF65-F5344CB8AC3E}">
        <p14:creationId xmlns:p14="http://schemas.microsoft.com/office/powerpoint/2010/main" val="17667577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ounded Rectangle 5">
            <a:extLst>
              <a:ext uri="{FF2B5EF4-FFF2-40B4-BE49-F238E27FC236}">
                <a16:creationId xmlns:a16="http://schemas.microsoft.com/office/drawing/2014/main" id="{D894DCBA-3FDC-4C45-99D2-08AC10E865C3}"/>
              </a:ext>
            </a:extLst>
          </p:cNvPr>
          <p:cNvSpPr/>
          <p:nvPr/>
        </p:nvSpPr>
        <p:spPr bwMode="gray">
          <a:xfrm>
            <a:off x="289113" y="1230093"/>
            <a:ext cx="9144338" cy="5231504"/>
          </a:xfrm>
          <a:prstGeom prst="roundRect">
            <a:avLst/>
          </a:prstGeom>
          <a:solidFill>
            <a:schemeClr val="bg2">
              <a:alpha val="97000"/>
            </a:schemeClr>
          </a:solidFill>
          <a:ln>
            <a:solidFill>
              <a:schemeClr val="tx1"/>
            </a:solidFill>
            <a:prstDash val="dash"/>
            <a:headEnd/>
            <a:tailEnd/>
          </a:ln>
          <a:effectLst/>
        </p:spPr>
        <p:style>
          <a:lnRef idx="2">
            <a:schemeClr val="accent3">
              <a:shade val="50000"/>
            </a:schemeClr>
          </a:lnRef>
          <a:fillRef idx="1">
            <a:schemeClr val="accent3"/>
          </a:fillRef>
          <a:effectRef idx="0">
            <a:schemeClr val="accent3"/>
          </a:effectRef>
          <a:fontRef idx="minor">
            <a:schemeClr val="lt1"/>
          </a:fontRef>
        </p:style>
        <p:txBody>
          <a:bodyPr lIns="89979" tIns="0" rIns="89979" bIns="71983" rtlCol="0" anchor="t" anchorCtr="0"/>
          <a:lstStyle/>
          <a:p>
            <a:pPr marL="0" marR="0" lvl="0" indent="0" algn="ctr" defTabSz="914217" rtl="0" eaLnBrk="1" fontAlgn="base" latinLnBrk="0" hangingPunct="1">
              <a:lnSpc>
                <a:spcPct val="100000"/>
              </a:lnSpc>
              <a:spcBef>
                <a:spcPct val="50000"/>
              </a:spcBef>
              <a:spcAft>
                <a:spcPct val="0"/>
              </a:spcAft>
              <a:buClr>
                <a:srgbClr val="F0AB00"/>
              </a:buClr>
              <a:buSzPct val="80000"/>
              <a:buFontTx/>
              <a:buNone/>
              <a:tabLst/>
              <a:defRPr/>
            </a:pPr>
            <a:endParaRPr kumimoji="0" lang="de-DE" sz="2100" b="0" i="0" u="none" strike="noStrike" kern="0" cap="none" spc="0" normalizeH="0" baseline="0" noProof="0" dirty="0">
              <a:ln>
                <a:noFill/>
              </a:ln>
              <a:solidFill>
                <a:srgbClr val="002060"/>
              </a:solidFill>
              <a:effectLst/>
              <a:uLnTx/>
              <a:uFillTx/>
              <a:latin typeface="Arial"/>
              <a:ea typeface="Arial Unicode MS" pitchFamily="34" charset="-128"/>
              <a:cs typeface="Arial Unicode MS" pitchFamily="34" charset="-128"/>
            </a:endParaRPr>
          </a:p>
        </p:txBody>
      </p:sp>
      <p:sp>
        <p:nvSpPr>
          <p:cNvPr id="24" name="Title 23"/>
          <p:cNvSpPr>
            <a:spLocks noGrp="1"/>
          </p:cNvSpPr>
          <p:nvPr>
            <p:ph type="title"/>
          </p:nvPr>
        </p:nvSpPr>
        <p:spPr>
          <a:xfrm>
            <a:off x="504001" y="504000"/>
            <a:ext cx="11186476" cy="369332"/>
          </a:xfrm>
        </p:spPr>
        <p:txBody>
          <a:bodyPr/>
          <a:lstStyle/>
          <a:p>
            <a:r>
              <a:rPr lang="en-US" dirty="0" err="1"/>
              <a:t>Bulletinboard</a:t>
            </a:r>
            <a:r>
              <a:rPr lang="en-US" dirty="0"/>
              <a:t> in K8s: labels &amp; selectors</a:t>
            </a:r>
          </a:p>
        </p:txBody>
      </p:sp>
      <p:sp>
        <p:nvSpPr>
          <p:cNvPr id="18" name="Rounded Rectangle 14">
            <a:extLst>
              <a:ext uri="{FF2B5EF4-FFF2-40B4-BE49-F238E27FC236}">
                <a16:creationId xmlns:a16="http://schemas.microsoft.com/office/drawing/2014/main" id="{A950F66A-176A-4E37-BFD7-4E1A0DEFFD4F}"/>
              </a:ext>
            </a:extLst>
          </p:cNvPr>
          <p:cNvSpPr/>
          <p:nvPr/>
        </p:nvSpPr>
        <p:spPr bwMode="gray">
          <a:xfrm>
            <a:off x="753024" y="2178391"/>
            <a:ext cx="7733134" cy="3953467"/>
          </a:xfrm>
          <a:prstGeom prst="roundRect">
            <a:avLst/>
          </a:prstGeom>
          <a:solidFill>
            <a:schemeClr val="tx1">
              <a:lumMod val="50000"/>
            </a:schemeClr>
          </a:solidFill>
          <a:ln w="12700">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5" name="TextBox 34">
            <a:extLst>
              <a:ext uri="{FF2B5EF4-FFF2-40B4-BE49-F238E27FC236}">
                <a16:creationId xmlns:a16="http://schemas.microsoft.com/office/drawing/2014/main" id="{0CAE12B6-A556-4E02-BB27-43FE2F44FD56}"/>
              </a:ext>
            </a:extLst>
          </p:cNvPr>
          <p:cNvSpPr txBox="1"/>
          <p:nvPr/>
        </p:nvSpPr>
        <p:spPr>
          <a:xfrm>
            <a:off x="3448419" y="2225890"/>
            <a:ext cx="2328891"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deployment</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ads-app-deployment</a:t>
            </a:r>
            <a:endPar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endParaRPr>
          </a:p>
        </p:txBody>
      </p:sp>
      <p:pic>
        <p:nvPicPr>
          <p:cNvPr id="79" name="Picture 78">
            <a:extLst>
              <a:ext uri="{FF2B5EF4-FFF2-40B4-BE49-F238E27FC236}">
                <a16:creationId xmlns:a16="http://schemas.microsoft.com/office/drawing/2014/main" id="{05BC518E-6B3D-4DD1-8F5D-BF7B8542DC21}"/>
              </a:ext>
            </a:extLst>
          </p:cNvPr>
          <p:cNvPicPr>
            <a:picLocks noChangeAspect="1"/>
          </p:cNvPicPr>
          <p:nvPr/>
        </p:nvPicPr>
        <p:blipFill>
          <a:blip r:embed="rId3"/>
          <a:stretch>
            <a:fillRect/>
          </a:stretch>
        </p:blipFill>
        <p:spPr>
          <a:xfrm>
            <a:off x="8068331" y="2155548"/>
            <a:ext cx="250508" cy="243840"/>
          </a:xfrm>
          <a:prstGeom prst="rect">
            <a:avLst/>
          </a:prstGeom>
        </p:spPr>
      </p:pic>
      <p:sp>
        <p:nvSpPr>
          <p:cNvPr id="40" name="Arrow: Pentagon 39">
            <a:extLst>
              <a:ext uri="{FF2B5EF4-FFF2-40B4-BE49-F238E27FC236}">
                <a16:creationId xmlns:a16="http://schemas.microsoft.com/office/drawing/2014/main" id="{D8CBEAFD-7CBC-48F3-8FE3-7FAA14650BC0}"/>
              </a:ext>
            </a:extLst>
          </p:cNvPr>
          <p:cNvSpPr/>
          <p:nvPr/>
        </p:nvSpPr>
        <p:spPr bwMode="gray">
          <a:xfrm flipH="1">
            <a:off x="8318839" y="2699688"/>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omponent</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41" name="Arrow: Pentagon 40">
            <a:extLst>
              <a:ext uri="{FF2B5EF4-FFF2-40B4-BE49-F238E27FC236}">
                <a16:creationId xmlns:a16="http://schemas.microsoft.com/office/drawing/2014/main" id="{FEC2ABF4-546B-45C1-A9F8-BD6674922443}"/>
              </a:ext>
            </a:extLst>
          </p:cNvPr>
          <p:cNvSpPr/>
          <p:nvPr/>
        </p:nvSpPr>
        <p:spPr bwMode="gray">
          <a:xfrm flipH="1">
            <a:off x="8318925" y="3035808"/>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module</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app</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3" name="Rectangle 2">
            <a:extLst>
              <a:ext uri="{FF2B5EF4-FFF2-40B4-BE49-F238E27FC236}">
                <a16:creationId xmlns:a16="http://schemas.microsoft.com/office/drawing/2014/main" id="{D35E94DC-3D6D-4B0D-B435-0EC6EE20E5C3}"/>
              </a:ext>
            </a:extLst>
          </p:cNvPr>
          <p:cNvSpPr/>
          <p:nvPr/>
        </p:nvSpPr>
        <p:spPr bwMode="gray">
          <a:xfrm>
            <a:off x="1260965" y="3173506"/>
            <a:ext cx="5922668" cy="2642667"/>
          </a:xfrm>
          <a:prstGeom prst="rect">
            <a:avLst/>
          </a:prstGeom>
          <a:solidFill>
            <a:schemeClr val="bg1">
              <a:lumMod val="50000"/>
              <a:lumOff val="50000"/>
            </a:schemeClr>
          </a:solidFill>
          <a:ln w="12700"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de-DE" sz="18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endParaRPr>
          </a:p>
        </p:txBody>
      </p:sp>
      <p:sp>
        <p:nvSpPr>
          <p:cNvPr id="66" name="Arrow: Pentagon 65">
            <a:extLst>
              <a:ext uri="{FF2B5EF4-FFF2-40B4-BE49-F238E27FC236}">
                <a16:creationId xmlns:a16="http://schemas.microsoft.com/office/drawing/2014/main" id="{33F78888-6938-4194-A41F-61E279DCE88A}"/>
              </a:ext>
            </a:extLst>
          </p:cNvPr>
          <p:cNvSpPr/>
          <p:nvPr/>
        </p:nvSpPr>
        <p:spPr bwMode="gray">
          <a:xfrm flipH="1">
            <a:off x="7031026" y="3429000"/>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omponent</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67" name="Arrow: Pentagon 66">
            <a:extLst>
              <a:ext uri="{FF2B5EF4-FFF2-40B4-BE49-F238E27FC236}">
                <a16:creationId xmlns:a16="http://schemas.microsoft.com/office/drawing/2014/main" id="{2BE0DB7D-1DFA-47E2-9E4D-CFCE9F410070}"/>
              </a:ext>
            </a:extLst>
          </p:cNvPr>
          <p:cNvSpPr/>
          <p:nvPr/>
        </p:nvSpPr>
        <p:spPr bwMode="gray">
          <a:xfrm flipH="1">
            <a:off x="7031112" y="3765120"/>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module</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app</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68" name="TextBox 67">
            <a:extLst>
              <a:ext uri="{FF2B5EF4-FFF2-40B4-BE49-F238E27FC236}">
                <a16:creationId xmlns:a16="http://schemas.microsoft.com/office/drawing/2014/main" id="{A6BF7251-342B-47C7-B9EC-EE5DFB5C034F}"/>
              </a:ext>
            </a:extLst>
          </p:cNvPr>
          <p:cNvSpPr txBox="1"/>
          <p:nvPr/>
        </p:nvSpPr>
        <p:spPr>
          <a:xfrm>
            <a:off x="3053458" y="3202167"/>
            <a:ext cx="2446100" cy="184666"/>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replicaset</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ads</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app</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deployment</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-xx</a:t>
            </a:r>
          </a:p>
        </p:txBody>
      </p:sp>
      <p:sp>
        <p:nvSpPr>
          <p:cNvPr id="22" name="Flowchart: Document 21">
            <a:extLst>
              <a:ext uri="{FF2B5EF4-FFF2-40B4-BE49-F238E27FC236}">
                <a16:creationId xmlns:a16="http://schemas.microsoft.com/office/drawing/2014/main" id="{89FED040-74FB-459F-B142-C5EADDEABFC7}"/>
              </a:ext>
            </a:extLst>
          </p:cNvPr>
          <p:cNvSpPr/>
          <p:nvPr/>
        </p:nvSpPr>
        <p:spPr bwMode="gray">
          <a:xfrm>
            <a:off x="1260965" y="2303888"/>
            <a:ext cx="1212621" cy="692435"/>
          </a:xfrm>
          <a:prstGeom prst="flowChartDocument">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s</a:t>
            </a: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elector</a:t>
            </a:r>
            <a: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b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component</a:t>
            </a:r>
            <a: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b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module</a:t>
            </a:r>
            <a:r>
              <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9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app</a:t>
            </a:r>
            <a:endParaRPr kumimoji="0" lang="de-DE" sz="9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94" name="Rounded Rectangle 14">
            <a:extLst>
              <a:ext uri="{FF2B5EF4-FFF2-40B4-BE49-F238E27FC236}">
                <a16:creationId xmlns:a16="http://schemas.microsoft.com/office/drawing/2014/main" id="{117EEB24-C436-4905-BC20-015133CA128C}"/>
              </a:ext>
            </a:extLst>
          </p:cNvPr>
          <p:cNvSpPr/>
          <p:nvPr/>
        </p:nvSpPr>
        <p:spPr bwMode="gray">
          <a:xfrm>
            <a:off x="1457318" y="4034111"/>
            <a:ext cx="1861004" cy="1621677"/>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64" name="Arrow: Pentagon 63">
            <a:extLst>
              <a:ext uri="{FF2B5EF4-FFF2-40B4-BE49-F238E27FC236}">
                <a16:creationId xmlns:a16="http://schemas.microsoft.com/office/drawing/2014/main" id="{C8ECFAC9-543D-4D75-97F7-552315C08E1F}"/>
              </a:ext>
            </a:extLst>
          </p:cNvPr>
          <p:cNvSpPr/>
          <p:nvPr/>
        </p:nvSpPr>
        <p:spPr bwMode="gray">
          <a:xfrm flipH="1">
            <a:off x="3162833" y="4231356"/>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omponent</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65" name="Arrow: Pentagon 64">
            <a:extLst>
              <a:ext uri="{FF2B5EF4-FFF2-40B4-BE49-F238E27FC236}">
                <a16:creationId xmlns:a16="http://schemas.microsoft.com/office/drawing/2014/main" id="{D246A4AE-1A5F-4330-86B4-6E5B3B860BBC}"/>
              </a:ext>
            </a:extLst>
          </p:cNvPr>
          <p:cNvSpPr/>
          <p:nvPr/>
        </p:nvSpPr>
        <p:spPr bwMode="gray">
          <a:xfrm flipH="1">
            <a:off x="3162919" y="4567476"/>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module</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app</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95" name="TextBox 94">
            <a:extLst>
              <a:ext uri="{FF2B5EF4-FFF2-40B4-BE49-F238E27FC236}">
                <a16:creationId xmlns:a16="http://schemas.microsoft.com/office/drawing/2014/main" id="{EBAA4D23-0B10-4510-9A89-D3B5BDE8CB86}"/>
              </a:ext>
            </a:extLst>
          </p:cNvPr>
          <p:cNvSpPr txBox="1"/>
          <p:nvPr/>
        </p:nvSpPr>
        <p:spPr>
          <a:xfrm>
            <a:off x="1753618" y="4110080"/>
            <a:ext cx="1355183" cy="369332"/>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pod</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b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b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ads-app</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ent</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-xx-</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yx</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p>
        </p:txBody>
      </p:sp>
      <p:sp>
        <p:nvSpPr>
          <p:cNvPr id="23" name="Rectangle 22">
            <a:extLst>
              <a:ext uri="{FF2B5EF4-FFF2-40B4-BE49-F238E27FC236}">
                <a16:creationId xmlns:a16="http://schemas.microsoft.com/office/drawing/2014/main" id="{8F638E9E-A5FA-431C-9717-7D66AC15EF59}"/>
              </a:ext>
            </a:extLst>
          </p:cNvPr>
          <p:cNvSpPr/>
          <p:nvPr/>
        </p:nvSpPr>
        <p:spPr bwMode="gray">
          <a:xfrm>
            <a:off x="1666020" y="4628206"/>
            <a:ext cx="1346561" cy="736567"/>
          </a:xfrm>
          <a:prstGeom prst="rect">
            <a:avLst/>
          </a:prstGeom>
          <a:solidFill>
            <a:srgbClr val="FFC000"/>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Docker </a:t>
            </a: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container</a:t>
            </a: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bulletinboard</a:t>
            </a: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ads:v.0x</a:t>
            </a:r>
          </a:p>
        </p:txBody>
      </p:sp>
      <p:pic>
        <p:nvPicPr>
          <p:cNvPr id="96" name="Picture 95">
            <a:extLst>
              <a:ext uri="{FF2B5EF4-FFF2-40B4-BE49-F238E27FC236}">
                <a16:creationId xmlns:a16="http://schemas.microsoft.com/office/drawing/2014/main" id="{D01B4917-E878-451A-B344-8069D558E4F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66270" y="5206897"/>
            <a:ext cx="292622" cy="292622"/>
          </a:xfrm>
          <a:prstGeom prst="rect">
            <a:avLst/>
          </a:prstGeom>
        </p:spPr>
      </p:pic>
      <p:sp>
        <p:nvSpPr>
          <p:cNvPr id="26" name="Rounded Rectangle 14">
            <a:extLst>
              <a:ext uri="{FF2B5EF4-FFF2-40B4-BE49-F238E27FC236}">
                <a16:creationId xmlns:a16="http://schemas.microsoft.com/office/drawing/2014/main" id="{75441862-44AE-43C4-A17A-3D4F97CA5396}"/>
              </a:ext>
            </a:extLst>
          </p:cNvPr>
          <p:cNvSpPr/>
          <p:nvPr/>
        </p:nvSpPr>
        <p:spPr bwMode="gray">
          <a:xfrm>
            <a:off x="4041055" y="4034111"/>
            <a:ext cx="1861004" cy="1621677"/>
          </a:xfrm>
          <a:prstGeom prst="roundRect">
            <a:avLst/>
          </a:prstGeom>
          <a:solidFill>
            <a:schemeClr val="bg1">
              <a:lumMod val="65000"/>
              <a:lumOff val="35000"/>
            </a:schemeClr>
          </a:solidFill>
          <a:ln>
            <a:solidFill>
              <a:schemeClr val="bg1"/>
            </a:solidFill>
            <a:headEnd/>
            <a:tailEnd/>
          </a:ln>
          <a:effectLst/>
        </p:spPr>
        <p:style>
          <a:lnRef idx="1">
            <a:schemeClr val="accent1"/>
          </a:lnRef>
          <a:fillRef idx="3">
            <a:schemeClr val="accent1"/>
          </a:fillRef>
          <a:effectRef idx="2">
            <a:schemeClr val="accent1"/>
          </a:effectRef>
          <a:fontRef idx="minor">
            <a:schemeClr val="lt1"/>
          </a:fontRef>
        </p:style>
        <p:txBody>
          <a:bodyPr lIns="107138" tIns="85710" rIns="107138" bIns="85710" rtlCol="0" anchor="t" anchorCtr="0"/>
          <a:lstStyle/>
          <a:p>
            <a:pPr marL="0" marR="0" lvl="0" indent="0" algn="ctr" defTabSz="1088558" rtl="0" eaLnBrk="1" fontAlgn="base" latinLnBrk="0" hangingPunct="1">
              <a:lnSpc>
                <a:spcPct val="100000"/>
              </a:lnSpc>
              <a:spcBef>
                <a:spcPct val="50000"/>
              </a:spcBef>
              <a:spcAft>
                <a:spcPct val="0"/>
              </a:spcAft>
              <a:buClr>
                <a:srgbClr val="F0AB00"/>
              </a:buClr>
              <a:buSzPct val="80000"/>
              <a:buFontTx/>
              <a:buNone/>
              <a:tabLst/>
              <a:defRPr/>
            </a:pPr>
            <a:endParaRPr kumimoji="0" lang="en-US" sz="18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27" name="Arrow: Pentagon 26">
            <a:extLst>
              <a:ext uri="{FF2B5EF4-FFF2-40B4-BE49-F238E27FC236}">
                <a16:creationId xmlns:a16="http://schemas.microsoft.com/office/drawing/2014/main" id="{8F6A15E4-D28A-4EF8-8FBA-4D27D67BE70E}"/>
              </a:ext>
            </a:extLst>
          </p:cNvPr>
          <p:cNvSpPr/>
          <p:nvPr/>
        </p:nvSpPr>
        <p:spPr bwMode="gray">
          <a:xfrm flipH="1">
            <a:off x="5746570" y="4231356"/>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c</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omponent</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 </a:t>
            </a: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ads</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28" name="Arrow: Pentagon 27">
            <a:extLst>
              <a:ext uri="{FF2B5EF4-FFF2-40B4-BE49-F238E27FC236}">
                <a16:creationId xmlns:a16="http://schemas.microsoft.com/office/drawing/2014/main" id="{C5BFCA34-83BE-43BC-86C8-F13ED1CB5BC8}"/>
              </a:ext>
            </a:extLst>
          </p:cNvPr>
          <p:cNvSpPr/>
          <p:nvPr/>
        </p:nvSpPr>
        <p:spPr bwMode="gray">
          <a:xfrm flipH="1">
            <a:off x="5746656" y="4567476"/>
            <a:ext cx="743365" cy="296635"/>
          </a:xfrm>
          <a:prstGeom prst="homePlate">
            <a:avLst/>
          </a:prstGeom>
          <a:solidFill>
            <a:srgbClr val="FFFFCC"/>
          </a:solidFill>
          <a:ln w="9525" algn="ctr">
            <a:solidFill>
              <a:schemeClr val="bg1"/>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module</a:t>
            </a:r>
            <a: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600" b="1"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app</a:t>
            </a:r>
            <a:endParaRPr kumimoji="0" lang="de-DE" sz="600" b="1"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endParaRPr>
          </a:p>
        </p:txBody>
      </p:sp>
      <p:sp>
        <p:nvSpPr>
          <p:cNvPr id="29" name="TextBox 28">
            <a:extLst>
              <a:ext uri="{FF2B5EF4-FFF2-40B4-BE49-F238E27FC236}">
                <a16:creationId xmlns:a16="http://schemas.microsoft.com/office/drawing/2014/main" id="{E947967A-789C-47D1-B3A6-3C87CAB37C2D}"/>
              </a:ext>
            </a:extLst>
          </p:cNvPr>
          <p:cNvSpPr txBox="1"/>
          <p:nvPr/>
        </p:nvSpPr>
        <p:spPr>
          <a:xfrm>
            <a:off x="4337355" y="4110080"/>
            <a:ext cx="1355183" cy="369332"/>
          </a:xfrm>
          <a:prstGeom prst="rect">
            <a:avLst/>
          </a:prstGeom>
          <a:noFill/>
          <a:ln>
            <a:noFill/>
          </a:ln>
        </p:spPr>
        <p:txBody>
          <a:bodyPr wrap="square" lIns="0" tIns="0" rIns="0" bIns="0" rtlCol="0">
            <a:spAutoFit/>
          </a:bodyPr>
          <a:lstStyle/>
          <a:p>
            <a:pPr marL="0" marR="0" lvl="0" indent="0" algn="l" defTabSz="1088776" rtl="0" eaLnBrk="1" fontAlgn="base" latinLnBrk="0" hangingPunct="1">
              <a:lnSpc>
                <a:spcPct val="100000"/>
              </a:lnSpc>
              <a:spcBef>
                <a:spcPct val="50000"/>
              </a:spcBef>
              <a:spcAft>
                <a:spcPct val="0"/>
              </a:spcAft>
              <a:buClr>
                <a:srgbClr val="F0AB00"/>
              </a:buClr>
              <a:buSzPct val="80000"/>
              <a:buFontTx/>
              <a:buNone/>
              <a:tabLst/>
              <a:defRPr/>
            </a:pP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pod</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b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b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ads-app</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ent</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-xx-</a:t>
            </a:r>
            <a:r>
              <a:rPr kumimoji="0" lang="de-DE" sz="1200" b="0" i="0" u="none" strike="noStrike" kern="0" cap="none" spc="0" normalizeH="0" baseline="0" noProof="0" dirty="0" err="1">
                <a:ln>
                  <a:noFill/>
                </a:ln>
                <a:solidFill>
                  <a:srgbClr val="FFFFFF"/>
                </a:solidFill>
                <a:effectLst/>
                <a:uLnTx/>
                <a:uFillTx/>
                <a:latin typeface="Arial"/>
                <a:ea typeface="Arial Unicode MS" pitchFamily="34" charset="-128"/>
                <a:cs typeface="Arial Unicode MS" pitchFamily="34" charset="-128"/>
              </a:rPr>
              <a:t>yy</a:t>
            </a:r>
            <a:r>
              <a:rPr kumimoji="0" lang="de-DE" sz="1200" b="0" i="0" u="none" strike="noStrike" kern="0" cap="none" spc="0" normalizeH="0" baseline="0" noProof="0" dirty="0">
                <a:ln>
                  <a:noFill/>
                </a:ln>
                <a:solidFill>
                  <a:srgbClr val="FFFFFF"/>
                </a:solidFill>
                <a:effectLst/>
                <a:uLnTx/>
                <a:uFillTx/>
                <a:latin typeface="Arial"/>
                <a:ea typeface="Arial Unicode MS" pitchFamily="34" charset="-128"/>
                <a:cs typeface="Arial Unicode MS" pitchFamily="34" charset="-128"/>
              </a:rPr>
              <a:t> </a:t>
            </a:r>
          </a:p>
        </p:txBody>
      </p:sp>
      <p:sp>
        <p:nvSpPr>
          <p:cNvPr id="30" name="Rectangle 29">
            <a:extLst>
              <a:ext uri="{FF2B5EF4-FFF2-40B4-BE49-F238E27FC236}">
                <a16:creationId xmlns:a16="http://schemas.microsoft.com/office/drawing/2014/main" id="{B8269BCB-22AF-4A75-819C-ABCE732E7693}"/>
              </a:ext>
            </a:extLst>
          </p:cNvPr>
          <p:cNvSpPr/>
          <p:nvPr/>
        </p:nvSpPr>
        <p:spPr bwMode="gray">
          <a:xfrm>
            <a:off x="4249757" y="4628206"/>
            <a:ext cx="1346561" cy="736567"/>
          </a:xfrm>
          <a:prstGeom prst="rect">
            <a:avLst/>
          </a:prstGeom>
          <a:solidFill>
            <a:srgbClr val="FFC000"/>
          </a:solidFill>
          <a:ln>
            <a:solidFill>
              <a:schemeClr val="bg1"/>
            </a:solidFill>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Docker </a:t>
            </a: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container</a:t>
            </a: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100" b="0" i="0" u="none" strike="noStrike" kern="0" cap="none" spc="0" normalizeH="0" baseline="0" noProof="0" dirty="0" err="1">
                <a:ln>
                  <a:noFill/>
                </a:ln>
                <a:solidFill>
                  <a:srgbClr val="000000"/>
                </a:solidFill>
                <a:effectLst/>
                <a:uLnTx/>
                <a:uFillTx/>
                <a:latin typeface="Arial"/>
                <a:ea typeface="Arial Unicode MS" pitchFamily="34" charset="-128"/>
                <a:cs typeface="Arial Unicode MS" pitchFamily="34" charset="-128"/>
              </a:rPr>
              <a:t>bulletinboard</a:t>
            </a: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t>
            </a:r>
            <a:b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br>
            <a:r>
              <a:rPr kumimoji="0" lang="de-DE" sz="1100" b="0" i="0" u="none" strike="noStrike" kern="0" cap="none" spc="0" normalizeH="0" baseline="0" noProof="0" dirty="0">
                <a:ln>
                  <a:noFill/>
                </a:ln>
                <a:solidFill>
                  <a:srgbClr val="000000"/>
                </a:solidFill>
                <a:effectLst/>
                <a:uLnTx/>
                <a:uFillTx/>
                <a:latin typeface="Arial"/>
                <a:ea typeface="Arial Unicode MS" pitchFamily="34" charset="-128"/>
                <a:cs typeface="Arial Unicode MS" pitchFamily="34" charset="-128"/>
              </a:rPr>
              <a:t>ads:v0.x</a:t>
            </a:r>
          </a:p>
        </p:txBody>
      </p:sp>
      <p:pic>
        <p:nvPicPr>
          <p:cNvPr id="31" name="Picture 30">
            <a:extLst>
              <a:ext uri="{FF2B5EF4-FFF2-40B4-BE49-F238E27FC236}">
                <a16:creationId xmlns:a16="http://schemas.microsoft.com/office/drawing/2014/main" id="{4406D392-4978-4A10-8036-646B454E38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450007" y="5206897"/>
            <a:ext cx="292622" cy="292622"/>
          </a:xfrm>
          <a:prstGeom prst="rect">
            <a:avLst/>
          </a:prstGeom>
        </p:spPr>
      </p:pic>
      <p:pic>
        <p:nvPicPr>
          <p:cNvPr id="97" name="Picture 96">
            <a:extLst>
              <a:ext uri="{FF2B5EF4-FFF2-40B4-BE49-F238E27FC236}">
                <a16:creationId xmlns:a16="http://schemas.microsoft.com/office/drawing/2014/main" id="{A87F0DAC-B659-47DD-B9C2-8980B9373EDF}"/>
              </a:ext>
            </a:extLst>
          </p:cNvPr>
          <p:cNvPicPr>
            <a:picLocks noChangeAspect="1"/>
          </p:cNvPicPr>
          <p:nvPr/>
        </p:nvPicPr>
        <p:blipFill>
          <a:blip r:embed="rId3"/>
          <a:stretch>
            <a:fillRect/>
          </a:stretch>
        </p:blipFill>
        <p:spPr>
          <a:xfrm>
            <a:off x="7074494" y="3035788"/>
            <a:ext cx="250508" cy="243840"/>
          </a:xfrm>
          <a:prstGeom prst="rect">
            <a:avLst/>
          </a:prstGeom>
        </p:spPr>
      </p:pic>
      <p:pic>
        <p:nvPicPr>
          <p:cNvPr id="43" name="Picture 42">
            <a:extLst>
              <a:ext uri="{FF2B5EF4-FFF2-40B4-BE49-F238E27FC236}">
                <a16:creationId xmlns:a16="http://schemas.microsoft.com/office/drawing/2014/main" id="{375BCB48-B1E9-4F17-8F9E-C9DEA4FC5197}"/>
              </a:ext>
            </a:extLst>
          </p:cNvPr>
          <p:cNvPicPr>
            <a:picLocks noChangeAspect="1"/>
          </p:cNvPicPr>
          <p:nvPr/>
        </p:nvPicPr>
        <p:blipFill>
          <a:blip r:embed="rId3"/>
          <a:stretch>
            <a:fillRect/>
          </a:stretch>
        </p:blipFill>
        <p:spPr>
          <a:xfrm>
            <a:off x="3108801" y="3947999"/>
            <a:ext cx="250508" cy="243840"/>
          </a:xfrm>
          <a:prstGeom prst="rect">
            <a:avLst/>
          </a:prstGeom>
        </p:spPr>
      </p:pic>
      <p:pic>
        <p:nvPicPr>
          <p:cNvPr id="44" name="Picture 43">
            <a:extLst>
              <a:ext uri="{FF2B5EF4-FFF2-40B4-BE49-F238E27FC236}">
                <a16:creationId xmlns:a16="http://schemas.microsoft.com/office/drawing/2014/main" id="{5BC46577-74EA-47AD-A887-E35ABE06653C}"/>
              </a:ext>
            </a:extLst>
          </p:cNvPr>
          <p:cNvPicPr>
            <a:picLocks noChangeAspect="1"/>
          </p:cNvPicPr>
          <p:nvPr/>
        </p:nvPicPr>
        <p:blipFill>
          <a:blip r:embed="rId3"/>
          <a:stretch>
            <a:fillRect/>
          </a:stretch>
        </p:blipFill>
        <p:spPr>
          <a:xfrm>
            <a:off x="5695986" y="3939835"/>
            <a:ext cx="250508" cy="243840"/>
          </a:xfrm>
          <a:prstGeom prst="rect">
            <a:avLst/>
          </a:prstGeom>
        </p:spPr>
      </p:pic>
      <p:pic>
        <p:nvPicPr>
          <p:cNvPr id="46" name="Picture 45">
            <a:extLst>
              <a:ext uri="{FF2B5EF4-FFF2-40B4-BE49-F238E27FC236}">
                <a16:creationId xmlns:a16="http://schemas.microsoft.com/office/drawing/2014/main" id="{326F0329-5CCD-43F8-992E-9FDA0D09EDF8}"/>
              </a:ext>
            </a:extLst>
          </p:cNvPr>
          <p:cNvPicPr>
            <a:picLocks noChangeAspect="1"/>
          </p:cNvPicPr>
          <p:nvPr/>
        </p:nvPicPr>
        <p:blipFill>
          <a:blip r:embed="rId3"/>
          <a:stretch>
            <a:fillRect/>
          </a:stretch>
        </p:blipFill>
        <p:spPr>
          <a:xfrm>
            <a:off x="8924993" y="1230093"/>
            <a:ext cx="501015" cy="487680"/>
          </a:xfrm>
          <a:prstGeom prst="rect">
            <a:avLst/>
          </a:prstGeom>
        </p:spPr>
      </p:pic>
    </p:spTree>
    <p:extLst>
      <p:ext uri="{BB962C8B-B14F-4D97-AF65-F5344CB8AC3E}">
        <p14:creationId xmlns:p14="http://schemas.microsoft.com/office/powerpoint/2010/main" val="9703269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1_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3.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themeOverride>
</file>

<file path=docProps/app.xml><?xml version="1.0" encoding="utf-8"?>
<Properties xmlns="http://schemas.openxmlformats.org/officeDocument/2006/extended-properties" xmlns:vt="http://schemas.openxmlformats.org/officeDocument/2006/docPropsVTypes">
  <Template/>
  <TotalTime>118</TotalTime>
  <Words>1621</Words>
  <Application>Microsoft Office PowerPoint</Application>
  <PresentationFormat>Custom</PresentationFormat>
  <Paragraphs>202</Paragraphs>
  <Slides>17</Slides>
  <Notes>15</Notes>
  <HiddenSlides>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17</vt:i4>
      </vt:variant>
    </vt:vector>
  </HeadingPairs>
  <TitlesOfParts>
    <vt:vector size="24" baseType="lpstr">
      <vt:lpstr>Arial</vt:lpstr>
      <vt:lpstr>Courier New</vt:lpstr>
      <vt:lpstr>Symbol</vt:lpstr>
      <vt:lpstr>Wingdings</vt:lpstr>
      <vt:lpstr>Wingdings</vt:lpstr>
      <vt:lpstr>SAP_2017_16x9_black</vt:lpstr>
      <vt:lpstr>1_SAP_2017_16x9_black</vt:lpstr>
      <vt:lpstr>PowerPoint Presentation</vt:lpstr>
      <vt:lpstr>Introducing labels &amp; selectors</vt:lpstr>
      <vt:lpstr>Why do we need labels &amp; selectors?</vt:lpstr>
      <vt:lpstr>Using labels &amp; selectors</vt:lpstr>
      <vt:lpstr>Demo</vt:lpstr>
      <vt:lpstr>Deployments</vt:lpstr>
      <vt:lpstr>Updating Deployments</vt:lpstr>
      <vt:lpstr>Architecture overview – deployments</vt:lpstr>
      <vt:lpstr>Deployments</vt:lpstr>
      <vt:lpstr>Automatic Scaling</vt:lpstr>
      <vt:lpstr>Demo</vt:lpstr>
      <vt:lpstr>What YOU will do in exercise #03</vt:lpstr>
      <vt:lpstr>Appendix</vt:lpstr>
      <vt:lpstr>Sample Application: Bulletinboard</vt:lpstr>
      <vt:lpstr>Bulletinboard in K8s: ads DB – details labels &amp; selector</vt:lpstr>
      <vt:lpstr>Bulletinboard in K8s: labels &amp; selectors</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476</cp:revision>
  <dcterms:created xsi:type="dcterms:W3CDTF">2015-10-14T11:21:43Z</dcterms:created>
  <dcterms:modified xsi:type="dcterms:W3CDTF">2022-06-21T10:45:40Z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