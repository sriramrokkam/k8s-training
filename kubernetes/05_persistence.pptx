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3" r:id="rId1"/>
  </p:sldMasterIdLst>
  <p:notesMasterIdLst>
    <p:notesMasterId r:id="rId23"/>
  </p:notesMasterIdLst>
  <p:handoutMasterIdLst>
    <p:handoutMasterId r:id="rId24"/>
  </p:handoutMasterIdLst>
  <p:sldIdLst>
    <p:sldId id="433" r:id="rId2"/>
    <p:sldId id="442" r:id="rId3"/>
    <p:sldId id="439" r:id="rId4"/>
    <p:sldId id="444" r:id="rId5"/>
    <p:sldId id="462" r:id="rId6"/>
    <p:sldId id="449" r:id="rId7"/>
    <p:sldId id="456" r:id="rId8"/>
    <p:sldId id="450" r:id="rId9"/>
    <p:sldId id="460" r:id="rId10"/>
    <p:sldId id="451" r:id="rId11"/>
    <p:sldId id="446" r:id="rId12"/>
    <p:sldId id="447" r:id="rId13"/>
    <p:sldId id="466" r:id="rId14"/>
    <p:sldId id="458" r:id="rId15"/>
    <p:sldId id="470" r:id="rId16"/>
    <p:sldId id="471" r:id="rId17"/>
    <p:sldId id="468" r:id="rId18"/>
    <p:sldId id="469" r:id="rId19"/>
    <p:sldId id="459" r:id="rId20"/>
    <p:sldId id="455" r:id="rId21"/>
    <p:sldId id="265" r:id="rId22"/>
  </p:sldIdLst>
  <p:sldSz cx="12195175" cy="6858000"/>
  <p:notesSz cx="6858000" cy="914400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1" userDrawn="1">
          <p15:clr>
            <a:srgbClr val="A4A3A4"/>
          </p15:clr>
        </p15:guide>
        <p15:guide id="2" orient="horz" pos="1022" userDrawn="1">
          <p15:clr>
            <a:srgbClr val="A4A3A4"/>
          </p15:clr>
        </p15:guide>
        <p15:guide id="3" orient="horz" pos="4004" userDrawn="1">
          <p15:clr>
            <a:srgbClr val="A4A3A4"/>
          </p15:clr>
        </p15:guide>
        <p15:guide id="4" pos="303" userDrawn="1">
          <p15:clr>
            <a:srgbClr val="A4A3A4"/>
          </p15:clr>
        </p15:guide>
        <p15:guide id="5" pos="7356" userDrawn="1">
          <p15:clr>
            <a:srgbClr val="A4A3A4"/>
          </p15:clr>
        </p15:guide>
        <p15:guide id="7" orient="horz" pos="3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rtsch, Holger" initials="PH" lastIdx="3" clrIdx="0">
    <p:extLst>
      <p:ext uri="{19B8F6BF-5375-455C-9EA6-DF929625EA0E}">
        <p15:presenceInfo xmlns:p15="http://schemas.microsoft.com/office/powerpoint/2012/main" userId="S-1-5-21-74642-3284969411-2123768488-12025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FFF1D0"/>
    <a:srgbClr val="0F46A7"/>
    <a:srgbClr val="970A82"/>
    <a:srgbClr val="FF3399"/>
    <a:srgbClr val="FF0000"/>
    <a:srgbClr val="FFFFFF"/>
    <a:srgbClr val="FEE3A1"/>
    <a:srgbClr val="FFF8E7"/>
    <a:srgbClr val="FECE59"/>
    <a:srgbClr val="0032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344" autoAdjust="0"/>
    <p:restoredTop sz="73747" autoAdjust="0"/>
  </p:normalViewPr>
  <p:slideViewPr>
    <p:cSldViewPr snapToGrid="0" showGuides="1">
      <p:cViewPr varScale="1">
        <p:scale>
          <a:sx n="107" d="100"/>
          <a:sy n="107" d="100"/>
        </p:scale>
        <p:origin x="536" y="160"/>
      </p:cViewPr>
      <p:guideLst>
        <p:guide pos="3841"/>
        <p:guide orient="horz" pos="1022"/>
        <p:guide orient="horz" pos="4004"/>
        <p:guide pos="303"/>
        <p:guide pos="7356"/>
        <p:guide orient="horz" pos="300"/>
      </p:guideLst>
    </p:cSldViewPr>
  </p:slideViewPr>
  <p:outlineViewPr>
    <p:cViewPr>
      <p:scale>
        <a:sx n="33" d="100"/>
        <a:sy n="33" d="100"/>
      </p:scale>
      <p:origin x="0" y="-6394"/>
    </p:cViewPr>
  </p:outlineViewPr>
  <p:notesTextViewPr>
    <p:cViewPr>
      <p:scale>
        <a:sx n="3" d="2"/>
        <a:sy n="3" d="2"/>
      </p:scale>
      <p:origin x="0" y="0"/>
    </p:cViewPr>
  </p:notesTextViewPr>
  <p:sorterViewPr>
    <p:cViewPr varScale="1">
      <p:scale>
        <a:sx n="1" d="1"/>
        <a:sy n="1" d="1"/>
      </p:scale>
      <p:origin x="0" y="0"/>
    </p:cViewPr>
  </p:sorterViewPr>
  <p:notesViewPr>
    <p:cSldViewPr snapToGrid="0" showGuides="1">
      <p:cViewPr varScale="1">
        <p:scale>
          <a:sx n="92" d="100"/>
          <a:sy n="92" d="100"/>
        </p:scale>
        <p:origin x="404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3100" y="8685213"/>
            <a:ext cx="2971800" cy="457200"/>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‹Nr.›</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47688" y="612775"/>
            <a:ext cx="5762625" cy="3241675"/>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9000" y="4120162"/>
            <a:ext cx="5760000" cy="456356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57512" y="8935722"/>
            <a:ext cx="942976" cy="205358"/>
          </a:xfrm>
          <a:prstGeom prst="rect">
            <a:avLst/>
          </a:prstGeom>
        </p:spPr>
        <p:txBody>
          <a:bodyPr vert="horz" lIns="91440" tIns="45720" rIns="91440" bIns="45720" rtlCol="0" anchor="b"/>
          <a:lstStyle>
            <a:lvl1pPr algn="ctr">
              <a:defRPr sz="800"/>
            </a:lvl1pPr>
          </a:lstStyle>
          <a:p>
            <a:fld id="{7D8C2C35-2B8A-446E-BEC0-FD36716C29AC}" type="slidenum">
              <a:rPr lang="de-DE" smtClean="0"/>
              <a:pPr/>
              <a:t>‹Nr.›</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000" indent="-180000" algn="l" defTabSz="1088776" rtl="0" eaLnBrk="1" latinLnBrk="0" hangingPunct="1">
      <a:buClr>
        <a:schemeClr val="accent1"/>
      </a:buClr>
      <a:buSzPct val="100000"/>
      <a:buFont typeface="Wingdings" pitchFamily="2" charset="2"/>
      <a:buChar char=""/>
      <a:defRPr sz="1400" kern="1200">
        <a:solidFill>
          <a:schemeClr val="tx1"/>
        </a:solidFill>
        <a:latin typeface="+mn-lt"/>
        <a:ea typeface="+mn-ea"/>
        <a:cs typeface="+mn-cs"/>
      </a:defRPr>
    </a:lvl2pPr>
    <a:lvl3pPr marL="360000" indent="-180000"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1</a:t>
            </a:fld>
            <a:endParaRPr lang="en-US" dirty="0"/>
          </a:p>
        </p:txBody>
      </p:sp>
    </p:spTree>
    <p:extLst>
      <p:ext uri="{BB962C8B-B14F-4D97-AF65-F5344CB8AC3E}">
        <p14:creationId xmlns:p14="http://schemas.microsoft.com/office/powerpoint/2010/main" val="16739428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lang="en-US" dirty="0"/>
              <a:t>Pods provide only ephemeral storage. When a pod is killed, all data is gone. This section is all about the creation &amp; usage of storage in the context of Kubernetes.</a:t>
            </a:r>
          </a:p>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2</a:t>
            </a:fld>
            <a:endParaRPr lang="en-US" dirty="0"/>
          </a:p>
        </p:txBody>
      </p:sp>
    </p:spTree>
    <p:extLst>
      <p:ext uri="{BB962C8B-B14F-4D97-AF65-F5344CB8AC3E}">
        <p14:creationId xmlns:p14="http://schemas.microsoft.com/office/powerpoint/2010/main" val="5610892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order to solve the problem of ephemeral container storage, a file system of the underlying host can be bind-mounted into a container.</a:t>
            </a:r>
          </a:p>
          <a:p>
            <a:endParaRPr lang="en-US" dirty="0"/>
          </a:p>
          <a:p>
            <a:r>
              <a:rPr lang="en-US" dirty="0"/>
              <a:t>Whether this is a local or remote file system, does not matter to the container.</a:t>
            </a:r>
          </a:p>
          <a:p>
            <a:endParaRPr lang="en-US" dirty="0"/>
          </a:p>
          <a:p>
            <a:r>
              <a:rPr lang="en-US" dirty="0"/>
              <a:t>Ideally, we can set this up for our Pods without leaving the K8s space.</a:t>
            </a:r>
          </a:p>
        </p:txBody>
      </p:sp>
      <p:sp>
        <p:nvSpPr>
          <p:cNvPr id="4" name="Slide Number Placeholder 3"/>
          <p:cNvSpPr>
            <a:spLocks noGrp="1"/>
          </p:cNvSpPr>
          <p:nvPr>
            <p:ph type="sldNum" sz="quarter" idx="5"/>
          </p:nvPr>
        </p:nvSpPr>
        <p:spPr/>
        <p:txBody>
          <a:bodyPr/>
          <a:lstStyle/>
          <a:p>
            <a:fld id="{7D8C2C35-2B8A-446E-BEC0-FD36716C29AC}" type="slidenum">
              <a:rPr lang="de-DE" smtClean="0"/>
              <a:pPr/>
              <a:t>3</a:t>
            </a:fld>
            <a:endParaRPr lang="de-DE" dirty="0"/>
          </a:p>
        </p:txBody>
      </p:sp>
    </p:spTree>
    <p:extLst>
      <p:ext uri="{BB962C8B-B14F-4D97-AF65-F5344CB8AC3E}">
        <p14:creationId xmlns:p14="http://schemas.microsoft.com/office/powerpoint/2010/main" val="38483415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AutoNum type="arabicPeriod"/>
            </a:pPr>
            <a:r>
              <a:rPr lang="en-US" dirty="0"/>
              <a:t>Add the reference to the storage to the pod definition in </a:t>
            </a:r>
            <a:r>
              <a:rPr lang="en-US" dirty="0" err="1"/>
              <a:t>spec.volumes</a:t>
            </a:r>
            <a:endParaRPr lang="en-US" dirty="0"/>
          </a:p>
          <a:p>
            <a:pPr marL="342900" indent="-342900">
              <a:buAutoNum type="arabicPeriod"/>
            </a:pPr>
            <a:r>
              <a:rPr lang="en-US" dirty="0"/>
              <a:t>Refer to the </a:t>
            </a:r>
            <a:r>
              <a:rPr lang="en-US" dirty="0" err="1"/>
              <a:t>spec.volumes</a:t>
            </a:r>
            <a:r>
              <a:rPr lang="en-US" dirty="0"/>
              <a:t> entries in the container spec and define to which location the bind-mount should point. If the container places data at /</a:t>
            </a:r>
            <a:r>
              <a:rPr lang="en-US" dirty="0" err="1"/>
              <a:t>mnt</a:t>
            </a:r>
            <a:r>
              <a:rPr lang="en-US" dirty="0"/>
              <a:t>/, it will be persisted on the actual storage</a:t>
            </a:r>
          </a:p>
        </p:txBody>
      </p:sp>
      <p:sp>
        <p:nvSpPr>
          <p:cNvPr id="4" name="Slide Number Placeholder 3"/>
          <p:cNvSpPr>
            <a:spLocks noGrp="1"/>
          </p:cNvSpPr>
          <p:nvPr>
            <p:ph type="sldNum" sz="quarter" idx="10"/>
          </p:nvPr>
        </p:nvSpPr>
        <p:spPr/>
        <p:txBody>
          <a:bodyPr/>
          <a:lstStyle/>
          <a:p>
            <a:fld id="{7D8C2C35-2B8A-446E-BEC0-FD36716C29AC}" type="slidenum">
              <a:rPr lang="en-US" smtClean="0"/>
              <a:pPr/>
              <a:t>4</a:t>
            </a:fld>
            <a:endParaRPr lang="en-US" dirty="0"/>
          </a:p>
        </p:txBody>
      </p:sp>
    </p:spTree>
    <p:extLst>
      <p:ext uri="{BB962C8B-B14F-4D97-AF65-F5344CB8AC3E}">
        <p14:creationId xmlns:p14="http://schemas.microsoft.com/office/powerpoint/2010/main" val="22252897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abstraction is easy to work with, it is also quite helpful to know, what is happening in the background.</a:t>
            </a:r>
          </a:p>
          <a:p>
            <a:endParaRPr lang="en-US" dirty="0"/>
          </a:p>
          <a:p>
            <a:r>
              <a:rPr lang="en-US" dirty="0"/>
              <a:t>When declaring the pod spec with it’s volume mount section, in the end it refers to some physical storage. To get actual access to it, the disk needs to be mounted to the node first. Only then the docker daemon can use a bind mount to make the disk available to the container.</a:t>
            </a:r>
          </a:p>
        </p:txBody>
      </p:sp>
      <p:sp>
        <p:nvSpPr>
          <p:cNvPr id="4" name="Slide Number Placeholder 3"/>
          <p:cNvSpPr>
            <a:spLocks noGrp="1"/>
          </p:cNvSpPr>
          <p:nvPr>
            <p:ph type="sldNum" sz="quarter" idx="5"/>
          </p:nvPr>
        </p:nvSpPr>
        <p:spPr/>
        <p:txBody>
          <a:bodyPr/>
          <a:lstStyle/>
          <a:p>
            <a:fld id="{7D8C2C35-2B8A-446E-BEC0-FD36716C29AC}" type="slidenum">
              <a:rPr lang="de-DE" smtClean="0"/>
              <a:pPr/>
              <a:t>5</a:t>
            </a:fld>
            <a:endParaRPr lang="de-DE" dirty="0"/>
          </a:p>
        </p:txBody>
      </p:sp>
    </p:spTree>
    <p:extLst>
      <p:ext uri="{BB962C8B-B14F-4D97-AF65-F5344CB8AC3E}">
        <p14:creationId xmlns:p14="http://schemas.microsoft.com/office/powerpoint/2010/main" val="1282855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use persistent storage within a container, firstly you need to make it available to the pod. </a:t>
            </a:r>
          </a:p>
          <a:p>
            <a:r>
              <a:rPr lang="en-US" dirty="0"/>
              <a:t>This is done by specifying a volume object on </a:t>
            </a:r>
            <a:r>
              <a:rPr lang="en-US" dirty="0" err="1"/>
              <a:t>PodSpec</a:t>
            </a:r>
            <a:r>
              <a:rPr lang="en-US" dirty="0"/>
              <a:t> level. </a:t>
            </a:r>
          </a:p>
          <a:p>
            <a:endParaRPr lang="en-US" dirty="0"/>
          </a:p>
          <a:p>
            <a:r>
              <a:rPr lang="en-US" dirty="0"/>
              <a:t>A volume could link to a </a:t>
            </a:r>
            <a:r>
              <a:rPr lang="en-US" b="1" dirty="0"/>
              <a:t>NFS share</a:t>
            </a:r>
            <a:r>
              <a:rPr lang="en-US" dirty="0"/>
              <a:t>, some local storage cluster like </a:t>
            </a:r>
            <a:r>
              <a:rPr lang="en-US" b="1" dirty="0" err="1"/>
              <a:t>ceph</a:t>
            </a:r>
            <a:r>
              <a:rPr lang="en-US" dirty="0"/>
              <a:t> or </a:t>
            </a:r>
            <a:r>
              <a:rPr lang="en-US" b="1" dirty="0" err="1"/>
              <a:t>glusterfs</a:t>
            </a:r>
            <a:r>
              <a:rPr lang="en-US" dirty="0"/>
              <a:t> or even access the </a:t>
            </a:r>
            <a:r>
              <a:rPr lang="en-US" b="1" dirty="0"/>
              <a:t>storage provided by</a:t>
            </a:r>
            <a:r>
              <a:rPr lang="en-US" dirty="0"/>
              <a:t> cloud platforms </a:t>
            </a:r>
            <a:br>
              <a:rPr lang="en-US" dirty="0"/>
            </a:br>
            <a:r>
              <a:rPr lang="en-US" dirty="0"/>
              <a:t>like </a:t>
            </a:r>
            <a:r>
              <a:rPr lang="en-US" b="1" dirty="0"/>
              <a:t>GCP</a:t>
            </a:r>
            <a:r>
              <a:rPr lang="en-US" dirty="0"/>
              <a:t>, </a:t>
            </a:r>
            <a:r>
              <a:rPr lang="en-US" b="1" dirty="0"/>
              <a:t>AWS</a:t>
            </a:r>
            <a:r>
              <a:rPr lang="en-US" dirty="0"/>
              <a:t> or </a:t>
            </a:r>
            <a:r>
              <a:rPr lang="en-US" b="1" dirty="0"/>
              <a:t>Azure</a:t>
            </a:r>
            <a:r>
              <a:rPr lang="en-US" dirty="0"/>
              <a:t>. </a:t>
            </a:r>
          </a:p>
          <a:p>
            <a:endParaRPr lang="en-US" dirty="0"/>
          </a:p>
          <a:p>
            <a:r>
              <a:rPr lang="en-US" dirty="0"/>
              <a:t>It is also possible to share storage that is part of a cluster node itself (</a:t>
            </a:r>
            <a:r>
              <a:rPr lang="en-US" b="1" dirty="0" err="1"/>
              <a:t>hostPath</a:t>
            </a:r>
            <a:r>
              <a:rPr lang="en-US" dirty="0"/>
              <a:t>). However this is quite dangerous as you need to ensure this storage is available (incl. content) on every single cluster node.</a:t>
            </a:r>
          </a:p>
          <a:p>
            <a:endParaRPr lang="en-US" dirty="0"/>
          </a:p>
          <a:p>
            <a:r>
              <a:rPr lang="en-US" dirty="0"/>
              <a:t>In addition there are other special volume types:</a:t>
            </a:r>
          </a:p>
          <a:p>
            <a:pPr marL="285750" indent="-285750">
              <a:buFontTx/>
              <a:buChar char="-"/>
            </a:pPr>
            <a:r>
              <a:rPr lang="en-US" b="1" dirty="0" err="1"/>
              <a:t>emptyDir</a:t>
            </a:r>
            <a:r>
              <a:rPr lang="en-US" dirty="0"/>
              <a:t>: temporary storage, usually to cache or test something. Its lifecycle is bound to the pod and therefore data is ephemeral as well</a:t>
            </a:r>
          </a:p>
          <a:p>
            <a:pPr marL="285750" indent="-285750">
              <a:buFontTx/>
              <a:buChar char="-"/>
            </a:pPr>
            <a:r>
              <a:rPr lang="en-US" b="1" dirty="0"/>
              <a:t>Secret</a:t>
            </a:r>
            <a:r>
              <a:rPr lang="en-US" dirty="0"/>
              <a:t> &amp; </a:t>
            </a:r>
            <a:r>
              <a:rPr lang="en-US" b="1" dirty="0" err="1"/>
              <a:t>configMap</a:t>
            </a:r>
            <a:r>
              <a:rPr lang="en-US" dirty="0" err="1"/>
              <a:t>s</a:t>
            </a:r>
            <a:r>
              <a:rPr lang="en-US" dirty="0"/>
              <a:t>: hold confidential or configuration data and are accessed also via the volumes interface.</a:t>
            </a:r>
          </a:p>
        </p:txBody>
      </p:sp>
      <p:sp>
        <p:nvSpPr>
          <p:cNvPr id="4" name="Slide Number Placeholder 3"/>
          <p:cNvSpPr>
            <a:spLocks noGrp="1"/>
          </p:cNvSpPr>
          <p:nvPr>
            <p:ph type="sldNum" sz="quarter" idx="10"/>
          </p:nvPr>
        </p:nvSpPr>
        <p:spPr/>
        <p:txBody>
          <a:bodyPr/>
          <a:lstStyle/>
          <a:p>
            <a:fld id="{7D8C2C35-2B8A-446E-BEC0-FD36716C29AC}" type="slidenum">
              <a:rPr lang="en-US" smtClean="0"/>
              <a:pPr/>
              <a:t>6</a:t>
            </a:fld>
            <a:endParaRPr lang="en-US" dirty="0"/>
          </a:p>
        </p:txBody>
      </p:sp>
    </p:spTree>
    <p:extLst>
      <p:ext uri="{BB962C8B-B14F-4D97-AF65-F5344CB8AC3E}">
        <p14:creationId xmlns:p14="http://schemas.microsoft.com/office/powerpoint/2010/main" val="11512628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gn="l" defTabSz="1088776" rtl="0" eaLnBrk="1" fontAlgn="auto" latinLnBrk="0" hangingPunct="1">
              <a:lnSpc>
                <a:spcPct val="100000"/>
              </a:lnSpc>
              <a:spcBef>
                <a:spcPts val="0"/>
              </a:spcBef>
              <a:spcAft>
                <a:spcPts val="0"/>
              </a:spcAft>
              <a:buClrTx/>
              <a:buSzTx/>
              <a:buFontTx/>
              <a:buAutoNum type="arabicPeriod"/>
              <a:tabLst/>
              <a:defRPr/>
            </a:pPr>
            <a:r>
              <a:rPr lang="en-US" dirty="0"/>
              <a:t>Automation is key (in every aspect of the lifecycle)</a:t>
            </a:r>
          </a:p>
          <a:p>
            <a:pPr marL="342900" marR="0" lvl="0" indent="-342900" algn="l" defTabSz="1088776" rtl="0" eaLnBrk="1" fontAlgn="auto" latinLnBrk="0" hangingPunct="1">
              <a:lnSpc>
                <a:spcPct val="100000"/>
              </a:lnSpc>
              <a:spcBef>
                <a:spcPts val="0"/>
              </a:spcBef>
              <a:spcAft>
                <a:spcPts val="0"/>
              </a:spcAft>
              <a:buClrTx/>
              <a:buSzTx/>
              <a:buFontTx/>
              <a:buAutoNum type="arabicPeriod"/>
              <a:tabLst/>
              <a:defRPr/>
            </a:pPr>
            <a:r>
              <a:rPr lang="en-US" dirty="0"/>
              <a:t>Hide implementation details behind a common / standardized API</a:t>
            </a:r>
          </a:p>
          <a:p>
            <a:pPr marL="342900" marR="0" lvl="0" indent="-342900" algn="l" defTabSz="1088776" rtl="0" eaLnBrk="1" fontAlgn="auto" latinLnBrk="0" hangingPunct="1">
              <a:lnSpc>
                <a:spcPct val="100000"/>
              </a:lnSpc>
              <a:spcBef>
                <a:spcPts val="0"/>
              </a:spcBef>
              <a:spcAft>
                <a:spcPts val="0"/>
              </a:spcAft>
              <a:buClrTx/>
              <a:buSzTx/>
              <a:buFontTx/>
              <a:buAutoNum type="arabicPeriod"/>
              <a:tabLst/>
              <a:defRPr/>
            </a:pPr>
            <a:r>
              <a:rPr lang="en-US" dirty="0"/>
              <a:t>Resources should be appliable to different clusters without </a:t>
            </a:r>
            <a:r>
              <a:rPr lang="en-US" dirty="0" err="1"/>
              <a:t>chaning</a:t>
            </a:r>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7</a:t>
            </a:fld>
            <a:endParaRPr lang="de-DE" dirty="0"/>
          </a:p>
        </p:txBody>
      </p:sp>
    </p:spTree>
    <p:extLst>
      <p:ext uri="{BB962C8B-B14F-4D97-AF65-F5344CB8AC3E}">
        <p14:creationId xmlns:p14="http://schemas.microsoft.com/office/powerpoint/2010/main" val="32091802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de-DE" sz="1400" b="0" i="0" kern="1200" dirty="0">
                <a:solidFill>
                  <a:schemeClr val="tx1"/>
                </a:solidFill>
                <a:effectLst/>
                <a:latin typeface="+mn-lt"/>
                <a:ea typeface="+mn-ea"/>
                <a:cs typeface="+mn-cs"/>
              </a:rPr>
              <a:t>Managing </a:t>
            </a:r>
            <a:r>
              <a:rPr lang="de-DE" sz="1400" b="0" i="0" kern="1200" dirty="0" err="1">
                <a:solidFill>
                  <a:schemeClr val="tx1"/>
                </a:solidFill>
                <a:effectLst/>
                <a:latin typeface="+mn-lt"/>
                <a:ea typeface="+mn-ea"/>
                <a:cs typeface="+mn-cs"/>
              </a:rPr>
              <a:t>storage</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is</a:t>
            </a:r>
            <a:r>
              <a:rPr lang="de-DE" sz="1400" b="0" i="0" kern="1200" dirty="0">
                <a:solidFill>
                  <a:schemeClr val="tx1"/>
                </a:solidFill>
                <a:effectLst/>
                <a:latin typeface="+mn-lt"/>
                <a:ea typeface="+mn-ea"/>
                <a:cs typeface="+mn-cs"/>
              </a:rPr>
              <a:t> a </a:t>
            </a:r>
            <a:r>
              <a:rPr lang="de-DE" sz="1400" b="0" i="0" kern="1200" dirty="0" err="1">
                <a:solidFill>
                  <a:schemeClr val="tx1"/>
                </a:solidFill>
                <a:effectLst/>
                <a:latin typeface="+mn-lt"/>
                <a:ea typeface="+mn-ea"/>
                <a:cs typeface="+mn-cs"/>
              </a:rPr>
              <a:t>distinct</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problem</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from</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managing</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compute</a:t>
            </a:r>
            <a:r>
              <a:rPr lang="de-DE" sz="1400" b="0" i="0" kern="1200" dirty="0">
                <a:solidFill>
                  <a:schemeClr val="tx1"/>
                </a:solidFill>
                <a:effectLst/>
                <a:latin typeface="+mn-lt"/>
                <a:ea typeface="+mn-ea"/>
                <a:cs typeface="+mn-cs"/>
              </a:rPr>
              <a:t>. The </a:t>
            </a:r>
            <a:r>
              <a:rPr lang="de-DE" sz="1400" b="0" i="0" kern="1200" dirty="0" err="1">
                <a:solidFill>
                  <a:schemeClr val="tx1"/>
                </a:solidFill>
                <a:effectLst/>
                <a:latin typeface="+mn-lt"/>
                <a:ea typeface="+mn-ea"/>
                <a:cs typeface="+mn-cs"/>
              </a:rPr>
              <a:t>PersistentVolume</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subsystem</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provides</a:t>
            </a:r>
            <a:r>
              <a:rPr lang="de-DE" sz="1400" b="0" i="0" kern="1200" dirty="0">
                <a:solidFill>
                  <a:schemeClr val="tx1"/>
                </a:solidFill>
                <a:effectLst/>
                <a:latin typeface="+mn-lt"/>
                <a:ea typeface="+mn-ea"/>
                <a:cs typeface="+mn-cs"/>
              </a:rPr>
              <a:t> an API </a:t>
            </a:r>
            <a:r>
              <a:rPr lang="de-DE" sz="1400" b="0" i="0" kern="1200" dirty="0" err="1">
                <a:solidFill>
                  <a:schemeClr val="tx1"/>
                </a:solidFill>
                <a:effectLst/>
                <a:latin typeface="+mn-lt"/>
                <a:ea typeface="+mn-ea"/>
                <a:cs typeface="+mn-cs"/>
              </a:rPr>
              <a:t>for</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users</a:t>
            </a:r>
            <a:r>
              <a:rPr lang="de-DE" sz="1400" b="0" i="0" kern="1200" dirty="0">
                <a:solidFill>
                  <a:schemeClr val="tx1"/>
                </a:solidFill>
                <a:effectLst/>
                <a:latin typeface="+mn-lt"/>
                <a:ea typeface="+mn-ea"/>
                <a:cs typeface="+mn-cs"/>
              </a:rPr>
              <a:t> and </a:t>
            </a:r>
            <a:r>
              <a:rPr lang="de-DE" sz="1400" b="0" i="0" kern="1200" dirty="0" err="1">
                <a:solidFill>
                  <a:schemeClr val="tx1"/>
                </a:solidFill>
                <a:effectLst/>
                <a:latin typeface="+mn-lt"/>
                <a:ea typeface="+mn-ea"/>
                <a:cs typeface="+mn-cs"/>
              </a:rPr>
              <a:t>administrators</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that</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abstracts</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details</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of</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how</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storage</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is</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provided</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from</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how</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it</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is</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consumed</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To</a:t>
            </a:r>
            <a:r>
              <a:rPr lang="de-DE" sz="1400" b="0" i="0" kern="1200" dirty="0">
                <a:solidFill>
                  <a:schemeClr val="tx1"/>
                </a:solidFill>
                <a:effectLst/>
                <a:latin typeface="+mn-lt"/>
                <a:ea typeface="+mn-ea"/>
                <a:cs typeface="+mn-cs"/>
              </a:rPr>
              <a:t> do </a:t>
            </a:r>
            <a:r>
              <a:rPr lang="de-DE" sz="1400" b="0" i="0" kern="1200" dirty="0" err="1">
                <a:solidFill>
                  <a:schemeClr val="tx1"/>
                </a:solidFill>
                <a:effectLst/>
                <a:latin typeface="+mn-lt"/>
                <a:ea typeface="+mn-ea"/>
                <a:cs typeface="+mn-cs"/>
              </a:rPr>
              <a:t>this</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we</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introduce</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two</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new</a:t>
            </a:r>
            <a:r>
              <a:rPr lang="de-DE" sz="1400" b="0" i="0" kern="1200" dirty="0">
                <a:solidFill>
                  <a:schemeClr val="tx1"/>
                </a:solidFill>
                <a:effectLst/>
                <a:latin typeface="+mn-lt"/>
                <a:ea typeface="+mn-ea"/>
                <a:cs typeface="+mn-cs"/>
              </a:rPr>
              <a:t> API </a:t>
            </a:r>
            <a:r>
              <a:rPr lang="de-DE" sz="1400" b="0" i="0" kern="1200" dirty="0" err="1">
                <a:solidFill>
                  <a:schemeClr val="tx1"/>
                </a:solidFill>
                <a:effectLst/>
                <a:latin typeface="+mn-lt"/>
                <a:ea typeface="+mn-ea"/>
                <a:cs typeface="+mn-cs"/>
              </a:rPr>
              <a:t>resources</a:t>
            </a:r>
            <a:r>
              <a:rPr lang="de-DE" sz="1400" b="0" i="0" kern="1200" dirty="0">
                <a:solidFill>
                  <a:schemeClr val="tx1"/>
                </a:solidFill>
                <a:effectLst/>
                <a:latin typeface="+mn-lt"/>
                <a:ea typeface="+mn-ea"/>
                <a:cs typeface="+mn-cs"/>
              </a:rPr>
              <a:t>: </a:t>
            </a:r>
            <a:r>
              <a:rPr lang="de-DE" sz="1400" b="1" i="0" kern="1200" dirty="0" err="1">
                <a:solidFill>
                  <a:schemeClr val="tx1"/>
                </a:solidFill>
                <a:effectLst/>
                <a:latin typeface="+mn-lt"/>
                <a:ea typeface="+mn-ea"/>
                <a:cs typeface="+mn-cs"/>
              </a:rPr>
              <a:t>PersistentVolume</a:t>
            </a:r>
            <a:r>
              <a:rPr lang="de-DE" sz="1400" b="0" i="0" kern="1200" dirty="0">
                <a:solidFill>
                  <a:schemeClr val="tx1"/>
                </a:solidFill>
                <a:effectLst/>
                <a:latin typeface="+mn-lt"/>
                <a:ea typeface="+mn-ea"/>
                <a:cs typeface="+mn-cs"/>
              </a:rPr>
              <a:t> and </a:t>
            </a:r>
            <a:r>
              <a:rPr lang="de-DE" sz="1400" b="1" i="0" kern="1200" dirty="0" err="1">
                <a:solidFill>
                  <a:schemeClr val="tx1"/>
                </a:solidFill>
                <a:effectLst/>
                <a:latin typeface="+mn-lt"/>
                <a:ea typeface="+mn-ea"/>
                <a:cs typeface="+mn-cs"/>
              </a:rPr>
              <a:t>PersistentVolumeClaim</a:t>
            </a:r>
            <a:r>
              <a:rPr lang="de-DE" sz="1400" b="0" i="0" kern="1200" dirty="0">
                <a:solidFill>
                  <a:schemeClr val="tx1"/>
                </a:solidFill>
                <a:effectLst/>
                <a:latin typeface="+mn-lt"/>
                <a:ea typeface="+mn-ea"/>
                <a:cs typeface="+mn-cs"/>
              </a:rPr>
              <a:t>.</a:t>
            </a:r>
          </a:p>
          <a:p>
            <a:endParaRPr lang="de-DE" sz="1400" b="0" i="0" kern="1200" dirty="0">
              <a:solidFill>
                <a:schemeClr val="tx1"/>
              </a:solidFill>
              <a:effectLst/>
              <a:latin typeface="+mn-lt"/>
              <a:ea typeface="+mn-ea"/>
              <a:cs typeface="+mn-cs"/>
            </a:endParaRPr>
          </a:p>
          <a:p>
            <a:r>
              <a:rPr lang="de-DE" sz="1400" b="0" i="0" kern="1200" dirty="0">
                <a:solidFill>
                  <a:schemeClr val="tx1"/>
                </a:solidFill>
                <a:effectLst/>
                <a:latin typeface="+mn-lt"/>
                <a:ea typeface="+mn-ea"/>
                <a:cs typeface="+mn-cs"/>
              </a:rPr>
              <a:t>A </a:t>
            </a:r>
            <a:r>
              <a:rPr lang="de-DE" sz="1400" b="1" i="0" kern="1200" dirty="0" err="1">
                <a:solidFill>
                  <a:schemeClr val="tx1"/>
                </a:solidFill>
                <a:effectLst/>
                <a:latin typeface="+mn-lt"/>
                <a:ea typeface="+mn-ea"/>
                <a:cs typeface="+mn-cs"/>
              </a:rPr>
              <a:t>PersistentVolume</a:t>
            </a:r>
            <a:r>
              <a:rPr lang="de-DE" sz="1400" b="0" i="0" kern="1200" dirty="0">
                <a:solidFill>
                  <a:schemeClr val="tx1"/>
                </a:solidFill>
                <a:effectLst/>
                <a:latin typeface="+mn-lt"/>
                <a:ea typeface="+mn-ea"/>
                <a:cs typeface="+mn-cs"/>
              </a:rPr>
              <a:t> (PV) </a:t>
            </a:r>
            <a:r>
              <a:rPr lang="de-DE" sz="1400" b="0" i="0" kern="1200" dirty="0" err="1">
                <a:solidFill>
                  <a:schemeClr val="tx1"/>
                </a:solidFill>
                <a:effectLst/>
                <a:latin typeface="+mn-lt"/>
                <a:ea typeface="+mn-ea"/>
                <a:cs typeface="+mn-cs"/>
              </a:rPr>
              <a:t>is</a:t>
            </a:r>
            <a:r>
              <a:rPr lang="de-DE" sz="1400" b="0" i="0" kern="1200" dirty="0">
                <a:solidFill>
                  <a:schemeClr val="tx1"/>
                </a:solidFill>
                <a:effectLst/>
                <a:latin typeface="+mn-lt"/>
                <a:ea typeface="+mn-ea"/>
                <a:cs typeface="+mn-cs"/>
              </a:rPr>
              <a:t> a </a:t>
            </a:r>
            <a:r>
              <a:rPr lang="de-DE" sz="1400" b="0" i="0" kern="1200" dirty="0" err="1">
                <a:solidFill>
                  <a:schemeClr val="tx1"/>
                </a:solidFill>
                <a:effectLst/>
                <a:latin typeface="+mn-lt"/>
                <a:ea typeface="+mn-ea"/>
                <a:cs typeface="+mn-cs"/>
              </a:rPr>
              <a:t>piece</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of</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storage</a:t>
            </a:r>
            <a:r>
              <a:rPr lang="de-DE" sz="1400" b="0" i="0" kern="1200" dirty="0">
                <a:solidFill>
                  <a:schemeClr val="tx1"/>
                </a:solidFill>
                <a:effectLst/>
                <a:latin typeface="+mn-lt"/>
                <a:ea typeface="+mn-ea"/>
                <a:cs typeface="+mn-cs"/>
              </a:rPr>
              <a:t> in </a:t>
            </a:r>
            <a:r>
              <a:rPr lang="de-DE" sz="1400" b="0" i="0" kern="1200" dirty="0" err="1">
                <a:solidFill>
                  <a:schemeClr val="tx1"/>
                </a:solidFill>
                <a:effectLst/>
                <a:latin typeface="+mn-lt"/>
                <a:ea typeface="+mn-ea"/>
                <a:cs typeface="+mn-cs"/>
              </a:rPr>
              <a:t>the</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cluster</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that</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has</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been</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provisioned</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by</a:t>
            </a:r>
            <a:r>
              <a:rPr lang="de-DE" sz="1400" b="0" i="0" kern="1200" dirty="0">
                <a:solidFill>
                  <a:schemeClr val="tx1"/>
                </a:solidFill>
                <a:effectLst/>
                <a:latin typeface="+mn-lt"/>
                <a:ea typeface="+mn-ea"/>
                <a:cs typeface="+mn-cs"/>
              </a:rPr>
              <a:t> an </a:t>
            </a:r>
            <a:r>
              <a:rPr lang="de-DE" sz="1400" b="0" i="0" kern="1200" dirty="0" err="1">
                <a:solidFill>
                  <a:schemeClr val="tx1"/>
                </a:solidFill>
                <a:effectLst/>
                <a:latin typeface="+mn-lt"/>
                <a:ea typeface="+mn-ea"/>
                <a:cs typeface="+mn-cs"/>
              </a:rPr>
              <a:t>administrator</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It</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is</a:t>
            </a:r>
            <a:r>
              <a:rPr lang="de-DE" sz="1400" b="0" i="0" kern="1200" dirty="0">
                <a:solidFill>
                  <a:schemeClr val="tx1"/>
                </a:solidFill>
                <a:effectLst/>
                <a:latin typeface="+mn-lt"/>
                <a:ea typeface="+mn-ea"/>
                <a:cs typeface="+mn-cs"/>
              </a:rPr>
              <a:t> a </a:t>
            </a:r>
            <a:r>
              <a:rPr lang="de-DE" sz="1400" b="0" i="0" kern="1200" dirty="0" err="1">
                <a:solidFill>
                  <a:schemeClr val="tx1"/>
                </a:solidFill>
                <a:effectLst/>
                <a:latin typeface="+mn-lt"/>
                <a:ea typeface="+mn-ea"/>
                <a:cs typeface="+mn-cs"/>
              </a:rPr>
              <a:t>resource</a:t>
            </a:r>
            <a:r>
              <a:rPr lang="de-DE" sz="1400" b="0" i="0" kern="1200" dirty="0">
                <a:solidFill>
                  <a:schemeClr val="tx1"/>
                </a:solidFill>
                <a:effectLst/>
                <a:latin typeface="+mn-lt"/>
                <a:ea typeface="+mn-ea"/>
                <a:cs typeface="+mn-cs"/>
              </a:rPr>
              <a:t> in </a:t>
            </a:r>
            <a:r>
              <a:rPr lang="de-DE" sz="1400" b="0" i="0" kern="1200" dirty="0" err="1">
                <a:solidFill>
                  <a:schemeClr val="tx1"/>
                </a:solidFill>
                <a:effectLst/>
                <a:latin typeface="+mn-lt"/>
                <a:ea typeface="+mn-ea"/>
                <a:cs typeface="+mn-cs"/>
              </a:rPr>
              <a:t>the</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cluster</a:t>
            </a:r>
            <a:r>
              <a:rPr lang="de-DE" sz="1400" b="0" i="0" kern="1200" dirty="0">
                <a:solidFill>
                  <a:schemeClr val="tx1"/>
                </a:solidFill>
                <a:effectLst/>
                <a:latin typeface="+mn-lt"/>
                <a:ea typeface="+mn-ea"/>
                <a:cs typeface="+mn-cs"/>
              </a:rPr>
              <a:t> just like a </a:t>
            </a:r>
            <a:r>
              <a:rPr lang="de-DE" sz="1400" b="0" i="0" kern="1200" dirty="0" err="1">
                <a:solidFill>
                  <a:schemeClr val="tx1"/>
                </a:solidFill>
                <a:effectLst/>
                <a:latin typeface="+mn-lt"/>
                <a:ea typeface="+mn-ea"/>
                <a:cs typeface="+mn-cs"/>
              </a:rPr>
              <a:t>node</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is</a:t>
            </a:r>
            <a:r>
              <a:rPr lang="de-DE" sz="1400" b="0" i="0" kern="1200" dirty="0">
                <a:solidFill>
                  <a:schemeClr val="tx1"/>
                </a:solidFill>
                <a:effectLst/>
                <a:latin typeface="+mn-lt"/>
                <a:ea typeface="+mn-ea"/>
                <a:cs typeface="+mn-cs"/>
              </a:rPr>
              <a:t> a </a:t>
            </a:r>
            <a:r>
              <a:rPr lang="de-DE" sz="1400" b="0" i="0" kern="1200" dirty="0" err="1">
                <a:solidFill>
                  <a:schemeClr val="tx1"/>
                </a:solidFill>
                <a:effectLst/>
                <a:latin typeface="+mn-lt"/>
                <a:ea typeface="+mn-ea"/>
                <a:cs typeface="+mn-cs"/>
              </a:rPr>
              <a:t>cluster</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resource</a:t>
            </a:r>
            <a:r>
              <a:rPr lang="de-DE" sz="1400" b="0" i="0" kern="1200" dirty="0">
                <a:solidFill>
                  <a:schemeClr val="tx1"/>
                </a:solidFill>
                <a:effectLst/>
                <a:latin typeface="+mn-lt"/>
                <a:ea typeface="+mn-ea"/>
                <a:cs typeface="+mn-cs"/>
              </a:rPr>
              <a:t>. PVs </a:t>
            </a:r>
            <a:r>
              <a:rPr lang="de-DE" sz="1400" b="0" i="0" kern="1200" dirty="0" err="1">
                <a:solidFill>
                  <a:schemeClr val="tx1"/>
                </a:solidFill>
                <a:effectLst/>
                <a:latin typeface="+mn-lt"/>
                <a:ea typeface="+mn-ea"/>
                <a:cs typeface="+mn-cs"/>
              </a:rPr>
              <a:t>are</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volume</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plugins</a:t>
            </a:r>
            <a:r>
              <a:rPr lang="de-DE" sz="1400" b="0" i="0" kern="1200" dirty="0">
                <a:solidFill>
                  <a:schemeClr val="tx1"/>
                </a:solidFill>
                <a:effectLst/>
                <a:latin typeface="+mn-lt"/>
                <a:ea typeface="+mn-ea"/>
                <a:cs typeface="+mn-cs"/>
              </a:rPr>
              <a:t> like </a:t>
            </a:r>
            <a:r>
              <a:rPr lang="de-DE" sz="1400" b="0" i="0" kern="1200" dirty="0" err="1">
                <a:solidFill>
                  <a:schemeClr val="tx1"/>
                </a:solidFill>
                <a:effectLst/>
                <a:latin typeface="+mn-lt"/>
                <a:ea typeface="+mn-ea"/>
                <a:cs typeface="+mn-cs"/>
              </a:rPr>
              <a:t>Volumes</a:t>
            </a:r>
            <a:r>
              <a:rPr lang="de-DE" sz="1400" b="0" i="0" kern="1200" dirty="0">
                <a:solidFill>
                  <a:schemeClr val="tx1"/>
                </a:solidFill>
                <a:effectLst/>
                <a:latin typeface="+mn-lt"/>
                <a:ea typeface="+mn-ea"/>
                <a:cs typeface="+mn-cs"/>
              </a:rPr>
              <a:t>, but </a:t>
            </a:r>
            <a:r>
              <a:rPr lang="de-DE" sz="1400" b="0" i="0" kern="1200" dirty="0" err="1">
                <a:solidFill>
                  <a:schemeClr val="tx1"/>
                </a:solidFill>
                <a:effectLst/>
                <a:latin typeface="+mn-lt"/>
                <a:ea typeface="+mn-ea"/>
                <a:cs typeface="+mn-cs"/>
              </a:rPr>
              <a:t>have</a:t>
            </a:r>
            <a:r>
              <a:rPr lang="de-DE" sz="1400" b="0" i="0" kern="1200" dirty="0">
                <a:solidFill>
                  <a:schemeClr val="tx1"/>
                </a:solidFill>
                <a:effectLst/>
                <a:latin typeface="+mn-lt"/>
                <a:ea typeface="+mn-ea"/>
                <a:cs typeface="+mn-cs"/>
              </a:rPr>
              <a:t> a </a:t>
            </a:r>
            <a:r>
              <a:rPr lang="de-DE" sz="1400" b="0" i="0" kern="1200" dirty="0" err="1">
                <a:solidFill>
                  <a:schemeClr val="tx1"/>
                </a:solidFill>
                <a:effectLst/>
                <a:latin typeface="+mn-lt"/>
                <a:ea typeface="+mn-ea"/>
                <a:cs typeface="+mn-cs"/>
              </a:rPr>
              <a:t>lifecycle</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independent</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of</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any</a:t>
            </a:r>
            <a:r>
              <a:rPr lang="de-DE" sz="1400" b="0" i="0" kern="1200" dirty="0">
                <a:solidFill>
                  <a:schemeClr val="tx1"/>
                </a:solidFill>
                <a:effectLst/>
                <a:latin typeface="+mn-lt"/>
                <a:ea typeface="+mn-ea"/>
                <a:cs typeface="+mn-cs"/>
              </a:rPr>
              <a:t> individual </a:t>
            </a:r>
            <a:r>
              <a:rPr lang="de-DE" sz="1400" b="0" i="0" kern="1200" dirty="0" err="1">
                <a:solidFill>
                  <a:schemeClr val="tx1"/>
                </a:solidFill>
                <a:effectLst/>
                <a:latin typeface="+mn-lt"/>
                <a:ea typeface="+mn-ea"/>
                <a:cs typeface="+mn-cs"/>
              </a:rPr>
              <a:t>pod</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that</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uses</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the</a:t>
            </a:r>
            <a:r>
              <a:rPr lang="de-DE" sz="1400" b="0" i="0" kern="1200" dirty="0">
                <a:solidFill>
                  <a:schemeClr val="tx1"/>
                </a:solidFill>
                <a:effectLst/>
                <a:latin typeface="+mn-lt"/>
                <a:ea typeface="+mn-ea"/>
                <a:cs typeface="+mn-cs"/>
              </a:rPr>
              <a:t> PV. This API </a:t>
            </a:r>
            <a:r>
              <a:rPr lang="de-DE" sz="1400" b="0" i="0" kern="1200" dirty="0" err="1">
                <a:solidFill>
                  <a:schemeClr val="tx1"/>
                </a:solidFill>
                <a:effectLst/>
                <a:latin typeface="+mn-lt"/>
                <a:ea typeface="+mn-ea"/>
                <a:cs typeface="+mn-cs"/>
              </a:rPr>
              <a:t>object</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captures</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the</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details</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of</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the</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implementation</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of</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the</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storage</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be</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that</a:t>
            </a:r>
            <a:r>
              <a:rPr lang="de-DE" sz="1400" b="0" i="0" kern="1200" dirty="0">
                <a:solidFill>
                  <a:schemeClr val="tx1"/>
                </a:solidFill>
                <a:effectLst/>
                <a:latin typeface="+mn-lt"/>
                <a:ea typeface="+mn-ea"/>
                <a:cs typeface="+mn-cs"/>
              </a:rPr>
              <a:t> NFS, </a:t>
            </a:r>
            <a:r>
              <a:rPr lang="de-DE" sz="1400" b="0" i="0" kern="1200" dirty="0" err="1">
                <a:solidFill>
                  <a:schemeClr val="tx1"/>
                </a:solidFill>
                <a:effectLst/>
                <a:latin typeface="+mn-lt"/>
                <a:ea typeface="+mn-ea"/>
                <a:cs typeface="+mn-cs"/>
              </a:rPr>
              <a:t>iSCSI</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or</a:t>
            </a:r>
            <a:r>
              <a:rPr lang="de-DE" sz="1400" b="0" i="0" kern="1200" dirty="0">
                <a:solidFill>
                  <a:schemeClr val="tx1"/>
                </a:solidFill>
                <a:effectLst/>
                <a:latin typeface="+mn-lt"/>
                <a:ea typeface="+mn-ea"/>
                <a:cs typeface="+mn-cs"/>
              </a:rPr>
              <a:t> a </a:t>
            </a:r>
            <a:r>
              <a:rPr lang="de-DE" sz="1400" b="0" i="0" kern="1200" dirty="0" err="1">
                <a:solidFill>
                  <a:schemeClr val="tx1"/>
                </a:solidFill>
                <a:effectLst/>
                <a:latin typeface="+mn-lt"/>
                <a:ea typeface="+mn-ea"/>
                <a:cs typeface="+mn-cs"/>
              </a:rPr>
              <a:t>cloud</a:t>
            </a:r>
            <a:r>
              <a:rPr lang="de-DE" sz="1400" b="0" i="0" kern="1200" dirty="0">
                <a:solidFill>
                  <a:schemeClr val="tx1"/>
                </a:solidFill>
                <a:effectLst/>
                <a:latin typeface="+mn-lt"/>
                <a:ea typeface="+mn-ea"/>
                <a:cs typeface="+mn-cs"/>
              </a:rPr>
              <a:t>-provider-</a:t>
            </a:r>
            <a:r>
              <a:rPr lang="de-DE" sz="1400" b="0" i="0" kern="1200" dirty="0" err="1">
                <a:solidFill>
                  <a:schemeClr val="tx1"/>
                </a:solidFill>
                <a:effectLst/>
                <a:latin typeface="+mn-lt"/>
                <a:ea typeface="+mn-ea"/>
                <a:cs typeface="+mn-cs"/>
              </a:rPr>
              <a:t>specific</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storage</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system</a:t>
            </a:r>
            <a:r>
              <a:rPr lang="de-DE" sz="1400" b="0" i="0" kern="1200" dirty="0">
                <a:solidFill>
                  <a:schemeClr val="tx1"/>
                </a:solidFill>
                <a:effectLst/>
                <a:latin typeface="+mn-lt"/>
                <a:ea typeface="+mn-ea"/>
                <a:cs typeface="+mn-cs"/>
              </a:rPr>
              <a:t>.</a:t>
            </a:r>
          </a:p>
          <a:p>
            <a:endParaRPr lang="de-DE" sz="1400" b="0" i="0" kern="1200" dirty="0">
              <a:solidFill>
                <a:schemeClr val="tx1"/>
              </a:solidFill>
              <a:effectLst/>
              <a:latin typeface="+mn-lt"/>
              <a:ea typeface="+mn-ea"/>
              <a:cs typeface="+mn-cs"/>
            </a:endParaRPr>
          </a:p>
          <a:p>
            <a:r>
              <a:rPr lang="de-DE" sz="1400" b="0" i="0" kern="1200" dirty="0">
                <a:solidFill>
                  <a:schemeClr val="tx1"/>
                </a:solidFill>
                <a:effectLst/>
                <a:latin typeface="+mn-lt"/>
                <a:ea typeface="+mn-ea"/>
                <a:cs typeface="+mn-cs"/>
              </a:rPr>
              <a:t>A </a:t>
            </a:r>
            <a:r>
              <a:rPr lang="de-DE" sz="1400" b="1" i="0" kern="1200" dirty="0" err="1">
                <a:solidFill>
                  <a:schemeClr val="tx1"/>
                </a:solidFill>
                <a:effectLst/>
                <a:latin typeface="+mn-lt"/>
                <a:ea typeface="+mn-ea"/>
                <a:cs typeface="+mn-cs"/>
              </a:rPr>
              <a:t>PersistentVolumeClaim</a:t>
            </a:r>
            <a:r>
              <a:rPr lang="de-DE" sz="1400" b="0" i="0" kern="1200" dirty="0">
                <a:solidFill>
                  <a:schemeClr val="tx1"/>
                </a:solidFill>
                <a:effectLst/>
                <a:latin typeface="+mn-lt"/>
                <a:ea typeface="+mn-ea"/>
                <a:cs typeface="+mn-cs"/>
              </a:rPr>
              <a:t> (PVC) </a:t>
            </a:r>
            <a:r>
              <a:rPr lang="de-DE" sz="1400" b="0" i="0" kern="1200" dirty="0" err="1">
                <a:solidFill>
                  <a:schemeClr val="tx1"/>
                </a:solidFill>
                <a:effectLst/>
                <a:latin typeface="+mn-lt"/>
                <a:ea typeface="+mn-ea"/>
                <a:cs typeface="+mn-cs"/>
              </a:rPr>
              <a:t>is</a:t>
            </a:r>
            <a:r>
              <a:rPr lang="de-DE" sz="1400" b="0" i="0" kern="1200" dirty="0">
                <a:solidFill>
                  <a:schemeClr val="tx1"/>
                </a:solidFill>
                <a:effectLst/>
                <a:latin typeface="+mn-lt"/>
                <a:ea typeface="+mn-ea"/>
                <a:cs typeface="+mn-cs"/>
              </a:rPr>
              <a:t> a </a:t>
            </a:r>
            <a:r>
              <a:rPr lang="de-DE" sz="1400" b="0" i="0" kern="1200" dirty="0" err="1">
                <a:solidFill>
                  <a:schemeClr val="tx1"/>
                </a:solidFill>
                <a:effectLst/>
                <a:latin typeface="+mn-lt"/>
                <a:ea typeface="+mn-ea"/>
                <a:cs typeface="+mn-cs"/>
              </a:rPr>
              <a:t>request</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for</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storage</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by</a:t>
            </a:r>
            <a:r>
              <a:rPr lang="de-DE" sz="1400" b="0" i="0" kern="1200" dirty="0">
                <a:solidFill>
                  <a:schemeClr val="tx1"/>
                </a:solidFill>
                <a:effectLst/>
                <a:latin typeface="+mn-lt"/>
                <a:ea typeface="+mn-ea"/>
                <a:cs typeface="+mn-cs"/>
              </a:rPr>
              <a:t> a </a:t>
            </a:r>
            <a:r>
              <a:rPr lang="de-DE" sz="1400" b="0" i="0" kern="1200" dirty="0" err="1">
                <a:solidFill>
                  <a:schemeClr val="tx1"/>
                </a:solidFill>
                <a:effectLst/>
                <a:latin typeface="+mn-lt"/>
                <a:ea typeface="+mn-ea"/>
                <a:cs typeface="+mn-cs"/>
              </a:rPr>
              <a:t>user</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It</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is</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similar</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to</a:t>
            </a:r>
            <a:r>
              <a:rPr lang="de-DE" sz="1400" b="0" i="0" kern="1200" dirty="0">
                <a:solidFill>
                  <a:schemeClr val="tx1"/>
                </a:solidFill>
                <a:effectLst/>
                <a:latin typeface="+mn-lt"/>
                <a:ea typeface="+mn-ea"/>
                <a:cs typeface="+mn-cs"/>
              </a:rPr>
              <a:t> a </a:t>
            </a:r>
            <a:r>
              <a:rPr lang="de-DE" sz="1400" b="0" i="0" kern="1200" dirty="0" err="1">
                <a:solidFill>
                  <a:schemeClr val="tx1"/>
                </a:solidFill>
                <a:effectLst/>
                <a:latin typeface="+mn-lt"/>
                <a:ea typeface="+mn-ea"/>
                <a:cs typeface="+mn-cs"/>
              </a:rPr>
              <a:t>pod</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Pods</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consume</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node</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resources</a:t>
            </a:r>
            <a:r>
              <a:rPr lang="de-DE" sz="1400" b="0" i="0" kern="1200" dirty="0">
                <a:solidFill>
                  <a:schemeClr val="tx1"/>
                </a:solidFill>
                <a:effectLst/>
                <a:latin typeface="+mn-lt"/>
                <a:ea typeface="+mn-ea"/>
                <a:cs typeface="+mn-cs"/>
              </a:rPr>
              <a:t> and PVCs </a:t>
            </a:r>
            <a:r>
              <a:rPr lang="de-DE" sz="1400" b="0" i="0" kern="1200" dirty="0" err="1">
                <a:solidFill>
                  <a:schemeClr val="tx1"/>
                </a:solidFill>
                <a:effectLst/>
                <a:latin typeface="+mn-lt"/>
                <a:ea typeface="+mn-ea"/>
                <a:cs typeface="+mn-cs"/>
              </a:rPr>
              <a:t>consume</a:t>
            </a:r>
            <a:r>
              <a:rPr lang="de-DE" sz="1400" b="0" i="0" kern="1200" dirty="0">
                <a:solidFill>
                  <a:schemeClr val="tx1"/>
                </a:solidFill>
                <a:effectLst/>
                <a:latin typeface="+mn-lt"/>
                <a:ea typeface="+mn-ea"/>
                <a:cs typeface="+mn-cs"/>
              </a:rPr>
              <a:t> PV </a:t>
            </a:r>
            <a:r>
              <a:rPr lang="de-DE" sz="1400" b="0" i="0" kern="1200" dirty="0" err="1">
                <a:solidFill>
                  <a:schemeClr val="tx1"/>
                </a:solidFill>
                <a:effectLst/>
                <a:latin typeface="+mn-lt"/>
                <a:ea typeface="+mn-ea"/>
                <a:cs typeface="+mn-cs"/>
              </a:rPr>
              <a:t>resources</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Pods</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can</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request</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specific</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levels</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of</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resources</a:t>
            </a:r>
            <a:r>
              <a:rPr lang="de-DE" sz="1400" b="0" i="0" kern="1200" dirty="0">
                <a:solidFill>
                  <a:schemeClr val="tx1"/>
                </a:solidFill>
                <a:effectLst/>
                <a:latin typeface="+mn-lt"/>
                <a:ea typeface="+mn-ea"/>
                <a:cs typeface="+mn-cs"/>
              </a:rPr>
              <a:t> (CPU and Memory). Claims </a:t>
            </a:r>
            <a:r>
              <a:rPr lang="de-DE" sz="1400" b="0" i="0" kern="1200" dirty="0" err="1">
                <a:solidFill>
                  <a:schemeClr val="tx1"/>
                </a:solidFill>
                <a:effectLst/>
                <a:latin typeface="+mn-lt"/>
                <a:ea typeface="+mn-ea"/>
                <a:cs typeface="+mn-cs"/>
              </a:rPr>
              <a:t>can</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request</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specific</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size</a:t>
            </a:r>
            <a:r>
              <a:rPr lang="de-DE" sz="1400" b="0" i="0" kern="1200" dirty="0">
                <a:solidFill>
                  <a:schemeClr val="tx1"/>
                </a:solidFill>
                <a:effectLst/>
                <a:latin typeface="+mn-lt"/>
                <a:ea typeface="+mn-ea"/>
                <a:cs typeface="+mn-cs"/>
              </a:rPr>
              <a:t> and </a:t>
            </a:r>
            <a:r>
              <a:rPr lang="de-DE" sz="1400" b="0" i="0" kern="1200" dirty="0" err="1">
                <a:solidFill>
                  <a:schemeClr val="tx1"/>
                </a:solidFill>
                <a:effectLst/>
                <a:latin typeface="+mn-lt"/>
                <a:ea typeface="+mn-ea"/>
                <a:cs typeface="+mn-cs"/>
              </a:rPr>
              <a:t>access</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modes</a:t>
            </a:r>
            <a:r>
              <a:rPr lang="de-DE" sz="1400" b="0" i="0" kern="1200" dirty="0">
                <a:solidFill>
                  <a:schemeClr val="tx1"/>
                </a:solidFill>
                <a:effectLst/>
                <a:latin typeface="+mn-lt"/>
                <a:ea typeface="+mn-ea"/>
                <a:cs typeface="+mn-cs"/>
              </a:rPr>
              <a:t> (e.g., </a:t>
            </a:r>
            <a:r>
              <a:rPr lang="de-DE" sz="1400" b="0" i="0" kern="1200" dirty="0" err="1">
                <a:solidFill>
                  <a:schemeClr val="tx1"/>
                </a:solidFill>
                <a:effectLst/>
                <a:latin typeface="+mn-lt"/>
                <a:ea typeface="+mn-ea"/>
                <a:cs typeface="+mn-cs"/>
              </a:rPr>
              <a:t>can</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be</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mounted</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once</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read</a:t>
            </a:r>
            <a:r>
              <a:rPr lang="de-DE" sz="1400" b="0" i="0" kern="1200" dirty="0">
                <a:solidFill>
                  <a:schemeClr val="tx1"/>
                </a:solidFill>
                <a:effectLst/>
                <a:latin typeface="+mn-lt"/>
                <a:ea typeface="+mn-ea"/>
                <a:cs typeface="+mn-cs"/>
              </a:rPr>
              <a:t>/</a:t>
            </a:r>
            <a:r>
              <a:rPr lang="de-DE" sz="1400" b="0" i="0" kern="1200" dirty="0" err="1">
                <a:solidFill>
                  <a:schemeClr val="tx1"/>
                </a:solidFill>
                <a:effectLst/>
                <a:latin typeface="+mn-lt"/>
                <a:ea typeface="+mn-ea"/>
                <a:cs typeface="+mn-cs"/>
              </a:rPr>
              <a:t>write</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or</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many</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times</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read-only</a:t>
            </a:r>
            <a:r>
              <a:rPr lang="de-DE" sz="1400" b="0" i="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8</a:t>
            </a:fld>
            <a:endParaRPr lang="en-US" dirty="0"/>
          </a:p>
        </p:txBody>
      </p:sp>
    </p:spTree>
    <p:extLst>
      <p:ext uri="{BB962C8B-B14F-4D97-AF65-F5344CB8AC3E}">
        <p14:creationId xmlns:p14="http://schemas.microsoft.com/office/powerpoint/2010/main" val="15453200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PV is always bound by exactly 1 PVC. There is no real order but Kubernetes tries to create matches between requested and provisioned size.</a:t>
            </a:r>
          </a:p>
          <a:p>
            <a:r>
              <a:rPr lang="en-US" dirty="0"/>
              <a:t>Problem: the match making is based on “equals or greater”. So if the PVC requests 1GB but there is only one PVC with 50GB available, it will be bound nevertheless (and “waste” 49GB)</a:t>
            </a:r>
          </a:p>
        </p:txBody>
      </p:sp>
      <p:sp>
        <p:nvSpPr>
          <p:cNvPr id="4" name="Slide Number Placeholder 3"/>
          <p:cNvSpPr>
            <a:spLocks noGrp="1"/>
          </p:cNvSpPr>
          <p:nvPr>
            <p:ph type="sldNum" sz="quarter" idx="10"/>
          </p:nvPr>
        </p:nvSpPr>
        <p:spPr/>
        <p:txBody>
          <a:bodyPr/>
          <a:lstStyle/>
          <a:p>
            <a:fld id="{7D8C2C35-2B8A-446E-BEC0-FD36716C29AC}" type="slidenum">
              <a:rPr lang="en-US" smtClean="0"/>
              <a:pPr/>
              <a:t>9</a:t>
            </a:fld>
            <a:endParaRPr lang="en-US" dirty="0"/>
          </a:p>
        </p:txBody>
      </p:sp>
    </p:spTree>
    <p:extLst>
      <p:ext uri="{BB962C8B-B14F-4D97-AF65-F5344CB8AC3E}">
        <p14:creationId xmlns:p14="http://schemas.microsoft.com/office/powerpoint/2010/main" val="28440798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to the PV-PVC bind mechanism, it might happen that storage is claimed by the “wrong” requests. Storage classes overcome this issue by reversing the order. Firstly create a PVC and the storage class provides a fitting PV. </a:t>
            </a:r>
          </a:p>
          <a:p>
            <a:endParaRPr lang="en-US" dirty="0"/>
          </a:p>
          <a:p>
            <a:r>
              <a:rPr lang="en-US" dirty="0"/>
              <a:t>On Kubernetes level a storage class is a piece of software running inside the cluster that also is able to administer the </a:t>
            </a:r>
            <a:r>
              <a:rPr lang="en-US"/>
              <a:t>storage backend.</a:t>
            </a:r>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10</a:t>
            </a:fld>
            <a:endParaRPr lang="en-US" dirty="0"/>
          </a:p>
        </p:txBody>
      </p:sp>
    </p:spTree>
    <p:extLst>
      <p:ext uri="{BB962C8B-B14F-4D97-AF65-F5344CB8AC3E}">
        <p14:creationId xmlns:p14="http://schemas.microsoft.com/office/powerpoint/2010/main" val="22025636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CSI – Container Storage Interface</a:t>
            </a:r>
          </a:p>
          <a:p>
            <a:endParaRPr lang="en-US" dirty="0"/>
          </a:p>
          <a:p>
            <a:pPr marL="342900" indent="-342900">
              <a:buAutoNum type="arabicPeriod"/>
            </a:pPr>
            <a:r>
              <a:rPr lang="en-US" dirty="0"/>
              <a:t>User requests a PVC</a:t>
            </a:r>
          </a:p>
          <a:p>
            <a:pPr marL="342900" indent="-342900">
              <a:buAutoNum type="arabicPeriod"/>
            </a:pPr>
            <a:r>
              <a:rPr lang="en-US" dirty="0" err="1"/>
              <a:t>StorageClass</a:t>
            </a:r>
            <a:r>
              <a:rPr lang="en-US" dirty="0"/>
              <a:t> is triggered to provision a PV</a:t>
            </a:r>
          </a:p>
          <a:p>
            <a:pPr marL="342900" indent="-342900">
              <a:buAutoNum type="arabicPeriod"/>
            </a:pPr>
            <a:r>
              <a:rPr lang="en-US" dirty="0"/>
              <a:t>PV is backed by a physical volume, which is made available via the container storage interface</a:t>
            </a:r>
          </a:p>
          <a:p>
            <a:pPr marL="342900" indent="-342900">
              <a:buAutoNum type="arabicPeriod"/>
            </a:pPr>
            <a:endParaRPr lang="en-US" dirty="0"/>
          </a:p>
          <a:p>
            <a:pPr marL="0" indent="0">
              <a:buNone/>
            </a:pPr>
            <a:r>
              <a:rPr lang="en-US" dirty="0"/>
              <a:t>Depending on the CSI driver used, all kinds of storage backends can be exposed.</a:t>
            </a:r>
          </a:p>
        </p:txBody>
      </p:sp>
      <p:sp>
        <p:nvSpPr>
          <p:cNvPr id="4" name="Slide Number Placeholder 3"/>
          <p:cNvSpPr>
            <a:spLocks noGrp="1"/>
          </p:cNvSpPr>
          <p:nvPr>
            <p:ph type="sldNum" sz="quarter" idx="5"/>
          </p:nvPr>
        </p:nvSpPr>
        <p:spPr/>
        <p:txBody>
          <a:bodyPr/>
          <a:lstStyle/>
          <a:p>
            <a:fld id="{7D8C2C35-2B8A-446E-BEC0-FD36716C29AC}" type="slidenum">
              <a:rPr lang="de-DE" smtClean="0"/>
              <a:pPr/>
              <a:t>11</a:t>
            </a:fld>
            <a:endParaRPr lang="de-DE" dirty="0"/>
          </a:p>
        </p:txBody>
      </p:sp>
    </p:spTree>
    <p:extLst>
      <p:ext uri="{BB962C8B-B14F-4D97-AF65-F5344CB8AC3E}">
        <p14:creationId xmlns:p14="http://schemas.microsoft.com/office/powerpoint/2010/main" val="9527476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use of a CSI provisioned volume:</a:t>
            </a:r>
          </a:p>
          <a:p>
            <a:pPr marL="342900" indent="-342900">
              <a:buAutoNum type="arabicPeriod"/>
            </a:pPr>
            <a:r>
              <a:rPr lang="en-US" dirty="0"/>
              <a:t>User requests to schedule a pod</a:t>
            </a:r>
          </a:p>
          <a:p>
            <a:pPr marL="342900" indent="-342900">
              <a:buAutoNum type="arabicPeriod"/>
            </a:pPr>
            <a:r>
              <a:rPr lang="en-US" dirty="0"/>
              <a:t>The pod used a PVC</a:t>
            </a:r>
          </a:p>
          <a:p>
            <a:pPr marL="342900" indent="-342900">
              <a:buAutoNum type="arabicPeriod"/>
            </a:pPr>
            <a:r>
              <a:rPr lang="en-US" dirty="0"/>
              <a:t>To get the volume mounted to the respective node, a </a:t>
            </a:r>
            <a:r>
              <a:rPr lang="en-US" dirty="0" err="1"/>
              <a:t>VolumeAttachment</a:t>
            </a:r>
            <a:r>
              <a:rPr lang="en-US" dirty="0"/>
              <a:t> gets issued</a:t>
            </a:r>
          </a:p>
          <a:p>
            <a:pPr marL="342900" indent="-342900">
              <a:buAutoNum type="arabicPeriod"/>
            </a:pPr>
            <a:r>
              <a:rPr lang="en-US" dirty="0"/>
              <a:t>The CSI driver that also provisioned the volume reacts and ensures the volume gets mounted to the node.</a:t>
            </a:r>
          </a:p>
        </p:txBody>
      </p:sp>
      <p:sp>
        <p:nvSpPr>
          <p:cNvPr id="4" name="Slide Number Placeholder 3"/>
          <p:cNvSpPr>
            <a:spLocks noGrp="1"/>
          </p:cNvSpPr>
          <p:nvPr>
            <p:ph type="sldNum" sz="quarter" idx="5"/>
          </p:nvPr>
        </p:nvSpPr>
        <p:spPr/>
        <p:txBody>
          <a:bodyPr/>
          <a:lstStyle/>
          <a:p>
            <a:fld id="{7D8C2C35-2B8A-446E-BEC0-FD36716C29AC}" type="slidenum">
              <a:rPr lang="de-DE" smtClean="0"/>
              <a:pPr/>
              <a:t>12</a:t>
            </a:fld>
            <a:endParaRPr lang="de-DE" dirty="0"/>
          </a:p>
        </p:txBody>
      </p:sp>
    </p:spTree>
    <p:extLst>
      <p:ext uri="{BB962C8B-B14F-4D97-AF65-F5344CB8AC3E}">
        <p14:creationId xmlns:p14="http://schemas.microsoft.com/office/powerpoint/2010/main" val="31675281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Upon deletion of the claim object the persistent volume becomes “unbound”. </a:t>
            </a:r>
          </a:p>
          <a:p>
            <a:r>
              <a:rPr lang="en-US" dirty="0"/>
              <a:t>There are 3 scenarios:</a:t>
            </a:r>
          </a:p>
          <a:p>
            <a:pPr marL="285750" indent="-285750">
              <a:buFontTx/>
              <a:buChar char="-"/>
            </a:pPr>
            <a:r>
              <a:rPr lang="en-US" dirty="0"/>
              <a:t>Retain: nothing happens, the PV will remain until an administrator deals with it. The data is not (yet) deleted.</a:t>
            </a:r>
          </a:p>
          <a:p>
            <a:pPr marL="285750" indent="-285750">
              <a:buFontTx/>
              <a:buChar char="-"/>
            </a:pPr>
            <a:r>
              <a:rPr lang="en-US" dirty="0"/>
              <a:t>Delete:  together with the PVC also the PV will be deleted. All data is gone.</a:t>
            </a:r>
          </a:p>
          <a:p>
            <a:pPr marL="285750" indent="-285750">
              <a:buFontTx/>
              <a:buChar char="-"/>
            </a:pPr>
            <a:r>
              <a:rPr lang="en-US" dirty="0"/>
              <a:t>Recycle (deprecated):  remove all data and make PV available to be bound again by a different PVC</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13</a:t>
            </a:fld>
            <a:endParaRPr lang="de-DE" dirty="0"/>
          </a:p>
        </p:txBody>
      </p:sp>
    </p:spTree>
    <p:extLst>
      <p:ext uri="{BB962C8B-B14F-4D97-AF65-F5344CB8AC3E}">
        <p14:creationId xmlns:p14="http://schemas.microsoft.com/office/powerpoint/2010/main" val="39900765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https://kubernetes.io/docs/concepts/storage/persistent-volumes/#access-modes</a:t>
            </a:r>
          </a:p>
          <a:p>
            <a:endParaRPr lang="en-US" dirty="0"/>
          </a:p>
          <a:p>
            <a:r>
              <a:rPr lang="en-US" dirty="0"/>
              <a:t>Access modes are tricky. In essence, it describes how PVC may be consumed.</a:t>
            </a:r>
          </a:p>
          <a:p>
            <a:endParaRPr lang="en-US" dirty="0"/>
          </a:p>
          <a:p>
            <a:r>
              <a:rPr lang="en-US" dirty="0"/>
              <a:t>There is a (beta) feature, that allows to apply these conditions on the level of a pod. With RWOP, only a single pod at one point in time can use the PVC (reading &amp; writing data).</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14</a:t>
            </a:fld>
            <a:endParaRPr lang="de-DE" dirty="0"/>
          </a:p>
        </p:txBody>
      </p:sp>
    </p:spTree>
    <p:extLst>
      <p:ext uri="{BB962C8B-B14F-4D97-AF65-F5344CB8AC3E}">
        <p14:creationId xmlns:p14="http://schemas.microsoft.com/office/powerpoint/2010/main" val="24751796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https://kubernetes.io/docs/concepts/storage/persistent-volumes/#access-modes</a:t>
            </a:r>
          </a:p>
          <a:p>
            <a:endParaRPr lang="en-US" dirty="0"/>
          </a:p>
          <a:p>
            <a:r>
              <a:rPr lang="en-US" dirty="0"/>
              <a:t>RWO applies to the node level. Only a single node can mount a volume at a point in time. However, if multiple pods run on the same node, they all can use the volume!</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15</a:t>
            </a:fld>
            <a:endParaRPr lang="de-DE" dirty="0"/>
          </a:p>
        </p:txBody>
      </p:sp>
    </p:spTree>
    <p:extLst>
      <p:ext uri="{BB962C8B-B14F-4D97-AF65-F5344CB8AC3E}">
        <p14:creationId xmlns:p14="http://schemas.microsoft.com/office/powerpoint/2010/main" val="29481436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Technically, it is still a bind-mount, once the disk is attached to a node. Therefore, it is very well possible (even though not necessarily desired) to use the same volume within multiple pods, provided they run on the same node.</a:t>
            </a:r>
          </a:p>
        </p:txBody>
      </p:sp>
      <p:sp>
        <p:nvSpPr>
          <p:cNvPr id="4" name="Slide Number Placeholder 3"/>
          <p:cNvSpPr>
            <a:spLocks noGrp="1"/>
          </p:cNvSpPr>
          <p:nvPr>
            <p:ph type="sldNum" sz="quarter" idx="5"/>
          </p:nvPr>
        </p:nvSpPr>
        <p:spPr/>
        <p:txBody>
          <a:bodyPr/>
          <a:lstStyle/>
          <a:p>
            <a:fld id="{7D8C2C35-2B8A-446E-BEC0-FD36716C29AC}" type="slidenum">
              <a:rPr lang="de-DE" smtClean="0"/>
              <a:pPr/>
              <a:t>16</a:t>
            </a:fld>
            <a:endParaRPr lang="de-DE" dirty="0"/>
          </a:p>
        </p:txBody>
      </p:sp>
    </p:spTree>
    <p:extLst>
      <p:ext uri="{BB962C8B-B14F-4D97-AF65-F5344CB8AC3E}">
        <p14:creationId xmlns:p14="http://schemas.microsoft.com/office/powerpoint/2010/main" val="26293744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Modes depend on the storage backend (physical storage). Example for RWX is NFS</a:t>
            </a:r>
          </a:p>
          <a:p>
            <a:endParaRPr lang="en-US" dirty="0"/>
          </a:p>
          <a:p>
            <a:r>
              <a:rPr lang="en-US" dirty="0"/>
              <a:t>https://kubernetes.io/docs/concepts/storage/persistent-volumes/#access-modes</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17</a:t>
            </a:fld>
            <a:endParaRPr lang="de-DE" dirty="0"/>
          </a:p>
        </p:txBody>
      </p:sp>
    </p:spTree>
    <p:extLst>
      <p:ext uri="{BB962C8B-B14F-4D97-AF65-F5344CB8AC3E}">
        <p14:creationId xmlns:p14="http://schemas.microsoft.com/office/powerpoint/2010/main" val="27301908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Modes depend on the storage backend (physical storage). Example for RWX is NFS</a:t>
            </a:r>
          </a:p>
          <a:p>
            <a:endParaRPr lang="en-US" dirty="0"/>
          </a:p>
          <a:p>
            <a:r>
              <a:rPr lang="en-US" dirty="0"/>
              <a:t>https://kubernetes.io/docs/concepts/storage/persistent-volumes/#access-modes</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18</a:t>
            </a:fld>
            <a:endParaRPr lang="de-DE" dirty="0"/>
          </a:p>
        </p:txBody>
      </p:sp>
    </p:spTree>
    <p:extLst>
      <p:ext uri="{BB962C8B-B14F-4D97-AF65-F5344CB8AC3E}">
        <p14:creationId xmlns:p14="http://schemas.microsoft.com/office/powerpoint/2010/main" val="18911351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Create a PVC from </a:t>
            </a:r>
            <a:r>
              <a:rPr lang="en-US" baseline="0" dirty="0" err="1"/>
              <a:t>yaml</a:t>
            </a:r>
            <a:endParaRPr lang="en-US" baseline="0" dirty="0"/>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Explain the </a:t>
            </a:r>
            <a:r>
              <a:rPr lang="en-US" baseline="0" dirty="0" err="1"/>
              <a:t>waitForFirstConsumer</a:t>
            </a:r>
            <a:r>
              <a:rPr lang="en-US" baseline="0" dirty="0"/>
              <a:t> Policy (storage class will provision the PV only when a pod actually requests to mount the </a:t>
            </a:r>
            <a:r>
              <a:rPr lang="en-US" baseline="0" dirty="0" err="1"/>
              <a:t>pvc</a:t>
            </a:r>
            <a:r>
              <a:rPr lang="en-US" baseline="0" dirty="0"/>
              <a:t>)</a:t>
            </a:r>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Create a deployment which mounts the PVC. Discuss the volume &amp; </a:t>
            </a:r>
            <a:r>
              <a:rPr lang="en-US" baseline="0" dirty="0" err="1"/>
              <a:t>volumeMount</a:t>
            </a:r>
            <a:r>
              <a:rPr lang="en-US" baseline="0" dirty="0"/>
              <a:t> section and highlight the matching names for the volume within the pod spec to make it referenceable.</a:t>
            </a:r>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Show the storage class reference in the PVC </a:t>
            </a:r>
            <a:r>
              <a:rPr lang="en-US" baseline="0" dirty="0" err="1"/>
              <a:t>yaml</a:t>
            </a:r>
            <a:r>
              <a:rPr lang="en-US" baseline="0" dirty="0"/>
              <a:t> and the corresponding storage class within the cluster (</a:t>
            </a:r>
            <a:r>
              <a:rPr lang="en-US" baseline="0" dirty="0" err="1"/>
              <a:t>kubectl</a:t>
            </a:r>
            <a:r>
              <a:rPr lang="en-US" baseline="0" dirty="0"/>
              <a:t> get </a:t>
            </a:r>
            <a:r>
              <a:rPr lang="en-US" baseline="0" dirty="0" err="1"/>
              <a:t>storageclass</a:t>
            </a:r>
            <a:r>
              <a:rPr lang="en-US" baseline="0" dirty="0"/>
              <a:t>). These have to match!</a:t>
            </a:r>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Query the PV’s and outline the connection between the PVC in the namespace and the PV. Print out the PV </a:t>
            </a:r>
            <a:r>
              <a:rPr lang="en-US" baseline="0" dirty="0" err="1"/>
              <a:t>yaml</a:t>
            </a:r>
            <a:r>
              <a:rPr lang="en-US" baseline="0" dirty="0"/>
              <a:t> and highlight that there is no namespace as PV resources are not </a:t>
            </a:r>
            <a:r>
              <a:rPr lang="en-US" baseline="0" dirty="0" err="1"/>
              <a:t>namespaced</a:t>
            </a:r>
            <a:r>
              <a:rPr lang="en-US" baseline="0" dirty="0"/>
              <a:t>.</a:t>
            </a:r>
          </a:p>
          <a:p>
            <a:pPr marL="285750" marR="0" lvl="0" indent="-285750" algn="l" defTabSz="1088776" rtl="0" eaLnBrk="1" fontAlgn="auto" latinLnBrk="0" hangingPunct="1">
              <a:lnSpc>
                <a:spcPct val="100000"/>
              </a:lnSpc>
              <a:spcBef>
                <a:spcPts val="0"/>
              </a:spcBef>
              <a:spcAft>
                <a:spcPts val="0"/>
              </a:spcAft>
              <a:buClrTx/>
              <a:buSzTx/>
              <a:buFontTx/>
              <a:buChar char="-"/>
              <a:tabLst/>
              <a:defRPr/>
            </a:pPr>
            <a:endParaRPr lang="en-US" baseline="0" dirty="0"/>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Once the pod is created, logon to it and create some content.</a:t>
            </a:r>
          </a:p>
          <a:p>
            <a:pPr marL="285750" marR="0" lvl="0" indent="-285750" algn="l" defTabSz="1088776" rtl="0" eaLnBrk="1" fontAlgn="auto" latinLnBrk="0" hangingPunct="1">
              <a:lnSpc>
                <a:spcPct val="100000"/>
              </a:lnSpc>
              <a:spcBef>
                <a:spcPts val="0"/>
              </a:spcBef>
              <a:spcAft>
                <a:spcPts val="0"/>
              </a:spcAft>
              <a:buClrTx/>
              <a:buSzTx/>
              <a:buFontTx/>
              <a:buChar char="-"/>
              <a:tabLst/>
              <a:defRPr/>
            </a:pPr>
            <a:endParaRPr lang="en-US" baseline="0" dirty="0"/>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Next, scale the deployment that attempts to mount the same PVC. </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Discuss the error message (</a:t>
            </a:r>
            <a:r>
              <a:rPr lang="en-US" baseline="0" dirty="0" err="1"/>
              <a:t>kubectl</a:t>
            </a:r>
            <a:r>
              <a:rPr lang="en-US" baseline="0" dirty="0"/>
              <a:t> describe pod &lt;pod of a deployment&gt;)</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Outline the implication of the access-mode. If the PVC is already bound once in RWO mode, it cannot be bound in any other mode. </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Highlight, that if a pod already runs on a node and mounts a volume a 2</a:t>
            </a:r>
            <a:r>
              <a:rPr lang="en-US" baseline="30000" dirty="0"/>
              <a:t>nd</a:t>
            </a:r>
            <a:r>
              <a:rPr lang="en-US" baseline="0" dirty="0"/>
              <a:t> pod can start on the same node and also use this volume (which of course </a:t>
            </a:r>
            <a:r>
              <a:rPr lang="en-US" baseline="0"/>
              <a:t>is dangerous) </a:t>
            </a:r>
            <a:endParaRPr lang="en-US" baseline="0"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19</a:t>
            </a:fld>
            <a:endParaRPr lang="de-DE" dirty="0"/>
          </a:p>
        </p:txBody>
      </p:sp>
    </p:spTree>
    <p:extLst>
      <p:ext uri="{BB962C8B-B14F-4D97-AF65-F5344CB8AC3E}">
        <p14:creationId xmlns:p14="http://schemas.microsoft.com/office/powerpoint/2010/main" val="8305411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7D8C2C35-2B8A-446E-BEC0-FD36716C29AC}" type="slidenum">
              <a:rPr lang="en-US" smtClean="0"/>
              <a:pPr/>
              <a:t>21</a:t>
            </a:fld>
            <a:endParaRPr lang="en-US" dirty="0"/>
          </a:p>
        </p:txBody>
      </p:sp>
      <p:sp>
        <p:nvSpPr>
          <p:cNvPr id="6" name="Slide Image Placeholder 5"/>
          <p:cNvSpPr>
            <a:spLocks noGrp="1" noRot="1" noChangeAspect="1"/>
          </p:cNvSpPr>
          <p:nvPr>
            <p:ph type="sldImg"/>
          </p:nvPr>
        </p:nvSpPr>
        <p:spPr>
          <a:xfrm>
            <a:off x="547688" y="612775"/>
            <a:ext cx="5762625" cy="3241675"/>
          </a:xfrm>
        </p:spPr>
      </p:sp>
      <p:sp>
        <p:nvSpPr>
          <p:cNvPr id="7" name="Notes Placeholder 6"/>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5442643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hyperlink" Target="http://global.sap.com/corporate-en/legal/copyright/index.epx" TargetMode="Externa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hyperlink" Target="http://www.sap.com/corporate-de/legal/copyright/index.epx"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with image">
    <p:spTree>
      <p:nvGrpSpPr>
        <p:cNvPr id="1" name=""/>
        <p:cNvGrpSpPr/>
        <p:nvPr/>
      </p:nvGrpSpPr>
      <p:grpSpPr>
        <a:xfrm>
          <a:off x="0" y="0"/>
          <a:ext cx="0" cy="0"/>
          <a:chOff x="0" y="0"/>
          <a:chExt cx="0" cy="0"/>
        </a:xfrm>
      </p:grpSpPr>
      <p:sp>
        <p:nvSpPr>
          <p:cNvPr id="5" name="Cover Image Placeholder"/>
          <p:cNvSpPr>
            <a:spLocks noGrp="1"/>
          </p:cNvSpPr>
          <p:nvPr>
            <p:ph type="pic" sz="quarter" idx="12" hasCustomPrompt="1"/>
          </p:nvPr>
        </p:nvSpPr>
        <p:spPr>
          <a:xfrm>
            <a:off x="1" y="0"/>
            <a:ext cx="12195175" cy="3430006"/>
          </a:xfrm>
          <a:solidFill>
            <a:schemeClr val="tx2">
              <a:alpha val="70000"/>
            </a:schemeClr>
          </a:solidFill>
        </p:spPr>
        <p:txBody>
          <a:bodyPr tIns="504000"/>
          <a:lstStyle>
            <a:lvl1pPr algn="ctr">
              <a:defRPr sz="1600">
                <a:solidFill>
                  <a:schemeClr val="tx1"/>
                </a:solidFill>
              </a:defRPr>
            </a:lvl1pPr>
          </a:lstStyle>
          <a:p>
            <a:r>
              <a:rPr lang="en-US" dirty="0"/>
              <a:t>Click to insert title image</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grpSp>
        <p:nvGrpSpPr>
          <p:cNvPr id="2" name="Group 1"/>
          <p:cNvGrpSpPr/>
          <p:nvPr userDrawn="1"/>
        </p:nvGrpSpPr>
        <p:grpSpPr>
          <a:xfrm>
            <a:off x="9171173" y="0"/>
            <a:ext cx="3024002" cy="3430006"/>
            <a:chOff x="9171173" y="0"/>
            <a:chExt cx="3024002" cy="3430006"/>
          </a:xfrm>
        </p:grpSpPr>
        <p:sp>
          <p:nvSpPr>
            <p:cNvPr id="17" name="Rectangle 16"/>
            <p:cNvSpPr/>
            <p:nvPr userDrawn="1"/>
          </p:nvSpPr>
          <p:spPr bwMode="gray">
            <a:xfrm>
              <a:off x="11187175" y="0"/>
              <a:ext cx="1008000" cy="3430006"/>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3430006"/>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3430006"/>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24527176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ith illustration scene art">
    <p:spTree>
      <p:nvGrpSpPr>
        <p:cNvPr id="1" name=""/>
        <p:cNvGrpSpPr/>
        <p:nvPr/>
      </p:nvGrpSpPr>
      <p:grpSpPr>
        <a:xfrm>
          <a:off x="0" y="0"/>
          <a:ext cx="0" cy="0"/>
          <a:chOff x="0" y="0"/>
          <a:chExt cx="0" cy="0"/>
        </a:xfrm>
      </p:grpSpPr>
      <p:sp>
        <p:nvSpPr>
          <p:cNvPr id="5" name="Cover Image Placeholder"/>
          <p:cNvSpPr>
            <a:spLocks noGrp="1"/>
          </p:cNvSpPr>
          <p:nvPr>
            <p:ph type="pic" sz="quarter" idx="12" hasCustomPrompt="1"/>
          </p:nvPr>
        </p:nvSpPr>
        <p:spPr>
          <a:xfrm>
            <a:off x="1" y="0"/>
            <a:ext cx="12195175" cy="3430006"/>
          </a:xfrm>
          <a:noFill/>
        </p:spPr>
        <p:txBody>
          <a:bodyPr tIns="504000"/>
          <a:lstStyle>
            <a:lvl1pPr algn="ctr">
              <a:defRPr sz="1600">
                <a:solidFill>
                  <a:schemeClr val="tx1"/>
                </a:solidFill>
              </a:defRPr>
            </a:lvl1pPr>
          </a:lstStyle>
          <a:p>
            <a:r>
              <a:rPr lang="en-US" dirty="0"/>
              <a:t>Click to insert illustration scene art</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30188748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black">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6" name="Speaker"/>
          <p:cNvSpPr>
            <a:spLocks noGrp="1"/>
          </p:cNvSpPr>
          <p:nvPr userDrawn="1">
            <p:ph type="subTitle" idx="1" hasCustomPrompt="1"/>
          </p:nvPr>
        </p:nvSpPr>
        <p:spPr bwMode="gray">
          <a:xfrm>
            <a:off x="288000" y="4268503"/>
            <a:ext cx="8595171"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0" y="2706317"/>
            <a:ext cx="8595171"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grpSp>
        <p:nvGrpSpPr>
          <p:cNvPr id="2" name="Group 1"/>
          <p:cNvGrpSpPr/>
          <p:nvPr userDrawn="1"/>
        </p:nvGrpSpPr>
        <p:grpSpPr>
          <a:xfrm>
            <a:off x="9171173" y="0"/>
            <a:ext cx="3024002" cy="6858000"/>
            <a:chOff x="9171173" y="0"/>
            <a:chExt cx="3024002" cy="6855990"/>
          </a:xfrm>
        </p:grpSpPr>
        <p:sp>
          <p:nvSpPr>
            <p:cNvPr id="17" name="Rectangle 16"/>
            <p:cNvSpPr/>
            <p:nvPr userDrawn="1"/>
          </p:nvSpPr>
          <p:spPr bwMode="gray">
            <a:xfrm>
              <a:off x="11187175" y="0"/>
              <a:ext cx="1008000" cy="6855990"/>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685599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685599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Tree>
    <p:extLst>
      <p:ext uri="{BB962C8B-B14F-4D97-AF65-F5344CB8AC3E}">
        <p14:creationId xmlns:p14="http://schemas.microsoft.com/office/powerpoint/2010/main" val="198241062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with pictogram">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6" name="Speaker"/>
          <p:cNvSpPr>
            <a:spLocks noGrp="1"/>
          </p:cNvSpPr>
          <p:nvPr userDrawn="1">
            <p:ph type="subTitle" idx="1" hasCustomPrompt="1"/>
          </p:nvPr>
        </p:nvSpPr>
        <p:spPr bwMode="gray">
          <a:xfrm>
            <a:off x="288001" y="4268503"/>
            <a:ext cx="637343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1" y="2706317"/>
            <a:ext cx="6373430"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7" name="Picture Placeholder 6"/>
          <p:cNvSpPr>
            <a:spLocks noGrp="1"/>
          </p:cNvSpPr>
          <p:nvPr>
            <p:ph type="pic" sz="quarter" idx="16"/>
          </p:nvPr>
        </p:nvSpPr>
        <p:spPr>
          <a:xfrm>
            <a:off x="6954855" y="963000"/>
            <a:ext cx="4932000" cy="4932000"/>
          </a:xfrm>
        </p:spPr>
        <p:txBody>
          <a:bodyPr/>
          <a:lstStyle/>
          <a:p>
            <a:endParaRPr lang="en-US" dirty="0"/>
          </a:p>
        </p:txBody>
      </p:sp>
    </p:spTree>
    <p:extLst>
      <p:ext uri="{BB962C8B-B14F-4D97-AF65-F5344CB8AC3E}">
        <p14:creationId xmlns:p14="http://schemas.microsoft.com/office/powerpoint/2010/main" val="304804629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Agenda items placeholder"/>
          <p:cNvSpPr>
            <a:spLocks noGrp="1"/>
          </p:cNvSpPr>
          <p:nvPr>
            <p:ph type="body" sz="quarter" idx="10" hasCustomPrompt="1"/>
          </p:nvPr>
        </p:nvSpPr>
        <p:spPr>
          <a:xfrm>
            <a:off x="504000" y="1620000"/>
            <a:ext cx="11185200" cy="4230000"/>
          </a:xfrm>
        </p:spPr>
        <p:txBody>
          <a:bodyPr>
            <a:noAutofit/>
          </a:bodyPr>
          <a:lstStyle>
            <a:lvl1pPr marL="0" marR="0" indent="0" algn="l" defTabSz="1088558" rtl="0" eaLnBrk="1" fontAlgn="auto" latinLnBrk="0" hangingPunct="1">
              <a:lnSpc>
                <a:spcPct val="100000"/>
              </a:lnSpc>
              <a:spcBef>
                <a:spcPts val="3000"/>
              </a:spcBef>
              <a:spcAft>
                <a:spcPts val="0"/>
              </a:spcAft>
              <a:buClr>
                <a:schemeClr val="accent1"/>
              </a:buClr>
              <a:buSzPct val="80000"/>
              <a:buFontTx/>
              <a:buNone/>
              <a:tabLst/>
              <a:defRPr sz="2000" b="0"/>
            </a:lvl1pPr>
            <a:lvl2pPr marL="179964" marR="0" indent="-179964" algn="l" defTabSz="1088558" rtl="0" eaLnBrk="1" fontAlgn="auto" latinLnBrk="0" hangingPunct="1">
              <a:lnSpc>
                <a:spcPct val="100000"/>
              </a:lnSpc>
              <a:spcBef>
                <a:spcPts val="600"/>
              </a:spcBef>
              <a:spcAft>
                <a:spcPts val="0"/>
              </a:spcAft>
              <a:buClr>
                <a:schemeClr val="accent1"/>
              </a:buClr>
              <a:buSzPct val="100000"/>
              <a:buFont typeface="Wingdings" panose="05000000000000000000" pitchFamily="2" charset="2"/>
              <a:buChar char="§"/>
              <a:tabLst/>
              <a:defRPr sz="1800"/>
            </a:lvl2pPr>
            <a:lvl3pPr marL="359928" marR="0" indent="-179352" algn="l" defTabSz="1088558" rtl="0" eaLnBrk="1" fontAlgn="auto" latinLnBrk="0" hangingPunct="1">
              <a:lnSpc>
                <a:spcPct val="100000"/>
              </a:lnSpc>
              <a:spcBef>
                <a:spcPts val="400"/>
              </a:spcBef>
              <a:spcAft>
                <a:spcPts val="0"/>
              </a:spcAft>
              <a:buClr>
                <a:schemeClr val="tx1"/>
              </a:buClr>
              <a:buSzPct val="100000"/>
              <a:buFont typeface="Arial" pitchFamily="34" charset="0"/>
              <a:buChar char="–"/>
              <a:tabLst/>
              <a:defRPr sz="1800" baseline="0"/>
            </a:lvl3pPr>
            <a:lvl4pPr marL="539892" marR="0" indent="-179964" algn="l" defTabSz="1088558" rtl="0" eaLnBrk="1" fontAlgn="auto" latinLnBrk="0" hangingPunct="1">
              <a:lnSpc>
                <a:spcPct val="100000"/>
              </a:lnSpc>
              <a:spcBef>
                <a:spcPts val="250"/>
              </a:spcBef>
              <a:spcAft>
                <a:spcPts val="0"/>
              </a:spcAft>
              <a:buClr>
                <a:schemeClr val="tx1"/>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p:txBody>
      </p:sp>
      <p:sp>
        <p:nvSpPr>
          <p:cNvPr id="3" name="Agenda title"/>
          <p:cNvSpPr>
            <a:spLocks noGrp="1"/>
          </p:cNvSpPr>
          <p:nvPr>
            <p:ph type="title" hasCustomPrompt="1"/>
          </p:nvPr>
        </p:nvSpPr>
        <p:spPr/>
        <p:txBody>
          <a:bodyPr/>
          <a:lstStyle>
            <a:lvl1pPr>
              <a:defRPr/>
            </a:lvl1pPr>
          </a:lstStyle>
          <a:p>
            <a:r>
              <a:rPr lang="en-US" dirty="0"/>
              <a:t>Agenda</a:t>
            </a:r>
          </a:p>
        </p:txBody>
      </p:sp>
    </p:spTree>
    <p:extLst>
      <p:ext uri="{BB962C8B-B14F-4D97-AF65-F5344CB8AC3E}">
        <p14:creationId xmlns:p14="http://schemas.microsoft.com/office/powerpoint/2010/main" val="1859360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P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gray">
          <a:xfrm>
            <a:off x="504000" y="3090446"/>
            <a:ext cx="11185200" cy="677108"/>
          </a:xfrm>
        </p:spPr>
        <p:txBody>
          <a:bodyPr anchor="ctr" anchorCtr="0">
            <a:noAutofit/>
          </a:bodyPr>
          <a:lstStyle>
            <a:lvl1pPr>
              <a:defRPr sz="4400">
                <a:solidFill>
                  <a:schemeClr val="tx1"/>
                </a:solidFill>
                <a:latin typeface="+mj-lt"/>
              </a:defRPr>
            </a:lvl1pPr>
          </a:lstStyle>
          <a:p>
            <a:r>
              <a:rPr lang="en-US" dirty="0"/>
              <a:t>Divider page</a:t>
            </a:r>
          </a:p>
        </p:txBody>
      </p:sp>
    </p:spTree>
    <p:extLst>
      <p:ext uri="{BB962C8B-B14F-4D97-AF65-F5344CB8AC3E}">
        <p14:creationId xmlns:p14="http://schemas.microsoft.com/office/powerpoint/2010/main" val="410952787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a:xfrm>
            <a:off x="1" y="3427200"/>
            <a:ext cx="12195175" cy="3430800"/>
          </a:xfrm>
          <a:noFill/>
        </p:spPr>
        <p:txBody>
          <a:bodyPr tIns="324000"/>
          <a:lstStyle>
            <a:lvl1pPr marL="0" marR="0" indent="0" algn="ctr" defTabSz="1088558"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558" rtl="0" eaLnBrk="1" fontAlgn="auto" latinLnBrk="0" hangingPunct="1">
              <a:lnSpc>
                <a:spcPct val="100000"/>
              </a:lnSpc>
              <a:spcBef>
                <a:spcPts val="1200"/>
              </a:spcBef>
              <a:spcAft>
                <a:spcPts val="0"/>
              </a:spcAft>
              <a:buClr>
                <a:schemeClr val="accent1"/>
              </a:buClr>
              <a:buSzPct val="80000"/>
              <a:buFontTx/>
              <a:buNone/>
              <a:tabLst/>
              <a:defRPr/>
            </a:pPr>
            <a:r>
              <a:rPr lang="en-US" dirty="0"/>
              <a:t>Placeholder for image and illustration scene art</a:t>
            </a:r>
          </a:p>
        </p:txBody>
      </p:sp>
      <p:sp>
        <p:nvSpPr>
          <p:cNvPr id="2" name="Divider text"/>
          <p:cNvSpPr>
            <a:spLocks noGrp="1"/>
          </p:cNvSpPr>
          <p:nvPr>
            <p:ph type="ctrTitle" hasCustomPrompt="1"/>
          </p:nvPr>
        </p:nvSpPr>
        <p:spPr bwMode="gray">
          <a:xfrm>
            <a:off x="504000" y="1375046"/>
            <a:ext cx="11185200" cy="677108"/>
          </a:xfrm>
        </p:spPr>
        <p:txBody>
          <a:bodyPr anchor="t" anchorCtr="0">
            <a:noAutofit/>
          </a:bodyPr>
          <a:lstStyle>
            <a:lvl1pPr>
              <a:defRPr sz="4400">
                <a:solidFill>
                  <a:schemeClr val="tx1"/>
                </a:solidFill>
                <a:latin typeface="+mj-lt"/>
              </a:defRPr>
            </a:lvl1pPr>
          </a:lstStyle>
          <a:p>
            <a:r>
              <a:rPr lang="en-US" dirty="0"/>
              <a:t>Divider page</a:t>
            </a:r>
          </a:p>
        </p:txBody>
      </p:sp>
    </p:spTree>
    <p:extLst>
      <p:ext uri="{BB962C8B-B14F-4D97-AF65-F5344CB8AC3E}">
        <p14:creationId xmlns:p14="http://schemas.microsoft.com/office/powerpoint/2010/main" val="100898527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466743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3999" y="1620000"/>
            <a:ext cx="11186477"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129332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 column 1"/>
          <p:cNvSpPr>
            <a:spLocks noGrp="1"/>
          </p:cNvSpPr>
          <p:nvPr>
            <p:ph type="body" sz="quarter" idx="11" hasCustomPrompt="1"/>
          </p:nvPr>
        </p:nvSpPr>
        <p:spPr>
          <a:xfrm>
            <a:off x="6362477"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630481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 column 2"/>
          <p:cNvSpPr>
            <a:spLocks noGrp="1"/>
          </p:cNvSpPr>
          <p:nvPr>
            <p:ph type="body" sz="quarter" idx="12" hasCustomPrompt="1"/>
          </p:nvPr>
        </p:nvSpPr>
        <p:spPr>
          <a:xfrm>
            <a:off x="4315238"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4000"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8664163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6362477"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6362477"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25049412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8299277"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8299277"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9" name="Text placeholder - column 2"/>
          <p:cNvSpPr>
            <a:spLocks noGrp="1"/>
          </p:cNvSpPr>
          <p:nvPr>
            <p:ph type="body" sz="quarter" idx="15" hasCustomPrompt="1"/>
          </p:nvPr>
        </p:nvSpPr>
        <p:spPr>
          <a:xfrm>
            <a:off x="4401639"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4401639"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7276675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3878220"/>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9274877"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9274877"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9" name="Text placeholder - column 2"/>
          <p:cNvSpPr>
            <a:spLocks noGrp="1"/>
          </p:cNvSpPr>
          <p:nvPr>
            <p:ph type="body" sz="quarter" idx="15" hasCustomPrompt="1"/>
          </p:nvPr>
        </p:nvSpPr>
        <p:spPr>
          <a:xfrm>
            <a:off x="3427626"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3427626"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3" name="Text placeholder - column 2"/>
          <p:cNvSpPr>
            <a:spLocks noGrp="1"/>
          </p:cNvSpPr>
          <p:nvPr>
            <p:ph type="body" sz="quarter" idx="17" hasCustomPrompt="1"/>
          </p:nvPr>
        </p:nvSpPr>
        <p:spPr>
          <a:xfrm>
            <a:off x="6351252"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4" name="Picture Placeholder 4"/>
          <p:cNvSpPr>
            <a:spLocks noGrp="1"/>
          </p:cNvSpPr>
          <p:nvPr>
            <p:ph type="pic" sz="quarter" idx="18" hasCustomPrompt="1"/>
          </p:nvPr>
        </p:nvSpPr>
        <p:spPr bwMode="gray">
          <a:xfrm>
            <a:off x="6351252"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26805944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0"/>
            <a:ext cx="11185200" cy="3285032"/>
          </a:xfrm>
        </p:spPr>
        <p:txBody>
          <a:bodyPr/>
          <a:lstStyle>
            <a:lvl1pPr marL="395921" indent="-395921">
              <a:lnSpc>
                <a:spcPct val="90000"/>
              </a:lnSpc>
              <a:spcBef>
                <a:spcPts val="600"/>
              </a:spcBef>
              <a:defRPr sz="5999" b="1"/>
            </a:lvl1pPr>
            <a:lvl2pPr marL="395921" indent="0">
              <a:buNone/>
              <a:defRPr sz="1200"/>
            </a:lvl2pPr>
          </a:lstStyle>
          <a:p>
            <a:pPr lvl="0"/>
            <a:r>
              <a:rPr lang="en-US" noProof="0" dirty="0"/>
              <a:t>“Quote goes here </a:t>
            </a:r>
            <a:br>
              <a:rPr lang="en-US" noProof="0" dirty="0"/>
            </a:br>
            <a:r>
              <a:rPr lang="en-US" noProof="0" dirty="0"/>
              <a:t>and here.”</a:t>
            </a:r>
          </a:p>
          <a:p>
            <a:pPr lvl="1"/>
            <a:r>
              <a:rPr lang="en-US" noProof="0" dirty="0"/>
              <a:t>Source</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grpSp>
        <p:nvGrpSpPr>
          <p:cNvPr id="3" name="Group 2"/>
          <p:cNvGrpSpPr/>
          <p:nvPr userDrawn="1"/>
        </p:nvGrpSpPr>
        <p:grpSpPr>
          <a:xfrm>
            <a:off x="0" y="0"/>
            <a:ext cx="12195175" cy="251942"/>
            <a:chOff x="0" y="0"/>
            <a:chExt cx="12195175" cy="251942"/>
          </a:xfrm>
        </p:grpSpPr>
        <p:sp>
          <p:nvSpPr>
            <p:cNvPr id="9" name="Rectangle 8"/>
            <p:cNvSpPr/>
            <p:nvPr userDrawn="1"/>
          </p:nvSpPr>
          <p:spPr bwMode="gray">
            <a:xfrm>
              <a:off x="0" y="0"/>
              <a:ext cx="12195175" cy="251942"/>
            </a:xfrm>
            <a:prstGeom prst="rect">
              <a:avLst/>
            </a:prstGeom>
            <a:solidFill>
              <a:schemeClr val="bg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4" name="Secondary Motion Band"/>
            <p:cNvGrpSpPr/>
            <p:nvPr userDrawn="1"/>
          </p:nvGrpSpPr>
          <p:grpSpPr>
            <a:xfrm>
              <a:off x="10682127" y="0"/>
              <a:ext cx="1513048" cy="251942"/>
              <a:chOff x="10682127" y="0"/>
              <a:chExt cx="1513048" cy="252000"/>
            </a:xfrm>
          </p:grpSpPr>
          <p:sp>
            <p:nvSpPr>
              <p:cNvPr id="6" name="Rectangle 5"/>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7" name="Rectangle 6"/>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9327859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ext with image 1">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8127175" y="252000"/>
            <a:ext cx="4068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7" name="Text Placeholder 6"/>
          <p:cNvSpPr>
            <a:spLocks noGrp="1"/>
          </p:cNvSpPr>
          <p:nvPr>
            <p:ph type="body" sz="quarter" idx="11" hasCustomPrompt="1"/>
          </p:nvPr>
        </p:nvSpPr>
        <p:spPr bwMode="gray">
          <a:xfrm>
            <a:off x="503999" y="1620000"/>
            <a:ext cx="709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709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4250202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ext with image 2">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6111175" y="252000"/>
            <a:ext cx="6084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7" name="Text Placeholder 6"/>
          <p:cNvSpPr>
            <a:spLocks noGrp="1"/>
          </p:cNvSpPr>
          <p:nvPr>
            <p:ph type="body" sz="quarter" idx="11" hasCustomPrompt="1"/>
          </p:nvPr>
        </p:nvSpPr>
        <p:spPr bwMode="gray">
          <a:xfrm>
            <a:off x="503999" y="1620000"/>
            <a:ext cx="511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511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5527877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with motion band">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252000"/>
            <a:ext cx="12195175"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19010498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0"/>
            <a:ext cx="12195175" cy="6858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41397911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4"/>
          <p:cNvSpPr>
            <a:spLocks noGrp="1"/>
          </p:cNvSpPr>
          <p:nvPr>
            <p:ph type="pic" sz="quarter" idx="13" hasCustomPrompt="1"/>
          </p:nvPr>
        </p:nvSpPr>
        <p:spPr bwMode="gray">
          <a:xfrm>
            <a:off x="6362477" y="1601628"/>
            <a:ext cx="5328000" cy="4230000"/>
          </a:xfrm>
          <a:solidFill>
            <a:schemeClr val="tx2">
              <a:alpha val="70000"/>
            </a:schemeClr>
          </a:solid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screenshot</a:t>
            </a:r>
          </a:p>
        </p:txBody>
      </p:sp>
      <p:sp>
        <p:nvSpPr>
          <p:cNvPr id="4" name="Text Placeholder 3"/>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1287227243"/>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hasCustomPrompt="1"/>
          </p:nvPr>
        </p:nvSpPr>
        <p:spPr>
          <a:xfrm>
            <a:off x="504000" y="1620000"/>
            <a:ext cx="11185200" cy="4230000"/>
          </a:xfrm>
          <a:solidFill>
            <a:schemeClr val="tx2">
              <a:alpha val="70000"/>
            </a:schemeClr>
          </a:solidFill>
        </p:spPr>
        <p:txBody>
          <a:bodyPr tIns="1368000"/>
          <a:lstStyle>
            <a:lvl1pPr algn="ctr">
              <a:defRPr sz="1400" b="0"/>
            </a:lvl1pPr>
          </a:lstStyle>
          <a:p>
            <a:pPr lvl="0"/>
            <a:r>
              <a:rPr lang="en-US" dirty="0"/>
              <a:t>Click to add content</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41860987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lank with motion band">
    <p:spTree>
      <p:nvGrpSpPr>
        <p:cNvPr id="1" name=""/>
        <p:cNvGrpSpPr/>
        <p:nvPr/>
      </p:nvGrpSpPr>
      <p:grpSpPr>
        <a:xfrm>
          <a:off x="0" y="0"/>
          <a:ext cx="0" cy="0"/>
          <a:chOff x="0" y="0"/>
          <a:chExt cx="0" cy="0"/>
        </a:xfrm>
      </p:grpSpPr>
      <p:sp>
        <p:nvSpPr>
          <p:cNvPr id="7" name="Rectangle 6"/>
          <p:cNvSpPr/>
          <p:nvPr userDrawn="1"/>
        </p:nvSpPr>
        <p:spPr bwMode="gray">
          <a:xfrm>
            <a:off x="236220" y="1142735"/>
            <a:ext cx="11795760" cy="220929"/>
          </a:xfrm>
          <a:prstGeom prst="rect">
            <a:avLst/>
          </a:prstGeom>
          <a:solidFill>
            <a:schemeClr val="bg1"/>
          </a:solidFill>
          <a:ln w="6350" algn="ctr">
            <a:noFill/>
            <a:miter lim="800000"/>
            <a:headEnd/>
            <a:tailEnd/>
          </a:ln>
        </p:spPr>
        <p:txBody>
          <a:bodyPr lIns="89979" tIns="71983" rIns="89979" bIns="71983"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3792483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2181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hank you and contact information">
    <p:spTree>
      <p:nvGrpSpPr>
        <p:cNvPr id="1" name=""/>
        <p:cNvGrpSpPr/>
        <p:nvPr/>
      </p:nvGrpSpPr>
      <p:grpSpPr>
        <a:xfrm>
          <a:off x="0" y="0"/>
          <a:ext cx="0" cy="0"/>
          <a:chOff x="0" y="0"/>
          <a:chExt cx="0" cy="0"/>
        </a:xfrm>
      </p:grpSpPr>
      <p:sp>
        <p:nvSpPr>
          <p:cNvPr id="93" name="Contact information"/>
          <p:cNvSpPr>
            <a:spLocks noGrp="1"/>
          </p:cNvSpPr>
          <p:nvPr>
            <p:ph type="body" sz="quarter" idx="10" hasCustomPrompt="1"/>
          </p:nvPr>
        </p:nvSpPr>
        <p:spPr>
          <a:xfrm>
            <a:off x="504000" y="2905487"/>
            <a:ext cx="5328000" cy="2501010"/>
          </a:xfrm>
        </p:spPr>
        <p:txBody>
          <a:bodyPr anchor="t" anchorCtr="0">
            <a:noAutofit/>
          </a:bodyPr>
          <a:lstStyle>
            <a:lvl1pPr>
              <a:spcBef>
                <a:spcPts val="0"/>
              </a:spcBef>
              <a:spcAft>
                <a:spcPts val="1200"/>
              </a:spcAft>
              <a:defRPr sz="1600" b="0"/>
            </a:lvl1pPr>
            <a:lvl2pPr marL="0" indent="0">
              <a:spcBef>
                <a:spcPts val="0"/>
              </a:spcBef>
              <a:buNone/>
              <a:defRPr sz="1600" b="0"/>
            </a:lvl2pPr>
          </a:lstStyle>
          <a:p>
            <a:r>
              <a:rPr lang="en-US" dirty="0"/>
              <a:t>Contact information:</a:t>
            </a:r>
          </a:p>
          <a:p>
            <a:pPr lvl="1"/>
            <a:r>
              <a:rPr lang="en-US" dirty="0"/>
              <a:t>F name L name</a:t>
            </a:r>
          </a:p>
          <a:p>
            <a:pPr lvl="1"/>
            <a:r>
              <a:rPr lang="en-US" dirty="0"/>
              <a:t>Title</a:t>
            </a:r>
          </a:p>
          <a:p>
            <a:pPr lvl="1"/>
            <a:r>
              <a:rPr lang="en-US" dirty="0"/>
              <a:t>Address</a:t>
            </a:r>
          </a:p>
          <a:p>
            <a:pPr lvl="1"/>
            <a:r>
              <a:rPr lang="en-US" dirty="0"/>
              <a:t>Phone number</a:t>
            </a:r>
          </a:p>
        </p:txBody>
      </p:sp>
      <p:sp>
        <p:nvSpPr>
          <p:cNvPr id="2" name="Thank you"/>
          <p:cNvSpPr>
            <a:spLocks noGrp="1"/>
          </p:cNvSpPr>
          <p:nvPr>
            <p:ph type="ctrTitle" hasCustomPrompt="1"/>
          </p:nvPr>
        </p:nvSpPr>
        <p:spPr bwMode="gray">
          <a:xfrm>
            <a:off x="504000" y="1467009"/>
            <a:ext cx="5328000" cy="923116"/>
          </a:xfrm>
        </p:spPr>
        <p:txBody>
          <a:bodyPr anchor="t" anchorCtr="0">
            <a:noAutofit/>
          </a:bodyPr>
          <a:lstStyle>
            <a:lvl1pPr>
              <a:defRPr sz="5500">
                <a:solidFill>
                  <a:schemeClr val="accent1"/>
                </a:solidFill>
                <a:latin typeface="+mj-lt"/>
              </a:defRPr>
            </a:lvl1pPr>
          </a:lstStyle>
          <a:p>
            <a:r>
              <a:rPr lang="en-US" dirty="0"/>
              <a:t>Thank you.</a:t>
            </a:r>
          </a:p>
        </p:txBody>
      </p:sp>
      <p:pic>
        <p:nvPicPr>
          <p:cNvPr id="10"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4000" y="5994000"/>
            <a:ext cx="1578462" cy="360000"/>
          </a:xfrm>
          <a:prstGeom prst="rect">
            <a:avLst/>
          </a:prstGeom>
        </p:spPr>
      </p:pic>
    </p:spTree>
    <p:extLst>
      <p:ext uri="{BB962C8B-B14F-4D97-AF65-F5344CB8AC3E}">
        <p14:creationId xmlns:p14="http://schemas.microsoft.com/office/powerpoint/2010/main" val="781090314"/>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pyright">
    <p:spTree>
      <p:nvGrpSpPr>
        <p:cNvPr id="1" name=""/>
        <p:cNvGrpSpPr/>
        <p:nvPr/>
      </p:nvGrpSpPr>
      <p:grpSpPr>
        <a:xfrm>
          <a:off x="0" y="0"/>
          <a:ext cx="0" cy="0"/>
          <a:chOff x="0" y="0"/>
          <a:chExt cx="0" cy="0"/>
        </a:xfrm>
      </p:grpSpPr>
      <p:sp>
        <p:nvSpPr>
          <p:cNvPr id="4" name="TextBox 3"/>
          <p:cNvSpPr txBox="1"/>
          <p:nvPr/>
        </p:nvSpPr>
        <p:spPr bwMode="gray">
          <a:xfrm>
            <a:off x="503999" y="1620000"/>
            <a:ext cx="11185200" cy="3153980"/>
          </a:xfrm>
          <a:prstGeom prst="rect">
            <a:avLst/>
          </a:prstGeom>
          <a:noFill/>
        </p:spPr>
        <p:txBody>
          <a:bodyPr wrap="square" lIns="0" tIns="0" rIns="0" bIns="0" rtlCol="0">
            <a:spAutoFit/>
          </a:bodyPr>
          <a:lstStyle/>
          <a:p>
            <a:pPr>
              <a:spcBef>
                <a:spcPts val="1200"/>
              </a:spcBef>
            </a:pPr>
            <a:r>
              <a:rPr lang="en-US" sz="1100" kern="1200" dirty="0">
                <a:solidFill>
                  <a:schemeClr val="tx1"/>
                </a:solidFill>
                <a:latin typeface="Arial"/>
                <a:ea typeface="Arial Unicode MS" panose="020B0604020202020204" pitchFamily="34" charset="-128"/>
                <a:cs typeface="+mn-cs"/>
              </a:rPr>
              <a:t>No part of this publication may be reproduced or transmitted in any form or for any purpose without the express permission of SAP SE or an SAP affiliate company.</a:t>
            </a:r>
          </a:p>
          <a:p>
            <a:pPr>
              <a:spcBef>
                <a:spcPts val="1200"/>
              </a:spcBef>
            </a:pPr>
            <a:r>
              <a:rPr lang="en-US" sz="1100" kern="1200" dirty="0">
                <a:solidFill>
                  <a:schemeClr val="tx1"/>
                </a:solidFill>
                <a:latin typeface="Arial"/>
                <a:ea typeface="Arial Unicode MS" panose="020B0604020202020204" pitchFamily="34" charset="-128"/>
                <a:cs typeface="+mn-cs"/>
              </a:rPr>
              <a:t>The information contained herein may be changed without prior notice. Some software products marketed by SAP SE and its distributors contain proprietary software components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of other software vendors. National product specifications may vary.</a:t>
            </a:r>
          </a:p>
          <a:p>
            <a:pPr>
              <a:spcBef>
                <a:spcPts val="1200"/>
              </a:spcBef>
            </a:pPr>
            <a:r>
              <a:rPr lang="en-US" sz="1100" kern="1200" dirty="0">
                <a:solidFill>
                  <a:schemeClr val="tx1"/>
                </a:solidFill>
                <a:latin typeface="Arial"/>
                <a:ea typeface="Arial Unicode MS" panose="020B0604020202020204" pitchFamily="34" charset="-128"/>
                <a:cs typeface="+mn-cs"/>
              </a:rPr>
              <a:t>These materials are provided by SAP SE or an SAP affiliate company for informational purposes only, without representation or warranty of any kind, and SAP or its affiliated companies shall not be liable for errors or omissions with respect to the materials. The only warranties for SAP or SAP affiliate company products and services are those that are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set forth in the express warranty statements accompanying such products and services, if any. Nothing herein should be construed as constituting an additional warranty. </a:t>
            </a:r>
          </a:p>
          <a:p>
            <a:pPr>
              <a:spcBef>
                <a:spcPts val="1200"/>
              </a:spcBef>
            </a:pPr>
            <a:r>
              <a:rPr lang="en-US" sz="1100" kern="1200" dirty="0">
                <a:solidFill>
                  <a:schemeClr val="tx1"/>
                </a:solidFill>
                <a:latin typeface="Arial"/>
                <a:ea typeface="Arial Unicode MS" panose="020B0604020202020204" pitchFamily="34" charset="-128"/>
                <a:cs typeface="+mn-cs"/>
              </a:rPr>
              <a:t>In particular, SAP SE or its affiliated companies have no obligation to pursue any course of business outlined in this document or any related presentation, or to develop 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for any reason without notice. The information in this document is not a commitment, promise, or legal obligation to deliver any material, code, or functionality. All forward-looking statements are subject to various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risks and uncertainties that could cause actual results to differ materially from expectations. Readers are cautioned not to place undue reliance on these forward-looking statements, and they should not be relied upon in making purchasing decisions.</a:t>
            </a:r>
          </a:p>
          <a:p>
            <a:pPr>
              <a:spcBef>
                <a:spcPts val="1200"/>
              </a:spcBef>
            </a:pPr>
            <a:r>
              <a:rPr lang="en-US" sz="1100" kern="1200" dirty="0">
                <a:solidFill>
                  <a:schemeClr val="tx1"/>
                </a:solidFill>
                <a:latin typeface="Arial"/>
                <a:ea typeface="Arial Unicode MS" panose="020B0604020202020204" pitchFamily="34" charset="-128"/>
                <a:cs typeface="+mn-cs"/>
              </a:rPr>
              <a:t>SAP and other SAP products and services mentioned herein as well as their respective logos are trademarks or registered trademarks of SAP SE (or an SAP affiliate company)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in Germany and other countries. All other product and service names mentioned are the trademarks of their respective companies.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See </a:t>
            </a:r>
            <a:r>
              <a:rPr lang="en-US" sz="1100" kern="1200" dirty="0">
                <a:solidFill>
                  <a:schemeClr val="tx2"/>
                </a:solidFill>
                <a:latin typeface="Arial"/>
                <a:ea typeface="Arial Unicode MS" panose="020B0604020202020204" pitchFamily="34" charset="-128"/>
                <a:cs typeface="+mn-cs"/>
                <a:hlinkClick r:id="rId2"/>
              </a:rPr>
              <a:t>http://global.sap.com/corporate-en/legal/copyright/index.epx</a:t>
            </a:r>
            <a:r>
              <a:rPr lang="en-US" sz="1100" kern="1200" dirty="0">
                <a:solidFill>
                  <a:schemeClr val="tx2"/>
                </a:solidFill>
                <a:latin typeface="Arial"/>
                <a:ea typeface="Arial Unicode MS" panose="020B0604020202020204" pitchFamily="34" charset="-128"/>
                <a:cs typeface="+mn-cs"/>
              </a:rPr>
              <a:t> </a:t>
            </a:r>
            <a:r>
              <a:rPr lang="en-US" sz="1100" kern="1200" dirty="0">
                <a:solidFill>
                  <a:schemeClr val="tx1"/>
                </a:solidFill>
                <a:latin typeface="Arial"/>
                <a:ea typeface="Arial Unicode MS" panose="020B0604020202020204" pitchFamily="34" charset="-128"/>
                <a:cs typeface="+mn-cs"/>
              </a:rPr>
              <a:t>for additional trademark information and notices.</a:t>
            </a:r>
          </a:p>
        </p:txBody>
      </p:sp>
      <p:sp>
        <p:nvSpPr>
          <p:cNvPr id="5" name="TextBox 4"/>
          <p:cNvSpPr txBox="1"/>
          <p:nvPr userDrawn="1"/>
        </p:nvSpPr>
        <p:spPr bwMode="gray">
          <a:xfrm>
            <a:off x="504000" y="719834"/>
            <a:ext cx="9540674"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or an SAP affiliate company. All rights reserved.</a:t>
            </a:r>
          </a:p>
        </p:txBody>
      </p:sp>
      <p:grpSp>
        <p:nvGrpSpPr>
          <p:cNvPr id="6" name="Secondary Motion Band"/>
          <p:cNvGrpSpPr/>
          <p:nvPr userDrawn="1"/>
        </p:nvGrpSpPr>
        <p:grpSpPr>
          <a:xfrm>
            <a:off x="10682127" y="0"/>
            <a:ext cx="1513048" cy="251942"/>
            <a:chOff x="10682127" y="0"/>
            <a:chExt cx="1513048" cy="252000"/>
          </a:xfrm>
        </p:grpSpPr>
        <p:sp>
          <p:nvSpPr>
            <p:cNvPr id="7" name="Rectangle 6"/>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Rectangle 8"/>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4519251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pyright german">
    <p:spTree>
      <p:nvGrpSpPr>
        <p:cNvPr id="1" name=""/>
        <p:cNvGrpSpPr/>
        <p:nvPr/>
      </p:nvGrpSpPr>
      <p:grpSpPr>
        <a:xfrm>
          <a:off x="0" y="0"/>
          <a:ext cx="0" cy="0"/>
          <a:chOff x="0" y="0"/>
          <a:chExt cx="0" cy="0"/>
        </a:xfrm>
      </p:grpSpPr>
      <p:sp>
        <p:nvSpPr>
          <p:cNvPr id="4" name="TextBox 3"/>
          <p:cNvSpPr txBox="1"/>
          <p:nvPr userDrawn="1"/>
        </p:nvSpPr>
        <p:spPr bwMode="gray">
          <a:xfrm>
            <a:off x="504000" y="1620000"/>
            <a:ext cx="11185200" cy="3830931"/>
          </a:xfrm>
          <a:prstGeom prst="rect">
            <a:avLst/>
          </a:prstGeom>
          <a:noFill/>
        </p:spPr>
        <p:txBody>
          <a:bodyPr wrap="square" lIns="0" tIns="0" rIns="0" bIns="0" rtlCol="0">
            <a:spAutoFit/>
          </a:bodyPr>
          <a:lstStyle/>
          <a:p>
            <a:pPr>
              <a:spcBef>
                <a:spcPts val="1200"/>
              </a:spcBef>
            </a:pPr>
            <a:r>
              <a:rPr lang="en-US" sz="1100" kern="1200" noProof="0" dirty="0" err="1">
                <a:solidFill>
                  <a:schemeClr val="tx1"/>
                </a:solidFill>
                <a:effectLst/>
                <a:latin typeface="Arial"/>
                <a:ea typeface="+mn-ea"/>
                <a:cs typeface="+mn-cs"/>
              </a:rPr>
              <a:t>Weitergabe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Vervielfältigung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Teilen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daraus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welchem</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Zweck</a:t>
            </a:r>
            <a:r>
              <a:rPr lang="en-US" sz="1100" kern="1200" noProof="0" dirty="0">
                <a:solidFill>
                  <a:schemeClr val="tx1"/>
                </a:solidFill>
                <a:effectLst/>
                <a:latin typeface="Arial"/>
                <a:ea typeface="+mn-ea"/>
                <a:cs typeface="+mn-cs"/>
              </a:rPr>
              <a:t> und in </a:t>
            </a:r>
            <a:r>
              <a:rPr lang="en-US" sz="1100" kern="1200" noProof="0" dirty="0" err="1">
                <a:solidFill>
                  <a:schemeClr val="tx1"/>
                </a:solidFill>
                <a:effectLst/>
                <a:latin typeface="Arial"/>
                <a:ea typeface="+mn-ea"/>
                <a:cs typeface="+mn-cs"/>
              </a:rPr>
              <a:t>welcher</a:t>
            </a:r>
            <a:r>
              <a:rPr lang="en-US" sz="1100" kern="1200" noProof="0" dirty="0">
                <a:solidFill>
                  <a:schemeClr val="tx1"/>
                </a:solidFill>
                <a:effectLst/>
                <a:latin typeface="Arial"/>
                <a:ea typeface="+mn-ea"/>
                <a:cs typeface="+mn-cs"/>
              </a:rPr>
              <a:t> Form </a:t>
            </a:r>
            <a:r>
              <a:rPr lang="en-US" sz="1100" kern="1200" noProof="0" dirty="0" err="1">
                <a:solidFill>
                  <a:schemeClr val="tx1"/>
                </a:solidFill>
                <a:effectLst/>
                <a:latin typeface="Arial"/>
                <a:ea typeface="+mn-ea"/>
                <a:cs typeface="+mn-cs"/>
              </a:rPr>
              <a:t>auch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immer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ausdrückliche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schriftliche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Genehmigung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durch</a:t>
            </a:r>
            <a:r>
              <a:rPr lang="en-US" sz="1100" kern="1200" noProof="0" dirty="0">
                <a:solidFill>
                  <a:schemeClr val="tx1"/>
                </a:solidFill>
                <a:effectLst/>
                <a:latin typeface="Arial"/>
                <a:ea typeface="+mn-ea"/>
                <a:cs typeface="+mn-cs"/>
              </a:rPr>
              <a:t>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nicht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gestattet</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vorherige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Ankündigung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geändert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Die von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Vertriebsfirmen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angebotenen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Softwareprodukte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Softwarekomponenten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Softwarehersteller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länderspezifische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Unterschiede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aufweisen</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Die </a:t>
            </a:r>
            <a:r>
              <a:rPr lang="en-US" sz="1100" kern="1200" noProof="0" dirty="0" err="1">
                <a:solidFill>
                  <a:schemeClr val="tx1"/>
                </a:solidFill>
                <a:effectLst/>
                <a:latin typeface="Arial"/>
                <a:ea typeface="+mn-ea"/>
                <a:cs typeface="+mn-cs"/>
              </a:rPr>
              <a:t>vorliegenden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Unterlagen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von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einem</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bereitgestellt</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ausschließlich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Informationszwecken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keinerlei</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Haftung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Gewährleistung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für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Fehler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Unvollständigkeiten</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steht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lediglich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für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nach</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Maßgabe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die in der </a:t>
            </a:r>
            <a:r>
              <a:rPr lang="en-US" sz="1100" kern="1200" noProof="0" dirty="0" err="1">
                <a:solidFill>
                  <a:schemeClr val="tx1"/>
                </a:solidFill>
                <a:effectLst/>
                <a:latin typeface="Arial"/>
                <a:ea typeface="+mn-ea"/>
                <a:cs typeface="+mn-cs"/>
              </a:rPr>
              <a:t>Vereinbarung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jeweiligen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ausdrücklich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geregelt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ist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hierin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ist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als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zusätzliche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Garantie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interpretieren</a:t>
            </a:r>
            <a:r>
              <a:rPr lang="en-US" sz="1100" kern="1200" noProof="0" dirty="0">
                <a:solidFill>
                  <a:schemeClr val="tx1"/>
                </a:solidFill>
                <a:effectLst/>
                <a:latin typeface="Arial"/>
                <a:ea typeface="+mn-ea"/>
                <a:cs typeface="+mn-cs"/>
              </a:rPr>
              <a:t>. </a:t>
            </a:r>
          </a:p>
          <a:p>
            <a:pPr>
              <a:spcBef>
                <a:spcPts val="1200"/>
              </a:spcBef>
            </a:pPr>
            <a:r>
              <a:rPr lang="en-US" sz="1100" kern="1200" noProof="0" dirty="0" err="1">
                <a:solidFill>
                  <a:schemeClr val="tx1"/>
                </a:solidFill>
                <a:effectLst/>
                <a:latin typeface="Arial"/>
                <a:ea typeface="+mn-ea"/>
                <a:cs typeface="+mn-cs"/>
              </a:rPr>
              <a:t>Insbesondere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keiner</a:t>
            </a:r>
            <a:r>
              <a:rPr lang="en-US" sz="1100" kern="1200" noProof="0" dirty="0">
                <a:solidFill>
                  <a:schemeClr val="tx1"/>
                </a:solidFill>
                <a:effectLst/>
                <a:latin typeface="Arial"/>
                <a:ea typeface="+mn-ea"/>
                <a:cs typeface="+mn-cs"/>
              </a:rPr>
              <a:t> Weise </a:t>
            </a:r>
            <a:r>
              <a:rPr lang="en-US" sz="1100" kern="1200" noProof="0" dirty="0" err="1">
                <a:solidFill>
                  <a:schemeClr val="tx1"/>
                </a:solidFill>
                <a:effectLst/>
                <a:latin typeface="Arial"/>
                <a:ea typeface="+mn-ea"/>
                <a:cs typeface="+mn-cs"/>
              </a:rPr>
              <a:t>verpflichtet</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zugehörigen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Präsentation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dargestellte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Geschäftsabläufe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verfolgen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hierin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wiedergegebene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Funktionen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entwickeln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veröffentlichen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zugehörige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Präsentation</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Strategie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etwaige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künftige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Entwicklungen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Plattformen</a:t>
            </a:r>
            <a:r>
              <a:rPr lang="en-US" sz="1100" kern="1200" noProof="0" dirty="0">
                <a:solidFill>
                  <a:schemeClr val="tx1"/>
                </a:solidFill>
                <a:effectLst/>
                <a:latin typeface="Arial"/>
                <a:ea typeface="+mn-ea"/>
                <a:cs typeface="+mn-cs"/>
              </a:rPr>
              <a:t>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von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jederzeit</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Angabe</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Gründen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unangekündigt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geändert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Die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stellen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Zusage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Versprechen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rechtliche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Verpflichtung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Lieferung</a:t>
            </a:r>
            <a:r>
              <a:rPr lang="en-US" sz="1100" kern="1200" noProof="0" dirty="0">
                <a:solidFill>
                  <a:schemeClr val="tx1"/>
                </a:solidFill>
                <a:effectLst/>
                <a:latin typeface="Arial"/>
                <a:ea typeface="+mn-ea"/>
                <a:cs typeface="+mn-cs"/>
              </a:rPr>
              <a:t> von Material, Code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Funktionen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Sämtliche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vorausschauenden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unterliegen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unterschiedlichen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Risiken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Unsicherheiten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durch</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die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tatsächlichen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Ergebnisse</a:t>
            </a:r>
            <a:r>
              <a:rPr lang="en-US" sz="1100" kern="1200" noProof="0" dirty="0">
                <a:solidFill>
                  <a:schemeClr val="tx1"/>
                </a:solidFill>
                <a:effectLst/>
                <a:latin typeface="Arial"/>
                <a:ea typeface="+mn-ea"/>
                <a:cs typeface="+mn-cs"/>
              </a:rPr>
              <a:t> von den </a:t>
            </a:r>
            <a:r>
              <a:rPr lang="en-US" sz="1100" kern="1200" noProof="0" dirty="0" err="1">
                <a:solidFill>
                  <a:schemeClr val="tx1"/>
                </a:solidFill>
                <a:effectLst/>
                <a:latin typeface="Arial"/>
                <a:ea typeface="+mn-ea"/>
                <a:cs typeface="+mn-cs"/>
              </a:rPr>
              <a:t>Erwartungen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abweichen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Dem </a:t>
            </a:r>
            <a:r>
              <a:rPr lang="en-US" sz="1100" kern="1200" noProof="0" dirty="0" err="1">
                <a:solidFill>
                  <a:schemeClr val="tx1"/>
                </a:solidFill>
                <a:effectLst/>
                <a:latin typeface="Arial"/>
                <a:ea typeface="+mn-ea"/>
                <a:cs typeface="+mn-cs"/>
              </a:rPr>
              <a:t>Leser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wird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empfohlen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vorausschauenden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übertriebenes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Vertrauen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schenken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sich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bei</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Kaufentscheidungen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nicht</a:t>
            </a:r>
            <a:r>
              <a:rPr lang="en-US" sz="1100" kern="1200" noProof="0" dirty="0">
                <a:solidFill>
                  <a:schemeClr val="tx1"/>
                </a:solidFill>
                <a:effectLst/>
                <a:latin typeface="Arial"/>
                <a:ea typeface="+mn-ea"/>
                <a:cs typeface="+mn-cs"/>
              </a:rPr>
              <a:t> auf </a:t>
            </a:r>
            <a:r>
              <a:rPr lang="en-US" sz="1100" kern="1200" noProof="0" dirty="0" err="1">
                <a:solidFill>
                  <a:schemeClr val="tx1"/>
                </a:solidFill>
                <a:effectLst/>
                <a:latin typeface="Arial"/>
                <a:ea typeface="+mn-ea"/>
                <a:cs typeface="+mn-cs"/>
              </a:rPr>
              <a:t>sie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stützen</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SAP und </a:t>
            </a:r>
            <a:r>
              <a:rPr lang="en-US" sz="1100" kern="1200" noProof="0" dirty="0" err="1">
                <a:solidFill>
                  <a:schemeClr val="tx1"/>
                </a:solidFill>
                <a:effectLst/>
                <a:latin typeface="Arial"/>
                <a:ea typeface="+mn-ea"/>
                <a:cs typeface="+mn-cs"/>
              </a:rPr>
              <a:t>andere</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diesem</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Dokument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erwähnte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von SAP </a:t>
            </a:r>
            <a:r>
              <a:rPr lang="en-US" sz="1100" kern="1200" noProof="0" dirty="0" err="1">
                <a:solidFill>
                  <a:schemeClr val="tx1"/>
                </a:solidFill>
                <a:effectLst/>
                <a:latin typeface="Arial"/>
                <a:ea typeface="+mn-ea"/>
                <a:cs typeface="+mn-cs"/>
              </a:rPr>
              <a:t>sowie</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dazugehörigen</a:t>
            </a:r>
            <a:r>
              <a:rPr lang="en-US" sz="1100" kern="1200" noProof="0" dirty="0">
                <a:solidFill>
                  <a:schemeClr val="tx1"/>
                </a:solidFill>
                <a:effectLst/>
                <a:latin typeface="Arial"/>
                <a:ea typeface="+mn-ea"/>
                <a:cs typeface="+mn-cs"/>
              </a:rPr>
              <a:t> Logos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eingetragene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der SAP SE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einem</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in Deutschland und </a:t>
            </a:r>
            <a:r>
              <a:rPr lang="en-US" sz="1100" kern="1200" noProof="0" dirty="0" err="1">
                <a:solidFill>
                  <a:schemeClr val="tx1"/>
                </a:solidFill>
                <a:effectLst/>
                <a:latin typeface="Arial"/>
                <a:ea typeface="+mn-ea"/>
                <a:cs typeface="+mn-cs"/>
              </a:rPr>
              <a:t>verschiedenen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Ländern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weltweit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Alle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Namen</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Produkten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jeweiligen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Firmen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err="1">
                <a:solidFill>
                  <a:schemeClr val="tx1"/>
                </a:solidFill>
                <a:effectLst/>
                <a:latin typeface="Arial"/>
                <a:ea typeface="+mn-ea"/>
                <a:cs typeface="+mn-cs"/>
              </a:rPr>
              <a:t>Zusätzliche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Vermerke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finden</a:t>
            </a:r>
            <a:r>
              <a:rPr lang="en-US" sz="1100" kern="1200" noProof="0" dirty="0">
                <a:solidFill>
                  <a:schemeClr val="tx1"/>
                </a:solidFill>
                <a:effectLst/>
                <a:latin typeface="Arial"/>
                <a:ea typeface="+mn-ea"/>
                <a:cs typeface="+mn-cs"/>
              </a:rPr>
              <a:t> Sie auf der </a:t>
            </a:r>
            <a:r>
              <a:rPr lang="en-US" sz="1100" kern="1200" noProof="0" dirty="0" err="1">
                <a:solidFill>
                  <a:schemeClr val="tx1"/>
                </a:solidFill>
                <a:effectLst/>
                <a:latin typeface="Arial"/>
                <a:ea typeface="+mn-ea"/>
                <a:cs typeface="+mn-cs"/>
              </a:rPr>
              <a:t>Seite</a:t>
            </a:r>
            <a:r>
              <a:rPr lang="en-US" sz="1100" kern="1200" noProof="0" dirty="0">
                <a:solidFill>
                  <a:schemeClr val="tx1"/>
                </a:solidFill>
                <a:effectLst/>
                <a:latin typeface="Arial"/>
                <a:ea typeface="+mn-ea"/>
                <a:cs typeface="+mn-cs"/>
              </a:rPr>
              <a:t> </a:t>
            </a:r>
            <a:r>
              <a:rPr lang="en-US" sz="1100" kern="1200" noProof="0" dirty="0">
                <a:solidFill>
                  <a:schemeClr val="tx1"/>
                </a:solidFill>
                <a:effectLst/>
                <a:latin typeface="Arial"/>
                <a:ea typeface="+mn-ea"/>
                <a:cs typeface="+mn-cs"/>
                <a:hlinkClick r:id="rId2"/>
              </a:rPr>
              <a:t>http://www.sap.com/corporate-de/legal/copyright/index.epx</a:t>
            </a:r>
            <a:endParaRPr lang="en-US" sz="1100" kern="1200" noProof="0" dirty="0">
              <a:solidFill>
                <a:schemeClr val="tx1"/>
              </a:solidFill>
              <a:effectLst/>
              <a:latin typeface="Arial"/>
              <a:ea typeface="+mn-ea"/>
              <a:cs typeface="+mn-cs"/>
            </a:endParaRPr>
          </a:p>
        </p:txBody>
      </p:sp>
      <p:sp>
        <p:nvSpPr>
          <p:cNvPr id="5" name="TextBox 4"/>
          <p:cNvSpPr txBox="1"/>
          <p:nvPr userDrawn="1"/>
        </p:nvSpPr>
        <p:spPr bwMode="gray">
          <a:xfrm>
            <a:off x="504000" y="719834"/>
            <a:ext cx="11185200"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a:t>
            </a:r>
            <a:r>
              <a:rPr lang="en-US" sz="2400" b="0" noProof="0" dirty="0" err="1"/>
              <a:t>oder</a:t>
            </a:r>
            <a:r>
              <a:rPr lang="en-US" sz="2400" b="0" noProof="0" dirty="0"/>
              <a:t> </a:t>
            </a:r>
            <a:r>
              <a:rPr lang="en-US" sz="2400" b="0" noProof="0" dirty="0" err="1"/>
              <a:t>ein</a:t>
            </a:r>
            <a:r>
              <a:rPr lang="en-US" sz="2400" b="0" noProof="0" dirty="0"/>
              <a:t> SAP-</a:t>
            </a:r>
            <a:r>
              <a:rPr lang="en-US" sz="2400" b="0" noProof="0" dirty="0" err="1"/>
              <a:t>Konzernunternehmen</a:t>
            </a:r>
            <a:r>
              <a:rPr lang="en-US" sz="2400" b="0" noProof="0" dirty="0"/>
              <a:t>. </a:t>
            </a:r>
            <a:r>
              <a:rPr lang="en-US" sz="2400" b="0" noProof="0" dirty="0" err="1"/>
              <a:t>Alle</a:t>
            </a:r>
            <a:r>
              <a:rPr lang="en-US" sz="2400" b="0" noProof="0" dirty="0"/>
              <a:t> </a:t>
            </a:r>
            <a:r>
              <a:rPr lang="en-US" sz="2400" b="0" noProof="0" dirty="0" err="1"/>
              <a:t>Rechte</a:t>
            </a:r>
            <a:r>
              <a:rPr lang="en-US" sz="2400" b="0" noProof="0" dirty="0"/>
              <a:t> </a:t>
            </a:r>
            <a:r>
              <a:rPr lang="en-US" sz="2400" b="0" noProof="0" dirty="0" err="1"/>
              <a:t>vorbehalten</a:t>
            </a:r>
            <a:r>
              <a:rPr lang="en-US" sz="2400" b="0" noProof="0" dirty="0"/>
              <a:t>.</a:t>
            </a:r>
          </a:p>
        </p:txBody>
      </p:sp>
      <p:grpSp>
        <p:nvGrpSpPr>
          <p:cNvPr id="6" name="Secondary Motion Band"/>
          <p:cNvGrpSpPr/>
          <p:nvPr userDrawn="1"/>
        </p:nvGrpSpPr>
        <p:grpSpPr>
          <a:xfrm>
            <a:off x="10682127" y="0"/>
            <a:ext cx="1513048" cy="251942"/>
            <a:chOff x="10682127" y="0"/>
            <a:chExt cx="1513048" cy="252000"/>
          </a:xfrm>
        </p:grpSpPr>
        <p:sp>
          <p:nvSpPr>
            <p:cNvPr id="7" name="Rectangle 6"/>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Rectangle 8"/>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1911862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11549413" y="6536751"/>
            <a:ext cx="141064"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noProof="0" smtClean="0"/>
              <a:pPr marL="0" lvl="0" indent="0" algn="r">
                <a:buNone/>
              </a:pPr>
              <a:t>‹Nr.›</a:t>
            </a:fld>
            <a:endParaRPr lang="en-US" sz="900" noProof="0" dirty="0"/>
          </a:p>
        </p:txBody>
      </p:sp>
      <p:sp>
        <p:nvSpPr>
          <p:cNvPr id="11" name="Classification"/>
          <p:cNvSpPr txBox="1"/>
          <p:nvPr userDrawn="1"/>
        </p:nvSpPr>
        <p:spPr bwMode="black">
          <a:xfrm>
            <a:off x="2814655" y="6559834"/>
            <a:ext cx="381515" cy="92333"/>
          </a:xfrm>
          <a:prstGeom prst="rect">
            <a:avLst/>
          </a:prstGeom>
          <a:noFill/>
        </p:spPr>
        <p:txBody>
          <a:bodyPr wrap="none" lIns="0" tIns="0" rIns="0" bIns="0" rtlCol="0">
            <a:spAutoFit/>
          </a:bodyPr>
          <a:lstStyle/>
          <a:p>
            <a:pPr marL="0" marR="0" indent="0" algn="l" defTabSz="1088558" rtl="0" eaLnBrk="1" fontAlgn="auto" latinLnBrk="0" hangingPunct="1">
              <a:lnSpc>
                <a:spcPct val="100000"/>
              </a:lnSpc>
              <a:spcBef>
                <a:spcPts val="0"/>
              </a:spcBef>
              <a:spcAft>
                <a:spcPts val="0"/>
              </a:spcAft>
              <a:buClr>
                <a:schemeClr val="tx1"/>
              </a:buClr>
              <a:buSzTx/>
              <a:buFont typeface="Arial" pitchFamily="34" charset="0"/>
              <a:buNone/>
              <a:tabLst/>
              <a:defRPr/>
            </a:pPr>
            <a:r>
              <a:rPr kumimoji="0" lang="en-US" sz="600" b="0" i="0" u="none" kern="0" baseline="0">
                <a:solidFill>
                  <a:schemeClr val="tx1"/>
                </a:solidFill>
                <a:latin typeface="Arial"/>
                <a:ea typeface="Arial Unicode MS"/>
                <a:cs typeface="Arial Unicode MS" pitchFamily="34" charset="-128"/>
                <a:sym typeface="Arial"/>
              </a:rPr>
              <a:t>INTERNAL</a:t>
            </a:r>
            <a:endParaRPr kumimoji="0" lang="en-US" sz="600" b="0" i="0" u="none" kern="0" baseline="0" dirty="0">
              <a:solidFill>
                <a:schemeClr val="tx1"/>
              </a:solidFill>
              <a:latin typeface="Arial"/>
              <a:ea typeface="Arial Unicode MS"/>
              <a:cs typeface="Arial Unicode MS" pitchFamily="34" charset="-128"/>
              <a:sym typeface="Arial"/>
            </a:endParaRPr>
          </a:p>
        </p:txBody>
      </p:sp>
      <p:sp>
        <p:nvSpPr>
          <p:cNvPr id="10" name="Copyright"/>
          <p:cNvSpPr txBox="1"/>
          <p:nvPr userDrawn="1"/>
        </p:nvSpPr>
        <p:spPr bwMode="black">
          <a:xfrm>
            <a:off x="504001" y="6559834"/>
            <a:ext cx="2269679" cy="92333"/>
          </a:xfrm>
          <a:prstGeom prst="rect">
            <a:avLst/>
          </a:prstGeom>
          <a:noFill/>
        </p:spPr>
        <p:txBody>
          <a:bodyPr wrap="square" lIns="0" tIns="0" rIns="0" bIns="0" rtlCol="0">
            <a:spAutoFit/>
          </a:bodyPr>
          <a:lstStyle/>
          <a:p>
            <a:pPr marL="84121" marR="0" indent="-84121" algn="l" defTabSz="1088558"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dirty="0">
                <a:solidFill>
                  <a:schemeClr val="tx1"/>
                </a:solidFill>
              </a:rPr>
              <a:t>2017 SAP SE or an SAP affiliate company. All rights reserved.  </a:t>
            </a:r>
            <a:r>
              <a:rPr kumimoji="0" lang="en-US" sz="600" b="0" i="0" u="none" kern="0" baseline="0" dirty="0">
                <a:solidFill>
                  <a:schemeClr val="tx1"/>
                </a:solidFill>
                <a:latin typeface="Arial"/>
                <a:ea typeface="Arial Unicode MS"/>
                <a:cs typeface="Arial Unicode MS" pitchFamily="34" charset="-128"/>
                <a:sym typeface="Arial"/>
              </a:rPr>
              <a:t>ǀ</a:t>
            </a:r>
          </a:p>
        </p:txBody>
      </p:sp>
      <p:sp>
        <p:nvSpPr>
          <p:cNvPr id="3" name="Text Placeholder 2"/>
          <p:cNvSpPr>
            <a:spLocks noGrp="1"/>
          </p:cNvSpPr>
          <p:nvPr userDrawn="1">
            <p:ph type="body" idx="1"/>
          </p:nvPr>
        </p:nvSpPr>
        <p:spPr bwMode="gray">
          <a:xfrm>
            <a:off x="504001" y="1620000"/>
            <a:ext cx="11186476" cy="4230235"/>
          </a:xfrm>
          <a:prstGeom prst="rect">
            <a:avLst/>
          </a:prstGeom>
        </p:spPr>
        <p:txBody>
          <a:bodyPr vert="horz" lIns="0" tIns="0" rIns="0" bIns="0" rtlCol="0">
            <a:no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itle Placeholder 1"/>
          <p:cNvSpPr>
            <a:spLocks noGrp="1"/>
          </p:cNvSpPr>
          <p:nvPr userDrawn="1">
            <p:ph type="title"/>
          </p:nvPr>
        </p:nvSpPr>
        <p:spPr bwMode="gray">
          <a:xfrm>
            <a:off x="504001" y="504000"/>
            <a:ext cx="11186476" cy="369332"/>
          </a:xfrm>
          <a:prstGeom prst="rect">
            <a:avLst/>
          </a:prstGeom>
        </p:spPr>
        <p:txBody>
          <a:bodyPr vert="horz" wrap="square" lIns="0" tIns="0" rIns="0" bIns="0" rtlCol="0" anchor="t" anchorCtr="0">
            <a:spAutoFit/>
          </a:bodyPr>
          <a:lstStyle/>
          <a:p>
            <a:r>
              <a:rPr lang="en-US" noProof="0" dirty="0"/>
              <a:t>Insert page title (sentence case)</a:t>
            </a:r>
          </a:p>
        </p:txBody>
      </p:sp>
      <p:grpSp>
        <p:nvGrpSpPr>
          <p:cNvPr id="9" name="Secondary Motion Band"/>
          <p:cNvGrpSpPr/>
          <p:nvPr userDrawn="1"/>
        </p:nvGrpSpPr>
        <p:grpSpPr>
          <a:xfrm>
            <a:off x="10682127" y="0"/>
            <a:ext cx="1513048" cy="251942"/>
            <a:chOff x="10682127" y="0"/>
            <a:chExt cx="1513048" cy="252000"/>
          </a:xfrm>
        </p:grpSpPr>
        <p:sp>
          <p:nvSpPr>
            <p:cNvPr id="16" name="Rectangle 15"/>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7" name="Rectangle 16"/>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3408294523"/>
      </p:ext>
    </p:extLst>
  </p:cSld>
  <p:clrMap bg1="lt1" tx1="dk1" bg2="lt2" tx2="dk2" accent1="accent1" accent2="accent2" accent3="accent3" accent4="accent4" accent5="accent5" accent6="accent6" hlink="hlink" folHlink="folHlink"/>
  <p:sldLayoutIdLst>
    <p:sldLayoutId id="2147483772" r:id="rId1"/>
    <p:sldLayoutId id="2147483776" r:id="rId2"/>
    <p:sldLayoutId id="2147483773" r:id="rId3"/>
    <p:sldLayoutId id="2147483775" r:id="rId4"/>
    <p:sldLayoutId id="2147483741" r:id="rId5"/>
    <p:sldLayoutId id="2147483765" r:id="rId6"/>
    <p:sldLayoutId id="2147483767" r:id="rId7"/>
    <p:sldLayoutId id="2147483743" r:id="rId8"/>
    <p:sldLayoutId id="2147483774" r:id="rId9"/>
    <p:sldLayoutId id="2147483745" r:id="rId10"/>
    <p:sldLayoutId id="2147483760" r:id="rId11"/>
    <p:sldLayoutId id="2147483768" r:id="rId12"/>
    <p:sldLayoutId id="2147483769" r:id="rId13"/>
    <p:sldLayoutId id="2147483770" r:id="rId14"/>
    <p:sldLayoutId id="2147483744" r:id="rId15"/>
    <p:sldLayoutId id="2147483757" r:id="rId16"/>
    <p:sldLayoutId id="2147483748" r:id="rId17"/>
    <p:sldLayoutId id="2147483762" r:id="rId18"/>
    <p:sldLayoutId id="2147483771" r:id="rId19"/>
    <p:sldLayoutId id="2147483763" r:id="rId20"/>
    <p:sldLayoutId id="2147483751" r:id="rId21"/>
    <p:sldLayoutId id="2147483753" r:id="rId22"/>
    <p:sldLayoutId id="2147483756" r:id="rId23"/>
    <p:sldLayoutId id="2147483740" r:id="rId24"/>
    <p:sldLayoutId id="2147483754" r:id="rId25"/>
    <p:sldLayoutId id="2147483755" r:id="rId26"/>
  </p:sldLayoutIdLst>
  <p:hf hdr="0" ftr="0" dt="0"/>
  <p:txStyles>
    <p:titleStyle>
      <a:lvl1pPr algn="l" defTabSz="1088558" rtl="0" eaLnBrk="1" latinLnBrk="0" hangingPunct="1">
        <a:spcBef>
          <a:spcPct val="0"/>
        </a:spcBef>
        <a:buNone/>
        <a:defRPr sz="2400" b="1" kern="1200" baseline="0">
          <a:solidFill>
            <a:schemeClr val="tx1"/>
          </a:solidFill>
          <a:latin typeface="+mj-lt"/>
          <a:ea typeface="+mj-ea"/>
          <a:cs typeface="+mj-cs"/>
        </a:defRPr>
      </a:lvl1pPr>
    </p:titleStyle>
    <p:body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hyperlink" Target="https://kubernetes.io/docs/concepts/storage/volumes/"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17.svg"/><Relationship Id="rId5" Type="http://schemas.openxmlformats.org/officeDocument/2006/relationships/image" Target="../media/image11.png"/><Relationship Id="rId4" Type="http://schemas.openxmlformats.org/officeDocument/2006/relationships/image" Target="../media/image16.sv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29.sv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28.png"/><Relationship Id="rId5" Type="http://schemas.openxmlformats.org/officeDocument/2006/relationships/image" Target="../media/image30.png"/><Relationship Id="rId4" Type="http://schemas.openxmlformats.org/officeDocument/2006/relationships/image" Target="../media/image27.sv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32.sv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17.svg"/><Relationship Id="rId5" Type="http://schemas.openxmlformats.org/officeDocument/2006/relationships/image" Target="../media/image11.png"/><Relationship Id="rId4" Type="http://schemas.openxmlformats.org/officeDocument/2006/relationships/image" Target="../media/image16.sv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4"/>
          </p:nvPr>
        </p:nvSpPr>
        <p:spPr/>
        <p:txBody>
          <a:bodyPr/>
          <a:lstStyle/>
          <a:p>
            <a:r>
              <a:rPr lang="en-US" dirty="0"/>
              <a:t>Kubernetes</a:t>
            </a:r>
            <a:br>
              <a:rPr lang="en-US" dirty="0"/>
            </a:br>
            <a:r>
              <a:rPr lang="en-US" dirty="0">
                <a:solidFill>
                  <a:schemeClr val="accent1"/>
                </a:solidFill>
              </a:rPr>
              <a:t>Persistence</a:t>
            </a:r>
          </a:p>
        </p:txBody>
      </p:sp>
      <p:pic>
        <p:nvPicPr>
          <p:cNvPr id="7" name="Illustration" descr="Example of an illustration" title="Illustration for title slide">
            <a:extLst>
              <a:ext uri="{FF2B5EF4-FFF2-40B4-BE49-F238E27FC236}">
                <a16:creationId xmlns:a16="http://schemas.microsoft.com/office/drawing/2014/main" id="{E53C8E3A-1E81-4242-B8E7-650C8631D3D8}"/>
              </a:ext>
            </a:extLst>
          </p:cNvPr>
          <p:cNvPicPr>
            <a:picLocks noGrp="1" noChangeAspect="1"/>
          </p:cNvPicPr>
          <p:nvPr>
            <p:ph type="pic" sz="quarter" idx="12"/>
          </p:nvPr>
        </p:nvPicPr>
        <p:blipFill>
          <a:blip r:embed="rId3"/>
          <a:srcRect t="3112" b="3112"/>
          <a:stretch>
            <a:fillRect/>
          </a:stretch>
        </p:blipFill>
        <p:spPr bwMode="gray">
          <a:xfrm>
            <a:off x="0" y="0"/>
            <a:ext cx="12195174" cy="3430006"/>
          </a:xfrm>
        </p:spPr>
      </p:pic>
    </p:spTree>
    <p:extLst>
      <p:ext uri="{BB962C8B-B14F-4D97-AF65-F5344CB8AC3E}">
        <p14:creationId xmlns:p14="http://schemas.microsoft.com/office/powerpoint/2010/main" val="1819205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What‘s the issue? </a:t>
            </a:r>
          </a:p>
        </p:txBody>
      </p:sp>
      <p:sp>
        <p:nvSpPr>
          <p:cNvPr id="8" name="Rectangle 7"/>
          <p:cNvSpPr/>
          <p:nvPr/>
        </p:nvSpPr>
        <p:spPr>
          <a:xfrm>
            <a:off x="504000" y="1223190"/>
            <a:ext cx="10590719" cy="1061829"/>
          </a:xfrm>
          <a:prstGeom prst="rect">
            <a:avLst/>
          </a:prstGeom>
        </p:spPr>
        <p:txBody>
          <a:bodyPr wrap="square">
            <a:spAutoFit/>
          </a:bodyPr>
          <a:lstStyle/>
          <a:p>
            <a:pPr marL="342900" indent="-342900">
              <a:buFont typeface="Wingdings" panose="05000000000000000000" pitchFamily="2" charset="2"/>
              <a:buChar char="§"/>
            </a:pPr>
            <a:r>
              <a:rPr lang="en-US" dirty="0"/>
              <a:t>Pods have no strong runtime guarantees. They can easily be evicted.</a:t>
            </a:r>
          </a:p>
          <a:p>
            <a:pPr marL="342900" indent="-342900">
              <a:buFont typeface="Wingdings" panose="05000000000000000000" pitchFamily="2" charset="2"/>
              <a:buChar char="§"/>
            </a:pPr>
            <a:r>
              <a:rPr lang="en-US" dirty="0"/>
              <a:t>Data residing in a Pod will vanish with the Pod</a:t>
            </a:r>
          </a:p>
          <a:p>
            <a:pPr marL="342900" indent="-342900">
              <a:buFont typeface="Wingdings" panose="05000000000000000000" pitchFamily="2" charset="2"/>
              <a:buChar char="§"/>
            </a:pPr>
            <a:r>
              <a:rPr lang="en-US" dirty="0"/>
              <a:t>Containers in a Pod are not restarted upon errors but re-created</a:t>
            </a:r>
          </a:p>
        </p:txBody>
      </p:sp>
      <p:sp>
        <p:nvSpPr>
          <p:cNvPr id="4" name="Rectangle 3"/>
          <p:cNvSpPr/>
          <p:nvPr/>
        </p:nvSpPr>
        <p:spPr bwMode="gray">
          <a:xfrm>
            <a:off x="2900521" y="2655920"/>
            <a:ext cx="5032722" cy="3141422"/>
          </a:xfrm>
          <a:prstGeom prst="rect">
            <a:avLst/>
          </a:prstGeom>
          <a:solidFill>
            <a:schemeClr val="accent3"/>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lang="en-US" sz="1600" b="1" kern="0" noProof="0" dirty="0">
                <a:solidFill>
                  <a:schemeClr val="bg1"/>
                </a:solidFill>
                <a:ea typeface="Arial Unicode MS" pitchFamily="34" charset="-128"/>
                <a:cs typeface="Arial Unicode MS" pitchFamily="34" charset="-128"/>
              </a:rPr>
              <a:t>Pod-A</a:t>
            </a:r>
            <a:endParaRPr kumimoji="0" lang="en-US" sz="1600" b="1" i="0" u="none" strike="noStrike" kern="0" cap="none" spc="0" normalizeH="0" baseline="0" noProof="0" dirty="0">
              <a:ln>
                <a:noFill/>
              </a:ln>
              <a:solidFill>
                <a:schemeClr val="bg1"/>
              </a:solidFill>
              <a:effectLst/>
              <a:uLnTx/>
              <a:uFillTx/>
              <a:ea typeface="Arial Unicode MS" pitchFamily="34" charset="-128"/>
              <a:cs typeface="Arial Unicode MS" pitchFamily="34" charset="-128"/>
            </a:endParaRPr>
          </a:p>
        </p:txBody>
      </p:sp>
      <p:sp>
        <p:nvSpPr>
          <p:cNvPr id="5" name="Rectangle 4"/>
          <p:cNvSpPr/>
          <p:nvPr/>
        </p:nvSpPr>
        <p:spPr bwMode="gray">
          <a:xfrm>
            <a:off x="2728784" y="2473040"/>
            <a:ext cx="16459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IP: 10.10.10.1</a:t>
            </a:r>
          </a:p>
        </p:txBody>
      </p:sp>
      <p:sp>
        <p:nvSpPr>
          <p:cNvPr id="7" name="Rectangle 6"/>
          <p:cNvSpPr/>
          <p:nvPr/>
        </p:nvSpPr>
        <p:spPr bwMode="gray">
          <a:xfrm>
            <a:off x="4120117" y="3101660"/>
            <a:ext cx="2593530" cy="2432822"/>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container:</a:t>
            </a:r>
          </a:p>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nginx</a:t>
            </a:r>
          </a:p>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a:p>
            <a:pPr marR="0" algn="ctr" defTabSz="914400" eaLnBrk="1" fontAlgn="base" latinLnBrk="0" hangingPunct="1">
              <a:lnSpc>
                <a:spcPct val="100000"/>
              </a:lnSpc>
              <a:spcBef>
                <a:spcPct val="50000"/>
              </a:spcBef>
              <a:spcAft>
                <a:spcPct val="0"/>
              </a:spcAft>
              <a:buClr>
                <a:srgbClr val="F0AB00"/>
              </a:buClr>
              <a:buSzPct val="80000"/>
              <a:tabLst/>
            </a:pPr>
            <a:endParaRPr lang="en-US" sz="1800" kern="0" dirty="0">
              <a:ea typeface="Arial Unicode MS" pitchFamily="34" charset="-128"/>
              <a:cs typeface="Arial Unicode MS" pitchFamily="34" charset="-128"/>
            </a:endParaRPr>
          </a:p>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6" name="Cylinder 5"/>
          <p:cNvSpPr/>
          <p:nvPr/>
        </p:nvSpPr>
        <p:spPr bwMode="gray">
          <a:xfrm>
            <a:off x="4508182" y="4687753"/>
            <a:ext cx="1812912" cy="725054"/>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Container FS</a:t>
            </a:r>
          </a:p>
        </p:txBody>
      </p:sp>
      <p:pic>
        <p:nvPicPr>
          <p:cNvPr id="11" name="Grafik 10" descr="Totenkopf mit einfarbiger Füllung">
            <a:extLst>
              <a:ext uri="{FF2B5EF4-FFF2-40B4-BE49-F238E27FC236}">
                <a16:creationId xmlns:a16="http://schemas.microsoft.com/office/drawing/2014/main" id="{9D630A58-641E-70C7-C890-4B2DB568D43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59682" y="4004450"/>
            <a:ext cx="914400" cy="914400"/>
          </a:xfrm>
          <a:prstGeom prst="rect">
            <a:avLst/>
          </a:prstGeom>
        </p:spPr>
      </p:pic>
    </p:spTree>
    <p:extLst>
      <p:ext uri="{BB962C8B-B14F-4D97-AF65-F5344CB8AC3E}">
        <p14:creationId xmlns:p14="http://schemas.microsoft.com/office/powerpoint/2010/main" val="864191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689C4DFA-AAD7-4DF2-8308-7E50B140029E}"/>
              </a:ext>
            </a:extLst>
          </p:cNvPr>
          <p:cNvSpPr/>
          <p:nvPr/>
        </p:nvSpPr>
        <p:spPr bwMode="gray">
          <a:xfrm>
            <a:off x="3955774" y="1036357"/>
            <a:ext cx="6684918" cy="4956937"/>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algn="ctr" defTabSz="914400" fontAlgn="base">
              <a:spcBef>
                <a:spcPct val="50000"/>
              </a:spcBef>
              <a:spcAft>
                <a:spcPct val="0"/>
              </a:spcAft>
              <a:buClr>
                <a:srgbClr val="F0AB00"/>
              </a:buClr>
              <a:buSzPct val="80000"/>
            </a:pPr>
            <a:endParaRPr lang="de-DE" sz="2400" b="1" kern="0" dirty="0">
              <a:ea typeface="Arial Unicode MS" pitchFamily="34" charset="-128"/>
              <a:cs typeface="Arial Unicode MS" pitchFamily="34" charset="-128"/>
            </a:endParaRPr>
          </a:p>
        </p:txBody>
      </p:sp>
      <p:sp>
        <p:nvSpPr>
          <p:cNvPr id="2" name="Title 1">
            <a:extLst>
              <a:ext uri="{FF2B5EF4-FFF2-40B4-BE49-F238E27FC236}">
                <a16:creationId xmlns:a16="http://schemas.microsoft.com/office/drawing/2014/main" id="{AE3C9C03-1FD5-466C-A43A-66E85A4C2E5D}"/>
              </a:ext>
            </a:extLst>
          </p:cNvPr>
          <p:cNvSpPr>
            <a:spLocks noGrp="1"/>
          </p:cNvSpPr>
          <p:nvPr>
            <p:ph type="title"/>
          </p:nvPr>
        </p:nvSpPr>
        <p:spPr/>
        <p:txBody>
          <a:bodyPr/>
          <a:lstStyle/>
          <a:p>
            <a:r>
              <a:rPr lang="en-US" dirty="0"/>
              <a:t>Technically, it’s still about containers …</a:t>
            </a:r>
          </a:p>
        </p:txBody>
      </p:sp>
      <p:sp>
        <p:nvSpPr>
          <p:cNvPr id="3" name="Rectangle 2">
            <a:extLst>
              <a:ext uri="{FF2B5EF4-FFF2-40B4-BE49-F238E27FC236}">
                <a16:creationId xmlns:a16="http://schemas.microsoft.com/office/drawing/2014/main" id="{37534004-9BD7-46AF-8689-35CCE4320B4F}"/>
              </a:ext>
            </a:extLst>
          </p:cNvPr>
          <p:cNvSpPr/>
          <p:nvPr/>
        </p:nvSpPr>
        <p:spPr bwMode="gray">
          <a:xfrm>
            <a:off x="7224216" y="1159325"/>
            <a:ext cx="3274827" cy="4701421"/>
          </a:xfrm>
          <a:prstGeom prst="rect">
            <a:avLst/>
          </a:prstGeom>
          <a:noFill/>
          <a:ln w="25400" algn="ctr">
            <a:solidFill>
              <a:schemeClr val="tx1"/>
            </a:solidFill>
            <a:miter lim="800000"/>
            <a:headEnd/>
            <a:tailEnd/>
          </a:ln>
        </p:spPr>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Container</a:t>
            </a:r>
          </a:p>
        </p:txBody>
      </p:sp>
      <p:pic>
        <p:nvPicPr>
          <p:cNvPr id="9" name="Graphic 8" descr="Open folder">
            <a:extLst>
              <a:ext uri="{FF2B5EF4-FFF2-40B4-BE49-F238E27FC236}">
                <a16:creationId xmlns:a16="http://schemas.microsoft.com/office/drawing/2014/main" id="{CB24096E-25CB-439F-ABC1-1E6CF7542ED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04429" y="3159331"/>
            <a:ext cx="914400" cy="914400"/>
          </a:xfrm>
          <a:prstGeom prst="rect">
            <a:avLst/>
          </a:prstGeom>
        </p:spPr>
      </p:pic>
      <p:pic>
        <p:nvPicPr>
          <p:cNvPr id="5" name="Graphic 4" descr="Open folder">
            <a:extLst>
              <a:ext uri="{FF2B5EF4-FFF2-40B4-BE49-F238E27FC236}">
                <a16:creationId xmlns:a16="http://schemas.microsoft.com/office/drawing/2014/main" id="{5996316E-0396-4923-A41F-6E0B6B46255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49086" y="1234830"/>
            <a:ext cx="914400" cy="914400"/>
          </a:xfrm>
          <a:prstGeom prst="rect">
            <a:avLst/>
          </a:prstGeom>
        </p:spPr>
      </p:pic>
      <p:pic>
        <p:nvPicPr>
          <p:cNvPr id="7" name="Graphic 6" descr="Paper">
            <a:extLst>
              <a:ext uri="{FF2B5EF4-FFF2-40B4-BE49-F238E27FC236}">
                <a16:creationId xmlns:a16="http://schemas.microsoft.com/office/drawing/2014/main" id="{7F8972B3-A747-4C6F-A359-8591C0BC59F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582464" y="3896611"/>
            <a:ext cx="652943" cy="652943"/>
          </a:xfrm>
          <a:prstGeom prst="rect">
            <a:avLst/>
          </a:prstGeom>
        </p:spPr>
      </p:pic>
      <p:pic>
        <p:nvPicPr>
          <p:cNvPr id="8" name="Graphic 7" descr="Open folder">
            <a:extLst>
              <a:ext uri="{FF2B5EF4-FFF2-40B4-BE49-F238E27FC236}">
                <a16:creationId xmlns:a16="http://schemas.microsoft.com/office/drawing/2014/main" id="{90BF7465-B376-4AE8-9106-643B626574D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04429" y="1979113"/>
            <a:ext cx="914400" cy="914400"/>
          </a:xfrm>
          <a:prstGeom prst="rect">
            <a:avLst/>
          </a:prstGeom>
        </p:spPr>
      </p:pic>
      <p:pic>
        <p:nvPicPr>
          <p:cNvPr id="10" name="Graphic 9" descr="Paper">
            <a:extLst>
              <a:ext uri="{FF2B5EF4-FFF2-40B4-BE49-F238E27FC236}">
                <a16:creationId xmlns:a16="http://schemas.microsoft.com/office/drawing/2014/main" id="{76174BFA-09B4-42FF-B185-189CC49B32D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582463" y="2769061"/>
            <a:ext cx="652943" cy="652943"/>
          </a:xfrm>
          <a:prstGeom prst="rect">
            <a:avLst/>
          </a:prstGeom>
        </p:spPr>
      </p:pic>
      <p:cxnSp>
        <p:nvCxnSpPr>
          <p:cNvPr id="12" name="Connector: Elbow 11">
            <a:extLst>
              <a:ext uri="{FF2B5EF4-FFF2-40B4-BE49-F238E27FC236}">
                <a16:creationId xmlns:a16="http://schemas.microsoft.com/office/drawing/2014/main" id="{84CEB734-CA6C-481E-94C9-03DA89854903}"/>
              </a:ext>
            </a:extLst>
          </p:cNvPr>
          <p:cNvCxnSpPr>
            <a:stCxn id="5" idx="2"/>
            <a:endCxn id="8" idx="1"/>
          </p:cNvCxnSpPr>
          <p:nvPr/>
        </p:nvCxnSpPr>
        <p:spPr>
          <a:xfrm rot="16200000" flipH="1">
            <a:off x="8011816" y="2043699"/>
            <a:ext cx="287083" cy="498143"/>
          </a:xfrm>
          <a:prstGeom prst="bentConnector2">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DD16C945-8B15-467B-A978-AD5761198398}"/>
              </a:ext>
            </a:extLst>
          </p:cNvPr>
          <p:cNvCxnSpPr>
            <a:cxnSpLocks/>
            <a:stCxn id="5" idx="2"/>
            <a:endCxn id="9" idx="1"/>
          </p:cNvCxnSpPr>
          <p:nvPr/>
        </p:nvCxnSpPr>
        <p:spPr>
          <a:xfrm rot="16200000" flipH="1">
            <a:off x="7421707" y="2633808"/>
            <a:ext cx="1467301" cy="498143"/>
          </a:xfrm>
          <a:prstGeom prst="bentConnector2">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05A2AC34-A096-48F1-BFE3-69846F2190C4}"/>
              </a:ext>
            </a:extLst>
          </p:cNvPr>
          <p:cNvCxnSpPr>
            <a:stCxn id="8" idx="2"/>
            <a:endCxn id="10" idx="1"/>
          </p:cNvCxnSpPr>
          <p:nvPr/>
        </p:nvCxnSpPr>
        <p:spPr>
          <a:xfrm rot="16200000" flipH="1">
            <a:off x="9121036" y="2634106"/>
            <a:ext cx="202020" cy="720834"/>
          </a:xfrm>
          <a:prstGeom prst="bentConnector2">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07BDE53D-707A-4D25-8B01-43FF216CCD8E}"/>
              </a:ext>
            </a:extLst>
          </p:cNvPr>
          <p:cNvCxnSpPr>
            <a:cxnSpLocks/>
            <a:stCxn id="9" idx="2"/>
            <a:endCxn id="7" idx="1"/>
          </p:cNvCxnSpPr>
          <p:nvPr/>
        </p:nvCxnSpPr>
        <p:spPr>
          <a:xfrm rot="16200000" flipH="1">
            <a:off x="9147370" y="3787989"/>
            <a:ext cx="149352" cy="720835"/>
          </a:xfrm>
          <a:prstGeom prst="bentConnector2">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20" name="Graphic 19" descr="Paper">
            <a:extLst>
              <a:ext uri="{FF2B5EF4-FFF2-40B4-BE49-F238E27FC236}">
                <a16:creationId xmlns:a16="http://schemas.microsoft.com/office/drawing/2014/main" id="{76BA5873-5F4F-4A66-8E0E-AD657969D41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582463" y="4549554"/>
            <a:ext cx="652943" cy="652943"/>
          </a:xfrm>
          <a:prstGeom prst="rect">
            <a:avLst/>
          </a:prstGeom>
        </p:spPr>
      </p:pic>
      <p:cxnSp>
        <p:nvCxnSpPr>
          <p:cNvPr id="21" name="Connector: Elbow 20">
            <a:extLst>
              <a:ext uri="{FF2B5EF4-FFF2-40B4-BE49-F238E27FC236}">
                <a16:creationId xmlns:a16="http://schemas.microsoft.com/office/drawing/2014/main" id="{952717D7-3295-42AD-B0BA-899070A4BC00}"/>
              </a:ext>
            </a:extLst>
          </p:cNvPr>
          <p:cNvCxnSpPr>
            <a:cxnSpLocks/>
            <a:stCxn id="9" idx="2"/>
            <a:endCxn id="20" idx="1"/>
          </p:cNvCxnSpPr>
          <p:nvPr/>
        </p:nvCxnSpPr>
        <p:spPr>
          <a:xfrm rot="16200000" flipH="1">
            <a:off x="8820899" y="4114461"/>
            <a:ext cx="802295" cy="720834"/>
          </a:xfrm>
          <a:prstGeom prst="bentConnector2">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38" name="Graphic 37" descr="Open folder">
            <a:extLst>
              <a:ext uri="{FF2B5EF4-FFF2-40B4-BE49-F238E27FC236}">
                <a16:creationId xmlns:a16="http://schemas.microsoft.com/office/drawing/2014/main" id="{8E3063F4-F04B-4E45-991F-6CCEE9C6A49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58977" y="1234830"/>
            <a:ext cx="914400" cy="914400"/>
          </a:xfrm>
          <a:prstGeom prst="rect">
            <a:avLst/>
          </a:prstGeom>
        </p:spPr>
      </p:pic>
      <p:pic>
        <p:nvPicPr>
          <p:cNvPr id="39" name="Graphic 38" descr="Open folder">
            <a:extLst>
              <a:ext uri="{FF2B5EF4-FFF2-40B4-BE49-F238E27FC236}">
                <a16:creationId xmlns:a16="http://schemas.microsoft.com/office/drawing/2014/main" id="{49967E5A-EF4C-4EB1-B08D-88DD24DAC33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114320" y="2149230"/>
            <a:ext cx="914400" cy="914400"/>
          </a:xfrm>
          <a:prstGeom prst="rect">
            <a:avLst/>
          </a:prstGeom>
        </p:spPr>
      </p:pic>
      <p:pic>
        <p:nvPicPr>
          <p:cNvPr id="40" name="Graphic 39" descr="Open folder">
            <a:extLst>
              <a:ext uri="{FF2B5EF4-FFF2-40B4-BE49-F238E27FC236}">
                <a16:creationId xmlns:a16="http://schemas.microsoft.com/office/drawing/2014/main" id="{F0423320-73AA-43E1-8ED3-BE48B8BE40D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114320" y="3184447"/>
            <a:ext cx="914400" cy="914400"/>
          </a:xfrm>
          <a:prstGeom prst="rect">
            <a:avLst/>
          </a:prstGeom>
        </p:spPr>
      </p:pic>
      <p:cxnSp>
        <p:nvCxnSpPr>
          <p:cNvPr id="41" name="Connector: Elbow 40">
            <a:extLst>
              <a:ext uri="{FF2B5EF4-FFF2-40B4-BE49-F238E27FC236}">
                <a16:creationId xmlns:a16="http://schemas.microsoft.com/office/drawing/2014/main" id="{346226CF-B5A9-4F05-A6AD-32DCFC51F6DF}"/>
              </a:ext>
            </a:extLst>
          </p:cNvPr>
          <p:cNvCxnSpPr>
            <a:stCxn id="38" idx="2"/>
            <a:endCxn id="39" idx="1"/>
          </p:cNvCxnSpPr>
          <p:nvPr/>
        </p:nvCxnSpPr>
        <p:spPr>
          <a:xfrm rot="16200000" flipH="1">
            <a:off x="4636648" y="2128758"/>
            <a:ext cx="457200" cy="498143"/>
          </a:xfrm>
          <a:prstGeom prst="bentConnector2">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Connector: Elbow 41">
            <a:extLst>
              <a:ext uri="{FF2B5EF4-FFF2-40B4-BE49-F238E27FC236}">
                <a16:creationId xmlns:a16="http://schemas.microsoft.com/office/drawing/2014/main" id="{1939448F-7479-40F8-A250-44BDFE14B987}"/>
              </a:ext>
            </a:extLst>
          </p:cNvPr>
          <p:cNvCxnSpPr>
            <a:stCxn id="38" idx="2"/>
            <a:endCxn id="40" idx="1"/>
          </p:cNvCxnSpPr>
          <p:nvPr/>
        </p:nvCxnSpPr>
        <p:spPr>
          <a:xfrm rot="16200000" flipH="1">
            <a:off x="4119040" y="2646366"/>
            <a:ext cx="1492417" cy="498143"/>
          </a:xfrm>
          <a:prstGeom prst="bentConnector2">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24E152C0-412F-4E88-B9E6-24BE066A873B}"/>
              </a:ext>
            </a:extLst>
          </p:cNvPr>
          <p:cNvCxnSpPr>
            <a:cxnSpLocks/>
            <a:stCxn id="9" idx="1"/>
            <a:endCxn id="39" idx="3"/>
          </p:cNvCxnSpPr>
          <p:nvPr/>
        </p:nvCxnSpPr>
        <p:spPr>
          <a:xfrm rot="10800000">
            <a:off x="6028721" y="2606431"/>
            <a:ext cx="2375709" cy="1010101"/>
          </a:xfrm>
          <a:prstGeom prst="bentConnector3">
            <a:avLst>
              <a:gd name="adj1" fmla="val 50000"/>
            </a:avLst>
          </a:prstGeom>
          <a:ln w="254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64" name="Graphic 63" descr="Open folder">
            <a:extLst>
              <a:ext uri="{FF2B5EF4-FFF2-40B4-BE49-F238E27FC236}">
                <a16:creationId xmlns:a16="http://schemas.microsoft.com/office/drawing/2014/main" id="{1A03C5BB-8374-46DB-807B-1263F3DCD33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04429" y="4946346"/>
            <a:ext cx="914400" cy="914400"/>
          </a:xfrm>
          <a:prstGeom prst="rect">
            <a:avLst/>
          </a:prstGeom>
        </p:spPr>
      </p:pic>
      <p:cxnSp>
        <p:nvCxnSpPr>
          <p:cNvPr id="65" name="Connector: Elbow 64">
            <a:extLst>
              <a:ext uri="{FF2B5EF4-FFF2-40B4-BE49-F238E27FC236}">
                <a16:creationId xmlns:a16="http://schemas.microsoft.com/office/drawing/2014/main" id="{AF6072E9-DAFC-47E0-9675-342D2212800A}"/>
              </a:ext>
            </a:extLst>
          </p:cNvPr>
          <p:cNvCxnSpPr>
            <a:cxnSpLocks/>
            <a:stCxn id="5" idx="2"/>
            <a:endCxn id="64" idx="1"/>
          </p:cNvCxnSpPr>
          <p:nvPr/>
        </p:nvCxnSpPr>
        <p:spPr>
          <a:xfrm rot="16200000" flipH="1">
            <a:off x="6528199" y="3527316"/>
            <a:ext cx="3254316" cy="498143"/>
          </a:xfrm>
          <a:prstGeom prst="bentConnector2">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73" name="Graphic 72" descr="Database">
            <a:extLst>
              <a:ext uri="{FF2B5EF4-FFF2-40B4-BE49-F238E27FC236}">
                <a16:creationId xmlns:a16="http://schemas.microsoft.com/office/drawing/2014/main" id="{BAF624F1-5420-4059-812A-1BC02D968D6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69971" y="2758165"/>
            <a:ext cx="1766961" cy="1766961"/>
          </a:xfrm>
          <a:prstGeom prst="rect">
            <a:avLst/>
          </a:prstGeom>
        </p:spPr>
      </p:pic>
      <p:cxnSp>
        <p:nvCxnSpPr>
          <p:cNvPr id="74" name="Connector: Elbow 73">
            <a:extLst>
              <a:ext uri="{FF2B5EF4-FFF2-40B4-BE49-F238E27FC236}">
                <a16:creationId xmlns:a16="http://schemas.microsoft.com/office/drawing/2014/main" id="{B1BA2845-530D-4E2E-AD7C-6F5E46DB0C64}"/>
              </a:ext>
            </a:extLst>
          </p:cNvPr>
          <p:cNvCxnSpPr>
            <a:cxnSpLocks/>
            <a:stCxn id="40" idx="1"/>
            <a:endCxn id="73" idx="3"/>
          </p:cNvCxnSpPr>
          <p:nvPr/>
        </p:nvCxnSpPr>
        <p:spPr>
          <a:xfrm rot="10800000">
            <a:off x="2736932" y="3641647"/>
            <a:ext cx="2377388" cy="1"/>
          </a:xfrm>
          <a:prstGeom prst="bentConnector3">
            <a:avLst>
              <a:gd name="adj1" fmla="val 50000"/>
            </a:avLst>
          </a:prstGeom>
          <a:ln w="25400">
            <a:solidFill>
              <a:schemeClr val="accent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Connector: Elbow 76">
            <a:extLst>
              <a:ext uri="{FF2B5EF4-FFF2-40B4-BE49-F238E27FC236}">
                <a16:creationId xmlns:a16="http://schemas.microsoft.com/office/drawing/2014/main" id="{D2EF959F-4ECC-4C82-A500-ED79C936027E}"/>
              </a:ext>
            </a:extLst>
          </p:cNvPr>
          <p:cNvCxnSpPr>
            <a:cxnSpLocks/>
            <a:stCxn id="64" idx="1"/>
            <a:endCxn id="40" idx="2"/>
          </p:cNvCxnSpPr>
          <p:nvPr/>
        </p:nvCxnSpPr>
        <p:spPr>
          <a:xfrm rot="10800000">
            <a:off x="5571521" y="4098848"/>
            <a:ext cx="2832909" cy="1304699"/>
          </a:xfrm>
          <a:prstGeom prst="bentConnector2">
            <a:avLst/>
          </a:prstGeom>
          <a:ln w="25400">
            <a:solidFill>
              <a:schemeClr val="accent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Speech Bubble: Rectangle 30">
            <a:extLst>
              <a:ext uri="{FF2B5EF4-FFF2-40B4-BE49-F238E27FC236}">
                <a16:creationId xmlns:a16="http://schemas.microsoft.com/office/drawing/2014/main" id="{C6A7D9A8-EDF1-43EE-9EDE-5827D187B4B6}"/>
              </a:ext>
            </a:extLst>
          </p:cNvPr>
          <p:cNvSpPr/>
          <p:nvPr/>
        </p:nvSpPr>
        <p:spPr bwMode="gray">
          <a:xfrm>
            <a:off x="3102180" y="4570316"/>
            <a:ext cx="1646227" cy="1344702"/>
          </a:xfrm>
          <a:prstGeom prst="wedgeRectCallout">
            <a:avLst>
              <a:gd name="adj1" fmla="val -57674"/>
              <a:gd name="adj2" fmla="val -105638"/>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Aft>
                <a:spcPct val="0"/>
              </a:spcAft>
              <a:buClr>
                <a:srgbClr val="F0AB00"/>
              </a:buClr>
              <a:buSzPct val="80000"/>
              <a:tabLst/>
            </a:pPr>
            <a:r>
              <a:rPr lang="en-US" sz="1800" kern="0" dirty="0" err="1">
                <a:ea typeface="Arial Unicode MS" pitchFamily="34" charset="-128"/>
                <a:cs typeface="Arial Unicode MS" pitchFamily="34" charset="-128"/>
              </a:rPr>
              <a:t>azureDisk</a:t>
            </a:r>
            <a:endParaRPr lang="en-US" sz="1800" kern="0" dirty="0">
              <a:ea typeface="Arial Unicode MS" pitchFamily="34" charset="-128"/>
              <a:cs typeface="Arial Unicode MS" pitchFamily="34" charset="-128"/>
            </a:endParaRPr>
          </a:p>
          <a:p>
            <a:pPr marR="0" algn="ctr" defTabSz="914400" eaLnBrk="1" fontAlgn="base" latinLnBrk="0" hangingPunct="1">
              <a:lnSpc>
                <a:spcPct val="100000"/>
              </a:lnSpc>
              <a:spcAft>
                <a:spcPct val="0"/>
              </a:spcAft>
              <a:buClr>
                <a:srgbClr val="F0AB00"/>
              </a:buClr>
              <a:buSzPct val="80000"/>
              <a:tabLst/>
            </a:pPr>
            <a:r>
              <a:rPr lang="en-US" sz="1800" kern="0" dirty="0" err="1">
                <a:ea typeface="Arial Unicode MS" pitchFamily="34" charset="-128"/>
                <a:cs typeface="Arial Unicode MS" pitchFamily="34" charset="-128"/>
              </a:rPr>
              <a:t>gcePD</a:t>
            </a:r>
            <a:endParaRPr lang="en-US" sz="1800" kern="0" dirty="0">
              <a:ea typeface="Arial Unicode MS" pitchFamily="34" charset="-128"/>
              <a:cs typeface="Arial Unicode MS" pitchFamily="34" charset="-128"/>
            </a:endParaRPr>
          </a:p>
          <a:p>
            <a:pPr marR="0" algn="ctr" defTabSz="914400" eaLnBrk="1" fontAlgn="base" latinLnBrk="0" hangingPunct="1">
              <a:lnSpc>
                <a:spcPct val="100000"/>
              </a:lnSpc>
              <a:spcAft>
                <a:spcPct val="0"/>
              </a:spcAft>
              <a:buClr>
                <a:srgbClr val="F0AB00"/>
              </a:buClr>
              <a:buSzPct val="80000"/>
              <a:tabLst/>
            </a:pPr>
            <a:r>
              <a:rPr lang="en-US" sz="1800" kern="0" dirty="0">
                <a:ea typeface="Arial Unicode MS" pitchFamily="34" charset="-128"/>
                <a:cs typeface="Arial Unicode MS" pitchFamily="34" charset="-128"/>
              </a:rPr>
              <a:t>NFS</a:t>
            </a:r>
          </a:p>
        </p:txBody>
      </p:sp>
      <p:sp>
        <p:nvSpPr>
          <p:cNvPr id="11" name="Rectangle 10">
            <a:extLst>
              <a:ext uri="{FF2B5EF4-FFF2-40B4-BE49-F238E27FC236}">
                <a16:creationId xmlns:a16="http://schemas.microsoft.com/office/drawing/2014/main" id="{EEA733E8-0B5E-4EBD-A439-F2A2B5477CC2}"/>
              </a:ext>
            </a:extLst>
          </p:cNvPr>
          <p:cNvSpPr/>
          <p:nvPr/>
        </p:nvSpPr>
        <p:spPr>
          <a:xfrm>
            <a:off x="6674599" y="6123388"/>
            <a:ext cx="1083951" cy="523220"/>
          </a:xfrm>
          <a:prstGeom prst="rect">
            <a:avLst/>
          </a:prstGeom>
        </p:spPr>
        <p:txBody>
          <a:bodyPr wrap="none">
            <a:spAutoFit/>
          </a:bodyPr>
          <a:lstStyle/>
          <a:p>
            <a:pPr algn="ctr" defTabSz="914400" fontAlgn="base">
              <a:spcBef>
                <a:spcPct val="50000"/>
              </a:spcBef>
              <a:spcAft>
                <a:spcPct val="0"/>
              </a:spcAft>
              <a:buClr>
                <a:srgbClr val="F0AB00"/>
              </a:buClr>
              <a:buSzPct val="80000"/>
            </a:pPr>
            <a:r>
              <a:rPr lang="de-DE" sz="2800" b="1" kern="0" dirty="0" err="1">
                <a:ea typeface="Arial Unicode MS" pitchFamily="34" charset="-128"/>
                <a:cs typeface="Arial Unicode MS" pitchFamily="34" charset="-128"/>
              </a:rPr>
              <a:t>Node</a:t>
            </a:r>
            <a:endParaRPr lang="de-DE" sz="2800" b="1" kern="0" dirty="0">
              <a:ea typeface="Arial Unicode MS" pitchFamily="34" charset="-128"/>
              <a:cs typeface="Arial Unicode MS" pitchFamily="34" charset="-128"/>
            </a:endParaRPr>
          </a:p>
        </p:txBody>
      </p:sp>
    </p:spTree>
    <p:extLst>
      <p:ext uri="{BB962C8B-B14F-4D97-AF65-F5344CB8AC3E}">
        <p14:creationId xmlns:p14="http://schemas.microsoft.com/office/powerpoint/2010/main" val="1557971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How to solve it on K8s level?</a:t>
            </a:r>
          </a:p>
        </p:txBody>
      </p:sp>
      <p:sp>
        <p:nvSpPr>
          <p:cNvPr id="3" name="Rectangle 2"/>
          <p:cNvSpPr/>
          <p:nvPr/>
        </p:nvSpPr>
        <p:spPr bwMode="gray">
          <a:xfrm>
            <a:off x="1071721" y="2830093"/>
            <a:ext cx="5032722" cy="3141422"/>
          </a:xfrm>
          <a:prstGeom prst="rect">
            <a:avLst/>
          </a:prstGeom>
          <a:solidFill>
            <a:schemeClr val="accent3"/>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lang="en-US" sz="1600" b="1" kern="0" noProof="0" dirty="0">
                <a:solidFill>
                  <a:schemeClr val="bg1"/>
                </a:solidFill>
                <a:ea typeface="Arial Unicode MS" pitchFamily="34" charset="-128"/>
                <a:cs typeface="Arial Unicode MS" pitchFamily="34" charset="-128"/>
              </a:rPr>
              <a:t>Pod-A</a:t>
            </a:r>
            <a:endParaRPr kumimoji="0" lang="en-US" sz="1600" b="1" i="0" u="none" strike="noStrike" kern="0" cap="none" spc="0" normalizeH="0" baseline="0" noProof="0" dirty="0">
              <a:ln>
                <a:noFill/>
              </a:ln>
              <a:solidFill>
                <a:schemeClr val="bg1"/>
              </a:solidFill>
              <a:effectLst/>
              <a:uLnTx/>
              <a:uFillTx/>
              <a:ea typeface="Arial Unicode MS" pitchFamily="34" charset="-128"/>
              <a:cs typeface="Arial Unicode MS" pitchFamily="34" charset="-128"/>
            </a:endParaRPr>
          </a:p>
        </p:txBody>
      </p:sp>
      <p:sp>
        <p:nvSpPr>
          <p:cNvPr id="4" name="Rectangle 3"/>
          <p:cNvSpPr/>
          <p:nvPr/>
        </p:nvSpPr>
        <p:spPr bwMode="gray">
          <a:xfrm>
            <a:off x="882566" y="2775221"/>
            <a:ext cx="16459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IP: 10.10.10.1</a:t>
            </a:r>
          </a:p>
        </p:txBody>
      </p:sp>
      <p:sp>
        <p:nvSpPr>
          <p:cNvPr id="6" name="Cylinder 5"/>
          <p:cNvSpPr/>
          <p:nvPr/>
        </p:nvSpPr>
        <p:spPr bwMode="gray">
          <a:xfrm>
            <a:off x="7288556" y="3122468"/>
            <a:ext cx="2849743" cy="2556672"/>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Storage backend</a:t>
            </a:r>
          </a:p>
        </p:txBody>
      </p:sp>
      <p:sp>
        <p:nvSpPr>
          <p:cNvPr id="7" name="Rectangle 6"/>
          <p:cNvSpPr/>
          <p:nvPr/>
        </p:nvSpPr>
        <p:spPr bwMode="gray">
          <a:xfrm>
            <a:off x="1367076" y="3845369"/>
            <a:ext cx="1627931" cy="1156258"/>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C</a:t>
            </a: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ontainer</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a:t>
            </a:r>
          </a:p>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mount to /</a:t>
            </a:r>
            <a:r>
              <a:rPr lang="en-US" sz="1800" kern="0" dirty="0" err="1">
                <a:ea typeface="Arial Unicode MS" pitchFamily="34" charset="-128"/>
                <a:cs typeface="Arial Unicode MS" pitchFamily="34" charset="-128"/>
              </a:rPr>
              <a:t>mnt</a:t>
            </a:r>
            <a:r>
              <a:rPr lang="en-US" sz="1800" kern="0" dirty="0">
                <a:ea typeface="Arial Unicode MS" pitchFamily="34" charset="-128"/>
                <a:cs typeface="Arial Unicode MS" pitchFamily="34" charset="-128"/>
              </a:rPr>
              <a:t>/app</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9" name="Rectangle 18"/>
          <p:cNvSpPr/>
          <p:nvPr/>
        </p:nvSpPr>
        <p:spPr>
          <a:xfrm>
            <a:off x="504000" y="1223190"/>
            <a:ext cx="10590719" cy="1384995"/>
          </a:xfrm>
          <a:prstGeom prst="rect">
            <a:avLst/>
          </a:prstGeom>
        </p:spPr>
        <p:txBody>
          <a:bodyPr wrap="square">
            <a:spAutoFit/>
          </a:bodyPr>
          <a:lstStyle/>
          <a:p>
            <a:pPr marL="342900" indent="-342900">
              <a:buFont typeface="Wingdings" panose="05000000000000000000" pitchFamily="2" charset="2"/>
              <a:buChar char="§"/>
            </a:pPr>
            <a:r>
              <a:rPr lang="en-US" dirty="0"/>
              <a:t>Pods may declare &amp; request the usage of storage</a:t>
            </a:r>
          </a:p>
          <a:p>
            <a:pPr marL="342900" indent="-342900">
              <a:buFont typeface="Wingdings" panose="05000000000000000000" pitchFamily="2" charset="2"/>
              <a:buChar char="§"/>
            </a:pPr>
            <a:r>
              <a:rPr lang="en-US" dirty="0"/>
              <a:t>Kubernetes makes the file system available to the container</a:t>
            </a:r>
          </a:p>
          <a:p>
            <a:pPr marL="342900" indent="-342900">
              <a:buFont typeface="Wingdings" panose="05000000000000000000" pitchFamily="2" charset="2"/>
              <a:buChar char="§"/>
            </a:pPr>
            <a:r>
              <a:rPr lang="en-US" dirty="0"/>
              <a:t>Kubernetes offers different types of storage integration:</a:t>
            </a:r>
          </a:p>
          <a:p>
            <a:pPr marL="887288" lvl="1" indent="-342900">
              <a:buFont typeface="Wingdings" panose="05000000000000000000" pitchFamily="2" charset="2"/>
              <a:buChar char="§"/>
            </a:pPr>
            <a:r>
              <a:rPr lang="en-US" dirty="0">
                <a:hlinkClick r:id="rId3"/>
              </a:rPr>
              <a:t>https://kubernetes.io/docs/concepts/storage/volumes/</a:t>
            </a:r>
            <a:r>
              <a:rPr lang="en-US" dirty="0"/>
              <a:t> </a:t>
            </a:r>
          </a:p>
        </p:txBody>
      </p:sp>
      <p:sp>
        <p:nvSpPr>
          <p:cNvPr id="10" name="Rectangle: Folded Corner 9">
            <a:extLst>
              <a:ext uri="{FF2B5EF4-FFF2-40B4-BE49-F238E27FC236}">
                <a16:creationId xmlns:a16="http://schemas.microsoft.com/office/drawing/2014/main" id="{3517D632-E7C8-457B-8486-7040039A0346}"/>
              </a:ext>
            </a:extLst>
          </p:cNvPr>
          <p:cNvSpPr/>
          <p:nvPr/>
        </p:nvSpPr>
        <p:spPr bwMode="gray">
          <a:xfrm>
            <a:off x="3923323" y="4019329"/>
            <a:ext cx="1162455" cy="799123"/>
          </a:xfrm>
          <a:prstGeom prst="foldedCorner">
            <a:avLst/>
          </a:prstGeom>
          <a:solidFill>
            <a:schemeClr val="accent1">
              <a:lumMod val="20000"/>
              <a:lumOff val="80000"/>
            </a:schemeClr>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a:solidFill>
                  <a:schemeClr val="dk1"/>
                </a:solidFill>
                <a:latin typeface="+mn-lt"/>
                <a:ea typeface="Arial Unicode MS" pitchFamily="34" charset="-128"/>
                <a:cs typeface="Arial Unicode MS" pitchFamily="34" charset="-128"/>
              </a:rPr>
              <a:t>reference</a:t>
            </a:r>
            <a:endParaRPr lang="de-DE" sz="1800" kern="0" dirty="0" err="1">
              <a:solidFill>
                <a:schemeClr val="dk1"/>
              </a:solidFill>
              <a:latin typeface="+mn-lt"/>
              <a:ea typeface="Arial Unicode MS" pitchFamily="34" charset="-128"/>
              <a:cs typeface="Arial Unicode MS" pitchFamily="34" charset="-128"/>
            </a:endParaRPr>
          </a:p>
        </p:txBody>
      </p:sp>
      <p:cxnSp>
        <p:nvCxnSpPr>
          <p:cNvPr id="18" name="Straight Arrow Connector 17">
            <a:extLst>
              <a:ext uri="{FF2B5EF4-FFF2-40B4-BE49-F238E27FC236}">
                <a16:creationId xmlns:a16="http://schemas.microsoft.com/office/drawing/2014/main" id="{E0D33A96-9C53-4F98-807F-88BF803B73B4}"/>
              </a:ext>
            </a:extLst>
          </p:cNvPr>
          <p:cNvCxnSpPr>
            <a:cxnSpLocks/>
            <a:stCxn id="6" idx="2"/>
            <a:endCxn id="10" idx="3"/>
          </p:cNvCxnSpPr>
          <p:nvPr/>
        </p:nvCxnSpPr>
        <p:spPr>
          <a:xfrm flipH="1">
            <a:off x="5085778" y="4400804"/>
            <a:ext cx="2202778" cy="18087"/>
          </a:xfrm>
          <a:prstGeom prst="straightConnector1">
            <a:avLst/>
          </a:prstGeom>
          <a:ln w="381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B689FC9-7BDE-4FFC-B2BF-7DFAF928FCC5}"/>
              </a:ext>
            </a:extLst>
          </p:cNvPr>
          <p:cNvCxnSpPr>
            <a:cxnSpLocks/>
            <a:stCxn id="10" idx="1"/>
            <a:endCxn id="7" idx="3"/>
          </p:cNvCxnSpPr>
          <p:nvPr/>
        </p:nvCxnSpPr>
        <p:spPr>
          <a:xfrm flipH="1">
            <a:off x="2995007" y="4418891"/>
            <a:ext cx="928316" cy="4607"/>
          </a:xfrm>
          <a:prstGeom prst="straightConnector1">
            <a:avLst/>
          </a:prstGeom>
          <a:ln w="381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01053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234DD-73A1-402F-B475-DA6E6D6E031B}"/>
              </a:ext>
            </a:extLst>
          </p:cNvPr>
          <p:cNvSpPr>
            <a:spLocks noGrp="1"/>
          </p:cNvSpPr>
          <p:nvPr>
            <p:ph type="title"/>
          </p:nvPr>
        </p:nvSpPr>
        <p:spPr/>
        <p:txBody>
          <a:bodyPr/>
          <a:lstStyle/>
          <a:p>
            <a:r>
              <a:rPr lang="en-US" dirty="0"/>
              <a:t>What happens in the background …</a:t>
            </a:r>
          </a:p>
        </p:txBody>
      </p:sp>
      <p:sp>
        <p:nvSpPr>
          <p:cNvPr id="3" name="Rectangle 2">
            <a:extLst>
              <a:ext uri="{FF2B5EF4-FFF2-40B4-BE49-F238E27FC236}">
                <a16:creationId xmlns:a16="http://schemas.microsoft.com/office/drawing/2014/main" id="{72112438-74E8-4D00-9C25-8F0D762876A1}"/>
              </a:ext>
            </a:extLst>
          </p:cNvPr>
          <p:cNvSpPr/>
          <p:nvPr/>
        </p:nvSpPr>
        <p:spPr bwMode="gray">
          <a:xfrm>
            <a:off x="734113" y="1194318"/>
            <a:ext cx="5363474" cy="4822103"/>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algn="ctr" defTabSz="914400" fontAlgn="base">
              <a:spcBef>
                <a:spcPct val="50000"/>
              </a:spcBef>
              <a:spcAft>
                <a:spcPct val="0"/>
              </a:spcAft>
              <a:buClr>
                <a:srgbClr val="F0AB00"/>
              </a:buClr>
              <a:buSzPct val="80000"/>
            </a:pPr>
            <a:r>
              <a:rPr lang="de-DE" sz="2400" b="1" kern="0" dirty="0" err="1">
                <a:ea typeface="Arial Unicode MS" pitchFamily="34" charset="-128"/>
                <a:cs typeface="Arial Unicode MS" pitchFamily="34" charset="-128"/>
              </a:rPr>
              <a:t>Node</a:t>
            </a:r>
            <a:endParaRPr lang="de-DE" sz="2400" b="1" kern="0" dirty="0">
              <a:ea typeface="Arial Unicode MS" pitchFamily="34" charset="-128"/>
              <a:cs typeface="Arial Unicode MS" pitchFamily="34" charset="-128"/>
            </a:endParaRPr>
          </a:p>
        </p:txBody>
      </p:sp>
      <p:sp>
        <p:nvSpPr>
          <p:cNvPr id="4" name="Rectangle 3">
            <a:extLst>
              <a:ext uri="{FF2B5EF4-FFF2-40B4-BE49-F238E27FC236}">
                <a16:creationId xmlns:a16="http://schemas.microsoft.com/office/drawing/2014/main" id="{660740E0-E110-40F4-B654-BF64B5C3974C}"/>
              </a:ext>
            </a:extLst>
          </p:cNvPr>
          <p:cNvSpPr/>
          <p:nvPr/>
        </p:nvSpPr>
        <p:spPr bwMode="gray">
          <a:xfrm>
            <a:off x="942854" y="1824023"/>
            <a:ext cx="4945992" cy="3149193"/>
          </a:xfrm>
          <a:prstGeom prst="rect">
            <a:avLst/>
          </a:prstGeom>
          <a:solidFill>
            <a:schemeClr val="accent3"/>
          </a:solidFill>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b"/>
          <a:lstStyle/>
          <a:p>
            <a:pPr marR="0" algn="ctr" defTabSz="914400" eaLnBrk="1" fontAlgn="base" latinLnBrk="0" hangingPunct="1">
              <a:lnSpc>
                <a:spcPct val="100000"/>
              </a:lnSpc>
              <a:spcBef>
                <a:spcPct val="50000"/>
              </a:spcBef>
              <a:spcAft>
                <a:spcPct val="0"/>
              </a:spcAft>
              <a:buClr>
                <a:srgbClr val="F0AB00"/>
              </a:buClr>
              <a:buSzPct val="80000"/>
              <a:tabLst/>
            </a:pPr>
            <a:r>
              <a:rPr lang="de-DE" sz="2000" b="1" kern="0" noProof="0" dirty="0" err="1">
                <a:solidFill>
                  <a:schemeClr val="bg1"/>
                </a:solidFill>
                <a:ea typeface="Arial Unicode MS" pitchFamily="34" charset="-128"/>
                <a:cs typeface="Arial Unicode MS" pitchFamily="34" charset="-128"/>
              </a:rPr>
              <a:t>kubelet</a:t>
            </a:r>
            <a:endParaRPr kumimoji="0" lang="de-DE" sz="2400" b="1" i="0" strike="noStrike" kern="0" cap="none" spc="0" normalizeH="0" baseline="0" noProof="0" dirty="0">
              <a:ln>
                <a:noFill/>
              </a:ln>
              <a:solidFill>
                <a:schemeClr val="bg1"/>
              </a:solidFill>
              <a:effectLst/>
              <a:uLnTx/>
              <a:uFillTx/>
              <a:ea typeface="Arial Unicode MS" pitchFamily="34" charset="-128"/>
              <a:cs typeface="Arial Unicode MS" pitchFamily="34" charset="-128"/>
            </a:endParaRPr>
          </a:p>
        </p:txBody>
      </p:sp>
      <p:sp>
        <p:nvSpPr>
          <p:cNvPr id="5" name="Rectangle 4">
            <a:extLst>
              <a:ext uri="{FF2B5EF4-FFF2-40B4-BE49-F238E27FC236}">
                <a16:creationId xmlns:a16="http://schemas.microsoft.com/office/drawing/2014/main" id="{4057C0D8-57A8-4B70-9D4A-B8773F041256}"/>
              </a:ext>
            </a:extLst>
          </p:cNvPr>
          <p:cNvSpPr/>
          <p:nvPr/>
        </p:nvSpPr>
        <p:spPr bwMode="gray">
          <a:xfrm>
            <a:off x="1492898" y="2226479"/>
            <a:ext cx="3853543" cy="1449781"/>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b="1" kern="0" noProof="0" dirty="0">
                <a:ea typeface="Arial Unicode MS" pitchFamily="34" charset="-128"/>
                <a:cs typeface="Arial Unicode MS" pitchFamily="34" charset="-128"/>
              </a:rPr>
              <a:t>Container</a:t>
            </a:r>
          </a:p>
          <a:p>
            <a:pPr marR="0" algn="ctr" defTabSz="914400" eaLnBrk="1" fontAlgn="base" latinLnBrk="0" hangingPunct="1">
              <a:lnSpc>
                <a:spcPct val="100000"/>
              </a:lnSpc>
              <a:spcBef>
                <a:spcPct val="50000"/>
              </a:spcBef>
              <a:spcAft>
                <a:spcPct val="0"/>
              </a:spcAft>
              <a:buClr>
                <a:srgbClr val="F0AB00"/>
              </a:buClr>
              <a:buSzPct val="80000"/>
              <a:tabLst/>
            </a:pPr>
            <a:r>
              <a:rPr kumimoji="0" lang="de-DE" sz="1600" i="1" u="none" strike="noStrike" kern="0" cap="none" spc="0" normalizeH="0" baseline="0" dirty="0">
                <a:ln>
                  <a:noFill/>
                </a:ln>
                <a:effectLst/>
                <a:uLnTx/>
                <a:uFillTx/>
                <a:ea typeface="Arial Unicode MS" pitchFamily="34" charset="-128"/>
                <a:cs typeface="Arial Unicode MS" pitchFamily="34" charset="-128"/>
              </a:rPr>
              <a:t>/</a:t>
            </a:r>
            <a:r>
              <a:rPr kumimoji="0" lang="de-DE" sz="1600" i="1" u="none" strike="noStrike" kern="0" cap="none" spc="0" normalizeH="0" baseline="0" dirty="0" err="1">
                <a:ln>
                  <a:noFill/>
                </a:ln>
                <a:effectLst/>
                <a:uLnTx/>
                <a:uFillTx/>
                <a:ea typeface="Arial Unicode MS" pitchFamily="34" charset="-128"/>
                <a:cs typeface="Arial Unicode MS" pitchFamily="34" charset="-128"/>
              </a:rPr>
              <a:t>usr</a:t>
            </a:r>
            <a:r>
              <a:rPr kumimoji="0" lang="de-DE" sz="1600" i="1" u="none" strike="noStrike" kern="0" cap="none" spc="0" normalizeH="0" baseline="0" dirty="0">
                <a:ln>
                  <a:noFill/>
                </a:ln>
                <a:effectLst/>
                <a:uLnTx/>
                <a:uFillTx/>
                <a:ea typeface="Arial Unicode MS" pitchFamily="34" charset="-128"/>
                <a:cs typeface="Arial Unicode MS" pitchFamily="34" charset="-128"/>
              </a:rPr>
              <a:t>/</a:t>
            </a:r>
            <a:r>
              <a:rPr kumimoji="0" lang="de-DE" sz="1600" i="1" u="none" strike="noStrike" kern="0" cap="none" spc="0" normalizeH="0" baseline="0" dirty="0" err="1">
                <a:ln>
                  <a:noFill/>
                </a:ln>
                <a:effectLst/>
                <a:uLnTx/>
                <a:uFillTx/>
                <a:ea typeface="Arial Unicode MS" pitchFamily="34" charset="-128"/>
                <a:cs typeface="Arial Unicode MS" pitchFamily="34" charset="-128"/>
              </a:rPr>
              <a:t>share</a:t>
            </a:r>
            <a:r>
              <a:rPr kumimoji="0" lang="de-DE" sz="1600" i="1" u="none" strike="noStrike" kern="0" cap="none" spc="0" normalizeH="0" baseline="0" dirty="0">
                <a:ln>
                  <a:noFill/>
                </a:ln>
                <a:effectLst/>
                <a:uLnTx/>
                <a:uFillTx/>
                <a:ea typeface="Arial Unicode MS" pitchFamily="34" charset="-128"/>
                <a:cs typeface="Arial Unicode MS" pitchFamily="34" charset="-128"/>
              </a:rPr>
              <a:t>/</a:t>
            </a:r>
            <a:r>
              <a:rPr kumimoji="0" lang="de-DE" sz="1600" i="1" u="none" strike="noStrike" kern="0" cap="none" spc="0" normalizeH="0" baseline="0" dirty="0" err="1">
                <a:ln>
                  <a:noFill/>
                </a:ln>
                <a:effectLst/>
                <a:uLnTx/>
                <a:uFillTx/>
                <a:ea typeface="Arial Unicode MS" pitchFamily="34" charset="-128"/>
                <a:cs typeface="Arial Unicode MS" pitchFamily="34" charset="-128"/>
              </a:rPr>
              <a:t>nginx</a:t>
            </a:r>
            <a:r>
              <a:rPr kumimoji="0" lang="de-DE" sz="1600" i="1" u="none" strike="noStrike" kern="0" cap="none" spc="0" normalizeH="0" baseline="0" dirty="0">
                <a:ln>
                  <a:noFill/>
                </a:ln>
                <a:effectLst/>
                <a:uLnTx/>
                <a:uFillTx/>
                <a:ea typeface="Arial Unicode MS" pitchFamily="34" charset="-128"/>
                <a:cs typeface="Arial Unicode MS" pitchFamily="34" charset="-128"/>
              </a:rPr>
              <a:t>/</a:t>
            </a:r>
            <a:r>
              <a:rPr kumimoji="0" lang="de-DE" sz="1600" i="1" u="none" strike="noStrike" kern="0" cap="none" spc="0" normalizeH="0" baseline="0" dirty="0" err="1">
                <a:ln>
                  <a:noFill/>
                </a:ln>
                <a:effectLst/>
                <a:uLnTx/>
                <a:uFillTx/>
                <a:ea typeface="Arial Unicode MS" pitchFamily="34" charset="-128"/>
                <a:cs typeface="Arial Unicode MS" pitchFamily="34" charset="-128"/>
              </a:rPr>
              <a:t>html</a:t>
            </a:r>
            <a:endParaRPr kumimoji="0" lang="de-DE" sz="1600" i="1" u="none" strike="noStrike" kern="0" cap="none" spc="0" normalizeH="0" baseline="0" noProof="0" dirty="0">
              <a:ln>
                <a:noFill/>
              </a:ln>
              <a:effectLst/>
              <a:uLnTx/>
              <a:uFillTx/>
              <a:ea typeface="Arial Unicode MS" pitchFamily="34" charset="-128"/>
              <a:cs typeface="Arial Unicode MS" pitchFamily="34" charset="-128"/>
            </a:endParaRPr>
          </a:p>
        </p:txBody>
      </p:sp>
      <p:sp>
        <p:nvSpPr>
          <p:cNvPr id="6" name="Rectangle: Rounded Corners 5">
            <a:extLst>
              <a:ext uri="{FF2B5EF4-FFF2-40B4-BE49-F238E27FC236}">
                <a16:creationId xmlns:a16="http://schemas.microsoft.com/office/drawing/2014/main" id="{25830A98-D5F1-49CA-B6A9-D1D12437F037}"/>
              </a:ext>
            </a:extLst>
          </p:cNvPr>
          <p:cNvSpPr/>
          <p:nvPr/>
        </p:nvSpPr>
        <p:spPr bwMode="gray">
          <a:xfrm>
            <a:off x="1156996" y="2025447"/>
            <a:ext cx="4488024" cy="2163998"/>
          </a:xfrm>
          <a:prstGeom prst="roundRect">
            <a:avLst/>
          </a:prstGeom>
          <a:noFill/>
          <a:ln w="19050" algn="ctr">
            <a:solidFill>
              <a:schemeClr val="tx1"/>
            </a:solidFill>
            <a:prstDash val="dash"/>
            <a:miter lim="800000"/>
            <a:headEnd/>
            <a:tailEnd/>
          </a:ln>
        </p:spPr>
        <p:txBody>
          <a:bodyPr lIns="90000" tIns="72000" rIns="90000" bIns="72000" rtlCol="0" anchor="b"/>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Pod</a:t>
            </a:r>
          </a:p>
        </p:txBody>
      </p:sp>
      <p:cxnSp>
        <p:nvCxnSpPr>
          <p:cNvPr id="10" name="Connector: Elbow 9">
            <a:extLst>
              <a:ext uri="{FF2B5EF4-FFF2-40B4-BE49-F238E27FC236}">
                <a16:creationId xmlns:a16="http://schemas.microsoft.com/office/drawing/2014/main" id="{7058B0CF-4E8B-44F0-AB4E-8A4167EF78D9}"/>
              </a:ext>
            </a:extLst>
          </p:cNvPr>
          <p:cNvCxnSpPr>
            <a:cxnSpLocks/>
            <a:stCxn id="41" idx="2"/>
            <a:endCxn id="17" idx="2"/>
          </p:cNvCxnSpPr>
          <p:nvPr/>
        </p:nvCxnSpPr>
        <p:spPr>
          <a:xfrm rot="5400000">
            <a:off x="6683196" y="1664086"/>
            <a:ext cx="701886" cy="7236578"/>
          </a:xfrm>
          <a:prstGeom prst="bentConnector3">
            <a:avLst>
              <a:gd name="adj1" fmla="val 208343"/>
            </a:avLst>
          </a:prstGeom>
          <a:ln w="76200">
            <a:headEnd type="none" w="med" len="med"/>
            <a:tailEnd type="triangle"/>
          </a:ln>
        </p:spPr>
        <p:style>
          <a:lnRef idx="1">
            <a:schemeClr val="accent2"/>
          </a:lnRef>
          <a:fillRef idx="0">
            <a:schemeClr val="accent2"/>
          </a:fillRef>
          <a:effectRef idx="0">
            <a:schemeClr val="accent2"/>
          </a:effectRef>
          <a:fontRef idx="minor">
            <a:schemeClr val="tx1"/>
          </a:fontRef>
        </p:style>
      </p:cxnSp>
      <p:pic>
        <p:nvPicPr>
          <p:cNvPr id="8" name="Graphic 7" descr="Database">
            <a:extLst>
              <a:ext uri="{FF2B5EF4-FFF2-40B4-BE49-F238E27FC236}">
                <a16:creationId xmlns:a16="http://schemas.microsoft.com/office/drawing/2014/main" id="{91424F3F-1D0A-4E2E-93FA-2C0708021F9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38262" y="2835354"/>
            <a:ext cx="1992118" cy="1992118"/>
          </a:xfrm>
          <a:prstGeom prst="rect">
            <a:avLst/>
          </a:prstGeom>
        </p:spPr>
      </p:pic>
      <p:sp>
        <p:nvSpPr>
          <p:cNvPr id="13" name="TextBox 12">
            <a:extLst>
              <a:ext uri="{FF2B5EF4-FFF2-40B4-BE49-F238E27FC236}">
                <a16:creationId xmlns:a16="http://schemas.microsoft.com/office/drawing/2014/main" id="{B41FC596-573E-4AE8-B730-E5EDE03ABBFA}"/>
              </a:ext>
            </a:extLst>
          </p:cNvPr>
          <p:cNvSpPr txBox="1"/>
          <p:nvPr/>
        </p:nvSpPr>
        <p:spPr>
          <a:xfrm>
            <a:off x="8153032" y="3402992"/>
            <a:ext cx="1955904" cy="553998"/>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1800" b="1" kern="0" dirty="0">
                <a:ea typeface="Arial Unicode MS" pitchFamily="34" charset="-128"/>
                <a:cs typeface="Arial Unicode MS" pitchFamily="34" charset="-128"/>
              </a:rPr>
              <a:t>10 GB      Persistent Disk </a:t>
            </a:r>
          </a:p>
        </p:txBody>
      </p:sp>
      <p:sp>
        <p:nvSpPr>
          <p:cNvPr id="17" name="TextBox 16">
            <a:extLst>
              <a:ext uri="{FF2B5EF4-FFF2-40B4-BE49-F238E27FC236}">
                <a16:creationId xmlns:a16="http://schemas.microsoft.com/office/drawing/2014/main" id="{D139FEFC-B3E0-41A1-A62C-89812500AB8A}"/>
              </a:ext>
            </a:extLst>
          </p:cNvPr>
          <p:cNvSpPr txBox="1"/>
          <p:nvPr/>
        </p:nvSpPr>
        <p:spPr>
          <a:xfrm>
            <a:off x="2086237" y="5356319"/>
            <a:ext cx="2659225" cy="276999"/>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1800" b="1" i="1" kern="0" dirty="0">
                <a:solidFill>
                  <a:schemeClr val="accent5"/>
                </a:solidFill>
                <a:ea typeface="Arial Unicode MS" pitchFamily="34" charset="-128"/>
                <a:cs typeface="Arial Unicode MS" pitchFamily="34" charset="-128"/>
              </a:rPr>
              <a:t>/</a:t>
            </a:r>
            <a:r>
              <a:rPr lang="en-US" sz="1800" b="1" i="1" kern="0" dirty="0" err="1">
                <a:solidFill>
                  <a:schemeClr val="accent5"/>
                </a:solidFill>
                <a:ea typeface="Arial Unicode MS" pitchFamily="34" charset="-128"/>
                <a:cs typeface="Arial Unicode MS" pitchFamily="34" charset="-128"/>
              </a:rPr>
              <a:t>mnt</a:t>
            </a:r>
            <a:r>
              <a:rPr lang="en-US" sz="1800" b="1" i="1" kern="0" dirty="0">
                <a:solidFill>
                  <a:schemeClr val="accent5"/>
                </a:solidFill>
                <a:ea typeface="Arial Unicode MS" pitchFamily="34" charset="-128"/>
                <a:cs typeface="Arial Unicode MS" pitchFamily="34" charset="-128"/>
              </a:rPr>
              <a:t>/</a:t>
            </a:r>
            <a:r>
              <a:rPr lang="en-US" sz="1800" b="1" i="1" kern="0" dirty="0" err="1">
                <a:solidFill>
                  <a:schemeClr val="accent5"/>
                </a:solidFill>
                <a:ea typeface="Arial Unicode MS" pitchFamily="34" charset="-128"/>
                <a:cs typeface="Arial Unicode MS" pitchFamily="34" charset="-128"/>
              </a:rPr>
              <a:t>gce</a:t>
            </a:r>
            <a:r>
              <a:rPr lang="en-US" sz="1800" b="1" i="1" kern="0" dirty="0">
                <a:solidFill>
                  <a:schemeClr val="accent5"/>
                </a:solidFill>
                <a:ea typeface="Arial Unicode MS" pitchFamily="34" charset="-128"/>
                <a:cs typeface="Arial Unicode MS" pitchFamily="34" charset="-128"/>
              </a:rPr>
              <a:t>-pd-volume/</a:t>
            </a:r>
          </a:p>
        </p:txBody>
      </p:sp>
      <p:cxnSp>
        <p:nvCxnSpPr>
          <p:cNvPr id="21" name="Connector: Elbow 20">
            <a:extLst>
              <a:ext uri="{FF2B5EF4-FFF2-40B4-BE49-F238E27FC236}">
                <a16:creationId xmlns:a16="http://schemas.microsoft.com/office/drawing/2014/main" id="{F7361A46-7B35-4E09-B259-AA86FD4D6B79}"/>
              </a:ext>
            </a:extLst>
          </p:cNvPr>
          <p:cNvCxnSpPr>
            <a:cxnSpLocks/>
            <a:stCxn id="17" idx="3"/>
            <a:endCxn id="5" idx="3"/>
          </p:cNvCxnSpPr>
          <p:nvPr/>
        </p:nvCxnSpPr>
        <p:spPr>
          <a:xfrm flipV="1">
            <a:off x="4745462" y="2951370"/>
            <a:ext cx="600979" cy="2543449"/>
          </a:xfrm>
          <a:prstGeom prst="bentConnector3">
            <a:avLst>
              <a:gd name="adj1" fmla="val 274664"/>
            </a:avLst>
          </a:prstGeom>
          <a:ln w="76200">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33" name="Speech Bubble: Rectangle 32">
            <a:extLst>
              <a:ext uri="{FF2B5EF4-FFF2-40B4-BE49-F238E27FC236}">
                <a16:creationId xmlns:a16="http://schemas.microsoft.com/office/drawing/2014/main" id="{5B53B858-3863-4785-B6C9-937C457F27BF}"/>
              </a:ext>
            </a:extLst>
          </p:cNvPr>
          <p:cNvSpPr/>
          <p:nvPr/>
        </p:nvSpPr>
        <p:spPr bwMode="gray">
          <a:xfrm>
            <a:off x="6954486" y="1204378"/>
            <a:ext cx="4083693" cy="915844"/>
          </a:xfrm>
          <a:prstGeom prst="wedgeRectCallout">
            <a:avLst>
              <a:gd name="adj1" fmla="val -60566"/>
              <a:gd name="adj2" fmla="val 123162"/>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bind mounts /</a:t>
            </a:r>
            <a:r>
              <a:rPr lang="en-US" sz="1800" kern="0" dirty="0" err="1">
                <a:ea typeface="Arial Unicode MS" pitchFamily="34" charset="-128"/>
                <a:cs typeface="Arial Unicode MS" pitchFamily="34" charset="-128"/>
              </a:rPr>
              <a:t>mnt</a:t>
            </a:r>
            <a:r>
              <a:rPr lang="en-US" sz="1800" kern="0" dirty="0">
                <a:ea typeface="Arial Unicode MS" pitchFamily="34" charset="-128"/>
                <a:cs typeface="Arial Unicode MS" pitchFamily="34" charset="-128"/>
              </a:rPr>
              <a:t>/</a:t>
            </a:r>
            <a:r>
              <a:rPr lang="en-US" sz="1800" kern="0" dirty="0" err="1">
                <a:ea typeface="Arial Unicode MS" pitchFamily="34" charset="-128"/>
                <a:cs typeface="Arial Unicode MS" pitchFamily="34" charset="-128"/>
              </a:rPr>
              <a:t>gce</a:t>
            </a:r>
            <a:r>
              <a:rPr lang="en-US" sz="1800" kern="0" dirty="0">
                <a:ea typeface="Arial Unicode MS" pitchFamily="34" charset="-128"/>
                <a:cs typeface="Arial Unicode MS" pitchFamily="34" charset="-128"/>
              </a:rPr>
              <a:t>-pd-volume into container file system</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34" name="Speech Bubble: Rectangle 33">
            <a:extLst>
              <a:ext uri="{FF2B5EF4-FFF2-40B4-BE49-F238E27FC236}">
                <a16:creationId xmlns:a16="http://schemas.microsoft.com/office/drawing/2014/main" id="{02F1BB7E-F5B4-4CDD-8F67-83E7478969BE}"/>
              </a:ext>
            </a:extLst>
          </p:cNvPr>
          <p:cNvSpPr/>
          <p:nvPr/>
        </p:nvSpPr>
        <p:spPr bwMode="gray">
          <a:xfrm>
            <a:off x="7092886" y="4997906"/>
            <a:ext cx="2257265" cy="636814"/>
          </a:xfrm>
          <a:prstGeom prst="wedgeRectCallout">
            <a:avLst>
              <a:gd name="adj1" fmla="val -44727"/>
              <a:gd name="adj2" fmla="val 146388"/>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Mount disk to node</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41" name="TextBox 40">
            <a:extLst>
              <a:ext uri="{FF2B5EF4-FFF2-40B4-BE49-F238E27FC236}">
                <a16:creationId xmlns:a16="http://schemas.microsoft.com/office/drawing/2014/main" id="{A5B6FDA5-3A11-48F6-B6C6-D8DA71C5C7A8}"/>
              </a:ext>
            </a:extLst>
          </p:cNvPr>
          <p:cNvSpPr txBox="1"/>
          <p:nvPr/>
        </p:nvSpPr>
        <p:spPr>
          <a:xfrm>
            <a:off x="9674476" y="4654433"/>
            <a:ext cx="1955904" cy="276999"/>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1800" b="1" i="1" kern="0" dirty="0">
                <a:solidFill>
                  <a:schemeClr val="accent5"/>
                </a:solidFill>
                <a:ea typeface="Arial Unicode MS" pitchFamily="34" charset="-128"/>
                <a:cs typeface="Arial Unicode MS" pitchFamily="34" charset="-128"/>
              </a:rPr>
              <a:t>/dev/</a:t>
            </a:r>
            <a:r>
              <a:rPr lang="en-US" sz="1800" b="1" i="1" kern="0" dirty="0" err="1">
                <a:solidFill>
                  <a:schemeClr val="accent5"/>
                </a:solidFill>
                <a:ea typeface="Arial Unicode MS" pitchFamily="34" charset="-128"/>
                <a:cs typeface="Arial Unicode MS" pitchFamily="34" charset="-128"/>
              </a:rPr>
              <a:t>sdb</a:t>
            </a:r>
            <a:endParaRPr lang="en-US" sz="1800" b="1" i="1" kern="0" dirty="0">
              <a:solidFill>
                <a:schemeClr val="accent5"/>
              </a:solidFill>
              <a:ea typeface="Arial Unicode MS" pitchFamily="34" charset="-128"/>
              <a:cs typeface="Arial Unicode MS" pitchFamily="34" charset="-128"/>
            </a:endParaRPr>
          </a:p>
        </p:txBody>
      </p:sp>
      <p:pic>
        <p:nvPicPr>
          <p:cNvPr id="15" name="Graphic 14" descr="Open folder">
            <a:extLst>
              <a:ext uri="{FF2B5EF4-FFF2-40B4-BE49-F238E27FC236}">
                <a16:creationId xmlns:a16="http://schemas.microsoft.com/office/drawing/2014/main" id="{D0A6C5E6-05B9-46C9-AA9A-E2462B4A49F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04787" y="5037618"/>
            <a:ext cx="914400" cy="914400"/>
          </a:xfrm>
          <a:prstGeom prst="rect">
            <a:avLst/>
          </a:prstGeom>
        </p:spPr>
      </p:pic>
      <p:pic>
        <p:nvPicPr>
          <p:cNvPr id="16" name="Graphic 15" descr="Open folder">
            <a:extLst>
              <a:ext uri="{FF2B5EF4-FFF2-40B4-BE49-F238E27FC236}">
                <a16:creationId xmlns:a16="http://schemas.microsoft.com/office/drawing/2014/main" id="{3F046704-6902-436D-9071-009B283ED88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92436" y="2650246"/>
            <a:ext cx="914400" cy="914400"/>
          </a:xfrm>
          <a:prstGeom prst="rect">
            <a:avLst/>
          </a:prstGeom>
        </p:spPr>
      </p:pic>
    </p:spTree>
    <p:extLst>
      <p:ext uri="{BB962C8B-B14F-4D97-AF65-F5344CB8AC3E}">
        <p14:creationId xmlns:p14="http://schemas.microsoft.com/office/powerpoint/2010/main" val="1967462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7" grpId="0"/>
      <p:bldP spid="33" grpId="0" animBg="1"/>
      <p:bldP spid="3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39EE352-0CCE-4CF0-8DDC-A3B7E4A11A51}"/>
              </a:ext>
            </a:extLst>
          </p:cNvPr>
          <p:cNvPicPr>
            <a:picLocks noChangeAspect="1"/>
          </p:cNvPicPr>
          <p:nvPr/>
        </p:nvPicPr>
        <p:blipFill>
          <a:blip r:embed="rId3"/>
          <a:stretch>
            <a:fillRect/>
          </a:stretch>
        </p:blipFill>
        <p:spPr>
          <a:xfrm>
            <a:off x="6319048" y="609952"/>
            <a:ext cx="5371429" cy="5638095"/>
          </a:xfrm>
          <a:prstGeom prst="rect">
            <a:avLst/>
          </a:prstGeom>
          <a:ln>
            <a:solidFill>
              <a:schemeClr val="tx1"/>
            </a:solidFill>
          </a:ln>
        </p:spPr>
      </p:pic>
      <p:sp>
        <p:nvSpPr>
          <p:cNvPr id="2" name="Title 1"/>
          <p:cNvSpPr>
            <a:spLocks noGrp="1"/>
          </p:cNvSpPr>
          <p:nvPr>
            <p:ph type="title"/>
          </p:nvPr>
        </p:nvSpPr>
        <p:spPr/>
        <p:txBody>
          <a:bodyPr/>
          <a:lstStyle/>
          <a:p>
            <a:r>
              <a:rPr lang="en-US" dirty="0"/>
              <a:t>Volumes &amp; </a:t>
            </a:r>
            <a:r>
              <a:rPr lang="en-US" dirty="0" err="1"/>
              <a:t>VolumeMounts</a:t>
            </a:r>
            <a:endParaRPr lang="en-US" dirty="0"/>
          </a:p>
        </p:txBody>
      </p:sp>
      <p:sp>
        <p:nvSpPr>
          <p:cNvPr id="3" name="Rectangle 2"/>
          <p:cNvSpPr/>
          <p:nvPr/>
        </p:nvSpPr>
        <p:spPr>
          <a:xfrm>
            <a:off x="504000" y="1136103"/>
            <a:ext cx="6297393" cy="4616648"/>
          </a:xfrm>
          <a:prstGeom prst="rect">
            <a:avLst/>
          </a:prstGeom>
        </p:spPr>
        <p:txBody>
          <a:bodyPr wrap="square">
            <a:spAutoFit/>
          </a:bodyPr>
          <a:lstStyle/>
          <a:p>
            <a:pPr marL="342900" indent="-342900">
              <a:buFont typeface="Wingdings" panose="05000000000000000000" pitchFamily="2" charset="2"/>
              <a:buChar char="§"/>
            </a:pPr>
            <a:r>
              <a:rPr lang="en-US" dirty="0"/>
              <a:t>Volumes are part of the </a:t>
            </a:r>
            <a:r>
              <a:rPr lang="en-US" dirty="0" err="1"/>
              <a:t>PodSpec</a:t>
            </a:r>
            <a:r>
              <a:rPr lang="en-US" dirty="0"/>
              <a:t> object</a:t>
            </a:r>
          </a:p>
          <a:p>
            <a:pPr marL="342900" indent="-342900">
              <a:buFont typeface="Wingdings" panose="05000000000000000000" pitchFamily="2" charset="2"/>
              <a:buChar char="§"/>
            </a:pPr>
            <a:r>
              <a:rPr lang="en-US" dirty="0"/>
              <a:t>Available for a lot of backends</a:t>
            </a:r>
          </a:p>
          <a:p>
            <a:pPr marL="887288" lvl="1" indent="-342900">
              <a:buFont typeface="Wingdings" panose="05000000000000000000" pitchFamily="2" charset="2"/>
              <a:buChar char="§"/>
            </a:pPr>
            <a:r>
              <a:rPr lang="en-US" dirty="0"/>
              <a:t>local storage (</a:t>
            </a:r>
            <a:r>
              <a:rPr lang="en-US" dirty="0" err="1"/>
              <a:t>nfs</a:t>
            </a:r>
            <a:r>
              <a:rPr lang="en-US" dirty="0"/>
              <a:t>, </a:t>
            </a:r>
            <a:r>
              <a:rPr lang="en-US" dirty="0" err="1"/>
              <a:t>hostPath</a:t>
            </a:r>
            <a:r>
              <a:rPr lang="en-US" dirty="0"/>
              <a:t>, </a:t>
            </a:r>
            <a:r>
              <a:rPr lang="en-US" dirty="0" err="1"/>
              <a:t>ceph</a:t>
            </a:r>
            <a:r>
              <a:rPr lang="en-US" dirty="0"/>
              <a:t>)</a:t>
            </a:r>
          </a:p>
          <a:p>
            <a:pPr marL="887288" lvl="1" indent="-342900">
              <a:buFont typeface="Wingdings" panose="05000000000000000000" pitchFamily="2" charset="2"/>
              <a:buChar char="§"/>
            </a:pPr>
            <a:r>
              <a:rPr lang="en-US" dirty="0"/>
              <a:t>cloud storage (Azure, GCP, AWS,…)</a:t>
            </a:r>
          </a:p>
          <a:p>
            <a:pPr marL="342900" indent="-342900">
              <a:buFont typeface="Wingdings" panose="05000000000000000000" pitchFamily="2" charset="2"/>
              <a:buChar char="§"/>
            </a:pPr>
            <a:endParaRPr lang="en-US" dirty="0"/>
          </a:p>
          <a:p>
            <a:pPr marL="342900" indent="-342900">
              <a:buFont typeface="Wingdings" panose="05000000000000000000" pitchFamily="2" charset="2"/>
              <a:buChar char="§"/>
            </a:pPr>
            <a:r>
              <a:rPr lang="en-US" dirty="0"/>
              <a:t>Make storage available in a container via </a:t>
            </a:r>
            <a:r>
              <a:rPr lang="en-US" dirty="0" err="1"/>
              <a:t>VolumeMounts</a:t>
            </a:r>
            <a:r>
              <a:rPr lang="en-US" dirty="0"/>
              <a:t> as part of the container specification</a:t>
            </a:r>
          </a:p>
          <a:p>
            <a:pPr marL="342900" indent="-342900">
              <a:buFont typeface="Wingdings" panose="05000000000000000000" pitchFamily="2" charset="2"/>
              <a:buChar char="§"/>
            </a:pPr>
            <a:endParaRPr lang="en-US" dirty="0"/>
          </a:p>
          <a:p>
            <a:pPr marL="342900" indent="-342900">
              <a:buFont typeface="Wingdings" panose="05000000000000000000" pitchFamily="2" charset="2"/>
              <a:buChar char="§"/>
            </a:pPr>
            <a:r>
              <a:rPr lang="en-US" dirty="0"/>
              <a:t>Special volumes: </a:t>
            </a:r>
          </a:p>
          <a:p>
            <a:pPr marL="887288" lvl="1" indent="-342900">
              <a:buFont typeface="Wingdings" panose="05000000000000000000" pitchFamily="2" charset="2"/>
              <a:buChar char="§"/>
            </a:pPr>
            <a:r>
              <a:rPr lang="en-US" dirty="0" err="1"/>
              <a:t>emptyDir</a:t>
            </a:r>
            <a:endParaRPr lang="en-US" dirty="0"/>
          </a:p>
          <a:p>
            <a:pPr marL="887288" lvl="1" indent="-342900">
              <a:buFont typeface="Wingdings" panose="05000000000000000000" pitchFamily="2" charset="2"/>
              <a:buChar char="§"/>
            </a:pPr>
            <a:r>
              <a:rPr lang="en-US" dirty="0"/>
              <a:t>secret</a:t>
            </a:r>
          </a:p>
          <a:p>
            <a:pPr marL="887288" lvl="1" indent="-342900">
              <a:buFont typeface="Wingdings" panose="05000000000000000000" pitchFamily="2" charset="2"/>
              <a:buChar char="§"/>
            </a:pPr>
            <a:r>
              <a:rPr lang="en-US" dirty="0" err="1"/>
              <a:t>configMap</a:t>
            </a:r>
            <a:endParaRPr lang="en-US" dirty="0"/>
          </a:p>
          <a:p>
            <a:pPr marL="887288" lvl="1" indent="-342900">
              <a:buFont typeface="Wingdings" panose="05000000000000000000" pitchFamily="2" charset="2"/>
              <a:buChar char="§"/>
            </a:pPr>
            <a:r>
              <a:rPr lang="en-US" dirty="0" err="1"/>
              <a:t>persistentVolumeClaim</a:t>
            </a:r>
            <a:endParaRPr lang="en-US" dirty="0"/>
          </a:p>
        </p:txBody>
      </p:sp>
      <p:cxnSp>
        <p:nvCxnSpPr>
          <p:cNvPr id="6" name="Straight Arrow Connector 5">
            <a:extLst>
              <a:ext uri="{FF2B5EF4-FFF2-40B4-BE49-F238E27FC236}">
                <a16:creationId xmlns:a16="http://schemas.microsoft.com/office/drawing/2014/main" id="{E479DB24-BD81-45B4-9289-721AB3CE10B9}"/>
              </a:ext>
            </a:extLst>
          </p:cNvPr>
          <p:cNvCxnSpPr>
            <a:cxnSpLocks/>
          </p:cNvCxnSpPr>
          <p:nvPr/>
        </p:nvCxnSpPr>
        <p:spPr>
          <a:xfrm flipH="1">
            <a:off x="10289708" y="2664374"/>
            <a:ext cx="994298" cy="0"/>
          </a:xfrm>
          <a:prstGeom prst="straightConnector1">
            <a:avLst/>
          </a:prstGeom>
          <a:ln w="762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C49C768-125F-4533-A932-E3B6166BC153}"/>
              </a:ext>
            </a:extLst>
          </p:cNvPr>
          <p:cNvCxnSpPr>
            <a:cxnSpLocks/>
          </p:cNvCxnSpPr>
          <p:nvPr/>
        </p:nvCxnSpPr>
        <p:spPr>
          <a:xfrm flipH="1">
            <a:off x="10289708" y="5752751"/>
            <a:ext cx="994298" cy="0"/>
          </a:xfrm>
          <a:prstGeom prst="straightConnector1">
            <a:avLst/>
          </a:prstGeom>
          <a:ln w="762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2484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01F17-8E97-46B7-8E74-3BDBEA4CB50F}"/>
              </a:ext>
            </a:extLst>
          </p:cNvPr>
          <p:cNvSpPr>
            <a:spLocks noGrp="1"/>
          </p:cNvSpPr>
          <p:nvPr>
            <p:ph type="ctrTitle"/>
          </p:nvPr>
        </p:nvSpPr>
        <p:spPr/>
        <p:txBody>
          <a:bodyPr/>
          <a:lstStyle/>
          <a:p>
            <a:r>
              <a:rPr lang="en-US" dirty="0"/>
              <a:t>What features should the storage interface have?</a:t>
            </a:r>
          </a:p>
        </p:txBody>
      </p:sp>
    </p:spTree>
    <p:extLst>
      <p:ext uri="{BB962C8B-B14F-4D97-AF65-F5344CB8AC3E}">
        <p14:creationId xmlns:p14="http://schemas.microsoft.com/office/powerpoint/2010/main" val="2958961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1E57CB26-11C0-4A32-A2E4-3BF415F0505B}"/>
              </a:ext>
            </a:extLst>
          </p:cNvPr>
          <p:cNvSpPr/>
          <p:nvPr/>
        </p:nvSpPr>
        <p:spPr bwMode="gray">
          <a:xfrm>
            <a:off x="6835806" y="1074198"/>
            <a:ext cx="5193437" cy="2902998"/>
          </a:xfrm>
          <a:prstGeom prst="rect">
            <a:avLst/>
          </a:prstGeom>
          <a:noFill/>
          <a:ln w="571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solidFill>
                  <a:schemeClr val="tx1"/>
                </a:solidFill>
                <a:effectLst/>
                <a:uLnTx/>
                <a:uFillTx/>
                <a:ea typeface="Arial Unicode MS" pitchFamily="34" charset="-128"/>
                <a:cs typeface="Arial Unicode MS" pitchFamily="34" charset="-128"/>
              </a:rPr>
              <a:t>Administrator space</a:t>
            </a:r>
          </a:p>
        </p:txBody>
      </p:sp>
      <p:sp>
        <p:nvSpPr>
          <p:cNvPr id="2" name="Title 1"/>
          <p:cNvSpPr>
            <a:spLocks noGrp="1"/>
          </p:cNvSpPr>
          <p:nvPr>
            <p:ph type="title"/>
          </p:nvPr>
        </p:nvSpPr>
        <p:spPr/>
        <p:txBody>
          <a:bodyPr/>
          <a:lstStyle/>
          <a:p>
            <a:r>
              <a:rPr lang="en-US" dirty="0"/>
              <a:t>Storage with </a:t>
            </a:r>
            <a:r>
              <a:rPr lang="en-US" dirty="0" err="1"/>
              <a:t>PersistentVolumes</a:t>
            </a:r>
            <a:r>
              <a:rPr lang="en-US" dirty="0"/>
              <a:t> &amp; </a:t>
            </a:r>
            <a:r>
              <a:rPr lang="en-US" dirty="0" err="1"/>
              <a:t>PersistentVolumeClaims</a:t>
            </a:r>
            <a:endParaRPr lang="en-US" dirty="0"/>
          </a:p>
        </p:txBody>
      </p:sp>
      <p:sp>
        <p:nvSpPr>
          <p:cNvPr id="7" name="Cylinder 6"/>
          <p:cNvSpPr/>
          <p:nvPr/>
        </p:nvSpPr>
        <p:spPr bwMode="gray">
          <a:xfrm>
            <a:off x="9891783" y="1922165"/>
            <a:ext cx="1693576" cy="1362573"/>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Physical storage</a:t>
            </a:r>
          </a:p>
        </p:txBody>
      </p:sp>
      <p:grpSp>
        <p:nvGrpSpPr>
          <p:cNvPr id="34" name="Group 33">
            <a:extLst>
              <a:ext uri="{FF2B5EF4-FFF2-40B4-BE49-F238E27FC236}">
                <a16:creationId xmlns:a16="http://schemas.microsoft.com/office/drawing/2014/main" id="{5A64DBBD-B70F-448E-98B9-B0B9BD96B767}"/>
              </a:ext>
            </a:extLst>
          </p:cNvPr>
          <p:cNvGrpSpPr/>
          <p:nvPr/>
        </p:nvGrpSpPr>
        <p:grpSpPr>
          <a:xfrm>
            <a:off x="740815" y="1604970"/>
            <a:ext cx="2312888" cy="2001495"/>
            <a:chOff x="572139" y="1383027"/>
            <a:chExt cx="2312888" cy="2001495"/>
          </a:xfrm>
        </p:grpSpPr>
        <p:sp>
          <p:nvSpPr>
            <p:cNvPr id="5" name="Rectangle 4"/>
            <p:cNvSpPr/>
            <p:nvPr/>
          </p:nvSpPr>
          <p:spPr bwMode="gray">
            <a:xfrm>
              <a:off x="572139" y="1383027"/>
              <a:ext cx="2312888" cy="2001495"/>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lang="en-US" sz="1600" b="1" kern="0" noProof="0" dirty="0">
                  <a:solidFill>
                    <a:sysClr val="windowText" lastClr="000000"/>
                  </a:solidFill>
                  <a:ea typeface="Arial Unicode MS" pitchFamily="34" charset="-128"/>
                  <a:cs typeface="Arial Unicode MS" pitchFamily="34" charset="-128"/>
                </a:rPr>
                <a:t>Pod-A</a:t>
              </a:r>
              <a:endParaRPr kumimoji="0" lang="en-US" sz="1600" b="1" i="0" u="none" strike="noStrike" kern="0" cap="none" spc="0" normalizeH="0" baseline="0" noProof="0" dirty="0">
                <a:ln>
                  <a:noFill/>
                </a:ln>
                <a:solidFill>
                  <a:sysClr val="windowText" lastClr="000000"/>
                </a:solidFill>
                <a:effectLst/>
                <a:uLnTx/>
                <a:uFillTx/>
                <a:ea typeface="Arial Unicode MS" pitchFamily="34" charset="-128"/>
                <a:cs typeface="Arial Unicode MS" pitchFamily="34" charset="-128"/>
              </a:endParaRPr>
            </a:p>
          </p:txBody>
        </p:sp>
        <p:sp>
          <p:nvSpPr>
            <p:cNvPr id="8" name="Rectangle 7"/>
            <p:cNvSpPr/>
            <p:nvPr/>
          </p:nvSpPr>
          <p:spPr bwMode="gray">
            <a:xfrm>
              <a:off x="914617" y="1851143"/>
              <a:ext cx="1627931" cy="1156258"/>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a:ea typeface="Arial Unicode MS" pitchFamily="34" charset="-128"/>
                  <a:cs typeface="Arial Unicode MS" pitchFamily="34" charset="-128"/>
                </a:rPr>
                <a:t>c</a:t>
              </a:r>
              <a:r>
                <a:rPr kumimoji="0" lang="en-US" sz="1800" b="0" i="0" u="none" strike="noStrike" kern="0" cap="none" spc="0" normalizeH="0" baseline="0" noProof="0">
                  <a:ln>
                    <a:noFill/>
                  </a:ln>
                  <a:effectLst/>
                  <a:uLnTx/>
                  <a:uFillTx/>
                  <a:ea typeface="Arial Unicode MS" pitchFamily="34" charset="-128"/>
                  <a:cs typeface="Arial Unicode MS" pitchFamily="34" charset="-128"/>
                </a:rPr>
                <a:t>ontainer</a:t>
              </a:r>
            </a:p>
            <a:p>
              <a:pPr marR="0" algn="ctr" defTabSz="914400" eaLnBrk="1" fontAlgn="base" latinLnBrk="0" hangingPunct="1">
                <a:lnSpc>
                  <a:spcPct val="100000"/>
                </a:lnSpc>
                <a:spcBef>
                  <a:spcPct val="50000"/>
                </a:spcBef>
                <a:spcAft>
                  <a:spcPct val="0"/>
                </a:spcAft>
                <a:buClr>
                  <a:srgbClr val="F0AB00"/>
                </a:buClr>
                <a:buSzPct val="80000"/>
                <a:tabLst/>
              </a:pPr>
              <a:r>
                <a:rPr lang="en-US" sz="1800" kern="0">
                  <a:ea typeface="Arial Unicode MS" pitchFamily="34" charset="-128"/>
                  <a:cs typeface="Arial Unicode MS" pitchFamily="34" charset="-128"/>
                </a:rPr>
                <a:t>nginx</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grpSp>
      <p:sp>
        <p:nvSpPr>
          <p:cNvPr id="14" name="Cylinder 13"/>
          <p:cNvSpPr/>
          <p:nvPr/>
        </p:nvSpPr>
        <p:spPr bwMode="gray">
          <a:xfrm>
            <a:off x="7515467" y="2050742"/>
            <a:ext cx="1486490" cy="1104455"/>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Persistent</a:t>
            </a:r>
            <a:r>
              <a:rPr kumimoji="0" lang="en-US" sz="1800" b="0" i="0" u="none" strike="noStrike" kern="0" cap="none" spc="0" normalizeH="0" noProof="0" dirty="0">
                <a:ln>
                  <a:noFill/>
                </a:ln>
                <a:effectLst/>
                <a:uLnTx/>
                <a:uFillTx/>
                <a:ea typeface="Arial Unicode MS" pitchFamily="34" charset="-128"/>
                <a:cs typeface="Arial Unicode MS" pitchFamily="34" charset="-128"/>
              </a:rPr>
              <a:t> Volume</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6" name="Rectangle: Diagonal Corners Rounded 15"/>
          <p:cNvSpPr/>
          <p:nvPr/>
        </p:nvSpPr>
        <p:spPr bwMode="gray">
          <a:xfrm>
            <a:off x="3880398" y="2048142"/>
            <a:ext cx="1803653" cy="1112233"/>
          </a:xfrm>
          <a:prstGeom prst="round2Diag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a:solidFill>
                  <a:schemeClr val="dk1"/>
                </a:solidFill>
                <a:latin typeface="+mn-lt"/>
                <a:ea typeface="Arial Unicode MS" pitchFamily="34" charset="-128"/>
                <a:cs typeface="Arial Unicode MS" pitchFamily="34" charset="-128"/>
              </a:rPr>
              <a:t>Persistent Volume Claim</a:t>
            </a:r>
          </a:p>
        </p:txBody>
      </p:sp>
      <p:cxnSp>
        <p:nvCxnSpPr>
          <p:cNvPr id="17" name="Connector: Elbow 16"/>
          <p:cNvCxnSpPr>
            <a:cxnSpLocks/>
            <a:stCxn id="14" idx="4"/>
            <a:endCxn id="7" idx="2"/>
          </p:cNvCxnSpPr>
          <p:nvPr/>
        </p:nvCxnSpPr>
        <p:spPr>
          <a:xfrm>
            <a:off x="9001957" y="2602970"/>
            <a:ext cx="889826" cy="482"/>
          </a:xfrm>
          <a:prstGeom prst="bentConnector3">
            <a:avLst>
              <a:gd name="adj1" fmla="val 50000"/>
            </a:avLst>
          </a:prstGeom>
          <a:ln w="571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p:cNvCxnSpPr>
            <a:cxnSpLocks/>
            <a:stCxn id="16" idx="0"/>
            <a:endCxn id="14" idx="2"/>
          </p:cNvCxnSpPr>
          <p:nvPr/>
        </p:nvCxnSpPr>
        <p:spPr>
          <a:xfrm flipV="1">
            <a:off x="5684051" y="2602970"/>
            <a:ext cx="1831416" cy="1289"/>
          </a:xfrm>
          <a:prstGeom prst="bentConnector3">
            <a:avLst>
              <a:gd name="adj1" fmla="val 50000"/>
            </a:avLst>
          </a:prstGeom>
          <a:ln w="571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p:cNvCxnSpPr>
            <a:cxnSpLocks/>
            <a:stCxn id="5" idx="3"/>
            <a:endCxn id="16" idx="2"/>
          </p:cNvCxnSpPr>
          <p:nvPr/>
        </p:nvCxnSpPr>
        <p:spPr>
          <a:xfrm flipV="1">
            <a:off x="3053703" y="2604259"/>
            <a:ext cx="826695" cy="1459"/>
          </a:xfrm>
          <a:prstGeom prst="bentConnector3">
            <a:avLst>
              <a:gd name="adj1" fmla="val 50000"/>
            </a:avLst>
          </a:prstGeom>
          <a:ln w="571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E8DB1AA6-8411-463E-8620-A75558441644}"/>
              </a:ext>
            </a:extLst>
          </p:cNvPr>
          <p:cNvSpPr/>
          <p:nvPr/>
        </p:nvSpPr>
        <p:spPr bwMode="gray">
          <a:xfrm>
            <a:off x="446882" y="1074198"/>
            <a:ext cx="5785243" cy="2902998"/>
          </a:xfrm>
          <a:prstGeom prst="rect">
            <a:avLst/>
          </a:prstGeom>
          <a:noFill/>
          <a:ln w="571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solidFill>
                  <a:schemeClr val="tx1"/>
                </a:solidFill>
                <a:effectLst/>
                <a:uLnTx/>
                <a:uFillTx/>
                <a:ea typeface="Arial Unicode MS" pitchFamily="34" charset="-128"/>
                <a:cs typeface="Arial Unicode MS" pitchFamily="34" charset="-128"/>
              </a:rPr>
              <a:t>User space</a:t>
            </a:r>
          </a:p>
        </p:txBody>
      </p:sp>
      <p:sp>
        <p:nvSpPr>
          <p:cNvPr id="37" name="Speech Bubble: Rectangle 36">
            <a:extLst>
              <a:ext uri="{FF2B5EF4-FFF2-40B4-BE49-F238E27FC236}">
                <a16:creationId xmlns:a16="http://schemas.microsoft.com/office/drawing/2014/main" id="{52B3D3DA-BEE8-41ED-BAAE-06AF497E8BC8}"/>
              </a:ext>
            </a:extLst>
          </p:cNvPr>
          <p:cNvSpPr/>
          <p:nvPr/>
        </p:nvSpPr>
        <p:spPr bwMode="gray">
          <a:xfrm>
            <a:off x="7368466" y="4649272"/>
            <a:ext cx="3737500" cy="1713391"/>
          </a:xfrm>
          <a:prstGeom prst="wedgeRectCallout">
            <a:avLst>
              <a:gd name="adj1" fmla="val -9369"/>
              <a:gd name="adj2" fmla="val -107128"/>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Persistent Volumes objects represent physical storage</a:t>
            </a:r>
          </a:p>
        </p:txBody>
      </p:sp>
      <p:sp>
        <p:nvSpPr>
          <p:cNvPr id="38" name="Speech Bubble: Rectangle 37">
            <a:extLst>
              <a:ext uri="{FF2B5EF4-FFF2-40B4-BE49-F238E27FC236}">
                <a16:creationId xmlns:a16="http://schemas.microsoft.com/office/drawing/2014/main" id="{EAA44666-B3C1-46EC-BCE4-4A66C3892705}"/>
              </a:ext>
            </a:extLst>
          </p:cNvPr>
          <p:cNvSpPr/>
          <p:nvPr/>
        </p:nvSpPr>
        <p:spPr bwMode="gray">
          <a:xfrm>
            <a:off x="3822693" y="4649272"/>
            <a:ext cx="2409432" cy="1713391"/>
          </a:xfrm>
          <a:prstGeom prst="wedgeRectCallout">
            <a:avLst>
              <a:gd name="adj1" fmla="val -9369"/>
              <a:gd name="adj2" fmla="val -107128"/>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Create a Persistent Volume Claim to bind the Persistent Volume</a:t>
            </a:r>
          </a:p>
        </p:txBody>
      </p:sp>
      <p:sp>
        <p:nvSpPr>
          <p:cNvPr id="39" name="Speech Bubble: Rectangle 38">
            <a:extLst>
              <a:ext uri="{FF2B5EF4-FFF2-40B4-BE49-F238E27FC236}">
                <a16:creationId xmlns:a16="http://schemas.microsoft.com/office/drawing/2014/main" id="{BB50BE1E-AE4B-4E48-B9C8-8C2BFE722CC6}"/>
              </a:ext>
            </a:extLst>
          </p:cNvPr>
          <p:cNvSpPr/>
          <p:nvPr/>
        </p:nvSpPr>
        <p:spPr bwMode="gray">
          <a:xfrm>
            <a:off x="740815" y="4649272"/>
            <a:ext cx="2409432" cy="1713391"/>
          </a:xfrm>
          <a:prstGeom prst="wedgeRectCallout">
            <a:avLst>
              <a:gd name="adj1" fmla="val -9369"/>
              <a:gd name="adj2" fmla="val -107128"/>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Use the claim as a volume in a pod. </a:t>
            </a:r>
          </a:p>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Note: t</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he claim has </a:t>
            </a:r>
            <a:r>
              <a:rPr lang="en-US" sz="1800" kern="0" dirty="0">
                <a:ea typeface="Arial Unicode MS" pitchFamily="34" charset="-128"/>
                <a:cs typeface="Arial Unicode MS" pitchFamily="34" charset="-128"/>
              </a:rPr>
              <a:t>a separate lifecycle. </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1316543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Storage with </a:t>
            </a:r>
            <a:r>
              <a:rPr lang="en-US" dirty="0" err="1"/>
              <a:t>PersistentVolumes</a:t>
            </a:r>
            <a:r>
              <a:rPr lang="en-US" dirty="0"/>
              <a:t> &amp; </a:t>
            </a:r>
            <a:r>
              <a:rPr lang="en-US" dirty="0" err="1"/>
              <a:t>PersistentVolumeClaims</a:t>
            </a:r>
            <a:endParaRPr lang="en-US" dirty="0"/>
          </a:p>
        </p:txBody>
      </p:sp>
      <p:sp>
        <p:nvSpPr>
          <p:cNvPr id="3" name="Rectangle 2"/>
          <p:cNvSpPr/>
          <p:nvPr/>
        </p:nvSpPr>
        <p:spPr>
          <a:xfrm>
            <a:off x="504000" y="1207125"/>
            <a:ext cx="11186477" cy="1061829"/>
          </a:xfrm>
          <a:prstGeom prst="rect">
            <a:avLst/>
          </a:prstGeom>
        </p:spPr>
        <p:txBody>
          <a:bodyPr wrap="square">
            <a:spAutoFit/>
          </a:bodyPr>
          <a:lstStyle/>
          <a:p>
            <a:pPr marL="342900" indent="-342900">
              <a:buFont typeface="Wingdings" panose="05000000000000000000" pitchFamily="2" charset="2"/>
              <a:buChar char="§"/>
            </a:pPr>
            <a:r>
              <a:rPr lang="en-US" dirty="0"/>
              <a:t>PV:PVC is always 1:1</a:t>
            </a:r>
          </a:p>
          <a:p>
            <a:pPr marL="342900" indent="-342900">
              <a:buFont typeface="Wingdings" panose="05000000000000000000" pitchFamily="2" charset="2"/>
              <a:buChar char="§"/>
            </a:pPr>
            <a:r>
              <a:rPr lang="en-US" dirty="0"/>
              <a:t>PV size must match or exceed PVC requested size</a:t>
            </a:r>
          </a:p>
          <a:p>
            <a:pPr marL="342900" indent="-342900">
              <a:buFont typeface="Wingdings" panose="05000000000000000000" pitchFamily="2" charset="2"/>
              <a:buChar char="§"/>
            </a:pPr>
            <a:r>
              <a:rPr lang="en-US" dirty="0"/>
              <a:t>PVC is used as volume within the pod</a:t>
            </a:r>
          </a:p>
        </p:txBody>
      </p:sp>
      <p:pic>
        <p:nvPicPr>
          <p:cNvPr id="10" name="Picture 9">
            <a:extLst>
              <a:ext uri="{FF2B5EF4-FFF2-40B4-BE49-F238E27FC236}">
                <a16:creationId xmlns:a16="http://schemas.microsoft.com/office/drawing/2014/main" id="{1F9B8604-CE72-409D-9CB2-5C97AB5C5C47}"/>
              </a:ext>
            </a:extLst>
          </p:cNvPr>
          <p:cNvPicPr>
            <a:picLocks noChangeAspect="1"/>
          </p:cNvPicPr>
          <p:nvPr/>
        </p:nvPicPr>
        <p:blipFill>
          <a:blip r:embed="rId3"/>
          <a:stretch>
            <a:fillRect/>
          </a:stretch>
        </p:blipFill>
        <p:spPr>
          <a:xfrm>
            <a:off x="8183039" y="2373308"/>
            <a:ext cx="3739324" cy="2974778"/>
          </a:xfrm>
          <a:prstGeom prst="rect">
            <a:avLst/>
          </a:prstGeom>
          <a:ln>
            <a:solidFill>
              <a:schemeClr val="tx1"/>
            </a:solidFill>
          </a:ln>
        </p:spPr>
      </p:pic>
      <p:pic>
        <p:nvPicPr>
          <p:cNvPr id="11" name="Picture 10">
            <a:extLst>
              <a:ext uri="{FF2B5EF4-FFF2-40B4-BE49-F238E27FC236}">
                <a16:creationId xmlns:a16="http://schemas.microsoft.com/office/drawing/2014/main" id="{CF621BDE-FE98-4375-9A5D-B8BEA8246BED}"/>
              </a:ext>
            </a:extLst>
          </p:cNvPr>
          <p:cNvPicPr>
            <a:picLocks noChangeAspect="1"/>
          </p:cNvPicPr>
          <p:nvPr/>
        </p:nvPicPr>
        <p:blipFill>
          <a:blip r:embed="rId4"/>
          <a:stretch>
            <a:fillRect/>
          </a:stretch>
        </p:blipFill>
        <p:spPr>
          <a:xfrm>
            <a:off x="602754" y="2342579"/>
            <a:ext cx="3760176" cy="4093796"/>
          </a:xfrm>
          <a:prstGeom prst="rect">
            <a:avLst/>
          </a:prstGeom>
          <a:ln>
            <a:solidFill>
              <a:schemeClr val="tx1"/>
            </a:solidFill>
          </a:ln>
        </p:spPr>
      </p:pic>
      <p:sp>
        <p:nvSpPr>
          <p:cNvPr id="13" name="Rectangle 12">
            <a:extLst>
              <a:ext uri="{FF2B5EF4-FFF2-40B4-BE49-F238E27FC236}">
                <a16:creationId xmlns:a16="http://schemas.microsoft.com/office/drawing/2014/main" id="{78568838-41F4-4797-AFD0-89EE72EA2978}"/>
              </a:ext>
            </a:extLst>
          </p:cNvPr>
          <p:cNvSpPr/>
          <p:nvPr/>
        </p:nvSpPr>
        <p:spPr>
          <a:xfrm>
            <a:off x="9633255" y="6147424"/>
            <a:ext cx="2561920" cy="415498"/>
          </a:xfrm>
          <a:prstGeom prst="rect">
            <a:avLst/>
          </a:prstGeom>
        </p:spPr>
        <p:txBody>
          <a:bodyPr wrap="none">
            <a:spAutoFit/>
          </a:bodyPr>
          <a:lstStyle/>
          <a:p>
            <a:r>
              <a:rPr lang="en-US" dirty="0"/>
              <a:t>PV is bound to PVC</a:t>
            </a:r>
          </a:p>
        </p:txBody>
      </p:sp>
      <p:sp>
        <p:nvSpPr>
          <p:cNvPr id="14" name="Arrow: Curved Down 13">
            <a:extLst>
              <a:ext uri="{FF2B5EF4-FFF2-40B4-BE49-F238E27FC236}">
                <a16:creationId xmlns:a16="http://schemas.microsoft.com/office/drawing/2014/main" id="{719C549F-1905-4273-A9FC-CE8AA32CA7FD}"/>
              </a:ext>
            </a:extLst>
          </p:cNvPr>
          <p:cNvSpPr/>
          <p:nvPr/>
        </p:nvSpPr>
        <p:spPr bwMode="gray">
          <a:xfrm rot="8642649">
            <a:off x="4441656" y="5752676"/>
            <a:ext cx="1615747" cy="789497"/>
          </a:xfrm>
          <a:prstGeom prst="curvedDownArrow">
            <a:avLst/>
          </a:prstGeom>
          <a:solidFill>
            <a:schemeClr val="bg2"/>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5" name="Rectangle 14">
            <a:extLst>
              <a:ext uri="{FF2B5EF4-FFF2-40B4-BE49-F238E27FC236}">
                <a16:creationId xmlns:a16="http://schemas.microsoft.com/office/drawing/2014/main" id="{A010DCA7-D900-4CE2-B6F9-E8A3CB066D8F}"/>
              </a:ext>
            </a:extLst>
          </p:cNvPr>
          <p:cNvSpPr/>
          <p:nvPr/>
        </p:nvSpPr>
        <p:spPr>
          <a:xfrm>
            <a:off x="5723438" y="6067043"/>
            <a:ext cx="2208876" cy="738664"/>
          </a:xfrm>
          <a:prstGeom prst="rect">
            <a:avLst/>
          </a:prstGeom>
        </p:spPr>
        <p:txBody>
          <a:bodyPr wrap="square">
            <a:spAutoFit/>
          </a:bodyPr>
          <a:lstStyle/>
          <a:p>
            <a:r>
              <a:rPr lang="en-US" dirty="0"/>
              <a:t>PVC referenced by Pod </a:t>
            </a:r>
          </a:p>
        </p:txBody>
      </p:sp>
      <p:pic>
        <p:nvPicPr>
          <p:cNvPr id="16" name="Picture 15">
            <a:extLst>
              <a:ext uri="{FF2B5EF4-FFF2-40B4-BE49-F238E27FC236}">
                <a16:creationId xmlns:a16="http://schemas.microsoft.com/office/drawing/2014/main" id="{53317CB1-4E29-408D-984E-BA4F485334CF}"/>
              </a:ext>
            </a:extLst>
          </p:cNvPr>
          <p:cNvPicPr>
            <a:picLocks noChangeAspect="1"/>
          </p:cNvPicPr>
          <p:nvPr/>
        </p:nvPicPr>
        <p:blipFill>
          <a:blip r:embed="rId5"/>
          <a:stretch>
            <a:fillRect/>
          </a:stretch>
        </p:blipFill>
        <p:spPr>
          <a:xfrm>
            <a:off x="4676972" y="2373308"/>
            <a:ext cx="3151929" cy="2777105"/>
          </a:xfrm>
          <a:prstGeom prst="rect">
            <a:avLst/>
          </a:prstGeom>
          <a:ln>
            <a:solidFill>
              <a:schemeClr val="tx1"/>
            </a:solidFill>
          </a:ln>
        </p:spPr>
      </p:pic>
      <p:sp>
        <p:nvSpPr>
          <p:cNvPr id="12" name="Arrow: Curved Down 11">
            <a:extLst>
              <a:ext uri="{FF2B5EF4-FFF2-40B4-BE49-F238E27FC236}">
                <a16:creationId xmlns:a16="http://schemas.microsoft.com/office/drawing/2014/main" id="{E3AFE01B-2B3A-43BE-9B04-44650E603B81}"/>
              </a:ext>
            </a:extLst>
          </p:cNvPr>
          <p:cNvSpPr/>
          <p:nvPr/>
        </p:nvSpPr>
        <p:spPr bwMode="gray">
          <a:xfrm rot="11316041">
            <a:off x="7008261" y="5159139"/>
            <a:ext cx="3422043" cy="853598"/>
          </a:xfrm>
          <a:prstGeom prst="curvedDownArrow">
            <a:avLst/>
          </a:prstGeom>
          <a:solidFill>
            <a:schemeClr val="bg2"/>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2033841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Storage Classes</a:t>
            </a:r>
          </a:p>
        </p:txBody>
      </p:sp>
      <p:sp>
        <p:nvSpPr>
          <p:cNvPr id="4" name="Rectangle 3"/>
          <p:cNvSpPr/>
          <p:nvPr/>
        </p:nvSpPr>
        <p:spPr>
          <a:xfrm>
            <a:off x="504000" y="1136103"/>
            <a:ext cx="11186477" cy="1061829"/>
          </a:xfrm>
          <a:prstGeom prst="rect">
            <a:avLst/>
          </a:prstGeom>
        </p:spPr>
        <p:txBody>
          <a:bodyPr wrap="square">
            <a:spAutoFit/>
          </a:bodyPr>
          <a:lstStyle/>
          <a:p>
            <a:pPr marL="342900" indent="-342900">
              <a:buFont typeface="Wingdings" panose="05000000000000000000" pitchFamily="2" charset="2"/>
              <a:buChar char="§"/>
            </a:pPr>
            <a:r>
              <a:rPr lang="en-US" dirty="0"/>
              <a:t>Provisions a PV for based on PVC request</a:t>
            </a:r>
          </a:p>
          <a:p>
            <a:pPr marL="342900" indent="-342900">
              <a:buFont typeface="Wingdings" panose="05000000000000000000" pitchFamily="2" charset="2"/>
              <a:buChar char="§"/>
            </a:pPr>
            <a:r>
              <a:rPr lang="en-US" dirty="0"/>
              <a:t>Overcomes need to manually provision PV</a:t>
            </a:r>
          </a:p>
          <a:p>
            <a:pPr marL="342900" indent="-342900">
              <a:buFont typeface="Wingdings" panose="05000000000000000000" pitchFamily="2" charset="2"/>
              <a:buChar char="§"/>
            </a:pPr>
            <a:r>
              <a:rPr lang="en-US" dirty="0"/>
              <a:t>Uses standardized “Container Storage Interface” </a:t>
            </a:r>
          </a:p>
        </p:txBody>
      </p:sp>
      <p:pic>
        <p:nvPicPr>
          <p:cNvPr id="6" name="Picture 5">
            <a:extLst>
              <a:ext uri="{FF2B5EF4-FFF2-40B4-BE49-F238E27FC236}">
                <a16:creationId xmlns:a16="http://schemas.microsoft.com/office/drawing/2014/main" id="{ABE3F88E-E05C-4558-BBC7-AA6D55E24629}"/>
              </a:ext>
            </a:extLst>
          </p:cNvPr>
          <p:cNvPicPr>
            <a:picLocks noChangeAspect="1"/>
          </p:cNvPicPr>
          <p:nvPr/>
        </p:nvPicPr>
        <p:blipFill>
          <a:blip r:embed="rId3"/>
          <a:stretch>
            <a:fillRect/>
          </a:stretch>
        </p:blipFill>
        <p:spPr>
          <a:xfrm>
            <a:off x="1010794" y="3143723"/>
            <a:ext cx="3145390" cy="3036349"/>
          </a:xfrm>
          <a:prstGeom prst="rect">
            <a:avLst/>
          </a:prstGeom>
          <a:ln>
            <a:solidFill>
              <a:schemeClr val="tx1"/>
            </a:solidFill>
          </a:ln>
        </p:spPr>
      </p:pic>
      <p:pic>
        <p:nvPicPr>
          <p:cNvPr id="7" name="Picture 6">
            <a:extLst>
              <a:ext uri="{FF2B5EF4-FFF2-40B4-BE49-F238E27FC236}">
                <a16:creationId xmlns:a16="http://schemas.microsoft.com/office/drawing/2014/main" id="{74085753-1232-4BF7-8C5D-233E1E6569D0}"/>
              </a:ext>
            </a:extLst>
          </p:cNvPr>
          <p:cNvPicPr>
            <a:picLocks noChangeAspect="1"/>
          </p:cNvPicPr>
          <p:nvPr/>
        </p:nvPicPr>
        <p:blipFill>
          <a:blip r:embed="rId4"/>
          <a:stretch>
            <a:fillRect/>
          </a:stretch>
        </p:blipFill>
        <p:spPr>
          <a:xfrm>
            <a:off x="7355757" y="3412129"/>
            <a:ext cx="4034486" cy="2499536"/>
          </a:xfrm>
          <a:prstGeom prst="rect">
            <a:avLst/>
          </a:prstGeom>
          <a:ln>
            <a:solidFill>
              <a:schemeClr val="tx1"/>
            </a:solidFill>
          </a:ln>
        </p:spPr>
      </p:pic>
      <p:sp>
        <p:nvSpPr>
          <p:cNvPr id="10" name="Speech Bubble: Rectangle 9">
            <a:extLst>
              <a:ext uri="{FF2B5EF4-FFF2-40B4-BE49-F238E27FC236}">
                <a16:creationId xmlns:a16="http://schemas.microsoft.com/office/drawing/2014/main" id="{DF73D8EE-D588-4638-A0E2-17D68A9E68CF}"/>
              </a:ext>
            </a:extLst>
          </p:cNvPr>
          <p:cNvSpPr/>
          <p:nvPr/>
        </p:nvSpPr>
        <p:spPr bwMode="gray">
          <a:xfrm>
            <a:off x="4575115" y="2501163"/>
            <a:ext cx="2535294" cy="915844"/>
          </a:xfrm>
          <a:prstGeom prst="wedgeRectCallout">
            <a:avLst>
              <a:gd name="adj1" fmla="val -59195"/>
              <a:gd name="adj2" fmla="val 177158"/>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PVC references storage class as part of its spec</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1" name="Speech Bubble: Rectangle 10">
            <a:extLst>
              <a:ext uri="{FF2B5EF4-FFF2-40B4-BE49-F238E27FC236}">
                <a16:creationId xmlns:a16="http://schemas.microsoft.com/office/drawing/2014/main" id="{AEE5E473-0F84-4589-9896-DB6551CF763C}"/>
              </a:ext>
            </a:extLst>
          </p:cNvPr>
          <p:cNvSpPr/>
          <p:nvPr/>
        </p:nvSpPr>
        <p:spPr bwMode="gray">
          <a:xfrm>
            <a:off x="4575115" y="5572084"/>
            <a:ext cx="2535294" cy="915844"/>
          </a:xfrm>
          <a:prstGeom prst="wedgeRectCallout">
            <a:avLst>
              <a:gd name="adj1" fmla="val 53762"/>
              <a:gd name="adj2" fmla="val -166256"/>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Storage class provisions a PV matching the request</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1399105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0DE819E-EBF2-47BD-B113-0CE4EF805FB2}"/>
              </a:ext>
            </a:extLst>
          </p:cNvPr>
          <p:cNvSpPr/>
          <p:nvPr/>
        </p:nvSpPr>
        <p:spPr bwMode="gray">
          <a:xfrm>
            <a:off x="1018420" y="5599814"/>
            <a:ext cx="2063878" cy="659219"/>
          </a:xfrm>
          <a:prstGeom prst="rect">
            <a:avLst/>
          </a:prstGeom>
          <a:no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AWS EBS</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4" name="Rectangle 13">
            <a:extLst>
              <a:ext uri="{FF2B5EF4-FFF2-40B4-BE49-F238E27FC236}">
                <a16:creationId xmlns:a16="http://schemas.microsoft.com/office/drawing/2014/main" id="{B530C19E-B1B0-452A-A2A4-5138D5D477FA}"/>
              </a:ext>
            </a:extLst>
          </p:cNvPr>
          <p:cNvSpPr/>
          <p:nvPr/>
        </p:nvSpPr>
        <p:spPr bwMode="gray">
          <a:xfrm>
            <a:off x="3716340" y="5599814"/>
            <a:ext cx="2063878" cy="659219"/>
          </a:xfrm>
          <a:prstGeom prst="rect">
            <a:avLst/>
          </a:prstGeom>
          <a:no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GCP PD</a:t>
            </a:r>
          </a:p>
        </p:txBody>
      </p:sp>
      <p:sp>
        <p:nvSpPr>
          <p:cNvPr id="15" name="Rectangle 14">
            <a:extLst>
              <a:ext uri="{FF2B5EF4-FFF2-40B4-BE49-F238E27FC236}">
                <a16:creationId xmlns:a16="http://schemas.microsoft.com/office/drawing/2014/main" id="{472138A7-4CA0-4BC0-9CA1-40D5F59E161A}"/>
              </a:ext>
            </a:extLst>
          </p:cNvPr>
          <p:cNvSpPr/>
          <p:nvPr/>
        </p:nvSpPr>
        <p:spPr bwMode="gray">
          <a:xfrm>
            <a:off x="6414260" y="5599813"/>
            <a:ext cx="2063878" cy="659219"/>
          </a:xfrm>
          <a:prstGeom prst="rect">
            <a:avLst/>
          </a:prstGeom>
          <a:no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Ceph</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6" name="Rectangle 15">
            <a:extLst>
              <a:ext uri="{FF2B5EF4-FFF2-40B4-BE49-F238E27FC236}">
                <a16:creationId xmlns:a16="http://schemas.microsoft.com/office/drawing/2014/main" id="{3C935E0E-C45D-4312-99C5-98E76DAA1EA4}"/>
              </a:ext>
            </a:extLst>
          </p:cNvPr>
          <p:cNvSpPr/>
          <p:nvPr/>
        </p:nvSpPr>
        <p:spPr bwMode="gray">
          <a:xfrm>
            <a:off x="9112179" y="5599812"/>
            <a:ext cx="2063878" cy="659219"/>
          </a:xfrm>
          <a:prstGeom prst="rect">
            <a:avLst/>
          </a:prstGeom>
          <a:no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a:t>
            </a:r>
          </a:p>
        </p:txBody>
      </p:sp>
      <p:sp>
        <p:nvSpPr>
          <p:cNvPr id="21" name="Rectangle 20">
            <a:extLst>
              <a:ext uri="{FF2B5EF4-FFF2-40B4-BE49-F238E27FC236}">
                <a16:creationId xmlns:a16="http://schemas.microsoft.com/office/drawing/2014/main" id="{768CE002-64AE-4D8B-A4C6-639B54AB7F3E}"/>
              </a:ext>
            </a:extLst>
          </p:cNvPr>
          <p:cNvSpPr/>
          <p:nvPr/>
        </p:nvSpPr>
        <p:spPr bwMode="gray">
          <a:xfrm>
            <a:off x="2319931" y="2385056"/>
            <a:ext cx="2063878" cy="659219"/>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Storage Class</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a:extLst>
              <a:ext uri="{FF2B5EF4-FFF2-40B4-BE49-F238E27FC236}">
                <a16:creationId xmlns:a16="http://schemas.microsoft.com/office/drawing/2014/main" id="{41C9DB3A-C7B7-43DA-9436-6F674328BA32}"/>
              </a:ext>
            </a:extLst>
          </p:cNvPr>
          <p:cNvSpPr/>
          <p:nvPr/>
        </p:nvSpPr>
        <p:spPr bwMode="gray">
          <a:xfrm>
            <a:off x="5065299" y="2385057"/>
            <a:ext cx="2063878" cy="659219"/>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PVC</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3" name="Rectangle 22">
            <a:extLst>
              <a:ext uri="{FF2B5EF4-FFF2-40B4-BE49-F238E27FC236}">
                <a16:creationId xmlns:a16="http://schemas.microsoft.com/office/drawing/2014/main" id="{11230B61-BEB8-46FA-9A30-5EBD47D9A823}"/>
              </a:ext>
            </a:extLst>
          </p:cNvPr>
          <p:cNvSpPr/>
          <p:nvPr/>
        </p:nvSpPr>
        <p:spPr bwMode="gray">
          <a:xfrm>
            <a:off x="5065299" y="3496331"/>
            <a:ext cx="2063878" cy="659219"/>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PV</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25" name="Graphic 24" descr="Female Profile">
            <a:extLst>
              <a:ext uri="{FF2B5EF4-FFF2-40B4-BE49-F238E27FC236}">
                <a16:creationId xmlns:a16="http://schemas.microsoft.com/office/drawing/2014/main" id="{6D300F24-7BD1-42EF-B557-FAE2767566B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40038" y="931898"/>
            <a:ext cx="914400" cy="914400"/>
          </a:xfrm>
          <a:prstGeom prst="rect">
            <a:avLst/>
          </a:prstGeom>
        </p:spPr>
      </p:pic>
      <p:cxnSp>
        <p:nvCxnSpPr>
          <p:cNvPr id="30" name="Straight Arrow Connector 29">
            <a:extLst>
              <a:ext uri="{FF2B5EF4-FFF2-40B4-BE49-F238E27FC236}">
                <a16:creationId xmlns:a16="http://schemas.microsoft.com/office/drawing/2014/main" id="{2BDDBC0E-C5A1-4713-A162-A14C406A7A15}"/>
              </a:ext>
            </a:extLst>
          </p:cNvPr>
          <p:cNvCxnSpPr>
            <a:stCxn id="25" idx="2"/>
            <a:endCxn id="22" idx="0"/>
          </p:cNvCxnSpPr>
          <p:nvPr/>
        </p:nvCxnSpPr>
        <p:spPr>
          <a:xfrm>
            <a:off x="6097238" y="1846298"/>
            <a:ext cx="0" cy="538759"/>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5649B47D-8584-495F-8F93-2EC80F76AF33}"/>
              </a:ext>
            </a:extLst>
          </p:cNvPr>
          <p:cNvCxnSpPr>
            <a:stCxn id="22" idx="1"/>
            <a:endCxn id="21" idx="3"/>
          </p:cNvCxnSpPr>
          <p:nvPr/>
        </p:nvCxnSpPr>
        <p:spPr>
          <a:xfrm flipH="1" flipV="1">
            <a:off x="4383809" y="2714666"/>
            <a:ext cx="681490" cy="1"/>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784768D4-28EF-4D46-904B-9B8815A036DD}"/>
              </a:ext>
            </a:extLst>
          </p:cNvPr>
          <p:cNvCxnSpPr>
            <a:cxnSpLocks/>
            <a:stCxn id="21" idx="2"/>
            <a:endCxn id="23" idx="1"/>
          </p:cNvCxnSpPr>
          <p:nvPr/>
        </p:nvCxnSpPr>
        <p:spPr>
          <a:xfrm rot="16200000" flipH="1">
            <a:off x="3817751" y="2578393"/>
            <a:ext cx="781666" cy="1713429"/>
          </a:xfrm>
          <a:prstGeom prst="bentConnector2">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732FFC2-3118-40E9-999B-BE90DC15A99F}"/>
              </a:ext>
            </a:extLst>
          </p:cNvPr>
          <p:cNvCxnSpPr>
            <a:stCxn id="22" idx="2"/>
            <a:endCxn id="23" idx="0"/>
          </p:cNvCxnSpPr>
          <p:nvPr/>
        </p:nvCxnSpPr>
        <p:spPr>
          <a:xfrm>
            <a:off x="6097238" y="3044276"/>
            <a:ext cx="0" cy="452055"/>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0A71E4B-2450-47BF-A3DE-9E211E3AFAB1}"/>
              </a:ext>
            </a:extLst>
          </p:cNvPr>
          <p:cNvCxnSpPr>
            <a:stCxn id="23" idx="2"/>
            <a:endCxn id="6" idx="0"/>
          </p:cNvCxnSpPr>
          <p:nvPr/>
        </p:nvCxnSpPr>
        <p:spPr>
          <a:xfrm>
            <a:off x="6097238" y="4155550"/>
            <a:ext cx="1" cy="630914"/>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BC6FE001-728B-4F6A-BC3F-1E9167494887}"/>
              </a:ext>
            </a:extLst>
          </p:cNvPr>
          <p:cNvCxnSpPr>
            <a:cxnSpLocks/>
            <a:stCxn id="21" idx="2"/>
            <a:endCxn id="14" idx="0"/>
          </p:cNvCxnSpPr>
          <p:nvPr/>
        </p:nvCxnSpPr>
        <p:spPr>
          <a:xfrm rot="16200000" flipH="1">
            <a:off x="2772305" y="3623839"/>
            <a:ext cx="2555539" cy="1396409"/>
          </a:xfrm>
          <a:prstGeom prst="bentConnector3">
            <a:avLst>
              <a:gd name="adj1" fmla="val 50000"/>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9EA9885A-92E7-4632-8133-2BC797A40614}"/>
              </a:ext>
            </a:extLst>
          </p:cNvPr>
          <p:cNvSpPr/>
          <p:nvPr/>
        </p:nvSpPr>
        <p:spPr bwMode="gray">
          <a:xfrm>
            <a:off x="1018420" y="4786464"/>
            <a:ext cx="10157637" cy="609009"/>
          </a:xfrm>
          <a:prstGeom prst="rect">
            <a:avLst/>
          </a:prstGeom>
          <a:solidFill>
            <a:schemeClr val="bg1"/>
          </a:solid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CSI </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cxnSp>
        <p:nvCxnSpPr>
          <p:cNvPr id="47" name="Connector: Elbow 46">
            <a:extLst>
              <a:ext uri="{FF2B5EF4-FFF2-40B4-BE49-F238E27FC236}">
                <a16:creationId xmlns:a16="http://schemas.microsoft.com/office/drawing/2014/main" id="{8C7E6733-0C5B-40C0-B93A-C81E84E94D1B}"/>
              </a:ext>
            </a:extLst>
          </p:cNvPr>
          <p:cNvCxnSpPr>
            <a:stCxn id="14" idx="3"/>
            <a:endCxn id="6" idx="2"/>
          </p:cNvCxnSpPr>
          <p:nvPr/>
        </p:nvCxnSpPr>
        <p:spPr>
          <a:xfrm flipV="1">
            <a:off x="5780218" y="5395473"/>
            <a:ext cx="317021" cy="533951"/>
          </a:xfrm>
          <a:prstGeom prst="bentConnector2">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4" name="Title 1">
            <a:extLst>
              <a:ext uri="{FF2B5EF4-FFF2-40B4-BE49-F238E27FC236}">
                <a16:creationId xmlns:a16="http://schemas.microsoft.com/office/drawing/2014/main" id="{FFBD3328-B58C-4BC7-AD3F-C2720AE0E3D2}"/>
              </a:ext>
            </a:extLst>
          </p:cNvPr>
          <p:cNvSpPr>
            <a:spLocks noGrp="1"/>
          </p:cNvSpPr>
          <p:nvPr>
            <p:ph type="title"/>
          </p:nvPr>
        </p:nvSpPr>
        <p:spPr>
          <a:xfrm>
            <a:off x="504001" y="504000"/>
            <a:ext cx="11186476" cy="369332"/>
          </a:xfrm>
        </p:spPr>
        <p:txBody>
          <a:bodyPr/>
          <a:lstStyle/>
          <a:p>
            <a:r>
              <a:rPr lang="en-US" dirty="0"/>
              <a:t>            CSI</a:t>
            </a:r>
          </a:p>
        </p:txBody>
      </p:sp>
      <p:pic>
        <p:nvPicPr>
          <p:cNvPr id="26" name="Graphic 25" descr="Sunglasses">
            <a:extLst>
              <a:ext uri="{FF2B5EF4-FFF2-40B4-BE49-F238E27FC236}">
                <a16:creationId xmlns:a16="http://schemas.microsoft.com/office/drawing/2014/main" id="{EDBBD83C-E1D7-4226-809D-7B8C8755B90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04001" y="231466"/>
            <a:ext cx="914400" cy="914400"/>
          </a:xfrm>
          <a:prstGeom prst="rect">
            <a:avLst/>
          </a:prstGeom>
        </p:spPr>
      </p:pic>
    </p:spTree>
    <p:extLst>
      <p:ext uri="{BB962C8B-B14F-4D97-AF65-F5344CB8AC3E}">
        <p14:creationId xmlns:p14="http://schemas.microsoft.com/office/powerpoint/2010/main" val="130564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animBg="1"/>
      <p:bldP spid="15" grpId="0" animBg="1"/>
      <p:bldP spid="16" grpId="0" animBg="1"/>
      <p:bldP spid="21" grpId="0" animBg="1"/>
      <p:bldP spid="23" grpId="0" animBg="1"/>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BB56E-9CC3-478E-8038-789A6FFF0E7F}"/>
              </a:ext>
            </a:extLst>
          </p:cNvPr>
          <p:cNvSpPr>
            <a:spLocks noGrp="1"/>
          </p:cNvSpPr>
          <p:nvPr>
            <p:ph type="title"/>
          </p:nvPr>
        </p:nvSpPr>
        <p:spPr/>
        <p:txBody>
          <a:bodyPr/>
          <a:lstStyle/>
          <a:p>
            <a:r>
              <a:rPr lang="en-US" dirty="0"/>
              <a:t>            CSI</a:t>
            </a:r>
          </a:p>
        </p:txBody>
      </p:sp>
      <p:sp>
        <p:nvSpPr>
          <p:cNvPr id="11" name="Rectangle 10">
            <a:extLst>
              <a:ext uri="{FF2B5EF4-FFF2-40B4-BE49-F238E27FC236}">
                <a16:creationId xmlns:a16="http://schemas.microsoft.com/office/drawing/2014/main" id="{40DE819E-EBF2-47BD-B113-0CE4EF805FB2}"/>
              </a:ext>
            </a:extLst>
          </p:cNvPr>
          <p:cNvSpPr/>
          <p:nvPr/>
        </p:nvSpPr>
        <p:spPr bwMode="gray">
          <a:xfrm>
            <a:off x="1018420" y="5689265"/>
            <a:ext cx="2063878" cy="659219"/>
          </a:xfrm>
          <a:prstGeom prst="rect">
            <a:avLst/>
          </a:prstGeom>
          <a:no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AWS EBS</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4" name="Rectangle 13">
            <a:extLst>
              <a:ext uri="{FF2B5EF4-FFF2-40B4-BE49-F238E27FC236}">
                <a16:creationId xmlns:a16="http://schemas.microsoft.com/office/drawing/2014/main" id="{B530C19E-B1B0-452A-A2A4-5138D5D477FA}"/>
              </a:ext>
            </a:extLst>
          </p:cNvPr>
          <p:cNvSpPr/>
          <p:nvPr/>
        </p:nvSpPr>
        <p:spPr bwMode="gray">
          <a:xfrm>
            <a:off x="3716340" y="5689265"/>
            <a:ext cx="2063878" cy="659219"/>
          </a:xfrm>
          <a:prstGeom prst="rect">
            <a:avLst/>
          </a:prstGeom>
          <a:no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GCP PD</a:t>
            </a:r>
          </a:p>
        </p:txBody>
      </p:sp>
      <p:sp>
        <p:nvSpPr>
          <p:cNvPr id="15" name="Rectangle 14">
            <a:extLst>
              <a:ext uri="{FF2B5EF4-FFF2-40B4-BE49-F238E27FC236}">
                <a16:creationId xmlns:a16="http://schemas.microsoft.com/office/drawing/2014/main" id="{472138A7-4CA0-4BC0-9CA1-40D5F59E161A}"/>
              </a:ext>
            </a:extLst>
          </p:cNvPr>
          <p:cNvSpPr/>
          <p:nvPr/>
        </p:nvSpPr>
        <p:spPr bwMode="gray">
          <a:xfrm>
            <a:off x="6414260" y="5689264"/>
            <a:ext cx="2063878" cy="659219"/>
          </a:xfrm>
          <a:prstGeom prst="rect">
            <a:avLst/>
          </a:prstGeom>
          <a:no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Ceph</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6" name="Rectangle 15">
            <a:extLst>
              <a:ext uri="{FF2B5EF4-FFF2-40B4-BE49-F238E27FC236}">
                <a16:creationId xmlns:a16="http://schemas.microsoft.com/office/drawing/2014/main" id="{3C935E0E-C45D-4312-99C5-98E76DAA1EA4}"/>
              </a:ext>
            </a:extLst>
          </p:cNvPr>
          <p:cNvSpPr/>
          <p:nvPr/>
        </p:nvSpPr>
        <p:spPr bwMode="gray">
          <a:xfrm>
            <a:off x="9112179" y="5689263"/>
            <a:ext cx="2063878" cy="659219"/>
          </a:xfrm>
          <a:prstGeom prst="rect">
            <a:avLst/>
          </a:prstGeom>
          <a:no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a:t>
            </a:r>
          </a:p>
        </p:txBody>
      </p:sp>
      <p:sp>
        <p:nvSpPr>
          <p:cNvPr id="22" name="Rectangle 21">
            <a:extLst>
              <a:ext uri="{FF2B5EF4-FFF2-40B4-BE49-F238E27FC236}">
                <a16:creationId xmlns:a16="http://schemas.microsoft.com/office/drawing/2014/main" id="{41C9DB3A-C7B7-43DA-9436-6F674328BA32}"/>
              </a:ext>
            </a:extLst>
          </p:cNvPr>
          <p:cNvSpPr/>
          <p:nvPr/>
        </p:nvSpPr>
        <p:spPr bwMode="gray">
          <a:xfrm>
            <a:off x="1688499" y="2385057"/>
            <a:ext cx="2063878" cy="659219"/>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PVC</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3" name="Rectangle 22">
            <a:extLst>
              <a:ext uri="{FF2B5EF4-FFF2-40B4-BE49-F238E27FC236}">
                <a16:creationId xmlns:a16="http://schemas.microsoft.com/office/drawing/2014/main" id="{11230B61-BEB8-46FA-9A30-5EBD47D9A823}"/>
              </a:ext>
            </a:extLst>
          </p:cNvPr>
          <p:cNvSpPr/>
          <p:nvPr/>
        </p:nvSpPr>
        <p:spPr bwMode="gray">
          <a:xfrm>
            <a:off x="1688499" y="3496331"/>
            <a:ext cx="2063878" cy="659219"/>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PV</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25" name="Graphic 24" descr="Female Profile">
            <a:extLst>
              <a:ext uri="{FF2B5EF4-FFF2-40B4-BE49-F238E27FC236}">
                <a16:creationId xmlns:a16="http://schemas.microsoft.com/office/drawing/2014/main" id="{6D300F24-7BD1-42EF-B557-FAE2767566B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63238" y="931898"/>
            <a:ext cx="914400" cy="914400"/>
          </a:xfrm>
          <a:prstGeom prst="rect">
            <a:avLst/>
          </a:prstGeom>
        </p:spPr>
      </p:pic>
      <p:sp>
        <p:nvSpPr>
          <p:cNvPr id="26" name="Rectangle 25">
            <a:extLst>
              <a:ext uri="{FF2B5EF4-FFF2-40B4-BE49-F238E27FC236}">
                <a16:creationId xmlns:a16="http://schemas.microsoft.com/office/drawing/2014/main" id="{08B5D7FD-7161-4E23-90FC-963D49A9C842}"/>
              </a:ext>
            </a:extLst>
          </p:cNvPr>
          <p:cNvSpPr/>
          <p:nvPr/>
        </p:nvSpPr>
        <p:spPr bwMode="gray">
          <a:xfrm>
            <a:off x="4350382" y="2385056"/>
            <a:ext cx="2063878" cy="659219"/>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Pod</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cxnSp>
        <p:nvCxnSpPr>
          <p:cNvPr id="30" name="Straight Arrow Connector 29">
            <a:extLst>
              <a:ext uri="{FF2B5EF4-FFF2-40B4-BE49-F238E27FC236}">
                <a16:creationId xmlns:a16="http://schemas.microsoft.com/office/drawing/2014/main" id="{2BDDBC0E-C5A1-4713-A162-A14C406A7A15}"/>
              </a:ext>
            </a:extLst>
          </p:cNvPr>
          <p:cNvCxnSpPr>
            <a:stCxn id="25" idx="2"/>
            <a:endCxn id="22" idx="0"/>
          </p:cNvCxnSpPr>
          <p:nvPr/>
        </p:nvCxnSpPr>
        <p:spPr>
          <a:xfrm>
            <a:off x="2720438" y="1846298"/>
            <a:ext cx="0" cy="538759"/>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732FFC2-3118-40E9-999B-BE90DC15A99F}"/>
              </a:ext>
            </a:extLst>
          </p:cNvPr>
          <p:cNvCxnSpPr>
            <a:stCxn id="22" idx="2"/>
            <a:endCxn id="23" idx="0"/>
          </p:cNvCxnSpPr>
          <p:nvPr/>
        </p:nvCxnSpPr>
        <p:spPr>
          <a:xfrm>
            <a:off x="2720438" y="3044276"/>
            <a:ext cx="0" cy="452055"/>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5A67F9F1-169F-41D6-9AEA-3FB4AE23354B}"/>
              </a:ext>
            </a:extLst>
          </p:cNvPr>
          <p:cNvSpPr/>
          <p:nvPr/>
        </p:nvSpPr>
        <p:spPr bwMode="gray">
          <a:xfrm>
            <a:off x="4350382" y="3496331"/>
            <a:ext cx="2063878" cy="659219"/>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a:ea typeface="Arial Unicode MS" pitchFamily="34" charset="-128"/>
                <a:cs typeface="Arial Unicode MS" pitchFamily="34" charset="-128"/>
              </a:rPr>
              <a:t>Node</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cxnSp>
        <p:nvCxnSpPr>
          <p:cNvPr id="41" name="Straight Connector 40">
            <a:extLst>
              <a:ext uri="{FF2B5EF4-FFF2-40B4-BE49-F238E27FC236}">
                <a16:creationId xmlns:a16="http://schemas.microsoft.com/office/drawing/2014/main" id="{70A71E4B-2450-47BF-A3DE-9E211E3AFAB1}"/>
              </a:ext>
            </a:extLst>
          </p:cNvPr>
          <p:cNvCxnSpPr>
            <a:cxnSpLocks/>
            <a:stCxn id="23" idx="2"/>
          </p:cNvCxnSpPr>
          <p:nvPr/>
        </p:nvCxnSpPr>
        <p:spPr>
          <a:xfrm>
            <a:off x="2720438" y="4155550"/>
            <a:ext cx="1" cy="630914"/>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9EA9885A-92E7-4632-8133-2BC797A40614}"/>
              </a:ext>
            </a:extLst>
          </p:cNvPr>
          <p:cNvSpPr/>
          <p:nvPr/>
        </p:nvSpPr>
        <p:spPr bwMode="gray">
          <a:xfrm>
            <a:off x="1018420" y="4786464"/>
            <a:ext cx="10157637" cy="609009"/>
          </a:xfrm>
          <a:prstGeom prst="rect">
            <a:avLst/>
          </a:prstGeom>
          <a:solidFill>
            <a:schemeClr val="bg1"/>
          </a:solid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CSI </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cxnSp>
        <p:nvCxnSpPr>
          <p:cNvPr id="24" name="Straight Connector 23">
            <a:extLst>
              <a:ext uri="{FF2B5EF4-FFF2-40B4-BE49-F238E27FC236}">
                <a16:creationId xmlns:a16="http://schemas.microsoft.com/office/drawing/2014/main" id="{7A89B6EE-5906-4A79-9F65-79D3A93CB617}"/>
              </a:ext>
            </a:extLst>
          </p:cNvPr>
          <p:cNvCxnSpPr>
            <a:cxnSpLocks/>
            <a:stCxn id="26" idx="1"/>
            <a:endCxn id="22" idx="3"/>
          </p:cNvCxnSpPr>
          <p:nvPr/>
        </p:nvCxnSpPr>
        <p:spPr>
          <a:xfrm flipH="1">
            <a:off x="3752377" y="2714666"/>
            <a:ext cx="598005" cy="1"/>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85B2575-D8AD-4C4B-961C-5391D98A20E7}"/>
              </a:ext>
            </a:extLst>
          </p:cNvPr>
          <p:cNvCxnSpPr>
            <a:stCxn id="26" idx="2"/>
            <a:endCxn id="39" idx="0"/>
          </p:cNvCxnSpPr>
          <p:nvPr/>
        </p:nvCxnSpPr>
        <p:spPr>
          <a:xfrm>
            <a:off x="5382321" y="3044275"/>
            <a:ext cx="0" cy="452056"/>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DB9D945-03B9-48B1-8E01-C4D30D9971FE}"/>
              </a:ext>
            </a:extLst>
          </p:cNvPr>
          <p:cNvCxnSpPr>
            <a:stCxn id="39" idx="2"/>
          </p:cNvCxnSpPr>
          <p:nvPr/>
        </p:nvCxnSpPr>
        <p:spPr>
          <a:xfrm>
            <a:off x="5382321" y="4155550"/>
            <a:ext cx="0" cy="630914"/>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CCB626EE-05D2-4569-990A-EECD14606467}"/>
              </a:ext>
            </a:extLst>
          </p:cNvPr>
          <p:cNvPicPr>
            <a:picLocks noChangeAspect="1"/>
          </p:cNvPicPr>
          <p:nvPr/>
        </p:nvPicPr>
        <p:blipFill>
          <a:blip r:embed="rId5"/>
          <a:stretch>
            <a:fillRect/>
          </a:stretch>
        </p:blipFill>
        <p:spPr>
          <a:xfrm>
            <a:off x="7413937" y="2115677"/>
            <a:ext cx="3723809" cy="2380952"/>
          </a:xfrm>
          <a:prstGeom prst="rect">
            <a:avLst/>
          </a:prstGeom>
          <a:ln>
            <a:solidFill>
              <a:schemeClr val="bg2"/>
            </a:solidFill>
          </a:ln>
        </p:spPr>
      </p:pic>
      <p:cxnSp>
        <p:nvCxnSpPr>
          <p:cNvPr id="20" name="Connector: Elbow 19">
            <a:extLst>
              <a:ext uri="{FF2B5EF4-FFF2-40B4-BE49-F238E27FC236}">
                <a16:creationId xmlns:a16="http://schemas.microsoft.com/office/drawing/2014/main" id="{33C92A6E-5E4F-4755-BFA5-E45AC158F616}"/>
              </a:ext>
            </a:extLst>
          </p:cNvPr>
          <p:cNvCxnSpPr>
            <a:stCxn id="26" idx="3"/>
            <a:endCxn id="17" idx="1"/>
          </p:cNvCxnSpPr>
          <p:nvPr/>
        </p:nvCxnSpPr>
        <p:spPr>
          <a:xfrm>
            <a:off x="6414260" y="2714666"/>
            <a:ext cx="999677" cy="591487"/>
          </a:xfrm>
          <a:prstGeom prst="bentConnector3">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C66CEDD7-BB9C-4CC5-ACA5-7E526D40B87A}"/>
              </a:ext>
            </a:extLst>
          </p:cNvPr>
          <p:cNvCxnSpPr>
            <a:stCxn id="17" idx="2"/>
          </p:cNvCxnSpPr>
          <p:nvPr/>
        </p:nvCxnSpPr>
        <p:spPr>
          <a:xfrm flipH="1">
            <a:off x="9275841" y="4496629"/>
            <a:ext cx="1" cy="289834"/>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E259BEE1-5BFB-4731-8F55-EC7FDE4E19D1}"/>
              </a:ext>
            </a:extLst>
          </p:cNvPr>
          <p:cNvCxnSpPr>
            <a:stCxn id="25" idx="2"/>
            <a:endCxn id="26" idx="0"/>
          </p:cNvCxnSpPr>
          <p:nvPr/>
        </p:nvCxnSpPr>
        <p:spPr>
          <a:xfrm rot="16200000" flipH="1">
            <a:off x="3782000" y="784735"/>
            <a:ext cx="538758" cy="2661883"/>
          </a:xfrm>
          <a:prstGeom prst="bentConnector3">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 name="Connector: Elbow 3">
            <a:extLst>
              <a:ext uri="{FF2B5EF4-FFF2-40B4-BE49-F238E27FC236}">
                <a16:creationId xmlns:a16="http://schemas.microsoft.com/office/drawing/2014/main" id="{362167EB-97CE-4AAA-B5E0-E9A5F08D50C4}"/>
              </a:ext>
            </a:extLst>
          </p:cNvPr>
          <p:cNvCxnSpPr>
            <a:cxnSpLocks/>
            <a:stCxn id="6" idx="2"/>
            <a:endCxn id="14" idx="0"/>
          </p:cNvCxnSpPr>
          <p:nvPr/>
        </p:nvCxnSpPr>
        <p:spPr>
          <a:xfrm rot="5400000">
            <a:off x="5275863" y="4867889"/>
            <a:ext cx="293792" cy="1348960"/>
          </a:xfrm>
          <a:prstGeom prst="bentConnector3">
            <a:avLst>
              <a:gd name="adj1" fmla="val 50000"/>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29" name="Graphic 28" descr="Sunglasses">
            <a:extLst>
              <a:ext uri="{FF2B5EF4-FFF2-40B4-BE49-F238E27FC236}">
                <a16:creationId xmlns:a16="http://schemas.microsoft.com/office/drawing/2014/main" id="{54928828-3740-44DF-9E92-F0EA54FAAE1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04001" y="231466"/>
            <a:ext cx="914400" cy="914400"/>
          </a:xfrm>
          <a:prstGeom prst="rect">
            <a:avLst/>
          </a:prstGeom>
        </p:spPr>
      </p:pic>
    </p:spTree>
    <p:extLst>
      <p:ext uri="{BB962C8B-B14F-4D97-AF65-F5344CB8AC3E}">
        <p14:creationId xmlns:p14="http://schemas.microsoft.com/office/powerpoint/2010/main" val="3775287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3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30A85-2277-4AED-93CC-D455D481D551}"/>
              </a:ext>
            </a:extLst>
          </p:cNvPr>
          <p:cNvSpPr>
            <a:spLocks noGrp="1"/>
          </p:cNvSpPr>
          <p:nvPr>
            <p:ph type="title"/>
          </p:nvPr>
        </p:nvSpPr>
        <p:spPr>
          <a:xfrm>
            <a:off x="504001" y="504000"/>
            <a:ext cx="11186476" cy="369332"/>
          </a:xfrm>
        </p:spPr>
        <p:txBody>
          <a:bodyPr/>
          <a:lstStyle/>
          <a:p>
            <a:r>
              <a:rPr lang="en-US" dirty="0"/>
              <a:t>PV/PVC lifecycle</a:t>
            </a:r>
          </a:p>
        </p:txBody>
      </p:sp>
      <p:cxnSp>
        <p:nvCxnSpPr>
          <p:cNvPr id="7" name="Straight Arrow Connector 6">
            <a:extLst>
              <a:ext uri="{FF2B5EF4-FFF2-40B4-BE49-F238E27FC236}">
                <a16:creationId xmlns:a16="http://schemas.microsoft.com/office/drawing/2014/main" id="{0E148E64-5823-42DF-8A18-A33E61E0BD6C}"/>
              </a:ext>
            </a:extLst>
          </p:cNvPr>
          <p:cNvCxnSpPr>
            <a:cxnSpLocks/>
            <a:stCxn id="13" idx="0"/>
            <a:endCxn id="19" idx="1"/>
          </p:cNvCxnSpPr>
          <p:nvPr/>
        </p:nvCxnSpPr>
        <p:spPr>
          <a:xfrm flipV="1">
            <a:off x="2605824" y="3429000"/>
            <a:ext cx="806808" cy="1"/>
          </a:xfrm>
          <a:prstGeom prst="straightConnector1">
            <a:avLst/>
          </a:prstGeom>
          <a:ln w="571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3" name="Rectangle: Diagonal Corners Rounded 12">
            <a:extLst>
              <a:ext uri="{FF2B5EF4-FFF2-40B4-BE49-F238E27FC236}">
                <a16:creationId xmlns:a16="http://schemas.microsoft.com/office/drawing/2014/main" id="{16A03595-0330-4635-9435-4D1CD393120F}"/>
              </a:ext>
            </a:extLst>
          </p:cNvPr>
          <p:cNvSpPr/>
          <p:nvPr/>
        </p:nvSpPr>
        <p:spPr bwMode="gray">
          <a:xfrm>
            <a:off x="802171" y="2872884"/>
            <a:ext cx="1803653" cy="1112233"/>
          </a:xfrm>
          <a:prstGeom prst="round2Diag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a:solidFill>
                  <a:schemeClr val="dk1"/>
                </a:solidFill>
                <a:latin typeface="+mn-lt"/>
                <a:ea typeface="Arial Unicode MS" pitchFamily="34" charset="-128"/>
                <a:cs typeface="Arial Unicode MS" pitchFamily="34" charset="-128"/>
              </a:rPr>
              <a:t>Persistent Volume Claim</a:t>
            </a:r>
          </a:p>
        </p:txBody>
      </p:sp>
      <p:sp>
        <p:nvSpPr>
          <p:cNvPr id="18" name="Speech Bubble: Rectangle 17">
            <a:extLst>
              <a:ext uri="{FF2B5EF4-FFF2-40B4-BE49-F238E27FC236}">
                <a16:creationId xmlns:a16="http://schemas.microsoft.com/office/drawing/2014/main" id="{F53315F5-5393-42ED-AA74-A5CB6AC0C466}"/>
              </a:ext>
            </a:extLst>
          </p:cNvPr>
          <p:cNvSpPr/>
          <p:nvPr/>
        </p:nvSpPr>
        <p:spPr bwMode="gray">
          <a:xfrm>
            <a:off x="1175928" y="1165881"/>
            <a:ext cx="2535294" cy="915844"/>
          </a:xfrm>
          <a:prstGeom prst="wedgeRectCallout">
            <a:avLst>
              <a:gd name="adj1" fmla="val -31361"/>
              <a:gd name="adj2" fmla="val 117470"/>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User creates a PVC to request storage</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9" name="Diamond 18">
            <a:extLst>
              <a:ext uri="{FF2B5EF4-FFF2-40B4-BE49-F238E27FC236}">
                <a16:creationId xmlns:a16="http://schemas.microsoft.com/office/drawing/2014/main" id="{9EE372CB-8F56-443C-9215-2DA0EC4B459A}"/>
              </a:ext>
            </a:extLst>
          </p:cNvPr>
          <p:cNvSpPr/>
          <p:nvPr/>
        </p:nvSpPr>
        <p:spPr bwMode="gray">
          <a:xfrm>
            <a:off x="3412632" y="2667898"/>
            <a:ext cx="1981071" cy="1522203"/>
          </a:xfrm>
          <a:prstGeom prst="diamond">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a:solidFill>
                  <a:schemeClr val="dk1"/>
                </a:solidFill>
                <a:latin typeface="+mn-lt"/>
                <a:ea typeface="Arial Unicode MS" pitchFamily="34" charset="-128"/>
                <a:cs typeface="Arial Unicode MS" pitchFamily="34" charset="-128"/>
              </a:rPr>
              <a:t>Storage Class</a:t>
            </a:r>
          </a:p>
        </p:txBody>
      </p:sp>
      <p:sp>
        <p:nvSpPr>
          <p:cNvPr id="25" name="Speech Bubble: Rectangle 24">
            <a:extLst>
              <a:ext uri="{FF2B5EF4-FFF2-40B4-BE49-F238E27FC236}">
                <a16:creationId xmlns:a16="http://schemas.microsoft.com/office/drawing/2014/main" id="{2C734FFF-558D-4925-8900-F101F47F1C1C}"/>
              </a:ext>
            </a:extLst>
          </p:cNvPr>
          <p:cNvSpPr/>
          <p:nvPr/>
        </p:nvSpPr>
        <p:spPr bwMode="gray">
          <a:xfrm>
            <a:off x="1880267" y="5167406"/>
            <a:ext cx="2826226" cy="915844"/>
          </a:xfrm>
          <a:prstGeom prst="wedgeRectCallout">
            <a:avLst>
              <a:gd name="adj1" fmla="val 33544"/>
              <a:gd name="adj2" fmla="val -148415"/>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Storage Class is triggered to fulfill request</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6" name="Cylinder 25">
            <a:extLst>
              <a:ext uri="{FF2B5EF4-FFF2-40B4-BE49-F238E27FC236}">
                <a16:creationId xmlns:a16="http://schemas.microsoft.com/office/drawing/2014/main" id="{0493B288-1ED8-4F28-8486-18B37A81CB6F}"/>
              </a:ext>
            </a:extLst>
          </p:cNvPr>
          <p:cNvSpPr/>
          <p:nvPr/>
        </p:nvSpPr>
        <p:spPr bwMode="gray">
          <a:xfrm>
            <a:off x="6099203" y="4262755"/>
            <a:ext cx="1693576" cy="1362573"/>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Physical storage</a:t>
            </a:r>
          </a:p>
        </p:txBody>
      </p:sp>
      <p:sp>
        <p:nvSpPr>
          <p:cNvPr id="27" name="Cylinder 26">
            <a:extLst>
              <a:ext uri="{FF2B5EF4-FFF2-40B4-BE49-F238E27FC236}">
                <a16:creationId xmlns:a16="http://schemas.microsoft.com/office/drawing/2014/main" id="{E89A7678-F502-4E6F-95F2-BE9431FDE897}"/>
              </a:ext>
            </a:extLst>
          </p:cNvPr>
          <p:cNvSpPr/>
          <p:nvPr/>
        </p:nvSpPr>
        <p:spPr bwMode="gray">
          <a:xfrm>
            <a:off x="6202746" y="2751601"/>
            <a:ext cx="1486490" cy="1104455"/>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Persistent</a:t>
            </a:r>
            <a:r>
              <a:rPr kumimoji="0" lang="en-US" sz="1800" b="0" i="0" u="none" strike="noStrike" kern="0" cap="none" spc="0" normalizeH="0" noProof="0" dirty="0">
                <a:ln>
                  <a:noFill/>
                </a:ln>
                <a:effectLst/>
                <a:uLnTx/>
                <a:uFillTx/>
                <a:ea typeface="Arial Unicode MS" pitchFamily="34" charset="-128"/>
                <a:cs typeface="Arial Unicode MS" pitchFamily="34" charset="-128"/>
              </a:rPr>
              <a:t> Volume</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33" name="Straight Connector 32">
            <a:extLst>
              <a:ext uri="{FF2B5EF4-FFF2-40B4-BE49-F238E27FC236}">
                <a16:creationId xmlns:a16="http://schemas.microsoft.com/office/drawing/2014/main" id="{C78407CA-CD3F-460D-924D-DE2C75E8F10A}"/>
              </a:ext>
            </a:extLst>
          </p:cNvPr>
          <p:cNvCxnSpPr>
            <a:cxnSpLocks/>
            <a:stCxn id="26" idx="1"/>
            <a:endCxn id="27" idx="3"/>
          </p:cNvCxnSpPr>
          <p:nvPr/>
        </p:nvCxnSpPr>
        <p:spPr>
          <a:xfrm flipV="1">
            <a:off x="6945991" y="3856056"/>
            <a:ext cx="0" cy="406699"/>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FC7C8D8-9A9A-4230-B77C-140CCF1AD044}"/>
              </a:ext>
            </a:extLst>
          </p:cNvPr>
          <p:cNvCxnSpPr>
            <a:cxnSpLocks/>
            <a:stCxn id="19" idx="3"/>
          </p:cNvCxnSpPr>
          <p:nvPr/>
        </p:nvCxnSpPr>
        <p:spPr>
          <a:xfrm>
            <a:off x="5393703" y="3429000"/>
            <a:ext cx="789608" cy="0"/>
          </a:xfrm>
          <a:prstGeom prst="straightConnector1">
            <a:avLst/>
          </a:prstGeom>
          <a:ln w="571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9" name="Speech Bubble: Rectangle 38">
            <a:extLst>
              <a:ext uri="{FF2B5EF4-FFF2-40B4-BE49-F238E27FC236}">
                <a16:creationId xmlns:a16="http://schemas.microsoft.com/office/drawing/2014/main" id="{24567D07-16BB-4C27-908C-4F840E28F1FE}"/>
              </a:ext>
            </a:extLst>
          </p:cNvPr>
          <p:cNvSpPr/>
          <p:nvPr/>
        </p:nvSpPr>
        <p:spPr bwMode="gray">
          <a:xfrm>
            <a:off x="8740023" y="5167406"/>
            <a:ext cx="2826226" cy="1086530"/>
          </a:xfrm>
          <a:prstGeom prst="wedgeRectCallout">
            <a:avLst>
              <a:gd name="adj1" fmla="val -6196"/>
              <a:gd name="adj2" fmla="val -130558"/>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Upon PVC deletion reclaim policy is executed</a:t>
            </a:r>
          </a:p>
        </p:txBody>
      </p:sp>
      <p:grpSp>
        <p:nvGrpSpPr>
          <p:cNvPr id="42" name="Group 41">
            <a:extLst>
              <a:ext uri="{FF2B5EF4-FFF2-40B4-BE49-F238E27FC236}">
                <a16:creationId xmlns:a16="http://schemas.microsoft.com/office/drawing/2014/main" id="{D69D703F-012B-4E67-BFD2-D5A614F6E503}"/>
              </a:ext>
            </a:extLst>
          </p:cNvPr>
          <p:cNvGrpSpPr/>
          <p:nvPr/>
        </p:nvGrpSpPr>
        <p:grpSpPr>
          <a:xfrm>
            <a:off x="9390346" y="2526523"/>
            <a:ext cx="1803653" cy="1804951"/>
            <a:chOff x="8041527" y="2440671"/>
            <a:chExt cx="1803653" cy="1804951"/>
          </a:xfrm>
        </p:grpSpPr>
        <p:sp>
          <p:nvSpPr>
            <p:cNvPr id="40" name="Rectangle: Diagonal Corners Rounded 39">
              <a:extLst>
                <a:ext uri="{FF2B5EF4-FFF2-40B4-BE49-F238E27FC236}">
                  <a16:creationId xmlns:a16="http://schemas.microsoft.com/office/drawing/2014/main" id="{9E3777A7-A4C8-4913-9241-C0CB955EA765}"/>
                </a:ext>
              </a:extLst>
            </p:cNvPr>
            <p:cNvSpPr/>
            <p:nvPr/>
          </p:nvSpPr>
          <p:spPr bwMode="gray">
            <a:xfrm>
              <a:off x="8041527" y="2787030"/>
              <a:ext cx="1803653" cy="1112233"/>
            </a:xfrm>
            <a:prstGeom prst="round2Diag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a:solidFill>
                    <a:schemeClr val="dk1"/>
                  </a:solidFill>
                  <a:latin typeface="+mn-lt"/>
                  <a:ea typeface="Arial Unicode MS" pitchFamily="34" charset="-128"/>
                  <a:cs typeface="Arial Unicode MS" pitchFamily="34" charset="-128"/>
                </a:rPr>
                <a:t>Persistent Volume Claim</a:t>
              </a:r>
            </a:p>
          </p:txBody>
        </p:sp>
        <p:sp>
          <p:nvSpPr>
            <p:cNvPr id="41" name="Cross 40">
              <a:extLst>
                <a:ext uri="{FF2B5EF4-FFF2-40B4-BE49-F238E27FC236}">
                  <a16:creationId xmlns:a16="http://schemas.microsoft.com/office/drawing/2014/main" id="{E055B24B-F60B-4511-A239-3F8A0E8A1488}"/>
                </a:ext>
              </a:extLst>
            </p:cNvPr>
            <p:cNvSpPr/>
            <p:nvPr/>
          </p:nvSpPr>
          <p:spPr bwMode="gray">
            <a:xfrm rot="2690790">
              <a:off x="8045684" y="2440671"/>
              <a:ext cx="1795337" cy="1804951"/>
            </a:xfrm>
            <a:prstGeom prst="plus">
              <a:avLst>
                <a:gd name="adj" fmla="val 44715"/>
              </a:avLst>
            </a:prstGeom>
            <a:solidFill>
              <a:schemeClr val="accent5">
                <a:lumMod val="40000"/>
                <a:lumOff val="60000"/>
              </a:schemeClr>
            </a:solidFill>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grpSp>
      <p:cxnSp>
        <p:nvCxnSpPr>
          <p:cNvPr id="43" name="Straight Arrow Connector 42">
            <a:extLst>
              <a:ext uri="{FF2B5EF4-FFF2-40B4-BE49-F238E27FC236}">
                <a16:creationId xmlns:a16="http://schemas.microsoft.com/office/drawing/2014/main" id="{E3D5F030-2397-4CF3-BADE-A03F7A6A5F10}"/>
              </a:ext>
            </a:extLst>
          </p:cNvPr>
          <p:cNvCxnSpPr>
            <a:cxnSpLocks/>
            <a:endCxn id="40" idx="2"/>
          </p:cNvCxnSpPr>
          <p:nvPr/>
        </p:nvCxnSpPr>
        <p:spPr>
          <a:xfrm>
            <a:off x="7689236" y="3428999"/>
            <a:ext cx="1701110" cy="0"/>
          </a:xfrm>
          <a:prstGeom prst="straightConnector1">
            <a:avLst/>
          </a:prstGeom>
          <a:ln w="571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8" name="Speech Bubble: Rectangle 47">
            <a:extLst>
              <a:ext uri="{FF2B5EF4-FFF2-40B4-BE49-F238E27FC236}">
                <a16:creationId xmlns:a16="http://schemas.microsoft.com/office/drawing/2014/main" id="{24A5F8BA-B3D0-4F4F-A49D-3D4B06BDBD14}"/>
              </a:ext>
            </a:extLst>
          </p:cNvPr>
          <p:cNvSpPr/>
          <p:nvPr/>
        </p:nvSpPr>
        <p:spPr bwMode="gray">
          <a:xfrm>
            <a:off x="5103859" y="1150582"/>
            <a:ext cx="2826226" cy="915844"/>
          </a:xfrm>
          <a:prstGeom prst="wedgeRectCallout">
            <a:avLst>
              <a:gd name="adj1" fmla="val 6816"/>
              <a:gd name="adj2" fmla="val 105532"/>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PVC will be bound to PV</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51" name="Graphic 50" descr="Checkmark">
            <a:extLst>
              <a:ext uri="{FF2B5EF4-FFF2-40B4-BE49-F238E27FC236}">
                <a16:creationId xmlns:a16="http://schemas.microsoft.com/office/drawing/2014/main" id="{7E6E0185-C6A4-478D-A431-4DF3C26581B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488580" y="2611738"/>
            <a:ext cx="1625907" cy="1625907"/>
          </a:xfrm>
          <a:prstGeom prst="rect">
            <a:avLst/>
          </a:prstGeom>
        </p:spPr>
      </p:pic>
    </p:spTree>
    <p:extLst>
      <p:ext uri="{BB962C8B-B14F-4D97-AF65-F5344CB8AC3E}">
        <p14:creationId xmlns:p14="http://schemas.microsoft.com/office/powerpoint/2010/main" val="447519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51"/>
                                        </p:tgtEl>
                                        <p:attrNameLst>
                                          <p:attrName>style.visibility</p:attrName>
                                        </p:attrNameLst>
                                      </p:cBhvr>
                                      <p:to>
                                        <p:strVal val="hidden"/>
                                      </p:to>
                                    </p:set>
                                  </p:childTnLst>
                                </p:cTn>
                              </p:par>
                            </p:childTnLst>
                          </p:cTn>
                        </p:par>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42"/>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39"/>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5" grpId="0" animBg="1"/>
      <p:bldP spid="26" grpId="0" animBg="1"/>
      <p:bldP spid="27" grpId="0" animBg="1"/>
      <p:bldP spid="39" grpId="0" animBg="1"/>
      <p:bldP spid="4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Diagonal Corners Rounded 14">
            <a:extLst>
              <a:ext uri="{FF2B5EF4-FFF2-40B4-BE49-F238E27FC236}">
                <a16:creationId xmlns:a16="http://schemas.microsoft.com/office/drawing/2014/main" id="{2FC0B9D7-3453-4EFB-A7E6-898F1F63A75C}"/>
              </a:ext>
            </a:extLst>
          </p:cNvPr>
          <p:cNvSpPr/>
          <p:nvPr/>
        </p:nvSpPr>
        <p:spPr bwMode="gray">
          <a:xfrm>
            <a:off x="3623970" y="3281258"/>
            <a:ext cx="1803653" cy="1103355"/>
          </a:xfrm>
          <a:prstGeom prst="round2Diag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a:solidFill>
                  <a:schemeClr val="dk1"/>
                </a:solidFill>
                <a:latin typeface="+mn-lt"/>
                <a:ea typeface="Arial Unicode MS" pitchFamily="34" charset="-128"/>
                <a:cs typeface="Arial Unicode MS" pitchFamily="34" charset="-128"/>
              </a:rPr>
              <a:t>Persistent Volume Claim</a:t>
            </a:r>
          </a:p>
        </p:txBody>
      </p:sp>
      <p:sp>
        <p:nvSpPr>
          <p:cNvPr id="2" name="Title 1">
            <a:extLst>
              <a:ext uri="{FF2B5EF4-FFF2-40B4-BE49-F238E27FC236}">
                <a16:creationId xmlns:a16="http://schemas.microsoft.com/office/drawing/2014/main" id="{63CEA792-3EB5-4DB7-8C92-AD9889D91019}"/>
              </a:ext>
            </a:extLst>
          </p:cNvPr>
          <p:cNvSpPr>
            <a:spLocks noGrp="1"/>
          </p:cNvSpPr>
          <p:nvPr>
            <p:ph type="title"/>
          </p:nvPr>
        </p:nvSpPr>
        <p:spPr/>
        <p:txBody>
          <a:bodyPr/>
          <a:lstStyle/>
          <a:p>
            <a:r>
              <a:rPr lang="en-US" dirty="0"/>
              <a:t>Access Modes</a:t>
            </a:r>
          </a:p>
        </p:txBody>
      </p:sp>
      <p:sp>
        <p:nvSpPr>
          <p:cNvPr id="4" name="Rectangle 3">
            <a:extLst>
              <a:ext uri="{FF2B5EF4-FFF2-40B4-BE49-F238E27FC236}">
                <a16:creationId xmlns:a16="http://schemas.microsoft.com/office/drawing/2014/main" id="{24EF343A-C10A-4019-AE5D-81BDE41FF336}"/>
              </a:ext>
            </a:extLst>
          </p:cNvPr>
          <p:cNvSpPr/>
          <p:nvPr/>
        </p:nvSpPr>
        <p:spPr bwMode="gray">
          <a:xfrm>
            <a:off x="870562" y="3210949"/>
            <a:ext cx="1815338" cy="1160859"/>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b"/>
          <a:lstStyle/>
          <a:p>
            <a:pPr algn="ctr" defTabSz="914400" fontAlgn="base">
              <a:spcBef>
                <a:spcPct val="50000"/>
              </a:spcBef>
              <a:spcAft>
                <a:spcPct val="0"/>
              </a:spcAft>
              <a:buClr>
                <a:srgbClr val="F0AB00"/>
              </a:buClr>
              <a:buSzPct val="80000"/>
            </a:pPr>
            <a:endParaRPr lang="de-DE" sz="1600" b="1" kern="0" dirty="0">
              <a:solidFill>
                <a:sysClr val="windowText" lastClr="000000"/>
              </a:solidFill>
              <a:ea typeface="Arial Unicode MS" pitchFamily="34" charset="-128"/>
            </a:endParaRPr>
          </a:p>
          <a:p>
            <a:pPr algn="ctr" defTabSz="914400" fontAlgn="base">
              <a:spcBef>
                <a:spcPct val="50000"/>
              </a:spcBef>
              <a:spcAft>
                <a:spcPct val="0"/>
              </a:spcAft>
              <a:buClr>
                <a:srgbClr val="F0AB00"/>
              </a:buClr>
              <a:buSzPct val="80000"/>
            </a:pPr>
            <a:r>
              <a:rPr lang="de-DE" sz="1600" b="1" kern="0" dirty="0" err="1">
                <a:solidFill>
                  <a:sysClr val="windowText" lastClr="000000"/>
                </a:solidFill>
                <a:ea typeface="Arial Unicode MS" pitchFamily="34" charset="-128"/>
              </a:rPr>
              <a:t>Pod</a:t>
            </a:r>
            <a:r>
              <a:rPr lang="de-DE" sz="1600" b="1" kern="0" dirty="0">
                <a:solidFill>
                  <a:sysClr val="windowText" lastClr="000000"/>
                </a:solidFill>
                <a:ea typeface="Arial Unicode MS" pitchFamily="34" charset="-128"/>
              </a:rPr>
              <a:t> A2</a:t>
            </a:r>
          </a:p>
        </p:txBody>
      </p:sp>
      <p:sp>
        <p:nvSpPr>
          <p:cNvPr id="5" name="Rectangle 4">
            <a:extLst>
              <a:ext uri="{FF2B5EF4-FFF2-40B4-BE49-F238E27FC236}">
                <a16:creationId xmlns:a16="http://schemas.microsoft.com/office/drawing/2014/main" id="{406C96CF-733F-4258-A88F-372E8E1C9AC3}"/>
              </a:ext>
            </a:extLst>
          </p:cNvPr>
          <p:cNvSpPr/>
          <p:nvPr/>
        </p:nvSpPr>
        <p:spPr bwMode="gray">
          <a:xfrm>
            <a:off x="870562" y="4530298"/>
            <a:ext cx="1815338" cy="1160859"/>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b"/>
          <a:lstStyle/>
          <a:p>
            <a:pPr algn="ctr" defTabSz="914400" fontAlgn="base">
              <a:spcBef>
                <a:spcPct val="50000"/>
              </a:spcBef>
              <a:spcAft>
                <a:spcPct val="0"/>
              </a:spcAft>
              <a:buClr>
                <a:srgbClr val="F0AB00"/>
              </a:buClr>
              <a:buSzPct val="80000"/>
            </a:pPr>
            <a:endParaRPr lang="de-DE" sz="1600" b="1" kern="0" dirty="0">
              <a:solidFill>
                <a:sysClr val="windowText" lastClr="000000"/>
              </a:solidFill>
              <a:ea typeface="Arial Unicode MS" pitchFamily="34" charset="-128"/>
            </a:endParaRPr>
          </a:p>
          <a:p>
            <a:pPr algn="ctr" defTabSz="914400" fontAlgn="base">
              <a:spcBef>
                <a:spcPct val="50000"/>
              </a:spcBef>
              <a:spcAft>
                <a:spcPct val="0"/>
              </a:spcAft>
              <a:buClr>
                <a:srgbClr val="F0AB00"/>
              </a:buClr>
              <a:buSzPct val="80000"/>
            </a:pPr>
            <a:r>
              <a:rPr lang="de-DE" sz="1600" b="1" kern="0" dirty="0" err="1">
                <a:solidFill>
                  <a:sysClr val="windowText" lastClr="000000"/>
                </a:solidFill>
                <a:ea typeface="Arial Unicode MS" pitchFamily="34" charset="-128"/>
              </a:rPr>
              <a:t>Pod</a:t>
            </a:r>
            <a:r>
              <a:rPr lang="de-DE" sz="1600" b="1" kern="0" dirty="0">
                <a:solidFill>
                  <a:sysClr val="windowText" lastClr="000000"/>
                </a:solidFill>
                <a:ea typeface="Arial Unicode MS" pitchFamily="34" charset="-128"/>
              </a:rPr>
              <a:t> A3</a:t>
            </a:r>
          </a:p>
        </p:txBody>
      </p:sp>
      <p:sp>
        <p:nvSpPr>
          <p:cNvPr id="6" name="Rectangle 5">
            <a:extLst>
              <a:ext uri="{FF2B5EF4-FFF2-40B4-BE49-F238E27FC236}">
                <a16:creationId xmlns:a16="http://schemas.microsoft.com/office/drawing/2014/main" id="{38F244DA-1F13-40FD-8214-BBC53B74B7B5}"/>
              </a:ext>
            </a:extLst>
          </p:cNvPr>
          <p:cNvSpPr/>
          <p:nvPr/>
        </p:nvSpPr>
        <p:spPr bwMode="gray">
          <a:xfrm>
            <a:off x="870562" y="1891600"/>
            <a:ext cx="1815338" cy="1160859"/>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b"/>
          <a:lstStyle/>
          <a:p>
            <a:pPr algn="ctr" defTabSz="914400" fontAlgn="base">
              <a:spcBef>
                <a:spcPct val="50000"/>
              </a:spcBef>
              <a:spcAft>
                <a:spcPct val="0"/>
              </a:spcAft>
              <a:buClr>
                <a:srgbClr val="F0AB00"/>
              </a:buClr>
              <a:buSzPct val="80000"/>
            </a:pPr>
            <a:endParaRPr lang="de-DE" sz="1600" b="1" kern="0" dirty="0">
              <a:solidFill>
                <a:sysClr val="windowText" lastClr="000000"/>
              </a:solidFill>
              <a:ea typeface="Arial Unicode MS" pitchFamily="34" charset="-128"/>
            </a:endParaRPr>
          </a:p>
          <a:p>
            <a:pPr algn="ctr" defTabSz="914400" fontAlgn="base">
              <a:spcBef>
                <a:spcPct val="50000"/>
              </a:spcBef>
              <a:spcAft>
                <a:spcPct val="0"/>
              </a:spcAft>
              <a:buClr>
                <a:srgbClr val="F0AB00"/>
              </a:buClr>
              <a:buSzPct val="80000"/>
            </a:pPr>
            <a:r>
              <a:rPr lang="de-DE" sz="1600" b="1" kern="0" dirty="0" err="1">
                <a:solidFill>
                  <a:sysClr val="windowText" lastClr="000000"/>
                </a:solidFill>
                <a:ea typeface="Arial Unicode MS" pitchFamily="34" charset="-128"/>
              </a:rPr>
              <a:t>Pod</a:t>
            </a:r>
            <a:r>
              <a:rPr lang="de-DE" sz="1600" b="1" kern="0" dirty="0">
                <a:solidFill>
                  <a:sysClr val="windowText" lastClr="000000"/>
                </a:solidFill>
                <a:ea typeface="Arial Unicode MS" pitchFamily="34" charset="-128"/>
              </a:rPr>
              <a:t> A1</a:t>
            </a:r>
          </a:p>
        </p:txBody>
      </p:sp>
      <p:cxnSp>
        <p:nvCxnSpPr>
          <p:cNvPr id="7" name="Straight Arrow Connector 8">
            <a:extLst>
              <a:ext uri="{FF2B5EF4-FFF2-40B4-BE49-F238E27FC236}">
                <a16:creationId xmlns:a16="http://schemas.microsoft.com/office/drawing/2014/main" id="{A99C66D5-FAA1-45A8-A871-A103CD413C67}"/>
              </a:ext>
            </a:extLst>
          </p:cNvPr>
          <p:cNvCxnSpPr>
            <a:cxnSpLocks/>
            <a:endCxn id="4" idx="3"/>
          </p:cNvCxnSpPr>
          <p:nvPr/>
        </p:nvCxnSpPr>
        <p:spPr>
          <a:xfrm rot="10800000" flipV="1">
            <a:off x="2685900" y="3791377"/>
            <a:ext cx="898662" cy="1"/>
          </a:xfrm>
          <a:prstGeom prst="bentConnector3">
            <a:avLst>
              <a:gd name="adj1" fmla="val 50000"/>
            </a:avLst>
          </a:prstGeom>
          <a:ln w="57150">
            <a:solidFill>
              <a:schemeClr val="accent1">
                <a:lumMod val="60000"/>
                <a:lumOff val="40000"/>
              </a:schemeClr>
            </a:solidFill>
            <a:headEnd type="oval" w="med" len="med"/>
            <a:tailEnd type="oval" w="med" len="med"/>
          </a:ln>
        </p:spPr>
        <p:style>
          <a:lnRef idx="2">
            <a:schemeClr val="accent2"/>
          </a:lnRef>
          <a:fillRef idx="0">
            <a:schemeClr val="accent2"/>
          </a:fillRef>
          <a:effectRef idx="1">
            <a:schemeClr val="accent2"/>
          </a:effectRef>
          <a:fontRef idx="minor">
            <a:schemeClr val="tx1"/>
          </a:fontRef>
        </p:style>
      </p:cxnSp>
      <p:sp>
        <p:nvSpPr>
          <p:cNvPr id="10" name="Rectangle 9">
            <a:extLst>
              <a:ext uri="{FF2B5EF4-FFF2-40B4-BE49-F238E27FC236}">
                <a16:creationId xmlns:a16="http://schemas.microsoft.com/office/drawing/2014/main" id="{E747B2A2-4E85-4BEC-842B-D68BCADB5F49}"/>
              </a:ext>
            </a:extLst>
          </p:cNvPr>
          <p:cNvSpPr/>
          <p:nvPr/>
        </p:nvSpPr>
        <p:spPr bwMode="gray">
          <a:xfrm>
            <a:off x="955271" y="1984280"/>
            <a:ext cx="16459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a:ln>
                  <a:noFill/>
                </a:ln>
                <a:effectLst/>
                <a:uLnTx/>
                <a:uFillTx/>
                <a:ea typeface="Arial Unicode MS" pitchFamily="34" charset="-128"/>
                <a:cs typeface="Arial Unicode MS" pitchFamily="34" charset="-128"/>
              </a:rPr>
              <a:t>IP: 10.10.10.1</a:t>
            </a:r>
          </a:p>
        </p:txBody>
      </p:sp>
      <p:sp>
        <p:nvSpPr>
          <p:cNvPr id="11" name="Rectangle 10">
            <a:extLst>
              <a:ext uri="{FF2B5EF4-FFF2-40B4-BE49-F238E27FC236}">
                <a16:creationId xmlns:a16="http://schemas.microsoft.com/office/drawing/2014/main" id="{A795CA9F-CC78-4527-A89A-961090560AFC}"/>
              </a:ext>
            </a:extLst>
          </p:cNvPr>
          <p:cNvSpPr/>
          <p:nvPr/>
        </p:nvSpPr>
        <p:spPr bwMode="gray">
          <a:xfrm>
            <a:off x="955271" y="3297366"/>
            <a:ext cx="16459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a:ln>
                  <a:noFill/>
                </a:ln>
                <a:effectLst/>
                <a:uLnTx/>
                <a:uFillTx/>
                <a:ea typeface="Arial Unicode MS" pitchFamily="34" charset="-128"/>
                <a:cs typeface="Arial Unicode MS" pitchFamily="34" charset="-128"/>
              </a:rPr>
              <a:t>IP: 10.10.10.2</a:t>
            </a:r>
          </a:p>
        </p:txBody>
      </p:sp>
      <p:sp>
        <p:nvSpPr>
          <p:cNvPr id="12" name="Rectangle 11">
            <a:extLst>
              <a:ext uri="{FF2B5EF4-FFF2-40B4-BE49-F238E27FC236}">
                <a16:creationId xmlns:a16="http://schemas.microsoft.com/office/drawing/2014/main" id="{1E40854E-4580-47BA-90E7-BBA8CDFC7C49}"/>
              </a:ext>
            </a:extLst>
          </p:cNvPr>
          <p:cNvSpPr/>
          <p:nvPr/>
        </p:nvSpPr>
        <p:spPr bwMode="gray">
          <a:xfrm>
            <a:off x="955271" y="4616480"/>
            <a:ext cx="16459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a:ln>
                  <a:noFill/>
                </a:ln>
                <a:effectLst/>
                <a:uLnTx/>
                <a:uFillTx/>
                <a:ea typeface="Arial Unicode MS" pitchFamily="34" charset="-128"/>
                <a:cs typeface="Arial Unicode MS" pitchFamily="34" charset="-128"/>
              </a:rPr>
              <a:t>IP: 10.10.10.3</a:t>
            </a:r>
          </a:p>
        </p:txBody>
      </p:sp>
      <p:sp>
        <p:nvSpPr>
          <p:cNvPr id="13" name="Cylinder 12">
            <a:extLst>
              <a:ext uri="{FF2B5EF4-FFF2-40B4-BE49-F238E27FC236}">
                <a16:creationId xmlns:a16="http://schemas.microsoft.com/office/drawing/2014/main" id="{FEB219DB-284F-4199-B6CA-C8509AA18034}"/>
              </a:ext>
            </a:extLst>
          </p:cNvPr>
          <p:cNvSpPr/>
          <p:nvPr/>
        </p:nvSpPr>
        <p:spPr bwMode="gray">
          <a:xfrm>
            <a:off x="9320646" y="3151098"/>
            <a:ext cx="1693576" cy="1362573"/>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Physical storage</a:t>
            </a:r>
          </a:p>
        </p:txBody>
      </p:sp>
      <p:sp>
        <p:nvSpPr>
          <p:cNvPr id="14" name="Cylinder 13">
            <a:extLst>
              <a:ext uri="{FF2B5EF4-FFF2-40B4-BE49-F238E27FC236}">
                <a16:creationId xmlns:a16="http://schemas.microsoft.com/office/drawing/2014/main" id="{D71EE5F9-DFE4-4CB0-9CA0-B3DCBA25D5EF}"/>
              </a:ext>
            </a:extLst>
          </p:cNvPr>
          <p:cNvSpPr/>
          <p:nvPr/>
        </p:nvSpPr>
        <p:spPr bwMode="gray">
          <a:xfrm>
            <a:off x="6485680" y="3280158"/>
            <a:ext cx="1486490" cy="1104455"/>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Persistent</a:t>
            </a:r>
            <a:r>
              <a:rPr kumimoji="0" lang="en-US" sz="1800" b="0" i="0" u="none" strike="noStrike" kern="0" cap="none" spc="0" normalizeH="0" noProof="0" dirty="0">
                <a:ln>
                  <a:noFill/>
                </a:ln>
                <a:effectLst/>
                <a:uLnTx/>
                <a:uFillTx/>
                <a:ea typeface="Arial Unicode MS" pitchFamily="34" charset="-128"/>
                <a:cs typeface="Arial Unicode MS" pitchFamily="34" charset="-128"/>
              </a:rPr>
              <a:t> Volume</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16" name="Connector: Elbow 15">
            <a:extLst>
              <a:ext uri="{FF2B5EF4-FFF2-40B4-BE49-F238E27FC236}">
                <a16:creationId xmlns:a16="http://schemas.microsoft.com/office/drawing/2014/main" id="{84A50DC6-50F3-4D45-A90F-265B9A2BBF60}"/>
              </a:ext>
            </a:extLst>
          </p:cNvPr>
          <p:cNvCxnSpPr>
            <a:cxnSpLocks/>
            <a:stCxn id="14" idx="4"/>
            <a:endCxn id="13" idx="2"/>
          </p:cNvCxnSpPr>
          <p:nvPr/>
        </p:nvCxnSpPr>
        <p:spPr>
          <a:xfrm flipV="1">
            <a:off x="7972170" y="3832385"/>
            <a:ext cx="1348476" cy="1"/>
          </a:xfrm>
          <a:prstGeom prst="bentConnector3">
            <a:avLst>
              <a:gd name="adj1" fmla="val 50000"/>
            </a:avLst>
          </a:prstGeom>
          <a:ln w="571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226D7AD1-AE35-461D-84F8-E45BB0E51FC0}"/>
              </a:ext>
            </a:extLst>
          </p:cNvPr>
          <p:cNvCxnSpPr>
            <a:cxnSpLocks/>
            <a:stCxn id="15" idx="0"/>
            <a:endCxn id="14" idx="2"/>
          </p:cNvCxnSpPr>
          <p:nvPr/>
        </p:nvCxnSpPr>
        <p:spPr>
          <a:xfrm flipV="1">
            <a:off x="5427623" y="3832386"/>
            <a:ext cx="1058057" cy="550"/>
          </a:xfrm>
          <a:prstGeom prst="bentConnector3">
            <a:avLst>
              <a:gd name="adj1" fmla="val 50000"/>
            </a:avLst>
          </a:prstGeom>
          <a:ln w="571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Speech Bubble: Rectangle 30">
            <a:extLst>
              <a:ext uri="{FF2B5EF4-FFF2-40B4-BE49-F238E27FC236}">
                <a16:creationId xmlns:a16="http://schemas.microsoft.com/office/drawing/2014/main" id="{3FFDABBF-A7EC-4EFE-A628-B6C21820E3CD}"/>
              </a:ext>
            </a:extLst>
          </p:cNvPr>
          <p:cNvSpPr/>
          <p:nvPr/>
        </p:nvSpPr>
        <p:spPr bwMode="gray">
          <a:xfrm>
            <a:off x="4307067" y="1071697"/>
            <a:ext cx="2409432" cy="1713391"/>
          </a:xfrm>
          <a:prstGeom prst="wedgeRectCallout">
            <a:avLst>
              <a:gd name="adj1" fmla="val -91903"/>
              <a:gd name="adj2" fmla="val 90799"/>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RWOP</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 = </a:t>
            </a: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ReadWriteOncePod</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Only 1 pod can mount the PVC</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pic>
        <p:nvPicPr>
          <p:cNvPr id="3" name="Picture 4" descr="Bildergebnis für kubernetes">
            <a:extLst>
              <a:ext uri="{FF2B5EF4-FFF2-40B4-BE49-F238E27FC236}">
                <a16:creationId xmlns:a16="http://schemas.microsoft.com/office/drawing/2014/main" id="{DBEA597D-154B-5F3D-3A07-9F0FAFB4D7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2625" y="1167817"/>
            <a:ext cx="1447566" cy="1447566"/>
          </a:xfrm>
          <a:prstGeom prst="rect">
            <a:avLst/>
          </a:prstGeom>
          <a:noFill/>
          <a:extLst>
            <a:ext uri="{909E8E84-426E-40DD-AFC4-6F175D3DCCD1}">
              <a14:hiddenFill xmlns:a14="http://schemas.microsoft.com/office/drawing/2010/main">
                <a:solidFill>
                  <a:srgbClr val="FFFFFF"/>
                </a:solidFill>
              </a14:hiddenFill>
            </a:ext>
          </a:extLst>
        </p:spPr>
      </p:pic>
      <p:sp>
        <p:nvSpPr>
          <p:cNvPr id="18" name="Textfeld 17">
            <a:extLst>
              <a:ext uri="{FF2B5EF4-FFF2-40B4-BE49-F238E27FC236}">
                <a16:creationId xmlns:a16="http://schemas.microsoft.com/office/drawing/2014/main" id="{7C7ACD92-8C04-38AF-D2B1-1F2A6B98AF81}"/>
              </a:ext>
            </a:extLst>
          </p:cNvPr>
          <p:cNvSpPr txBox="1"/>
          <p:nvPr/>
        </p:nvSpPr>
        <p:spPr>
          <a:xfrm>
            <a:off x="9455700" y="1545351"/>
            <a:ext cx="1423467" cy="692497"/>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Feature state </a:t>
            </a:r>
          </a:p>
          <a:p>
            <a:pPr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beta: v1.27</a:t>
            </a:r>
          </a:p>
        </p:txBody>
      </p:sp>
    </p:spTree>
    <p:extLst>
      <p:ext uri="{BB962C8B-B14F-4D97-AF65-F5344CB8AC3E}">
        <p14:creationId xmlns:p14="http://schemas.microsoft.com/office/powerpoint/2010/main" val="40856046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Diagonal Corners Rounded 14">
            <a:extLst>
              <a:ext uri="{FF2B5EF4-FFF2-40B4-BE49-F238E27FC236}">
                <a16:creationId xmlns:a16="http://schemas.microsoft.com/office/drawing/2014/main" id="{2FC0B9D7-3453-4EFB-A7E6-898F1F63A75C}"/>
              </a:ext>
            </a:extLst>
          </p:cNvPr>
          <p:cNvSpPr/>
          <p:nvPr/>
        </p:nvSpPr>
        <p:spPr bwMode="gray">
          <a:xfrm>
            <a:off x="3623970" y="3281258"/>
            <a:ext cx="1803653" cy="1103355"/>
          </a:xfrm>
          <a:prstGeom prst="round2Diag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a:solidFill>
                  <a:schemeClr val="dk1"/>
                </a:solidFill>
                <a:latin typeface="+mn-lt"/>
                <a:ea typeface="Arial Unicode MS" pitchFamily="34" charset="-128"/>
                <a:cs typeface="Arial Unicode MS" pitchFamily="34" charset="-128"/>
              </a:rPr>
              <a:t>Persistent Volume Claim</a:t>
            </a:r>
          </a:p>
        </p:txBody>
      </p:sp>
      <p:sp>
        <p:nvSpPr>
          <p:cNvPr id="2" name="Title 1">
            <a:extLst>
              <a:ext uri="{FF2B5EF4-FFF2-40B4-BE49-F238E27FC236}">
                <a16:creationId xmlns:a16="http://schemas.microsoft.com/office/drawing/2014/main" id="{63CEA792-3EB5-4DB7-8C92-AD9889D91019}"/>
              </a:ext>
            </a:extLst>
          </p:cNvPr>
          <p:cNvSpPr>
            <a:spLocks noGrp="1"/>
          </p:cNvSpPr>
          <p:nvPr>
            <p:ph type="title"/>
          </p:nvPr>
        </p:nvSpPr>
        <p:spPr/>
        <p:txBody>
          <a:bodyPr/>
          <a:lstStyle/>
          <a:p>
            <a:r>
              <a:rPr lang="en-US" dirty="0"/>
              <a:t>Access Modes</a:t>
            </a:r>
          </a:p>
        </p:txBody>
      </p:sp>
      <p:sp>
        <p:nvSpPr>
          <p:cNvPr id="4" name="Rectangle 3">
            <a:extLst>
              <a:ext uri="{FF2B5EF4-FFF2-40B4-BE49-F238E27FC236}">
                <a16:creationId xmlns:a16="http://schemas.microsoft.com/office/drawing/2014/main" id="{24EF343A-C10A-4019-AE5D-81BDE41FF336}"/>
              </a:ext>
            </a:extLst>
          </p:cNvPr>
          <p:cNvSpPr/>
          <p:nvPr/>
        </p:nvSpPr>
        <p:spPr bwMode="gray">
          <a:xfrm>
            <a:off x="870562" y="3210949"/>
            <a:ext cx="1815338" cy="1160859"/>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b"/>
          <a:lstStyle/>
          <a:p>
            <a:pPr algn="ctr" defTabSz="914400" fontAlgn="base">
              <a:spcBef>
                <a:spcPct val="50000"/>
              </a:spcBef>
              <a:spcAft>
                <a:spcPct val="0"/>
              </a:spcAft>
              <a:buClr>
                <a:srgbClr val="F0AB00"/>
              </a:buClr>
              <a:buSzPct val="80000"/>
            </a:pPr>
            <a:endParaRPr lang="de-DE" sz="1600" b="1" kern="0" dirty="0">
              <a:solidFill>
                <a:sysClr val="windowText" lastClr="000000"/>
              </a:solidFill>
              <a:ea typeface="Arial Unicode MS" pitchFamily="34" charset="-128"/>
            </a:endParaRPr>
          </a:p>
          <a:p>
            <a:pPr algn="ctr" defTabSz="914400" fontAlgn="base">
              <a:spcBef>
                <a:spcPct val="50000"/>
              </a:spcBef>
              <a:spcAft>
                <a:spcPct val="0"/>
              </a:spcAft>
              <a:buClr>
                <a:srgbClr val="F0AB00"/>
              </a:buClr>
              <a:buSzPct val="80000"/>
            </a:pPr>
            <a:r>
              <a:rPr lang="de-DE" sz="1600" b="1" kern="0" dirty="0" err="1">
                <a:solidFill>
                  <a:sysClr val="windowText" lastClr="000000"/>
                </a:solidFill>
                <a:ea typeface="Arial Unicode MS" pitchFamily="34" charset="-128"/>
              </a:rPr>
              <a:t>Node</a:t>
            </a:r>
            <a:r>
              <a:rPr lang="de-DE" sz="1600" b="1" kern="0" dirty="0">
                <a:solidFill>
                  <a:sysClr val="windowText" lastClr="000000"/>
                </a:solidFill>
                <a:ea typeface="Arial Unicode MS" pitchFamily="34" charset="-128"/>
              </a:rPr>
              <a:t> A2</a:t>
            </a:r>
          </a:p>
        </p:txBody>
      </p:sp>
      <p:sp>
        <p:nvSpPr>
          <p:cNvPr id="5" name="Rectangle 4">
            <a:extLst>
              <a:ext uri="{FF2B5EF4-FFF2-40B4-BE49-F238E27FC236}">
                <a16:creationId xmlns:a16="http://schemas.microsoft.com/office/drawing/2014/main" id="{406C96CF-733F-4258-A88F-372E8E1C9AC3}"/>
              </a:ext>
            </a:extLst>
          </p:cNvPr>
          <p:cNvSpPr/>
          <p:nvPr/>
        </p:nvSpPr>
        <p:spPr bwMode="gray">
          <a:xfrm>
            <a:off x="870562" y="4530298"/>
            <a:ext cx="1815338" cy="1160859"/>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b"/>
          <a:lstStyle/>
          <a:p>
            <a:pPr algn="ctr" defTabSz="914400" fontAlgn="base">
              <a:spcBef>
                <a:spcPct val="50000"/>
              </a:spcBef>
              <a:spcAft>
                <a:spcPct val="0"/>
              </a:spcAft>
              <a:buClr>
                <a:srgbClr val="F0AB00"/>
              </a:buClr>
              <a:buSzPct val="80000"/>
            </a:pPr>
            <a:endParaRPr lang="de-DE" sz="1600" b="1" kern="0" dirty="0">
              <a:solidFill>
                <a:sysClr val="windowText" lastClr="000000"/>
              </a:solidFill>
              <a:ea typeface="Arial Unicode MS" pitchFamily="34" charset="-128"/>
            </a:endParaRPr>
          </a:p>
          <a:p>
            <a:pPr algn="ctr" defTabSz="914400" fontAlgn="base">
              <a:spcBef>
                <a:spcPct val="50000"/>
              </a:spcBef>
              <a:spcAft>
                <a:spcPct val="0"/>
              </a:spcAft>
              <a:buClr>
                <a:srgbClr val="F0AB00"/>
              </a:buClr>
              <a:buSzPct val="80000"/>
            </a:pPr>
            <a:r>
              <a:rPr lang="de-DE" sz="1600" b="1" kern="0" dirty="0" err="1">
                <a:solidFill>
                  <a:sysClr val="windowText" lastClr="000000"/>
                </a:solidFill>
                <a:ea typeface="Arial Unicode MS" pitchFamily="34" charset="-128"/>
              </a:rPr>
              <a:t>Node</a:t>
            </a:r>
            <a:r>
              <a:rPr lang="de-DE" sz="1600" b="1" kern="0" dirty="0">
                <a:solidFill>
                  <a:sysClr val="windowText" lastClr="000000"/>
                </a:solidFill>
                <a:ea typeface="Arial Unicode MS" pitchFamily="34" charset="-128"/>
              </a:rPr>
              <a:t> A3</a:t>
            </a:r>
          </a:p>
        </p:txBody>
      </p:sp>
      <p:sp>
        <p:nvSpPr>
          <p:cNvPr id="6" name="Rectangle 5">
            <a:extLst>
              <a:ext uri="{FF2B5EF4-FFF2-40B4-BE49-F238E27FC236}">
                <a16:creationId xmlns:a16="http://schemas.microsoft.com/office/drawing/2014/main" id="{38F244DA-1F13-40FD-8214-BBC53B74B7B5}"/>
              </a:ext>
            </a:extLst>
          </p:cNvPr>
          <p:cNvSpPr/>
          <p:nvPr/>
        </p:nvSpPr>
        <p:spPr bwMode="gray">
          <a:xfrm>
            <a:off x="870562" y="1891600"/>
            <a:ext cx="1815338" cy="1160859"/>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b"/>
          <a:lstStyle/>
          <a:p>
            <a:pPr algn="ctr" defTabSz="914400" fontAlgn="base">
              <a:spcBef>
                <a:spcPct val="50000"/>
              </a:spcBef>
              <a:spcAft>
                <a:spcPct val="0"/>
              </a:spcAft>
              <a:buClr>
                <a:srgbClr val="F0AB00"/>
              </a:buClr>
              <a:buSzPct val="80000"/>
            </a:pPr>
            <a:endParaRPr lang="de-DE" sz="1600" b="1" kern="0" dirty="0">
              <a:solidFill>
                <a:sysClr val="windowText" lastClr="000000"/>
              </a:solidFill>
              <a:ea typeface="Arial Unicode MS" pitchFamily="34" charset="-128"/>
            </a:endParaRPr>
          </a:p>
          <a:p>
            <a:pPr algn="ctr" defTabSz="914400" fontAlgn="base">
              <a:spcBef>
                <a:spcPct val="50000"/>
              </a:spcBef>
              <a:spcAft>
                <a:spcPct val="0"/>
              </a:spcAft>
              <a:buClr>
                <a:srgbClr val="F0AB00"/>
              </a:buClr>
              <a:buSzPct val="80000"/>
            </a:pPr>
            <a:r>
              <a:rPr lang="de-DE" sz="1600" b="1" kern="0" dirty="0" err="1">
                <a:solidFill>
                  <a:sysClr val="windowText" lastClr="000000"/>
                </a:solidFill>
                <a:ea typeface="Arial Unicode MS" pitchFamily="34" charset="-128"/>
              </a:rPr>
              <a:t>Node</a:t>
            </a:r>
            <a:r>
              <a:rPr lang="de-DE" sz="1600" b="1" kern="0" dirty="0">
                <a:solidFill>
                  <a:sysClr val="windowText" lastClr="000000"/>
                </a:solidFill>
                <a:ea typeface="Arial Unicode MS" pitchFamily="34" charset="-128"/>
              </a:rPr>
              <a:t> A1</a:t>
            </a:r>
          </a:p>
        </p:txBody>
      </p:sp>
      <p:cxnSp>
        <p:nvCxnSpPr>
          <p:cNvPr id="7" name="Straight Arrow Connector 8">
            <a:extLst>
              <a:ext uri="{FF2B5EF4-FFF2-40B4-BE49-F238E27FC236}">
                <a16:creationId xmlns:a16="http://schemas.microsoft.com/office/drawing/2014/main" id="{A99C66D5-FAA1-45A8-A871-A103CD413C67}"/>
              </a:ext>
            </a:extLst>
          </p:cNvPr>
          <p:cNvCxnSpPr>
            <a:cxnSpLocks/>
            <a:endCxn id="4" idx="3"/>
          </p:cNvCxnSpPr>
          <p:nvPr/>
        </p:nvCxnSpPr>
        <p:spPr>
          <a:xfrm rot="10800000" flipV="1">
            <a:off x="2685900" y="3791377"/>
            <a:ext cx="898662" cy="1"/>
          </a:xfrm>
          <a:prstGeom prst="bentConnector3">
            <a:avLst>
              <a:gd name="adj1" fmla="val 50000"/>
            </a:avLst>
          </a:prstGeom>
          <a:ln w="57150">
            <a:solidFill>
              <a:schemeClr val="accent1">
                <a:lumMod val="60000"/>
                <a:lumOff val="40000"/>
              </a:schemeClr>
            </a:solidFill>
            <a:headEnd type="oval" w="med" len="med"/>
            <a:tailEnd type="oval" w="med" len="med"/>
          </a:ln>
        </p:spPr>
        <p:style>
          <a:lnRef idx="2">
            <a:schemeClr val="accent2"/>
          </a:lnRef>
          <a:fillRef idx="0">
            <a:schemeClr val="accent2"/>
          </a:fillRef>
          <a:effectRef idx="1">
            <a:schemeClr val="accent2"/>
          </a:effectRef>
          <a:fontRef idx="minor">
            <a:schemeClr val="tx1"/>
          </a:fontRef>
        </p:style>
      </p:cxnSp>
      <p:sp>
        <p:nvSpPr>
          <p:cNvPr id="10" name="Rectangle 9">
            <a:extLst>
              <a:ext uri="{FF2B5EF4-FFF2-40B4-BE49-F238E27FC236}">
                <a16:creationId xmlns:a16="http://schemas.microsoft.com/office/drawing/2014/main" id="{E747B2A2-4E85-4BEC-842B-D68BCADB5F49}"/>
              </a:ext>
            </a:extLst>
          </p:cNvPr>
          <p:cNvSpPr/>
          <p:nvPr/>
        </p:nvSpPr>
        <p:spPr bwMode="gray">
          <a:xfrm>
            <a:off x="955271" y="1984280"/>
            <a:ext cx="16459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a:ln>
                  <a:noFill/>
                </a:ln>
                <a:effectLst/>
                <a:uLnTx/>
                <a:uFillTx/>
                <a:ea typeface="Arial Unicode MS" pitchFamily="34" charset="-128"/>
                <a:cs typeface="Arial Unicode MS" pitchFamily="34" charset="-128"/>
              </a:rPr>
              <a:t>IP: 10.64.10.1</a:t>
            </a:r>
          </a:p>
        </p:txBody>
      </p:sp>
      <p:sp>
        <p:nvSpPr>
          <p:cNvPr id="11" name="Rectangle 10">
            <a:extLst>
              <a:ext uri="{FF2B5EF4-FFF2-40B4-BE49-F238E27FC236}">
                <a16:creationId xmlns:a16="http://schemas.microsoft.com/office/drawing/2014/main" id="{A795CA9F-CC78-4527-A89A-961090560AFC}"/>
              </a:ext>
            </a:extLst>
          </p:cNvPr>
          <p:cNvSpPr/>
          <p:nvPr/>
        </p:nvSpPr>
        <p:spPr bwMode="gray">
          <a:xfrm>
            <a:off x="955271" y="3297366"/>
            <a:ext cx="16459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a:ln>
                  <a:noFill/>
                </a:ln>
                <a:effectLst/>
                <a:uLnTx/>
                <a:uFillTx/>
                <a:ea typeface="Arial Unicode MS" pitchFamily="34" charset="-128"/>
                <a:cs typeface="Arial Unicode MS" pitchFamily="34" charset="-128"/>
              </a:rPr>
              <a:t>IP: 10.64.10.2</a:t>
            </a:r>
          </a:p>
        </p:txBody>
      </p:sp>
      <p:sp>
        <p:nvSpPr>
          <p:cNvPr id="12" name="Rectangle 11">
            <a:extLst>
              <a:ext uri="{FF2B5EF4-FFF2-40B4-BE49-F238E27FC236}">
                <a16:creationId xmlns:a16="http://schemas.microsoft.com/office/drawing/2014/main" id="{1E40854E-4580-47BA-90E7-BBA8CDFC7C49}"/>
              </a:ext>
            </a:extLst>
          </p:cNvPr>
          <p:cNvSpPr/>
          <p:nvPr/>
        </p:nvSpPr>
        <p:spPr bwMode="gray">
          <a:xfrm>
            <a:off x="955271" y="4616480"/>
            <a:ext cx="16459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a:ln>
                  <a:noFill/>
                </a:ln>
                <a:effectLst/>
                <a:uLnTx/>
                <a:uFillTx/>
                <a:ea typeface="Arial Unicode MS" pitchFamily="34" charset="-128"/>
                <a:cs typeface="Arial Unicode MS" pitchFamily="34" charset="-128"/>
              </a:rPr>
              <a:t>IP: 10.64.10.3</a:t>
            </a:r>
          </a:p>
        </p:txBody>
      </p:sp>
      <p:sp>
        <p:nvSpPr>
          <p:cNvPr id="13" name="Cylinder 12">
            <a:extLst>
              <a:ext uri="{FF2B5EF4-FFF2-40B4-BE49-F238E27FC236}">
                <a16:creationId xmlns:a16="http://schemas.microsoft.com/office/drawing/2014/main" id="{FEB219DB-284F-4199-B6CA-C8509AA18034}"/>
              </a:ext>
            </a:extLst>
          </p:cNvPr>
          <p:cNvSpPr/>
          <p:nvPr/>
        </p:nvSpPr>
        <p:spPr bwMode="gray">
          <a:xfrm>
            <a:off x="9320646" y="3151098"/>
            <a:ext cx="1693576" cy="1362573"/>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Physical storage</a:t>
            </a:r>
          </a:p>
        </p:txBody>
      </p:sp>
      <p:sp>
        <p:nvSpPr>
          <p:cNvPr id="14" name="Cylinder 13">
            <a:extLst>
              <a:ext uri="{FF2B5EF4-FFF2-40B4-BE49-F238E27FC236}">
                <a16:creationId xmlns:a16="http://schemas.microsoft.com/office/drawing/2014/main" id="{D71EE5F9-DFE4-4CB0-9CA0-B3DCBA25D5EF}"/>
              </a:ext>
            </a:extLst>
          </p:cNvPr>
          <p:cNvSpPr/>
          <p:nvPr/>
        </p:nvSpPr>
        <p:spPr bwMode="gray">
          <a:xfrm>
            <a:off x="6485680" y="3280158"/>
            <a:ext cx="1486490" cy="1104455"/>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Persistent</a:t>
            </a:r>
            <a:r>
              <a:rPr kumimoji="0" lang="en-US" sz="1800" b="0" i="0" u="none" strike="noStrike" kern="0" cap="none" spc="0" normalizeH="0" noProof="0" dirty="0">
                <a:ln>
                  <a:noFill/>
                </a:ln>
                <a:effectLst/>
                <a:uLnTx/>
                <a:uFillTx/>
                <a:ea typeface="Arial Unicode MS" pitchFamily="34" charset="-128"/>
                <a:cs typeface="Arial Unicode MS" pitchFamily="34" charset="-128"/>
              </a:rPr>
              <a:t> Volume</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16" name="Connector: Elbow 15">
            <a:extLst>
              <a:ext uri="{FF2B5EF4-FFF2-40B4-BE49-F238E27FC236}">
                <a16:creationId xmlns:a16="http://schemas.microsoft.com/office/drawing/2014/main" id="{84A50DC6-50F3-4D45-A90F-265B9A2BBF60}"/>
              </a:ext>
            </a:extLst>
          </p:cNvPr>
          <p:cNvCxnSpPr>
            <a:cxnSpLocks/>
            <a:stCxn id="14" idx="4"/>
            <a:endCxn id="13" idx="2"/>
          </p:cNvCxnSpPr>
          <p:nvPr/>
        </p:nvCxnSpPr>
        <p:spPr>
          <a:xfrm flipV="1">
            <a:off x="7972170" y="3832385"/>
            <a:ext cx="1348476" cy="1"/>
          </a:xfrm>
          <a:prstGeom prst="bentConnector3">
            <a:avLst>
              <a:gd name="adj1" fmla="val 50000"/>
            </a:avLst>
          </a:prstGeom>
          <a:ln w="571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226D7AD1-AE35-461D-84F8-E45BB0E51FC0}"/>
              </a:ext>
            </a:extLst>
          </p:cNvPr>
          <p:cNvCxnSpPr>
            <a:cxnSpLocks/>
            <a:stCxn id="15" idx="0"/>
            <a:endCxn id="14" idx="2"/>
          </p:cNvCxnSpPr>
          <p:nvPr/>
        </p:nvCxnSpPr>
        <p:spPr>
          <a:xfrm flipV="1">
            <a:off x="5427623" y="3832386"/>
            <a:ext cx="1058057" cy="550"/>
          </a:xfrm>
          <a:prstGeom prst="bentConnector3">
            <a:avLst>
              <a:gd name="adj1" fmla="val 50000"/>
            </a:avLst>
          </a:prstGeom>
          <a:ln w="571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Speech Bubble: Rectangle 30">
            <a:extLst>
              <a:ext uri="{FF2B5EF4-FFF2-40B4-BE49-F238E27FC236}">
                <a16:creationId xmlns:a16="http://schemas.microsoft.com/office/drawing/2014/main" id="{3FFDABBF-A7EC-4EFE-A628-B6C21820E3CD}"/>
              </a:ext>
            </a:extLst>
          </p:cNvPr>
          <p:cNvSpPr/>
          <p:nvPr/>
        </p:nvSpPr>
        <p:spPr bwMode="gray">
          <a:xfrm>
            <a:off x="4307067" y="1071697"/>
            <a:ext cx="2409432" cy="1713391"/>
          </a:xfrm>
          <a:prstGeom prst="wedgeRectCallout">
            <a:avLst>
              <a:gd name="adj1" fmla="val -91903"/>
              <a:gd name="adj2" fmla="val 90799"/>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RWO</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 = </a:t>
            </a: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ReadWriteOnce</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Only 1 node can mount the PVC</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35" name="Speech Bubble: Rectangle 34">
            <a:extLst>
              <a:ext uri="{FF2B5EF4-FFF2-40B4-BE49-F238E27FC236}">
                <a16:creationId xmlns:a16="http://schemas.microsoft.com/office/drawing/2014/main" id="{C65EFBDC-DA03-4F31-A81A-C14E638769D5}"/>
              </a:ext>
            </a:extLst>
          </p:cNvPr>
          <p:cNvSpPr/>
          <p:nvPr/>
        </p:nvSpPr>
        <p:spPr bwMode="gray">
          <a:xfrm>
            <a:off x="7164280" y="5467422"/>
            <a:ext cx="2681056" cy="982692"/>
          </a:xfrm>
          <a:prstGeom prst="wedgeRectCallout">
            <a:avLst>
              <a:gd name="adj1" fmla="val 42966"/>
              <a:gd name="adj2" fmla="val -135956"/>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Storage backend has to support access modes</a:t>
            </a:r>
          </a:p>
        </p:txBody>
      </p:sp>
    </p:spTree>
    <p:extLst>
      <p:ext uri="{BB962C8B-B14F-4D97-AF65-F5344CB8AC3E}">
        <p14:creationId xmlns:p14="http://schemas.microsoft.com/office/powerpoint/2010/main" val="15176515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234DD-73A1-402F-B475-DA6E6D6E031B}"/>
              </a:ext>
            </a:extLst>
          </p:cNvPr>
          <p:cNvSpPr>
            <a:spLocks noGrp="1"/>
          </p:cNvSpPr>
          <p:nvPr>
            <p:ph type="title"/>
          </p:nvPr>
        </p:nvSpPr>
        <p:spPr/>
        <p:txBody>
          <a:bodyPr/>
          <a:lstStyle/>
          <a:p>
            <a:r>
              <a:rPr lang="en-US" dirty="0"/>
              <a:t>What could possibly </a:t>
            </a:r>
            <a:r>
              <a:rPr lang="en-US"/>
              <a:t>go wrong …</a:t>
            </a:r>
            <a:endParaRPr lang="en-US" dirty="0"/>
          </a:p>
        </p:txBody>
      </p:sp>
      <p:sp>
        <p:nvSpPr>
          <p:cNvPr id="3" name="Rectangle 2">
            <a:extLst>
              <a:ext uri="{FF2B5EF4-FFF2-40B4-BE49-F238E27FC236}">
                <a16:creationId xmlns:a16="http://schemas.microsoft.com/office/drawing/2014/main" id="{72112438-74E8-4D00-9C25-8F0D762876A1}"/>
              </a:ext>
            </a:extLst>
          </p:cNvPr>
          <p:cNvSpPr/>
          <p:nvPr/>
        </p:nvSpPr>
        <p:spPr bwMode="gray">
          <a:xfrm>
            <a:off x="734113" y="1194318"/>
            <a:ext cx="5363474" cy="4822103"/>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algn="ctr" defTabSz="914400" fontAlgn="base">
              <a:spcBef>
                <a:spcPct val="50000"/>
              </a:spcBef>
              <a:spcAft>
                <a:spcPct val="0"/>
              </a:spcAft>
              <a:buClr>
                <a:srgbClr val="F0AB00"/>
              </a:buClr>
              <a:buSzPct val="80000"/>
            </a:pPr>
            <a:r>
              <a:rPr lang="de-DE" sz="2400" b="1" kern="0" dirty="0" err="1">
                <a:ea typeface="Arial Unicode MS" pitchFamily="34" charset="-128"/>
                <a:cs typeface="Arial Unicode MS" pitchFamily="34" charset="-128"/>
              </a:rPr>
              <a:t>Node</a:t>
            </a:r>
            <a:endParaRPr lang="de-DE" sz="2400" b="1" kern="0" dirty="0">
              <a:ea typeface="Arial Unicode MS" pitchFamily="34" charset="-128"/>
              <a:cs typeface="Arial Unicode MS" pitchFamily="34" charset="-128"/>
            </a:endParaRPr>
          </a:p>
        </p:txBody>
      </p:sp>
      <p:sp>
        <p:nvSpPr>
          <p:cNvPr id="4" name="Rectangle 3">
            <a:extLst>
              <a:ext uri="{FF2B5EF4-FFF2-40B4-BE49-F238E27FC236}">
                <a16:creationId xmlns:a16="http://schemas.microsoft.com/office/drawing/2014/main" id="{660740E0-E110-40F4-B654-BF64B5C3974C}"/>
              </a:ext>
            </a:extLst>
          </p:cNvPr>
          <p:cNvSpPr/>
          <p:nvPr/>
        </p:nvSpPr>
        <p:spPr bwMode="gray">
          <a:xfrm>
            <a:off x="942854" y="1717145"/>
            <a:ext cx="4945992" cy="3393796"/>
          </a:xfrm>
          <a:prstGeom prst="rect">
            <a:avLst/>
          </a:prstGeom>
          <a:solidFill>
            <a:schemeClr val="accent3"/>
          </a:solidFill>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b"/>
          <a:lstStyle/>
          <a:p>
            <a:pPr marR="0" algn="ctr" defTabSz="914400" eaLnBrk="1" fontAlgn="base" latinLnBrk="0" hangingPunct="1">
              <a:lnSpc>
                <a:spcPct val="100000"/>
              </a:lnSpc>
              <a:spcBef>
                <a:spcPct val="50000"/>
              </a:spcBef>
              <a:spcAft>
                <a:spcPct val="0"/>
              </a:spcAft>
              <a:buClr>
                <a:srgbClr val="F0AB00"/>
              </a:buClr>
              <a:buSzPct val="80000"/>
              <a:tabLst/>
            </a:pPr>
            <a:r>
              <a:rPr lang="de-DE" sz="2000" b="1" kern="0" noProof="0" dirty="0" err="1">
                <a:solidFill>
                  <a:schemeClr val="bg1"/>
                </a:solidFill>
                <a:ea typeface="Arial Unicode MS" pitchFamily="34" charset="-128"/>
                <a:cs typeface="Arial Unicode MS" pitchFamily="34" charset="-128"/>
              </a:rPr>
              <a:t>kubelet</a:t>
            </a:r>
            <a:endParaRPr kumimoji="0" lang="de-DE" sz="2400" b="1" i="0" strike="noStrike" kern="0" cap="none" spc="0" normalizeH="0" baseline="0" noProof="0" dirty="0">
              <a:ln>
                <a:noFill/>
              </a:ln>
              <a:solidFill>
                <a:schemeClr val="bg1"/>
              </a:solidFill>
              <a:effectLst/>
              <a:uLnTx/>
              <a:uFillTx/>
              <a:ea typeface="Arial Unicode MS" pitchFamily="34" charset="-128"/>
              <a:cs typeface="Arial Unicode MS" pitchFamily="34" charset="-128"/>
            </a:endParaRPr>
          </a:p>
        </p:txBody>
      </p:sp>
      <p:sp>
        <p:nvSpPr>
          <p:cNvPr id="5" name="Rectangle 4">
            <a:extLst>
              <a:ext uri="{FF2B5EF4-FFF2-40B4-BE49-F238E27FC236}">
                <a16:creationId xmlns:a16="http://schemas.microsoft.com/office/drawing/2014/main" id="{4057C0D8-57A8-4B70-9D4A-B8773F041256}"/>
              </a:ext>
            </a:extLst>
          </p:cNvPr>
          <p:cNvSpPr/>
          <p:nvPr/>
        </p:nvSpPr>
        <p:spPr bwMode="gray">
          <a:xfrm>
            <a:off x="1474236" y="1866044"/>
            <a:ext cx="3853543" cy="87431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b="1" kern="0" noProof="0" dirty="0">
                <a:ea typeface="Arial Unicode MS" pitchFamily="34" charset="-128"/>
                <a:cs typeface="Arial Unicode MS" pitchFamily="34" charset="-128"/>
              </a:rPr>
              <a:t>Container</a:t>
            </a:r>
          </a:p>
          <a:p>
            <a:pPr marR="0" algn="ctr" defTabSz="914400" eaLnBrk="1" fontAlgn="base" latinLnBrk="0" hangingPunct="1">
              <a:lnSpc>
                <a:spcPct val="100000"/>
              </a:lnSpc>
              <a:spcBef>
                <a:spcPct val="50000"/>
              </a:spcBef>
              <a:spcAft>
                <a:spcPct val="0"/>
              </a:spcAft>
              <a:buClr>
                <a:srgbClr val="F0AB00"/>
              </a:buClr>
              <a:buSzPct val="80000"/>
              <a:tabLst/>
            </a:pPr>
            <a:r>
              <a:rPr kumimoji="0" lang="de-DE" sz="1600" i="1" u="none" strike="noStrike" kern="0" cap="none" spc="0" normalizeH="0" baseline="0" dirty="0">
                <a:ln>
                  <a:noFill/>
                </a:ln>
                <a:effectLst/>
                <a:uLnTx/>
                <a:uFillTx/>
                <a:ea typeface="Arial Unicode MS" pitchFamily="34" charset="-128"/>
                <a:cs typeface="Arial Unicode MS" pitchFamily="34" charset="-128"/>
              </a:rPr>
              <a:t>/</a:t>
            </a:r>
            <a:r>
              <a:rPr kumimoji="0" lang="de-DE" sz="1600" i="1" u="none" strike="noStrike" kern="0" cap="none" spc="0" normalizeH="0" baseline="0" dirty="0" err="1">
                <a:ln>
                  <a:noFill/>
                </a:ln>
                <a:effectLst/>
                <a:uLnTx/>
                <a:uFillTx/>
                <a:ea typeface="Arial Unicode MS" pitchFamily="34" charset="-128"/>
                <a:cs typeface="Arial Unicode MS" pitchFamily="34" charset="-128"/>
              </a:rPr>
              <a:t>usr</a:t>
            </a:r>
            <a:r>
              <a:rPr kumimoji="0" lang="de-DE" sz="1600" i="1" u="none" strike="noStrike" kern="0" cap="none" spc="0" normalizeH="0" baseline="0" dirty="0">
                <a:ln>
                  <a:noFill/>
                </a:ln>
                <a:effectLst/>
                <a:uLnTx/>
                <a:uFillTx/>
                <a:ea typeface="Arial Unicode MS" pitchFamily="34" charset="-128"/>
                <a:cs typeface="Arial Unicode MS" pitchFamily="34" charset="-128"/>
              </a:rPr>
              <a:t>/</a:t>
            </a:r>
            <a:r>
              <a:rPr kumimoji="0" lang="de-DE" sz="1600" i="1" u="none" strike="noStrike" kern="0" cap="none" spc="0" normalizeH="0" baseline="0" dirty="0" err="1">
                <a:ln>
                  <a:noFill/>
                </a:ln>
                <a:effectLst/>
                <a:uLnTx/>
                <a:uFillTx/>
                <a:ea typeface="Arial Unicode MS" pitchFamily="34" charset="-128"/>
                <a:cs typeface="Arial Unicode MS" pitchFamily="34" charset="-128"/>
              </a:rPr>
              <a:t>share</a:t>
            </a:r>
            <a:r>
              <a:rPr kumimoji="0" lang="de-DE" sz="1600" i="1" u="none" strike="noStrike" kern="0" cap="none" spc="0" normalizeH="0" baseline="0" dirty="0">
                <a:ln>
                  <a:noFill/>
                </a:ln>
                <a:effectLst/>
                <a:uLnTx/>
                <a:uFillTx/>
                <a:ea typeface="Arial Unicode MS" pitchFamily="34" charset="-128"/>
                <a:cs typeface="Arial Unicode MS" pitchFamily="34" charset="-128"/>
              </a:rPr>
              <a:t>/</a:t>
            </a:r>
            <a:r>
              <a:rPr kumimoji="0" lang="de-DE" sz="1600" i="1" u="none" strike="noStrike" kern="0" cap="none" spc="0" normalizeH="0" baseline="0" dirty="0" err="1">
                <a:ln>
                  <a:noFill/>
                </a:ln>
                <a:effectLst/>
                <a:uLnTx/>
                <a:uFillTx/>
                <a:ea typeface="Arial Unicode MS" pitchFamily="34" charset="-128"/>
                <a:cs typeface="Arial Unicode MS" pitchFamily="34" charset="-128"/>
              </a:rPr>
              <a:t>nginx</a:t>
            </a:r>
            <a:r>
              <a:rPr kumimoji="0" lang="de-DE" sz="1600" i="1" u="none" strike="noStrike" kern="0" cap="none" spc="0" normalizeH="0" baseline="0" dirty="0">
                <a:ln>
                  <a:noFill/>
                </a:ln>
                <a:effectLst/>
                <a:uLnTx/>
                <a:uFillTx/>
                <a:ea typeface="Arial Unicode MS" pitchFamily="34" charset="-128"/>
                <a:cs typeface="Arial Unicode MS" pitchFamily="34" charset="-128"/>
              </a:rPr>
              <a:t>/</a:t>
            </a:r>
            <a:r>
              <a:rPr kumimoji="0" lang="de-DE" sz="1600" i="1" u="none" strike="noStrike" kern="0" cap="none" spc="0" normalizeH="0" baseline="0" dirty="0" err="1">
                <a:ln>
                  <a:noFill/>
                </a:ln>
                <a:effectLst/>
                <a:uLnTx/>
                <a:uFillTx/>
                <a:ea typeface="Arial Unicode MS" pitchFamily="34" charset="-128"/>
                <a:cs typeface="Arial Unicode MS" pitchFamily="34" charset="-128"/>
              </a:rPr>
              <a:t>html</a:t>
            </a:r>
            <a:endParaRPr kumimoji="0" lang="de-DE" sz="1600" i="1" u="none" strike="noStrike" kern="0" cap="none" spc="0" normalizeH="0" baseline="0" noProof="0" dirty="0">
              <a:ln>
                <a:noFill/>
              </a:ln>
              <a:effectLst/>
              <a:uLnTx/>
              <a:uFillTx/>
              <a:ea typeface="Arial Unicode MS" pitchFamily="34" charset="-128"/>
              <a:cs typeface="Arial Unicode MS" pitchFamily="34" charset="-128"/>
            </a:endParaRPr>
          </a:p>
        </p:txBody>
      </p:sp>
      <p:sp>
        <p:nvSpPr>
          <p:cNvPr id="6" name="Rectangle: Rounded Corners 5">
            <a:extLst>
              <a:ext uri="{FF2B5EF4-FFF2-40B4-BE49-F238E27FC236}">
                <a16:creationId xmlns:a16="http://schemas.microsoft.com/office/drawing/2014/main" id="{25830A98-D5F1-49CA-B6A9-D1D12437F037}"/>
              </a:ext>
            </a:extLst>
          </p:cNvPr>
          <p:cNvSpPr/>
          <p:nvPr/>
        </p:nvSpPr>
        <p:spPr bwMode="gray">
          <a:xfrm>
            <a:off x="1156996" y="1831567"/>
            <a:ext cx="4488024" cy="1344226"/>
          </a:xfrm>
          <a:prstGeom prst="roundRect">
            <a:avLst/>
          </a:prstGeom>
          <a:noFill/>
          <a:ln w="19050" algn="ctr">
            <a:solidFill>
              <a:schemeClr val="tx1"/>
            </a:solidFill>
            <a:prstDash val="dash"/>
            <a:miter lim="800000"/>
            <a:headEnd/>
            <a:tailEnd/>
          </a:ln>
        </p:spPr>
        <p:txBody>
          <a:bodyPr lIns="90000" tIns="72000" rIns="90000" bIns="72000" rtlCol="0" anchor="b"/>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Pod</a:t>
            </a:r>
          </a:p>
        </p:txBody>
      </p:sp>
      <p:cxnSp>
        <p:nvCxnSpPr>
          <p:cNvPr id="10" name="Connector: Elbow 9">
            <a:extLst>
              <a:ext uri="{FF2B5EF4-FFF2-40B4-BE49-F238E27FC236}">
                <a16:creationId xmlns:a16="http://schemas.microsoft.com/office/drawing/2014/main" id="{7058B0CF-4E8B-44F0-AB4E-8A4167EF78D9}"/>
              </a:ext>
            </a:extLst>
          </p:cNvPr>
          <p:cNvCxnSpPr>
            <a:cxnSpLocks/>
            <a:stCxn id="41" idx="2"/>
            <a:endCxn id="17" idx="2"/>
          </p:cNvCxnSpPr>
          <p:nvPr/>
        </p:nvCxnSpPr>
        <p:spPr>
          <a:xfrm rot="5400000">
            <a:off x="6683196" y="1664086"/>
            <a:ext cx="701886" cy="7236578"/>
          </a:xfrm>
          <a:prstGeom prst="bentConnector3">
            <a:avLst>
              <a:gd name="adj1" fmla="val 208343"/>
            </a:avLst>
          </a:prstGeom>
          <a:ln w="76200">
            <a:headEnd type="none" w="med" len="med"/>
            <a:tailEnd type="triangle"/>
          </a:ln>
        </p:spPr>
        <p:style>
          <a:lnRef idx="1">
            <a:schemeClr val="accent2"/>
          </a:lnRef>
          <a:fillRef idx="0">
            <a:schemeClr val="accent2"/>
          </a:fillRef>
          <a:effectRef idx="0">
            <a:schemeClr val="accent2"/>
          </a:effectRef>
          <a:fontRef idx="minor">
            <a:schemeClr val="tx1"/>
          </a:fontRef>
        </p:style>
      </p:cxnSp>
      <p:pic>
        <p:nvPicPr>
          <p:cNvPr id="8" name="Graphic 7" descr="Database">
            <a:extLst>
              <a:ext uri="{FF2B5EF4-FFF2-40B4-BE49-F238E27FC236}">
                <a16:creationId xmlns:a16="http://schemas.microsoft.com/office/drawing/2014/main" id="{91424F3F-1D0A-4E2E-93FA-2C0708021F9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38262" y="2835354"/>
            <a:ext cx="1992118" cy="1992118"/>
          </a:xfrm>
          <a:prstGeom prst="rect">
            <a:avLst/>
          </a:prstGeom>
        </p:spPr>
      </p:pic>
      <p:sp>
        <p:nvSpPr>
          <p:cNvPr id="13" name="TextBox 12">
            <a:extLst>
              <a:ext uri="{FF2B5EF4-FFF2-40B4-BE49-F238E27FC236}">
                <a16:creationId xmlns:a16="http://schemas.microsoft.com/office/drawing/2014/main" id="{B41FC596-573E-4AE8-B730-E5EDE03ABBFA}"/>
              </a:ext>
            </a:extLst>
          </p:cNvPr>
          <p:cNvSpPr txBox="1"/>
          <p:nvPr/>
        </p:nvSpPr>
        <p:spPr>
          <a:xfrm>
            <a:off x="8153032" y="3402992"/>
            <a:ext cx="1955904" cy="553998"/>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1800" b="1" kern="0" dirty="0">
                <a:ea typeface="Arial Unicode MS" pitchFamily="34" charset="-128"/>
                <a:cs typeface="Arial Unicode MS" pitchFamily="34" charset="-128"/>
              </a:rPr>
              <a:t>10 GB      Persistent Disk </a:t>
            </a:r>
          </a:p>
        </p:txBody>
      </p:sp>
      <p:sp>
        <p:nvSpPr>
          <p:cNvPr id="17" name="TextBox 16">
            <a:extLst>
              <a:ext uri="{FF2B5EF4-FFF2-40B4-BE49-F238E27FC236}">
                <a16:creationId xmlns:a16="http://schemas.microsoft.com/office/drawing/2014/main" id="{D139FEFC-B3E0-41A1-A62C-89812500AB8A}"/>
              </a:ext>
            </a:extLst>
          </p:cNvPr>
          <p:cNvSpPr txBox="1"/>
          <p:nvPr/>
        </p:nvSpPr>
        <p:spPr>
          <a:xfrm>
            <a:off x="2086237" y="5356319"/>
            <a:ext cx="2659225" cy="276999"/>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1800" b="1" i="1" kern="0" dirty="0">
                <a:solidFill>
                  <a:schemeClr val="accent5"/>
                </a:solidFill>
                <a:ea typeface="Arial Unicode MS" pitchFamily="34" charset="-128"/>
                <a:cs typeface="Arial Unicode MS" pitchFamily="34" charset="-128"/>
              </a:rPr>
              <a:t>/</a:t>
            </a:r>
            <a:r>
              <a:rPr lang="en-US" sz="1800" b="1" i="1" kern="0" dirty="0" err="1">
                <a:solidFill>
                  <a:schemeClr val="accent5"/>
                </a:solidFill>
                <a:ea typeface="Arial Unicode MS" pitchFamily="34" charset="-128"/>
                <a:cs typeface="Arial Unicode MS" pitchFamily="34" charset="-128"/>
              </a:rPr>
              <a:t>mnt</a:t>
            </a:r>
            <a:r>
              <a:rPr lang="en-US" sz="1800" b="1" i="1" kern="0" dirty="0">
                <a:solidFill>
                  <a:schemeClr val="accent5"/>
                </a:solidFill>
                <a:ea typeface="Arial Unicode MS" pitchFamily="34" charset="-128"/>
                <a:cs typeface="Arial Unicode MS" pitchFamily="34" charset="-128"/>
              </a:rPr>
              <a:t>/</a:t>
            </a:r>
            <a:r>
              <a:rPr lang="en-US" sz="1800" b="1" i="1" kern="0" dirty="0" err="1">
                <a:solidFill>
                  <a:schemeClr val="accent5"/>
                </a:solidFill>
                <a:ea typeface="Arial Unicode MS" pitchFamily="34" charset="-128"/>
                <a:cs typeface="Arial Unicode MS" pitchFamily="34" charset="-128"/>
              </a:rPr>
              <a:t>gce</a:t>
            </a:r>
            <a:r>
              <a:rPr lang="en-US" sz="1800" b="1" i="1" kern="0" dirty="0">
                <a:solidFill>
                  <a:schemeClr val="accent5"/>
                </a:solidFill>
                <a:ea typeface="Arial Unicode MS" pitchFamily="34" charset="-128"/>
                <a:cs typeface="Arial Unicode MS" pitchFamily="34" charset="-128"/>
              </a:rPr>
              <a:t>-pd-volume/</a:t>
            </a:r>
          </a:p>
        </p:txBody>
      </p:sp>
      <p:cxnSp>
        <p:nvCxnSpPr>
          <p:cNvPr id="21" name="Connector: Elbow 20">
            <a:extLst>
              <a:ext uri="{FF2B5EF4-FFF2-40B4-BE49-F238E27FC236}">
                <a16:creationId xmlns:a16="http://schemas.microsoft.com/office/drawing/2014/main" id="{F7361A46-7B35-4E09-B259-AA86FD4D6B79}"/>
              </a:ext>
            </a:extLst>
          </p:cNvPr>
          <p:cNvCxnSpPr>
            <a:cxnSpLocks/>
            <a:stCxn id="17" idx="3"/>
            <a:endCxn id="5" idx="3"/>
          </p:cNvCxnSpPr>
          <p:nvPr/>
        </p:nvCxnSpPr>
        <p:spPr>
          <a:xfrm flipV="1">
            <a:off x="4745462" y="2303199"/>
            <a:ext cx="582317" cy="3191620"/>
          </a:xfrm>
          <a:prstGeom prst="bentConnector3">
            <a:avLst>
              <a:gd name="adj1" fmla="val 288128"/>
            </a:avLst>
          </a:prstGeom>
          <a:ln w="76200">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33" name="Speech Bubble: Rectangle 32">
            <a:extLst>
              <a:ext uri="{FF2B5EF4-FFF2-40B4-BE49-F238E27FC236}">
                <a16:creationId xmlns:a16="http://schemas.microsoft.com/office/drawing/2014/main" id="{5B53B858-3863-4785-B6C9-937C457F27BF}"/>
              </a:ext>
            </a:extLst>
          </p:cNvPr>
          <p:cNvSpPr/>
          <p:nvPr/>
        </p:nvSpPr>
        <p:spPr bwMode="gray">
          <a:xfrm>
            <a:off x="6954486" y="1204378"/>
            <a:ext cx="4083693" cy="915844"/>
          </a:xfrm>
          <a:prstGeom prst="wedgeRectCallout">
            <a:avLst>
              <a:gd name="adj1" fmla="val -60566"/>
              <a:gd name="adj2" fmla="val 123162"/>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bind mounts /</a:t>
            </a:r>
            <a:r>
              <a:rPr lang="en-US" sz="1800" kern="0" dirty="0" err="1">
                <a:ea typeface="Arial Unicode MS" pitchFamily="34" charset="-128"/>
                <a:cs typeface="Arial Unicode MS" pitchFamily="34" charset="-128"/>
              </a:rPr>
              <a:t>mnt</a:t>
            </a:r>
            <a:r>
              <a:rPr lang="en-US" sz="1800" kern="0" dirty="0">
                <a:ea typeface="Arial Unicode MS" pitchFamily="34" charset="-128"/>
                <a:cs typeface="Arial Unicode MS" pitchFamily="34" charset="-128"/>
              </a:rPr>
              <a:t>/</a:t>
            </a:r>
            <a:r>
              <a:rPr lang="en-US" sz="1800" kern="0" dirty="0" err="1">
                <a:ea typeface="Arial Unicode MS" pitchFamily="34" charset="-128"/>
                <a:cs typeface="Arial Unicode MS" pitchFamily="34" charset="-128"/>
              </a:rPr>
              <a:t>gce</a:t>
            </a:r>
            <a:r>
              <a:rPr lang="en-US" sz="1800" kern="0" dirty="0">
                <a:ea typeface="Arial Unicode MS" pitchFamily="34" charset="-128"/>
                <a:cs typeface="Arial Unicode MS" pitchFamily="34" charset="-128"/>
              </a:rPr>
              <a:t>-pd-volume into container file system</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34" name="Speech Bubble: Rectangle 33">
            <a:extLst>
              <a:ext uri="{FF2B5EF4-FFF2-40B4-BE49-F238E27FC236}">
                <a16:creationId xmlns:a16="http://schemas.microsoft.com/office/drawing/2014/main" id="{02F1BB7E-F5B4-4CDD-8F67-83E7478969BE}"/>
              </a:ext>
            </a:extLst>
          </p:cNvPr>
          <p:cNvSpPr/>
          <p:nvPr/>
        </p:nvSpPr>
        <p:spPr bwMode="gray">
          <a:xfrm>
            <a:off x="7092886" y="4997906"/>
            <a:ext cx="2257265" cy="636814"/>
          </a:xfrm>
          <a:prstGeom prst="wedgeRectCallout">
            <a:avLst>
              <a:gd name="adj1" fmla="val -44727"/>
              <a:gd name="adj2" fmla="val 146388"/>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Mount disk to node</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41" name="TextBox 40">
            <a:extLst>
              <a:ext uri="{FF2B5EF4-FFF2-40B4-BE49-F238E27FC236}">
                <a16:creationId xmlns:a16="http://schemas.microsoft.com/office/drawing/2014/main" id="{A5B6FDA5-3A11-48F6-B6C6-D8DA71C5C7A8}"/>
              </a:ext>
            </a:extLst>
          </p:cNvPr>
          <p:cNvSpPr txBox="1"/>
          <p:nvPr/>
        </p:nvSpPr>
        <p:spPr>
          <a:xfrm>
            <a:off x="9674476" y="4654433"/>
            <a:ext cx="1955904" cy="276999"/>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1800" b="1" i="1" kern="0" dirty="0">
                <a:solidFill>
                  <a:schemeClr val="accent5"/>
                </a:solidFill>
                <a:ea typeface="Arial Unicode MS" pitchFamily="34" charset="-128"/>
                <a:cs typeface="Arial Unicode MS" pitchFamily="34" charset="-128"/>
              </a:rPr>
              <a:t>/dev/</a:t>
            </a:r>
            <a:r>
              <a:rPr lang="en-US" sz="1800" b="1" i="1" kern="0" dirty="0" err="1">
                <a:solidFill>
                  <a:schemeClr val="accent5"/>
                </a:solidFill>
                <a:ea typeface="Arial Unicode MS" pitchFamily="34" charset="-128"/>
                <a:cs typeface="Arial Unicode MS" pitchFamily="34" charset="-128"/>
              </a:rPr>
              <a:t>sdb</a:t>
            </a:r>
            <a:endParaRPr lang="en-US" sz="1800" b="1" i="1" kern="0" dirty="0">
              <a:solidFill>
                <a:schemeClr val="accent5"/>
              </a:solidFill>
              <a:ea typeface="Arial Unicode MS" pitchFamily="34" charset="-128"/>
              <a:cs typeface="Arial Unicode MS" pitchFamily="34" charset="-128"/>
            </a:endParaRPr>
          </a:p>
        </p:txBody>
      </p:sp>
      <p:pic>
        <p:nvPicPr>
          <p:cNvPr id="15" name="Graphic 14" descr="Open folder">
            <a:extLst>
              <a:ext uri="{FF2B5EF4-FFF2-40B4-BE49-F238E27FC236}">
                <a16:creationId xmlns:a16="http://schemas.microsoft.com/office/drawing/2014/main" id="{D0A6C5E6-05B9-46C9-AA9A-E2462B4A49F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04787" y="5037618"/>
            <a:ext cx="914400" cy="914400"/>
          </a:xfrm>
          <a:prstGeom prst="rect">
            <a:avLst/>
          </a:prstGeom>
        </p:spPr>
      </p:pic>
      <p:pic>
        <p:nvPicPr>
          <p:cNvPr id="16" name="Graphic 15" descr="Open folder">
            <a:extLst>
              <a:ext uri="{FF2B5EF4-FFF2-40B4-BE49-F238E27FC236}">
                <a16:creationId xmlns:a16="http://schemas.microsoft.com/office/drawing/2014/main" id="{3F046704-6902-436D-9071-009B283ED88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79629" y="1932732"/>
            <a:ext cx="914400" cy="758449"/>
          </a:xfrm>
          <a:prstGeom prst="rect">
            <a:avLst/>
          </a:prstGeom>
        </p:spPr>
      </p:pic>
      <p:sp>
        <p:nvSpPr>
          <p:cNvPr id="12" name="Rectangle 4">
            <a:extLst>
              <a:ext uri="{FF2B5EF4-FFF2-40B4-BE49-F238E27FC236}">
                <a16:creationId xmlns:a16="http://schemas.microsoft.com/office/drawing/2014/main" id="{8489580C-3203-5062-079E-ADFA6CA45A56}"/>
              </a:ext>
            </a:extLst>
          </p:cNvPr>
          <p:cNvSpPr/>
          <p:nvPr/>
        </p:nvSpPr>
        <p:spPr bwMode="gray">
          <a:xfrm>
            <a:off x="1471236" y="3369673"/>
            <a:ext cx="3853543" cy="87431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b="1" kern="0" noProof="0" dirty="0">
                <a:ea typeface="Arial Unicode MS" pitchFamily="34" charset="-128"/>
                <a:cs typeface="Arial Unicode MS" pitchFamily="34" charset="-128"/>
              </a:rPr>
              <a:t>Container</a:t>
            </a:r>
          </a:p>
          <a:p>
            <a:pPr marR="0" algn="ctr" defTabSz="914400" eaLnBrk="1" fontAlgn="base" latinLnBrk="0" hangingPunct="1">
              <a:lnSpc>
                <a:spcPct val="100000"/>
              </a:lnSpc>
              <a:spcBef>
                <a:spcPct val="50000"/>
              </a:spcBef>
              <a:spcAft>
                <a:spcPct val="0"/>
              </a:spcAft>
              <a:buClr>
                <a:srgbClr val="F0AB00"/>
              </a:buClr>
              <a:buSzPct val="80000"/>
              <a:tabLst/>
            </a:pPr>
            <a:r>
              <a:rPr kumimoji="0" lang="de-DE" sz="1600" i="1" u="none" strike="noStrike" kern="0" cap="none" spc="0" normalizeH="0" baseline="0" dirty="0">
                <a:ln>
                  <a:noFill/>
                </a:ln>
                <a:effectLst/>
                <a:uLnTx/>
                <a:uFillTx/>
                <a:ea typeface="Arial Unicode MS" pitchFamily="34" charset="-128"/>
                <a:cs typeface="Arial Unicode MS" pitchFamily="34" charset="-128"/>
              </a:rPr>
              <a:t>/</a:t>
            </a:r>
            <a:r>
              <a:rPr kumimoji="0" lang="de-DE" sz="1600" i="1" u="none" strike="noStrike" kern="0" cap="none" spc="0" normalizeH="0" baseline="0" dirty="0" err="1">
                <a:ln>
                  <a:noFill/>
                </a:ln>
                <a:effectLst/>
                <a:uLnTx/>
                <a:uFillTx/>
                <a:ea typeface="Arial Unicode MS" pitchFamily="34" charset="-128"/>
                <a:cs typeface="Arial Unicode MS" pitchFamily="34" charset="-128"/>
              </a:rPr>
              <a:t>usr</a:t>
            </a:r>
            <a:r>
              <a:rPr kumimoji="0" lang="de-DE" sz="1600" i="1" u="none" strike="noStrike" kern="0" cap="none" spc="0" normalizeH="0" baseline="0" dirty="0">
                <a:ln>
                  <a:noFill/>
                </a:ln>
                <a:effectLst/>
                <a:uLnTx/>
                <a:uFillTx/>
                <a:ea typeface="Arial Unicode MS" pitchFamily="34" charset="-128"/>
                <a:cs typeface="Arial Unicode MS" pitchFamily="34" charset="-128"/>
              </a:rPr>
              <a:t>/</a:t>
            </a:r>
            <a:r>
              <a:rPr kumimoji="0" lang="de-DE" sz="1600" i="1" u="none" strike="noStrike" kern="0" cap="none" spc="0" normalizeH="0" baseline="0" dirty="0" err="1">
                <a:ln>
                  <a:noFill/>
                </a:ln>
                <a:effectLst/>
                <a:uLnTx/>
                <a:uFillTx/>
                <a:ea typeface="Arial Unicode MS" pitchFamily="34" charset="-128"/>
                <a:cs typeface="Arial Unicode MS" pitchFamily="34" charset="-128"/>
              </a:rPr>
              <a:t>share</a:t>
            </a:r>
            <a:r>
              <a:rPr kumimoji="0" lang="de-DE" sz="1600" i="1" u="none" strike="noStrike" kern="0" cap="none" spc="0" normalizeH="0" baseline="0" dirty="0">
                <a:ln>
                  <a:noFill/>
                </a:ln>
                <a:effectLst/>
                <a:uLnTx/>
                <a:uFillTx/>
                <a:ea typeface="Arial Unicode MS" pitchFamily="34" charset="-128"/>
                <a:cs typeface="Arial Unicode MS" pitchFamily="34" charset="-128"/>
              </a:rPr>
              <a:t>/</a:t>
            </a:r>
            <a:r>
              <a:rPr kumimoji="0" lang="de-DE" sz="1600" i="1" u="none" strike="noStrike" kern="0" cap="none" spc="0" normalizeH="0" baseline="0" dirty="0" err="1">
                <a:ln>
                  <a:noFill/>
                </a:ln>
                <a:effectLst/>
                <a:uLnTx/>
                <a:uFillTx/>
                <a:ea typeface="Arial Unicode MS" pitchFamily="34" charset="-128"/>
                <a:cs typeface="Arial Unicode MS" pitchFamily="34" charset="-128"/>
              </a:rPr>
              <a:t>nginx</a:t>
            </a:r>
            <a:r>
              <a:rPr kumimoji="0" lang="de-DE" sz="1600" i="1" u="none" strike="noStrike" kern="0" cap="none" spc="0" normalizeH="0" baseline="0" dirty="0">
                <a:ln>
                  <a:noFill/>
                </a:ln>
                <a:effectLst/>
                <a:uLnTx/>
                <a:uFillTx/>
                <a:ea typeface="Arial Unicode MS" pitchFamily="34" charset="-128"/>
                <a:cs typeface="Arial Unicode MS" pitchFamily="34" charset="-128"/>
              </a:rPr>
              <a:t>/</a:t>
            </a:r>
            <a:r>
              <a:rPr kumimoji="0" lang="de-DE" sz="1600" i="1" u="none" strike="noStrike" kern="0" cap="none" spc="0" normalizeH="0" baseline="0" dirty="0" err="1">
                <a:ln>
                  <a:noFill/>
                </a:ln>
                <a:effectLst/>
                <a:uLnTx/>
                <a:uFillTx/>
                <a:ea typeface="Arial Unicode MS" pitchFamily="34" charset="-128"/>
                <a:cs typeface="Arial Unicode MS" pitchFamily="34" charset="-128"/>
              </a:rPr>
              <a:t>html</a:t>
            </a:r>
            <a:endParaRPr kumimoji="0" lang="de-DE" sz="1600" i="1" u="none" strike="noStrike" kern="0" cap="none" spc="0" normalizeH="0" baseline="0" noProof="0" dirty="0">
              <a:ln>
                <a:noFill/>
              </a:ln>
              <a:effectLst/>
              <a:uLnTx/>
              <a:uFillTx/>
              <a:ea typeface="Arial Unicode MS" pitchFamily="34" charset="-128"/>
              <a:cs typeface="Arial Unicode MS" pitchFamily="34" charset="-128"/>
            </a:endParaRPr>
          </a:p>
        </p:txBody>
      </p:sp>
      <p:sp>
        <p:nvSpPr>
          <p:cNvPr id="14" name="Rectangle: Rounded Corners 5">
            <a:extLst>
              <a:ext uri="{FF2B5EF4-FFF2-40B4-BE49-F238E27FC236}">
                <a16:creationId xmlns:a16="http://schemas.microsoft.com/office/drawing/2014/main" id="{F6BBF7CF-F176-481F-942E-7E91D583AC3B}"/>
              </a:ext>
            </a:extLst>
          </p:cNvPr>
          <p:cNvSpPr/>
          <p:nvPr/>
        </p:nvSpPr>
        <p:spPr bwMode="gray">
          <a:xfrm>
            <a:off x="1153996" y="3335196"/>
            <a:ext cx="4488024" cy="1344226"/>
          </a:xfrm>
          <a:prstGeom prst="roundRect">
            <a:avLst/>
          </a:prstGeom>
          <a:noFill/>
          <a:ln w="19050" algn="ctr">
            <a:solidFill>
              <a:schemeClr val="tx1"/>
            </a:solidFill>
            <a:prstDash val="dash"/>
            <a:miter lim="800000"/>
            <a:headEnd/>
            <a:tailEnd/>
          </a:ln>
        </p:spPr>
        <p:txBody>
          <a:bodyPr lIns="90000" tIns="72000" rIns="90000" bIns="72000" rtlCol="0" anchor="b"/>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Pod</a:t>
            </a:r>
          </a:p>
        </p:txBody>
      </p:sp>
      <p:pic>
        <p:nvPicPr>
          <p:cNvPr id="18" name="Graphic 15" descr="Open folder">
            <a:extLst>
              <a:ext uri="{FF2B5EF4-FFF2-40B4-BE49-F238E27FC236}">
                <a16:creationId xmlns:a16="http://schemas.microsoft.com/office/drawing/2014/main" id="{E78564CE-BF67-5F9C-9A33-68D6A2E736D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76629" y="3436361"/>
            <a:ext cx="914400" cy="758449"/>
          </a:xfrm>
          <a:prstGeom prst="rect">
            <a:avLst/>
          </a:prstGeom>
        </p:spPr>
      </p:pic>
      <p:cxnSp>
        <p:nvCxnSpPr>
          <p:cNvPr id="22" name="Connector: Elbow 20">
            <a:extLst>
              <a:ext uri="{FF2B5EF4-FFF2-40B4-BE49-F238E27FC236}">
                <a16:creationId xmlns:a16="http://schemas.microsoft.com/office/drawing/2014/main" id="{CAFDD7B1-48B5-9E52-BAE3-68D718EF241A}"/>
              </a:ext>
            </a:extLst>
          </p:cNvPr>
          <p:cNvCxnSpPr>
            <a:cxnSpLocks/>
            <a:endCxn id="12" idx="3"/>
          </p:cNvCxnSpPr>
          <p:nvPr/>
        </p:nvCxnSpPr>
        <p:spPr>
          <a:xfrm rot="5400000" flipH="1" flipV="1">
            <a:off x="4191124" y="4361165"/>
            <a:ext cx="1687992" cy="579318"/>
          </a:xfrm>
          <a:prstGeom prst="bentConnector4">
            <a:avLst>
              <a:gd name="adj1" fmla="val -235"/>
              <a:gd name="adj2" fmla="val 289101"/>
            </a:avLst>
          </a:prstGeom>
          <a:ln w="76200">
            <a:headEnd type="none" w="med" len="med"/>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5866237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Diagonal Corners Rounded 14">
            <a:extLst>
              <a:ext uri="{FF2B5EF4-FFF2-40B4-BE49-F238E27FC236}">
                <a16:creationId xmlns:a16="http://schemas.microsoft.com/office/drawing/2014/main" id="{2FC0B9D7-3453-4EFB-A7E6-898F1F63A75C}"/>
              </a:ext>
            </a:extLst>
          </p:cNvPr>
          <p:cNvSpPr/>
          <p:nvPr/>
        </p:nvSpPr>
        <p:spPr bwMode="gray">
          <a:xfrm>
            <a:off x="3623970" y="3281258"/>
            <a:ext cx="1803653" cy="1103355"/>
          </a:xfrm>
          <a:prstGeom prst="round2Diag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a:solidFill>
                  <a:schemeClr val="dk1"/>
                </a:solidFill>
                <a:latin typeface="+mn-lt"/>
                <a:ea typeface="Arial Unicode MS" pitchFamily="34" charset="-128"/>
                <a:cs typeface="Arial Unicode MS" pitchFamily="34" charset="-128"/>
              </a:rPr>
              <a:t>Persistent Volume Claim</a:t>
            </a:r>
          </a:p>
        </p:txBody>
      </p:sp>
      <p:sp>
        <p:nvSpPr>
          <p:cNvPr id="2" name="Title 1">
            <a:extLst>
              <a:ext uri="{FF2B5EF4-FFF2-40B4-BE49-F238E27FC236}">
                <a16:creationId xmlns:a16="http://schemas.microsoft.com/office/drawing/2014/main" id="{63CEA792-3EB5-4DB7-8C92-AD9889D91019}"/>
              </a:ext>
            </a:extLst>
          </p:cNvPr>
          <p:cNvSpPr>
            <a:spLocks noGrp="1"/>
          </p:cNvSpPr>
          <p:nvPr>
            <p:ph type="title"/>
          </p:nvPr>
        </p:nvSpPr>
        <p:spPr/>
        <p:txBody>
          <a:bodyPr/>
          <a:lstStyle/>
          <a:p>
            <a:r>
              <a:rPr lang="en-US" dirty="0"/>
              <a:t>Access Modes</a:t>
            </a:r>
          </a:p>
        </p:txBody>
      </p:sp>
      <p:sp>
        <p:nvSpPr>
          <p:cNvPr id="4" name="Rectangle 3">
            <a:extLst>
              <a:ext uri="{FF2B5EF4-FFF2-40B4-BE49-F238E27FC236}">
                <a16:creationId xmlns:a16="http://schemas.microsoft.com/office/drawing/2014/main" id="{24EF343A-C10A-4019-AE5D-81BDE41FF336}"/>
              </a:ext>
            </a:extLst>
          </p:cNvPr>
          <p:cNvSpPr/>
          <p:nvPr/>
        </p:nvSpPr>
        <p:spPr bwMode="gray">
          <a:xfrm>
            <a:off x="870562" y="3210949"/>
            <a:ext cx="1815338" cy="1160859"/>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b"/>
          <a:lstStyle/>
          <a:p>
            <a:pPr algn="ctr" defTabSz="914400" fontAlgn="base">
              <a:spcBef>
                <a:spcPct val="50000"/>
              </a:spcBef>
              <a:spcAft>
                <a:spcPct val="0"/>
              </a:spcAft>
              <a:buClr>
                <a:srgbClr val="F0AB00"/>
              </a:buClr>
              <a:buSzPct val="80000"/>
            </a:pPr>
            <a:endParaRPr lang="de-DE" sz="1600" b="1" kern="0" dirty="0">
              <a:solidFill>
                <a:sysClr val="windowText" lastClr="000000"/>
              </a:solidFill>
              <a:ea typeface="Arial Unicode MS" pitchFamily="34" charset="-128"/>
            </a:endParaRPr>
          </a:p>
          <a:p>
            <a:pPr algn="ctr" defTabSz="914400" fontAlgn="base">
              <a:spcBef>
                <a:spcPct val="50000"/>
              </a:spcBef>
              <a:spcAft>
                <a:spcPct val="0"/>
              </a:spcAft>
              <a:buClr>
                <a:srgbClr val="F0AB00"/>
              </a:buClr>
              <a:buSzPct val="80000"/>
            </a:pPr>
            <a:r>
              <a:rPr lang="de-DE" sz="1600" b="1" kern="0" dirty="0" err="1">
                <a:solidFill>
                  <a:sysClr val="windowText" lastClr="000000"/>
                </a:solidFill>
                <a:ea typeface="Arial Unicode MS" pitchFamily="34" charset="-128"/>
              </a:rPr>
              <a:t>Node</a:t>
            </a:r>
            <a:r>
              <a:rPr lang="de-DE" sz="1600" b="1" kern="0" dirty="0">
                <a:solidFill>
                  <a:sysClr val="windowText" lastClr="000000"/>
                </a:solidFill>
                <a:ea typeface="Arial Unicode MS" pitchFamily="34" charset="-128"/>
              </a:rPr>
              <a:t> A2</a:t>
            </a:r>
          </a:p>
        </p:txBody>
      </p:sp>
      <p:sp>
        <p:nvSpPr>
          <p:cNvPr id="5" name="Rectangle 4">
            <a:extLst>
              <a:ext uri="{FF2B5EF4-FFF2-40B4-BE49-F238E27FC236}">
                <a16:creationId xmlns:a16="http://schemas.microsoft.com/office/drawing/2014/main" id="{406C96CF-733F-4258-A88F-372E8E1C9AC3}"/>
              </a:ext>
            </a:extLst>
          </p:cNvPr>
          <p:cNvSpPr/>
          <p:nvPr/>
        </p:nvSpPr>
        <p:spPr bwMode="gray">
          <a:xfrm>
            <a:off x="870562" y="4530298"/>
            <a:ext cx="1815338" cy="1160859"/>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b"/>
          <a:lstStyle/>
          <a:p>
            <a:pPr algn="ctr" defTabSz="914400" fontAlgn="base">
              <a:spcBef>
                <a:spcPct val="50000"/>
              </a:spcBef>
              <a:spcAft>
                <a:spcPct val="0"/>
              </a:spcAft>
              <a:buClr>
                <a:srgbClr val="F0AB00"/>
              </a:buClr>
              <a:buSzPct val="80000"/>
            </a:pPr>
            <a:endParaRPr lang="de-DE" sz="1600" b="1" kern="0" dirty="0">
              <a:solidFill>
                <a:sysClr val="windowText" lastClr="000000"/>
              </a:solidFill>
              <a:ea typeface="Arial Unicode MS" pitchFamily="34" charset="-128"/>
            </a:endParaRPr>
          </a:p>
          <a:p>
            <a:pPr algn="ctr" defTabSz="914400" fontAlgn="base">
              <a:spcBef>
                <a:spcPct val="50000"/>
              </a:spcBef>
              <a:spcAft>
                <a:spcPct val="0"/>
              </a:spcAft>
              <a:buClr>
                <a:srgbClr val="F0AB00"/>
              </a:buClr>
              <a:buSzPct val="80000"/>
            </a:pPr>
            <a:r>
              <a:rPr lang="de-DE" sz="1600" b="1" kern="0" dirty="0" err="1">
                <a:solidFill>
                  <a:sysClr val="windowText" lastClr="000000"/>
                </a:solidFill>
                <a:ea typeface="Arial Unicode MS" pitchFamily="34" charset="-128"/>
              </a:rPr>
              <a:t>Node</a:t>
            </a:r>
            <a:r>
              <a:rPr lang="de-DE" sz="1600" b="1" kern="0" dirty="0">
                <a:solidFill>
                  <a:sysClr val="windowText" lastClr="000000"/>
                </a:solidFill>
                <a:ea typeface="Arial Unicode MS" pitchFamily="34" charset="-128"/>
              </a:rPr>
              <a:t> A3</a:t>
            </a:r>
          </a:p>
        </p:txBody>
      </p:sp>
      <p:sp>
        <p:nvSpPr>
          <p:cNvPr id="6" name="Rectangle 5">
            <a:extLst>
              <a:ext uri="{FF2B5EF4-FFF2-40B4-BE49-F238E27FC236}">
                <a16:creationId xmlns:a16="http://schemas.microsoft.com/office/drawing/2014/main" id="{38F244DA-1F13-40FD-8214-BBC53B74B7B5}"/>
              </a:ext>
            </a:extLst>
          </p:cNvPr>
          <p:cNvSpPr/>
          <p:nvPr/>
        </p:nvSpPr>
        <p:spPr bwMode="gray">
          <a:xfrm>
            <a:off x="870562" y="1891600"/>
            <a:ext cx="1815338" cy="1160859"/>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b"/>
          <a:lstStyle/>
          <a:p>
            <a:pPr algn="ctr" defTabSz="914400" fontAlgn="base">
              <a:spcBef>
                <a:spcPct val="50000"/>
              </a:spcBef>
              <a:spcAft>
                <a:spcPct val="0"/>
              </a:spcAft>
              <a:buClr>
                <a:srgbClr val="F0AB00"/>
              </a:buClr>
              <a:buSzPct val="80000"/>
            </a:pPr>
            <a:endParaRPr lang="de-DE" sz="1600" b="1" kern="0" dirty="0">
              <a:solidFill>
                <a:sysClr val="windowText" lastClr="000000"/>
              </a:solidFill>
              <a:ea typeface="Arial Unicode MS" pitchFamily="34" charset="-128"/>
            </a:endParaRPr>
          </a:p>
          <a:p>
            <a:pPr algn="ctr" defTabSz="914400" fontAlgn="base">
              <a:spcBef>
                <a:spcPct val="50000"/>
              </a:spcBef>
              <a:spcAft>
                <a:spcPct val="0"/>
              </a:spcAft>
              <a:buClr>
                <a:srgbClr val="F0AB00"/>
              </a:buClr>
              <a:buSzPct val="80000"/>
            </a:pPr>
            <a:r>
              <a:rPr lang="de-DE" sz="1600" b="1" kern="0" dirty="0" err="1">
                <a:solidFill>
                  <a:sysClr val="windowText" lastClr="000000"/>
                </a:solidFill>
                <a:ea typeface="Arial Unicode MS" pitchFamily="34" charset="-128"/>
              </a:rPr>
              <a:t>Node</a:t>
            </a:r>
            <a:r>
              <a:rPr lang="de-DE" sz="1600" b="1" kern="0" dirty="0">
                <a:solidFill>
                  <a:sysClr val="windowText" lastClr="000000"/>
                </a:solidFill>
                <a:ea typeface="Arial Unicode MS" pitchFamily="34" charset="-128"/>
              </a:rPr>
              <a:t> A1</a:t>
            </a:r>
          </a:p>
        </p:txBody>
      </p:sp>
      <p:cxnSp>
        <p:nvCxnSpPr>
          <p:cNvPr id="7" name="Straight Arrow Connector 8">
            <a:extLst>
              <a:ext uri="{FF2B5EF4-FFF2-40B4-BE49-F238E27FC236}">
                <a16:creationId xmlns:a16="http://schemas.microsoft.com/office/drawing/2014/main" id="{A99C66D5-FAA1-45A8-A871-A103CD413C67}"/>
              </a:ext>
            </a:extLst>
          </p:cNvPr>
          <p:cNvCxnSpPr>
            <a:cxnSpLocks/>
            <a:endCxn id="4" idx="3"/>
          </p:cNvCxnSpPr>
          <p:nvPr/>
        </p:nvCxnSpPr>
        <p:spPr>
          <a:xfrm rot="10800000" flipV="1">
            <a:off x="2685900" y="3791377"/>
            <a:ext cx="898662" cy="1"/>
          </a:xfrm>
          <a:prstGeom prst="bentConnector3">
            <a:avLst>
              <a:gd name="adj1" fmla="val 50000"/>
            </a:avLst>
          </a:prstGeom>
          <a:ln w="57150">
            <a:solidFill>
              <a:schemeClr val="accent1">
                <a:lumMod val="60000"/>
                <a:lumOff val="40000"/>
              </a:schemeClr>
            </a:solidFill>
            <a:headEnd type="oval" w="med" len="med"/>
            <a:tailEnd type="oval" w="med" len="med"/>
          </a:ln>
        </p:spPr>
        <p:style>
          <a:lnRef idx="2">
            <a:schemeClr val="accent2"/>
          </a:lnRef>
          <a:fillRef idx="0">
            <a:schemeClr val="accent2"/>
          </a:fillRef>
          <a:effectRef idx="1">
            <a:schemeClr val="accent2"/>
          </a:effectRef>
          <a:fontRef idx="minor">
            <a:schemeClr val="tx1"/>
          </a:fontRef>
        </p:style>
      </p:cxnSp>
      <p:cxnSp>
        <p:nvCxnSpPr>
          <p:cNvPr id="8" name="Straight Arrow Connector 8">
            <a:extLst>
              <a:ext uri="{FF2B5EF4-FFF2-40B4-BE49-F238E27FC236}">
                <a16:creationId xmlns:a16="http://schemas.microsoft.com/office/drawing/2014/main" id="{1D720CDF-5D17-46E8-9154-A2DC4A19E1B9}"/>
              </a:ext>
            </a:extLst>
          </p:cNvPr>
          <p:cNvCxnSpPr>
            <a:endCxn id="6" idx="3"/>
          </p:cNvCxnSpPr>
          <p:nvPr/>
        </p:nvCxnSpPr>
        <p:spPr>
          <a:xfrm rot="10800000">
            <a:off x="2685901" y="2472031"/>
            <a:ext cx="898661" cy="1330203"/>
          </a:xfrm>
          <a:prstGeom prst="bentConnector3">
            <a:avLst>
              <a:gd name="adj1" fmla="val 50000"/>
            </a:avLst>
          </a:prstGeom>
          <a:ln w="57150">
            <a:solidFill>
              <a:schemeClr val="accent1">
                <a:lumMod val="60000"/>
                <a:lumOff val="40000"/>
              </a:schemeClr>
            </a:solidFill>
            <a:headEnd type="oval" w="med" len="med"/>
            <a:tailEnd type="oval" w="med" len="med"/>
          </a:ln>
        </p:spPr>
        <p:style>
          <a:lnRef idx="2">
            <a:schemeClr val="accent2"/>
          </a:lnRef>
          <a:fillRef idx="0">
            <a:schemeClr val="accent2"/>
          </a:fillRef>
          <a:effectRef idx="1">
            <a:schemeClr val="accent2"/>
          </a:effectRef>
          <a:fontRef idx="minor">
            <a:schemeClr val="tx1"/>
          </a:fontRef>
        </p:style>
      </p:cxnSp>
      <p:cxnSp>
        <p:nvCxnSpPr>
          <p:cNvPr id="9" name="Straight Arrow Connector 8">
            <a:extLst>
              <a:ext uri="{FF2B5EF4-FFF2-40B4-BE49-F238E27FC236}">
                <a16:creationId xmlns:a16="http://schemas.microsoft.com/office/drawing/2014/main" id="{C5F75523-2EC7-4928-97D2-031CE11D1577}"/>
              </a:ext>
            </a:extLst>
          </p:cNvPr>
          <p:cNvCxnSpPr>
            <a:endCxn id="5" idx="3"/>
          </p:cNvCxnSpPr>
          <p:nvPr/>
        </p:nvCxnSpPr>
        <p:spPr>
          <a:xfrm rot="10800000" flipV="1">
            <a:off x="2685901" y="3802232"/>
            <a:ext cx="898661" cy="1308495"/>
          </a:xfrm>
          <a:prstGeom prst="bentConnector3">
            <a:avLst>
              <a:gd name="adj1" fmla="val 50000"/>
            </a:avLst>
          </a:prstGeom>
          <a:ln w="57150">
            <a:solidFill>
              <a:schemeClr val="accent1">
                <a:lumMod val="60000"/>
                <a:lumOff val="40000"/>
              </a:schemeClr>
            </a:solidFill>
            <a:headEnd type="oval" w="med" len="med"/>
            <a:tailEnd type="oval" w="med" len="med"/>
          </a:ln>
        </p:spPr>
        <p:style>
          <a:lnRef idx="2">
            <a:schemeClr val="accent2"/>
          </a:lnRef>
          <a:fillRef idx="0">
            <a:schemeClr val="accent2"/>
          </a:fillRef>
          <a:effectRef idx="1">
            <a:schemeClr val="accent2"/>
          </a:effectRef>
          <a:fontRef idx="minor">
            <a:schemeClr val="tx1"/>
          </a:fontRef>
        </p:style>
      </p:cxnSp>
      <p:sp>
        <p:nvSpPr>
          <p:cNvPr id="10" name="Rectangle 9">
            <a:extLst>
              <a:ext uri="{FF2B5EF4-FFF2-40B4-BE49-F238E27FC236}">
                <a16:creationId xmlns:a16="http://schemas.microsoft.com/office/drawing/2014/main" id="{E747B2A2-4E85-4BEC-842B-D68BCADB5F49}"/>
              </a:ext>
            </a:extLst>
          </p:cNvPr>
          <p:cNvSpPr/>
          <p:nvPr/>
        </p:nvSpPr>
        <p:spPr bwMode="gray">
          <a:xfrm>
            <a:off x="955271" y="1984280"/>
            <a:ext cx="16459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a:ln>
                  <a:noFill/>
                </a:ln>
                <a:effectLst/>
                <a:uLnTx/>
                <a:uFillTx/>
                <a:ea typeface="Arial Unicode MS" pitchFamily="34" charset="-128"/>
                <a:cs typeface="Arial Unicode MS" pitchFamily="34" charset="-128"/>
              </a:rPr>
              <a:t>IP: 10.64.10.1</a:t>
            </a:r>
          </a:p>
        </p:txBody>
      </p:sp>
      <p:sp>
        <p:nvSpPr>
          <p:cNvPr id="11" name="Rectangle 10">
            <a:extLst>
              <a:ext uri="{FF2B5EF4-FFF2-40B4-BE49-F238E27FC236}">
                <a16:creationId xmlns:a16="http://schemas.microsoft.com/office/drawing/2014/main" id="{A795CA9F-CC78-4527-A89A-961090560AFC}"/>
              </a:ext>
            </a:extLst>
          </p:cNvPr>
          <p:cNvSpPr/>
          <p:nvPr/>
        </p:nvSpPr>
        <p:spPr bwMode="gray">
          <a:xfrm>
            <a:off x="955271" y="3297366"/>
            <a:ext cx="16459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a:ln>
                  <a:noFill/>
                </a:ln>
                <a:effectLst/>
                <a:uLnTx/>
                <a:uFillTx/>
                <a:ea typeface="Arial Unicode MS" pitchFamily="34" charset="-128"/>
                <a:cs typeface="Arial Unicode MS" pitchFamily="34" charset="-128"/>
              </a:rPr>
              <a:t>IP: 10.64.10.2</a:t>
            </a:r>
          </a:p>
        </p:txBody>
      </p:sp>
      <p:sp>
        <p:nvSpPr>
          <p:cNvPr id="12" name="Rectangle 11">
            <a:extLst>
              <a:ext uri="{FF2B5EF4-FFF2-40B4-BE49-F238E27FC236}">
                <a16:creationId xmlns:a16="http://schemas.microsoft.com/office/drawing/2014/main" id="{1E40854E-4580-47BA-90E7-BBA8CDFC7C49}"/>
              </a:ext>
            </a:extLst>
          </p:cNvPr>
          <p:cNvSpPr/>
          <p:nvPr/>
        </p:nvSpPr>
        <p:spPr bwMode="gray">
          <a:xfrm>
            <a:off x="955271" y="4616480"/>
            <a:ext cx="16459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a:ln>
                  <a:noFill/>
                </a:ln>
                <a:effectLst/>
                <a:uLnTx/>
                <a:uFillTx/>
                <a:ea typeface="Arial Unicode MS" pitchFamily="34" charset="-128"/>
                <a:cs typeface="Arial Unicode MS" pitchFamily="34" charset="-128"/>
              </a:rPr>
              <a:t>IP: 10.64.10.3</a:t>
            </a:r>
          </a:p>
        </p:txBody>
      </p:sp>
      <p:sp>
        <p:nvSpPr>
          <p:cNvPr id="13" name="Cylinder 12">
            <a:extLst>
              <a:ext uri="{FF2B5EF4-FFF2-40B4-BE49-F238E27FC236}">
                <a16:creationId xmlns:a16="http://schemas.microsoft.com/office/drawing/2014/main" id="{FEB219DB-284F-4199-B6CA-C8509AA18034}"/>
              </a:ext>
            </a:extLst>
          </p:cNvPr>
          <p:cNvSpPr/>
          <p:nvPr/>
        </p:nvSpPr>
        <p:spPr bwMode="gray">
          <a:xfrm>
            <a:off x="9320646" y="3151098"/>
            <a:ext cx="1693576" cy="1362573"/>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Physical storage</a:t>
            </a:r>
          </a:p>
        </p:txBody>
      </p:sp>
      <p:sp>
        <p:nvSpPr>
          <p:cNvPr id="14" name="Cylinder 13">
            <a:extLst>
              <a:ext uri="{FF2B5EF4-FFF2-40B4-BE49-F238E27FC236}">
                <a16:creationId xmlns:a16="http://schemas.microsoft.com/office/drawing/2014/main" id="{D71EE5F9-DFE4-4CB0-9CA0-B3DCBA25D5EF}"/>
              </a:ext>
            </a:extLst>
          </p:cNvPr>
          <p:cNvSpPr/>
          <p:nvPr/>
        </p:nvSpPr>
        <p:spPr bwMode="gray">
          <a:xfrm>
            <a:off x="6485680" y="3280158"/>
            <a:ext cx="1486490" cy="1104455"/>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Persistent</a:t>
            </a:r>
            <a:r>
              <a:rPr kumimoji="0" lang="en-US" sz="1800" b="0" i="0" u="none" strike="noStrike" kern="0" cap="none" spc="0" normalizeH="0" noProof="0" dirty="0">
                <a:ln>
                  <a:noFill/>
                </a:ln>
                <a:effectLst/>
                <a:uLnTx/>
                <a:uFillTx/>
                <a:ea typeface="Arial Unicode MS" pitchFamily="34" charset="-128"/>
                <a:cs typeface="Arial Unicode MS" pitchFamily="34" charset="-128"/>
              </a:rPr>
              <a:t> Volume</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16" name="Connector: Elbow 15">
            <a:extLst>
              <a:ext uri="{FF2B5EF4-FFF2-40B4-BE49-F238E27FC236}">
                <a16:creationId xmlns:a16="http://schemas.microsoft.com/office/drawing/2014/main" id="{84A50DC6-50F3-4D45-A90F-265B9A2BBF60}"/>
              </a:ext>
            </a:extLst>
          </p:cNvPr>
          <p:cNvCxnSpPr>
            <a:cxnSpLocks/>
            <a:stCxn id="14" idx="4"/>
            <a:endCxn id="13" idx="2"/>
          </p:cNvCxnSpPr>
          <p:nvPr/>
        </p:nvCxnSpPr>
        <p:spPr>
          <a:xfrm flipV="1">
            <a:off x="7972170" y="3832385"/>
            <a:ext cx="1348476" cy="1"/>
          </a:xfrm>
          <a:prstGeom prst="bentConnector3">
            <a:avLst>
              <a:gd name="adj1" fmla="val 50000"/>
            </a:avLst>
          </a:prstGeom>
          <a:ln w="571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226D7AD1-AE35-461D-84F8-E45BB0E51FC0}"/>
              </a:ext>
            </a:extLst>
          </p:cNvPr>
          <p:cNvCxnSpPr>
            <a:cxnSpLocks/>
            <a:stCxn id="15" idx="0"/>
            <a:endCxn id="14" idx="2"/>
          </p:cNvCxnSpPr>
          <p:nvPr/>
        </p:nvCxnSpPr>
        <p:spPr>
          <a:xfrm flipV="1">
            <a:off x="5427623" y="3832386"/>
            <a:ext cx="1058057" cy="550"/>
          </a:xfrm>
          <a:prstGeom prst="bentConnector3">
            <a:avLst>
              <a:gd name="adj1" fmla="val 50000"/>
            </a:avLst>
          </a:prstGeom>
          <a:ln w="571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Speech Bubble: Rectangle 30">
            <a:extLst>
              <a:ext uri="{FF2B5EF4-FFF2-40B4-BE49-F238E27FC236}">
                <a16:creationId xmlns:a16="http://schemas.microsoft.com/office/drawing/2014/main" id="{3FFDABBF-A7EC-4EFE-A628-B6C21820E3CD}"/>
              </a:ext>
            </a:extLst>
          </p:cNvPr>
          <p:cNvSpPr/>
          <p:nvPr/>
        </p:nvSpPr>
        <p:spPr bwMode="gray">
          <a:xfrm>
            <a:off x="4307067" y="1071697"/>
            <a:ext cx="2409432" cy="1713391"/>
          </a:xfrm>
          <a:prstGeom prst="wedgeRectCallout">
            <a:avLst>
              <a:gd name="adj1" fmla="val -91903"/>
              <a:gd name="adj2" fmla="val 90799"/>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RWO</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 = read-write once</a:t>
            </a:r>
          </a:p>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Only 1 pod can mount the PVC</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33" name="Speech Bubble: Rectangle 32">
            <a:extLst>
              <a:ext uri="{FF2B5EF4-FFF2-40B4-BE49-F238E27FC236}">
                <a16:creationId xmlns:a16="http://schemas.microsoft.com/office/drawing/2014/main" id="{AE2CC4DA-2088-440A-9B6D-2E43D407CE31}"/>
              </a:ext>
            </a:extLst>
          </p:cNvPr>
          <p:cNvSpPr/>
          <p:nvPr/>
        </p:nvSpPr>
        <p:spPr bwMode="gray">
          <a:xfrm>
            <a:off x="4302108" y="1072026"/>
            <a:ext cx="2409432" cy="1713391"/>
          </a:xfrm>
          <a:prstGeom prst="wedgeRectCallout">
            <a:avLst>
              <a:gd name="adj1" fmla="val -91903"/>
              <a:gd name="adj2" fmla="val 90799"/>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ROX</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 = </a:t>
            </a: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ReadOnlyMany</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Multiple Nodes can mount re</a:t>
            </a:r>
            <a:r>
              <a:rPr lang="en-US" sz="1800" kern="0" dirty="0">
                <a:ea typeface="Arial Unicode MS" pitchFamily="34" charset="-128"/>
                <a:cs typeface="Arial Unicode MS" pitchFamily="34" charset="-128"/>
              </a:rPr>
              <a:t>ad-only or 1 node read-write</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35" name="Speech Bubble: Rectangle 34">
            <a:extLst>
              <a:ext uri="{FF2B5EF4-FFF2-40B4-BE49-F238E27FC236}">
                <a16:creationId xmlns:a16="http://schemas.microsoft.com/office/drawing/2014/main" id="{C65EFBDC-DA03-4F31-A81A-C14E638769D5}"/>
              </a:ext>
            </a:extLst>
          </p:cNvPr>
          <p:cNvSpPr/>
          <p:nvPr/>
        </p:nvSpPr>
        <p:spPr bwMode="gray">
          <a:xfrm>
            <a:off x="7164280" y="5467422"/>
            <a:ext cx="2681056" cy="982692"/>
          </a:xfrm>
          <a:prstGeom prst="wedgeRectCallout">
            <a:avLst>
              <a:gd name="adj1" fmla="val 42966"/>
              <a:gd name="adj2" fmla="val -135956"/>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Storage backend has to support access modes</a:t>
            </a:r>
          </a:p>
        </p:txBody>
      </p:sp>
    </p:spTree>
    <p:extLst>
      <p:ext uri="{BB962C8B-B14F-4D97-AF65-F5344CB8AC3E}">
        <p14:creationId xmlns:p14="http://schemas.microsoft.com/office/powerpoint/2010/main" val="28844297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Diagonal Corners Rounded 14">
            <a:extLst>
              <a:ext uri="{FF2B5EF4-FFF2-40B4-BE49-F238E27FC236}">
                <a16:creationId xmlns:a16="http://schemas.microsoft.com/office/drawing/2014/main" id="{2FC0B9D7-3453-4EFB-A7E6-898F1F63A75C}"/>
              </a:ext>
            </a:extLst>
          </p:cNvPr>
          <p:cNvSpPr/>
          <p:nvPr/>
        </p:nvSpPr>
        <p:spPr bwMode="gray">
          <a:xfrm>
            <a:off x="3623970" y="3281258"/>
            <a:ext cx="1803653" cy="1103355"/>
          </a:xfrm>
          <a:prstGeom prst="round2Diag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a:solidFill>
                  <a:schemeClr val="dk1"/>
                </a:solidFill>
                <a:latin typeface="+mn-lt"/>
                <a:ea typeface="Arial Unicode MS" pitchFamily="34" charset="-128"/>
                <a:cs typeface="Arial Unicode MS" pitchFamily="34" charset="-128"/>
              </a:rPr>
              <a:t>Persistent Volume Claim</a:t>
            </a:r>
          </a:p>
        </p:txBody>
      </p:sp>
      <p:sp>
        <p:nvSpPr>
          <p:cNvPr id="2" name="Title 1">
            <a:extLst>
              <a:ext uri="{FF2B5EF4-FFF2-40B4-BE49-F238E27FC236}">
                <a16:creationId xmlns:a16="http://schemas.microsoft.com/office/drawing/2014/main" id="{63CEA792-3EB5-4DB7-8C92-AD9889D91019}"/>
              </a:ext>
            </a:extLst>
          </p:cNvPr>
          <p:cNvSpPr>
            <a:spLocks noGrp="1"/>
          </p:cNvSpPr>
          <p:nvPr>
            <p:ph type="title"/>
          </p:nvPr>
        </p:nvSpPr>
        <p:spPr/>
        <p:txBody>
          <a:bodyPr/>
          <a:lstStyle/>
          <a:p>
            <a:r>
              <a:rPr lang="en-US" dirty="0"/>
              <a:t>Access Modes</a:t>
            </a:r>
          </a:p>
        </p:txBody>
      </p:sp>
      <p:sp>
        <p:nvSpPr>
          <p:cNvPr id="4" name="Rectangle 3">
            <a:extLst>
              <a:ext uri="{FF2B5EF4-FFF2-40B4-BE49-F238E27FC236}">
                <a16:creationId xmlns:a16="http://schemas.microsoft.com/office/drawing/2014/main" id="{24EF343A-C10A-4019-AE5D-81BDE41FF336}"/>
              </a:ext>
            </a:extLst>
          </p:cNvPr>
          <p:cNvSpPr/>
          <p:nvPr/>
        </p:nvSpPr>
        <p:spPr bwMode="gray">
          <a:xfrm>
            <a:off x="870562" y="3210949"/>
            <a:ext cx="1815338" cy="1160859"/>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b"/>
          <a:lstStyle/>
          <a:p>
            <a:pPr algn="ctr" defTabSz="914400" fontAlgn="base">
              <a:spcBef>
                <a:spcPct val="50000"/>
              </a:spcBef>
              <a:spcAft>
                <a:spcPct val="0"/>
              </a:spcAft>
              <a:buClr>
                <a:srgbClr val="F0AB00"/>
              </a:buClr>
              <a:buSzPct val="80000"/>
            </a:pPr>
            <a:endParaRPr lang="de-DE" sz="1600" b="1" kern="0" dirty="0">
              <a:solidFill>
                <a:sysClr val="windowText" lastClr="000000"/>
              </a:solidFill>
              <a:ea typeface="Arial Unicode MS" pitchFamily="34" charset="-128"/>
            </a:endParaRPr>
          </a:p>
          <a:p>
            <a:pPr algn="ctr" defTabSz="914400" fontAlgn="base">
              <a:spcBef>
                <a:spcPct val="50000"/>
              </a:spcBef>
              <a:spcAft>
                <a:spcPct val="0"/>
              </a:spcAft>
              <a:buClr>
                <a:srgbClr val="F0AB00"/>
              </a:buClr>
              <a:buSzPct val="80000"/>
            </a:pPr>
            <a:r>
              <a:rPr lang="de-DE" sz="1600" b="1" kern="0" dirty="0" err="1">
                <a:solidFill>
                  <a:sysClr val="windowText" lastClr="000000"/>
                </a:solidFill>
                <a:ea typeface="Arial Unicode MS" pitchFamily="34" charset="-128"/>
              </a:rPr>
              <a:t>Node</a:t>
            </a:r>
            <a:r>
              <a:rPr lang="de-DE" sz="1600" b="1" kern="0" dirty="0">
                <a:solidFill>
                  <a:sysClr val="windowText" lastClr="000000"/>
                </a:solidFill>
                <a:ea typeface="Arial Unicode MS" pitchFamily="34" charset="-128"/>
              </a:rPr>
              <a:t> A2</a:t>
            </a:r>
          </a:p>
        </p:txBody>
      </p:sp>
      <p:sp>
        <p:nvSpPr>
          <p:cNvPr id="5" name="Rectangle 4">
            <a:extLst>
              <a:ext uri="{FF2B5EF4-FFF2-40B4-BE49-F238E27FC236}">
                <a16:creationId xmlns:a16="http://schemas.microsoft.com/office/drawing/2014/main" id="{406C96CF-733F-4258-A88F-372E8E1C9AC3}"/>
              </a:ext>
            </a:extLst>
          </p:cNvPr>
          <p:cNvSpPr/>
          <p:nvPr/>
        </p:nvSpPr>
        <p:spPr bwMode="gray">
          <a:xfrm>
            <a:off x="870562" y="4530298"/>
            <a:ext cx="1815338" cy="1160859"/>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b"/>
          <a:lstStyle/>
          <a:p>
            <a:pPr algn="ctr" defTabSz="914400" fontAlgn="base">
              <a:spcBef>
                <a:spcPct val="50000"/>
              </a:spcBef>
              <a:spcAft>
                <a:spcPct val="0"/>
              </a:spcAft>
              <a:buClr>
                <a:srgbClr val="F0AB00"/>
              </a:buClr>
              <a:buSzPct val="80000"/>
            </a:pPr>
            <a:endParaRPr lang="de-DE" sz="1600" b="1" kern="0" dirty="0">
              <a:solidFill>
                <a:sysClr val="windowText" lastClr="000000"/>
              </a:solidFill>
              <a:ea typeface="Arial Unicode MS" pitchFamily="34" charset="-128"/>
            </a:endParaRPr>
          </a:p>
          <a:p>
            <a:pPr algn="ctr" defTabSz="914400" fontAlgn="base">
              <a:spcBef>
                <a:spcPct val="50000"/>
              </a:spcBef>
              <a:spcAft>
                <a:spcPct val="0"/>
              </a:spcAft>
              <a:buClr>
                <a:srgbClr val="F0AB00"/>
              </a:buClr>
              <a:buSzPct val="80000"/>
            </a:pPr>
            <a:r>
              <a:rPr lang="de-DE" sz="1600" b="1" kern="0" dirty="0" err="1">
                <a:solidFill>
                  <a:sysClr val="windowText" lastClr="000000"/>
                </a:solidFill>
                <a:ea typeface="Arial Unicode MS" pitchFamily="34" charset="-128"/>
              </a:rPr>
              <a:t>Node</a:t>
            </a:r>
            <a:r>
              <a:rPr lang="de-DE" sz="1600" b="1" kern="0" dirty="0">
                <a:solidFill>
                  <a:sysClr val="windowText" lastClr="000000"/>
                </a:solidFill>
                <a:ea typeface="Arial Unicode MS" pitchFamily="34" charset="-128"/>
              </a:rPr>
              <a:t> A3</a:t>
            </a:r>
          </a:p>
        </p:txBody>
      </p:sp>
      <p:sp>
        <p:nvSpPr>
          <p:cNvPr id="6" name="Rectangle 5">
            <a:extLst>
              <a:ext uri="{FF2B5EF4-FFF2-40B4-BE49-F238E27FC236}">
                <a16:creationId xmlns:a16="http://schemas.microsoft.com/office/drawing/2014/main" id="{38F244DA-1F13-40FD-8214-BBC53B74B7B5}"/>
              </a:ext>
            </a:extLst>
          </p:cNvPr>
          <p:cNvSpPr/>
          <p:nvPr/>
        </p:nvSpPr>
        <p:spPr bwMode="gray">
          <a:xfrm>
            <a:off x="870562" y="1891600"/>
            <a:ext cx="1815338" cy="1160859"/>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b"/>
          <a:lstStyle/>
          <a:p>
            <a:pPr algn="ctr" defTabSz="914400" fontAlgn="base">
              <a:spcBef>
                <a:spcPct val="50000"/>
              </a:spcBef>
              <a:spcAft>
                <a:spcPct val="0"/>
              </a:spcAft>
              <a:buClr>
                <a:srgbClr val="F0AB00"/>
              </a:buClr>
              <a:buSzPct val="80000"/>
            </a:pPr>
            <a:endParaRPr lang="de-DE" sz="1600" b="1" kern="0" dirty="0">
              <a:solidFill>
                <a:sysClr val="windowText" lastClr="000000"/>
              </a:solidFill>
              <a:ea typeface="Arial Unicode MS" pitchFamily="34" charset="-128"/>
            </a:endParaRPr>
          </a:p>
          <a:p>
            <a:pPr algn="ctr" defTabSz="914400" fontAlgn="base">
              <a:spcBef>
                <a:spcPct val="50000"/>
              </a:spcBef>
              <a:spcAft>
                <a:spcPct val="0"/>
              </a:spcAft>
              <a:buClr>
                <a:srgbClr val="F0AB00"/>
              </a:buClr>
              <a:buSzPct val="80000"/>
            </a:pPr>
            <a:r>
              <a:rPr lang="de-DE" sz="1600" b="1" kern="0" dirty="0" err="1">
                <a:solidFill>
                  <a:sysClr val="windowText" lastClr="000000"/>
                </a:solidFill>
                <a:ea typeface="Arial Unicode MS" pitchFamily="34" charset="-128"/>
              </a:rPr>
              <a:t>Node</a:t>
            </a:r>
            <a:r>
              <a:rPr lang="de-DE" sz="1600" b="1" kern="0" dirty="0">
                <a:solidFill>
                  <a:sysClr val="windowText" lastClr="000000"/>
                </a:solidFill>
                <a:ea typeface="Arial Unicode MS" pitchFamily="34" charset="-128"/>
              </a:rPr>
              <a:t> A1</a:t>
            </a:r>
          </a:p>
        </p:txBody>
      </p:sp>
      <p:cxnSp>
        <p:nvCxnSpPr>
          <p:cNvPr id="7" name="Straight Arrow Connector 8">
            <a:extLst>
              <a:ext uri="{FF2B5EF4-FFF2-40B4-BE49-F238E27FC236}">
                <a16:creationId xmlns:a16="http://schemas.microsoft.com/office/drawing/2014/main" id="{A99C66D5-FAA1-45A8-A871-A103CD413C67}"/>
              </a:ext>
            </a:extLst>
          </p:cNvPr>
          <p:cNvCxnSpPr>
            <a:cxnSpLocks/>
            <a:endCxn id="4" idx="3"/>
          </p:cNvCxnSpPr>
          <p:nvPr/>
        </p:nvCxnSpPr>
        <p:spPr>
          <a:xfrm rot="10800000" flipV="1">
            <a:off x="2685900" y="3791377"/>
            <a:ext cx="898662" cy="1"/>
          </a:xfrm>
          <a:prstGeom prst="bentConnector3">
            <a:avLst>
              <a:gd name="adj1" fmla="val 50000"/>
            </a:avLst>
          </a:prstGeom>
          <a:ln w="57150">
            <a:solidFill>
              <a:schemeClr val="accent1">
                <a:lumMod val="60000"/>
                <a:lumOff val="40000"/>
              </a:schemeClr>
            </a:solidFill>
            <a:headEnd type="oval" w="med" len="med"/>
            <a:tailEnd type="oval" w="med" len="med"/>
          </a:ln>
        </p:spPr>
        <p:style>
          <a:lnRef idx="2">
            <a:schemeClr val="accent2"/>
          </a:lnRef>
          <a:fillRef idx="0">
            <a:schemeClr val="accent2"/>
          </a:fillRef>
          <a:effectRef idx="1">
            <a:schemeClr val="accent2"/>
          </a:effectRef>
          <a:fontRef idx="minor">
            <a:schemeClr val="tx1"/>
          </a:fontRef>
        </p:style>
      </p:cxnSp>
      <p:cxnSp>
        <p:nvCxnSpPr>
          <p:cNvPr id="8" name="Straight Arrow Connector 8">
            <a:extLst>
              <a:ext uri="{FF2B5EF4-FFF2-40B4-BE49-F238E27FC236}">
                <a16:creationId xmlns:a16="http://schemas.microsoft.com/office/drawing/2014/main" id="{1D720CDF-5D17-46E8-9154-A2DC4A19E1B9}"/>
              </a:ext>
            </a:extLst>
          </p:cNvPr>
          <p:cNvCxnSpPr>
            <a:endCxn id="6" idx="3"/>
          </p:cNvCxnSpPr>
          <p:nvPr/>
        </p:nvCxnSpPr>
        <p:spPr>
          <a:xfrm rot="10800000">
            <a:off x="2685901" y="2472031"/>
            <a:ext cx="898661" cy="1330203"/>
          </a:xfrm>
          <a:prstGeom prst="bentConnector3">
            <a:avLst>
              <a:gd name="adj1" fmla="val 50000"/>
            </a:avLst>
          </a:prstGeom>
          <a:ln w="57150">
            <a:solidFill>
              <a:schemeClr val="accent1">
                <a:lumMod val="60000"/>
                <a:lumOff val="40000"/>
              </a:schemeClr>
            </a:solidFill>
            <a:headEnd type="oval" w="med" len="med"/>
            <a:tailEnd type="oval" w="med" len="med"/>
          </a:ln>
        </p:spPr>
        <p:style>
          <a:lnRef idx="2">
            <a:schemeClr val="accent2"/>
          </a:lnRef>
          <a:fillRef idx="0">
            <a:schemeClr val="accent2"/>
          </a:fillRef>
          <a:effectRef idx="1">
            <a:schemeClr val="accent2"/>
          </a:effectRef>
          <a:fontRef idx="minor">
            <a:schemeClr val="tx1"/>
          </a:fontRef>
        </p:style>
      </p:cxnSp>
      <p:cxnSp>
        <p:nvCxnSpPr>
          <p:cNvPr id="9" name="Straight Arrow Connector 8">
            <a:extLst>
              <a:ext uri="{FF2B5EF4-FFF2-40B4-BE49-F238E27FC236}">
                <a16:creationId xmlns:a16="http://schemas.microsoft.com/office/drawing/2014/main" id="{C5F75523-2EC7-4928-97D2-031CE11D1577}"/>
              </a:ext>
            </a:extLst>
          </p:cNvPr>
          <p:cNvCxnSpPr>
            <a:endCxn id="5" idx="3"/>
          </p:cNvCxnSpPr>
          <p:nvPr/>
        </p:nvCxnSpPr>
        <p:spPr>
          <a:xfrm rot="10800000" flipV="1">
            <a:off x="2685901" y="3802232"/>
            <a:ext cx="898661" cy="1308495"/>
          </a:xfrm>
          <a:prstGeom prst="bentConnector3">
            <a:avLst>
              <a:gd name="adj1" fmla="val 50000"/>
            </a:avLst>
          </a:prstGeom>
          <a:ln w="57150">
            <a:solidFill>
              <a:schemeClr val="accent1">
                <a:lumMod val="60000"/>
                <a:lumOff val="40000"/>
              </a:schemeClr>
            </a:solidFill>
            <a:headEnd type="oval" w="med" len="med"/>
            <a:tailEnd type="oval" w="med" len="med"/>
          </a:ln>
        </p:spPr>
        <p:style>
          <a:lnRef idx="2">
            <a:schemeClr val="accent2"/>
          </a:lnRef>
          <a:fillRef idx="0">
            <a:schemeClr val="accent2"/>
          </a:fillRef>
          <a:effectRef idx="1">
            <a:schemeClr val="accent2"/>
          </a:effectRef>
          <a:fontRef idx="minor">
            <a:schemeClr val="tx1"/>
          </a:fontRef>
        </p:style>
      </p:cxnSp>
      <p:sp>
        <p:nvSpPr>
          <p:cNvPr id="10" name="Rectangle 9">
            <a:extLst>
              <a:ext uri="{FF2B5EF4-FFF2-40B4-BE49-F238E27FC236}">
                <a16:creationId xmlns:a16="http://schemas.microsoft.com/office/drawing/2014/main" id="{E747B2A2-4E85-4BEC-842B-D68BCADB5F49}"/>
              </a:ext>
            </a:extLst>
          </p:cNvPr>
          <p:cNvSpPr/>
          <p:nvPr/>
        </p:nvSpPr>
        <p:spPr bwMode="gray">
          <a:xfrm>
            <a:off x="955271" y="1984280"/>
            <a:ext cx="16459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a:ln>
                  <a:noFill/>
                </a:ln>
                <a:effectLst/>
                <a:uLnTx/>
                <a:uFillTx/>
                <a:ea typeface="Arial Unicode MS" pitchFamily="34" charset="-128"/>
                <a:cs typeface="Arial Unicode MS" pitchFamily="34" charset="-128"/>
              </a:rPr>
              <a:t>IP: 10.64.10.1</a:t>
            </a:r>
          </a:p>
        </p:txBody>
      </p:sp>
      <p:sp>
        <p:nvSpPr>
          <p:cNvPr id="11" name="Rectangle 10">
            <a:extLst>
              <a:ext uri="{FF2B5EF4-FFF2-40B4-BE49-F238E27FC236}">
                <a16:creationId xmlns:a16="http://schemas.microsoft.com/office/drawing/2014/main" id="{A795CA9F-CC78-4527-A89A-961090560AFC}"/>
              </a:ext>
            </a:extLst>
          </p:cNvPr>
          <p:cNvSpPr/>
          <p:nvPr/>
        </p:nvSpPr>
        <p:spPr bwMode="gray">
          <a:xfrm>
            <a:off x="955271" y="3297366"/>
            <a:ext cx="16459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a:ln>
                  <a:noFill/>
                </a:ln>
                <a:effectLst/>
                <a:uLnTx/>
                <a:uFillTx/>
                <a:ea typeface="Arial Unicode MS" pitchFamily="34" charset="-128"/>
                <a:cs typeface="Arial Unicode MS" pitchFamily="34" charset="-128"/>
              </a:rPr>
              <a:t>IP: 10.64.10.2</a:t>
            </a:r>
          </a:p>
        </p:txBody>
      </p:sp>
      <p:sp>
        <p:nvSpPr>
          <p:cNvPr id="12" name="Rectangle 11">
            <a:extLst>
              <a:ext uri="{FF2B5EF4-FFF2-40B4-BE49-F238E27FC236}">
                <a16:creationId xmlns:a16="http://schemas.microsoft.com/office/drawing/2014/main" id="{1E40854E-4580-47BA-90E7-BBA8CDFC7C49}"/>
              </a:ext>
            </a:extLst>
          </p:cNvPr>
          <p:cNvSpPr/>
          <p:nvPr/>
        </p:nvSpPr>
        <p:spPr bwMode="gray">
          <a:xfrm>
            <a:off x="955271" y="4616480"/>
            <a:ext cx="16459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a:ln>
                  <a:noFill/>
                </a:ln>
                <a:effectLst/>
                <a:uLnTx/>
                <a:uFillTx/>
                <a:ea typeface="Arial Unicode MS" pitchFamily="34" charset="-128"/>
                <a:cs typeface="Arial Unicode MS" pitchFamily="34" charset="-128"/>
              </a:rPr>
              <a:t>IP: 10.64.10.3</a:t>
            </a:r>
          </a:p>
        </p:txBody>
      </p:sp>
      <p:sp>
        <p:nvSpPr>
          <p:cNvPr id="13" name="Cylinder 12">
            <a:extLst>
              <a:ext uri="{FF2B5EF4-FFF2-40B4-BE49-F238E27FC236}">
                <a16:creationId xmlns:a16="http://schemas.microsoft.com/office/drawing/2014/main" id="{FEB219DB-284F-4199-B6CA-C8509AA18034}"/>
              </a:ext>
            </a:extLst>
          </p:cNvPr>
          <p:cNvSpPr/>
          <p:nvPr/>
        </p:nvSpPr>
        <p:spPr bwMode="gray">
          <a:xfrm>
            <a:off x="9320646" y="3151098"/>
            <a:ext cx="1693576" cy="1362573"/>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Physical storage</a:t>
            </a:r>
          </a:p>
        </p:txBody>
      </p:sp>
      <p:sp>
        <p:nvSpPr>
          <p:cNvPr id="14" name="Cylinder 13">
            <a:extLst>
              <a:ext uri="{FF2B5EF4-FFF2-40B4-BE49-F238E27FC236}">
                <a16:creationId xmlns:a16="http://schemas.microsoft.com/office/drawing/2014/main" id="{D71EE5F9-DFE4-4CB0-9CA0-B3DCBA25D5EF}"/>
              </a:ext>
            </a:extLst>
          </p:cNvPr>
          <p:cNvSpPr/>
          <p:nvPr/>
        </p:nvSpPr>
        <p:spPr bwMode="gray">
          <a:xfrm>
            <a:off x="6485680" y="3280158"/>
            <a:ext cx="1486490" cy="1104455"/>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Persistent</a:t>
            </a:r>
            <a:r>
              <a:rPr kumimoji="0" lang="en-US" sz="1800" b="0" i="0" u="none" strike="noStrike" kern="0" cap="none" spc="0" normalizeH="0" noProof="0" dirty="0">
                <a:ln>
                  <a:noFill/>
                </a:ln>
                <a:effectLst/>
                <a:uLnTx/>
                <a:uFillTx/>
                <a:ea typeface="Arial Unicode MS" pitchFamily="34" charset="-128"/>
                <a:cs typeface="Arial Unicode MS" pitchFamily="34" charset="-128"/>
              </a:rPr>
              <a:t> Volume</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16" name="Connector: Elbow 15">
            <a:extLst>
              <a:ext uri="{FF2B5EF4-FFF2-40B4-BE49-F238E27FC236}">
                <a16:creationId xmlns:a16="http://schemas.microsoft.com/office/drawing/2014/main" id="{84A50DC6-50F3-4D45-A90F-265B9A2BBF60}"/>
              </a:ext>
            </a:extLst>
          </p:cNvPr>
          <p:cNvCxnSpPr>
            <a:cxnSpLocks/>
            <a:stCxn id="14" idx="4"/>
            <a:endCxn id="13" idx="2"/>
          </p:cNvCxnSpPr>
          <p:nvPr/>
        </p:nvCxnSpPr>
        <p:spPr>
          <a:xfrm flipV="1">
            <a:off x="7972170" y="3832385"/>
            <a:ext cx="1348476" cy="1"/>
          </a:xfrm>
          <a:prstGeom prst="bentConnector3">
            <a:avLst>
              <a:gd name="adj1" fmla="val 50000"/>
            </a:avLst>
          </a:prstGeom>
          <a:ln w="571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226D7AD1-AE35-461D-84F8-E45BB0E51FC0}"/>
              </a:ext>
            </a:extLst>
          </p:cNvPr>
          <p:cNvCxnSpPr>
            <a:cxnSpLocks/>
            <a:stCxn id="15" idx="0"/>
            <a:endCxn id="14" idx="2"/>
          </p:cNvCxnSpPr>
          <p:nvPr/>
        </p:nvCxnSpPr>
        <p:spPr>
          <a:xfrm flipV="1">
            <a:off x="5427623" y="3832386"/>
            <a:ext cx="1058057" cy="550"/>
          </a:xfrm>
          <a:prstGeom prst="bentConnector3">
            <a:avLst>
              <a:gd name="adj1" fmla="val 50000"/>
            </a:avLst>
          </a:prstGeom>
          <a:ln w="571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Speech Bubble: Rectangle 30">
            <a:extLst>
              <a:ext uri="{FF2B5EF4-FFF2-40B4-BE49-F238E27FC236}">
                <a16:creationId xmlns:a16="http://schemas.microsoft.com/office/drawing/2014/main" id="{3FFDABBF-A7EC-4EFE-A628-B6C21820E3CD}"/>
              </a:ext>
            </a:extLst>
          </p:cNvPr>
          <p:cNvSpPr/>
          <p:nvPr/>
        </p:nvSpPr>
        <p:spPr bwMode="gray">
          <a:xfrm>
            <a:off x="4307067" y="1071697"/>
            <a:ext cx="2409432" cy="1713391"/>
          </a:xfrm>
          <a:prstGeom prst="wedgeRectCallout">
            <a:avLst>
              <a:gd name="adj1" fmla="val -91903"/>
              <a:gd name="adj2" fmla="val 90799"/>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RWO</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 = read-write once</a:t>
            </a:r>
          </a:p>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Only 1 pod can mount the PVC</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33" name="Speech Bubble: Rectangle 32">
            <a:extLst>
              <a:ext uri="{FF2B5EF4-FFF2-40B4-BE49-F238E27FC236}">
                <a16:creationId xmlns:a16="http://schemas.microsoft.com/office/drawing/2014/main" id="{AE2CC4DA-2088-440A-9B6D-2E43D407CE31}"/>
              </a:ext>
            </a:extLst>
          </p:cNvPr>
          <p:cNvSpPr/>
          <p:nvPr/>
        </p:nvSpPr>
        <p:spPr bwMode="gray">
          <a:xfrm>
            <a:off x="4302108" y="1072026"/>
            <a:ext cx="2409432" cy="1713391"/>
          </a:xfrm>
          <a:prstGeom prst="wedgeRectCallout">
            <a:avLst>
              <a:gd name="adj1" fmla="val -91903"/>
              <a:gd name="adj2" fmla="val 90799"/>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ROX</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 = read-only many</a:t>
            </a:r>
          </a:p>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Multiple pods can mount re</a:t>
            </a:r>
            <a:r>
              <a:rPr lang="en-US" sz="1800" kern="0" dirty="0">
                <a:ea typeface="Arial Unicode MS" pitchFamily="34" charset="-128"/>
                <a:cs typeface="Arial Unicode MS" pitchFamily="34" charset="-128"/>
              </a:rPr>
              <a:t>ad-only or 1 pod read-write</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34" name="Speech Bubble: Rectangle 33">
            <a:extLst>
              <a:ext uri="{FF2B5EF4-FFF2-40B4-BE49-F238E27FC236}">
                <a16:creationId xmlns:a16="http://schemas.microsoft.com/office/drawing/2014/main" id="{B0AB2C38-875D-4529-B4E2-AB325FBF274F}"/>
              </a:ext>
            </a:extLst>
          </p:cNvPr>
          <p:cNvSpPr/>
          <p:nvPr/>
        </p:nvSpPr>
        <p:spPr bwMode="gray">
          <a:xfrm>
            <a:off x="4308826" y="1080670"/>
            <a:ext cx="2409432" cy="1713391"/>
          </a:xfrm>
          <a:prstGeom prst="wedgeRectCallout">
            <a:avLst>
              <a:gd name="adj1" fmla="val -91903"/>
              <a:gd name="adj2" fmla="val 90799"/>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RWX</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 = </a:t>
            </a: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ReadWriteMany</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Multiple nodes can mount re</a:t>
            </a:r>
            <a:r>
              <a:rPr lang="en-US" sz="1800" kern="0" dirty="0">
                <a:ea typeface="Arial Unicode MS" pitchFamily="34" charset="-128"/>
                <a:cs typeface="Arial Unicode MS" pitchFamily="34" charset="-128"/>
              </a:rPr>
              <a:t>ad-write</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35" name="Speech Bubble: Rectangle 34">
            <a:extLst>
              <a:ext uri="{FF2B5EF4-FFF2-40B4-BE49-F238E27FC236}">
                <a16:creationId xmlns:a16="http://schemas.microsoft.com/office/drawing/2014/main" id="{C65EFBDC-DA03-4F31-A81A-C14E638769D5}"/>
              </a:ext>
            </a:extLst>
          </p:cNvPr>
          <p:cNvSpPr/>
          <p:nvPr/>
        </p:nvSpPr>
        <p:spPr bwMode="gray">
          <a:xfrm>
            <a:off x="7164280" y="5467422"/>
            <a:ext cx="2681056" cy="982692"/>
          </a:xfrm>
          <a:prstGeom prst="wedgeRectCallout">
            <a:avLst>
              <a:gd name="adj1" fmla="val 42966"/>
              <a:gd name="adj2" fmla="val -135956"/>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Storage backend has to support access modes</a:t>
            </a:r>
          </a:p>
        </p:txBody>
      </p:sp>
    </p:spTree>
    <p:extLst>
      <p:ext uri="{BB962C8B-B14F-4D97-AF65-F5344CB8AC3E}">
        <p14:creationId xmlns:p14="http://schemas.microsoft.com/office/powerpoint/2010/main" val="22412231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Demo</a:t>
            </a:r>
          </a:p>
        </p:txBody>
      </p:sp>
      <p:pic>
        <p:nvPicPr>
          <p:cNvPr id="5" name="Picture 4">
            <a:extLst>
              <a:ext uri="{FF2B5EF4-FFF2-40B4-BE49-F238E27FC236}">
                <a16:creationId xmlns:a16="http://schemas.microsoft.com/office/drawing/2014/main" id="{3B1F9752-9103-4489-B0E8-3477308D9444}"/>
              </a:ext>
            </a:extLst>
          </p:cNvPr>
          <p:cNvPicPr>
            <a:picLocks noChangeAspect="1"/>
          </p:cNvPicPr>
          <p:nvPr/>
        </p:nvPicPr>
        <p:blipFill>
          <a:blip r:embed="rId3"/>
          <a:stretch>
            <a:fillRect/>
          </a:stretch>
        </p:blipFill>
        <p:spPr>
          <a:xfrm>
            <a:off x="3645157" y="976918"/>
            <a:ext cx="4904163" cy="4904163"/>
          </a:xfrm>
          <a:prstGeom prst="rect">
            <a:avLst/>
          </a:prstGeom>
        </p:spPr>
      </p:pic>
    </p:spTree>
    <p:extLst>
      <p:ext uri="{BB962C8B-B14F-4D97-AF65-F5344CB8AC3E}">
        <p14:creationId xmlns:p14="http://schemas.microsoft.com/office/powerpoint/2010/main" val="30127070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What YOU will do in exercise #05</a:t>
            </a:r>
          </a:p>
        </p:txBody>
      </p:sp>
      <p:grpSp>
        <p:nvGrpSpPr>
          <p:cNvPr id="13" name="Group 12"/>
          <p:cNvGrpSpPr/>
          <p:nvPr/>
        </p:nvGrpSpPr>
        <p:grpSpPr>
          <a:xfrm>
            <a:off x="2674620" y="2948940"/>
            <a:ext cx="6187440" cy="1752600"/>
            <a:chOff x="2697480" y="2743200"/>
            <a:chExt cx="6187440" cy="2034540"/>
          </a:xfrm>
        </p:grpSpPr>
        <p:sp>
          <p:nvSpPr>
            <p:cNvPr id="12" name="Rectangle: Rounded Corners 11"/>
            <p:cNvSpPr/>
            <p:nvPr/>
          </p:nvSpPr>
          <p:spPr bwMode="gray">
            <a:xfrm>
              <a:off x="2697480" y="2743200"/>
              <a:ext cx="6187440" cy="2034540"/>
            </a:xfrm>
            <a:prstGeom prst="roundRect">
              <a:avLst/>
            </a:prstGeom>
            <a:ln>
              <a:headEnd/>
              <a:tailEnd/>
            </a:ln>
          </p:spPr>
          <p:style>
            <a:lnRef idx="2">
              <a:schemeClr val="accent1"/>
            </a:lnRef>
            <a:fillRef idx="1">
              <a:schemeClr val="lt1"/>
            </a:fillRef>
            <a:effectRef idx="0">
              <a:schemeClr val="accent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4" name="Rectangle 3"/>
            <p:cNvSpPr/>
            <p:nvPr/>
          </p:nvSpPr>
          <p:spPr bwMode="gray">
            <a:xfrm>
              <a:off x="2989653" y="3164976"/>
              <a:ext cx="1627931" cy="1156258"/>
            </a:xfrm>
            <a:prstGeom prst="rect">
              <a:avLst/>
            </a:prstGeom>
            <a:solidFill>
              <a:schemeClr val="bg2"/>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800" kern="0" dirty="0" err="1">
                  <a:ea typeface="Arial Unicode MS" pitchFamily="34" charset="-128"/>
                  <a:cs typeface="Arial Unicode MS" pitchFamily="34" charset="-128"/>
                </a:rPr>
                <a:t>nginx</a:t>
              </a:r>
              <a:endParaRPr lang="de-DE" sz="1800" kern="0" dirty="0">
                <a:ea typeface="Arial Unicode MS" pitchFamily="34" charset="-128"/>
                <a:cs typeface="Arial Unicode MS" pitchFamily="34" charset="-128"/>
              </a:endParaRPr>
            </a:p>
          </p:txBody>
        </p:sp>
        <p:sp>
          <p:nvSpPr>
            <p:cNvPr id="6" name="Rectangle 5"/>
            <p:cNvSpPr/>
            <p:nvPr/>
          </p:nvSpPr>
          <p:spPr bwMode="gray">
            <a:xfrm>
              <a:off x="6855115" y="3164976"/>
              <a:ext cx="1627931" cy="1156258"/>
            </a:xfrm>
            <a:prstGeom prst="rect">
              <a:avLst/>
            </a:prstGeom>
            <a:solidFill>
              <a:schemeClr val="bg2"/>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nginx</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7" name="Rectangle 6"/>
            <p:cNvSpPr/>
            <p:nvPr/>
          </p:nvSpPr>
          <p:spPr bwMode="gray">
            <a:xfrm>
              <a:off x="4922384" y="3164976"/>
              <a:ext cx="1627931" cy="1156258"/>
            </a:xfrm>
            <a:prstGeom prst="rect">
              <a:avLst/>
            </a:prstGeom>
            <a:solidFill>
              <a:schemeClr val="bg2"/>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nginx</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grpSp>
      <p:grpSp>
        <p:nvGrpSpPr>
          <p:cNvPr id="15" name="Group 14"/>
          <p:cNvGrpSpPr/>
          <p:nvPr/>
        </p:nvGrpSpPr>
        <p:grpSpPr>
          <a:xfrm>
            <a:off x="3482340" y="5176656"/>
            <a:ext cx="4572000" cy="1363980"/>
            <a:chOff x="3421380" y="5067300"/>
            <a:chExt cx="4572000" cy="1363980"/>
          </a:xfrm>
        </p:grpSpPr>
        <p:sp>
          <p:nvSpPr>
            <p:cNvPr id="14" name="Rectangle: Rounded Corners 13"/>
            <p:cNvSpPr/>
            <p:nvPr/>
          </p:nvSpPr>
          <p:spPr bwMode="gray">
            <a:xfrm>
              <a:off x="3421380" y="5067300"/>
              <a:ext cx="4572000" cy="1363980"/>
            </a:xfrm>
            <a:prstGeom prst="roundRect">
              <a:avLst/>
            </a:prstGeom>
            <a:ln>
              <a:headEnd/>
              <a:tailEnd/>
            </a:ln>
          </p:spPr>
          <p:style>
            <a:lnRef idx="2">
              <a:schemeClr val="accent1"/>
            </a:lnRef>
            <a:fillRef idx="1">
              <a:schemeClr val="lt1"/>
            </a:fillRef>
            <a:effectRef idx="0">
              <a:schemeClr val="accent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Cylinder 7"/>
            <p:cNvSpPr/>
            <p:nvPr/>
          </p:nvSpPr>
          <p:spPr bwMode="gray">
            <a:xfrm>
              <a:off x="3946888" y="5248563"/>
              <a:ext cx="998220" cy="1004248"/>
            </a:xfrm>
            <a:prstGeom prst="can">
              <a:avLst/>
            </a:prstGeom>
            <a:solidFill>
              <a:schemeClr val="accent4"/>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err="1">
                  <a:ln>
                    <a:noFill/>
                  </a:ln>
                  <a:effectLst/>
                  <a:uLnTx/>
                  <a:uFillTx/>
                  <a:ea typeface="Arial Unicode MS" pitchFamily="34" charset="-128"/>
                  <a:cs typeface="Arial Unicode MS" pitchFamily="34" charset="-128"/>
                </a:rPr>
                <a:t>content</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9" name="Cylinder 8"/>
            <p:cNvSpPr/>
            <p:nvPr/>
          </p:nvSpPr>
          <p:spPr bwMode="gray">
            <a:xfrm>
              <a:off x="5214379" y="5248563"/>
              <a:ext cx="998220" cy="1004248"/>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err="1">
                  <a:ln>
                    <a:noFill/>
                  </a:ln>
                  <a:effectLst/>
                  <a:uLnTx/>
                  <a:uFillTx/>
                  <a:ea typeface="Arial Unicode MS" pitchFamily="34" charset="-128"/>
                  <a:cs typeface="Arial Unicode MS" pitchFamily="34" charset="-128"/>
                </a:rPr>
                <a:t>config</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0" name="Cylinder 9"/>
            <p:cNvSpPr/>
            <p:nvPr/>
          </p:nvSpPr>
          <p:spPr bwMode="gray">
            <a:xfrm>
              <a:off x="6481870" y="5248563"/>
              <a:ext cx="998220" cy="1004248"/>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tls</a:t>
              </a:r>
              <a:r>
                <a:rPr lang="de-DE" sz="1800" kern="0" dirty="0">
                  <a:ea typeface="Arial Unicode MS" pitchFamily="34" charset="-128"/>
                  <a:cs typeface="Arial Unicode MS" pitchFamily="34" charset="-128"/>
                </a:rPr>
                <a:t> </a:t>
              </a:r>
              <a:r>
                <a:rPr lang="de-DE" sz="1800" kern="0" dirty="0" err="1">
                  <a:ea typeface="Arial Unicode MS" pitchFamily="34" charset="-128"/>
                  <a:cs typeface="Arial Unicode MS" pitchFamily="34" charset="-128"/>
                </a:rPr>
                <a:t>certs</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grpSp>
      <p:sp>
        <p:nvSpPr>
          <p:cNvPr id="16" name="Arrow: Up-Down 15"/>
          <p:cNvSpPr/>
          <p:nvPr/>
        </p:nvSpPr>
        <p:spPr bwMode="gray">
          <a:xfrm>
            <a:off x="5657231" y="4400550"/>
            <a:ext cx="222219" cy="845820"/>
          </a:xfrm>
          <a:prstGeom prst="upDownArrow">
            <a:avLst/>
          </a:prstGeom>
          <a:solidFill>
            <a:schemeClr val="accent4"/>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7" name="Cloud 16"/>
          <p:cNvSpPr/>
          <p:nvPr/>
        </p:nvSpPr>
        <p:spPr bwMode="gray">
          <a:xfrm>
            <a:off x="4077319" y="1126276"/>
            <a:ext cx="3382042" cy="914400"/>
          </a:xfrm>
          <a:prstGeom prst="cloud">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Arrow: Up-Down 17"/>
          <p:cNvSpPr/>
          <p:nvPr/>
        </p:nvSpPr>
        <p:spPr bwMode="gray">
          <a:xfrm>
            <a:off x="5657231" y="2071898"/>
            <a:ext cx="222219" cy="845820"/>
          </a:xfrm>
          <a:prstGeom prst="upDown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9" name="Speech Bubble: Rectangle 18">
            <a:extLst>
              <a:ext uri="{FF2B5EF4-FFF2-40B4-BE49-F238E27FC236}">
                <a16:creationId xmlns:a16="http://schemas.microsoft.com/office/drawing/2014/main" id="{E73EBB9E-26DF-49BD-95B4-828C2AA2B35A}"/>
              </a:ext>
            </a:extLst>
          </p:cNvPr>
          <p:cNvSpPr/>
          <p:nvPr/>
        </p:nvSpPr>
        <p:spPr bwMode="gray">
          <a:xfrm>
            <a:off x="384953" y="4899997"/>
            <a:ext cx="2535294" cy="915844"/>
          </a:xfrm>
          <a:prstGeom prst="wedgeRectCallout">
            <a:avLst>
              <a:gd name="adj1" fmla="val 84676"/>
              <a:gd name="adj2" fmla="val 47692"/>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Add persistent storage to your pods</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40855814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spd="med"/>
</p:sld>
</file>

<file path=ppt/theme/theme1.xml><?xml version="1.0" encoding="utf-8"?>
<a:theme xmlns:a="http://schemas.openxmlformats.org/drawingml/2006/main" name="SAP_2017_16x9_black">
  <a:themeElements>
    <a:clrScheme name="SAP_colors_2017">
      <a:dk1>
        <a:srgbClr val="000000"/>
      </a:dk1>
      <a:lt1>
        <a:srgbClr val="FFFFFF"/>
      </a:lt1>
      <a:dk2>
        <a:srgbClr val="CCCCCC"/>
      </a:dk2>
      <a:lt2>
        <a:srgbClr val="999999"/>
      </a:lt2>
      <a:accent1>
        <a:srgbClr val="F0AB00"/>
      </a:accent1>
      <a:accent2>
        <a:srgbClr val="666666"/>
      </a:accent2>
      <a:accent3>
        <a:srgbClr val="008FD3"/>
      </a:accent3>
      <a:accent4>
        <a:srgbClr val="4FB81C"/>
      </a:accent4>
      <a:accent5>
        <a:srgbClr val="E35500"/>
      </a:accent5>
      <a:accent6>
        <a:srgbClr val="970A82"/>
      </a:accent6>
      <a:hlink>
        <a:srgbClr val="008FD3"/>
      </a:hlink>
      <a:folHlink>
        <a:srgbClr val="008FD3"/>
      </a:folHlink>
    </a:clrScheme>
    <a:fontScheme name="SAP Fonts">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9525">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ct val="500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7_16x9_black.potx" id="{9488014F-4BF2-4B73-9741-6D40B78C18AF}" vid="{315AB80D-2AE3-4555-B7D1-B9C512524916}"/>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2123</Words>
  <Application>Microsoft Macintosh PowerPoint</Application>
  <PresentationFormat>Benutzerdefiniert</PresentationFormat>
  <Paragraphs>299</Paragraphs>
  <Slides>21</Slides>
  <Notes>20</Notes>
  <HiddenSlides>1</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21</vt:i4>
      </vt:variant>
    </vt:vector>
  </HeadingPairs>
  <TitlesOfParts>
    <vt:vector size="27" baseType="lpstr">
      <vt:lpstr>Arial</vt:lpstr>
      <vt:lpstr>Courier New</vt:lpstr>
      <vt:lpstr>Symbol</vt:lpstr>
      <vt:lpstr>Wingdings</vt:lpstr>
      <vt:lpstr>Wingdings</vt:lpstr>
      <vt:lpstr>SAP_2017_16x9_black</vt:lpstr>
      <vt:lpstr>PowerPoint-Präsentation</vt:lpstr>
      <vt:lpstr>What‘s the issue? </vt:lpstr>
      <vt:lpstr>Technically, it’s still about containers …</vt:lpstr>
      <vt:lpstr>How to solve it on K8s level?</vt:lpstr>
      <vt:lpstr>What happens in the background …</vt:lpstr>
      <vt:lpstr>Volumes &amp; VolumeMounts</vt:lpstr>
      <vt:lpstr>What features should the storage interface have?</vt:lpstr>
      <vt:lpstr>Storage with PersistentVolumes &amp; PersistentVolumeClaims</vt:lpstr>
      <vt:lpstr>Storage with PersistentVolumes &amp; PersistentVolumeClaims</vt:lpstr>
      <vt:lpstr>Storage Classes</vt:lpstr>
      <vt:lpstr>            CSI</vt:lpstr>
      <vt:lpstr>            CSI</vt:lpstr>
      <vt:lpstr>PV/PVC lifecycle</vt:lpstr>
      <vt:lpstr>Access Modes</vt:lpstr>
      <vt:lpstr>Access Modes</vt:lpstr>
      <vt:lpstr>What could possibly go wrong …</vt:lpstr>
      <vt:lpstr>Access Modes</vt:lpstr>
      <vt:lpstr>Access Modes</vt:lpstr>
      <vt:lpstr>Demo</vt:lpstr>
      <vt:lpstr>What YOU will do in exercise #05</vt:lpstr>
      <vt:lpstr>PowerPoint-Präsentation</vt:lpstr>
    </vt:vector>
  </TitlesOfParts>
  <Company>SAP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 PPT Template</dc:title>
  <dc:creator>SAP SE</dc:creator>
  <cp:keywords>2017/16:9/black</cp:keywords>
  <cp:lastModifiedBy>Kahl, Hendrik</cp:lastModifiedBy>
  <cp:revision>582</cp:revision>
  <dcterms:created xsi:type="dcterms:W3CDTF">2015-10-14T11:21:43Z</dcterms:created>
  <dcterms:modified xsi:type="dcterms:W3CDTF">2023-09-21T11:27:32Z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1101452479</vt:i4>
  </property>
  <property fmtid="{D5CDD505-2E9C-101B-9397-08002B2CF9AE}" pid="3" name="_NewReviewCycle">
    <vt:lpwstr/>
  </property>
  <property fmtid="{D5CDD505-2E9C-101B-9397-08002B2CF9AE}" pid="4" name="_EmailSubject">
    <vt:lpwstr>SAP - PPT Exploration (Updated)</vt:lpwstr>
  </property>
  <property fmtid="{D5CDD505-2E9C-101B-9397-08002B2CF9AE}" pid="5" name="_AuthorEmail">
    <vt:lpwstr>heidi.bitz@sap.com</vt:lpwstr>
  </property>
  <property fmtid="{D5CDD505-2E9C-101B-9397-08002B2CF9AE}" pid="6" name="_AuthorEmailDisplayName">
    <vt:lpwstr>Bitz, Heidi</vt:lpwstr>
  </property>
  <property fmtid="{D5CDD505-2E9C-101B-9397-08002B2CF9AE}" pid="7" name="_PreviousAdHocReviewCycleID">
    <vt:i4>1357826825</vt:i4>
  </property>
</Properties>
</file>