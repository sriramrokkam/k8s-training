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3"/>
  </p:notesMasterIdLst>
  <p:handoutMasterIdLst>
    <p:handoutMasterId r:id="rId24"/>
  </p:handoutMasterIdLst>
  <p:sldIdLst>
    <p:sldId id="433" r:id="rId2"/>
    <p:sldId id="442" r:id="rId3"/>
    <p:sldId id="439" r:id="rId4"/>
    <p:sldId id="444" r:id="rId5"/>
    <p:sldId id="449" r:id="rId6"/>
    <p:sldId id="462" r:id="rId7"/>
    <p:sldId id="456" r:id="rId8"/>
    <p:sldId id="450" r:id="rId9"/>
    <p:sldId id="460" r:id="rId10"/>
    <p:sldId id="451" r:id="rId11"/>
    <p:sldId id="446" r:id="rId12"/>
    <p:sldId id="447" r:id="rId13"/>
    <p:sldId id="466" r:id="rId14"/>
    <p:sldId id="458" r:id="rId15"/>
    <p:sldId id="464" r:id="rId16"/>
    <p:sldId id="463" r:id="rId17"/>
    <p:sldId id="465" r:id="rId18"/>
    <p:sldId id="461" r:id="rId19"/>
    <p:sldId id="459" r:id="rId20"/>
    <p:sldId id="455" r:id="rId21"/>
    <p:sldId id="265" r:id="rId22"/>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3"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F1D0"/>
    <a:srgbClr val="0F46A7"/>
    <a:srgbClr val="970A82"/>
    <a:srgbClr val="FF3399"/>
    <a:srgbClr val="FF0000"/>
    <a:srgbClr val="FFFFFF"/>
    <a:srgbClr val="FEE3A1"/>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40" autoAdjust="0"/>
    <p:restoredTop sz="73684" autoAdjust="0"/>
  </p:normalViewPr>
  <p:slideViewPr>
    <p:cSldViewPr snapToGrid="0" showGuides="1">
      <p:cViewPr varScale="1">
        <p:scale>
          <a:sx n="96" d="100"/>
          <a:sy n="96" d="100"/>
        </p:scale>
        <p:origin x="1530" y="78"/>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Pods provide only ephemeral storage. When a pod is killed, all data is gone. This section is all about the creation &amp; usage of storage in the context of Kubernetes.</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2</a:t>
            </a:fld>
            <a:endParaRPr lang="en-US" dirty="0"/>
          </a:p>
        </p:txBody>
      </p:sp>
    </p:spTree>
    <p:extLst>
      <p:ext uri="{BB962C8B-B14F-4D97-AF65-F5344CB8AC3E}">
        <p14:creationId xmlns:p14="http://schemas.microsoft.com/office/powerpoint/2010/main" val="561089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solve the problem of ephemeral container storage, a file system of the underlying host can be bind-mounted into a container.</a:t>
            </a:r>
          </a:p>
          <a:p>
            <a:endParaRPr lang="en-US" dirty="0"/>
          </a:p>
          <a:p>
            <a:r>
              <a:rPr lang="en-US" dirty="0"/>
              <a:t>Whether this is a local or remote file system, does not matter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3848341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AutoNum type="arabicPeriod"/>
            </a:pPr>
            <a:r>
              <a:rPr lang="en-US" dirty="0"/>
              <a:t>Add the reference to the storage to the pod definition in </a:t>
            </a:r>
            <a:r>
              <a:rPr lang="en-US" dirty="0" err="1"/>
              <a:t>spec.volumes</a:t>
            </a:r>
            <a:endParaRPr lang="en-US" dirty="0"/>
          </a:p>
          <a:p>
            <a:pPr marL="342900" indent="-342900">
              <a:buAutoNum type="arabicPeriod"/>
            </a:pPr>
            <a:r>
              <a:rPr lang="en-US" dirty="0"/>
              <a:t>Refer to the </a:t>
            </a:r>
            <a:r>
              <a:rPr lang="en-US" dirty="0" err="1"/>
              <a:t>spec.volumes</a:t>
            </a:r>
            <a:r>
              <a:rPr lang="en-US" dirty="0"/>
              <a:t> entries in the container spec and define to which location the bind-mount should point. If the container places data at /</a:t>
            </a:r>
            <a:r>
              <a:rPr lang="en-US" dirty="0" err="1"/>
              <a:t>mnt</a:t>
            </a:r>
            <a:r>
              <a:rPr lang="en-US" dirty="0"/>
              <a:t>/, it will be persisted on the actual storage</a:t>
            </a:r>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22252897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use persistent storage within a container, firstly you need to make it available to the pod. </a:t>
            </a:r>
          </a:p>
          <a:p>
            <a:r>
              <a:rPr lang="en-US" dirty="0"/>
              <a:t>This is done by specifying a volume object on </a:t>
            </a:r>
            <a:r>
              <a:rPr lang="en-US" dirty="0" err="1"/>
              <a:t>PodSpec</a:t>
            </a:r>
            <a:r>
              <a:rPr lang="en-US" dirty="0"/>
              <a:t> level. </a:t>
            </a:r>
          </a:p>
          <a:p>
            <a:endParaRPr lang="en-US" dirty="0"/>
          </a:p>
          <a:p>
            <a:r>
              <a:rPr lang="en-US" dirty="0"/>
              <a:t>A volume could link to a </a:t>
            </a:r>
            <a:r>
              <a:rPr lang="en-US" b="1" dirty="0"/>
              <a:t>NFS share</a:t>
            </a:r>
            <a:r>
              <a:rPr lang="en-US" dirty="0"/>
              <a:t>, some local storage cluster like </a:t>
            </a:r>
            <a:r>
              <a:rPr lang="en-US" b="1" dirty="0" err="1"/>
              <a:t>ceph</a:t>
            </a:r>
            <a:r>
              <a:rPr lang="en-US" dirty="0"/>
              <a:t> or </a:t>
            </a:r>
            <a:r>
              <a:rPr lang="en-US" b="1" dirty="0" err="1"/>
              <a:t>glusterfs</a:t>
            </a:r>
            <a:r>
              <a:rPr lang="en-US" dirty="0"/>
              <a:t> or even access the </a:t>
            </a:r>
            <a:r>
              <a:rPr lang="en-US" b="1" dirty="0"/>
              <a:t>storage provided by</a:t>
            </a:r>
            <a:r>
              <a:rPr lang="en-US" dirty="0"/>
              <a:t> cloud platforms </a:t>
            </a:r>
            <a:br>
              <a:rPr lang="en-US" dirty="0"/>
            </a:br>
            <a:r>
              <a:rPr lang="en-US" dirty="0"/>
              <a:t>like </a:t>
            </a:r>
            <a:r>
              <a:rPr lang="en-US" b="1" dirty="0"/>
              <a:t>GCP</a:t>
            </a:r>
            <a:r>
              <a:rPr lang="en-US" dirty="0"/>
              <a:t>, </a:t>
            </a:r>
            <a:r>
              <a:rPr lang="en-US" b="1" dirty="0"/>
              <a:t>AWS</a:t>
            </a:r>
            <a:r>
              <a:rPr lang="en-US" dirty="0"/>
              <a:t> or </a:t>
            </a:r>
            <a:r>
              <a:rPr lang="en-US" b="1" dirty="0"/>
              <a:t>Azure</a:t>
            </a:r>
            <a:r>
              <a:rPr lang="en-US" dirty="0"/>
              <a:t>. </a:t>
            </a:r>
          </a:p>
          <a:p>
            <a:endParaRPr lang="en-US" dirty="0"/>
          </a:p>
          <a:p>
            <a:r>
              <a:rPr lang="en-US" dirty="0"/>
              <a:t>It is also possible to share storage that is part of a cluster node itself (</a:t>
            </a:r>
            <a:r>
              <a:rPr lang="en-US" b="1" dirty="0" err="1"/>
              <a:t>hostPath</a:t>
            </a:r>
            <a:r>
              <a:rPr lang="en-US" dirty="0"/>
              <a:t>). However this is quite dangerous as you need to ensure this storage is available (incl. content) on every single cluster node.</a:t>
            </a:r>
          </a:p>
          <a:p>
            <a:endParaRPr lang="en-US" dirty="0"/>
          </a:p>
          <a:p>
            <a:r>
              <a:rPr lang="en-US" dirty="0"/>
              <a:t>In addition there are other special volume types:</a:t>
            </a:r>
          </a:p>
          <a:p>
            <a:pPr marL="285750" indent="-285750">
              <a:buFontTx/>
              <a:buChar char="-"/>
            </a:pPr>
            <a:r>
              <a:rPr lang="en-US" b="1" dirty="0" err="1"/>
              <a:t>emptyDir</a:t>
            </a:r>
            <a:r>
              <a:rPr lang="en-US" dirty="0"/>
              <a:t>: temporary storage, usually to cache or test something. Its lifecycle is bound to the pod and therefore data is ephemeral as well</a:t>
            </a:r>
          </a:p>
          <a:p>
            <a:pPr marL="285750" indent="-285750">
              <a:buFontTx/>
              <a:buChar char="-"/>
            </a:pPr>
            <a:r>
              <a:rPr lang="en-US" b="1" dirty="0"/>
              <a:t>Secret</a:t>
            </a:r>
            <a:r>
              <a:rPr lang="en-US" dirty="0"/>
              <a:t> &amp; </a:t>
            </a:r>
            <a:r>
              <a:rPr lang="en-US" b="1" dirty="0" err="1"/>
              <a:t>configMap</a:t>
            </a:r>
            <a:r>
              <a:rPr lang="en-US" dirty="0" err="1"/>
              <a:t>s</a:t>
            </a:r>
            <a:r>
              <a:rPr lang="en-US" dirty="0"/>
              <a:t>: hold confidential or configuration data and are accessed also via the volumes interface.</a:t>
            </a:r>
          </a:p>
        </p:txBody>
      </p:sp>
      <p:sp>
        <p:nvSpPr>
          <p:cNvPr id="4" name="Slide Number Placeholder 3"/>
          <p:cNvSpPr>
            <a:spLocks noGrp="1"/>
          </p:cNvSpPr>
          <p:nvPr>
            <p:ph type="sldNum" sz="quarter" idx="10"/>
          </p:nvPr>
        </p:nvSpPr>
        <p:spPr/>
        <p:txBody>
          <a:bodyPr/>
          <a:lstStyle/>
          <a:p>
            <a:fld id="{7D8C2C35-2B8A-446E-BEC0-FD36716C29AC}" type="slidenum">
              <a:rPr lang="en-US" smtClean="0"/>
              <a:pPr/>
              <a:t>5</a:t>
            </a:fld>
            <a:endParaRPr lang="en-US" dirty="0"/>
          </a:p>
        </p:txBody>
      </p:sp>
    </p:spTree>
    <p:extLst>
      <p:ext uri="{BB962C8B-B14F-4D97-AF65-F5344CB8AC3E}">
        <p14:creationId xmlns:p14="http://schemas.microsoft.com/office/powerpoint/2010/main" val="1151262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1282855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Drawbacks:</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Maintain credentials to access storage within the pod</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Have dependencies to infrastructure already at pod level</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Hard to manage data lifecycle </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Does it scale with the number of pods?</a:t>
            </a:r>
          </a:p>
          <a:p>
            <a:pPr marL="0" marR="0" lvl="0" indent="0" algn="l" defTabSz="1088776" rtl="0" eaLnBrk="1" fontAlgn="auto" latinLnBrk="0" hangingPunct="1">
              <a:lnSpc>
                <a:spcPct val="100000"/>
              </a:lnSpc>
              <a:spcBef>
                <a:spcPts val="0"/>
              </a:spcBef>
              <a:spcAft>
                <a:spcPts val="0"/>
              </a:spcAft>
              <a:buClrTx/>
              <a:buSzTx/>
              <a:buFontTx/>
              <a:buNone/>
              <a:tabLst/>
              <a:defRPr/>
            </a:pPr>
            <a:endParaRPr lang="en-US"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There are several ways of adding storage. Of course you can attach storage directly as a so called volume. However there might be drawbacks doing so. Hence we introduce a different way involving another abstraction layer.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32091802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de-DE" sz="1400" b="0" i="0" kern="1200" dirty="0">
                <a:solidFill>
                  <a:schemeClr val="tx1"/>
                </a:solidFill>
                <a:effectLst/>
                <a:latin typeface="+mn-lt"/>
                <a:ea typeface="+mn-ea"/>
                <a:cs typeface="+mn-cs"/>
              </a:rPr>
              <a:t>Managing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distinct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problem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from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managing</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compute</a:t>
            </a:r>
            <a:r>
              <a:rPr lang="de-DE" sz="1400" b="0" i="0" kern="1200" dirty="0">
                <a:solidFill>
                  <a:schemeClr val="tx1"/>
                </a:solidFill>
                <a:effectLst/>
                <a:latin typeface="+mn-lt"/>
                <a:ea typeface="+mn-ea"/>
                <a:cs typeface="+mn-cs"/>
              </a:rPr>
              <a:t>. The </a:t>
            </a:r>
            <a:r>
              <a:rPr lang="de-DE" sz="1400" b="0" i="0" kern="1200" dirty="0" err="1">
                <a:solidFill>
                  <a:schemeClr val="tx1"/>
                </a:solidFill>
                <a:effectLst/>
                <a:latin typeface="+mn-lt"/>
                <a:ea typeface="+mn-ea"/>
                <a:cs typeface="+mn-cs"/>
              </a:rPr>
              <a:t>PersistentVolume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subsystem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provides</a:t>
            </a:r>
            <a:r>
              <a:rPr lang="de-DE" sz="1400" b="0" i="0" kern="1200" dirty="0">
                <a:solidFill>
                  <a:schemeClr val="tx1"/>
                </a:solidFill>
                <a:effectLst/>
                <a:latin typeface="+mn-lt"/>
                <a:ea typeface="+mn-ea"/>
                <a:cs typeface="+mn-cs"/>
              </a:rPr>
              <a:t> an API </a:t>
            </a:r>
            <a:r>
              <a:rPr lang="de-DE" sz="1400" b="0" i="0" kern="1200" dirty="0" err="1">
                <a:solidFill>
                  <a:schemeClr val="tx1"/>
                </a:solidFill>
                <a:effectLst/>
                <a:latin typeface="+mn-lt"/>
                <a:ea typeface="+mn-ea"/>
                <a:cs typeface="+mn-cs"/>
              </a:rPr>
              <a:t>for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users</a:t>
            </a:r>
            <a:r>
              <a:rPr lang="de-DE" sz="1400" b="0" i="0" kern="1200" dirty="0">
                <a:solidFill>
                  <a:schemeClr val="tx1"/>
                </a:solidFill>
                <a:effectLst/>
                <a:latin typeface="+mn-lt"/>
                <a:ea typeface="+mn-ea"/>
                <a:cs typeface="+mn-cs"/>
              </a:rPr>
              <a:t> and </a:t>
            </a:r>
            <a:r>
              <a:rPr lang="de-DE" sz="1400" b="0" i="0" kern="1200" dirty="0" err="1">
                <a:solidFill>
                  <a:schemeClr val="tx1"/>
                </a:solidFill>
                <a:effectLst/>
                <a:latin typeface="+mn-lt"/>
                <a:ea typeface="+mn-ea"/>
                <a:cs typeface="+mn-cs"/>
              </a:rPr>
              <a:t>administrators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abstracts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details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how</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provided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from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how</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consumed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To</a:t>
            </a:r>
            <a:r>
              <a:rPr lang="de-DE" sz="1400" b="0" i="0" kern="1200" dirty="0">
                <a:solidFill>
                  <a:schemeClr val="tx1"/>
                </a:solidFill>
                <a:effectLst/>
                <a:latin typeface="+mn-lt"/>
                <a:ea typeface="+mn-ea"/>
                <a:cs typeface="+mn-cs"/>
              </a:rPr>
              <a:t> do </a:t>
            </a:r>
            <a:r>
              <a:rPr lang="de-DE" sz="1400" b="0" i="0" kern="1200" dirty="0" err="1">
                <a:solidFill>
                  <a:schemeClr val="tx1"/>
                </a:solidFill>
                <a:effectLst/>
                <a:latin typeface="+mn-lt"/>
                <a:ea typeface="+mn-ea"/>
                <a:cs typeface="+mn-cs"/>
              </a:rPr>
              <a:t>this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we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introduce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two</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new</a:t>
            </a:r>
            <a:r>
              <a:rPr lang="de-DE" sz="1400" b="0" i="0" kern="1200" dirty="0">
                <a:solidFill>
                  <a:schemeClr val="tx1"/>
                </a:solidFill>
                <a:effectLst/>
                <a:latin typeface="+mn-lt"/>
                <a:ea typeface="+mn-ea"/>
                <a:cs typeface="+mn-cs"/>
              </a:rPr>
              <a:t> API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a:t>
            </a:r>
            <a:r>
              <a:rPr lang="de-DE" sz="1400" b="1" i="0" kern="1200" dirty="0" err="1">
                <a:solidFill>
                  <a:schemeClr val="tx1"/>
                </a:solidFill>
                <a:effectLst/>
                <a:latin typeface="+mn-lt"/>
                <a:ea typeface="+mn-ea"/>
                <a:cs typeface="+mn-cs"/>
              </a:rPr>
              <a:t>PersistentVolume</a:t>
            </a:r>
            <a:r>
              <a:rPr lang="de-DE" sz="1400" b="0" i="0" kern="1200" dirty="0">
                <a:solidFill>
                  <a:schemeClr val="tx1"/>
                </a:solidFill>
                <a:effectLst/>
                <a:latin typeface="+mn-lt"/>
                <a:ea typeface="+mn-ea"/>
                <a:cs typeface="+mn-cs"/>
              </a:rPr>
              <a:t> and </a:t>
            </a:r>
            <a:r>
              <a:rPr lang="de-DE" sz="1400" b="1" i="0" kern="1200" dirty="0" err="1">
                <a:solidFill>
                  <a:schemeClr val="tx1"/>
                </a:solidFill>
                <a:effectLst/>
                <a:latin typeface="+mn-lt"/>
                <a:ea typeface="+mn-ea"/>
                <a:cs typeface="+mn-cs"/>
              </a:rPr>
              <a:t>PersistentVolumeClaim</a:t>
            </a:r>
            <a:r>
              <a:rPr lang="de-DE" sz="1400" b="0" i="0" kern="1200" dirty="0">
                <a:solidFill>
                  <a:schemeClr val="tx1"/>
                </a:solidFill>
                <a:effectLst/>
                <a:latin typeface="+mn-lt"/>
                <a:ea typeface="+mn-ea"/>
                <a:cs typeface="+mn-cs"/>
              </a:rPr>
              <a:t>.</a:t>
            </a:r>
          </a:p>
          <a:p>
            <a:endParaRPr lang="de-DE" sz="1400" b="0" i="0" kern="1200" dirty="0">
              <a:solidFill>
                <a:schemeClr val="tx1"/>
              </a:solidFill>
              <a:effectLst/>
              <a:latin typeface="+mn-lt"/>
              <a:ea typeface="+mn-ea"/>
              <a:cs typeface="+mn-cs"/>
            </a:endParaRPr>
          </a:p>
          <a:p>
            <a:r>
              <a:rPr lang="de-DE" sz="1400" b="0" i="0" kern="1200" dirty="0">
                <a:solidFill>
                  <a:schemeClr val="tx1"/>
                </a:solidFill>
                <a:effectLst/>
                <a:latin typeface="+mn-lt"/>
                <a:ea typeface="+mn-ea"/>
                <a:cs typeface="+mn-cs"/>
              </a:rPr>
              <a:t>A </a:t>
            </a:r>
            <a:r>
              <a:rPr lang="de-DE" sz="1400" b="1" i="0" kern="1200" dirty="0" err="1">
                <a:solidFill>
                  <a:schemeClr val="tx1"/>
                </a:solidFill>
                <a:effectLst/>
                <a:latin typeface="+mn-lt"/>
                <a:ea typeface="+mn-ea"/>
                <a:cs typeface="+mn-cs"/>
              </a:rPr>
              <a:t>PersistentVolume</a:t>
            </a:r>
            <a:r>
              <a:rPr lang="de-DE" sz="1400" b="0" i="0" kern="1200" dirty="0">
                <a:solidFill>
                  <a:schemeClr val="tx1"/>
                </a:solidFill>
                <a:effectLst/>
                <a:latin typeface="+mn-lt"/>
                <a:ea typeface="+mn-ea"/>
                <a:cs typeface="+mn-cs"/>
              </a:rPr>
              <a:t> (PV)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piece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in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cluster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has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been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provisioned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by</a:t>
            </a:r>
            <a:r>
              <a:rPr lang="de-DE" sz="1400" b="0" i="0" kern="1200" dirty="0">
                <a:solidFill>
                  <a:schemeClr val="tx1"/>
                </a:solidFill>
                <a:effectLst/>
                <a:latin typeface="+mn-lt"/>
                <a:ea typeface="+mn-ea"/>
                <a:cs typeface="+mn-cs"/>
              </a:rPr>
              <a:t> an </a:t>
            </a:r>
            <a:r>
              <a:rPr lang="de-DE" sz="1400" b="0" i="0" kern="1200" dirty="0" err="1">
                <a:solidFill>
                  <a:schemeClr val="tx1"/>
                </a:solidFill>
                <a:effectLst/>
                <a:latin typeface="+mn-lt"/>
                <a:ea typeface="+mn-ea"/>
                <a:cs typeface="+mn-cs"/>
              </a:rPr>
              <a:t>administrator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resource</a:t>
            </a:r>
            <a:r>
              <a:rPr lang="de-DE" sz="1400" b="0" i="0" kern="1200" dirty="0">
                <a:solidFill>
                  <a:schemeClr val="tx1"/>
                </a:solidFill>
                <a:effectLst/>
                <a:latin typeface="+mn-lt"/>
                <a:ea typeface="+mn-ea"/>
                <a:cs typeface="+mn-cs"/>
              </a:rPr>
              <a:t> in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cluster</a:t>
            </a:r>
            <a:r>
              <a:rPr lang="de-DE" sz="1400" b="0" i="0" kern="1200" dirty="0">
                <a:solidFill>
                  <a:schemeClr val="tx1"/>
                </a:solidFill>
                <a:effectLst/>
                <a:latin typeface="+mn-lt"/>
                <a:ea typeface="+mn-ea"/>
                <a:cs typeface="+mn-cs"/>
              </a:rPr>
              <a:t> just like a </a:t>
            </a:r>
            <a:r>
              <a:rPr lang="de-DE" sz="1400" b="0" i="0" kern="1200" dirty="0" err="1">
                <a:solidFill>
                  <a:schemeClr val="tx1"/>
                </a:solidFill>
                <a:effectLst/>
                <a:latin typeface="+mn-lt"/>
                <a:ea typeface="+mn-ea"/>
                <a:cs typeface="+mn-cs"/>
              </a:rPr>
              <a:t>node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cluster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resource</a:t>
            </a:r>
            <a:r>
              <a:rPr lang="de-DE" sz="1400" b="0" i="0" kern="1200" dirty="0">
                <a:solidFill>
                  <a:schemeClr val="tx1"/>
                </a:solidFill>
                <a:effectLst/>
                <a:latin typeface="+mn-lt"/>
                <a:ea typeface="+mn-ea"/>
                <a:cs typeface="+mn-cs"/>
              </a:rPr>
              <a:t>. PVs </a:t>
            </a:r>
            <a:r>
              <a:rPr lang="de-DE" sz="1400" b="0" i="0" kern="1200" dirty="0" err="1">
                <a:solidFill>
                  <a:schemeClr val="tx1"/>
                </a:solidFill>
                <a:effectLst/>
                <a:latin typeface="+mn-lt"/>
                <a:ea typeface="+mn-ea"/>
                <a:cs typeface="+mn-cs"/>
              </a:rPr>
              <a:t>are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volume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plugins</a:t>
            </a:r>
            <a:r>
              <a:rPr lang="de-DE" sz="1400" b="0" i="0" kern="1200" dirty="0">
                <a:solidFill>
                  <a:schemeClr val="tx1"/>
                </a:solidFill>
                <a:effectLst/>
                <a:latin typeface="+mn-lt"/>
                <a:ea typeface="+mn-ea"/>
                <a:cs typeface="+mn-cs"/>
              </a:rPr>
              <a:t> like </a:t>
            </a:r>
            <a:r>
              <a:rPr lang="de-DE" sz="1400" b="0" i="0" kern="1200" dirty="0" err="1">
                <a:solidFill>
                  <a:schemeClr val="tx1"/>
                </a:solidFill>
                <a:effectLst/>
                <a:latin typeface="+mn-lt"/>
                <a:ea typeface="+mn-ea"/>
                <a:cs typeface="+mn-cs"/>
              </a:rPr>
              <a:t>Volumes</a:t>
            </a:r>
            <a:r>
              <a:rPr lang="de-DE" sz="1400" b="0" i="0" kern="1200" dirty="0">
                <a:solidFill>
                  <a:schemeClr val="tx1"/>
                </a:solidFill>
                <a:effectLst/>
                <a:latin typeface="+mn-lt"/>
                <a:ea typeface="+mn-ea"/>
                <a:cs typeface="+mn-cs"/>
              </a:rPr>
              <a:t>, but </a:t>
            </a:r>
            <a:r>
              <a:rPr lang="de-DE" sz="1400" b="0" i="0" kern="1200" dirty="0" err="1">
                <a:solidFill>
                  <a:schemeClr val="tx1"/>
                </a:solidFill>
                <a:effectLst/>
                <a:latin typeface="+mn-lt"/>
                <a:ea typeface="+mn-ea"/>
                <a:cs typeface="+mn-cs"/>
              </a:rPr>
              <a:t>have</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lifecycle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independent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any</a:t>
            </a:r>
            <a:r>
              <a:rPr lang="de-DE" sz="1400" b="0" i="0" kern="1200" dirty="0">
                <a:solidFill>
                  <a:schemeClr val="tx1"/>
                </a:solidFill>
                <a:effectLst/>
                <a:latin typeface="+mn-lt"/>
                <a:ea typeface="+mn-ea"/>
                <a:cs typeface="+mn-cs"/>
              </a:rPr>
              <a:t> individual </a:t>
            </a:r>
            <a:r>
              <a:rPr lang="de-DE" sz="1400" b="0" i="0" kern="1200" dirty="0" err="1">
                <a:solidFill>
                  <a:schemeClr val="tx1"/>
                </a:solidFill>
                <a:effectLst/>
                <a:latin typeface="+mn-lt"/>
                <a:ea typeface="+mn-ea"/>
                <a:cs typeface="+mn-cs"/>
              </a:rPr>
              <a:t>pod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PV. This API </a:t>
            </a:r>
            <a:r>
              <a:rPr lang="de-DE" sz="1400" b="0" i="0" kern="1200" dirty="0" err="1">
                <a:solidFill>
                  <a:schemeClr val="tx1"/>
                </a:solidFill>
                <a:effectLst/>
                <a:latin typeface="+mn-lt"/>
                <a:ea typeface="+mn-ea"/>
                <a:cs typeface="+mn-cs"/>
              </a:rPr>
              <a:t>object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captures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details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implementation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NFS, </a:t>
            </a:r>
            <a:r>
              <a:rPr lang="de-DE" sz="1400" b="0" i="0" kern="1200" dirty="0" err="1">
                <a:solidFill>
                  <a:schemeClr val="tx1"/>
                </a:solidFill>
                <a:effectLst/>
                <a:latin typeface="+mn-lt"/>
                <a:ea typeface="+mn-ea"/>
                <a:cs typeface="+mn-cs"/>
              </a:rPr>
              <a:t>iSCSI</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or</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cloud</a:t>
            </a:r>
            <a:r>
              <a:rPr lang="de-DE" sz="1400" b="0" i="0" kern="1200" dirty="0">
                <a:solidFill>
                  <a:schemeClr val="tx1"/>
                </a:solidFill>
                <a:effectLst/>
                <a:latin typeface="+mn-lt"/>
                <a:ea typeface="+mn-ea"/>
                <a:cs typeface="+mn-cs"/>
              </a:rPr>
              <a:t>-provider-</a:t>
            </a:r>
            <a:r>
              <a:rPr lang="de-DE" sz="1400" b="0" i="0" kern="1200" dirty="0" err="1">
                <a:solidFill>
                  <a:schemeClr val="tx1"/>
                </a:solidFill>
                <a:effectLst/>
                <a:latin typeface="+mn-lt"/>
                <a:ea typeface="+mn-ea"/>
                <a:cs typeface="+mn-cs"/>
              </a:rPr>
              <a:t>specific</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system</a:t>
            </a:r>
            <a:r>
              <a:rPr lang="de-DE" sz="1400" b="0" i="0" kern="1200" dirty="0">
                <a:solidFill>
                  <a:schemeClr val="tx1"/>
                </a:solidFill>
                <a:effectLst/>
                <a:latin typeface="+mn-lt"/>
                <a:ea typeface="+mn-ea"/>
                <a:cs typeface="+mn-cs"/>
              </a:rPr>
              <a:t>.</a:t>
            </a:r>
          </a:p>
          <a:p>
            <a:endParaRPr lang="de-DE" sz="1400" b="0" i="0" kern="1200" dirty="0">
              <a:solidFill>
                <a:schemeClr val="tx1"/>
              </a:solidFill>
              <a:effectLst/>
              <a:latin typeface="+mn-lt"/>
              <a:ea typeface="+mn-ea"/>
              <a:cs typeface="+mn-cs"/>
            </a:endParaRPr>
          </a:p>
          <a:p>
            <a:r>
              <a:rPr lang="de-DE" sz="1400" b="0" i="0" kern="1200" dirty="0">
                <a:solidFill>
                  <a:schemeClr val="tx1"/>
                </a:solidFill>
                <a:effectLst/>
                <a:latin typeface="+mn-lt"/>
                <a:ea typeface="+mn-ea"/>
                <a:cs typeface="+mn-cs"/>
              </a:rPr>
              <a:t>A </a:t>
            </a:r>
            <a:r>
              <a:rPr lang="de-DE" sz="1400" b="1" i="0" kern="1200" dirty="0" err="1">
                <a:solidFill>
                  <a:schemeClr val="tx1"/>
                </a:solidFill>
                <a:effectLst/>
                <a:latin typeface="+mn-lt"/>
                <a:ea typeface="+mn-ea"/>
                <a:cs typeface="+mn-cs"/>
              </a:rPr>
              <a:t>PersistentVolumeClaim</a:t>
            </a:r>
            <a:r>
              <a:rPr lang="de-DE" sz="1400" b="0" i="0" kern="1200" dirty="0">
                <a:solidFill>
                  <a:schemeClr val="tx1"/>
                </a:solidFill>
                <a:effectLst/>
                <a:latin typeface="+mn-lt"/>
                <a:ea typeface="+mn-ea"/>
                <a:cs typeface="+mn-cs"/>
              </a:rPr>
              <a:t> (PVC)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request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by</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user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similar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to</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pod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Pods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consume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node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and PVCs </a:t>
            </a:r>
            <a:r>
              <a:rPr lang="de-DE" sz="1400" b="0" i="0" kern="1200" dirty="0" err="1">
                <a:solidFill>
                  <a:schemeClr val="tx1"/>
                </a:solidFill>
                <a:effectLst/>
                <a:latin typeface="+mn-lt"/>
                <a:ea typeface="+mn-ea"/>
                <a:cs typeface="+mn-cs"/>
              </a:rPr>
              <a:t>consume</a:t>
            </a:r>
            <a:r>
              <a:rPr lang="de-DE" sz="1400" b="0" i="0" kern="1200" dirty="0">
                <a:solidFill>
                  <a:schemeClr val="tx1"/>
                </a:solidFill>
                <a:effectLst/>
                <a:latin typeface="+mn-lt"/>
                <a:ea typeface="+mn-ea"/>
                <a:cs typeface="+mn-cs"/>
              </a:rPr>
              <a:t> PV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Pods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request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specific</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levels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(CPU and Memory). Claims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request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specific</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size</a:t>
            </a:r>
            <a:r>
              <a:rPr lang="de-DE" sz="1400" b="0" i="0" kern="1200" dirty="0">
                <a:solidFill>
                  <a:schemeClr val="tx1"/>
                </a:solidFill>
                <a:effectLst/>
                <a:latin typeface="+mn-lt"/>
                <a:ea typeface="+mn-ea"/>
                <a:cs typeface="+mn-cs"/>
              </a:rPr>
              <a:t> and </a:t>
            </a:r>
            <a:r>
              <a:rPr lang="de-DE" sz="1400" b="0" i="0" kern="1200" dirty="0" err="1">
                <a:solidFill>
                  <a:schemeClr val="tx1"/>
                </a:solidFill>
                <a:effectLst/>
                <a:latin typeface="+mn-lt"/>
                <a:ea typeface="+mn-ea"/>
                <a:cs typeface="+mn-cs"/>
              </a:rPr>
              <a:t>access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modes</a:t>
            </a:r>
            <a:r>
              <a:rPr lang="de-DE" sz="1400" b="0" i="0" kern="1200" dirty="0">
                <a:solidFill>
                  <a:schemeClr val="tx1"/>
                </a:solidFill>
                <a:effectLst/>
                <a:latin typeface="+mn-lt"/>
                <a:ea typeface="+mn-ea"/>
                <a:cs typeface="+mn-cs"/>
              </a:rPr>
              <a:t> (e.g.,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mounted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once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read</a:t>
            </a:r>
            <a:r>
              <a:rPr lang="de-DE" sz="1400" b="0" i="0" kern="1200" dirty="0">
                <a:solidFill>
                  <a:schemeClr val="tx1"/>
                </a:solidFill>
                <a:effectLst/>
                <a:latin typeface="+mn-lt"/>
                <a:ea typeface="+mn-ea"/>
                <a:cs typeface="+mn-cs"/>
              </a:rPr>
              <a:t>/</a:t>
            </a:r>
            <a:r>
              <a:rPr lang="de-DE" sz="1400" b="0" i="0" kern="1200" dirty="0" err="1">
                <a:solidFill>
                  <a:schemeClr val="tx1"/>
                </a:solidFill>
                <a:effectLst/>
                <a:latin typeface="+mn-lt"/>
                <a:ea typeface="+mn-ea"/>
                <a:cs typeface="+mn-cs"/>
              </a:rPr>
              <a:t>write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many</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times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read-only</a:t>
            </a:r>
            <a:r>
              <a:rPr lang="de-DE" sz="14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8</a:t>
            </a:fld>
            <a:endParaRPr lang="en-US" dirty="0"/>
          </a:p>
        </p:txBody>
      </p:sp>
    </p:spTree>
    <p:extLst>
      <p:ext uri="{BB962C8B-B14F-4D97-AF65-F5344CB8AC3E}">
        <p14:creationId xmlns:p14="http://schemas.microsoft.com/office/powerpoint/2010/main" val="15453200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PV is always bound by exactly 1 PVC. There is no real order but Kubernetes tries to create matches between requested and provisioned size.</a:t>
            </a:r>
          </a:p>
          <a:p>
            <a:r>
              <a:rPr lang="en-US" dirty="0"/>
              <a:t>Problem: the match making is based on “equals or greater”. So if the PVC requests 1GB but there is only one PVC with 50GB available, it will be bound nevertheless (and “waste” 49GB)</a:t>
            </a:r>
          </a:p>
        </p:txBody>
      </p:sp>
      <p:sp>
        <p:nvSpPr>
          <p:cNvPr id="4" name="Slide Number Placeholder 3"/>
          <p:cNvSpPr>
            <a:spLocks noGrp="1"/>
          </p:cNvSpPr>
          <p:nvPr>
            <p:ph type="sldNum" sz="quarter" idx="10"/>
          </p:nvPr>
        </p:nvSpPr>
        <p:spPr/>
        <p:txBody>
          <a:bodyPr/>
          <a:lstStyle/>
          <a:p>
            <a:fld id="{7D8C2C35-2B8A-446E-BEC0-FD36716C29AC}" type="slidenum">
              <a:rPr lang="en-US" smtClean="0"/>
              <a:pPr/>
              <a:t>9</a:t>
            </a:fld>
            <a:endParaRPr lang="en-US" dirty="0"/>
          </a:p>
        </p:txBody>
      </p:sp>
    </p:spTree>
    <p:extLst>
      <p:ext uri="{BB962C8B-B14F-4D97-AF65-F5344CB8AC3E}">
        <p14:creationId xmlns:p14="http://schemas.microsoft.com/office/powerpoint/2010/main" val="28440798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to the PV-PVC bind mechanism, it might happen that storage is claimed by the “wrong” requests. Storage classes overcome this issue by reversing the order. Firstly create a PVC and the storage class provides a fitting PV. </a:t>
            </a:r>
          </a:p>
          <a:p>
            <a:endParaRPr lang="en-US" dirty="0"/>
          </a:p>
          <a:p>
            <a:r>
              <a:rPr lang="en-US" dirty="0"/>
              <a:t>On Kubernetes level a storage class is a piece of software running inside the cluster that also is able to administer the </a:t>
            </a:r>
            <a:r>
              <a:rPr lang="en-US"/>
              <a:t>storage backend.</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22025636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CSI – Container Storage Interface</a:t>
            </a:r>
          </a:p>
          <a:p>
            <a:endParaRPr lang="en-US" dirty="0"/>
          </a:p>
          <a:p>
            <a:pPr marL="342900" indent="-342900">
              <a:buAutoNum type="arabicPeriod"/>
            </a:pPr>
            <a:r>
              <a:rPr lang="en-US" dirty="0"/>
              <a:t>User requests a PVC</a:t>
            </a:r>
          </a:p>
          <a:p>
            <a:pPr marL="342900" indent="-342900">
              <a:buAutoNum type="arabicPeriod"/>
            </a:pPr>
            <a:r>
              <a:rPr lang="en-US" dirty="0" err="1"/>
              <a:t>StorageClass</a:t>
            </a:r>
            <a:r>
              <a:rPr lang="en-US" dirty="0"/>
              <a:t> is triggered to provision a PV</a:t>
            </a:r>
          </a:p>
          <a:p>
            <a:pPr marL="342900" indent="-342900">
              <a:buAutoNum type="arabicPeriod"/>
            </a:pPr>
            <a:r>
              <a:rPr lang="en-US" dirty="0"/>
              <a:t>PV is backed by a physical volume, which is made available via the container storage interface</a:t>
            </a:r>
          </a:p>
          <a:p>
            <a:pPr marL="342900" indent="-342900">
              <a:buAutoNum type="arabicPeriod"/>
            </a:pPr>
            <a:endParaRPr lang="en-US" dirty="0"/>
          </a:p>
          <a:p>
            <a:pPr marL="0" indent="0">
              <a:buNone/>
            </a:pPr>
            <a:r>
              <a:rPr lang="en-US" dirty="0"/>
              <a:t>Depending on the CSI driver used, all kinds of storage backends can be exposed.</a:t>
            </a:r>
          </a:p>
        </p:txBody>
      </p:sp>
      <p:sp>
        <p:nvSpPr>
          <p:cNvPr id="4" name="Slide Number Placeholder 3"/>
          <p:cNvSpPr>
            <a:spLocks noGrp="1"/>
          </p:cNvSpPr>
          <p:nvPr>
            <p:ph type="sldNum" sz="quarter" idx="5"/>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952747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use of a CSI provisioned volume:</a:t>
            </a:r>
          </a:p>
          <a:p>
            <a:pPr marL="342900" indent="-342900">
              <a:buAutoNum type="arabicPeriod"/>
            </a:pPr>
            <a:r>
              <a:rPr lang="en-US" dirty="0"/>
              <a:t>User requests to schedule a pod</a:t>
            </a:r>
          </a:p>
          <a:p>
            <a:pPr marL="342900" indent="-342900">
              <a:buAutoNum type="arabicPeriod"/>
            </a:pPr>
            <a:r>
              <a:rPr lang="en-US" dirty="0"/>
              <a:t>The pod used a PVC</a:t>
            </a:r>
          </a:p>
          <a:p>
            <a:pPr marL="342900" indent="-342900">
              <a:buAutoNum type="arabicPeriod"/>
            </a:pPr>
            <a:r>
              <a:rPr lang="en-US" dirty="0"/>
              <a:t>To get the volume mounted to the respective node, a </a:t>
            </a:r>
            <a:r>
              <a:rPr lang="en-US" dirty="0" err="1"/>
              <a:t>VolumeAttachment</a:t>
            </a:r>
            <a:r>
              <a:rPr lang="en-US" dirty="0"/>
              <a:t> gets issued</a:t>
            </a:r>
          </a:p>
          <a:p>
            <a:pPr marL="342900" indent="-342900">
              <a:buAutoNum type="arabicPeriod"/>
            </a:pPr>
            <a:r>
              <a:rPr lang="en-US" dirty="0"/>
              <a:t>The CSI driver that also provisioned the volume reacts and ensures the volume gets mounted to the node.</a:t>
            </a:r>
          </a:p>
        </p:txBody>
      </p:sp>
      <p:sp>
        <p:nvSpPr>
          <p:cNvPr id="4" name="Slide Number Placeholder 3"/>
          <p:cNvSpPr>
            <a:spLocks noGrp="1"/>
          </p:cNvSpPr>
          <p:nvPr>
            <p:ph type="sldNum" sz="quarter" idx="5"/>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31675281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Upon deletion of the claim object the persistent volume becomes “unbound”. </a:t>
            </a:r>
          </a:p>
          <a:p>
            <a:r>
              <a:rPr lang="en-US" dirty="0"/>
              <a:t>There are 3 scenarios:</a:t>
            </a:r>
          </a:p>
          <a:p>
            <a:pPr marL="285750" indent="-285750">
              <a:buFontTx/>
              <a:buChar char="-"/>
            </a:pPr>
            <a:r>
              <a:rPr lang="en-US" dirty="0"/>
              <a:t>Retain: nothing happens, the PV will remain until an administrator deals with it. The data is not (yet) deleted.</a:t>
            </a:r>
          </a:p>
          <a:p>
            <a:pPr marL="285750" indent="-285750">
              <a:buFontTx/>
              <a:buChar char="-"/>
            </a:pPr>
            <a:r>
              <a:rPr lang="en-US" dirty="0"/>
              <a:t>Delete:  together with the PVC also the PV will be deleted. All data is gone.</a:t>
            </a:r>
          </a:p>
          <a:p>
            <a:pPr marL="285750" indent="-285750">
              <a:buFontTx/>
              <a:buChar char="-"/>
            </a:pPr>
            <a:r>
              <a:rPr lang="en-US" dirty="0"/>
              <a:t>Recycle (deprecated):  remove all data and make PV available to be bound again by a different PVC</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39900765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Modes depend on the storage backend (physical storage). Example for RWX is NFS</a:t>
            </a:r>
          </a:p>
          <a:p>
            <a:endParaRPr lang="en-US" dirty="0"/>
          </a:p>
          <a:p>
            <a:r>
              <a:rPr lang="en-US" dirty="0"/>
              <a:t>https://kubernetes.io/docs/concepts/storage/persistent-volumes/#access-modes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24751796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1362477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16921186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7022305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https://kubernetes.io/docs/concepts/storage/persistent-volumes/#types-of-persistent-volumes</a:t>
            </a:r>
          </a:p>
          <a:p>
            <a:endParaRPr lang="en-US" dirty="0"/>
          </a:p>
          <a:p>
            <a:r>
              <a:rPr lang="en-US" dirty="0"/>
              <a:t>https://kubernetes.io/docs/concepts/storage/persistent-volumes/#access-modes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6953638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PVC from </a:t>
            </a:r>
            <a:r>
              <a:rPr lang="en-US" baseline="0" dirty="0" err="1"/>
              <a:t>yaml</a:t>
            </a:r>
            <a:endParaRPr lang="en-US" baseline="0"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Show the storage class reference in the PVC </a:t>
            </a:r>
            <a:r>
              <a:rPr lang="en-US" baseline="0" dirty="0" err="1"/>
              <a:t>yaml</a:t>
            </a:r>
            <a:r>
              <a:rPr lang="en-US" baseline="0" dirty="0"/>
              <a:t> and the corresponding storage class within the cluster (</a:t>
            </a:r>
            <a:r>
              <a:rPr lang="en-US" baseline="0" dirty="0" err="1"/>
              <a:t>kubectl</a:t>
            </a:r>
            <a:r>
              <a:rPr lang="en-US" baseline="0" dirty="0"/>
              <a:t> get </a:t>
            </a:r>
            <a:r>
              <a:rPr lang="en-US" baseline="0" dirty="0" err="1"/>
              <a:t>storageclass</a:t>
            </a:r>
            <a:r>
              <a:rPr lang="en-US" baseline="0" dirty="0"/>
              <a:t>). These have to match!</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Query the PV’s and outline the connection between the PVC in the namespace and the PV. Print out the PV </a:t>
            </a:r>
            <a:r>
              <a:rPr lang="en-US" baseline="0" dirty="0" err="1"/>
              <a:t>yaml</a:t>
            </a:r>
            <a:r>
              <a:rPr lang="en-US" baseline="0" dirty="0"/>
              <a:t> and highlight that there is no namespace as PV resources are not </a:t>
            </a:r>
            <a:r>
              <a:rPr lang="en-US" baseline="0" dirty="0" err="1"/>
              <a:t>namespaced</a:t>
            </a:r>
            <a:r>
              <a:rPr lang="en-US" baseline="0" dirty="0"/>
              <a: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endParaRPr lang="en-US" baseline="0"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pod where the PVC is mounted. Discuss the volume &amp; </a:t>
            </a:r>
            <a:r>
              <a:rPr lang="en-US" baseline="0" dirty="0" err="1"/>
              <a:t>volumeMount</a:t>
            </a:r>
            <a:r>
              <a:rPr lang="en-US" baseline="0" dirty="0"/>
              <a:t> section and highlight the matching names for the volume within the pod spec to make it referenceable.</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Once the pod is created, logon to it and create some content.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In parallel, create </a:t>
            </a:r>
            <a:r>
              <a:rPr lang="en-US" baseline="0"/>
              <a:t>a deployment </a:t>
            </a:r>
            <a:r>
              <a:rPr lang="en-US" baseline="0" dirty="0"/>
              <a:t>that attempts to mount the same PVC. </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Discuss the error message (</a:t>
            </a:r>
            <a:r>
              <a:rPr lang="en-US" baseline="0" dirty="0" err="1"/>
              <a:t>kubectl</a:t>
            </a:r>
            <a:r>
              <a:rPr lang="en-US" baseline="0" dirty="0"/>
              <a:t> describe pod &lt;pod of a deployment&gt;)</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Outline the implication of the access-mode. If the PVC is already bound once in RWO mode, it cannot be bound in any other mode. </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To get the example working the first pod would need to be removed and all other pods would  need to be re-created.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Tree>
    <p:extLst>
      <p:ext uri="{BB962C8B-B14F-4D97-AF65-F5344CB8AC3E}">
        <p14:creationId xmlns:p14="http://schemas.microsoft.com/office/powerpoint/2010/main" val="8305411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21</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hyperlink" Target="https://kubernetes.io/docs/concepts/storage/volumes/" TargetMode="External"/><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8.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image" Target="../media/image29.svg"/><Relationship Id="rId5" Type="http://schemas.openxmlformats.org/officeDocument/2006/relationships/image" Target="../media/image28.png"/><Relationship Id="rId4" Type="http://schemas.openxmlformats.org/officeDocument/2006/relationships/image" Target="../media/image27.sv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9.svg"/><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image" Target="../media/image28.png"/><Relationship Id="rId5" Type="http://schemas.openxmlformats.org/officeDocument/2006/relationships/image" Target="../media/image30.png"/><Relationship Id="rId4" Type="http://schemas.openxmlformats.org/officeDocument/2006/relationships/image" Target="../media/image27.sv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32.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8.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16.sv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8.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16.sv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6.sv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Persistence</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3"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E53C8E3A-1E81-4242-B8E7-650C8631D3D8}"/>
              </a:ext>
            </a:extLst>
          </p:cNvPr>
          <p:cNvPicPr>
            <a:picLocks noGrp="1" noChangeAspect="1"/>
          </p:cNvPicPr>
          <p:nvPr>
            <p:ph type="pic" sz="quarter" idx="12"/>
          </p:nvPr>
        </p:nvPicPr>
        <p:blipFill>
          <a:blip r:embed="rId4"/>
          <a:srcRect t="3112" b="3112"/>
          <a:stretch>
            <a:fillRect/>
          </a:stretch>
        </p:blipFill>
        <p:spPr bwMode="gray">
          <a:xfrm>
            <a:off x="0"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What‘s the issue? </a:t>
            </a:r>
          </a:p>
        </p:txBody>
      </p:sp>
      <p:sp>
        <p:nvSpPr>
          <p:cNvPr id="8" name="Rectangle 7"/>
          <p:cNvSpPr/>
          <p:nvPr/>
        </p:nvSpPr>
        <p:spPr>
          <a:xfrm>
            <a:off x="504000" y="1223190"/>
            <a:ext cx="10590719" cy="738664"/>
          </a:xfrm>
          <a:prstGeom prst="rect">
            <a:avLst/>
          </a:prstGeom>
        </p:spPr>
        <p:txBody>
          <a:bodyPr wrap="square">
            <a:spAutoFit/>
          </a:bodyPr>
          <a:lstStyle/>
          <a:p>
            <a:pPr marL="342900" indent="-342900">
              <a:buFont typeface="Wingdings" panose="05000000000000000000" pitchFamily="2" charset="2"/>
              <a:buChar char="§"/>
            </a:pPr>
            <a:r>
              <a:rPr lang="en-US" dirty="0"/>
              <a:t>Pods are ephemeral and can vanish any moment</a:t>
            </a:r>
          </a:p>
          <a:p>
            <a:pPr marL="342900" indent="-342900">
              <a:buFont typeface="Wingdings" panose="05000000000000000000" pitchFamily="2" charset="2"/>
              <a:buChar char="§"/>
            </a:pPr>
            <a:r>
              <a:rPr lang="en-US" dirty="0"/>
              <a:t>Data residing in a pod will vanish with the pod</a:t>
            </a:r>
          </a:p>
        </p:txBody>
      </p:sp>
      <p:sp>
        <p:nvSpPr>
          <p:cNvPr id="4" name="Rectangle 3"/>
          <p:cNvSpPr/>
          <p:nvPr/>
        </p:nvSpPr>
        <p:spPr bwMode="gray">
          <a:xfrm>
            <a:off x="2900521" y="2655920"/>
            <a:ext cx="5032722" cy="3141422"/>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solidFill>
                  <a:sysClr val="windowText" lastClr="000000"/>
                </a:solidFill>
                <a:ea typeface="Arial Unicode MS" pitchFamily="34" charset="-128"/>
                <a:cs typeface="Arial Unicode MS" pitchFamily="34" charset="-128"/>
              </a:rPr>
              <a:t>Pod-A</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5" name="Rectangle 4"/>
          <p:cNvSpPr/>
          <p:nvPr/>
        </p:nvSpPr>
        <p:spPr bwMode="gray">
          <a:xfrm>
            <a:off x="2728784" y="2473040"/>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IP: 10.10.10.1</a:t>
            </a:r>
          </a:p>
        </p:txBody>
      </p:sp>
      <p:sp>
        <p:nvSpPr>
          <p:cNvPr id="6" name="Cylinder 5"/>
          <p:cNvSpPr/>
          <p:nvPr/>
        </p:nvSpPr>
        <p:spPr bwMode="gray">
          <a:xfrm>
            <a:off x="4579815" y="4477855"/>
            <a:ext cx="1812912"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Container FS</a:t>
            </a:r>
          </a:p>
        </p:txBody>
      </p:sp>
      <p:sp>
        <p:nvSpPr>
          <p:cNvPr id="7" name="Rectangle 6"/>
          <p:cNvSpPr/>
          <p:nvPr/>
        </p:nvSpPr>
        <p:spPr bwMode="gray">
          <a:xfrm>
            <a:off x="4602917" y="3201988"/>
            <a:ext cx="1627931" cy="1118082"/>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9" name="Connector: Elbow 8"/>
          <p:cNvCxnSpPr>
            <a:cxnSpLocks/>
            <a:stCxn id="7" idx="3"/>
            <a:endCxn id="6" idx="4"/>
          </p:cNvCxnSpPr>
          <p:nvPr/>
        </p:nvCxnSpPr>
        <p:spPr>
          <a:xfrm>
            <a:off x="6230848" y="3761029"/>
            <a:ext cx="161879" cy="1218950"/>
          </a:xfrm>
          <a:prstGeom prst="bentConnector3">
            <a:avLst>
              <a:gd name="adj1" fmla="val 241217"/>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Cross 9"/>
          <p:cNvSpPr/>
          <p:nvPr/>
        </p:nvSpPr>
        <p:spPr bwMode="gray">
          <a:xfrm rot="2690790">
            <a:off x="6246410" y="2643900"/>
            <a:ext cx="1795337" cy="1804951"/>
          </a:xfrm>
          <a:prstGeom prst="plus">
            <a:avLst>
              <a:gd name="adj" fmla="val 44715"/>
            </a:avLst>
          </a:prstGeom>
          <a:solidFill>
            <a:schemeClr val="accent5">
              <a:lumMod val="40000"/>
              <a:lumOff val="60000"/>
            </a:schemeClr>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864191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89C4DFA-AAD7-4DF2-8308-7E50B140029E}"/>
              </a:ext>
            </a:extLst>
          </p:cNvPr>
          <p:cNvSpPr/>
          <p:nvPr/>
        </p:nvSpPr>
        <p:spPr bwMode="gray">
          <a:xfrm>
            <a:off x="3955774" y="1036357"/>
            <a:ext cx="6684918" cy="495693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 name="Title 1">
            <a:extLst>
              <a:ext uri="{FF2B5EF4-FFF2-40B4-BE49-F238E27FC236}">
                <a16:creationId xmlns:a16="http://schemas.microsoft.com/office/drawing/2014/main" id="{AE3C9C03-1FD5-466C-A43A-66E85A4C2E5D}"/>
              </a:ext>
            </a:extLst>
          </p:cNvPr>
          <p:cNvSpPr>
            <a:spLocks noGrp="1"/>
          </p:cNvSpPr>
          <p:nvPr>
            <p:ph type="title"/>
          </p:nvPr>
        </p:nvSpPr>
        <p:spPr/>
        <p:txBody>
          <a:bodyPr/>
          <a:lstStyle/>
          <a:p>
            <a:r>
              <a:rPr lang="en-US" dirty="0"/>
              <a:t>Technically, it’s still about containers …</a:t>
            </a:r>
          </a:p>
        </p:txBody>
      </p:sp>
      <p:sp>
        <p:nvSpPr>
          <p:cNvPr id="3" name="Rectangle 2">
            <a:extLst>
              <a:ext uri="{FF2B5EF4-FFF2-40B4-BE49-F238E27FC236}">
                <a16:creationId xmlns:a16="http://schemas.microsoft.com/office/drawing/2014/main" id="{37534004-9BD7-46AF-8689-35CCE4320B4F}"/>
              </a:ext>
            </a:extLst>
          </p:cNvPr>
          <p:cNvSpPr/>
          <p:nvPr/>
        </p:nvSpPr>
        <p:spPr bwMode="gray">
          <a:xfrm>
            <a:off x="7224216" y="1159325"/>
            <a:ext cx="3274827" cy="4701421"/>
          </a:xfrm>
          <a:prstGeom prst="rect">
            <a:avLst/>
          </a:prstGeom>
          <a:noFill/>
          <a:ln w="25400" algn="ctr">
            <a:solidFill>
              <a:schemeClr val="tx1"/>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Container</a:t>
            </a:r>
          </a:p>
        </p:txBody>
      </p:sp>
      <p:pic>
        <p:nvPicPr>
          <p:cNvPr id="9" name="Graphic 8" descr="Open folder">
            <a:extLst>
              <a:ext uri="{FF2B5EF4-FFF2-40B4-BE49-F238E27FC236}">
                <a16:creationId xmlns:a16="http://schemas.microsoft.com/office/drawing/2014/main" id="{CB24096E-25CB-439F-ABC1-1E6CF7542ED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04429" y="3159331"/>
            <a:ext cx="914400" cy="914400"/>
          </a:xfrm>
          <a:prstGeom prst="rect">
            <a:avLst/>
          </a:prstGeom>
        </p:spPr>
      </p:pic>
      <p:pic>
        <p:nvPicPr>
          <p:cNvPr id="5" name="Graphic 4" descr="Open folder">
            <a:extLst>
              <a:ext uri="{FF2B5EF4-FFF2-40B4-BE49-F238E27FC236}">
                <a16:creationId xmlns:a16="http://schemas.microsoft.com/office/drawing/2014/main" id="{5996316E-0396-4923-A41F-6E0B6B4625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9086" y="1234830"/>
            <a:ext cx="914400" cy="914400"/>
          </a:xfrm>
          <a:prstGeom prst="rect">
            <a:avLst/>
          </a:prstGeom>
        </p:spPr>
      </p:pic>
      <p:pic>
        <p:nvPicPr>
          <p:cNvPr id="7" name="Graphic 6" descr="Paper">
            <a:extLst>
              <a:ext uri="{FF2B5EF4-FFF2-40B4-BE49-F238E27FC236}">
                <a16:creationId xmlns:a16="http://schemas.microsoft.com/office/drawing/2014/main" id="{7F8972B3-A747-4C6F-A359-8591C0BC59F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82464" y="3896611"/>
            <a:ext cx="652943" cy="652943"/>
          </a:xfrm>
          <a:prstGeom prst="rect">
            <a:avLst/>
          </a:prstGeom>
        </p:spPr>
      </p:pic>
      <p:pic>
        <p:nvPicPr>
          <p:cNvPr id="8" name="Graphic 7" descr="Open folder">
            <a:extLst>
              <a:ext uri="{FF2B5EF4-FFF2-40B4-BE49-F238E27FC236}">
                <a16:creationId xmlns:a16="http://schemas.microsoft.com/office/drawing/2014/main" id="{90BF7465-B376-4AE8-9106-643B626574D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04429" y="1979113"/>
            <a:ext cx="914400" cy="914400"/>
          </a:xfrm>
          <a:prstGeom prst="rect">
            <a:avLst/>
          </a:prstGeom>
        </p:spPr>
      </p:pic>
      <p:pic>
        <p:nvPicPr>
          <p:cNvPr id="10" name="Graphic 9" descr="Paper">
            <a:extLst>
              <a:ext uri="{FF2B5EF4-FFF2-40B4-BE49-F238E27FC236}">
                <a16:creationId xmlns:a16="http://schemas.microsoft.com/office/drawing/2014/main" id="{76174BFA-09B4-42FF-B185-189CC49B32D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82463" y="2769061"/>
            <a:ext cx="652943" cy="652943"/>
          </a:xfrm>
          <a:prstGeom prst="rect">
            <a:avLst/>
          </a:prstGeom>
        </p:spPr>
      </p:pic>
      <p:cxnSp>
        <p:nvCxnSpPr>
          <p:cNvPr id="12" name="Connector: Elbow 11">
            <a:extLst>
              <a:ext uri="{FF2B5EF4-FFF2-40B4-BE49-F238E27FC236}">
                <a16:creationId xmlns:a16="http://schemas.microsoft.com/office/drawing/2014/main" id="{84CEB734-CA6C-481E-94C9-03DA89854903}"/>
              </a:ext>
            </a:extLst>
          </p:cNvPr>
          <p:cNvCxnSpPr>
            <a:stCxn id="5" idx="2"/>
            <a:endCxn id="8" idx="1"/>
          </p:cNvCxnSpPr>
          <p:nvPr/>
        </p:nvCxnSpPr>
        <p:spPr>
          <a:xfrm rot="16200000" flipH="1">
            <a:off x="8011816" y="2043699"/>
            <a:ext cx="287083"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DD16C945-8B15-467B-A978-AD5761198398}"/>
              </a:ext>
            </a:extLst>
          </p:cNvPr>
          <p:cNvCxnSpPr>
            <a:cxnSpLocks/>
            <a:stCxn id="5" idx="2"/>
            <a:endCxn id="9" idx="1"/>
          </p:cNvCxnSpPr>
          <p:nvPr/>
        </p:nvCxnSpPr>
        <p:spPr>
          <a:xfrm rot="16200000" flipH="1">
            <a:off x="7421707" y="2633808"/>
            <a:ext cx="1467301"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Connector: Elbow 15">
            <a:extLst>
              <a:ext uri="{FF2B5EF4-FFF2-40B4-BE49-F238E27FC236}">
                <a16:creationId xmlns:a16="http://schemas.microsoft.com/office/drawing/2014/main" id="{05A2AC34-A096-48F1-BFE3-69846F2190C4}"/>
              </a:ext>
            </a:extLst>
          </p:cNvPr>
          <p:cNvCxnSpPr>
            <a:stCxn id="8" idx="2"/>
            <a:endCxn id="10" idx="1"/>
          </p:cNvCxnSpPr>
          <p:nvPr/>
        </p:nvCxnSpPr>
        <p:spPr>
          <a:xfrm rot="16200000" flipH="1">
            <a:off x="9121036" y="2634106"/>
            <a:ext cx="202020" cy="720834"/>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07BDE53D-707A-4D25-8B01-43FF216CCD8E}"/>
              </a:ext>
            </a:extLst>
          </p:cNvPr>
          <p:cNvCxnSpPr>
            <a:cxnSpLocks/>
            <a:stCxn id="9" idx="2"/>
            <a:endCxn id="7" idx="1"/>
          </p:cNvCxnSpPr>
          <p:nvPr/>
        </p:nvCxnSpPr>
        <p:spPr>
          <a:xfrm rot="16200000" flipH="1">
            <a:off x="9147370" y="3787989"/>
            <a:ext cx="149352" cy="720835"/>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0" name="Graphic 19" descr="Paper">
            <a:extLst>
              <a:ext uri="{FF2B5EF4-FFF2-40B4-BE49-F238E27FC236}">
                <a16:creationId xmlns:a16="http://schemas.microsoft.com/office/drawing/2014/main" id="{76BA5873-5F4F-4A66-8E0E-AD657969D41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82463" y="4549554"/>
            <a:ext cx="652943" cy="652943"/>
          </a:xfrm>
          <a:prstGeom prst="rect">
            <a:avLst/>
          </a:prstGeom>
        </p:spPr>
      </p:pic>
      <p:cxnSp>
        <p:nvCxnSpPr>
          <p:cNvPr id="21" name="Connector: Elbow 20">
            <a:extLst>
              <a:ext uri="{FF2B5EF4-FFF2-40B4-BE49-F238E27FC236}">
                <a16:creationId xmlns:a16="http://schemas.microsoft.com/office/drawing/2014/main" id="{952717D7-3295-42AD-B0BA-899070A4BC00}"/>
              </a:ext>
            </a:extLst>
          </p:cNvPr>
          <p:cNvCxnSpPr>
            <a:cxnSpLocks/>
            <a:stCxn id="9" idx="2"/>
            <a:endCxn id="20" idx="1"/>
          </p:cNvCxnSpPr>
          <p:nvPr/>
        </p:nvCxnSpPr>
        <p:spPr>
          <a:xfrm rot="16200000" flipH="1">
            <a:off x="8820899" y="4114461"/>
            <a:ext cx="802295" cy="720834"/>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8" name="Graphic 37" descr="Open folder">
            <a:extLst>
              <a:ext uri="{FF2B5EF4-FFF2-40B4-BE49-F238E27FC236}">
                <a16:creationId xmlns:a16="http://schemas.microsoft.com/office/drawing/2014/main" id="{8E3063F4-F04B-4E45-991F-6CCEE9C6A49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58977" y="1234830"/>
            <a:ext cx="914400" cy="914400"/>
          </a:xfrm>
          <a:prstGeom prst="rect">
            <a:avLst/>
          </a:prstGeom>
        </p:spPr>
      </p:pic>
      <p:pic>
        <p:nvPicPr>
          <p:cNvPr id="39" name="Graphic 38" descr="Open folder">
            <a:extLst>
              <a:ext uri="{FF2B5EF4-FFF2-40B4-BE49-F238E27FC236}">
                <a16:creationId xmlns:a16="http://schemas.microsoft.com/office/drawing/2014/main" id="{49967E5A-EF4C-4EB1-B08D-88DD24DAC3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114320" y="2149230"/>
            <a:ext cx="914400" cy="914400"/>
          </a:xfrm>
          <a:prstGeom prst="rect">
            <a:avLst/>
          </a:prstGeom>
        </p:spPr>
      </p:pic>
      <p:pic>
        <p:nvPicPr>
          <p:cNvPr id="40" name="Graphic 39" descr="Open folder">
            <a:extLst>
              <a:ext uri="{FF2B5EF4-FFF2-40B4-BE49-F238E27FC236}">
                <a16:creationId xmlns:a16="http://schemas.microsoft.com/office/drawing/2014/main" id="{F0423320-73AA-43E1-8ED3-BE48B8BE40D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114320" y="3184447"/>
            <a:ext cx="914400" cy="914400"/>
          </a:xfrm>
          <a:prstGeom prst="rect">
            <a:avLst/>
          </a:prstGeom>
        </p:spPr>
      </p:pic>
      <p:cxnSp>
        <p:nvCxnSpPr>
          <p:cNvPr id="41" name="Connector: Elbow 40">
            <a:extLst>
              <a:ext uri="{FF2B5EF4-FFF2-40B4-BE49-F238E27FC236}">
                <a16:creationId xmlns:a16="http://schemas.microsoft.com/office/drawing/2014/main" id="{346226CF-B5A9-4F05-A6AD-32DCFC51F6DF}"/>
              </a:ext>
            </a:extLst>
          </p:cNvPr>
          <p:cNvCxnSpPr>
            <a:stCxn id="38" idx="2"/>
            <a:endCxn id="39" idx="1"/>
          </p:cNvCxnSpPr>
          <p:nvPr/>
        </p:nvCxnSpPr>
        <p:spPr>
          <a:xfrm rot="16200000" flipH="1">
            <a:off x="4636648" y="2128758"/>
            <a:ext cx="457200"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1939448F-7479-40F8-A250-44BDFE14B987}"/>
              </a:ext>
            </a:extLst>
          </p:cNvPr>
          <p:cNvCxnSpPr>
            <a:stCxn id="38" idx="2"/>
            <a:endCxn id="40" idx="1"/>
          </p:cNvCxnSpPr>
          <p:nvPr/>
        </p:nvCxnSpPr>
        <p:spPr>
          <a:xfrm rot="16200000" flipH="1">
            <a:off x="4119040" y="2646366"/>
            <a:ext cx="1492417"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4E152C0-412F-4E88-B9E6-24BE066A873B}"/>
              </a:ext>
            </a:extLst>
          </p:cNvPr>
          <p:cNvCxnSpPr>
            <a:cxnSpLocks/>
            <a:stCxn id="9" idx="1"/>
            <a:endCxn id="39" idx="3"/>
          </p:cNvCxnSpPr>
          <p:nvPr/>
        </p:nvCxnSpPr>
        <p:spPr>
          <a:xfrm rot="10800000">
            <a:off x="6028721" y="2606431"/>
            <a:ext cx="2375709" cy="1010101"/>
          </a:xfrm>
          <a:prstGeom prst="bentConnector3">
            <a:avLst>
              <a:gd name="adj1" fmla="val 50000"/>
            </a:avLst>
          </a:prstGeom>
          <a:ln w="254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4" name="Graphic 63" descr="Open folder">
            <a:extLst>
              <a:ext uri="{FF2B5EF4-FFF2-40B4-BE49-F238E27FC236}">
                <a16:creationId xmlns:a16="http://schemas.microsoft.com/office/drawing/2014/main" id="{1A03C5BB-8374-46DB-807B-1263F3DCD33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04429" y="4946346"/>
            <a:ext cx="914400" cy="914400"/>
          </a:xfrm>
          <a:prstGeom prst="rect">
            <a:avLst/>
          </a:prstGeom>
        </p:spPr>
      </p:pic>
      <p:cxnSp>
        <p:nvCxnSpPr>
          <p:cNvPr id="65" name="Connector: Elbow 64">
            <a:extLst>
              <a:ext uri="{FF2B5EF4-FFF2-40B4-BE49-F238E27FC236}">
                <a16:creationId xmlns:a16="http://schemas.microsoft.com/office/drawing/2014/main" id="{AF6072E9-DAFC-47E0-9675-342D2212800A}"/>
              </a:ext>
            </a:extLst>
          </p:cNvPr>
          <p:cNvCxnSpPr>
            <a:cxnSpLocks/>
            <a:stCxn id="5" idx="2"/>
            <a:endCxn id="64" idx="1"/>
          </p:cNvCxnSpPr>
          <p:nvPr/>
        </p:nvCxnSpPr>
        <p:spPr>
          <a:xfrm rot="16200000" flipH="1">
            <a:off x="6528199" y="3527316"/>
            <a:ext cx="3254316"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3" name="Graphic 72" descr="Database">
            <a:extLst>
              <a:ext uri="{FF2B5EF4-FFF2-40B4-BE49-F238E27FC236}">
                <a16:creationId xmlns:a16="http://schemas.microsoft.com/office/drawing/2014/main" id="{BAF624F1-5420-4059-812A-1BC02D968D6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9971" y="2758165"/>
            <a:ext cx="1766961" cy="1766961"/>
          </a:xfrm>
          <a:prstGeom prst="rect">
            <a:avLst/>
          </a:prstGeom>
        </p:spPr>
      </p:pic>
      <p:cxnSp>
        <p:nvCxnSpPr>
          <p:cNvPr id="74" name="Connector: Elbow 73">
            <a:extLst>
              <a:ext uri="{FF2B5EF4-FFF2-40B4-BE49-F238E27FC236}">
                <a16:creationId xmlns:a16="http://schemas.microsoft.com/office/drawing/2014/main" id="{B1BA2845-530D-4E2E-AD7C-6F5E46DB0C64}"/>
              </a:ext>
            </a:extLst>
          </p:cNvPr>
          <p:cNvCxnSpPr>
            <a:cxnSpLocks/>
            <a:stCxn id="40" idx="1"/>
            <a:endCxn id="73" idx="3"/>
          </p:cNvCxnSpPr>
          <p:nvPr/>
        </p:nvCxnSpPr>
        <p:spPr>
          <a:xfrm rot="10800000">
            <a:off x="2736932" y="3641647"/>
            <a:ext cx="2377388" cy="1"/>
          </a:xfrm>
          <a:prstGeom prst="bentConnector3">
            <a:avLst>
              <a:gd name="adj1" fmla="val 50000"/>
            </a:avLst>
          </a:prstGeom>
          <a:ln w="2540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Connector: Elbow 76">
            <a:extLst>
              <a:ext uri="{FF2B5EF4-FFF2-40B4-BE49-F238E27FC236}">
                <a16:creationId xmlns:a16="http://schemas.microsoft.com/office/drawing/2014/main" id="{D2EF959F-4ECC-4C82-A500-ED79C936027E}"/>
              </a:ext>
            </a:extLst>
          </p:cNvPr>
          <p:cNvCxnSpPr>
            <a:cxnSpLocks/>
            <a:stCxn id="64" idx="1"/>
            <a:endCxn id="40" idx="2"/>
          </p:cNvCxnSpPr>
          <p:nvPr/>
        </p:nvCxnSpPr>
        <p:spPr>
          <a:xfrm rot="10800000">
            <a:off x="5571521" y="4098848"/>
            <a:ext cx="2832909" cy="1304699"/>
          </a:xfrm>
          <a:prstGeom prst="bentConnector2">
            <a:avLst/>
          </a:prstGeom>
          <a:ln w="2540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Speech Bubble: Rectangle 30">
            <a:extLst>
              <a:ext uri="{FF2B5EF4-FFF2-40B4-BE49-F238E27FC236}">
                <a16:creationId xmlns:a16="http://schemas.microsoft.com/office/drawing/2014/main" id="{C6A7D9A8-EDF1-43EE-9EDE-5827D187B4B6}"/>
              </a:ext>
            </a:extLst>
          </p:cNvPr>
          <p:cNvSpPr/>
          <p:nvPr/>
        </p:nvSpPr>
        <p:spPr bwMode="gray">
          <a:xfrm>
            <a:off x="3102180" y="4570316"/>
            <a:ext cx="1646227" cy="1344702"/>
          </a:xfrm>
          <a:prstGeom prst="wedgeRectCallout">
            <a:avLst>
              <a:gd name="adj1" fmla="val -57674"/>
              <a:gd name="adj2" fmla="val -10563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Aft>
                <a:spcPct val="0"/>
              </a:spcAft>
              <a:buClr>
                <a:srgbClr val="F0AB00"/>
              </a:buClr>
              <a:buSzPct val="80000"/>
              <a:tabLst/>
            </a:pPr>
            <a:r>
              <a:rPr lang="en-US" sz="1800" kern="0" dirty="0" err="1">
                <a:ea typeface="Arial Unicode MS" pitchFamily="34" charset="-128"/>
                <a:cs typeface="Arial Unicode MS" pitchFamily="34" charset="-128"/>
              </a:rPr>
              <a:t>azureDisk</a:t>
            </a:r>
            <a:endParaRPr lang="en-US" sz="1800" kern="0" dirty="0">
              <a:ea typeface="Arial Unicode MS" pitchFamily="34" charset="-128"/>
              <a:cs typeface="Arial Unicode MS" pitchFamily="34" charset="-128"/>
            </a:endParaRPr>
          </a:p>
          <a:p>
            <a:pPr marR="0" algn="ctr" defTabSz="914400" eaLnBrk="1" fontAlgn="base" latinLnBrk="0" hangingPunct="1">
              <a:lnSpc>
                <a:spcPct val="100000"/>
              </a:lnSpc>
              <a:spcAft>
                <a:spcPct val="0"/>
              </a:spcAft>
              <a:buClr>
                <a:srgbClr val="F0AB00"/>
              </a:buClr>
              <a:buSzPct val="80000"/>
              <a:tabLst/>
            </a:pPr>
            <a:r>
              <a:rPr lang="en-US" sz="1800" kern="0" dirty="0" err="1">
                <a:ea typeface="Arial Unicode MS" pitchFamily="34" charset="-128"/>
                <a:cs typeface="Arial Unicode MS" pitchFamily="34" charset="-128"/>
              </a:rPr>
              <a:t>gcePD</a:t>
            </a:r>
            <a:endParaRPr lang="en-US" sz="1800" kern="0" dirty="0">
              <a:ea typeface="Arial Unicode MS" pitchFamily="34" charset="-128"/>
              <a:cs typeface="Arial Unicode MS" pitchFamily="34" charset="-128"/>
            </a:endParaRPr>
          </a:p>
          <a:p>
            <a:pPr marR="0" algn="ctr" defTabSz="914400" eaLnBrk="1" fontAlgn="base" latinLnBrk="0" hangingPunct="1">
              <a:lnSpc>
                <a:spcPct val="100000"/>
              </a:lnSpc>
              <a:spcAft>
                <a:spcPct val="0"/>
              </a:spcAft>
              <a:buClr>
                <a:srgbClr val="F0AB00"/>
              </a:buClr>
              <a:buSzPct val="80000"/>
              <a:tabLst/>
            </a:pPr>
            <a:r>
              <a:rPr lang="en-US" sz="1800" kern="0" dirty="0">
                <a:ea typeface="Arial Unicode MS" pitchFamily="34" charset="-128"/>
                <a:cs typeface="Arial Unicode MS" pitchFamily="34" charset="-128"/>
              </a:rPr>
              <a:t>NFS</a:t>
            </a:r>
          </a:p>
        </p:txBody>
      </p:sp>
      <p:sp>
        <p:nvSpPr>
          <p:cNvPr id="11" name="Rectangle 10">
            <a:extLst>
              <a:ext uri="{FF2B5EF4-FFF2-40B4-BE49-F238E27FC236}">
                <a16:creationId xmlns:a16="http://schemas.microsoft.com/office/drawing/2014/main" id="{EEA733E8-0B5E-4EBD-A439-F2A2B5477CC2}"/>
              </a:ext>
            </a:extLst>
          </p:cNvPr>
          <p:cNvSpPr/>
          <p:nvPr/>
        </p:nvSpPr>
        <p:spPr>
          <a:xfrm>
            <a:off x="6674599" y="6123388"/>
            <a:ext cx="1083951" cy="523220"/>
          </a:xfrm>
          <a:prstGeom prst="rect">
            <a:avLst/>
          </a:prstGeom>
        </p:spPr>
        <p:txBody>
          <a:bodyPr wrap="none">
            <a:spAutoFit/>
          </a:bodyPr>
          <a:lstStyle/>
          <a:p>
            <a:pPr algn="ctr" defTabSz="914400" fontAlgn="base">
              <a:spcBef>
                <a:spcPct val="50000"/>
              </a:spcBef>
              <a:spcAft>
                <a:spcPct val="0"/>
              </a:spcAft>
              <a:buClr>
                <a:srgbClr val="F0AB00"/>
              </a:buClr>
              <a:buSzPct val="80000"/>
            </a:pPr>
            <a:r>
              <a:rPr lang="de-DE" sz="2800" b="1" kern="0" dirty="0" err="1">
                <a:ea typeface="Arial Unicode MS" pitchFamily="34" charset="-128"/>
                <a:cs typeface="Arial Unicode MS" pitchFamily="34" charset="-128"/>
              </a:rPr>
              <a:t>Node</a:t>
            </a:r>
            <a:endParaRPr lang="de-DE" sz="2800" b="1" kern="0" dirty="0">
              <a:ea typeface="Arial Unicode MS" pitchFamily="34" charset="-128"/>
              <a:cs typeface="Arial Unicode MS" pitchFamily="34" charset="-128"/>
            </a:endParaRPr>
          </a:p>
        </p:txBody>
      </p:sp>
    </p:spTree>
    <p:extLst>
      <p:ext uri="{BB962C8B-B14F-4D97-AF65-F5344CB8AC3E}">
        <p14:creationId xmlns:p14="http://schemas.microsoft.com/office/powerpoint/2010/main" val="15579714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How to solve it on K8s level?</a:t>
            </a:r>
          </a:p>
        </p:txBody>
      </p:sp>
      <p:sp>
        <p:nvSpPr>
          <p:cNvPr id="3" name="Rectangle 2"/>
          <p:cNvSpPr/>
          <p:nvPr/>
        </p:nvSpPr>
        <p:spPr bwMode="gray">
          <a:xfrm>
            <a:off x="1071721" y="2830093"/>
            <a:ext cx="5032722" cy="3141422"/>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solidFill>
                  <a:sysClr val="windowText" lastClr="000000"/>
                </a:solidFill>
                <a:ea typeface="Arial Unicode MS" pitchFamily="34" charset="-128"/>
                <a:cs typeface="Arial Unicode MS" pitchFamily="34" charset="-128"/>
              </a:rPr>
              <a:t>Pod-A</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4" name="Rectangle 3"/>
          <p:cNvSpPr/>
          <p:nvPr/>
        </p:nvSpPr>
        <p:spPr bwMode="gray">
          <a:xfrm>
            <a:off x="882566" y="2775221"/>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IP: 10.10.10.1</a:t>
            </a:r>
          </a:p>
        </p:txBody>
      </p:sp>
      <p:sp>
        <p:nvSpPr>
          <p:cNvPr id="6" name="Cylinder 5"/>
          <p:cNvSpPr/>
          <p:nvPr/>
        </p:nvSpPr>
        <p:spPr bwMode="gray">
          <a:xfrm>
            <a:off x="7288556" y="3122468"/>
            <a:ext cx="2849743" cy="2556672"/>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Storage backend</a:t>
            </a:r>
          </a:p>
        </p:txBody>
      </p:sp>
      <p:sp>
        <p:nvSpPr>
          <p:cNvPr id="7" name="Rectangle 6"/>
          <p:cNvSpPr/>
          <p:nvPr/>
        </p:nvSpPr>
        <p:spPr bwMode="gray">
          <a:xfrm>
            <a:off x="1367076" y="3845369"/>
            <a:ext cx="1627931" cy="115625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ontainer</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as /</a:t>
            </a:r>
            <a:r>
              <a:rPr lang="en-US" sz="1800" kern="0" dirty="0" err="1">
                <a:ea typeface="Arial Unicode MS" pitchFamily="34" charset="-128"/>
                <a:cs typeface="Arial Unicode MS" pitchFamily="34" charset="-128"/>
              </a:rPr>
              <a:t>mnt</a:t>
            </a:r>
            <a:r>
              <a:rPr lang="en-US" sz="1800" kern="0" dirty="0">
                <a:ea typeface="Arial Unicode MS" pitchFamily="34" charset="-128"/>
                <a:cs typeface="Arial Unicode MS" pitchFamily="34" charset="-128"/>
              </a:rPr>
              <a: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18"/>
          <p:cNvSpPr/>
          <p:nvPr/>
        </p:nvSpPr>
        <p:spPr>
          <a:xfrm>
            <a:off x="504000" y="1223190"/>
            <a:ext cx="10590719" cy="1384995"/>
          </a:xfrm>
          <a:prstGeom prst="rect">
            <a:avLst/>
          </a:prstGeom>
        </p:spPr>
        <p:txBody>
          <a:bodyPr wrap="square">
            <a:spAutoFit/>
          </a:bodyPr>
          <a:lstStyle/>
          <a:p>
            <a:pPr marL="342900" indent="-342900">
              <a:buFont typeface="Wingdings" panose="05000000000000000000" pitchFamily="2" charset="2"/>
              <a:buChar char="§"/>
            </a:pPr>
            <a:r>
              <a:rPr lang="en-US" dirty="0"/>
              <a:t>Pods may declare &amp; request the usage of storage</a:t>
            </a:r>
          </a:p>
          <a:p>
            <a:pPr marL="342900" indent="-342900">
              <a:buFont typeface="Wingdings" panose="05000000000000000000" pitchFamily="2" charset="2"/>
              <a:buChar char="§"/>
            </a:pPr>
            <a:r>
              <a:rPr lang="en-US" dirty="0"/>
              <a:t>Kubernetes makes the file system available to the container</a:t>
            </a:r>
          </a:p>
          <a:p>
            <a:pPr marL="342900" indent="-342900">
              <a:buFont typeface="Wingdings" panose="05000000000000000000" pitchFamily="2" charset="2"/>
              <a:buChar char="§"/>
            </a:pPr>
            <a:r>
              <a:rPr lang="en-US" dirty="0"/>
              <a:t>Kubernetes offers different types of storage integration:</a:t>
            </a:r>
          </a:p>
          <a:p>
            <a:pPr marL="887288" lvl="1" indent="-342900">
              <a:buFont typeface="Wingdings" panose="05000000000000000000" pitchFamily="2" charset="2"/>
              <a:buChar char="§"/>
            </a:pPr>
            <a:r>
              <a:rPr lang="en-US" dirty="0">
                <a:hlinkClick r:id="rId3"/>
              </a:rPr>
              <a:t>https://kubernetes.io/docs/concepts/storage/volumes/</a:t>
            </a:r>
            <a:r>
              <a:rPr lang="en-US" dirty="0"/>
              <a:t> </a:t>
            </a:r>
          </a:p>
        </p:txBody>
      </p:sp>
      <p:sp>
        <p:nvSpPr>
          <p:cNvPr id="10" name="Rectangle: Folded Corner 9">
            <a:extLst>
              <a:ext uri="{FF2B5EF4-FFF2-40B4-BE49-F238E27FC236}">
                <a16:creationId xmlns:a16="http://schemas.microsoft.com/office/drawing/2014/main" id="{3517D632-E7C8-457B-8486-7040039A0346}"/>
              </a:ext>
            </a:extLst>
          </p:cNvPr>
          <p:cNvSpPr/>
          <p:nvPr/>
        </p:nvSpPr>
        <p:spPr bwMode="gray">
          <a:xfrm>
            <a:off x="3923323" y="4019329"/>
            <a:ext cx="1162455" cy="799123"/>
          </a:xfrm>
          <a:prstGeom prst="foldedCorner">
            <a:avLst/>
          </a:prstGeom>
          <a:solidFill>
            <a:schemeClr val="accent1">
              <a:lumMod val="20000"/>
              <a:lumOff val="80000"/>
            </a:schemeClr>
          </a:solidFill>
          <a:ln w="6350" algn="ctr">
            <a:no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reference</a:t>
            </a:r>
            <a:endParaRPr lang="de-DE" sz="1800" kern="0" dirty="0" err="1">
              <a:solidFill>
                <a:schemeClr val="dk1"/>
              </a:solidFill>
              <a:latin typeface="+mn-lt"/>
              <a:ea typeface="Arial Unicode MS" pitchFamily="34" charset="-128"/>
              <a:cs typeface="Arial Unicode MS" pitchFamily="34" charset="-128"/>
            </a:endParaRPr>
          </a:p>
        </p:txBody>
      </p:sp>
      <p:cxnSp>
        <p:nvCxnSpPr>
          <p:cNvPr id="18" name="Straight Arrow Connector 17">
            <a:extLst>
              <a:ext uri="{FF2B5EF4-FFF2-40B4-BE49-F238E27FC236}">
                <a16:creationId xmlns:a16="http://schemas.microsoft.com/office/drawing/2014/main" id="{E0D33A96-9C53-4F98-807F-88BF803B73B4}"/>
              </a:ext>
            </a:extLst>
          </p:cNvPr>
          <p:cNvCxnSpPr>
            <a:cxnSpLocks/>
            <a:stCxn id="6" idx="2"/>
            <a:endCxn id="10" idx="3"/>
          </p:cNvCxnSpPr>
          <p:nvPr/>
        </p:nvCxnSpPr>
        <p:spPr>
          <a:xfrm flipH="1">
            <a:off x="5085778" y="4400804"/>
            <a:ext cx="2202778" cy="18087"/>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B689FC9-7BDE-4FFC-B2BF-7DFAF928FCC5}"/>
              </a:ext>
            </a:extLst>
          </p:cNvPr>
          <p:cNvCxnSpPr>
            <a:cxnSpLocks/>
            <a:stCxn id="10" idx="1"/>
            <a:endCxn id="7" idx="3"/>
          </p:cNvCxnSpPr>
          <p:nvPr/>
        </p:nvCxnSpPr>
        <p:spPr>
          <a:xfrm flipH="1">
            <a:off x="2995007" y="4418891"/>
            <a:ext cx="928316" cy="4607"/>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0105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39EE352-0CCE-4CF0-8DDC-A3B7E4A11A51}"/>
              </a:ext>
            </a:extLst>
          </p:cNvPr>
          <p:cNvPicPr>
            <a:picLocks noChangeAspect="1"/>
          </p:cNvPicPr>
          <p:nvPr/>
        </p:nvPicPr>
        <p:blipFill>
          <a:blip r:embed="rId3"/>
          <a:stretch>
            <a:fillRect/>
          </a:stretch>
        </p:blipFill>
        <p:spPr>
          <a:xfrm>
            <a:off x="6319048" y="609952"/>
            <a:ext cx="5371429" cy="5638095"/>
          </a:xfrm>
          <a:prstGeom prst="rect">
            <a:avLst/>
          </a:prstGeom>
          <a:ln>
            <a:solidFill>
              <a:schemeClr val="tx1"/>
            </a:solidFill>
          </a:ln>
        </p:spPr>
      </p:pic>
      <p:sp>
        <p:nvSpPr>
          <p:cNvPr id="2" name="Title 1"/>
          <p:cNvSpPr>
            <a:spLocks noGrp="1"/>
          </p:cNvSpPr>
          <p:nvPr>
            <p:ph type="title"/>
          </p:nvPr>
        </p:nvSpPr>
        <p:spPr/>
        <p:txBody>
          <a:bodyPr/>
          <a:lstStyle/>
          <a:p>
            <a:r>
              <a:rPr lang="en-US" dirty="0"/>
              <a:t>Volumes &amp; </a:t>
            </a:r>
            <a:r>
              <a:rPr lang="en-US" dirty="0" err="1"/>
              <a:t>VolumeMounts</a:t>
            </a:r>
            <a:endParaRPr lang="en-US" dirty="0"/>
          </a:p>
        </p:txBody>
      </p:sp>
      <p:sp>
        <p:nvSpPr>
          <p:cNvPr id="3" name="Rectangle 2"/>
          <p:cNvSpPr/>
          <p:nvPr/>
        </p:nvSpPr>
        <p:spPr>
          <a:xfrm>
            <a:off x="504000" y="1136103"/>
            <a:ext cx="6297393" cy="4616648"/>
          </a:xfrm>
          <a:prstGeom prst="rect">
            <a:avLst/>
          </a:prstGeom>
        </p:spPr>
        <p:txBody>
          <a:bodyPr wrap="square">
            <a:spAutoFit/>
          </a:bodyPr>
          <a:lstStyle/>
          <a:p>
            <a:pPr marL="342900" indent="-342900">
              <a:buFont typeface="Wingdings" panose="05000000000000000000" pitchFamily="2" charset="2"/>
              <a:buChar char="§"/>
            </a:pPr>
            <a:r>
              <a:rPr lang="en-US" dirty="0"/>
              <a:t>Volumes are part of the </a:t>
            </a:r>
            <a:r>
              <a:rPr lang="en-US" dirty="0" err="1"/>
              <a:t>PodSpec</a:t>
            </a:r>
            <a:r>
              <a:rPr lang="en-US" dirty="0"/>
              <a:t> object</a:t>
            </a:r>
          </a:p>
          <a:p>
            <a:pPr marL="342900" indent="-342900">
              <a:buFont typeface="Wingdings" panose="05000000000000000000" pitchFamily="2" charset="2"/>
              <a:buChar char="§"/>
            </a:pPr>
            <a:r>
              <a:rPr lang="en-US" dirty="0"/>
              <a:t>Available for a lot of backends</a:t>
            </a:r>
          </a:p>
          <a:p>
            <a:pPr marL="887288" lvl="1" indent="-342900">
              <a:buFont typeface="Wingdings" panose="05000000000000000000" pitchFamily="2" charset="2"/>
              <a:buChar char="§"/>
            </a:pPr>
            <a:r>
              <a:rPr lang="en-US" dirty="0"/>
              <a:t>local storage (</a:t>
            </a:r>
            <a:r>
              <a:rPr lang="en-US" dirty="0" err="1"/>
              <a:t>nfs</a:t>
            </a:r>
            <a:r>
              <a:rPr lang="en-US" dirty="0"/>
              <a:t>, </a:t>
            </a:r>
            <a:r>
              <a:rPr lang="en-US" dirty="0" err="1"/>
              <a:t>hostPath</a:t>
            </a:r>
            <a:r>
              <a:rPr lang="en-US" dirty="0"/>
              <a:t>, </a:t>
            </a:r>
            <a:r>
              <a:rPr lang="en-US" dirty="0" err="1"/>
              <a:t>ceph</a:t>
            </a:r>
            <a:r>
              <a:rPr lang="en-US" dirty="0"/>
              <a:t>)</a:t>
            </a:r>
          </a:p>
          <a:p>
            <a:pPr marL="887288" lvl="1" indent="-342900">
              <a:buFont typeface="Wingdings" panose="05000000000000000000" pitchFamily="2" charset="2"/>
              <a:buChar char="§"/>
            </a:pPr>
            <a:r>
              <a:rPr lang="en-US" dirty="0"/>
              <a:t>cloud storage (Azure, GCP, AWS,…)</a:t>
            </a:r>
          </a:p>
          <a:p>
            <a:pPr marL="342900" indent="-342900">
              <a:buFont typeface="Wingdings" panose="05000000000000000000" pitchFamily="2" charset="2"/>
              <a:buChar char="§"/>
            </a:pPr>
            <a:endParaRPr lang="en-US" dirty="0"/>
          </a:p>
          <a:p>
            <a:pPr marL="342900" indent="-342900">
              <a:buFont typeface="Wingdings" panose="05000000000000000000" pitchFamily="2" charset="2"/>
              <a:buChar char="§"/>
            </a:pPr>
            <a:r>
              <a:rPr lang="en-US" dirty="0"/>
              <a:t>Make storage available in a container via </a:t>
            </a:r>
            <a:r>
              <a:rPr lang="en-US" dirty="0" err="1"/>
              <a:t>VolumeMounts</a:t>
            </a:r>
            <a:r>
              <a:rPr lang="en-US" dirty="0"/>
              <a:t> as part of the container specification</a:t>
            </a:r>
          </a:p>
          <a:p>
            <a:pPr marL="342900" indent="-342900">
              <a:buFont typeface="Wingdings" panose="05000000000000000000" pitchFamily="2" charset="2"/>
              <a:buChar char="§"/>
            </a:pPr>
            <a:endParaRPr lang="en-US" dirty="0"/>
          </a:p>
          <a:p>
            <a:pPr marL="342900" indent="-342900">
              <a:buFont typeface="Wingdings" panose="05000000000000000000" pitchFamily="2" charset="2"/>
              <a:buChar char="§"/>
            </a:pPr>
            <a:r>
              <a:rPr lang="en-US" dirty="0"/>
              <a:t>Special volumes: </a:t>
            </a:r>
          </a:p>
          <a:p>
            <a:pPr marL="887288" lvl="1" indent="-342900">
              <a:buFont typeface="Wingdings" panose="05000000000000000000" pitchFamily="2" charset="2"/>
              <a:buChar char="§"/>
            </a:pPr>
            <a:r>
              <a:rPr lang="en-US" dirty="0" err="1"/>
              <a:t>emptyDir</a:t>
            </a:r>
            <a:endParaRPr lang="en-US" dirty="0"/>
          </a:p>
          <a:p>
            <a:pPr marL="887288" lvl="1" indent="-342900">
              <a:buFont typeface="Wingdings" panose="05000000000000000000" pitchFamily="2" charset="2"/>
              <a:buChar char="§"/>
            </a:pPr>
            <a:r>
              <a:rPr lang="en-US" dirty="0"/>
              <a:t>secret</a:t>
            </a:r>
          </a:p>
          <a:p>
            <a:pPr marL="887288" lvl="1" indent="-342900">
              <a:buFont typeface="Wingdings" panose="05000000000000000000" pitchFamily="2" charset="2"/>
              <a:buChar char="§"/>
            </a:pPr>
            <a:r>
              <a:rPr lang="en-US" dirty="0" err="1"/>
              <a:t>configMap</a:t>
            </a:r>
            <a:endParaRPr lang="en-US" dirty="0"/>
          </a:p>
          <a:p>
            <a:pPr marL="887288" lvl="1" indent="-342900">
              <a:buFont typeface="Wingdings" panose="05000000000000000000" pitchFamily="2" charset="2"/>
              <a:buChar char="§"/>
            </a:pPr>
            <a:r>
              <a:rPr lang="en-US" dirty="0" err="1"/>
              <a:t>persistentVolumeClaim</a:t>
            </a:r>
            <a:endParaRPr lang="en-US" dirty="0"/>
          </a:p>
        </p:txBody>
      </p:sp>
      <p:cxnSp>
        <p:nvCxnSpPr>
          <p:cNvPr id="6" name="Straight Arrow Connector 5">
            <a:extLst>
              <a:ext uri="{FF2B5EF4-FFF2-40B4-BE49-F238E27FC236}">
                <a16:creationId xmlns:a16="http://schemas.microsoft.com/office/drawing/2014/main" id="{E479DB24-BD81-45B4-9289-721AB3CE10B9}"/>
              </a:ext>
            </a:extLst>
          </p:cNvPr>
          <p:cNvCxnSpPr>
            <a:cxnSpLocks/>
          </p:cNvCxnSpPr>
          <p:nvPr/>
        </p:nvCxnSpPr>
        <p:spPr>
          <a:xfrm flipH="1">
            <a:off x="10289708" y="2664374"/>
            <a:ext cx="994298" cy="0"/>
          </a:xfrm>
          <a:prstGeom prst="straightConnector1">
            <a:avLst/>
          </a:prstGeom>
          <a:ln w="762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C49C768-125F-4533-A932-E3B6166BC153}"/>
              </a:ext>
            </a:extLst>
          </p:cNvPr>
          <p:cNvCxnSpPr>
            <a:cxnSpLocks/>
          </p:cNvCxnSpPr>
          <p:nvPr/>
        </p:nvCxnSpPr>
        <p:spPr>
          <a:xfrm flipH="1">
            <a:off x="10289708" y="5752751"/>
            <a:ext cx="994298" cy="0"/>
          </a:xfrm>
          <a:prstGeom prst="straightConnector1">
            <a:avLst/>
          </a:prstGeom>
          <a:ln w="762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484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734113" y="1194318"/>
            <a:ext cx="5363474" cy="4822103"/>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endParaRPr lang="de-DE" sz="2400" b="1" kern="0" dirty="0">
              <a:ea typeface="Arial Unicode MS" pitchFamily="34" charset="-128"/>
              <a:cs typeface="Arial Unicode MS" pitchFamily="34" charset="-128"/>
            </a:endParaRPr>
          </a:p>
        </p:txBody>
      </p:sp>
      <p:sp>
        <p:nvSpPr>
          <p:cNvPr id="4" name="Rectangle 3">
            <a:extLst>
              <a:ext uri="{FF2B5EF4-FFF2-40B4-BE49-F238E27FC236}">
                <a16:creationId xmlns:a16="http://schemas.microsoft.com/office/drawing/2014/main" id="{660740E0-E110-40F4-B654-BF64B5C3974C}"/>
              </a:ext>
            </a:extLst>
          </p:cNvPr>
          <p:cNvSpPr/>
          <p:nvPr/>
        </p:nvSpPr>
        <p:spPr bwMode="gray">
          <a:xfrm>
            <a:off x="942854" y="1824023"/>
            <a:ext cx="4945992"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492898" y="2226479"/>
            <a:ext cx="3853543"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1156996" y="2025447"/>
            <a:ext cx="448802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6683196" y="1664086"/>
            <a:ext cx="701886" cy="7236578"/>
          </a:xfrm>
          <a:prstGeom prst="bentConnector3">
            <a:avLst>
              <a:gd name="adj1" fmla="val 2083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835354"/>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8153032" y="3402992"/>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17" name="TextBox 16">
            <a:extLst>
              <a:ext uri="{FF2B5EF4-FFF2-40B4-BE49-F238E27FC236}">
                <a16:creationId xmlns:a16="http://schemas.microsoft.com/office/drawing/2014/main" id="{D139FEFC-B3E0-41A1-A62C-89812500AB8A}"/>
              </a:ext>
            </a:extLst>
          </p:cNvPr>
          <p:cNvSpPr txBox="1"/>
          <p:nvPr/>
        </p:nvSpPr>
        <p:spPr>
          <a:xfrm>
            <a:off x="2086237" y="5356319"/>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V="1">
            <a:off x="4745462" y="2951370"/>
            <a:ext cx="600979" cy="2543449"/>
          </a:xfrm>
          <a:prstGeom prst="bentConnector3">
            <a:avLst>
              <a:gd name="adj1" fmla="val 274664"/>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3" name="Speech Bubble: Rectangle 32">
            <a:extLst>
              <a:ext uri="{FF2B5EF4-FFF2-40B4-BE49-F238E27FC236}">
                <a16:creationId xmlns:a16="http://schemas.microsoft.com/office/drawing/2014/main" id="{5B53B858-3863-4785-B6C9-937C457F27BF}"/>
              </a:ext>
            </a:extLst>
          </p:cNvPr>
          <p:cNvSpPr/>
          <p:nvPr/>
        </p:nvSpPr>
        <p:spPr bwMode="gray">
          <a:xfrm>
            <a:off x="6954486" y="1204378"/>
            <a:ext cx="4083693" cy="915844"/>
          </a:xfrm>
          <a:prstGeom prst="wedgeRectCallout">
            <a:avLst>
              <a:gd name="adj1" fmla="val -60566"/>
              <a:gd name="adj2" fmla="val 12316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bind mount /</a:t>
            </a:r>
            <a:r>
              <a:rPr lang="en-US" sz="1800" kern="0" dirty="0" err="1">
                <a:ea typeface="Arial Unicode MS" pitchFamily="34" charset="-128"/>
                <a:cs typeface="Arial Unicode MS" pitchFamily="34" charset="-128"/>
              </a:rPr>
              <a:t>mnt</a:t>
            </a:r>
            <a:r>
              <a:rPr lang="en-US" sz="1800" kern="0" dirty="0">
                <a:ea typeface="Arial Unicode MS" pitchFamily="34" charset="-128"/>
                <a:cs typeface="Arial Unicode MS" pitchFamily="34" charset="-128"/>
              </a:rPr>
              <a:t>/</a:t>
            </a:r>
            <a:r>
              <a:rPr lang="en-US" sz="1800" kern="0" dirty="0" err="1">
                <a:ea typeface="Arial Unicode MS" pitchFamily="34" charset="-128"/>
                <a:cs typeface="Arial Unicode MS" pitchFamily="34" charset="-128"/>
              </a:rPr>
              <a:t>gce</a:t>
            </a:r>
            <a:r>
              <a:rPr lang="en-US" sz="1800" kern="0" dirty="0">
                <a:ea typeface="Arial Unicode MS" pitchFamily="34" charset="-128"/>
                <a:cs typeface="Arial Unicode MS" pitchFamily="34" charset="-128"/>
              </a:rPr>
              <a:t>-pd-volume into container file system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4" name="Speech Bubble: Rectangle 33">
            <a:extLst>
              <a:ext uri="{FF2B5EF4-FFF2-40B4-BE49-F238E27FC236}">
                <a16:creationId xmlns:a16="http://schemas.microsoft.com/office/drawing/2014/main" id="{02F1BB7E-F5B4-4CDD-8F67-83E7478969BE}"/>
              </a:ext>
            </a:extLst>
          </p:cNvPr>
          <p:cNvSpPr/>
          <p:nvPr/>
        </p:nvSpPr>
        <p:spPr bwMode="gray">
          <a:xfrm>
            <a:off x="7092886" y="4997906"/>
            <a:ext cx="2257265" cy="636814"/>
          </a:xfrm>
          <a:prstGeom prst="wedgeRectCallout">
            <a:avLst>
              <a:gd name="adj1" fmla="val -44727"/>
              <a:gd name="adj2" fmla="val 14638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disk to node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1" name="TextBox 40">
            <a:extLst>
              <a:ext uri="{FF2B5EF4-FFF2-40B4-BE49-F238E27FC236}">
                <a16:creationId xmlns:a16="http://schemas.microsoft.com/office/drawing/2014/main" id="{A5B6FDA5-3A11-48F6-B6C6-D8DA71C5C7A8}"/>
              </a:ext>
            </a:extLst>
          </p:cNvPr>
          <p:cNvSpPr txBox="1"/>
          <p:nvPr/>
        </p:nvSpPr>
        <p:spPr>
          <a:xfrm>
            <a:off x="9674476"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pic>
        <p:nvPicPr>
          <p:cNvPr id="15" name="Graphic 14" descr="Open folder">
            <a:extLst>
              <a:ext uri="{FF2B5EF4-FFF2-40B4-BE49-F238E27FC236}">
                <a16:creationId xmlns:a16="http://schemas.microsoft.com/office/drawing/2014/main" id="{D0A6C5E6-05B9-46C9-AA9A-E2462B4A49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04787" y="5037618"/>
            <a:ext cx="914400" cy="914400"/>
          </a:xfrm>
          <a:prstGeom prst="rect">
            <a:avLst/>
          </a:prstGeom>
        </p:spPr>
      </p:pic>
      <p:pic>
        <p:nvPicPr>
          <p:cNvPr id="16" name="Graphic 15" descr="Open folder">
            <a:extLst>
              <a:ext uri="{FF2B5EF4-FFF2-40B4-BE49-F238E27FC236}">
                <a16:creationId xmlns:a16="http://schemas.microsoft.com/office/drawing/2014/main" id="{3F046704-6902-436D-9071-009B283ED88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92436" y="2650246"/>
            <a:ext cx="914400" cy="914400"/>
          </a:xfrm>
          <a:prstGeom prst="rect">
            <a:avLst/>
          </a:prstGeom>
        </p:spPr>
      </p:pic>
    </p:spTree>
    <p:extLst>
      <p:ext uri="{BB962C8B-B14F-4D97-AF65-F5344CB8AC3E}">
        <p14:creationId xmlns:p14="http://schemas.microsoft.com/office/powerpoint/2010/main" val="1967462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7" grpId="0"/>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01F17-8E97-46B7-8E74-3BDBEA4CB50F}"/>
              </a:ext>
            </a:extLst>
          </p:cNvPr>
          <p:cNvSpPr>
            <a:spLocks noGrp="1"/>
          </p:cNvSpPr>
          <p:nvPr>
            <p:ph type="ctrTitle"/>
          </p:nvPr>
        </p:nvSpPr>
        <p:spPr/>
        <p:txBody>
          <a:bodyPr/>
          <a:lstStyle/>
          <a:p>
            <a:r>
              <a:rPr lang="en-US" dirty="0"/>
              <a:t>Are there drawbacks of direct storage integration?</a:t>
            </a:r>
          </a:p>
        </p:txBody>
      </p:sp>
    </p:spTree>
    <p:extLst>
      <p:ext uri="{BB962C8B-B14F-4D97-AF65-F5344CB8AC3E}">
        <p14:creationId xmlns:p14="http://schemas.microsoft.com/office/powerpoint/2010/main" val="2958961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1E57CB26-11C0-4A32-A2E4-3BF415F0505B}"/>
              </a:ext>
            </a:extLst>
          </p:cNvPr>
          <p:cNvSpPr/>
          <p:nvPr/>
        </p:nvSpPr>
        <p:spPr bwMode="gray">
          <a:xfrm>
            <a:off x="6835806" y="1074198"/>
            <a:ext cx="5193437" cy="2902998"/>
          </a:xfrm>
          <a:prstGeom prst="rect">
            <a:avLst/>
          </a:prstGeom>
          <a:noFill/>
          <a:ln w="571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chemeClr val="tx1"/>
                </a:solidFill>
                <a:effectLst/>
                <a:uLnTx/>
                <a:uFillTx/>
                <a:ea typeface="Arial Unicode MS" pitchFamily="34" charset="-128"/>
                <a:cs typeface="Arial Unicode MS" pitchFamily="34" charset="-128"/>
              </a:rPr>
              <a:t>Administrator space</a:t>
            </a:r>
          </a:p>
        </p:txBody>
      </p:sp>
      <p:sp>
        <p:nvSpPr>
          <p:cNvPr id="2" name="Title 1"/>
          <p:cNvSpPr>
            <a:spLocks noGrp="1"/>
          </p:cNvSpPr>
          <p:nvPr>
            <p:ph type="title"/>
          </p:nvPr>
        </p:nvSpPr>
        <p:spPr/>
        <p:txBody>
          <a:bodyPr/>
          <a:lstStyle/>
          <a:p>
            <a:r>
              <a:rPr lang="en-US" dirty="0"/>
              <a:t>Storage with </a:t>
            </a:r>
            <a:r>
              <a:rPr lang="en-US" dirty="0" err="1"/>
              <a:t>PersistentVolumes</a:t>
            </a:r>
            <a:r>
              <a:rPr lang="en-US" dirty="0"/>
              <a:t> &amp; </a:t>
            </a:r>
            <a:r>
              <a:rPr lang="en-US" dirty="0" err="1"/>
              <a:t>PersistentVolumeClaims</a:t>
            </a:r>
            <a:endParaRPr lang="en-US" dirty="0"/>
          </a:p>
        </p:txBody>
      </p:sp>
      <p:sp>
        <p:nvSpPr>
          <p:cNvPr id="7" name="Cylinder 6"/>
          <p:cNvSpPr/>
          <p:nvPr/>
        </p:nvSpPr>
        <p:spPr bwMode="gray">
          <a:xfrm>
            <a:off x="9891783" y="1922165"/>
            <a:ext cx="1693576" cy="1362573"/>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Physical storage</a:t>
            </a:r>
          </a:p>
        </p:txBody>
      </p:sp>
      <p:grpSp>
        <p:nvGrpSpPr>
          <p:cNvPr id="34" name="Group 33">
            <a:extLst>
              <a:ext uri="{FF2B5EF4-FFF2-40B4-BE49-F238E27FC236}">
                <a16:creationId xmlns:a16="http://schemas.microsoft.com/office/drawing/2014/main" id="{5A64DBBD-B70F-448E-98B9-B0B9BD96B767}"/>
              </a:ext>
            </a:extLst>
          </p:cNvPr>
          <p:cNvGrpSpPr/>
          <p:nvPr/>
        </p:nvGrpSpPr>
        <p:grpSpPr>
          <a:xfrm>
            <a:off x="740815" y="1604970"/>
            <a:ext cx="2312888" cy="2001495"/>
            <a:chOff x="572139" y="1383027"/>
            <a:chExt cx="2312888" cy="2001495"/>
          </a:xfrm>
        </p:grpSpPr>
        <p:sp>
          <p:nvSpPr>
            <p:cNvPr id="5" name="Rectangle 4"/>
            <p:cNvSpPr/>
            <p:nvPr/>
          </p:nvSpPr>
          <p:spPr bwMode="gray">
            <a:xfrm>
              <a:off x="572139" y="1383027"/>
              <a:ext cx="2312888" cy="2001495"/>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solidFill>
                    <a:sysClr val="windowText" lastClr="000000"/>
                  </a:solidFill>
                  <a:ea typeface="Arial Unicode MS" pitchFamily="34" charset="-128"/>
                  <a:cs typeface="Arial Unicode MS" pitchFamily="34" charset="-128"/>
                </a:rPr>
                <a:t>Pod-A</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8" name="Rectangle 7"/>
            <p:cNvSpPr/>
            <p:nvPr/>
          </p:nvSpPr>
          <p:spPr bwMode="gray">
            <a:xfrm>
              <a:off x="914617" y="1851143"/>
              <a:ext cx="1627931" cy="115625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c</a:t>
              </a:r>
              <a:r>
                <a:rPr kumimoji="0" lang="en-US" sz="1800" b="0" i="0" u="none" strike="noStrike" kern="0" cap="none" spc="0" normalizeH="0" baseline="0" noProof="0">
                  <a:ln>
                    <a:noFill/>
                  </a:ln>
                  <a:effectLst/>
                  <a:uLnTx/>
                  <a:uFillTx/>
                  <a:ea typeface="Arial Unicode MS" pitchFamily="34" charset="-128"/>
                  <a:cs typeface="Arial Unicode MS" pitchFamily="34" charset="-128"/>
                </a:rPr>
                <a:t>ontainer</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4" name="Cylinder 13"/>
          <p:cNvSpPr/>
          <p:nvPr/>
        </p:nvSpPr>
        <p:spPr bwMode="gray">
          <a:xfrm>
            <a:off x="7515467" y="2050742"/>
            <a:ext cx="1486490" cy="1104455"/>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a:t>
            </a:r>
            <a:r>
              <a:rPr kumimoji="0" lang="en-US" sz="1800" b="0" i="0" u="none" strike="noStrike" kern="0" cap="none" spc="0" normalizeH="0" noProof="0" dirty="0">
                <a:ln>
                  <a:noFill/>
                </a:ln>
                <a:effectLst/>
                <a:uLnTx/>
                <a:uFillTx/>
                <a:ea typeface="Arial Unicode MS" pitchFamily="34" charset="-128"/>
                <a:cs typeface="Arial Unicode MS" pitchFamily="34" charset="-128"/>
              </a:rPr>
              <a:t> Volume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Diagonal Corners Rounded 15"/>
          <p:cNvSpPr/>
          <p:nvPr/>
        </p:nvSpPr>
        <p:spPr bwMode="gray">
          <a:xfrm>
            <a:off x="3880398" y="2048142"/>
            <a:ext cx="1803653" cy="1112233"/>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cxnSp>
        <p:nvCxnSpPr>
          <p:cNvPr id="17" name="Connector: Elbow 16"/>
          <p:cNvCxnSpPr>
            <a:cxnSpLocks/>
            <a:stCxn id="14" idx="4"/>
            <a:endCxn id="7" idx="2"/>
          </p:cNvCxnSpPr>
          <p:nvPr/>
        </p:nvCxnSpPr>
        <p:spPr>
          <a:xfrm>
            <a:off x="9001957" y="2602970"/>
            <a:ext cx="889826" cy="482"/>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Connector: Elbow 19"/>
          <p:cNvCxnSpPr>
            <a:cxnSpLocks/>
            <a:stCxn id="16" idx="0"/>
            <a:endCxn id="14" idx="2"/>
          </p:cNvCxnSpPr>
          <p:nvPr/>
        </p:nvCxnSpPr>
        <p:spPr>
          <a:xfrm flipV="1">
            <a:off x="5684051" y="2602970"/>
            <a:ext cx="1831416" cy="1289"/>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p:cNvCxnSpPr>
            <a:cxnSpLocks/>
            <a:stCxn id="5" idx="3"/>
            <a:endCxn id="16" idx="2"/>
          </p:cNvCxnSpPr>
          <p:nvPr/>
        </p:nvCxnSpPr>
        <p:spPr>
          <a:xfrm flipV="1">
            <a:off x="3053703" y="2604259"/>
            <a:ext cx="826695" cy="1459"/>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8DB1AA6-8411-463E-8620-A75558441644}"/>
              </a:ext>
            </a:extLst>
          </p:cNvPr>
          <p:cNvSpPr/>
          <p:nvPr/>
        </p:nvSpPr>
        <p:spPr bwMode="gray">
          <a:xfrm>
            <a:off x="446882" y="1074198"/>
            <a:ext cx="5785243" cy="2902998"/>
          </a:xfrm>
          <a:prstGeom prst="rect">
            <a:avLst/>
          </a:prstGeom>
          <a:noFill/>
          <a:ln w="571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chemeClr val="tx1"/>
                </a:solidFill>
                <a:effectLst/>
                <a:uLnTx/>
                <a:uFillTx/>
                <a:ea typeface="Arial Unicode MS" pitchFamily="34" charset="-128"/>
                <a:cs typeface="Arial Unicode MS" pitchFamily="34" charset="-128"/>
              </a:rPr>
              <a:t>User space</a:t>
            </a:r>
          </a:p>
        </p:txBody>
      </p:sp>
      <p:sp>
        <p:nvSpPr>
          <p:cNvPr id="37" name="Speech Bubble: Rectangle 36">
            <a:extLst>
              <a:ext uri="{FF2B5EF4-FFF2-40B4-BE49-F238E27FC236}">
                <a16:creationId xmlns:a16="http://schemas.microsoft.com/office/drawing/2014/main" id="{52B3D3DA-BEE8-41ED-BAAE-06AF497E8BC8}"/>
              </a:ext>
            </a:extLst>
          </p:cNvPr>
          <p:cNvSpPr/>
          <p:nvPr/>
        </p:nvSpPr>
        <p:spPr bwMode="gray">
          <a:xfrm>
            <a:off x="7368466" y="4649272"/>
            <a:ext cx="3737500" cy="1713391"/>
          </a:xfrm>
          <a:prstGeom prst="wedgeRectCallout">
            <a:avLst>
              <a:gd name="adj1" fmla="val -9369"/>
              <a:gd name="adj2" fmla="val -10712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 Volumes objects represent physical storage</a:t>
            </a:r>
          </a:p>
        </p:txBody>
      </p:sp>
      <p:sp>
        <p:nvSpPr>
          <p:cNvPr id="38" name="Speech Bubble: Rectangle 37">
            <a:extLst>
              <a:ext uri="{FF2B5EF4-FFF2-40B4-BE49-F238E27FC236}">
                <a16:creationId xmlns:a16="http://schemas.microsoft.com/office/drawing/2014/main" id="{EAA44666-B3C1-46EC-BCE4-4A66C3892705}"/>
              </a:ext>
            </a:extLst>
          </p:cNvPr>
          <p:cNvSpPr/>
          <p:nvPr/>
        </p:nvSpPr>
        <p:spPr bwMode="gray">
          <a:xfrm>
            <a:off x="3822693" y="4649272"/>
            <a:ext cx="2409432" cy="1713391"/>
          </a:xfrm>
          <a:prstGeom prst="wedgeRectCallout">
            <a:avLst>
              <a:gd name="adj1" fmla="val -9369"/>
              <a:gd name="adj2" fmla="val -10712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Create a Persistent Volume Claim to bind the Persistent Volume</a:t>
            </a:r>
          </a:p>
        </p:txBody>
      </p:sp>
      <p:sp>
        <p:nvSpPr>
          <p:cNvPr id="39" name="Speech Bubble: Rectangle 38">
            <a:extLst>
              <a:ext uri="{FF2B5EF4-FFF2-40B4-BE49-F238E27FC236}">
                <a16:creationId xmlns:a16="http://schemas.microsoft.com/office/drawing/2014/main" id="{BB50BE1E-AE4B-4E48-B9C8-8C2BFE722CC6}"/>
              </a:ext>
            </a:extLst>
          </p:cNvPr>
          <p:cNvSpPr/>
          <p:nvPr/>
        </p:nvSpPr>
        <p:spPr bwMode="gray">
          <a:xfrm>
            <a:off x="740815" y="4649272"/>
            <a:ext cx="2409432" cy="1713391"/>
          </a:xfrm>
          <a:prstGeom prst="wedgeRectCallout">
            <a:avLst>
              <a:gd name="adj1" fmla="val -9369"/>
              <a:gd name="adj2" fmla="val -10712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Use the claim as a volume in a pod. </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Note: 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he claim has </a:t>
            </a:r>
            <a:r>
              <a:rPr lang="en-US" sz="1800" kern="0" dirty="0">
                <a:ea typeface="Arial Unicode MS" pitchFamily="34" charset="-128"/>
                <a:cs typeface="Arial Unicode MS" pitchFamily="34" charset="-128"/>
              </a:rPr>
              <a:t>a separate lifecycle. </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3165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Storage with </a:t>
            </a:r>
            <a:r>
              <a:rPr lang="en-US" dirty="0" err="1"/>
              <a:t>PersistentVolumes</a:t>
            </a:r>
            <a:r>
              <a:rPr lang="en-US" dirty="0"/>
              <a:t> &amp; </a:t>
            </a:r>
            <a:r>
              <a:rPr lang="en-US" dirty="0" err="1"/>
              <a:t>PersistentVolumeClaims</a:t>
            </a:r>
            <a:endParaRPr lang="en-US" dirty="0"/>
          </a:p>
        </p:txBody>
      </p:sp>
      <p:sp>
        <p:nvSpPr>
          <p:cNvPr id="3" name="Rectangle 2"/>
          <p:cNvSpPr/>
          <p:nvPr/>
        </p:nvSpPr>
        <p:spPr>
          <a:xfrm>
            <a:off x="504000" y="1207125"/>
            <a:ext cx="11186477" cy="1061829"/>
          </a:xfrm>
          <a:prstGeom prst="rect">
            <a:avLst/>
          </a:prstGeom>
        </p:spPr>
        <p:txBody>
          <a:bodyPr wrap="square">
            <a:spAutoFit/>
          </a:bodyPr>
          <a:lstStyle/>
          <a:p>
            <a:pPr marL="342900" indent="-342900">
              <a:buFont typeface="Wingdings" panose="05000000000000000000" pitchFamily="2" charset="2"/>
              <a:buChar char="§"/>
            </a:pPr>
            <a:r>
              <a:rPr lang="en-US" dirty="0"/>
              <a:t>PV:PVC is always 1:1</a:t>
            </a:r>
          </a:p>
          <a:p>
            <a:pPr marL="342900" indent="-342900">
              <a:buFont typeface="Wingdings" panose="05000000000000000000" pitchFamily="2" charset="2"/>
              <a:buChar char="§"/>
            </a:pPr>
            <a:r>
              <a:rPr lang="en-US" dirty="0"/>
              <a:t>PV size must match or exceed PVC requested size</a:t>
            </a:r>
          </a:p>
          <a:p>
            <a:pPr marL="342900" indent="-342900">
              <a:buFont typeface="Wingdings" panose="05000000000000000000" pitchFamily="2" charset="2"/>
              <a:buChar char="§"/>
            </a:pPr>
            <a:r>
              <a:rPr lang="en-US" dirty="0"/>
              <a:t>PVC is used as volume within the pod</a:t>
            </a:r>
          </a:p>
        </p:txBody>
      </p:sp>
      <p:pic>
        <p:nvPicPr>
          <p:cNvPr id="10" name="Picture 9">
            <a:extLst>
              <a:ext uri="{FF2B5EF4-FFF2-40B4-BE49-F238E27FC236}">
                <a16:creationId xmlns:a16="http://schemas.microsoft.com/office/drawing/2014/main" id="{1F9B8604-CE72-409D-9CB2-5C97AB5C5C47}"/>
              </a:ext>
            </a:extLst>
          </p:cNvPr>
          <p:cNvPicPr>
            <a:picLocks noChangeAspect="1"/>
          </p:cNvPicPr>
          <p:nvPr/>
        </p:nvPicPr>
        <p:blipFill>
          <a:blip r:embed="rId3"/>
          <a:stretch>
            <a:fillRect/>
          </a:stretch>
        </p:blipFill>
        <p:spPr>
          <a:xfrm>
            <a:off x="8183039" y="2373308"/>
            <a:ext cx="3739324" cy="2974778"/>
          </a:xfrm>
          <a:prstGeom prst="rect">
            <a:avLst/>
          </a:prstGeom>
          <a:ln>
            <a:solidFill>
              <a:schemeClr val="tx1"/>
            </a:solidFill>
          </a:ln>
        </p:spPr>
      </p:pic>
      <p:pic>
        <p:nvPicPr>
          <p:cNvPr id="11" name="Picture 10">
            <a:extLst>
              <a:ext uri="{FF2B5EF4-FFF2-40B4-BE49-F238E27FC236}">
                <a16:creationId xmlns:a16="http://schemas.microsoft.com/office/drawing/2014/main" id="{CF621BDE-FE98-4375-9A5D-B8BEA8246BED}"/>
              </a:ext>
            </a:extLst>
          </p:cNvPr>
          <p:cNvPicPr>
            <a:picLocks noChangeAspect="1"/>
          </p:cNvPicPr>
          <p:nvPr/>
        </p:nvPicPr>
        <p:blipFill>
          <a:blip r:embed="rId4"/>
          <a:stretch>
            <a:fillRect/>
          </a:stretch>
        </p:blipFill>
        <p:spPr>
          <a:xfrm>
            <a:off x="602754" y="2342579"/>
            <a:ext cx="3760176" cy="4093796"/>
          </a:xfrm>
          <a:prstGeom prst="rect">
            <a:avLst/>
          </a:prstGeom>
          <a:ln>
            <a:solidFill>
              <a:schemeClr val="tx1"/>
            </a:solidFill>
          </a:ln>
        </p:spPr>
      </p:pic>
      <p:sp>
        <p:nvSpPr>
          <p:cNvPr id="13" name="Rectangle 12">
            <a:extLst>
              <a:ext uri="{FF2B5EF4-FFF2-40B4-BE49-F238E27FC236}">
                <a16:creationId xmlns:a16="http://schemas.microsoft.com/office/drawing/2014/main" id="{78568838-41F4-4797-AFD0-89EE72EA2978}"/>
              </a:ext>
            </a:extLst>
          </p:cNvPr>
          <p:cNvSpPr/>
          <p:nvPr/>
        </p:nvSpPr>
        <p:spPr>
          <a:xfrm>
            <a:off x="9633255" y="6147424"/>
            <a:ext cx="2561920" cy="415498"/>
          </a:xfrm>
          <a:prstGeom prst="rect">
            <a:avLst/>
          </a:prstGeom>
        </p:spPr>
        <p:txBody>
          <a:bodyPr wrap="none">
            <a:spAutoFit/>
          </a:bodyPr>
          <a:lstStyle/>
          <a:p>
            <a:r>
              <a:rPr lang="en-US" dirty="0"/>
              <a:t>PV is bound to PVC</a:t>
            </a:r>
          </a:p>
        </p:txBody>
      </p:sp>
      <p:sp>
        <p:nvSpPr>
          <p:cNvPr id="14" name="Arrow: Curved Down 13">
            <a:extLst>
              <a:ext uri="{FF2B5EF4-FFF2-40B4-BE49-F238E27FC236}">
                <a16:creationId xmlns:a16="http://schemas.microsoft.com/office/drawing/2014/main" id="{719C549F-1905-4273-A9FC-CE8AA32CA7FD}"/>
              </a:ext>
            </a:extLst>
          </p:cNvPr>
          <p:cNvSpPr/>
          <p:nvPr/>
        </p:nvSpPr>
        <p:spPr bwMode="gray">
          <a:xfrm rot="8642649">
            <a:off x="4441656" y="5752676"/>
            <a:ext cx="1615747" cy="789497"/>
          </a:xfrm>
          <a:prstGeom prst="curvedDownArrow">
            <a:avLst/>
          </a:prstGeom>
          <a:solidFill>
            <a:schemeClr val="bg2"/>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A010DCA7-D900-4CE2-B6F9-E8A3CB066D8F}"/>
              </a:ext>
            </a:extLst>
          </p:cNvPr>
          <p:cNvSpPr/>
          <p:nvPr/>
        </p:nvSpPr>
        <p:spPr>
          <a:xfrm>
            <a:off x="5723438" y="6067043"/>
            <a:ext cx="2208876" cy="738664"/>
          </a:xfrm>
          <a:prstGeom prst="rect">
            <a:avLst/>
          </a:prstGeom>
        </p:spPr>
        <p:txBody>
          <a:bodyPr wrap="square">
            <a:spAutoFit/>
          </a:bodyPr>
          <a:lstStyle/>
          <a:p>
            <a:r>
              <a:rPr lang="en-US" dirty="0"/>
              <a:t>PVC referenced by Pod </a:t>
            </a:r>
          </a:p>
        </p:txBody>
      </p:sp>
      <p:pic>
        <p:nvPicPr>
          <p:cNvPr id="16" name="Picture 15">
            <a:extLst>
              <a:ext uri="{FF2B5EF4-FFF2-40B4-BE49-F238E27FC236}">
                <a16:creationId xmlns:a16="http://schemas.microsoft.com/office/drawing/2014/main" id="{53317CB1-4E29-408D-984E-BA4F485334CF}"/>
              </a:ext>
            </a:extLst>
          </p:cNvPr>
          <p:cNvPicPr>
            <a:picLocks noChangeAspect="1"/>
          </p:cNvPicPr>
          <p:nvPr/>
        </p:nvPicPr>
        <p:blipFill>
          <a:blip r:embed="rId5"/>
          <a:stretch>
            <a:fillRect/>
          </a:stretch>
        </p:blipFill>
        <p:spPr>
          <a:xfrm>
            <a:off x="4676972" y="2373308"/>
            <a:ext cx="3151929" cy="2777105"/>
          </a:xfrm>
          <a:prstGeom prst="rect">
            <a:avLst/>
          </a:prstGeom>
          <a:ln>
            <a:solidFill>
              <a:schemeClr val="tx1"/>
            </a:solidFill>
          </a:ln>
        </p:spPr>
      </p:pic>
      <p:sp>
        <p:nvSpPr>
          <p:cNvPr id="12" name="Arrow: Curved Down 11">
            <a:extLst>
              <a:ext uri="{FF2B5EF4-FFF2-40B4-BE49-F238E27FC236}">
                <a16:creationId xmlns:a16="http://schemas.microsoft.com/office/drawing/2014/main" id="{E3AFE01B-2B3A-43BE-9B04-44650E603B81}"/>
              </a:ext>
            </a:extLst>
          </p:cNvPr>
          <p:cNvSpPr/>
          <p:nvPr/>
        </p:nvSpPr>
        <p:spPr bwMode="gray">
          <a:xfrm rot="11316041">
            <a:off x="7008261" y="5159139"/>
            <a:ext cx="3422043" cy="853598"/>
          </a:xfrm>
          <a:prstGeom prst="curvedDownArrow">
            <a:avLst/>
          </a:prstGeom>
          <a:solidFill>
            <a:schemeClr val="bg2"/>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033841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Storage Classes</a:t>
            </a:r>
          </a:p>
        </p:txBody>
      </p:sp>
      <p:sp>
        <p:nvSpPr>
          <p:cNvPr id="4" name="Rectangle 3"/>
          <p:cNvSpPr/>
          <p:nvPr/>
        </p:nvSpPr>
        <p:spPr>
          <a:xfrm>
            <a:off x="504000" y="1136103"/>
            <a:ext cx="11186477" cy="1061829"/>
          </a:xfrm>
          <a:prstGeom prst="rect">
            <a:avLst/>
          </a:prstGeom>
        </p:spPr>
        <p:txBody>
          <a:bodyPr wrap="square">
            <a:spAutoFit/>
          </a:bodyPr>
          <a:lstStyle/>
          <a:p>
            <a:pPr marL="342900" indent="-342900">
              <a:buFont typeface="Wingdings" panose="05000000000000000000" pitchFamily="2" charset="2"/>
              <a:buChar char="§"/>
            </a:pPr>
            <a:r>
              <a:rPr lang="en-US" dirty="0"/>
              <a:t>Provisions a PV for based on PVC request</a:t>
            </a:r>
          </a:p>
          <a:p>
            <a:pPr marL="342900" indent="-342900">
              <a:buFont typeface="Wingdings" panose="05000000000000000000" pitchFamily="2" charset="2"/>
              <a:buChar char="§"/>
            </a:pPr>
            <a:r>
              <a:rPr lang="en-US" dirty="0"/>
              <a:t>Overcomes need to manually provision PV</a:t>
            </a:r>
          </a:p>
          <a:p>
            <a:pPr marL="342900" indent="-342900">
              <a:buFont typeface="Wingdings" panose="05000000000000000000" pitchFamily="2" charset="2"/>
              <a:buChar char="§"/>
            </a:pPr>
            <a:r>
              <a:rPr lang="en-US" dirty="0"/>
              <a:t>Uses standardized “Container Storage Interface” </a:t>
            </a:r>
          </a:p>
        </p:txBody>
      </p:sp>
      <p:pic>
        <p:nvPicPr>
          <p:cNvPr id="6" name="Picture 5">
            <a:extLst>
              <a:ext uri="{FF2B5EF4-FFF2-40B4-BE49-F238E27FC236}">
                <a16:creationId xmlns:a16="http://schemas.microsoft.com/office/drawing/2014/main" id="{ABE3F88E-E05C-4558-BBC7-AA6D55E24629}"/>
              </a:ext>
            </a:extLst>
          </p:cNvPr>
          <p:cNvPicPr>
            <a:picLocks noChangeAspect="1"/>
          </p:cNvPicPr>
          <p:nvPr/>
        </p:nvPicPr>
        <p:blipFill>
          <a:blip r:embed="rId3"/>
          <a:stretch>
            <a:fillRect/>
          </a:stretch>
        </p:blipFill>
        <p:spPr>
          <a:xfrm>
            <a:off x="1010794" y="3143723"/>
            <a:ext cx="3145390" cy="3036349"/>
          </a:xfrm>
          <a:prstGeom prst="rect">
            <a:avLst/>
          </a:prstGeom>
          <a:ln>
            <a:solidFill>
              <a:schemeClr val="tx1"/>
            </a:solidFill>
          </a:ln>
        </p:spPr>
      </p:pic>
      <p:pic>
        <p:nvPicPr>
          <p:cNvPr id="7" name="Picture 6">
            <a:extLst>
              <a:ext uri="{FF2B5EF4-FFF2-40B4-BE49-F238E27FC236}">
                <a16:creationId xmlns:a16="http://schemas.microsoft.com/office/drawing/2014/main" id="{74085753-1232-4BF7-8C5D-233E1E6569D0}"/>
              </a:ext>
            </a:extLst>
          </p:cNvPr>
          <p:cNvPicPr>
            <a:picLocks noChangeAspect="1"/>
          </p:cNvPicPr>
          <p:nvPr/>
        </p:nvPicPr>
        <p:blipFill>
          <a:blip r:embed="rId4"/>
          <a:stretch>
            <a:fillRect/>
          </a:stretch>
        </p:blipFill>
        <p:spPr>
          <a:xfrm>
            <a:off x="7355757" y="3412129"/>
            <a:ext cx="4034486" cy="2499536"/>
          </a:xfrm>
          <a:prstGeom prst="rect">
            <a:avLst/>
          </a:prstGeom>
          <a:ln>
            <a:solidFill>
              <a:schemeClr val="tx1"/>
            </a:solidFill>
          </a:ln>
        </p:spPr>
      </p:pic>
      <p:sp>
        <p:nvSpPr>
          <p:cNvPr id="10" name="Speech Bubble: Rectangle 9">
            <a:extLst>
              <a:ext uri="{FF2B5EF4-FFF2-40B4-BE49-F238E27FC236}">
                <a16:creationId xmlns:a16="http://schemas.microsoft.com/office/drawing/2014/main" id="{DF73D8EE-D588-4638-A0E2-17D68A9E68CF}"/>
              </a:ext>
            </a:extLst>
          </p:cNvPr>
          <p:cNvSpPr/>
          <p:nvPr/>
        </p:nvSpPr>
        <p:spPr bwMode="gray">
          <a:xfrm>
            <a:off x="4575115" y="2501163"/>
            <a:ext cx="2535294" cy="915844"/>
          </a:xfrm>
          <a:prstGeom prst="wedgeRectCallout">
            <a:avLst>
              <a:gd name="adj1" fmla="val -59195"/>
              <a:gd name="adj2" fmla="val 17715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 references storage class as part of its spec</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AEE5E473-0F84-4589-9896-DB6551CF763C}"/>
              </a:ext>
            </a:extLst>
          </p:cNvPr>
          <p:cNvSpPr/>
          <p:nvPr/>
        </p:nvSpPr>
        <p:spPr bwMode="gray">
          <a:xfrm>
            <a:off x="4575115" y="5572084"/>
            <a:ext cx="2535294" cy="915844"/>
          </a:xfrm>
          <a:prstGeom prst="wedgeRectCallout">
            <a:avLst>
              <a:gd name="adj1" fmla="val 53762"/>
              <a:gd name="adj2" fmla="val -16625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Storage class provisions a PV matching the request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399105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0DE819E-EBF2-47BD-B113-0CE4EF805FB2}"/>
              </a:ext>
            </a:extLst>
          </p:cNvPr>
          <p:cNvSpPr/>
          <p:nvPr/>
        </p:nvSpPr>
        <p:spPr bwMode="gray">
          <a:xfrm>
            <a:off x="1018420" y="5599814"/>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AWS EBS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530C19E-B1B0-452A-A2A4-5138D5D477FA}"/>
              </a:ext>
            </a:extLst>
          </p:cNvPr>
          <p:cNvSpPr/>
          <p:nvPr/>
        </p:nvSpPr>
        <p:spPr bwMode="gray">
          <a:xfrm>
            <a:off x="3716340" y="5599814"/>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GCP PD</a:t>
            </a:r>
          </a:p>
        </p:txBody>
      </p:sp>
      <p:sp>
        <p:nvSpPr>
          <p:cNvPr id="15" name="Rectangle 14">
            <a:extLst>
              <a:ext uri="{FF2B5EF4-FFF2-40B4-BE49-F238E27FC236}">
                <a16:creationId xmlns:a16="http://schemas.microsoft.com/office/drawing/2014/main" id="{472138A7-4CA0-4BC0-9CA1-40D5F59E161A}"/>
              </a:ext>
            </a:extLst>
          </p:cNvPr>
          <p:cNvSpPr/>
          <p:nvPr/>
        </p:nvSpPr>
        <p:spPr bwMode="gray">
          <a:xfrm>
            <a:off x="6414260" y="5599813"/>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Ceph</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3C935E0E-C45D-4312-99C5-98E76DAA1EA4}"/>
              </a:ext>
            </a:extLst>
          </p:cNvPr>
          <p:cNvSpPr/>
          <p:nvPr/>
        </p:nvSpPr>
        <p:spPr bwMode="gray">
          <a:xfrm>
            <a:off x="9112179" y="5599812"/>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p>
        </p:txBody>
      </p:sp>
      <p:sp>
        <p:nvSpPr>
          <p:cNvPr id="21" name="Rectangle 20">
            <a:extLst>
              <a:ext uri="{FF2B5EF4-FFF2-40B4-BE49-F238E27FC236}">
                <a16:creationId xmlns:a16="http://schemas.microsoft.com/office/drawing/2014/main" id="{768CE002-64AE-4D8B-A4C6-639B54AB7F3E}"/>
              </a:ext>
            </a:extLst>
          </p:cNvPr>
          <p:cNvSpPr/>
          <p:nvPr/>
        </p:nvSpPr>
        <p:spPr bwMode="gray">
          <a:xfrm>
            <a:off x="2319931" y="2385056"/>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Storage Class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a:extLst>
              <a:ext uri="{FF2B5EF4-FFF2-40B4-BE49-F238E27FC236}">
                <a16:creationId xmlns:a16="http://schemas.microsoft.com/office/drawing/2014/main" id="{41C9DB3A-C7B7-43DA-9436-6F674328BA32}"/>
              </a:ext>
            </a:extLst>
          </p:cNvPr>
          <p:cNvSpPr/>
          <p:nvPr/>
        </p:nvSpPr>
        <p:spPr bwMode="gray">
          <a:xfrm>
            <a:off x="5065299" y="2385057"/>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11230B61-BEB8-46FA-9A30-5EBD47D9A823}"/>
              </a:ext>
            </a:extLst>
          </p:cNvPr>
          <p:cNvSpPr/>
          <p:nvPr/>
        </p:nvSpPr>
        <p:spPr bwMode="gray">
          <a:xfrm>
            <a:off x="5065299" y="3496331"/>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25" name="Graphic 24" descr="Female Profile">
            <a:extLst>
              <a:ext uri="{FF2B5EF4-FFF2-40B4-BE49-F238E27FC236}">
                <a16:creationId xmlns:a16="http://schemas.microsoft.com/office/drawing/2014/main" id="{6D300F24-7BD1-42EF-B557-FAE2767566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40038" y="931898"/>
            <a:ext cx="914400" cy="914400"/>
          </a:xfrm>
          <a:prstGeom prst="rect">
            <a:avLst/>
          </a:prstGeom>
        </p:spPr>
      </p:pic>
      <p:cxnSp>
        <p:nvCxnSpPr>
          <p:cNvPr id="30" name="Straight Arrow Connector 29">
            <a:extLst>
              <a:ext uri="{FF2B5EF4-FFF2-40B4-BE49-F238E27FC236}">
                <a16:creationId xmlns:a16="http://schemas.microsoft.com/office/drawing/2014/main" id="{2BDDBC0E-C5A1-4713-A162-A14C406A7A15}"/>
              </a:ext>
            </a:extLst>
          </p:cNvPr>
          <p:cNvCxnSpPr>
            <a:stCxn id="25" idx="2"/>
            <a:endCxn id="22" idx="0"/>
          </p:cNvCxnSpPr>
          <p:nvPr/>
        </p:nvCxnSpPr>
        <p:spPr>
          <a:xfrm>
            <a:off x="6097238" y="1846298"/>
            <a:ext cx="0" cy="538759"/>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649B47D-8584-495F-8F93-2EC80F76AF33}"/>
              </a:ext>
            </a:extLst>
          </p:cNvPr>
          <p:cNvCxnSpPr>
            <a:stCxn id="22" idx="1"/>
            <a:endCxn id="21" idx="3"/>
          </p:cNvCxnSpPr>
          <p:nvPr/>
        </p:nvCxnSpPr>
        <p:spPr>
          <a:xfrm flipH="1" flipV="1">
            <a:off x="4383809" y="2714666"/>
            <a:ext cx="681490" cy="1"/>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784768D4-28EF-4D46-904B-9B8815A036DD}"/>
              </a:ext>
            </a:extLst>
          </p:cNvPr>
          <p:cNvCxnSpPr>
            <a:cxnSpLocks/>
            <a:stCxn id="21" idx="2"/>
            <a:endCxn id="23" idx="1"/>
          </p:cNvCxnSpPr>
          <p:nvPr/>
        </p:nvCxnSpPr>
        <p:spPr>
          <a:xfrm rot="16200000" flipH="1">
            <a:off x="3817751" y="2578393"/>
            <a:ext cx="781666" cy="1713429"/>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732FFC2-3118-40E9-999B-BE90DC15A99F}"/>
              </a:ext>
            </a:extLst>
          </p:cNvPr>
          <p:cNvCxnSpPr>
            <a:stCxn id="22" idx="2"/>
            <a:endCxn id="23" idx="0"/>
          </p:cNvCxnSpPr>
          <p:nvPr/>
        </p:nvCxnSpPr>
        <p:spPr>
          <a:xfrm>
            <a:off x="6097238" y="3044276"/>
            <a:ext cx="0" cy="452055"/>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0A71E4B-2450-47BF-A3DE-9E211E3AFAB1}"/>
              </a:ext>
            </a:extLst>
          </p:cNvPr>
          <p:cNvCxnSpPr>
            <a:stCxn id="23" idx="2"/>
            <a:endCxn id="6" idx="0"/>
          </p:cNvCxnSpPr>
          <p:nvPr/>
        </p:nvCxnSpPr>
        <p:spPr>
          <a:xfrm>
            <a:off x="6097238" y="4155550"/>
            <a:ext cx="1" cy="630914"/>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BC6FE001-728B-4F6A-BC3F-1E9167494887}"/>
              </a:ext>
            </a:extLst>
          </p:cNvPr>
          <p:cNvCxnSpPr>
            <a:cxnSpLocks/>
            <a:stCxn id="21" idx="2"/>
            <a:endCxn id="14" idx="0"/>
          </p:cNvCxnSpPr>
          <p:nvPr/>
        </p:nvCxnSpPr>
        <p:spPr>
          <a:xfrm rot="16200000" flipH="1">
            <a:off x="2772305" y="3623839"/>
            <a:ext cx="2555539" cy="1396409"/>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9EA9885A-92E7-4632-8133-2BC797A40614}"/>
              </a:ext>
            </a:extLst>
          </p:cNvPr>
          <p:cNvSpPr/>
          <p:nvPr/>
        </p:nvSpPr>
        <p:spPr bwMode="gray">
          <a:xfrm>
            <a:off x="1018420" y="4786464"/>
            <a:ext cx="10157637" cy="609009"/>
          </a:xfrm>
          <a:prstGeom prst="rect">
            <a:avLst/>
          </a:prstGeom>
          <a:solidFill>
            <a:schemeClr val="bg1"/>
          </a:solid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CSI </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47" name="Connector: Elbow 46">
            <a:extLst>
              <a:ext uri="{FF2B5EF4-FFF2-40B4-BE49-F238E27FC236}">
                <a16:creationId xmlns:a16="http://schemas.microsoft.com/office/drawing/2014/main" id="{8C7E6733-0C5B-40C0-B93A-C81E84E94D1B}"/>
              </a:ext>
            </a:extLst>
          </p:cNvPr>
          <p:cNvCxnSpPr>
            <a:stCxn id="14" idx="3"/>
            <a:endCxn id="6" idx="2"/>
          </p:cNvCxnSpPr>
          <p:nvPr/>
        </p:nvCxnSpPr>
        <p:spPr>
          <a:xfrm flipV="1">
            <a:off x="5780218" y="5395473"/>
            <a:ext cx="317021" cy="533951"/>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4" name="Title 1">
            <a:extLst>
              <a:ext uri="{FF2B5EF4-FFF2-40B4-BE49-F238E27FC236}">
                <a16:creationId xmlns:a16="http://schemas.microsoft.com/office/drawing/2014/main" id="{FFBD3328-B58C-4BC7-AD3F-C2720AE0E3D2}"/>
              </a:ext>
            </a:extLst>
          </p:cNvPr>
          <p:cNvSpPr>
            <a:spLocks noGrp="1"/>
          </p:cNvSpPr>
          <p:nvPr>
            <p:ph type="title"/>
          </p:nvPr>
        </p:nvSpPr>
        <p:spPr>
          <a:xfrm>
            <a:off x="504001" y="504000"/>
            <a:ext cx="11186476" cy="369332"/>
          </a:xfrm>
        </p:spPr>
        <p:txBody>
          <a:bodyPr/>
          <a:lstStyle/>
          <a:p>
            <a:r>
              <a:rPr lang="en-US" dirty="0"/>
              <a:t>            CSI</a:t>
            </a:r>
          </a:p>
        </p:txBody>
      </p:sp>
      <p:pic>
        <p:nvPicPr>
          <p:cNvPr id="26" name="Graphic 25" descr="Sunglasses">
            <a:extLst>
              <a:ext uri="{FF2B5EF4-FFF2-40B4-BE49-F238E27FC236}">
                <a16:creationId xmlns:a16="http://schemas.microsoft.com/office/drawing/2014/main" id="{EDBBD83C-E1D7-4226-809D-7B8C8755B90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04001" y="231466"/>
            <a:ext cx="914400" cy="914400"/>
          </a:xfrm>
          <a:prstGeom prst="rect">
            <a:avLst/>
          </a:prstGeom>
        </p:spPr>
      </p:pic>
    </p:spTree>
    <p:extLst>
      <p:ext uri="{BB962C8B-B14F-4D97-AF65-F5344CB8AC3E}">
        <p14:creationId xmlns:p14="http://schemas.microsoft.com/office/powerpoint/2010/main" val="130564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4" grpId="0" animBg="1"/>
      <p:bldP spid="15" grpId="0" animBg="1"/>
      <p:bldP spid="16" grpId="0" animBg="1"/>
      <p:bldP spid="21" grpId="0" animBg="1"/>
      <p:bldP spid="23" grpId="0" animBg="1"/>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BB56E-9CC3-478E-8038-789A6FFF0E7F}"/>
              </a:ext>
            </a:extLst>
          </p:cNvPr>
          <p:cNvSpPr>
            <a:spLocks noGrp="1"/>
          </p:cNvSpPr>
          <p:nvPr>
            <p:ph type="title"/>
          </p:nvPr>
        </p:nvSpPr>
        <p:spPr/>
        <p:txBody>
          <a:bodyPr/>
          <a:lstStyle/>
          <a:p>
            <a:r>
              <a:rPr lang="en-US" dirty="0"/>
              <a:t>            CSI</a:t>
            </a:r>
          </a:p>
        </p:txBody>
      </p:sp>
      <p:sp>
        <p:nvSpPr>
          <p:cNvPr id="11" name="Rectangle 10">
            <a:extLst>
              <a:ext uri="{FF2B5EF4-FFF2-40B4-BE49-F238E27FC236}">
                <a16:creationId xmlns:a16="http://schemas.microsoft.com/office/drawing/2014/main" id="{40DE819E-EBF2-47BD-B113-0CE4EF805FB2}"/>
              </a:ext>
            </a:extLst>
          </p:cNvPr>
          <p:cNvSpPr/>
          <p:nvPr/>
        </p:nvSpPr>
        <p:spPr bwMode="gray">
          <a:xfrm>
            <a:off x="1018420" y="5689265"/>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AWS EBS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530C19E-B1B0-452A-A2A4-5138D5D477FA}"/>
              </a:ext>
            </a:extLst>
          </p:cNvPr>
          <p:cNvSpPr/>
          <p:nvPr/>
        </p:nvSpPr>
        <p:spPr bwMode="gray">
          <a:xfrm>
            <a:off x="3716340" y="5689265"/>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GCP PD</a:t>
            </a:r>
          </a:p>
        </p:txBody>
      </p:sp>
      <p:sp>
        <p:nvSpPr>
          <p:cNvPr id="15" name="Rectangle 14">
            <a:extLst>
              <a:ext uri="{FF2B5EF4-FFF2-40B4-BE49-F238E27FC236}">
                <a16:creationId xmlns:a16="http://schemas.microsoft.com/office/drawing/2014/main" id="{472138A7-4CA0-4BC0-9CA1-40D5F59E161A}"/>
              </a:ext>
            </a:extLst>
          </p:cNvPr>
          <p:cNvSpPr/>
          <p:nvPr/>
        </p:nvSpPr>
        <p:spPr bwMode="gray">
          <a:xfrm>
            <a:off x="6414260" y="5689264"/>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Ceph</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3C935E0E-C45D-4312-99C5-98E76DAA1EA4}"/>
              </a:ext>
            </a:extLst>
          </p:cNvPr>
          <p:cNvSpPr/>
          <p:nvPr/>
        </p:nvSpPr>
        <p:spPr bwMode="gray">
          <a:xfrm>
            <a:off x="9112179" y="5689263"/>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p>
        </p:txBody>
      </p:sp>
      <p:sp>
        <p:nvSpPr>
          <p:cNvPr id="22" name="Rectangle 21">
            <a:extLst>
              <a:ext uri="{FF2B5EF4-FFF2-40B4-BE49-F238E27FC236}">
                <a16:creationId xmlns:a16="http://schemas.microsoft.com/office/drawing/2014/main" id="{41C9DB3A-C7B7-43DA-9436-6F674328BA32}"/>
              </a:ext>
            </a:extLst>
          </p:cNvPr>
          <p:cNvSpPr/>
          <p:nvPr/>
        </p:nvSpPr>
        <p:spPr bwMode="gray">
          <a:xfrm>
            <a:off x="1688499" y="2385057"/>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11230B61-BEB8-46FA-9A30-5EBD47D9A823}"/>
              </a:ext>
            </a:extLst>
          </p:cNvPr>
          <p:cNvSpPr/>
          <p:nvPr/>
        </p:nvSpPr>
        <p:spPr bwMode="gray">
          <a:xfrm>
            <a:off x="1688499" y="3496331"/>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25" name="Graphic 24" descr="Female Profile">
            <a:extLst>
              <a:ext uri="{FF2B5EF4-FFF2-40B4-BE49-F238E27FC236}">
                <a16:creationId xmlns:a16="http://schemas.microsoft.com/office/drawing/2014/main" id="{6D300F24-7BD1-42EF-B557-FAE2767566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63238" y="931898"/>
            <a:ext cx="914400" cy="914400"/>
          </a:xfrm>
          <a:prstGeom prst="rect">
            <a:avLst/>
          </a:prstGeom>
        </p:spPr>
      </p:pic>
      <p:sp>
        <p:nvSpPr>
          <p:cNvPr id="26" name="Rectangle 25">
            <a:extLst>
              <a:ext uri="{FF2B5EF4-FFF2-40B4-BE49-F238E27FC236}">
                <a16:creationId xmlns:a16="http://schemas.microsoft.com/office/drawing/2014/main" id="{08B5D7FD-7161-4E23-90FC-963D49A9C842}"/>
              </a:ext>
            </a:extLst>
          </p:cNvPr>
          <p:cNvSpPr/>
          <p:nvPr/>
        </p:nvSpPr>
        <p:spPr bwMode="gray">
          <a:xfrm>
            <a:off x="4350382" y="2385056"/>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Pod</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30" name="Straight Arrow Connector 29">
            <a:extLst>
              <a:ext uri="{FF2B5EF4-FFF2-40B4-BE49-F238E27FC236}">
                <a16:creationId xmlns:a16="http://schemas.microsoft.com/office/drawing/2014/main" id="{2BDDBC0E-C5A1-4713-A162-A14C406A7A15}"/>
              </a:ext>
            </a:extLst>
          </p:cNvPr>
          <p:cNvCxnSpPr>
            <a:stCxn id="25" idx="2"/>
            <a:endCxn id="22" idx="0"/>
          </p:cNvCxnSpPr>
          <p:nvPr/>
        </p:nvCxnSpPr>
        <p:spPr>
          <a:xfrm>
            <a:off x="2720438" y="1846298"/>
            <a:ext cx="0" cy="538759"/>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732FFC2-3118-40E9-999B-BE90DC15A99F}"/>
              </a:ext>
            </a:extLst>
          </p:cNvPr>
          <p:cNvCxnSpPr>
            <a:stCxn id="22" idx="2"/>
            <a:endCxn id="23" idx="0"/>
          </p:cNvCxnSpPr>
          <p:nvPr/>
        </p:nvCxnSpPr>
        <p:spPr>
          <a:xfrm>
            <a:off x="2720438" y="3044276"/>
            <a:ext cx="0" cy="452055"/>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5A67F9F1-169F-41D6-9AEA-3FB4AE23354B}"/>
              </a:ext>
            </a:extLst>
          </p:cNvPr>
          <p:cNvSpPr/>
          <p:nvPr/>
        </p:nvSpPr>
        <p:spPr bwMode="gray">
          <a:xfrm>
            <a:off x="4350382" y="3496331"/>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Node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41" name="Straight Connector 40">
            <a:extLst>
              <a:ext uri="{FF2B5EF4-FFF2-40B4-BE49-F238E27FC236}">
                <a16:creationId xmlns:a16="http://schemas.microsoft.com/office/drawing/2014/main" id="{70A71E4B-2450-47BF-A3DE-9E211E3AFAB1}"/>
              </a:ext>
            </a:extLst>
          </p:cNvPr>
          <p:cNvCxnSpPr>
            <a:cxnSpLocks/>
            <a:stCxn id="23" idx="2"/>
          </p:cNvCxnSpPr>
          <p:nvPr/>
        </p:nvCxnSpPr>
        <p:spPr>
          <a:xfrm>
            <a:off x="2720438" y="4155550"/>
            <a:ext cx="1" cy="630914"/>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9EA9885A-92E7-4632-8133-2BC797A40614}"/>
              </a:ext>
            </a:extLst>
          </p:cNvPr>
          <p:cNvSpPr/>
          <p:nvPr/>
        </p:nvSpPr>
        <p:spPr bwMode="gray">
          <a:xfrm>
            <a:off x="1018420" y="4786464"/>
            <a:ext cx="10157637" cy="609009"/>
          </a:xfrm>
          <a:prstGeom prst="rect">
            <a:avLst/>
          </a:prstGeom>
          <a:solidFill>
            <a:schemeClr val="bg1"/>
          </a:solid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CSI </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24" name="Straight Connector 23">
            <a:extLst>
              <a:ext uri="{FF2B5EF4-FFF2-40B4-BE49-F238E27FC236}">
                <a16:creationId xmlns:a16="http://schemas.microsoft.com/office/drawing/2014/main" id="{7A89B6EE-5906-4A79-9F65-79D3A93CB617}"/>
              </a:ext>
            </a:extLst>
          </p:cNvPr>
          <p:cNvCxnSpPr>
            <a:cxnSpLocks/>
            <a:stCxn id="26" idx="1"/>
            <a:endCxn id="22" idx="3"/>
          </p:cNvCxnSpPr>
          <p:nvPr/>
        </p:nvCxnSpPr>
        <p:spPr>
          <a:xfrm flipH="1">
            <a:off x="3752377" y="2714666"/>
            <a:ext cx="598005" cy="1"/>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85B2575-D8AD-4C4B-961C-5391D98A20E7}"/>
              </a:ext>
            </a:extLst>
          </p:cNvPr>
          <p:cNvCxnSpPr>
            <a:stCxn id="26" idx="2"/>
            <a:endCxn id="39" idx="0"/>
          </p:cNvCxnSpPr>
          <p:nvPr/>
        </p:nvCxnSpPr>
        <p:spPr>
          <a:xfrm>
            <a:off x="5382321" y="3044275"/>
            <a:ext cx="0" cy="452056"/>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DB9D945-03B9-48B1-8E01-C4D30D9971FE}"/>
              </a:ext>
            </a:extLst>
          </p:cNvPr>
          <p:cNvCxnSpPr>
            <a:stCxn id="39" idx="2"/>
          </p:cNvCxnSpPr>
          <p:nvPr/>
        </p:nvCxnSpPr>
        <p:spPr>
          <a:xfrm>
            <a:off x="5382321" y="4155550"/>
            <a:ext cx="0" cy="630914"/>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CCB626EE-05D2-4569-990A-EECD14606467}"/>
              </a:ext>
            </a:extLst>
          </p:cNvPr>
          <p:cNvPicPr>
            <a:picLocks noChangeAspect="1"/>
          </p:cNvPicPr>
          <p:nvPr/>
        </p:nvPicPr>
        <p:blipFill>
          <a:blip r:embed="rId5"/>
          <a:stretch>
            <a:fillRect/>
          </a:stretch>
        </p:blipFill>
        <p:spPr>
          <a:xfrm>
            <a:off x="7413937" y="2115677"/>
            <a:ext cx="3723809" cy="2380952"/>
          </a:xfrm>
          <a:prstGeom prst="rect">
            <a:avLst/>
          </a:prstGeom>
          <a:ln>
            <a:solidFill>
              <a:schemeClr val="bg2"/>
            </a:solidFill>
          </a:ln>
        </p:spPr>
      </p:pic>
      <p:cxnSp>
        <p:nvCxnSpPr>
          <p:cNvPr id="20" name="Connector: Elbow 19">
            <a:extLst>
              <a:ext uri="{FF2B5EF4-FFF2-40B4-BE49-F238E27FC236}">
                <a16:creationId xmlns:a16="http://schemas.microsoft.com/office/drawing/2014/main" id="{33C92A6E-5E4F-4755-BFA5-E45AC158F616}"/>
              </a:ext>
            </a:extLst>
          </p:cNvPr>
          <p:cNvCxnSpPr>
            <a:stCxn id="26" idx="3"/>
            <a:endCxn id="17" idx="1"/>
          </p:cNvCxnSpPr>
          <p:nvPr/>
        </p:nvCxnSpPr>
        <p:spPr>
          <a:xfrm>
            <a:off x="6414260" y="2714666"/>
            <a:ext cx="999677" cy="591487"/>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66CEDD7-BB9C-4CC5-ACA5-7E526D40B87A}"/>
              </a:ext>
            </a:extLst>
          </p:cNvPr>
          <p:cNvCxnSpPr>
            <a:stCxn id="17" idx="2"/>
          </p:cNvCxnSpPr>
          <p:nvPr/>
        </p:nvCxnSpPr>
        <p:spPr>
          <a:xfrm flipH="1">
            <a:off x="9275841" y="4496629"/>
            <a:ext cx="1" cy="289834"/>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E259BEE1-5BFB-4731-8F55-EC7FDE4E19D1}"/>
              </a:ext>
            </a:extLst>
          </p:cNvPr>
          <p:cNvCxnSpPr>
            <a:stCxn id="25" idx="2"/>
            <a:endCxn id="26" idx="0"/>
          </p:cNvCxnSpPr>
          <p:nvPr/>
        </p:nvCxnSpPr>
        <p:spPr>
          <a:xfrm rot="16200000" flipH="1">
            <a:off x="3782000" y="784735"/>
            <a:ext cx="538758" cy="2661883"/>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 name="Connector: Elbow 3">
            <a:extLst>
              <a:ext uri="{FF2B5EF4-FFF2-40B4-BE49-F238E27FC236}">
                <a16:creationId xmlns:a16="http://schemas.microsoft.com/office/drawing/2014/main" id="{362167EB-97CE-4AAA-B5E0-E9A5F08D50C4}"/>
              </a:ext>
            </a:extLst>
          </p:cNvPr>
          <p:cNvCxnSpPr>
            <a:cxnSpLocks/>
            <a:stCxn id="6" idx="2"/>
            <a:endCxn id="14" idx="0"/>
          </p:cNvCxnSpPr>
          <p:nvPr/>
        </p:nvCxnSpPr>
        <p:spPr>
          <a:xfrm rot="5400000">
            <a:off x="5275863" y="4867889"/>
            <a:ext cx="293792" cy="1348960"/>
          </a:xfrm>
          <a:prstGeom prst="bentConnector3">
            <a:avLst>
              <a:gd name="adj1" fmla="val 50000"/>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9" name="Graphic 28" descr="Sunglasses">
            <a:extLst>
              <a:ext uri="{FF2B5EF4-FFF2-40B4-BE49-F238E27FC236}">
                <a16:creationId xmlns:a16="http://schemas.microsoft.com/office/drawing/2014/main" id="{54928828-3740-44DF-9E92-F0EA54FAAE1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4001" y="231466"/>
            <a:ext cx="914400" cy="914400"/>
          </a:xfrm>
          <a:prstGeom prst="rect">
            <a:avLst/>
          </a:prstGeom>
        </p:spPr>
      </p:pic>
    </p:spTree>
    <p:extLst>
      <p:ext uri="{BB962C8B-B14F-4D97-AF65-F5344CB8AC3E}">
        <p14:creationId xmlns:p14="http://schemas.microsoft.com/office/powerpoint/2010/main" val="3775287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3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30A85-2277-4AED-93CC-D455D481D551}"/>
              </a:ext>
            </a:extLst>
          </p:cNvPr>
          <p:cNvSpPr>
            <a:spLocks noGrp="1"/>
          </p:cNvSpPr>
          <p:nvPr>
            <p:ph type="title"/>
          </p:nvPr>
        </p:nvSpPr>
        <p:spPr>
          <a:xfrm>
            <a:off x="504001" y="504000"/>
            <a:ext cx="11186476" cy="369332"/>
          </a:xfrm>
        </p:spPr>
        <p:txBody>
          <a:bodyPr/>
          <a:lstStyle/>
          <a:p>
            <a:r>
              <a:rPr lang="en-US" dirty="0"/>
              <a:t>PV/PVC lifecycle</a:t>
            </a:r>
          </a:p>
        </p:txBody>
      </p:sp>
      <p:cxnSp>
        <p:nvCxnSpPr>
          <p:cNvPr id="7" name="Straight Arrow Connector 6">
            <a:extLst>
              <a:ext uri="{FF2B5EF4-FFF2-40B4-BE49-F238E27FC236}">
                <a16:creationId xmlns:a16="http://schemas.microsoft.com/office/drawing/2014/main" id="{0E148E64-5823-42DF-8A18-A33E61E0BD6C}"/>
              </a:ext>
            </a:extLst>
          </p:cNvPr>
          <p:cNvCxnSpPr>
            <a:cxnSpLocks/>
            <a:stCxn id="13" idx="0"/>
            <a:endCxn id="19" idx="1"/>
          </p:cNvCxnSpPr>
          <p:nvPr/>
        </p:nvCxnSpPr>
        <p:spPr>
          <a:xfrm flipV="1">
            <a:off x="2605824" y="3429000"/>
            <a:ext cx="806808"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3" name="Rectangle: Diagonal Corners Rounded 12">
            <a:extLst>
              <a:ext uri="{FF2B5EF4-FFF2-40B4-BE49-F238E27FC236}">
                <a16:creationId xmlns:a16="http://schemas.microsoft.com/office/drawing/2014/main" id="{16A03595-0330-4635-9435-4D1CD393120F}"/>
              </a:ext>
            </a:extLst>
          </p:cNvPr>
          <p:cNvSpPr/>
          <p:nvPr/>
        </p:nvSpPr>
        <p:spPr bwMode="gray">
          <a:xfrm>
            <a:off x="802171" y="2872884"/>
            <a:ext cx="1803653" cy="1112233"/>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sp>
        <p:nvSpPr>
          <p:cNvPr id="18" name="Speech Bubble: Rectangle 17">
            <a:extLst>
              <a:ext uri="{FF2B5EF4-FFF2-40B4-BE49-F238E27FC236}">
                <a16:creationId xmlns:a16="http://schemas.microsoft.com/office/drawing/2014/main" id="{F53315F5-5393-42ED-AA74-A5CB6AC0C466}"/>
              </a:ext>
            </a:extLst>
          </p:cNvPr>
          <p:cNvSpPr/>
          <p:nvPr/>
        </p:nvSpPr>
        <p:spPr bwMode="gray">
          <a:xfrm>
            <a:off x="1175928" y="1165881"/>
            <a:ext cx="2535294" cy="915844"/>
          </a:xfrm>
          <a:prstGeom prst="wedgeRectCallout">
            <a:avLst>
              <a:gd name="adj1" fmla="val -31361"/>
              <a:gd name="adj2" fmla="val 11747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User creates a PVC to request storage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Diamond 18">
            <a:extLst>
              <a:ext uri="{FF2B5EF4-FFF2-40B4-BE49-F238E27FC236}">
                <a16:creationId xmlns:a16="http://schemas.microsoft.com/office/drawing/2014/main" id="{9EE372CB-8F56-443C-9215-2DA0EC4B459A}"/>
              </a:ext>
            </a:extLst>
          </p:cNvPr>
          <p:cNvSpPr/>
          <p:nvPr/>
        </p:nvSpPr>
        <p:spPr bwMode="gray">
          <a:xfrm>
            <a:off x="3412632" y="2667898"/>
            <a:ext cx="1981071" cy="1522203"/>
          </a:xfrm>
          <a:prstGeom prst="diamond">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Storage Class</a:t>
            </a:r>
          </a:p>
        </p:txBody>
      </p:sp>
      <p:sp>
        <p:nvSpPr>
          <p:cNvPr id="25" name="Speech Bubble: Rectangle 24">
            <a:extLst>
              <a:ext uri="{FF2B5EF4-FFF2-40B4-BE49-F238E27FC236}">
                <a16:creationId xmlns:a16="http://schemas.microsoft.com/office/drawing/2014/main" id="{2C734FFF-558D-4925-8900-F101F47F1C1C}"/>
              </a:ext>
            </a:extLst>
          </p:cNvPr>
          <p:cNvSpPr/>
          <p:nvPr/>
        </p:nvSpPr>
        <p:spPr bwMode="gray">
          <a:xfrm>
            <a:off x="1880267" y="5167406"/>
            <a:ext cx="2826226" cy="915844"/>
          </a:xfrm>
          <a:prstGeom prst="wedgeRectCallout">
            <a:avLst>
              <a:gd name="adj1" fmla="val 33544"/>
              <a:gd name="adj2" fmla="val -14841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Storage Class is triggered to fulfill request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6" name="Cylinder 25">
            <a:extLst>
              <a:ext uri="{FF2B5EF4-FFF2-40B4-BE49-F238E27FC236}">
                <a16:creationId xmlns:a16="http://schemas.microsoft.com/office/drawing/2014/main" id="{0493B288-1ED8-4F28-8486-18B37A81CB6F}"/>
              </a:ext>
            </a:extLst>
          </p:cNvPr>
          <p:cNvSpPr/>
          <p:nvPr/>
        </p:nvSpPr>
        <p:spPr bwMode="gray">
          <a:xfrm>
            <a:off x="6099203" y="4262755"/>
            <a:ext cx="1693576" cy="1362573"/>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Physical storage</a:t>
            </a:r>
          </a:p>
        </p:txBody>
      </p:sp>
      <p:sp>
        <p:nvSpPr>
          <p:cNvPr id="27" name="Cylinder 26">
            <a:extLst>
              <a:ext uri="{FF2B5EF4-FFF2-40B4-BE49-F238E27FC236}">
                <a16:creationId xmlns:a16="http://schemas.microsoft.com/office/drawing/2014/main" id="{E89A7678-F502-4E6F-95F2-BE9431FDE897}"/>
              </a:ext>
            </a:extLst>
          </p:cNvPr>
          <p:cNvSpPr/>
          <p:nvPr/>
        </p:nvSpPr>
        <p:spPr bwMode="gray">
          <a:xfrm>
            <a:off x="6202746" y="2751601"/>
            <a:ext cx="1486490" cy="1104455"/>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a:t>
            </a:r>
            <a:r>
              <a:rPr kumimoji="0" lang="en-US" sz="1800" b="0" i="0" u="none" strike="noStrike" kern="0" cap="none" spc="0" normalizeH="0" noProof="0" dirty="0">
                <a:ln>
                  <a:noFill/>
                </a:ln>
                <a:effectLst/>
                <a:uLnTx/>
                <a:uFillTx/>
                <a:ea typeface="Arial Unicode MS" pitchFamily="34" charset="-128"/>
                <a:cs typeface="Arial Unicode MS" pitchFamily="34" charset="-128"/>
              </a:rPr>
              <a:t> Volume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3" name="Straight Connector 32">
            <a:extLst>
              <a:ext uri="{FF2B5EF4-FFF2-40B4-BE49-F238E27FC236}">
                <a16:creationId xmlns:a16="http://schemas.microsoft.com/office/drawing/2014/main" id="{C78407CA-CD3F-460D-924D-DE2C75E8F10A}"/>
              </a:ext>
            </a:extLst>
          </p:cNvPr>
          <p:cNvCxnSpPr>
            <a:cxnSpLocks/>
            <a:stCxn id="26" idx="1"/>
            <a:endCxn id="27" idx="3"/>
          </p:cNvCxnSpPr>
          <p:nvPr/>
        </p:nvCxnSpPr>
        <p:spPr>
          <a:xfrm flipV="1">
            <a:off x="6945991" y="3856056"/>
            <a:ext cx="0" cy="406699"/>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FC7C8D8-9A9A-4230-B77C-140CCF1AD044}"/>
              </a:ext>
            </a:extLst>
          </p:cNvPr>
          <p:cNvCxnSpPr>
            <a:cxnSpLocks/>
            <a:stCxn id="19" idx="3"/>
          </p:cNvCxnSpPr>
          <p:nvPr/>
        </p:nvCxnSpPr>
        <p:spPr>
          <a:xfrm>
            <a:off x="5393703" y="3429000"/>
            <a:ext cx="789608"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24567D07-16BB-4C27-908C-4F840E28F1FE}"/>
              </a:ext>
            </a:extLst>
          </p:cNvPr>
          <p:cNvSpPr/>
          <p:nvPr/>
        </p:nvSpPr>
        <p:spPr bwMode="gray">
          <a:xfrm>
            <a:off x="8740023" y="5167406"/>
            <a:ext cx="2826226" cy="1086530"/>
          </a:xfrm>
          <a:prstGeom prst="wedgeRectCallout">
            <a:avLst>
              <a:gd name="adj1" fmla="val -6196"/>
              <a:gd name="adj2" fmla="val -13055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Upon PVC deletion reclaim policy is executed</a:t>
            </a:r>
          </a:p>
        </p:txBody>
      </p:sp>
      <p:grpSp>
        <p:nvGrpSpPr>
          <p:cNvPr id="42" name="Group 41">
            <a:extLst>
              <a:ext uri="{FF2B5EF4-FFF2-40B4-BE49-F238E27FC236}">
                <a16:creationId xmlns:a16="http://schemas.microsoft.com/office/drawing/2014/main" id="{D69D703F-012B-4E67-BFD2-D5A614F6E503}"/>
              </a:ext>
            </a:extLst>
          </p:cNvPr>
          <p:cNvGrpSpPr/>
          <p:nvPr/>
        </p:nvGrpSpPr>
        <p:grpSpPr>
          <a:xfrm>
            <a:off x="9390346" y="2526523"/>
            <a:ext cx="1803653" cy="1804951"/>
            <a:chOff x="8041527" y="2440671"/>
            <a:chExt cx="1803653" cy="1804951"/>
          </a:xfrm>
        </p:grpSpPr>
        <p:sp>
          <p:nvSpPr>
            <p:cNvPr id="40" name="Rectangle: Diagonal Corners Rounded 39">
              <a:extLst>
                <a:ext uri="{FF2B5EF4-FFF2-40B4-BE49-F238E27FC236}">
                  <a16:creationId xmlns:a16="http://schemas.microsoft.com/office/drawing/2014/main" id="{9E3777A7-A4C8-4913-9241-C0CB955EA765}"/>
                </a:ext>
              </a:extLst>
            </p:cNvPr>
            <p:cNvSpPr/>
            <p:nvPr/>
          </p:nvSpPr>
          <p:spPr bwMode="gray">
            <a:xfrm>
              <a:off x="8041527" y="2787030"/>
              <a:ext cx="1803653" cy="1112233"/>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sp>
          <p:nvSpPr>
            <p:cNvPr id="41" name="Cross 40">
              <a:extLst>
                <a:ext uri="{FF2B5EF4-FFF2-40B4-BE49-F238E27FC236}">
                  <a16:creationId xmlns:a16="http://schemas.microsoft.com/office/drawing/2014/main" id="{E055B24B-F60B-4511-A239-3F8A0E8A1488}"/>
                </a:ext>
              </a:extLst>
            </p:cNvPr>
            <p:cNvSpPr/>
            <p:nvPr/>
          </p:nvSpPr>
          <p:spPr bwMode="gray">
            <a:xfrm rot="2690790">
              <a:off x="8045684" y="2440671"/>
              <a:ext cx="1795337" cy="1804951"/>
            </a:xfrm>
            <a:prstGeom prst="plus">
              <a:avLst>
                <a:gd name="adj" fmla="val 44715"/>
              </a:avLst>
            </a:prstGeom>
            <a:solidFill>
              <a:schemeClr val="accent5">
                <a:lumMod val="40000"/>
                <a:lumOff val="60000"/>
              </a:schemeClr>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cxnSp>
        <p:nvCxnSpPr>
          <p:cNvPr id="43" name="Straight Arrow Connector 42">
            <a:extLst>
              <a:ext uri="{FF2B5EF4-FFF2-40B4-BE49-F238E27FC236}">
                <a16:creationId xmlns:a16="http://schemas.microsoft.com/office/drawing/2014/main" id="{E3D5F030-2397-4CF3-BADE-A03F7A6A5F10}"/>
              </a:ext>
            </a:extLst>
          </p:cNvPr>
          <p:cNvCxnSpPr>
            <a:cxnSpLocks/>
            <a:endCxn id="40" idx="2"/>
          </p:cNvCxnSpPr>
          <p:nvPr/>
        </p:nvCxnSpPr>
        <p:spPr>
          <a:xfrm>
            <a:off x="7689236" y="3428999"/>
            <a:ext cx="1701110"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Speech Bubble: Rectangle 47">
            <a:extLst>
              <a:ext uri="{FF2B5EF4-FFF2-40B4-BE49-F238E27FC236}">
                <a16:creationId xmlns:a16="http://schemas.microsoft.com/office/drawing/2014/main" id="{24A5F8BA-B3D0-4F4F-A49D-3D4B06BDBD14}"/>
              </a:ext>
            </a:extLst>
          </p:cNvPr>
          <p:cNvSpPr/>
          <p:nvPr/>
        </p:nvSpPr>
        <p:spPr bwMode="gray">
          <a:xfrm>
            <a:off x="5103859" y="1150582"/>
            <a:ext cx="2826226" cy="915844"/>
          </a:xfrm>
          <a:prstGeom prst="wedgeRectCallout">
            <a:avLst>
              <a:gd name="adj1" fmla="val 6816"/>
              <a:gd name="adj2" fmla="val 1055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 will be bound to PV</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51" name="Graphic 50" descr="Checkmark">
            <a:extLst>
              <a:ext uri="{FF2B5EF4-FFF2-40B4-BE49-F238E27FC236}">
                <a16:creationId xmlns:a16="http://schemas.microsoft.com/office/drawing/2014/main" id="{7E6E0185-C6A4-478D-A431-4DF3C26581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488580" y="2611738"/>
            <a:ext cx="1625907" cy="1625907"/>
          </a:xfrm>
          <a:prstGeom prst="rect">
            <a:avLst/>
          </a:prstGeom>
        </p:spPr>
      </p:pic>
    </p:spTree>
    <p:extLst>
      <p:ext uri="{BB962C8B-B14F-4D97-AF65-F5344CB8AC3E}">
        <p14:creationId xmlns:p14="http://schemas.microsoft.com/office/powerpoint/2010/main" val="447519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1"/>
                                        </p:tgtEl>
                                        <p:attrNameLst>
                                          <p:attrName>style.visibility</p:attrName>
                                        </p:attrNameLst>
                                      </p:cBhvr>
                                      <p:to>
                                        <p:strVal val="hidden"/>
                                      </p:to>
                                    </p:set>
                                  </p:childTnLst>
                                </p:cTn>
                              </p:par>
                            </p:childTnLst>
                          </p:cTn>
                        </p:par>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42"/>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9"/>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5" grpId="0" animBg="1"/>
      <p:bldP spid="26" grpId="0" animBg="1"/>
      <p:bldP spid="27" grpId="0" animBg="1"/>
      <p:bldP spid="39" grpId="0" animBg="1"/>
      <p:bldP spid="4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Diagonal Corners Rounded 14">
            <a:extLst>
              <a:ext uri="{FF2B5EF4-FFF2-40B4-BE49-F238E27FC236}">
                <a16:creationId xmlns:a16="http://schemas.microsoft.com/office/drawing/2014/main" id="{2FC0B9D7-3453-4EFB-A7E6-898F1F63A75C}"/>
              </a:ext>
            </a:extLst>
          </p:cNvPr>
          <p:cNvSpPr/>
          <p:nvPr/>
        </p:nvSpPr>
        <p:spPr bwMode="gray">
          <a:xfrm>
            <a:off x="3623970" y="3281258"/>
            <a:ext cx="1803653" cy="1103355"/>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sp>
        <p:nvSpPr>
          <p:cNvPr id="2" name="Title 1">
            <a:extLst>
              <a:ext uri="{FF2B5EF4-FFF2-40B4-BE49-F238E27FC236}">
                <a16:creationId xmlns:a16="http://schemas.microsoft.com/office/drawing/2014/main" id="{63CEA792-3EB5-4DB7-8C92-AD9889D91019}"/>
              </a:ext>
            </a:extLst>
          </p:cNvPr>
          <p:cNvSpPr>
            <a:spLocks noGrp="1"/>
          </p:cNvSpPr>
          <p:nvPr>
            <p:ph type="title"/>
          </p:nvPr>
        </p:nvSpPr>
        <p:spPr/>
        <p:txBody>
          <a:bodyPr/>
          <a:lstStyle/>
          <a:p>
            <a:r>
              <a:rPr lang="en-US" dirty="0"/>
              <a:t>Access Modes</a:t>
            </a:r>
          </a:p>
        </p:txBody>
      </p:sp>
      <p:sp>
        <p:nvSpPr>
          <p:cNvPr id="4" name="Rectangle 3">
            <a:extLst>
              <a:ext uri="{FF2B5EF4-FFF2-40B4-BE49-F238E27FC236}">
                <a16:creationId xmlns:a16="http://schemas.microsoft.com/office/drawing/2014/main" id="{24EF343A-C10A-4019-AE5D-81BDE41FF336}"/>
              </a:ext>
            </a:extLst>
          </p:cNvPr>
          <p:cNvSpPr/>
          <p:nvPr/>
        </p:nvSpPr>
        <p:spPr bwMode="gray">
          <a:xfrm>
            <a:off x="870562" y="3210949"/>
            <a:ext cx="1815338" cy="1160859"/>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600" b="1" kern="0" dirty="0">
              <a:solidFill>
                <a:sysClr val="windowText" lastClr="000000"/>
              </a:solidFill>
              <a:ea typeface="Arial Unicode MS" pitchFamily="34" charset="-128"/>
            </a:endParaRPr>
          </a:p>
          <a:p>
            <a:pPr algn="ctr" defTabSz="914400" fontAlgn="base">
              <a:spcBef>
                <a:spcPct val="50000"/>
              </a:spcBef>
              <a:spcAft>
                <a:spcPct val="0"/>
              </a:spcAft>
              <a:buClr>
                <a:srgbClr val="F0AB00"/>
              </a:buClr>
              <a:buSzPct val="80000"/>
            </a:pPr>
            <a:r>
              <a:rPr lang="de-DE" sz="1600" b="1" kern="0" dirty="0" err="1">
                <a:solidFill>
                  <a:sysClr val="windowText" lastClr="000000"/>
                </a:solidFill>
                <a:ea typeface="Arial Unicode MS" pitchFamily="34" charset="-128"/>
              </a:rPr>
              <a:t>Pod</a:t>
            </a:r>
            <a:r>
              <a:rPr lang="de-DE" sz="1600" b="1" kern="0" dirty="0">
                <a:solidFill>
                  <a:sysClr val="windowText" lastClr="000000"/>
                </a:solidFill>
                <a:ea typeface="Arial Unicode MS" pitchFamily="34" charset="-128"/>
              </a:rPr>
              <a:t> A2</a:t>
            </a:r>
          </a:p>
        </p:txBody>
      </p:sp>
      <p:sp>
        <p:nvSpPr>
          <p:cNvPr id="5" name="Rectangle 4">
            <a:extLst>
              <a:ext uri="{FF2B5EF4-FFF2-40B4-BE49-F238E27FC236}">
                <a16:creationId xmlns:a16="http://schemas.microsoft.com/office/drawing/2014/main" id="{406C96CF-733F-4258-A88F-372E8E1C9AC3}"/>
              </a:ext>
            </a:extLst>
          </p:cNvPr>
          <p:cNvSpPr/>
          <p:nvPr/>
        </p:nvSpPr>
        <p:spPr bwMode="gray">
          <a:xfrm>
            <a:off x="870562" y="4530298"/>
            <a:ext cx="1815338" cy="1160859"/>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600" b="1" kern="0" dirty="0">
              <a:solidFill>
                <a:sysClr val="windowText" lastClr="000000"/>
              </a:solidFill>
              <a:ea typeface="Arial Unicode MS" pitchFamily="34" charset="-128"/>
            </a:endParaRPr>
          </a:p>
          <a:p>
            <a:pPr algn="ctr" defTabSz="914400" fontAlgn="base">
              <a:spcBef>
                <a:spcPct val="50000"/>
              </a:spcBef>
              <a:spcAft>
                <a:spcPct val="0"/>
              </a:spcAft>
              <a:buClr>
                <a:srgbClr val="F0AB00"/>
              </a:buClr>
              <a:buSzPct val="80000"/>
            </a:pPr>
            <a:r>
              <a:rPr lang="de-DE" sz="1600" b="1" kern="0" dirty="0" err="1">
                <a:solidFill>
                  <a:sysClr val="windowText" lastClr="000000"/>
                </a:solidFill>
                <a:ea typeface="Arial Unicode MS" pitchFamily="34" charset="-128"/>
              </a:rPr>
              <a:t>Pod</a:t>
            </a:r>
            <a:r>
              <a:rPr lang="de-DE" sz="1600" b="1" kern="0" dirty="0">
                <a:solidFill>
                  <a:sysClr val="windowText" lastClr="000000"/>
                </a:solidFill>
                <a:ea typeface="Arial Unicode MS" pitchFamily="34" charset="-128"/>
              </a:rPr>
              <a:t> A3</a:t>
            </a:r>
          </a:p>
        </p:txBody>
      </p:sp>
      <p:sp>
        <p:nvSpPr>
          <p:cNvPr id="6" name="Rectangle 5">
            <a:extLst>
              <a:ext uri="{FF2B5EF4-FFF2-40B4-BE49-F238E27FC236}">
                <a16:creationId xmlns:a16="http://schemas.microsoft.com/office/drawing/2014/main" id="{38F244DA-1F13-40FD-8214-BBC53B74B7B5}"/>
              </a:ext>
            </a:extLst>
          </p:cNvPr>
          <p:cNvSpPr/>
          <p:nvPr/>
        </p:nvSpPr>
        <p:spPr bwMode="gray">
          <a:xfrm>
            <a:off x="870562" y="1891600"/>
            <a:ext cx="1815338" cy="1160859"/>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600" b="1" kern="0" dirty="0">
              <a:solidFill>
                <a:sysClr val="windowText" lastClr="000000"/>
              </a:solidFill>
              <a:ea typeface="Arial Unicode MS" pitchFamily="34" charset="-128"/>
            </a:endParaRPr>
          </a:p>
          <a:p>
            <a:pPr algn="ctr" defTabSz="914400" fontAlgn="base">
              <a:spcBef>
                <a:spcPct val="50000"/>
              </a:spcBef>
              <a:spcAft>
                <a:spcPct val="0"/>
              </a:spcAft>
              <a:buClr>
                <a:srgbClr val="F0AB00"/>
              </a:buClr>
              <a:buSzPct val="80000"/>
            </a:pPr>
            <a:r>
              <a:rPr lang="de-DE" sz="1600" b="1" kern="0" dirty="0" err="1">
                <a:solidFill>
                  <a:sysClr val="windowText" lastClr="000000"/>
                </a:solidFill>
                <a:ea typeface="Arial Unicode MS" pitchFamily="34" charset="-128"/>
              </a:rPr>
              <a:t>Pod</a:t>
            </a:r>
            <a:r>
              <a:rPr lang="de-DE" sz="1600" b="1" kern="0" dirty="0">
                <a:solidFill>
                  <a:sysClr val="windowText" lastClr="000000"/>
                </a:solidFill>
                <a:ea typeface="Arial Unicode MS" pitchFamily="34" charset="-128"/>
              </a:rPr>
              <a:t> A1</a:t>
            </a:r>
          </a:p>
        </p:txBody>
      </p:sp>
      <p:cxnSp>
        <p:nvCxnSpPr>
          <p:cNvPr id="7" name="Straight Arrow Connector 8">
            <a:extLst>
              <a:ext uri="{FF2B5EF4-FFF2-40B4-BE49-F238E27FC236}">
                <a16:creationId xmlns:a16="http://schemas.microsoft.com/office/drawing/2014/main" id="{A99C66D5-FAA1-45A8-A871-A103CD413C67}"/>
              </a:ext>
            </a:extLst>
          </p:cNvPr>
          <p:cNvCxnSpPr>
            <a:cxnSpLocks/>
            <a:endCxn id="4" idx="3"/>
          </p:cNvCxnSpPr>
          <p:nvPr/>
        </p:nvCxnSpPr>
        <p:spPr>
          <a:xfrm rot="10800000" flipV="1">
            <a:off x="2685900" y="3791377"/>
            <a:ext cx="898662" cy="1"/>
          </a:xfrm>
          <a:prstGeom prst="bentConnector3">
            <a:avLst>
              <a:gd name="adj1" fmla="val 50000"/>
            </a:avLst>
          </a:prstGeom>
          <a:ln w="57150">
            <a:solidFill>
              <a:schemeClr val="accent1">
                <a:lumMod val="60000"/>
                <a:lumOff val="40000"/>
              </a:schemeClr>
            </a:solidFill>
            <a:headEnd type="oval" w="med" len="med"/>
            <a:tailEnd type="oval" w="med" len="med"/>
          </a:ln>
        </p:spPr>
        <p:style>
          <a:lnRef idx="2">
            <a:schemeClr val="accent2"/>
          </a:lnRef>
          <a:fillRef idx="0">
            <a:schemeClr val="accent2"/>
          </a:fillRef>
          <a:effectRef idx="1">
            <a:schemeClr val="accent2"/>
          </a:effectRef>
          <a:fontRef idx="minor">
            <a:schemeClr val="tx1"/>
          </a:fontRef>
        </p:style>
      </p:cxnSp>
      <p:cxnSp>
        <p:nvCxnSpPr>
          <p:cNvPr id="8" name="Straight Arrow Connector 8">
            <a:extLst>
              <a:ext uri="{FF2B5EF4-FFF2-40B4-BE49-F238E27FC236}">
                <a16:creationId xmlns:a16="http://schemas.microsoft.com/office/drawing/2014/main" id="{1D720CDF-5D17-46E8-9154-A2DC4A19E1B9}"/>
              </a:ext>
            </a:extLst>
          </p:cNvPr>
          <p:cNvCxnSpPr>
            <a:endCxn id="6" idx="3"/>
          </p:cNvCxnSpPr>
          <p:nvPr/>
        </p:nvCxnSpPr>
        <p:spPr>
          <a:xfrm rot="10800000">
            <a:off x="2685901" y="2472031"/>
            <a:ext cx="898661" cy="1330203"/>
          </a:xfrm>
          <a:prstGeom prst="bentConnector3">
            <a:avLst>
              <a:gd name="adj1" fmla="val 50000"/>
            </a:avLst>
          </a:prstGeom>
          <a:ln w="57150">
            <a:solidFill>
              <a:schemeClr val="accent1">
                <a:lumMod val="60000"/>
                <a:lumOff val="40000"/>
              </a:schemeClr>
            </a:solidFill>
            <a:headEnd type="oval" w="med" len="med"/>
            <a:tailEnd type="oval" w="med" len="med"/>
          </a:ln>
        </p:spPr>
        <p:style>
          <a:lnRef idx="2">
            <a:schemeClr val="accent2"/>
          </a:lnRef>
          <a:fillRef idx="0">
            <a:schemeClr val="accent2"/>
          </a:fillRef>
          <a:effectRef idx="1">
            <a:schemeClr val="accent2"/>
          </a:effectRef>
          <a:fontRef idx="minor">
            <a:schemeClr val="tx1"/>
          </a:fontRef>
        </p:style>
      </p:cxnSp>
      <p:cxnSp>
        <p:nvCxnSpPr>
          <p:cNvPr id="9" name="Straight Arrow Connector 8">
            <a:extLst>
              <a:ext uri="{FF2B5EF4-FFF2-40B4-BE49-F238E27FC236}">
                <a16:creationId xmlns:a16="http://schemas.microsoft.com/office/drawing/2014/main" id="{C5F75523-2EC7-4928-97D2-031CE11D1577}"/>
              </a:ext>
            </a:extLst>
          </p:cNvPr>
          <p:cNvCxnSpPr>
            <a:endCxn id="5" idx="3"/>
          </p:cNvCxnSpPr>
          <p:nvPr/>
        </p:nvCxnSpPr>
        <p:spPr>
          <a:xfrm rot="10800000" flipV="1">
            <a:off x="2685901" y="3802232"/>
            <a:ext cx="898661" cy="1308495"/>
          </a:xfrm>
          <a:prstGeom prst="bentConnector3">
            <a:avLst>
              <a:gd name="adj1" fmla="val 50000"/>
            </a:avLst>
          </a:prstGeom>
          <a:ln w="57150">
            <a:solidFill>
              <a:schemeClr val="accent1">
                <a:lumMod val="60000"/>
                <a:lumOff val="40000"/>
              </a:schemeClr>
            </a:solidFill>
            <a:headEnd type="oval" w="med" len="med"/>
            <a:tailEnd type="oval" w="med" len="med"/>
          </a:ln>
        </p:spPr>
        <p:style>
          <a:lnRef idx="2">
            <a:schemeClr val="accent2"/>
          </a:lnRef>
          <a:fillRef idx="0">
            <a:schemeClr val="accent2"/>
          </a:fillRef>
          <a:effectRef idx="1">
            <a:schemeClr val="accent2"/>
          </a:effectRef>
          <a:fontRef idx="minor">
            <a:schemeClr val="tx1"/>
          </a:fontRef>
        </p:style>
      </p:cxnSp>
      <p:sp>
        <p:nvSpPr>
          <p:cNvPr id="10" name="Rectangle 9">
            <a:extLst>
              <a:ext uri="{FF2B5EF4-FFF2-40B4-BE49-F238E27FC236}">
                <a16:creationId xmlns:a16="http://schemas.microsoft.com/office/drawing/2014/main" id="{E747B2A2-4E85-4BEC-842B-D68BCADB5F49}"/>
              </a:ext>
            </a:extLst>
          </p:cNvPr>
          <p:cNvSpPr/>
          <p:nvPr/>
        </p:nvSpPr>
        <p:spPr bwMode="gray">
          <a:xfrm>
            <a:off x="955271" y="1984280"/>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a:ln>
                  <a:noFill/>
                </a:ln>
                <a:effectLst/>
                <a:uLnTx/>
                <a:uFillTx/>
                <a:ea typeface="Arial Unicode MS" pitchFamily="34" charset="-128"/>
                <a:cs typeface="Arial Unicode MS" pitchFamily="34" charset="-128"/>
              </a:rPr>
              <a:t>IP: 10.10.10.1</a:t>
            </a:r>
          </a:p>
        </p:txBody>
      </p:sp>
      <p:sp>
        <p:nvSpPr>
          <p:cNvPr id="11" name="Rectangle 10">
            <a:extLst>
              <a:ext uri="{FF2B5EF4-FFF2-40B4-BE49-F238E27FC236}">
                <a16:creationId xmlns:a16="http://schemas.microsoft.com/office/drawing/2014/main" id="{A795CA9F-CC78-4527-A89A-961090560AFC}"/>
              </a:ext>
            </a:extLst>
          </p:cNvPr>
          <p:cNvSpPr/>
          <p:nvPr/>
        </p:nvSpPr>
        <p:spPr bwMode="gray">
          <a:xfrm>
            <a:off x="955271" y="3297366"/>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a:ln>
                  <a:noFill/>
                </a:ln>
                <a:effectLst/>
                <a:uLnTx/>
                <a:uFillTx/>
                <a:ea typeface="Arial Unicode MS" pitchFamily="34" charset="-128"/>
                <a:cs typeface="Arial Unicode MS" pitchFamily="34" charset="-128"/>
              </a:rPr>
              <a:t>IP: 10.10.10.2</a:t>
            </a:r>
          </a:p>
        </p:txBody>
      </p:sp>
      <p:sp>
        <p:nvSpPr>
          <p:cNvPr id="12" name="Rectangle 11">
            <a:extLst>
              <a:ext uri="{FF2B5EF4-FFF2-40B4-BE49-F238E27FC236}">
                <a16:creationId xmlns:a16="http://schemas.microsoft.com/office/drawing/2014/main" id="{1E40854E-4580-47BA-90E7-BBA8CDFC7C49}"/>
              </a:ext>
            </a:extLst>
          </p:cNvPr>
          <p:cNvSpPr/>
          <p:nvPr/>
        </p:nvSpPr>
        <p:spPr bwMode="gray">
          <a:xfrm>
            <a:off x="955271" y="4616480"/>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a:ln>
                  <a:noFill/>
                </a:ln>
                <a:effectLst/>
                <a:uLnTx/>
                <a:uFillTx/>
                <a:ea typeface="Arial Unicode MS" pitchFamily="34" charset="-128"/>
                <a:cs typeface="Arial Unicode MS" pitchFamily="34" charset="-128"/>
              </a:rPr>
              <a:t>IP: 10.10.10.3</a:t>
            </a:r>
          </a:p>
        </p:txBody>
      </p:sp>
      <p:sp>
        <p:nvSpPr>
          <p:cNvPr id="13" name="Cylinder 12">
            <a:extLst>
              <a:ext uri="{FF2B5EF4-FFF2-40B4-BE49-F238E27FC236}">
                <a16:creationId xmlns:a16="http://schemas.microsoft.com/office/drawing/2014/main" id="{FEB219DB-284F-4199-B6CA-C8509AA18034}"/>
              </a:ext>
            </a:extLst>
          </p:cNvPr>
          <p:cNvSpPr/>
          <p:nvPr/>
        </p:nvSpPr>
        <p:spPr bwMode="gray">
          <a:xfrm>
            <a:off x="9320646" y="3151098"/>
            <a:ext cx="1693576" cy="1362573"/>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Physical storage</a:t>
            </a:r>
          </a:p>
        </p:txBody>
      </p:sp>
      <p:sp>
        <p:nvSpPr>
          <p:cNvPr id="14" name="Cylinder 13">
            <a:extLst>
              <a:ext uri="{FF2B5EF4-FFF2-40B4-BE49-F238E27FC236}">
                <a16:creationId xmlns:a16="http://schemas.microsoft.com/office/drawing/2014/main" id="{D71EE5F9-DFE4-4CB0-9CA0-B3DCBA25D5EF}"/>
              </a:ext>
            </a:extLst>
          </p:cNvPr>
          <p:cNvSpPr/>
          <p:nvPr/>
        </p:nvSpPr>
        <p:spPr bwMode="gray">
          <a:xfrm>
            <a:off x="6485680" y="3280158"/>
            <a:ext cx="1486490" cy="1104455"/>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a:t>
            </a:r>
            <a:r>
              <a:rPr kumimoji="0" lang="en-US" sz="1800" b="0" i="0" u="none" strike="noStrike" kern="0" cap="none" spc="0" normalizeH="0" noProof="0" dirty="0">
                <a:ln>
                  <a:noFill/>
                </a:ln>
                <a:effectLst/>
                <a:uLnTx/>
                <a:uFillTx/>
                <a:ea typeface="Arial Unicode MS" pitchFamily="34" charset="-128"/>
                <a:cs typeface="Arial Unicode MS" pitchFamily="34" charset="-128"/>
              </a:rPr>
              <a:t> Volume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Connector: Elbow 15">
            <a:extLst>
              <a:ext uri="{FF2B5EF4-FFF2-40B4-BE49-F238E27FC236}">
                <a16:creationId xmlns:a16="http://schemas.microsoft.com/office/drawing/2014/main" id="{84A50DC6-50F3-4D45-A90F-265B9A2BBF60}"/>
              </a:ext>
            </a:extLst>
          </p:cNvPr>
          <p:cNvCxnSpPr>
            <a:cxnSpLocks/>
            <a:stCxn id="14" idx="4"/>
            <a:endCxn id="13" idx="2"/>
          </p:cNvCxnSpPr>
          <p:nvPr/>
        </p:nvCxnSpPr>
        <p:spPr>
          <a:xfrm flipV="1">
            <a:off x="7972170" y="3832385"/>
            <a:ext cx="1348476" cy="1"/>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226D7AD1-AE35-461D-84F8-E45BB0E51FC0}"/>
              </a:ext>
            </a:extLst>
          </p:cNvPr>
          <p:cNvCxnSpPr>
            <a:cxnSpLocks/>
            <a:stCxn id="15" idx="0"/>
            <a:endCxn id="14" idx="2"/>
          </p:cNvCxnSpPr>
          <p:nvPr/>
        </p:nvCxnSpPr>
        <p:spPr>
          <a:xfrm flipV="1">
            <a:off x="5427623" y="3832386"/>
            <a:ext cx="1058057" cy="550"/>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Speech Bubble: Rectangle 30">
            <a:extLst>
              <a:ext uri="{FF2B5EF4-FFF2-40B4-BE49-F238E27FC236}">
                <a16:creationId xmlns:a16="http://schemas.microsoft.com/office/drawing/2014/main" id="{3FFDABBF-A7EC-4EFE-A628-B6C21820E3CD}"/>
              </a:ext>
            </a:extLst>
          </p:cNvPr>
          <p:cNvSpPr/>
          <p:nvPr/>
        </p:nvSpPr>
        <p:spPr bwMode="gray">
          <a:xfrm>
            <a:off x="4307067" y="1071697"/>
            <a:ext cx="2409432" cy="1713391"/>
          </a:xfrm>
          <a:prstGeom prst="wedgeRectCallout">
            <a:avLst>
              <a:gd name="adj1" fmla="val -91903"/>
              <a:gd name="adj2" fmla="val 90799"/>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RWO</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 read-write once</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Only 1 pod can mount the PVC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3" name="Speech Bubble: Rectangle 32">
            <a:extLst>
              <a:ext uri="{FF2B5EF4-FFF2-40B4-BE49-F238E27FC236}">
                <a16:creationId xmlns:a16="http://schemas.microsoft.com/office/drawing/2014/main" id="{AE2CC4DA-2088-440A-9B6D-2E43D407CE31}"/>
              </a:ext>
            </a:extLst>
          </p:cNvPr>
          <p:cNvSpPr/>
          <p:nvPr/>
        </p:nvSpPr>
        <p:spPr bwMode="gray">
          <a:xfrm>
            <a:off x="4302108" y="1072026"/>
            <a:ext cx="2409432" cy="1713391"/>
          </a:xfrm>
          <a:prstGeom prst="wedgeRectCallout">
            <a:avLst>
              <a:gd name="adj1" fmla="val -91903"/>
              <a:gd name="adj2" fmla="val 90799"/>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ROX</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 read-only many</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Multiple pods can mount re</a:t>
            </a:r>
            <a:r>
              <a:rPr lang="en-US" sz="1800" kern="0" dirty="0">
                <a:ea typeface="Arial Unicode MS" pitchFamily="34" charset="-128"/>
                <a:cs typeface="Arial Unicode MS" pitchFamily="34" charset="-128"/>
              </a:rPr>
              <a:t>ad-only or 1 pod read-write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Speech Bubble: Rectangle 33">
            <a:extLst>
              <a:ext uri="{FF2B5EF4-FFF2-40B4-BE49-F238E27FC236}">
                <a16:creationId xmlns:a16="http://schemas.microsoft.com/office/drawing/2014/main" id="{B0AB2C38-875D-4529-B4E2-AB325FBF274F}"/>
              </a:ext>
            </a:extLst>
          </p:cNvPr>
          <p:cNvSpPr/>
          <p:nvPr/>
        </p:nvSpPr>
        <p:spPr bwMode="gray">
          <a:xfrm>
            <a:off x="4308826" y="1080670"/>
            <a:ext cx="2409432" cy="1713391"/>
          </a:xfrm>
          <a:prstGeom prst="wedgeRectCallout">
            <a:avLst>
              <a:gd name="adj1" fmla="val -91903"/>
              <a:gd name="adj2" fmla="val 90799"/>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RWX</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 read-write many</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Multiple pods can mount re</a:t>
            </a:r>
            <a:r>
              <a:rPr lang="en-US" sz="1800" kern="0" dirty="0">
                <a:ea typeface="Arial Unicode MS" pitchFamily="34" charset="-128"/>
                <a:cs typeface="Arial Unicode MS" pitchFamily="34" charset="-128"/>
              </a:rPr>
              <a:t>ad-write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Speech Bubble: Rectangle 34">
            <a:extLst>
              <a:ext uri="{FF2B5EF4-FFF2-40B4-BE49-F238E27FC236}">
                <a16:creationId xmlns:a16="http://schemas.microsoft.com/office/drawing/2014/main" id="{C65EFBDC-DA03-4F31-A81A-C14E638769D5}"/>
              </a:ext>
            </a:extLst>
          </p:cNvPr>
          <p:cNvSpPr/>
          <p:nvPr/>
        </p:nvSpPr>
        <p:spPr bwMode="gray">
          <a:xfrm>
            <a:off x="7164280" y="5467422"/>
            <a:ext cx="2681056" cy="982692"/>
          </a:xfrm>
          <a:prstGeom prst="wedgeRectCallout">
            <a:avLst>
              <a:gd name="adj1" fmla="val 42966"/>
              <a:gd name="adj2" fmla="val -135956"/>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Storage backend has to support access modes</a:t>
            </a:r>
          </a:p>
        </p:txBody>
      </p:sp>
    </p:spTree>
    <p:extLst>
      <p:ext uri="{BB962C8B-B14F-4D97-AF65-F5344CB8AC3E}">
        <p14:creationId xmlns:p14="http://schemas.microsoft.com/office/powerpoint/2010/main" val="4085604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3" grpId="0" animBg="1"/>
      <p:bldP spid="3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a:xfrm>
            <a:off x="504001" y="504000"/>
            <a:ext cx="11186476" cy="369332"/>
          </a:xfrm>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508930" y="1194318"/>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1</a:t>
            </a:r>
          </a:p>
        </p:txBody>
      </p:sp>
      <p:sp>
        <p:nvSpPr>
          <p:cNvPr id="4" name="Rectangle 3">
            <a:extLst>
              <a:ext uri="{FF2B5EF4-FFF2-40B4-BE49-F238E27FC236}">
                <a16:creationId xmlns:a16="http://schemas.microsoft.com/office/drawing/2014/main" id="{660740E0-E110-40F4-B654-BF64B5C3974C}"/>
              </a:ext>
            </a:extLst>
          </p:cNvPr>
          <p:cNvSpPr/>
          <p:nvPr/>
        </p:nvSpPr>
        <p:spPr bwMode="gray">
          <a:xfrm>
            <a:off x="717671" y="1824022"/>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232723" y="2226478"/>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950472" y="2025446"/>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7" name="TextBox 16">
            <a:extLst>
              <a:ext uri="{FF2B5EF4-FFF2-40B4-BE49-F238E27FC236}">
                <a16:creationId xmlns:a16="http://schemas.microsoft.com/office/drawing/2014/main" id="{D139FEFC-B3E0-41A1-A62C-89812500AB8A}"/>
              </a:ext>
            </a:extLst>
          </p:cNvPr>
          <p:cNvSpPr txBox="1"/>
          <p:nvPr/>
        </p:nvSpPr>
        <p:spPr>
          <a:xfrm>
            <a:off x="1105477" y="5182994"/>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H="1" flipV="1">
            <a:off x="3637455" y="2951369"/>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grpSp>
        <p:nvGrpSpPr>
          <p:cNvPr id="7" name="Group 6">
            <a:extLst>
              <a:ext uri="{FF2B5EF4-FFF2-40B4-BE49-F238E27FC236}">
                <a16:creationId xmlns:a16="http://schemas.microsoft.com/office/drawing/2014/main" id="{8154FFA1-6EF9-40ED-926C-58DFB177CAC4}"/>
              </a:ext>
            </a:extLst>
          </p:cNvPr>
          <p:cNvGrpSpPr/>
          <p:nvPr/>
        </p:nvGrpSpPr>
        <p:grpSpPr>
          <a:xfrm>
            <a:off x="5125731" y="1310764"/>
            <a:ext cx="1992118" cy="2583048"/>
            <a:chOff x="9638262" y="2348384"/>
            <a:chExt cx="1992118" cy="2583048"/>
          </a:xfrm>
        </p:grpSpPr>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782348"/>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9656369" y="2348384"/>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41" name="TextBox 40">
              <a:extLst>
                <a:ext uri="{FF2B5EF4-FFF2-40B4-BE49-F238E27FC236}">
                  <a16:creationId xmlns:a16="http://schemas.microsoft.com/office/drawing/2014/main" id="{A5B6FDA5-3A11-48F6-B6C6-D8DA71C5C7A8}"/>
                </a:ext>
              </a:extLst>
            </p:cNvPr>
            <p:cNvSpPr txBox="1"/>
            <p:nvPr/>
          </p:nvSpPr>
          <p:spPr>
            <a:xfrm>
              <a:off x="9656369"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grpSp>
      <p:sp>
        <p:nvSpPr>
          <p:cNvPr id="22" name="Rectangle 21">
            <a:extLst>
              <a:ext uri="{FF2B5EF4-FFF2-40B4-BE49-F238E27FC236}">
                <a16:creationId xmlns:a16="http://schemas.microsoft.com/office/drawing/2014/main" id="{17A03B74-0A8F-446F-8FB4-2823A9A0B4D5}"/>
              </a:ext>
            </a:extLst>
          </p:cNvPr>
          <p:cNvSpPr/>
          <p:nvPr/>
        </p:nvSpPr>
        <p:spPr bwMode="gray">
          <a:xfrm>
            <a:off x="7919624" y="1209500"/>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2</a:t>
            </a:r>
          </a:p>
        </p:txBody>
      </p:sp>
      <p:sp>
        <p:nvSpPr>
          <p:cNvPr id="23" name="Rectangle 22">
            <a:extLst>
              <a:ext uri="{FF2B5EF4-FFF2-40B4-BE49-F238E27FC236}">
                <a16:creationId xmlns:a16="http://schemas.microsoft.com/office/drawing/2014/main" id="{FF49F2F2-D2A1-4B14-BBD5-DA6639A9A5A8}"/>
              </a:ext>
            </a:extLst>
          </p:cNvPr>
          <p:cNvSpPr/>
          <p:nvPr/>
        </p:nvSpPr>
        <p:spPr bwMode="gray">
          <a:xfrm>
            <a:off x="8128365" y="1839204"/>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BB078D3-3606-4C62-98F8-8C3ECD54EB97}"/>
              </a:ext>
            </a:extLst>
          </p:cNvPr>
          <p:cNvSpPr/>
          <p:nvPr/>
        </p:nvSpPr>
        <p:spPr bwMode="gray">
          <a:xfrm>
            <a:off x="8643417" y="2241660"/>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Rectangle: Rounded Corners 24">
            <a:extLst>
              <a:ext uri="{FF2B5EF4-FFF2-40B4-BE49-F238E27FC236}">
                <a16:creationId xmlns:a16="http://schemas.microsoft.com/office/drawing/2014/main" id="{AD575484-18CD-4213-9325-F637BF4EE2C5}"/>
              </a:ext>
            </a:extLst>
          </p:cNvPr>
          <p:cNvSpPr/>
          <p:nvPr/>
        </p:nvSpPr>
        <p:spPr bwMode="gray">
          <a:xfrm>
            <a:off x="8361166" y="2040628"/>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26" name="TextBox 25">
            <a:extLst>
              <a:ext uri="{FF2B5EF4-FFF2-40B4-BE49-F238E27FC236}">
                <a16:creationId xmlns:a16="http://schemas.microsoft.com/office/drawing/2014/main" id="{705404ED-84FE-4C34-A865-D8C3E182A202}"/>
              </a:ext>
            </a:extLst>
          </p:cNvPr>
          <p:cNvSpPr txBox="1"/>
          <p:nvPr/>
        </p:nvSpPr>
        <p:spPr>
          <a:xfrm>
            <a:off x="8516171" y="5198176"/>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7" name="Connector: Elbow 26">
            <a:extLst>
              <a:ext uri="{FF2B5EF4-FFF2-40B4-BE49-F238E27FC236}">
                <a16:creationId xmlns:a16="http://schemas.microsoft.com/office/drawing/2014/main" id="{29B9707C-5250-4605-8216-E074F2243A62}"/>
              </a:ext>
            </a:extLst>
          </p:cNvPr>
          <p:cNvCxnSpPr>
            <a:cxnSpLocks/>
            <a:stCxn id="26" idx="3"/>
            <a:endCxn id="24" idx="3"/>
          </p:cNvCxnSpPr>
          <p:nvPr/>
        </p:nvCxnSpPr>
        <p:spPr>
          <a:xfrm flipH="1" flipV="1">
            <a:off x="11048149" y="2966551"/>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3495350" y="2833552"/>
            <a:ext cx="1566181" cy="3686700"/>
          </a:xfrm>
          <a:prstGeom prst="bentConnector3">
            <a:avLst>
              <a:gd name="adj1" fmla="val 153276"/>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31" name="Connector: Elbow 30">
            <a:extLst>
              <a:ext uri="{FF2B5EF4-FFF2-40B4-BE49-F238E27FC236}">
                <a16:creationId xmlns:a16="http://schemas.microsoft.com/office/drawing/2014/main" id="{5D464955-1EEA-4566-AECB-EF1ADFE99C7F}"/>
              </a:ext>
            </a:extLst>
          </p:cNvPr>
          <p:cNvCxnSpPr>
            <a:cxnSpLocks/>
            <a:stCxn id="41" idx="2"/>
            <a:endCxn id="26" idx="2"/>
          </p:cNvCxnSpPr>
          <p:nvPr/>
        </p:nvCxnSpPr>
        <p:spPr>
          <a:xfrm rot="16200000" flipH="1">
            <a:off x="7193106" y="2822496"/>
            <a:ext cx="1581363" cy="3723994"/>
          </a:xfrm>
          <a:prstGeom prst="bentConnector3">
            <a:avLst>
              <a:gd name="adj1" fmla="val 151319"/>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4" name="Speech Bubble: Rectangle 33">
            <a:extLst>
              <a:ext uri="{FF2B5EF4-FFF2-40B4-BE49-F238E27FC236}">
                <a16:creationId xmlns:a16="http://schemas.microsoft.com/office/drawing/2014/main" id="{02F1BB7E-F5B4-4CDD-8F67-83E7478969BE}"/>
              </a:ext>
            </a:extLst>
          </p:cNvPr>
          <p:cNvSpPr/>
          <p:nvPr/>
        </p:nvSpPr>
        <p:spPr bwMode="gray">
          <a:xfrm>
            <a:off x="4912743" y="4696682"/>
            <a:ext cx="2257265" cy="636814"/>
          </a:xfrm>
          <a:prstGeom prst="wedgeRectCallout">
            <a:avLst>
              <a:gd name="adj1" fmla="val -58399"/>
              <a:gd name="adj2" fmla="val 17690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disk        </a:t>
            </a:r>
            <a:r>
              <a:rPr lang="en-US" sz="1800" b="1" kern="0" dirty="0">
                <a:ea typeface="Arial Unicode MS" pitchFamily="34" charset="-128"/>
                <a:cs typeface="Arial Unicode MS" pitchFamily="34" charset="-128"/>
              </a:rPr>
              <a:t>read-write</a:t>
            </a:r>
            <a:endParaRPr kumimoji="0" lang="en-US" sz="1800" b="1"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39" name="Graphic 38" descr="High voltage">
            <a:extLst>
              <a:ext uri="{FF2B5EF4-FFF2-40B4-BE49-F238E27FC236}">
                <a16:creationId xmlns:a16="http://schemas.microsoft.com/office/drawing/2014/main" id="{47D312D4-B86A-427B-A3EA-E3453281F64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8286" y="5098810"/>
            <a:ext cx="1179235" cy="1179235"/>
          </a:xfrm>
          <a:prstGeom prst="rect">
            <a:avLst/>
          </a:prstGeom>
        </p:spPr>
      </p:pic>
    </p:spTree>
    <p:extLst>
      <p:ext uri="{BB962C8B-B14F-4D97-AF65-F5344CB8AC3E}">
        <p14:creationId xmlns:p14="http://schemas.microsoft.com/office/powerpoint/2010/main" val="3992364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a:xfrm>
            <a:off x="504001" y="504000"/>
            <a:ext cx="11186476" cy="369332"/>
          </a:xfrm>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508930" y="1194318"/>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1</a:t>
            </a:r>
          </a:p>
        </p:txBody>
      </p:sp>
      <p:sp>
        <p:nvSpPr>
          <p:cNvPr id="4" name="Rectangle 3">
            <a:extLst>
              <a:ext uri="{FF2B5EF4-FFF2-40B4-BE49-F238E27FC236}">
                <a16:creationId xmlns:a16="http://schemas.microsoft.com/office/drawing/2014/main" id="{660740E0-E110-40F4-B654-BF64B5C3974C}"/>
              </a:ext>
            </a:extLst>
          </p:cNvPr>
          <p:cNvSpPr/>
          <p:nvPr/>
        </p:nvSpPr>
        <p:spPr bwMode="gray">
          <a:xfrm>
            <a:off x="717671" y="1824022"/>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232723" y="2226478"/>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950472" y="2025446"/>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7" name="TextBox 16">
            <a:extLst>
              <a:ext uri="{FF2B5EF4-FFF2-40B4-BE49-F238E27FC236}">
                <a16:creationId xmlns:a16="http://schemas.microsoft.com/office/drawing/2014/main" id="{D139FEFC-B3E0-41A1-A62C-89812500AB8A}"/>
              </a:ext>
            </a:extLst>
          </p:cNvPr>
          <p:cNvSpPr txBox="1"/>
          <p:nvPr/>
        </p:nvSpPr>
        <p:spPr>
          <a:xfrm>
            <a:off x="1105477" y="5182994"/>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H="1" flipV="1">
            <a:off x="3637455" y="2951369"/>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grpSp>
        <p:nvGrpSpPr>
          <p:cNvPr id="7" name="Group 6">
            <a:extLst>
              <a:ext uri="{FF2B5EF4-FFF2-40B4-BE49-F238E27FC236}">
                <a16:creationId xmlns:a16="http://schemas.microsoft.com/office/drawing/2014/main" id="{8154FFA1-6EF9-40ED-926C-58DFB177CAC4}"/>
              </a:ext>
            </a:extLst>
          </p:cNvPr>
          <p:cNvGrpSpPr/>
          <p:nvPr/>
        </p:nvGrpSpPr>
        <p:grpSpPr>
          <a:xfrm>
            <a:off x="5125731" y="1310764"/>
            <a:ext cx="1992118" cy="2583048"/>
            <a:chOff x="9638262" y="2348384"/>
            <a:chExt cx="1992118" cy="2583048"/>
          </a:xfrm>
        </p:grpSpPr>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782348"/>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9656369" y="2348384"/>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41" name="TextBox 40">
              <a:extLst>
                <a:ext uri="{FF2B5EF4-FFF2-40B4-BE49-F238E27FC236}">
                  <a16:creationId xmlns:a16="http://schemas.microsoft.com/office/drawing/2014/main" id="{A5B6FDA5-3A11-48F6-B6C6-D8DA71C5C7A8}"/>
                </a:ext>
              </a:extLst>
            </p:cNvPr>
            <p:cNvSpPr txBox="1"/>
            <p:nvPr/>
          </p:nvSpPr>
          <p:spPr>
            <a:xfrm>
              <a:off x="9656369"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grpSp>
      <p:sp>
        <p:nvSpPr>
          <p:cNvPr id="22" name="Rectangle 21">
            <a:extLst>
              <a:ext uri="{FF2B5EF4-FFF2-40B4-BE49-F238E27FC236}">
                <a16:creationId xmlns:a16="http://schemas.microsoft.com/office/drawing/2014/main" id="{17A03B74-0A8F-446F-8FB4-2823A9A0B4D5}"/>
              </a:ext>
            </a:extLst>
          </p:cNvPr>
          <p:cNvSpPr/>
          <p:nvPr/>
        </p:nvSpPr>
        <p:spPr bwMode="gray">
          <a:xfrm>
            <a:off x="7919624" y="1209500"/>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2</a:t>
            </a:r>
          </a:p>
        </p:txBody>
      </p:sp>
      <p:sp>
        <p:nvSpPr>
          <p:cNvPr id="23" name="Rectangle 22">
            <a:extLst>
              <a:ext uri="{FF2B5EF4-FFF2-40B4-BE49-F238E27FC236}">
                <a16:creationId xmlns:a16="http://schemas.microsoft.com/office/drawing/2014/main" id="{FF49F2F2-D2A1-4B14-BBD5-DA6639A9A5A8}"/>
              </a:ext>
            </a:extLst>
          </p:cNvPr>
          <p:cNvSpPr/>
          <p:nvPr/>
        </p:nvSpPr>
        <p:spPr bwMode="gray">
          <a:xfrm>
            <a:off x="8128365" y="1839204"/>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BB078D3-3606-4C62-98F8-8C3ECD54EB97}"/>
              </a:ext>
            </a:extLst>
          </p:cNvPr>
          <p:cNvSpPr/>
          <p:nvPr/>
        </p:nvSpPr>
        <p:spPr bwMode="gray">
          <a:xfrm>
            <a:off x="8643417" y="2241660"/>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Rectangle: Rounded Corners 24">
            <a:extLst>
              <a:ext uri="{FF2B5EF4-FFF2-40B4-BE49-F238E27FC236}">
                <a16:creationId xmlns:a16="http://schemas.microsoft.com/office/drawing/2014/main" id="{AD575484-18CD-4213-9325-F637BF4EE2C5}"/>
              </a:ext>
            </a:extLst>
          </p:cNvPr>
          <p:cNvSpPr/>
          <p:nvPr/>
        </p:nvSpPr>
        <p:spPr bwMode="gray">
          <a:xfrm>
            <a:off x="8361166" y="2040628"/>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26" name="TextBox 25">
            <a:extLst>
              <a:ext uri="{FF2B5EF4-FFF2-40B4-BE49-F238E27FC236}">
                <a16:creationId xmlns:a16="http://schemas.microsoft.com/office/drawing/2014/main" id="{705404ED-84FE-4C34-A865-D8C3E182A202}"/>
              </a:ext>
            </a:extLst>
          </p:cNvPr>
          <p:cNvSpPr txBox="1"/>
          <p:nvPr/>
        </p:nvSpPr>
        <p:spPr>
          <a:xfrm>
            <a:off x="8516171" y="5198176"/>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7" name="Connector: Elbow 26">
            <a:extLst>
              <a:ext uri="{FF2B5EF4-FFF2-40B4-BE49-F238E27FC236}">
                <a16:creationId xmlns:a16="http://schemas.microsoft.com/office/drawing/2014/main" id="{29B9707C-5250-4605-8216-E074F2243A62}"/>
              </a:ext>
            </a:extLst>
          </p:cNvPr>
          <p:cNvCxnSpPr>
            <a:cxnSpLocks/>
            <a:stCxn id="26" idx="3"/>
            <a:endCxn id="24" idx="3"/>
          </p:cNvCxnSpPr>
          <p:nvPr/>
        </p:nvCxnSpPr>
        <p:spPr>
          <a:xfrm flipH="1" flipV="1">
            <a:off x="11048149" y="2966551"/>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3495350" y="2833552"/>
            <a:ext cx="1566181" cy="3686700"/>
          </a:xfrm>
          <a:prstGeom prst="bentConnector3">
            <a:avLst>
              <a:gd name="adj1" fmla="val 153276"/>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31" name="Connector: Elbow 30">
            <a:extLst>
              <a:ext uri="{FF2B5EF4-FFF2-40B4-BE49-F238E27FC236}">
                <a16:creationId xmlns:a16="http://schemas.microsoft.com/office/drawing/2014/main" id="{5D464955-1EEA-4566-AECB-EF1ADFE99C7F}"/>
              </a:ext>
            </a:extLst>
          </p:cNvPr>
          <p:cNvCxnSpPr>
            <a:cxnSpLocks/>
            <a:stCxn id="41" idx="2"/>
            <a:endCxn id="26" idx="2"/>
          </p:cNvCxnSpPr>
          <p:nvPr/>
        </p:nvCxnSpPr>
        <p:spPr>
          <a:xfrm rot="16200000" flipH="1">
            <a:off x="7193106" y="2822496"/>
            <a:ext cx="1581363" cy="3723994"/>
          </a:xfrm>
          <a:prstGeom prst="bentConnector3">
            <a:avLst>
              <a:gd name="adj1" fmla="val 151319"/>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pic>
        <p:nvPicPr>
          <p:cNvPr id="39" name="Graphic 38" descr="High voltage">
            <a:extLst>
              <a:ext uri="{FF2B5EF4-FFF2-40B4-BE49-F238E27FC236}">
                <a16:creationId xmlns:a16="http://schemas.microsoft.com/office/drawing/2014/main" id="{47D312D4-B86A-427B-A3EA-E3453281F64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8286" y="5098810"/>
            <a:ext cx="1179235" cy="1179235"/>
          </a:xfrm>
          <a:prstGeom prst="rect">
            <a:avLst/>
          </a:prstGeom>
        </p:spPr>
      </p:pic>
      <p:sp>
        <p:nvSpPr>
          <p:cNvPr id="42" name="Speech Bubble: Rectangle 41">
            <a:extLst>
              <a:ext uri="{FF2B5EF4-FFF2-40B4-BE49-F238E27FC236}">
                <a16:creationId xmlns:a16="http://schemas.microsoft.com/office/drawing/2014/main" id="{FFBFC18B-1A79-4368-BD3F-52961CC704B2}"/>
              </a:ext>
            </a:extLst>
          </p:cNvPr>
          <p:cNvSpPr/>
          <p:nvPr/>
        </p:nvSpPr>
        <p:spPr bwMode="gray">
          <a:xfrm>
            <a:off x="4897439" y="4608242"/>
            <a:ext cx="2257265" cy="636814"/>
          </a:xfrm>
          <a:prstGeom prst="wedgeRectCallout">
            <a:avLst>
              <a:gd name="adj1" fmla="val -58399"/>
              <a:gd name="adj2" fmla="val -21079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Stop container</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4" name="Speech Bubble: Rectangle 43">
            <a:extLst>
              <a:ext uri="{FF2B5EF4-FFF2-40B4-BE49-F238E27FC236}">
                <a16:creationId xmlns:a16="http://schemas.microsoft.com/office/drawing/2014/main" id="{685B0E0F-CFEC-404A-87B2-9F8020293FE2}"/>
              </a:ext>
            </a:extLst>
          </p:cNvPr>
          <p:cNvSpPr/>
          <p:nvPr/>
        </p:nvSpPr>
        <p:spPr bwMode="gray">
          <a:xfrm>
            <a:off x="4897439" y="4609019"/>
            <a:ext cx="2257265" cy="636814"/>
          </a:xfrm>
          <a:prstGeom prst="wedgeRectCallout">
            <a:avLst>
              <a:gd name="adj1" fmla="val -57893"/>
              <a:gd name="adj2" fmla="val 17510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err="1">
                <a:ea typeface="Arial Unicode MS" pitchFamily="34" charset="-128"/>
                <a:cs typeface="Arial Unicode MS" pitchFamily="34" charset="-128"/>
              </a:rPr>
              <a:t>umount</a:t>
            </a:r>
            <a:r>
              <a:rPr lang="en-US" sz="1800" kern="0" noProof="0" dirty="0">
                <a:ea typeface="Arial Unicode MS" pitchFamily="34" charset="-128"/>
                <a:cs typeface="Arial Unicode MS" pitchFamily="34" charset="-128"/>
              </a:rPr>
              <a:t> disk</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964818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21"/>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7"/>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42"/>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0"/>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31"/>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39"/>
                                        </p:tgtEl>
                                        <p:attrNameLst>
                                          <p:attrName>style.visibility</p:attrName>
                                        </p:attrNameLst>
                                      </p:cBhvr>
                                      <p:to>
                                        <p:strVal val="hidden"/>
                                      </p:to>
                                    </p:set>
                                  </p:childTnLst>
                                </p:cTn>
                              </p:par>
                              <p:par>
                                <p:cTn id="29" presetID="1" presetClass="exit"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hidden"/>
                                      </p:to>
                                    </p:set>
                                  </p:childTnLst>
                                </p:cTn>
                              </p:par>
                              <p:par>
                                <p:cTn id="31" presetID="1" presetClass="exit"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7" grpId="0"/>
      <p:bldP spid="24" grpId="0" animBg="1"/>
      <p:bldP spid="25" grpId="0" animBg="1"/>
      <p:bldP spid="26" grpId="0"/>
      <p:bldP spid="42" grpId="0" animBg="1"/>
      <p:bldP spid="44" grpId="0" animBg="1"/>
      <p:bldP spid="44"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a:xfrm>
            <a:off x="504001" y="504000"/>
            <a:ext cx="11186476" cy="369332"/>
          </a:xfrm>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508930" y="1194318"/>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1</a:t>
            </a:r>
          </a:p>
        </p:txBody>
      </p:sp>
      <p:sp>
        <p:nvSpPr>
          <p:cNvPr id="4" name="Rectangle 3">
            <a:extLst>
              <a:ext uri="{FF2B5EF4-FFF2-40B4-BE49-F238E27FC236}">
                <a16:creationId xmlns:a16="http://schemas.microsoft.com/office/drawing/2014/main" id="{660740E0-E110-40F4-B654-BF64B5C3974C}"/>
              </a:ext>
            </a:extLst>
          </p:cNvPr>
          <p:cNvSpPr/>
          <p:nvPr/>
        </p:nvSpPr>
        <p:spPr bwMode="gray">
          <a:xfrm>
            <a:off x="717671" y="1824022"/>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232723" y="2226478"/>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950472" y="2025446"/>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7" name="TextBox 16">
            <a:extLst>
              <a:ext uri="{FF2B5EF4-FFF2-40B4-BE49-F238E27FC236}">
                <a16:creationId xmlns:a16="http://schemas.microsoft.com/office/drawing/2014/main" id="{D139FEFC-B3E0-41A1-A62C-89812500AB8A}"/>
              </a:ext>
            </a:extLst>
          </p:cNvPr>
          <p:cNvSpPr txBox="1"/>
          <p:nvPr/>
        </p:nvSpPr>
        <p:spPr>
          <a:xfrm>
            <a:off x="1105477" y="5182994"/>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H="1" flipV="1">
            <a:off x="3637455" y="2951369"/>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grpSp>
        <p:nvGrpSpPr>
          <p:cNvPr id="7" name="Group 6">
            <a:extLst>
              <a:ext uri="{FF2B5EF4-FFF2-40B4-BE49-F238E27FC236}">
                <a16:creationId xmlns:a16="http://schemas.microsoft.com/office/drawing/2014/main" id="{8154FFA1-6EF9-40ED-926C-58DFB177CAC4}"/>
              </a:ext>
            </a:extLst>
          </p:cNvPr>
          <p:cNvGrpSpPr/>
          <p:nvPr/>
        </p:nvGrpSpPr>
        <p:grpSpPr>
          <a:xfrm>
            <a:off x="5125731" y="1310764"/>
            <a:ext cx="1992118" cy="2583048"/>
            <a:chOff x="9638262" y="2348384"/>
            <a:chExt cx="1992118" cy="2583048"/>
          </a:xfrm>
        </p:grpSpPr>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782348"/>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9656369" y="2348384"/>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41" name="TextBox 40">
              <a:extLst>
                <a:ext uri="{FF2B5EF4-FFF2-40B4-BE49-F238E27FC236}">
                  <a16:creationId xmlns:a16="http://schemas.microsoft.com/office/drawing/2014/main" id="{A5B6FDA5-3A11-48F6-B6C6-D8DA71C5C7A8}"/>
                </a:ext>
              </a:extLst>
            </p:cNvPr>
            <p:cNvSpPr txBox="1"/>
            <p:nvPr/>
          </p:nvSpPr>
          <p:spPr>
            <a:xfrm>
              <a:off x="9656369"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grpSp>
      <p:sp>
        <p:nvSpPr>
          <p:cNvPr id="22" name="Rectangle 21">
            <a:extLst>
              <a:ext uri="{FF2B5EF4-FFF2-40B4-BE49-F238E27FC236}">
                <a16:creationId xmlns:a16="http://schemas.microsoft.com/office/drawing/2014/main" id="{17A03B74-0A8F-446F-8FB4-2823A9A0B4D5}"/>
              </a:ext>
            </a:extLst>
          </p:cNvPr>
          <p:cNvSpPr/>
          <p:nvPr/>
        </p:nvSpPr>
        <p:spPr bwMode="gray">
          <a:xfrm>
            <a:off x="7919624" y="1209500"/>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2</a:t>
            </a:r>
          </a:p>
        </p:txBody>
      </p:sp>
      <p:sp>
        <p:nvSpPr>
          <p:cNvPr id="23" name="Rectangle 22">
            <a:extLst>
              <a:ext uri="{FF2B5EF4-FFF2-40B4-BE49-F238E27FC236}">
                <a16:creationId xmlns:a16="http://schemas.microsoft.com/office/drawing/2014/main" id="{FF49F2F2-D2A1-4B14-BBD5-DA6639A9A5A8}"/>
              </a:ext>
            </a:extLst>
          </p:cNvPr>
          <p:cNvSpPr/>
          <p:nvPr/>
        </p:nvSpPr>
        <p:spPr bwMode="gray">
          <a:xfrm>
            <a:off x="8128365" y="1839204"/>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BB078D3-3606-4C62-98F8-8C3ECD54EB97}"/>
              </a:ext>
            </a:extLst>
          </p:cNvPr>
          <p:cNvSpPr/>
          <p:nvPr/>
        </p:nvSpPr>
        <p:spPr bwMode="gray">
          <a:xfrm>
            <a:off x="8643417" y="2241660"/>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Rectangle: Rounded Corners 24">
            <a:extLst>
              <a:ext uri="{FF2B5EF4-FFF2-40B4-BE49-F238E27FC236}">
                <a16:creationId xmlns:a16="http://schemas.microsoft.com/office/drawing/2014/main" id="{AD575484-18CD-4213-9325-F637BF4EE2C5}"/>
              </a:ext>
            </a:extLst>
          </p:cNvPr>
          <p:cNvSpPr/>
          <p:nvPr/>
        </p:nvSpPr>
        <p:spPr bwMode="gray">
          <a:xfrm>
            <a:off x="8361166" y="2040628"/>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26" name="TextBox 25">
            <a:extLst>
              <a:ext uri="{FF2B5EF4-FFF2-40B4-BE49-F238E27FC236}">
                <a16:creationId xmlns:a16="http://schemas.microsoft.com/office/drawing/2014/main" id="{705404ED-84FE-4C34-A865-D8C3E182A202}"/>
              </a:ext>
            </a:extLst>
          </p:cNvPr>
          <p:cNvSpPr txBox="1"/>
          <p:nvPr/>
        </p:nvSpPr>
        <p:spPr>
          <a:xfrm>
            <a:off x="8516171" y="5198176"/>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7" name="Connector: Elbow 26">
            <a:extLst>
              <a:ext uri="{FF2B5EF4-FFF2-40B4-BE49-F238E27FC236}">
                <a16:creationId xmlns:a16="http://schemas.microsoft.com/office/drawing/2014/main" id="{29B9707C-5250-4605-8216-E074F2243A62}"/>
              </a:ext>
            </a:extLst>
          </p:cNvPr>
          <p:cNvCxnSpPr>
            <a:cxnSpLocks/>
            <a:stCxn id="26" idx="3"/>
            <a:endCxn id="24" idx="3"/>
          </p:cNvCxnSpPr>
          <p:nvPr/>
        </p:nvCxnSpPr>
        <p:spPr>
          <a:xfrm flipH="1" flipV="1">
            <a:off x="11048149" y="2966551"/>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3495350" y="2833552"/>
            <a:ext cx="1566181" cy="3686700"/>
          </a:xfrm>
          <a:prstGeom prst="bentConnector3">
            <a:avLst>
              <a:gd name="adj1" fmla="val 153276"/>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31" name="Connector: Elbow 30">
            <a:extLst>
              <a:ext uri="{FF2B5EF4-FFF2-40B4-BE49-F238E27FC236}">
                <a16:creationId xmlns:a16="http://schemas.microsoft.com/office/drawing/2014/main" id="{5D464955-1EEA-4566-AECB-EF1ADFE99C7F}"/>
              </a:ext>
            </a:extLst>
          </p:cNvPr>
          <p:cNvCxnSpPr>
            <a:cxnSpLocks/>
            <a:stCxn id="41" idx="2"/>
            <a:endCxn id="26" idx="2"/>
          </p:cNvCxnSpPr>
          <p:nvPr/>
        </p:nvCxnSpPr>
        <p:spPr>
          <a:xfrm rot="16200000" flipH="1">
            <a:off x="7193106" y="2822496"/>
            <a:ext cx="1581363" cy="3723994"/>
          </a:xfrm>
          <a:prstGeom prst="bentConnector3">
            <a:avLst>
              <a:gd name="adj1" fmla="val 151319"/>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42" name="Speech Bubble: Rectangle 41">
            <a:extLst>
              <a:ext uri="{FF2B5EF4-FFF2-40B4-BE49-F238E27FC236}">
                <a16:creationId xmlns:a16="http://schemas.microsoft.com/office/drawing/2014/main" id="{FFBFC18B-1A79-4368-BD3F-52961CC704B2}"/>
              </a:ext>
            </a:extLst>
          </p:cNvPr>
          <p:cNvSpPr/>
          <p:nvPr/>
        </p:nvSpPr>
        <p:spPr bwMode="gray">
          <a:xfrm>
            <a:off x="4897439" y="4608242"/>
            <a:ext cx="2257265" cy="636814"/>
          </a:xfrm>
          <a:prstGeom prst="wedgeRectCallout">
            <a:avLst>
              <a:gd name="adj1" fmla="val -37132"/>
              <a:gd name="adj2" fmla="val 17510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disk       </a:t>
            </a:r>
            <a:r>
              <a:rPr lang="en-US" sz="1800" b="1" kern="0" dirty="0">
                <a:ea typeface="Arial Unicode MS" pitchFamily="34" charset="-128"/>
                <a:cs typeface="Arial Unicode MS" pitchFamily="34" charset="-128"/>
              </a:rPr>
              <a:t>read-only</a:t>
            </a:r>
            <a:endParaRPr kumimoji="0" lang="en-US" sz="1800" b="1"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81395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EA792-3EB5-4DB7-8C92-AD9889D91019}"/>
              </a:ext>
            </a:extLst>
          </p:cNvPr>
          <p:cNvSpPr>
            <a:spLocks noGrp="1"/>
          </p:cNvSpPr>
          <p:nvPr>
            <p:ph type="title"/>
          </p:nvPr>
        </p:nvSpPr>
        <p:spPr/>
        <p:txBody>
          <a:bodyPr/>
          <a:lstStyle/>
          <a:p>
            <a:r>
              <a:rPr lang="en-US" dirty="0"/>
              <a:t>Persistent Volume Types - Access Modes</a:t>
            </a:r>
          </a:p>
        </p:txBody>
      </p:sp>
      <p:pic>
        <p:nvPicPr>
          <p:cNvPr id="3" name="Picture 2">
            <a:extLst>
              <a:ext uri="{FF2B5EF4-FFF2-40B4-BE49-F238E27FC236}">
                <a16:creationId xmlns:a16="http://schemas.microsoft.com/office/drawing/2014/main" id="{338E6F6E-0917-4601-8DCC-B55E2184291F}"/>
              </a:ext>
            </a:extLst>
          </p:cNvPr>
          <p:cNvPicPr>
            <a:picLocks noChangeAspect="1"/>
          </p:cNvPicPr>
          <p:nvPr/>
        </p:nvPicPr>
        <p:blipFill>
          <a:blip r:embed="rId3"/>
          <a:stretch>
            <a:fillRect/>
          </a:stretch>
        </p:blipFill>
        <p:spPr>
          <a:xfrm>
            <a:off x="504001" y="1125235"/>
            <a:ext cx="6321428" cy="5028572"/>
          </a:xfrm>
          <a:prstGeom prst="rect">
            <a:avLst/>
          </a:prstGeom>
        </p:spPr>
      </p:pic>
    </p:spTree>
    <p:extLst>
      <p:ext uri="{BB962C8B-B14F-4D97-AF65-F5344CB8AC3E}">
        <p14:creationId xmlns:p14="http://schemas.microsoft.com/office/powerpoint/2010/main" val="22966137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3B1F9752-9103-4489-B0E8-3477308D9444}"/>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30127070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What YOU will do in exercise #05</a:t>
            </a:r>
          </a:p>
        </p:txBody>
      </p:sp>
      <p:grpSp>
        <p:nvGrpSpPr>
          <p:cNvPr id="13" name="Group 12"/>
          <p:cNvGrpSpPr/>
          <p:nvPr/>
        </p:nvGrpSpPr>
        <p:grpSpPr>
          <a:xfrm>
            <a:off x="2674620" y="294894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kern="0" dirty="0" err="1">
                  <a:ea typeface="Arial Unicode MS" pitchFamily="34" charset="-128"/>
                  <a:cs typeface="Arial Unicode MS" pitchFamily="34" charset="-128"/>
                </a:rPr>
                <a:t>nginx</a:t>
              </a:r>
              <a:endParaRPr lang="de-DE" sz="1800" kern="0" dirty="0">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7665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solidFill>
              <a:schemeClr val="accent4"/>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400550"/>
            <a:ext cx="222219" cy="845820"/>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9" y="1126276"/>
            <a:ext cx="3382042" cy="914400"/>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Arrow: Up-Down 17"/>
          <p:cNvSpPr/>
          <p:nvPr/>
        </p:nvSpPr>
        <p:spPr bwMode="gray">
          <a:xfrm>
            <a:off x="5657231" y="2071898"/>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Speech Bubble: Rectangle 18">
            <a:extLst>
              <a:ext uri="{FF2B5EF4-FFF2-40B4-BE49-F238E27FC236}">
                <a16:creationId xmlns:a16="http://schemas.microsoft.com/office/drawing/2014/main" id="{E73EBB9E-26DF-49BD-95B4-828C2AA2B35A}"/>
              </a:ext>
            </a:extLst>
          </p:cNvPr>
          <p:cNvSpPr/>
          <p:nvPr/>
        </p:nvSpPr>
        <p:spPr bwMode="gray">
          <a:xfrm>
            <a:off x="384953" y="4899997"/>
            <a:ext cx="2535294" cy="915844"/>
          </a:xfrm>
          <a:prstGeom prst="wedgeRectCallout">
            <a:avLst>
              <a:gd name="adj1" fmla="val 84676"/>
              <a:gd name="adj2" fmla="val 4769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Add persistent storage to your pods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0855814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2144</Words>
  <Application>Microsoft Office PowerPoint</Application>
  <PresentationFormat>Custom</PresentationFormat>
  <Paragraphs>282</Paragraphs>
  <Slides>21</Slides>
  <Notes>20</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Courier New</vt:lpstr>
      <vt:lpstr>Symbol</vt:lpstr>
      <vt:lpstr>Wingdings</vt:lpstr>
      <vt:lpstr>Wingdings</vt:lpstr>
      <vt:lpstr>SAP_2017_16x9_black</vt:lpstr>
      <vt:lpstr>PowerPoint Presentation</vt:lpstr>
      <vt:lpstr>What‘s the issue? </vt:lpstr>
      <vt:lpstr>Technically, it’s still about containers …</vt:lpstr>
      <vt:lpstr>How to solve it on K8s level?</vt:lpstr>
      <vt:lpstr>Volumes &amp; VolumeMounts</vt:lpstr>
      <vt:lpstr>What happens in the background …</vt:lpstr>
      <vt:lpstr>Are there drawbacks of direct storage integration?</vt:lpstr>
      <vt:lpstr>Storage with PersistentVolumes &amp; PersistentVolumeClaims</vt:lpstr>
      <vt:lpstr>Storage with PersistentVolumes &amp; PersistentVolumeClaims</vt:lpstr>
      <vt:lpstr>Storage Classes</vt:lpstr>
      <vt:lpstr>            CSI</vt:lpstr>
      <vt:lpstr>            CSI</vt:lpstr>
      <vt:lpstr>PV/PVC lifecycle</vt:lpstr>
      <vt:lpstr>Access Modes</vt:lpstr>
      <vt:lpstr>What happens in the background …</vt:lpstr>
      <vt:lpstr>What happens in the background …</vt:lpstr>
      <vt:lpstr>What happens in the background …</vt:lpstr>
      <vt:lpstr>Persistent Volume Types - Access Modes</vt:lpstr>
      <vt:lpstr>Demo</vt:lpstr>
      <vt:lpstr>What YOU will do in exercise #05</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567</cp:revision>
  <dcterms:created xsi:type="dcterms:W3CDTF">2015-10-14T11:21:43Z</dcterms:created>
  <dcterms:modified xsi:type="dcterms:W3CDTF">2020-09-29T09:48:28Z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