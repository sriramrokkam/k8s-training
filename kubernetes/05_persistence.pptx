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33" r:id="rId1"/>
  </p:sldMasterIdLst>
  <p:notesMasterIdLst>
    <p:notesMasterId r:id="rId23"/>
  </p:notesMasterIdLst>
  <p:handoutMasterIdLst>
    <p:handoutMasterId r:id="rId24"/>
  </p:handoutMasterIdLst>
  <p:sldIdLst>
    <p:sldId id="433" r:id="rId2"/>
    <p:sldId id="442" r:id="rId3"/>
    <p:sldId id="439" r:id="rId4"/>
    <p:sldId id="444" r:id="rId5"/>
    <p:sldId id="449" r:id="rId6"/>
    <p:sldId id="462" r:id="rId7"/>
    <p:sldId id="456" r:id="rId8"/>
    <p:sldId id="450" r:id="rId9"/>
    <p:sldId id="460" r:id="rId10"/>
    <p:sldId id="451" r:id="rId11"/>
    <p:sldId id="446" r:id="rId12"/>
    <p:sldId id="447" r:id="rId13"/>
    <p:sldId id="466" r:id="rId14"/>
    <p:sldId id="458" r:id="rId15"/>
    <p:sldId id="464" r:id="rId16"/>
    <p:sldId id="463" r:id="rId17"/>
    <p:sldId id="465" r:id="rId18"/>
    <p:sldId id="461" r:id="rId19"/>
    <p:sldId id="459" r:id="rId20"/>
    <p:sldId id="455" r:id="rId21"/>
    <p:sldId id="265" r:id="rId22"/>
  </p:sldIdLst>
  <p:sldSz cx="12195175" cy="6858000"/>
  <p:notesSz cx="6858000" cy="9144000"/>
  <p:defaultTextStyle>
    <a:defPPr>
      <a:defRPr lang="de-DE"/>
    </a:defPPr>
    <a:lvl1pPr marL="0" algn="l" defTabSz="1088776" rtl="0" eaLnBrk="1" latinLnBrk="0" hangingPunct="1">
      <a:defRPr lang="de-DE" sz="2100" kern="1200">
        <a:solidFill>
          <a:schemeClr val="tx1"/>
        </a:solidFill>
        <a:latin typeface="Arial"/>
        <a:ea typeface="+mn-ea"/>
        <a:cs typeface="+mn-cs"/>
      </a:defRPr>
    </a:lvl1pPr>
    <a:lvl2pPr marL="544388" algn="l" defTabSz="1088776" rtl="0" eaLnBrk="1" latinLnBrk="0" hangingPunct="1">
      <a:buClr>
        <a:srgbClr val="FDB913"/>
      </a:buClr>
      <a:buSzPct val="100000"/>
      <a:buFont typeface="wingdings"/>
      <a:buChar char=""/>
      <a:defRPr lang="de-DE" sz="2100" kern="1200">
        <a:solidFill>
          <a:schemeClr val="tx1"/>
        </a:solidFill>
        <a:latin typeface="Arial"/>
        <a:ea typeface="+mn-ea"/>
        <a:cs typeface="+mn-cs"/>
      </a:defRPr>
    </a:lvl2pPr>
    <a:lvl3pPr marL="1088776" algn="l" defTabSz="1088776" rtl="0" eaLnBrk="1" latinLnBrk="0" hangingPunct="1">
      <a:buClr>
        <a:srgbClr val="666666"/>
      </a:buClr>
      <a:buSzPct val="80000"/>
      <a:buFont typeface="Wingdings"/>
      <a:buChar char="n"/>
      <a:defRPr lang="de-DE" sz="1700" kern="1200">
        <a:solidFill>
          <a:schemeClr val="tx1"/>
        </a:solidFill>
        <a:latin typeface="Arial"/>
        <a:ea typeface="+mn-ea"/>
        <a:cs typeface="+mn-cs"/>
      </a:defRPr>
    </a:lvl3pPr>
    <a:lvl4pPr marL="1633164" algn="l" defTabSz="1088776" rtl="0" eaLnBrk="1" latinLnBrk="0" hangingPunct="1">
      <a:buClr>
        <a:srgbClr val="666666"/>
      </a:buClr>
      <a:buSzPct val="80000"/>
      <a:buFont typeface="Arial"/>
      <a:buChar char=""/>
      <a:defRPr lang="de-DE" sz="1400" kern="1200">
        <a:solidFill>
          <a:schemeClr val="tx1"/>
        </a:solidFill>
        <a:latin typeface="Arial"/>
        <a:ea typeface="+mn-ea"/>
        <a:cs typeface="+mn-cs"/>
      </a:defRPr>
    </a:lvl4pPr>
    <a:lvl5pPr marL="2177552" algn="l" defTabSz="1088776" rtl="0" eaLnBrk="1" latinLnBrk="0" hangingPunct="1">
      <a:buClr>
        <a:srgbClr val="666666"/>
      </a:buClr>
      <a:buSzPct val="80000"/>
      <a:buFont typeface="Arial"/>
      <a:buChar char=""/>
      <a:defRPr lang="de-DE" sz="1200" kern="1200">
        <a:solidFill>
          <a:schemeClr val="tx1"/>
        </a:solidFill>
        <a:latin typeface="Arial"/>
        <a:ea typeface="+mn-ea"/>
        <a:cs typeface="+mn-cs"/>
      </a:defRPr>
    </a:lvl5pPr>
    <a:lvl6pPr marL="2721940" algn="l" defTabSz="1088776" rtl="0" eaLnBrk="1" latinLnBrk="0" hangingPunct="1">
      <a:defRPr sz="2100" kern="1200">
        <a:solidFill>
          <a:schemeClr val="tx1"/>
        </a:solidFill>
        <a:latin typeface="+mn-lt"/>
        <a:ea typeface="+mn-ea"/>
        <a:cs typeface="+mn-cs"/>
      </a:defRPr>
    </a:lvl6pPr>
    <a:lvl7pPr marL="3266328" algn="l" defTabSz="1088776" rtl="0" eaLnBrk="1" latinLnBrk="0" hangingPunct="1">
      <a:defRPr sz="2100" kern="1200">
        <a:solidFill>
          <a:schemeClr val="tx1"/>
        </a:solidFill>
        <a:latin typeface="+mn-lt"/>
        <a:ea typeface="+mn-ea"/>
        <a:cs typeface="+mn-cs"/>
      </a:defRPr>
    </a:lvl7pPr>
    <a:lvl8pPr marL="3810716" algn="l" defTabSz="1088776" rtl="0" eaLnBrk="1" latinLnBrk="0" hangingPunct="1">
      <a:defRPr sz="2100" kern="1200">
        <a:solidFill>
          <a:schemeClr val="tx1"/>
        </a:solidFill>
        <a:latin typeface="+mn-lt"/>
        <a:ea typeface="+mn-ea"/>
        <a:cs typeface="+mn-cs"/>
      </a:defRPr>
    </a:lvl8pPr>
    <a:lvl9pPr marL="4355104" algn="l" defTabSz="1088776" rtl="0" eaLnBrk="1" latinLnBrk="0" hangingPunct="1">
      <a:defRPr sz="2100" kern="1200">
        <a:solidFill>
          <a:schemeClr val="tx1"/>
        </a:solidFill>
        <a:latin typeface="+mn-lt"/>
        <a:ea typeface="+mn-ea"/>
        <a:cs typeface="+mn-cs"/>
      </a:defRPr>
    </a:lvl9pPr>
  </p:defaultTextStyle>
  <p:extLst>
    <p:ext uri="{EFAFB233-063F-42B5-8137-9DF3F51BA10A}">
      <p15:sldGuideLst xmlns:p15="http://schemas.microsoft.com/office/powerpoint/2012/main">
        <p15:guide id="1" pos="3841" userDrawn="1">
          <p15:clr>
            <a:srgbClr val="A4A3A4"/>
          </p15:clr>
        </p15:guide>
        <p15:guide id="2" orient="horz" pos="1022" userDrawn="1">
          <p15:clr>
            <a:srgbClr val="A4A3A4"/>
          </p15:clr>
        </p15:guide>
        <p15:guide id="3" orient="horz" pos="4004" userDrawn="1">
          <p15:clr>
            <a:srgbClr val="A4A3A4"/>
          </p15:clr>
        </p15:guide>
        <p15:guide id="4" pos="303" userDrawn="1">
          <p15:clr>
            <a:srgbClr val="A4A3A4"/>
          </p15:clr>
        </p15:guide>
        <p15:guide id="5" pos="7356" userDrawn="1">
          <p15:clr>
            <a:srgbClr val="A4A3A4"/>
          </p15:clr>
        </p15:guide>
        <p15:guide id="7" orient="horz" pos="300"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Partsch, Holger" initials="PH" lastIdx="3" clrIdx="0">
    <p:extLst>
      <p:ext uri="{19B8F6BF-5375-455C-9EA6-DF929625EA0E}">
        <p15:presenceInfo xmlns:p15="http://schemas.microsoft.com/office/powerpoint/2012/main" userId="S-1-5-21-74642-3284969411-2123768488-120253"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prnPr scaleToFitPaper="1"/>
  <p:clrMru>
    <a:srgbClr val="FFF1D0"/>
    <a:srgbClr val="0F46A7"/>
    <a:srgbClr val="970A82"/>
    <a:srgbClr val="FF3399"/>
    <a:srgbClr val="FF0000"/>
    <a:srgbClr val="FFFFFF"/>
    <a:srgbClr val="FEE3A1"/>
    <a:srgbClr val="FFF8E7"/>
    <a:srgbClr val="FECE59"/>
    <a:srgbClr val="00328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D5ABB26-0587-4C30-8999-92F81FD0307C}">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339" autoAdjust="0"/>
    <p:restoredTop sz="73741" autoAdjust="0"/>
  </p:normalViewPr>
  <p:slideViewPr>
    <p:cSldViewPr snapToGrid="0" showGuides="1">
      <p:cViewPr varScale="1">
        <p:scale>
          <a:sx n="92" d="100"/>
          <a:sy n="92" d="100"/>
        </p:scale>
        <p:origin x="2328" y="192"/>
      </p:cViewPr>
      <p:guideLst>
        <p:guide pos="3841"/>
        <p:guide orient="horz" pos="1022"/>
        <p:guide orient="horz" pos="4004"/>
        <p:guide pos="303"/>
        <p:guide pos="7356"/>
        <p:guide orient="horz" pos="300"/>
      </p:guideLst>
    </p:cSldViewPr>
  </p:slideViewPr>
  <p:outlineViewPr>
    <p:cViewPr>
      <p:scale>
        <a:sx n="33" d="100"/>
        <a:sy n="33" d="100"/>
      </p:scale>
      <p:origin x="0" y="-6394"/>
    </p:cViewPr>
  </p:outlineViewPr>
  <p:notesTextViewPr>
    <p:cViewPr>
      <p:scale>
        <a:sx n="3" d="2"/>
        <a:sy n="3" d="2"/>
      </p:scale>
      <p:origin x="0" y="-1304"/>
    </p:cViewPr>
  </p:notesTextViewPr>
  <p:sorterViewPr>
    <p:cViewPr varScale="1">
      <p:scale>
        <a:sx n="1" d="1"/>
        <a:sy n="1" d="1"/>
      </p:scale>
      <p:origin x="0" y="0"/>
    </p:cViewPr>
  </p:sorterViewPr>
  <p:notesViewPr>
    <p:cSldViewPr snapToGrid="0" showGuides="1">
      <p:cViewPr varScale="1">
        <p:scale>
          <a:sx n="92" d="100"/>
          <a:sy n="92" d="100"/>
        </p:scale>
        <p:origin x="4042" y="72"/>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commentAuthors" Target="commentAuthor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handoutMaster" Target="handoutMasters/handout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5" name="Slide Number Placeholder 4"/>
          <p:cNvSpPr>
            <a:spLocks noGrp="1"/>
          </p:cNvSpPr>
          <p:nvPr>
            <p:ph type="sldNum" sz="quarter" idx="3"/>
          </p:nvPr>
        </p:nvSpPr>
        <p:spPr>
          <a:xfrm>
            <a:off x="1943100" y="8685213"/>
            <a:ext cx="2971800" cy="457200"/>
          </a:xfrm>
          <a:prstGeom prst="rect">
            <a:avLst/>
          </a:prstGeom>
        </p:spPr>
        <p:txBody>
          <a:bodyPr vert="horz" lIns="91440" tIns="45720" rIns="91440" bIns="45720" rtlCol="0" anchor="b"/>
          <a:lstStyle>
            <a:lvl1pPr algn="r">
              <a:defRPr sz="1200"/>
            </a:lvl1pPr>
          </a:lstStyle>
          <a:p>
            <a:pPr algn="ctr"/>
            <a:fld id="{47855BD9-AF71-426C-9B9B-B0E52B88852E}" type="slidenum">
              <a:rPr lang="de-DE" sz="1000" smtClean="0"/>
              <a:pPr algn="ctr"/>
              <a:t>‹Nr.›</a:t>
            </a:fld>
            <a:endParaRPr lang="de-DE" sz="1000" dirty="0"/>
          </a:p>
        </p:txBody>
      </p:sp>
    </p:spTree>
    <p:extLst>
      <p:ext uri="{BB962C8B-B14F-4D97-AF65-F5344CB8AC3E}">
        <p14:creationId xmlns:p14="http://schemas.microsoft.com/office/powerpoint/2010/main" val="235993245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Slide Image Placeholder 3"/>
          <p:cNvSpPr>
            <a:spLocks noGrp="1" noRot="1" noChangeAspect="1"/>
          </p:cNvSpPr>
          <p:nvPr>
            <p:ph type="sldImg" idx="2"/>
          </p:nvPr>
        </p:nvSpPr>
        <p:spPr>
          <a:xfrm>
            <a:off x="547688" y="612775"/>
            <a:ext cx="5762625" cy="3241675"/>
          </a:xfrm>
          <a:prstGeom prst="rect">
            <a:avLst/>
          </a:prstGeom>
          <a:noFill/>
          <a:ln w="12700">
            <a:solidFill>
              <a:prstClr val="black"/>
            </a:solidFill>
          </a:ln>
        </p:spPr>
        <p:txBody>
          <a:bodyPr vert="horz" lIns="91440" tIns="45720" rIns="91440" bIns="45720" rtlCol="0" anchor="ctr"/>
          <a:lstStyle/>
          <a:p>
            <a:endParaRPr lang="de-DE" dirty="0"/>
          </a:p>
        </p:txBody>
      </p:sp>
      <p:sp>
        <p:nvSpPr>
          <p:cNvPr id="5" name="Notes Placeholder 4"/>
          <p:cNvSpPr>
            <a:spLocks noGrp="1"/>
          </p:cNvSpPr>
          <p:nvPr>
            <p:ph type="body" sz="quarter" idx="3"/>
          </p:nvPr>
        </p:nvSpPr>
        <p:spPr>
          <a:xfrm>
            <a:off x="549000" y="4120162"/>
            <a:ext cx="5760000" cy="4563560"/>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p:txBody>
      </p:sp>
      <p:sp>
        <p:nvSpPr>
          <p:cNvPr id="7" name="Slide Number Placeholder 6"/>
          <p:cNvSpPr>
            <a:spLocks noGrp="1"/>
          </p:cNvSpPr>
          <p:nvPr>
            <p:ph type="sldNum" sz="quarter" idx="5"/>
          </p:nvPr>
        </p:nvSpPr>
        <p:spPr>
          <a:xfrm>
            <a:off x="2957512" y="8935722"/>
            <a:ext cx="942976" cy="205358"/>
          </a:xfrm>
          <a:prstGeom prst="rect">
            <a:avLst/>
          </a:prstGeom>
        </p:spPr>
        <p:txBody>
          <a:bodyPr vert="horz" lIns="91440" tIns="45720" rIns="91440" bIns="45720" rtlCol="0" anchor="b"/>
          <a:lstStyle>
            <a:lvl1pPr algn="ctr">
              <a:defRPr sz="800"/>
            </a:lvl1pPr>
          </a:lstStyle>
          <a:p>
            <a:fld id="{7D8C2C35-2B8A-446E-BEC0-FD36716C29AC}" type="slidenum">
              <a:rPr lang="de-DE" smtClean="0"/>
              <a:pPr/>
              <a:t>‹Nr.›</a:t>
            </a:fld>
            <a:endParaRPr lang="de-DE" dirty="0"/>
          </a:p>
        </p:txBody>
      </p:sp>
    </p:spTree>
    <p:extLst>
      <p:ext uri="{BB962C8B-B14F-4D97-AF65-F5344CB8AC3E}">
        <p14:creationId xmlns:p14="http://schemas.microsoft.com/office/powerpoint/2010/main" val="2847385487"/>
      </p:ext>
    </p:extLst>
  </p:cSld>
  <p:clrMap bg1="lt1" tx1="dk1" bg2="lt2" tx2="dk2" accent1="accent1" accent2="accent2" accent3="accent3" accent4="accent4" accent5="accent5" accent6="accent6" hlink="hlink" folHlink="folHlink"/>
  <p:notesStyle>
    <a:lvl1pPr marL="0" algn="l" defTabSz="1088776" rtl="0" eaLnBrk="1" latinLnBrk="0" hangingPunct="1">
      <a:defRPr sz="1400" kern="1200">
        <a:solidFill>
          <a:schemeClr val="tx1"/>
        </a:solidFill>
        <a:latin typeface="+mn-lt"/>
        <a:ea typeface="+mn-ea"/>
        <a:cs typeface="+mn-cs"/>
      </a:defRPr>
    </a:lvl1pPr>
    <a:lvl2pPr marL="180000" indent="-180000" algn="l" defTabSz="1088776" rtl="0" eaLnBrk="1" latinLnBrk="0" hangingPunct="1">
      <a:buClr>
        <a:schemeClr val="accent1"/>
      </a:buClr>
      <a:buSzPct val="100000"/>
      <a:buFont typeface="Wingdings" pitchFamily="2" charset="2"/>
      <a:buChar char=""/>
      <a:defRPr sz="1400" kern="1200">
        <a:solidFill>
          <a:schemeClr val="tx1"/>
        </a:solidFill>
        <a:latin typeface="+mn-lt"/>
        <a:ea typeface="+mn-ea"/>
        <a:cs typeface="+mn-cs"/>
      </a:defRPr>
    </a:lvl2pPr>
    <a:lvl3pPr marL="360000" indent="-180000" algn="l" defTabSz="1088776" rtl="0" eaLnBrk="1" latinLnBrk="0" hangingPunct="1">
      <a:buClr>
        <a:schemeClr val="accent2"/>
      </a:buClr>
      <a:buSzPct val="80000"/>
      <a:buFont typeface="Symbol" pitchFamily="18" charset="2"/>
      <a:buChar char="-"/>
      <a:defRPr sz="1200" kern="1200">
        <a:solidFill>
          <a:schemeClr val="tx1"/>
        </a:solidFill>
        <a:latin typeface="+mn-lt"/>
        <a:ea typeface="+mn-ea"/>
        <a:cs typeface="+mn-cs"/>
      </a:defRPr>
    </a:lvl3pPr>
    <a:lvl4pPr marL="674815" indent="-158780" algn="l" defTabSz="1088776" rtl="0" eaLnBrk="1" latinLnBrk="0" hangingPunct="1">
      <a:buClr>
        <a:schemeClr val="accent2"/>
      </a:buClr>
      <a:buFont typeface="Arial" pitchFamily="34" charset="0"/>
      <a:buChar char="–"/>
      <a:defRPr sz="1200" kern="1200">
        <a:solidFill>
          <a:schemeClr val="tx1"/>
        </a:solidFill>
        <a:latin typeface="+mn-lt"/>
        <a:ea typeface="+mn-ea"/>
        <a:cs typeface="+mn-cs"/>
      </a:defRPr>
    </a:lvl4pPr>
    <a:lvl5pPr marL="2177552" algn="l" defTabSz="1088776" rtl="0" eaLnBrk="1" latinLnBrk="0" hangingPunct="1">
      <a:defRPr sz="1400" kern="1200">
        <a:solidFill>
          <a:schemeClr val="tx1"/>
        </a:solidFill>
        <a:latin typeface="+mn-lt"/>
        <a:ea typeface="+mn-ea"/>
        <a:cs typeface="+mn-cs"/>
      </a:defRPr>
    </a:lvl5pPr>
    <a:lvl6pPr marL="2721940" algn="l" defTabSz="1088776" rtl="0" eaLnBrk="1" latinLnBrk="0" hangingPunct="1">
      <a:defRPr sz="1400" kern="1200">
        <a:solidFill>
          <a:schemeClr val="tx1"/>
        </a:solidFill>
        <a:latin typeface="+mn-lt"/>
        <a:ea typeface="+mn-ea"/>
        <a:cs typeface="+mn-cs"/>
      </a:defRPr>
    </a:lvl6pPr>
    <a:lvl7pPr marL="3266328" algn="l" defTabSz="1088776" rtl="0" eaLnBrk="1" latinLnBrk="0" hangingPunct="1">
      <a:defRPr sz="1400" kern="1200">
        <a:solidFill>
          <a:schemeClr val="tx1"/>
        </a:solidFill>
        <a:latin typeface="+mn-lt"/>
        <a:ea typeface="+mn-ea"/>
        <a:cs typeface="+mn-cs"/>
      </a:defRPr>
    </a:lvl7pPr>
    <a:lvl8pPr marL="3810716" algn="l" defTabSz="1088776" rtl="0" eaLnBrk="1" latinLnBrk="0" hangingPunct="1">
      <a:defRPr sz="1400" kern="1200">
        <a:solidFill>
          <a:schemeClr val="tx1"/>
        </a:solidFill>
        <a:latin typeface="+mn-lt"/>
        <a:ea typeface="+mn-ea"/>
        <a:cs typeface="+mn-cs"/>
      </a:defRPr>
    </a:lvl8pPr>
    <a:lvl9pPr marL="4355104" algn="l" defTabSz="1088776" rtl="0" eaLnBrk="1" latinLnBrk="0" hangingPunct="1">
      <a:defRPr sz="14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en-US" smtClean="0"/>
              <a:pPr/>
              <a:t>1</a:t>
            </a:fld>
            <a:endParaRPr lang="en-US" dirty="0"/>
          </a:p>
        </p:txBody>
      </p:sp>
    </p:spTree>
    <p:extLst>
      <p:ext uri="{BB962C8B-B14F-4D97-AF65-F5344CB8AC3E}">
        <p14:creationId xmlns:p14="http://schemas.microsoft.com/office/powerpoint/2010/main" val="16739428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1088776" rtl="0" eaLnBrk="1" fontAlgn="auto" latinLnBrk="0" hangingPunct="1">
              <a:lnSpc>
                <a:spcPct val="100000"/>
              </a:lnSpc>
              <a:spcBef>
                <a:spcPts val="0"/>
              </a:spcBef>
              <a:spcAft>
                <a:spcPts val="0"/>
              </a:spcAft>
              <a:buClrTx/>
              <a:buSzTx/>
              <a:buFontTx/>
              <a:buNone/>
              <a:tabLst/>
              <a:defRPr/>
            </a:pPr>
            <a:r>
              <a:rPr lang="en-US" dirty="0"/>
              <a:t>Pods provide only ephemeral storage. When a pod is killed, all data is gone. This section is all about the creation &amp; usage of storage in the context of Kubernetes.</a:t>
            </a:r>
          </a:p>
          <a:p>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en-US" smtClean="0"/>
              <a:pPr/>
              <a:t>2</a:t>
            </a:fld>
            <a:endParaRPr lang="en-US" dirty="0"/>
          </a:p>
        </p:txBody>
      </p:sp>
    </p:spTree>
    <p:extLst>
      <p:ext uri="{BB962C8B-B14F-4D97-AF65-F5344CB8AC3E}">
        <p14:creationId xmlns:p14="http://schemas.microsoft.com/office/powerpoint/2010/main" val="56108929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order to solve the problem of ephemeral container storage, a file system of the underlying host can be bind-mounted into a container.</a:t>
            </a:r>
          </a:p>
          <a:p>
            <a:endParaRPr lang="en-US" dirty="0"/>
          </a:p>
          <a:p>
            <a:r>
              <a:rPr lang="en-US" dirty="0"/>
              <a:t>Whether this is a local or remote file system, does not matter to the container.</a:t>
            </a:r>
          </a:p>
        </p:txBody>
      </p:sp>
      <p:sp>
        <p:nvSpPr>
          <p:cNvPr id="4" name="Slide Number Placeholder 3"/>
          <p:cNvSpPr>
            <a:spLocks noGrp="1"/>
          </p:cNvSpPr>
          <p:nvPr>
            <p:ph type="sldNum" sz="quarter" idx="5"/>
          </p:nvPr>
        </p:nvSpPr>
        <p:spPr/>
        <p:txBody>
          <a:bodyPr/>
          <a:lstStyle/>
          <a:p>
            <a:fld id="{7D8C2C35-2B8A-446E-BEC0-FD36716C29AC}" type="slidenum">
              <a:rPr lang="de-DE" smtClean="0"/>
              <a:pPr/>
              <a:t>3</a:t>
            </a:fld>
            <a:endParaRPr lang="de-DE" dirty="0"/>
          </a:p>
        </p:txBody>
      </p:sp>
    </p:spTree>
    <p:extLst>
      <p:ext uri="{BB962C8B-B14F-4D97-AF65-F5344CB8AC3E}">
        <p14:creationId xmlns:p14="http://schemas.microsoft.com/office/powerpoint/2010/main" val="384834157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indent="-342900">
              <a:buAutoNum type="arabicPeriod"/>
            </a:pPr>
            <a:r>
              <a:rPr lang="en-US" dirty="0"/>
              <a:t>Add the reference to the storage to the pod definition in </a:t>
            </a:r>
            <a:r>
              <a:rPr lang="en-US" dirty="0" err="1"/>
              <a:t>spec.volumes</a:t>
            </a:r>
            <a:endParaRPr lang="en-US" dirty="0"/>
          </a:p>
          <a:p>
            <a:pPr marL="342900" indent="-342900">
              <a:buAutoNum type="arabicPeriod"/>
            </a:pPr>
            <a:r>
              <a:rPr lang="en-US" dirty="0"/>
              <a:t>Refer to the </a:t>
            </a:r>
            <a:r>
              <a:rPr lang="en-US" dirty="0" err="1"/>
              <a:t>spec.volumes</a:t>
            </a:r>
            <a:r>
              <a:rPr lang="en-US" dirty="0"/>
              <a:t> entries in the container spec and define to which location the bind-mount should point. If the container places data at /</a:t>
            </a:r>
            <a:r>
              <a:rPr lang="en-US" dirty="0" err="1"/>
              <a:t>mnt</a:t>
            </a:r>
            <a:r>
              <a:rPr lang="en-US" dirty="0"/>
              <a:t>/, it will be persisted on the actual storage</a:t>
            </a:r>
          </a:p>
        </p:txBody>
      </p:sp>
      <p:sp>
        <p:nvSpPr>
          <p:cNvPr id="4" name="Slide Number Placeholder 3"/>
          <p:cNvSpPr>
            <a:spLocks noGrp="1"/>
          </p:cNvSpPr>
          <p:nvPr>
            <p:ph type="sldNum" sz="quarter" idx="10"/>
          </p:nvPr>
        </p:nvSpPr>
        <p:spPr/>
        <p:txBody>
          <a:bodyPr/>
          <a:lstStyle/>
          <a:p>
            <a:fld id="{7D8C2C35-2B8A-446E-BEC0-FD36716C29AC}" type="slidenum">
              <a:rPr lang="en-US" smtClean="0"/>
              <a:pPr/>
              <a:t>4</a:t>
            </a:fld>
            <a:endParaRPr lang="en-US" dirty="0"/>
          </a:p>
        </p:txBody>
      </p:sp>
    </p:spTree>
    <p:extLst>
      <p:ext uri="{BB962C8B-B14F-4D97-AF65-F5344CB8AC3E}">
        <p14:creationId xmlns:p14="http://schemas.microsoft.com/office/powerpoint/2010/main" val="222528975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use persistent storage within a container, firstly you need to make it available to the pod. </a:t>
            </a:r>
          </a:p>
          <a:p>
            <a:r>
              <a:rPr lang="en-US" dirty="0"/>
              <a:t>This is done by specifying a volume object on </a:t>
            </a:r>
            <a:r>
              <a:rPr lang="en-US" dirty="0" err="1"/>
              <a:t>PodSpec</a:t>
            </a:r>
            <a:r>
              <a:rPr lang="en-US" dirty="0"/>
              <a:t> level. </a:t>
            </a:r>
          </a:p>
          <a:p>
            <a:endParaRPr lang="en-US" dirty="0"/>
          </a:p>
          <a:p>
            <a:r>
              <a:rPr lang="en-US" dirty="0"/>
              <a:t>A volume could link to a </a:t>
            </a:r>
            <a:r>
              <a:rPr lang="en-US" b="1" dirty="0"/>
              <a:t>NFS share</a:t>
            </a:r>
            <a:r>
              <a:rPr lang="en-US" dirty="0"/>
              <a:t>, some local storage cluster like </a:t>
            </a:r>
            <a:r>
              <a:rPr lang="en-US" b="1" dirty="0" err="1"/>
              <a:t>ceph</a:t>
            </a:r>
            <a:r>
              <a:rPr lang="en-US" dirty="0"/>
              <a:t> or </a:t>
            </a:r>
            <a:r>
              <a:rPr lang="en-US" b="1" dirty="0" err="1"/>
              <a:t>glusterfs</a:t>
            </a:r>
            <a:r>
              <a:rPr lang="en-US" dirty="0"/>
              <a:t> or even access the </a:t>
            </a:r>
            <a:r>
              <a:rPr lang="en-US" b="1" dirty="0"/>
              <a:t>storage provided by</a:t>
            </a:r>
            <a:r>
              <a:rPr lang="en-US" dirty="0"/>
              <a:t> cloud platforms </a:t>
            </a:r>
            <a:br>
              <a:rPr lang="en-US" dirty="0"/>
            </a:br>
            <a:r>
              <a:rPr lang="en-US" dirty="0"/>
              <a:t>like </a:t>
            </a:r>
            <a:r>
              <a:rPr lang="en-US" b="1" dirty="0"/>
              <a:t>GCP</a:t>
            </a:r>
            <a:r>
              <a:rPr lang="en-US" dirty="0"/>
              <a:t>, </a:t>
            </a:r>
            <a:r>
              <a:rPr lang="en-US" b="1" dirty="0"/>
              <a:t>AWS</a:t>
            </a:r>
            <a:r>
              <a:rPr lang="en-US" dirty="0"/>
              <a:t> or </a:t>
            </a:r>
            <a:r>
              <a:rPr lang="en-US" b="1" dirty="0"/>
              <a:t>Azure</a:t>
            </a:r>
            <a:r>
              <a:rPr lang="en-US" dirty="0"/>
              <a:t>. </a:t>
            </a:r>
          </a:p>
          <a:p>
            <a:endParaRPr lang="en-US" dirty="0"/>
          </a:p>
          <a:p>
            <a:r>
              <a:rPr lang="en-US" dirty="0"/>
              <a:t>It is also possible to share storage that is part of a cluster node itself (</a:t>
            </a:r>
            <a:r>
              <a:rPr lang="en-US" b="1" dirty="0" err="1"/>
              <a:t>hostPath</a:t>
            </a:r>
            <a:r>
              <a:rPr lang="en-US" dirty="0"/>
              <a:t>). However this is quite dangerous as you need to ensure this storage is available (incl. content) on every single cluster node.</a:t>
            </a:r>
          </a:p>
          <a:p>
            <a:endParaRPr lang="en-US" dirty="0"/>
          </a:p>
          <a:p>
            <a:r>
              <a:rPr lang="en-US" dirty="0"/>
              <a:t>In addition there are other special volume types:</a:t>
            </a:r>
          </a:p>
          <a:p>
            <a:pPr marL="285750" indent="-285750">
              <a:buFontTx/>
              <a:buChar char="-"/>
            </a:pPr>
            <a:r>
              <a:rPr lang="en-US" b="1" dirty="0" err="1"/>
              <a:t>emptyDir</a:t>
            </a:r>
            <a:r>
              <a:rPr lang="en-US" dirty="0"/>
              <a:t>: temporary storage, usually to cache or test something. Its lifecycle is bound to the pod and therefore data is ephemeral as well</a:t>
            </a:r>
          </a:p>
          <a:p>
            <a:pPr marL="285750" indent="-285750">
              <a:buFontTx/>
              <a:buChar char="-"/>
            </a:pPr>
            <a:r>
              <a:rPr lang="en-US" b="1" dirty="0"/>
              <a:t>Secret</a:t>
            </a:r>
            <a:r>
              <a:rPr lang="en-US" dirty="0"/>
              <a:t> &amp; </a:t>
            </a:r>
            <a:r>
              <a:rPr lang="en-US" b="1" dirty="0" err="1"/>
              <a:t>configMap</a:t>
            </a:r>
            <a:r>
              <a:rPr lang="en-US" dirty="0" err="1"/>
              <a:t>s</a:t>
            </a:r>
            <a:r>
              <a:rPr lang="en-US" dirty="0"/>
              <a:t>: hold confidential or configuration data and are accessed also via the volumes interface.</a:t>
            </a:r>
          </a:p>
        </p:txBody>
      </p:sp>
      <p:sp>
        <p:nvSpPr>
          <p:cNvPr id="4" name="Slide Number Placeholder 3"/>
          <p:cNvSpPr>
            <a:spLocks noGrp="1"/>
          </p:cNvSpPr>
          <p:nvPr>
            <p:ph type="sldNum" sz="quarter" idx="10"/>
          </p:nvPr>
        </p:nvSpPr>
        <p:spPr/>
        <p:txBody>
          <a:bodyPr/>
          <a:lstStyle/>
          <a:p>
            <a:fld id="{7D8C2C35-2B8A-446E-BEC0-FD36716C29AC}" type="slidenum">
              <a:rPr lang="en-US" smtClean="0"/>
              <a:pPr/>
              <a:t>5</a:t>
            </a:fld>
            <a:endParaRPr lang="en-US" dirty="0"/>
          </a:p>
        </p:txBody>
      </p:sp>
    </p:spTree>
    <p:extLst>
      <p:ext uri="{BB962C8B-B14F-4D97-AF65-F5344CB8AC3E}">
        <p14:creationId xmlns:p14="http://schemas.microsoft.com/office/powerpoint/2010/main" val="115126287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abstraction is easy to work with, it is also quite helpful to know, what is happening in the background.</a:t>
            </a:r>
          </a:p>
          <a:p>
            <a:endParaRPr lang="en-US" dirty="0"/>
          </a:p>
          <a:p>
            <a:r>
              <a:rPr lang="en-US" dirty="0"/>
              <a:t>When declaring the pod spec with it’s volume mount section, in the end it refers to some physical storage. To get actual access to it, the disk needs to be mounted to the node first. Only then the docker daemon can use a bind mount to make the disk available to the container.</a:t>
            </a:r>
          </a:p>
        </p:txBody>
      </p:sp>
      <p:sp>
        <p:nvSpPr>
          <p:cNvPr id="4" name="Slide Number Placeholder 3"/>
          <p:cNvSpPr>
            <a:spLocks noGrp="1"/>
          </p:cNvSpPr>
          <p:nvPr>
            <p:ph type="sldNum" sz="quarter" idx="5"/>
          </p:nvPr>
        </p:nvSpPr>
        <p:spPr/>
        <p:txBody>
          <a:bodyPr/>
          <a:lstStyle/>
          <a:p>
            <a:fld id="{7D8C2C35-2B8A-446E-BEC0-FD36716C29AC}" type="slidenum">
              <a:rPr lang="de-DE" smtClean="0"/>
              <a:pPr/>
              <a:t>6</a:t>
            </a:fld>
            <a:endParaRPr lang="de-DE" dirty="0"/>
          </a:p>
        </p:txBody>
      </p:sp>
    </p:spTree>
    <p:extLst>
      <p:ext uri="{BB962C8B-B14F-4D97-AF65-F5344CB8AC3E}">
        <p14:creationId xmlns:p14="http://schemas.microsoft.com/office/powerpoint/2010/main" val="12828556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1088776" rtl="0" eaLnBrk="1" fontAlgn="auto" latinLnBrk="0" hangingPunct="1">
              <a:lnSpc>
                <a:spcPct val="100000"/>
              </a:lnSpc>
              <a:spcBef>
                <a:spcPts val="0"/>
              </a:spcBef>
              <a:spcAft>
                <a:spcPts val="0"/>
              </a:spcAft>
              <a:buClrTx/>
              <a:buSzTx/>
              <a:buFontTx/>
              <a:buNone/>
              <a:tabLst/>
              <a:defRPr/>
            </a:pPr>
            <a:r>
              <a:rPr lang="en-US" dirty="0"/>
              <a:t>Drawbacks:</a:t>
            </a:r>
          </a:p>
          <a:p>
            <a:pPr marL="285750" marR="0" lvl="0" indent="-285750" algn="l" defTabSz="1088776" rtl="0" eaLnBrk="1" fontAlgn="auto" latinLnBrk="0" hangingPunct="1">
              <a:lnSpc>
                <a:spcPct val="100000"/>
              </a:lnSpc>
              <a:spcBef>
                <a:spcPts val="0"/>
              </a:spcBef>
              <a:spcAft>
                <a:spcPts val="0"/>
              </a:spcAft>
              <a:buClrTx/>
              <a:buSzTx/>
              <a:buFontTx/>
              <a:buChar char="-"/>
              <a:tabLst/>
              <a:defRPr/>
            </a:pPr>
            <a:r>
              <a:rPr lang="en-US" dirty="0"/>
              <a:t>Maintain credentials to access storage within the pod</a:t>
            </a:r>
          </a:p>
          <a:p>
            <a:pPr marL="285750" marR="0" lvl="0" indent="-285750" algn="l" defTabSz="1088776" rtl="0" eaLnBrk="1" fontAlgn="auto" latinLnBrk="0" hangingPunct="1">
              <a:lnSpc>
                <a:spcPct val="100000"/>
              </a:lnSpc>
              <a:spcBef>
                <a:spcPts val="0"/>
              </a:spcBef>
              <a:spcAft>
                <a:spcPts val="0"/>
              </a:spcAft>
              <a:buClrTx/>
              <a:buSzTx/>
              <a:buFontTx/>
              <a:buChar char="-"/>
              <a:tabLst/>
              <a:defRPr/>
            </a:pPr>
            <a:r>
              <a:rPr lang="en-US" dirty="0"/>
              <a:t>Have dependencies to infrastructure already at pod level</a:t>
            </a:r>
          </a:p>
          <a:p>
            <a:pPr marL="285750" marR="0" lvl="0" indent="-285750" algn="l" defTabSz="1088776" rtl="0" eaLnBrk="1" fontAlgn="auto" latinLnBrk="0" hangingPunct="1">
              <a:lnSpc>
                <a:spcPct val="100000"/>
              </a:lnSpc>
              <a:spcBef>
                <a:spcPts val="0"/>
              </a:spcBef>
              <a:spcAft>
                <a:spcPts val="0"/>
              </a:spcAft>
              <a:buClrTx/>
              <a:buSzTx/>
              <a:buFontTx/>
              <a:buChar char="-"/>
              <a:tabLst/>
              <a:defRPr/>
            </a:pPr>
            <a:r>
              <a:rPr lang="en-US" dirty="0"/>
              <a:t>Hard to manage data lifecycle </a:t>
            </a:r>
          </a:p>
          <a:p>
            <a:pPr marL="285750" marR="0" lvl="0" indent="-285750" algn="l" defTabSz="1088776" rtl="0" eaLnBrk="1" fontAlgn="auto" latinLnBrk="0" hangingPunct="1">
              <a:lnSpc>
                <a:spcPct val="100000"/>
              </a:lnSpc>
              <a:spcBef>
                <a:spcPts val="0"/>
              </a:spcBef>
              <a:spcAft>
                <a:spcPts val="0"/>
              </a:spcAft>
              <a:buClrTx/>
              <a:buSzTx/>
              <a:buFontTx/>
              <a:buChar char="-"/>
              <a:tabLst/>
              <a:defRPr/>
            </a:pPr>
            <a:r>
              <a:rPr lang="en-US" dirty="0"/>
              <a:t>Does it scale with the number of pods?</a:t>
            </a:r>
          </a:p>
          <a:p>
            <a:pPr marL="0" marR="0" lvl="0" indent="0" algn="l" defTabSz="1088776" rtl="0" eaLnBrk="1" fontAlgn="auto" latinLnBrk="0" hangingPunct="1">
              <a:lnSpc>
                <a:spcPct val="100000"/>
              </a:lnSpc>
              <a:spcBef>
                <a:spcPts val="0"/>
              </a:spcBef>
              <a:spcAft>
                <a:spcPts val="0"/>
              </a:spcAft>
              <a:buClrTx/>
              <a:buSzTx/>
              <a:buFontTx/>
              <a:buNone/>
              <a:tabLst/>
              <a:defRPr/>
            </a:pPr>
            <a:endParaRPr lang="en-US" dirty="0"/>
          </a:p>
          <a:p>
            <a:pPr marL="0" marR="0" lvl="0" indent="0" algn="l" defTabSz="1088776" rtl="0" eaLnBrk="1" fontAlgn="auto" latinLnBrk="0" hangingPunct="1">
              <a:lnSpc>
                <a:spcPct val="100000"/>
              </a:lnSpc>
              <a:spcBef>
                <a:spcPts val="0"/>
              </a:spcBef>
              <a:spcAft>
                <a:spcPts val="0"/>
              </a:spcAft>
              <a:buClrTx/>
              <a:buSzTx/>
              <a:buFontTx/>
              <a:buNone/>
              <a:tabLst/>
              <a:defRPr/>
            </a:pPr>
            <a:r>
              <a:rPr lang="en-US" dirty="0"/>
              <a:t>There are several ways of adding storage. Of course you can attach storage directly as a so called volume. However there might be drawbacks doing so. Hence we introduce a different way involving another abstraction layer. </a:t>
            </a:r>
          </a:p>
        </p:txBody>
      </p:sp>
      <p:sp>
        <p:nvSpPr>
          <p:cNvPr id="4" name="Slide Number Placeholder 3"/>
          <p:cNvSpPr>
            <a:spLocks noGrp="1"/>
          </p:cNvSpPr>
          <p:nvPr>
            <p:ph type="sldNum" sz="quarter" idx="10"/>
          </p:nvPr>
        </p:nvSpPr>
        <p:spPr/>
        <p:txBody>
          <a:bodyPr/>
          <a:lstStyle/>
          <a:p>
            <a:fld id="{7D8C2C35-2B8A-446E-BEC0-FD36716C29AC}" type="slidenum">
              <a:rPr lang="de-DE" smtClean="0"/>
              <a:pPr/>
              <a:t>7</a:t>
            </a:fld>
            <a:endParaRPr lang="de-DE" dirty="0"/>
          </a:p>
        </p:txBody>
      </p:sp>
    </p:spTree>
    <p:extLst>
      <p:ext uri="{BB962C8B-B14F-4D97-AF65-F5344CB8AC3E}">
        <p14:creationId xmlns:p14="http://schemas.microsoft.com/office/powerpoint/2010/main" val="320918023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de-DE" sz="1400" b="0" i="0" kern="1200" dirty="0">
                <a:solidFill>
                  <a:schemeClr val="tx1"/>
                </a:solidFill>
                <a:effectLst/>
                <a:latin typeface="+mn-lt"/>
                <a:ea typeface="+mn-ea"/>
                <a:cs typeface="+mn-cs"/>
              </a:rPr>
              <a:t>Managing </a:t>
            </a:r>
            <a:r>
              <a:rPr lang="de-DE" sz="1400" b="0" i="0" kern="1200" dirty="0" err="1">
                <a:solidFill>
                  <a:schemeClr val="tx1"/>
                </a:solidFill>
                <a:effectLst/>
                <a:latin typeface="+mn-lt"/>
                <a:ea typeface="+mn-ea"/>
                <a:cs typeface="+mn-cs"/>
              </a:rPr>
              <a:t>storage</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is</a:t>
            </a:r>
            <a:r>
              <a:rPr lang="de-DE" sz="1400" b="0" i="0" kern="1200" dirty="0">
                <a:solidFill>
                  <a:schemeClr val="tx1"/>
                </a:solidFill>
                <a:effectLst/>
                <a:latin typeface="+mn-lt"/>
                <a:ea typeface="+mn-ea"/>
                <a:cs typeface="+mn-cs"/>
              </a:rPr>
              <a:t> a </a:t>
            </a:r>
            <a:r>
              <a:rPr lang="de-DE" sz="1400" b="0" i="0" kern="1200" dirty="0" err="1">
                <a:solidFill>
                  <a:schemeClr val="tx1"/>
                </a:solidFill>
                <a:effectLst/>
                <a:latin typeface="+mn-lt"/>
                <a:ea typeface="+mn-ea"/>
                <a:cs typeface="+mn-cs"/>
              </a:rPr>
              <a:t>distinct</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problem</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from</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managing</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compute</a:t>
            </a:r>
            <a:r>
              <a:rPr lang="de-DE" sz="1400" b="0" i="0" kern="1200" dirty="0">
                <a:solidFill>
                  <a:schemeClr val="tx1"/>
                </a:solidFill>
                <a:effectLst/>
                <a:latin typeface="+mn-lt"/>
                <a:ea typeface="+mn-ea"/>
                <a:cs typeface="+mn-cs"/>
              </a:rPr>
              <a:t>. The </a:t>
            </a:r>
            <a:r>
              <a:rPr lang="de-DE" sz="1400" b="0" i="0" kern="1200" dirty="0" err="1">
                <a:solidFill>
                  <a:schemeClr val="tx1"/>
                </a:solidFill>
                <a:effectLst/>
                <a:latin typeface="+mn-lt"/>
                <a:ea typeface="+mn-ea"/>
                <a:cs typeface="+mn-cs"/>
              </a:rPr>
              <a:t>PersistentVolume</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subsystem</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provides</a:t>
            </a:r>
            <a:r>
              <a:rPr lang="de-DE" sz="1400" b="0" i="0" kern="1200" dirty="0">
                <a:solidFill>
                  <a:schemeClr val="tx1"/>
                </a:solidFill>
                <a:effectLst/>
                <a:latin typeface="+mn-lt"/>
                <a:ea typeface="+mn-ea"/>
                <a:cs typeface="+mn-cs"/>
              </a:rPr>
              <a:t> an API </a:t>
            </a:r>
            <a:r>
              <a:rPr lang="de-DE" sz="1400" b="0" i="0" kern="1200" dirty="0" err="1">
                <a:solidFill>
                  <a:schemeClr val="tx1"/>
                </a:solidFill>
                <a:effectLst/>
                <a:latin typeface="+mn-lt"/>
                <a:ea typeface="+mn-ea"/>
                <a:cs typeface="+mn-cs"/>
              </a:rPr>
              <a:t>for</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users</a:t>
            </a:r>
            <a:r>
              <a:rPr lang="de-DE" sz="1400" b="0" i="0" kern="1200" dirty="0">
                <a:solidFill>
                  <a:schemeClr val="tx1"/>
                </a:solidFill>
                <a:effectLst/>
                <a:latin typeface="+mn-lt"/>
                <a:ea typeface="+mn-ea"/>
                <a:cs typeface="+mn-cs"/>
              </a:rPr>
              <a:t> and </a:t>
            </a:r>
            <a:r>
              <a:rPr lang="de-DE" sz="1400" b="0" i="0" kern="1200" dirty="0" err="1">
                <a:solidFill>
                  <a:schemeClr val="tx1"/>
                </a:solidFill>
                <a:effectLst/>
                <a:latin typeface="+mn-lt"/>
                <a:ea typeface="+mn-ea"/>
                <a:cs typeface="+mn-cs"/>
              </a:rPr>
              <a:t>administrators</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that</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abstracts</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details</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of</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how</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storage</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is</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provided</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from</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how</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it</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is</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consumed</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To</a:t>
            </a:r>
            <a:r>
              <a:rPr lang="de-DE" sz="1400" b="0" i="0" kern="1200" dirty="0">
                <a:solidFill>
                  <a:schemeClr val="tx1"/>
                </a:solidFill>
                <a:effectLst/>
                <a:latin typeface="+mn-lt"/>
                <a:ea typeface="+mn-ea"/>
                <a:cs typeface="+mn-cs"/>
              </a:rPr>
              <a:t> do </a:t>
            </a:r>
            <a:r>
              <a:rPr lang="de-DE" sz="1400" b="0" i="0" kern="1200" dirty="0" err="1">
                <a:solidFill>
                  <a:schemeClr val="tx1"/>
                </a:solidFill>
                <a:effectLst/>
                <a:latin typeface="+mn-lt"/>
                <a:ea typeface="+mn-ea"/>
                <a:cs typeface="+mn-cs"/>
              </a:rPr>
              <a:t>this</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we</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introduce</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two</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new</a:t>
            </a:r>
            <a:r>
              <a:rPr lang="de-DE" sz="1400" b="0" i="0" kern="1200" dirty="0">
                <a:solidFill>
                  <a:schemeClr val="tx1"/>
                </a:solidFill>
                <a:effectLst/>
                <a:latin typeface="+mn-lt"/>
                <a:ea typeface="+mn-ea"/>
                <a:cs typeface="+mn-cs"/>
              </a:rPr>
              <a:t> API </a:t>
            </a:r>
            <a:r>
              <a:rPr lang="de-DE" sz="1400" b="0" i="0" kern="1200" dirty="0" err="1">
                <a:solidFill>
                  <a:schemeClr val="tx1"/>
                </a:solidFill>
                <a:effectLst/>
                <a:latin typeface="+mn-lt"/>
                <a:ea typeface="+mn-ea"/>
                <a:cs typeface="+mn-cs"/>
              </a:rPr>
              <a:t>resources</a:t>
            </a:r>
            <a:r>
              <a:rPr lang="de-DE" sz="1400" b="0" i="0" kern="1200" dirty="0">
                <a:solidFill>
                  <a:schemeClr val="tx1"/>
                </a:solidFill>
                <a:effectLst/>
                <a:latin typeface="+mn-lt"/>
                <a:ea typeface="+mn-ea"/>
                <a:cs typeface="+mn-cs"/>
              </a:rPr>
              <a:t>: </a:t>
            </a:r>
            <a:r>
              <a:rPr lang="de-DE" sz="1400" b="1" i="0" kern="1200" dirty="0" err="1">
                <a:solidFill>
                  <a:schemeClr val="tx1"/>
                </a:solidFill>
                <a:effectLst/>
                <a:latin typeface="+mn-lt"/>
                <a:ea typeface="+mn-ea"/>
                <a:cs typeface="+mn-cs"/>
              </a:rPr>
              <a:t>PersistentVolume</a:t>
            </a:r>
            <a:r>
              <a:rPr lang="de-DE" sz="1400" b="0" i="0" kern="1200" dirty="0">
                <a:solidFill>
                  <a:schemeClr val="tx1"/>
                </a:solidFill>
                <a:effectLst/>
                <a:latin typeface="+mn-lt"/>
                <a:ea typeface="+mn-ea"/>
                <a:cs typeface="+mn-cs"/>
              </a:rPr>
              <a:t> and </a:t>
            </a:r>
            <a:r>
              <a:rPr lang="de-DE" sz="1400" b="1" i="0" kern="1200" dirty="0" err="1">
                <a:solidFill>
                  <a:schemeClr val="tx1"/>
                </a:solidFill>
                <a:effectLst/>
                <a:latin typeface="+mn-lt"/>
                <a:ea typeface="+mn-ea"/>
                <a:cs typeface="+mn-cs"/>
              </a:rPr>
              <a:t>PersistentVolumeClaim</a:t>
            </a:r>
            <a:r>
              <a:rPr lang="de-DE" sz="1400" b="0" i="0" kern="1200" dirty="0">
                <a:solidFill>
                  <a:schemeClr val="tx1"/>
                </a:solidFill>
                <a:effectLst/>
                <a:latin typeface="+mn-lt"/>
                <a:ea typeface="+mn-ea"/>
                <a:cs typeface="+mn-cs"/>
              </a:rPr>
              <a:t>.</a:t>
            </a:r>
          </a:p>
          <a:p>
            <a:endParaRPr lang="de-DE" sz="1400" b="0" i="0" kern="1200" dirty="0">
              <a:solidFill>
                <a:schemeClr val="tx1"/>
              </a:solidFill>
              <a:effectLst/>
              <a:latin typeface="+mn-lt"/>
              <a:ea typeface="+mn-ea"/>
              <a:cs typeface="+mn-cs"/>
            </a:endParaRPr>
          </a:p>
          <a:p>
            <a:r>
              <a:rPr lang="de-DE" sz="1400" b="0" i="0" kern="1200" dirty="0">
                <a:solidFill>
                  <a:schemeClr val="tx1"/>
                </a:solidFill>
                <a:effectLst/>
                <a:latin typeface="+mn-lt"/>
                <a:ea typeface="+mn-ea"/>
                <a:cs typeface="+mn-cs"/>
              </a:rPr>
              <a:t>A </a:t>
            </a:r>
            <a:r>
              <a:rPr lang="de-DE" sz="1400" b="1" i="0" kern="1200" dirty="0" err="1">
                <a:solidFill>
                  <a:schemeClr val="tx1"/>
                </a:solidFill>
                <a:effectLst/>
                <a:latin typeface="+mn-lt"/>
                <a:ea typeface="+mn-ea"/>
                <a:cs typeface="+mn-cs"/>
              </a:rPr>
              <a:t>PersistentVolume</a:t>
            </a:r>
            <a:r>
              <a:rPr lang="de-DE" sz="1400" b="0" i="0" kern="1200" dirty="0">
                <a:solidFill>
                  <a:schemeClr val="tx1"/>
                </a:solidFill>
                <a:effectLst/>
                <a:latin typeface="+mn-lt"/>
                <a:ea typeface="+mn-ea"/>
                <a:cs typeface="+mn-cs"/>
              </a:rPr>
              <a:t> (PV) </a:t>
            </a:r>
            <a:r>
              <a:rPr lang="de-DE" sz="1400" b="0" i="0" kern="1200" dirty="0" err="1">
                <a:solidFill>
                  <a:schemeClr val="tx1"/>
                </a:solidFill>
                <a:effectLst/>
                <a:latin typeface="+mn-lt"/>
                <a:ea typeface="+mn-ea"/>
                <a:cs typeface="+mn-cs"/>
              </a:rPr>
              <a:t>is</a:t>
            </a:r>
            <a:r>
              <a:rPr lang="de-DE" sz="1400" b="0" i="0" kern="1200" dirty="0">
                <a:solidFill>
                  <a:schemeClr val="tx1"/>
                </a:solidFill>
                <a:effectLst/>
                <a:latin typeface="+mn-lt"/>
                <a:ea typeface="+mn-ea"/>
                <a:cs typeface="+mn-cs"/>
              </a:rPr>
              <a:t> a </a:t>
            </a:r>
            <a:r>
              <a:rPr lang="de-DE" sz="1400" b="0" i="0" kern="1200" dirty="0" err="1">
                <a:solidFill>
                  <a:schemeClr val="tx1"/>
                </a:solidFill>
                <a:effectLst/>
                <a:latin typeface="+mn-lt"/>
                <a:ea typeface="+mn-ea"/>
                <a:cs typeface="+mn-cs"/>
              </a:rPr>
              <a:t>piece</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of</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storage</a:t>
            </a:r>
            <a:r>
              <a:rPr lang="de-DE" sz="1400" b="0" i="0" kern="1200" dirty="0">
                <a:solidFill>
                  <a:schemeClr val="tx1"/>
                </a:solidFill>
                <a:effectLst/>
                <a:latin typeface="+mn-lt"/>
                <a:ea typeface="+mn-ea"/>
                <a:cs typeface="+mn-cs"/>
              </a:rPr>
              <a:t> in </a:t>
            </a:r>
            <a:r>
              <a:rPr lang="de-DE" sz="1400" b="0" i="0" kern="1200" dirty="0" err="1">
                <a:solidFill>
                  <a:schemeClr val="tx1"/>
                </a:solidFill>
                <a:effectLst/>
                <a:latin typeface="+mn-lt"/>
                <a:ea typeface="+mn-ea"/>
                <a:cs typeface="+mn-cs"/>
              </a:rPr>
              <a:t>the</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cluster</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that</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has</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been</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provisioned</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by</a:t>
            </a:r>
            <a:r>
              <a:rPr lang="de-DE" sz="1400" b="0" i="0" kern="1200" dirty="0">
                <a:solidFill>
                  <a:schemeClr val="tx1"/>
                </a:solidFill>
                <a:effectLst/>
                <a:latin typeface="+mn-lt"/>
                <a:ea typeface="+mn-ea"/>
                <a:cs typeface="+mn-cs"/>
              </a:rPr>
              <a:t> an </a:t>
            </a:r>
            <a:r>
              <a:rPr lang="de-DE" sz="1400" b="0" i="0" kern="1200" dirty="0" err="1">
                <a:solidFill>
                  <a:schemeClr val="tx1"/>
                </a:solidFill>
                <a:effectLst/>
                <a:latin typeface="+mn-lt"/>
                <a:ea typeface="+mn-ea"/>
                <a:cs typeface="+mn-cs"/>
              </a:rPr>
              <a:t>administrator</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It</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is</a:t>
            </a:r>
            <a:r>
              <a:rPr lang="de-DE" sz="1400" b="0" i="0" kern="1200" dirty="0">
                <a:solidFill>
                  <a:schemeClr val="tx1"/>
                </a:solidFill>
                <a:effectLst/>
                <a:latin typeface="+mn-lt"/>
                <a:ea typeface="+mn-ea"/>
                <a:cs typeface="+mn-cs"/>
              </a:rPr>
              <a:t> a </a:t>
            </a:r>
            <a:r>
              <a:rPr lang="de-DE" sz="1400" b="0" i="0" kern="1200" dirty="0" err="1">
                <a:solidFill>
                  <a:schemeClr val="tx1"/>
                </a:solidFill>
                <a:effectLst/>
                <a:latin typeface="+mn-lt"/>
                <a:ea typeface="+mn-ea"/>
                <a:cs typeface="+mn-cs"/>
              </a:rPr>
              <a:t>resource</a:t>
            </a:r>
            <a:r>
              <a:rPr lang="de-DE" sz="1400" b="0" i="0" kern="1200" dirty="0">
                <a:solidFill>
                  <a:schemeClr val="tx1"/>
                </a:solidFill>
                <a:effectLst/>
                <a:latin typeface="+mn-lt"/>
                <a:ea typeface="+mn-ea"/>
                <a:cs typeface="+mn-cs"/>
              </a:rPr>
              <a:t> in </a:t>
            </a:r>
            <a:r>
              <a:rPr lang="de-DE" sz="1400" b="0" i="0" kern="1200" dirty="0" err="1">
                <a:solidFill>
                  <a:schemeClr val="tx1"/>
                </a:solidFill>
                <a:effectLst/>
                <a:latin typeface="+mn-lt"/>
                <a:ea typeface="+mn-ea"/>
                <a:cs typeface="+mn-cs"/>
              </a:rPr>
              <a:t>the</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cluster</a:t>
            </a:r>
            <a:r>
              <a:rPr lang="de-DE" sz="1400" b="0" i="0" kern="1200" dirty="0">
                <a:solidFill>
                  <a:schemeClr val="tx1"/>
                </a:solidFill>
                <a:effectLst/>
                <a:latin typeface="+mn-lt"/>
                <a:ea typeface="+mn-ea"/>
                <a:cs typeface="+mn-cs"/>
              </a:rPr>
              <a:t> just like a </a:t>
            </a:r>
            <a:r>
              <a:rPr lang="de-DE" sz="1400" b="0" i="0" kern="1200" dirty="0" err="1">
                <a:solidFill>
                  <a:schemeClr val="tx1"/>
                </a:solidFill>
                <a:effectLst/>
                <a:latin typeface="+mn-lt"/>
                <a:ea typeface="+mn-ea"/>
                <a:cs typeface="+mn-cs"/>
              </a:rPr>
              <a:t>node</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is</a:t>
            </a:r>
            <a:r>
              <a:rPr lang="de-DE" sz="1400" b="0" i="0" kern="1200" dirty="0">
                <a:solidFill>
                  <a:schemeClr val="tx1"/>
                </a:solidFill>
                <a:effectLst/>
                <a:latin typeface="+mn-lt"/>
                <a:ea typeface="+mn-ea"/>
                <a:cs typeface="+mn-cs"/>
              </a:rPr>
              <a:t> a </a:t>
            </a:r>
            <a:r>
              <a:rPr lang="de-DE" sz="1400" b="0" i="0" kern="1200" dirty="0" err="1">
                <a:solidFill>
                  <a:schemeClr val="tx1"/>
                </a:solidFill>
                <a:effectLst/>
                <a:latin typeface="+mn-lt"/>
                <a:ea typeface="+mn-ea"/>
                <a:cs typeface="+mn-cs"/>
              </a:rPr>
              <a:t>cluster</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resource</a:t>
            </a:r>
            <a:r>
              <a:rPr lang="de-DE" sz="1400" b="0" i="0" kern="1200" dirty="0">
                <a:solidFill>
                  <a:schemeClr val="tx1"/>
                </a:solidFill>
                <a:effectLst/>
                <a:latin typeface="+mn-lt"/>
                <a:ea typeface="+mn-ea"/>
                <a:cs typeface="+mn-cs"/>
              </a:rPr>
              <a:t>. PVs </a:t>
            </a:r>
            <a:r>
              <a:rPr lang="de-DE" sz="1400" b="0" i="0" kern="1200" dirty="0" err="1">
                <a:solidFill>
                  <a:schemeClr val="tx1"/>
                </a:solidFill>
                <a:effectLst/>
                <a:latin typeface="+mn-lt"/>
                <a:ea typeface="+mn-ea"/>
                <a:cs typeface="+mn-cs"/>
              </a:rPr>
              <a:t>are</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volume</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plugins</a:t>
            </a:r>
            <a:r>
              <a:rPr lang="de-DE" sz="1400" b="0" i="0" kern="1200" dirty="0">
                <a:solidFill>
                  <a:schemeClr val="tx1"/>
                </a:solidFill>
                <a:effectLst/>
                <a:latin typeface="+mn-lt"/>
                <a:ea typeface="+mn-ea"/>
                <a:cs typeface="+mn-cs"/>
              </a:rPr>
              <a:t> like </a:t>
            </a:r>
            <a:r>
              <a:rPr lang="de-DE" sz="1400" b="0" i="0" kern="1200" dirty="0" err="1">
                <a:solidFill>
                  <a:schemeClr val="tx1"/>
                </a:solidFill>
                <a:effectLst/>
                <a:latin typeface="+mn-lt"/>
                <a:ea typeface="+mn-ea"/>
                <a:cs typeface="+mn-cs"/>
              </a:rPr>
              <a:t>Volumes</a:t>
            </a:r>
            <a:r>
              <a:rPr lang="de-DE" sz="1400" b="0" i="0" kern="1200" dirty="0">
                <a:solidFill>
                  <a:schemeClr val="tx1"/>
                </a:solidFill>
                <a:effectLst/>
                <a:latin typeface="+mn-lt"/>
                <a:ea typeface="+mn-ea"/>
                <a:cs typeface="+mn-cs"/>
              </a:rPr>
              <a:t>, but </a:t>
            </a:r>
            <a:r>
              <a:rPr lang="de-DE" sz="1400" b="0" i="0" kern="1200" dirty="0" err="1">
                <a:solidFill>
                  <a:schemeClr val="tx1"/>
                </a:solidFill>
                <a:effectLst/>
                <a:latin typeface="+mn-lt"/>
                <a:ea typeface="+mn-ea"/>
                <a:cs typeface="+mn-cs"/>
              </a:rPr>
              <a:t>have</a:t>
            </a:r>
            <a:r>
              <a:rPr lang="de-DE" sz="1400" b="0" i="0" kern="1200" dirty="0">
                <a:solidFill>
                  <a:schemeClr val="tx1"/>
                </a:solidFill>
                <a:effectLst/>
                <a:latin typeface="+mn-lt"/>
                <a:ea typeface="+mn-ea"/>
                <a:cs typeface="+mn-cs"/>
              </a:rPr>
              <a:t> a </a:t>
            </a:r>
            <a:r>
              <a:rPr lang="de-DE" sz="1400" b="0" i="0" kern="1200" dirty="0" err="1">
                <a:solidFill>
                  <a:schemeClr val="tx1"/>
                </a:solidFill>
                <a:effectLst/>
                <a:latin typeface="+mn-lt"/>
                <a:ea typeface="+mn-ea"/>
                <a:cs typeface="+mn-cs"/>
              </a:rPr>
              <a:t>lifecycle</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independent</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of</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any</a:t>
            </a:r>
            <a:r>
              <a:rPr lang="de-DE" sz="1400" b="0" i="0" kern="1200" dirty="0">
                <a:solidFill>
                  <a:schemeClr val="tx1"/>
                </a:solidFill>
                <a:effectLst/>
                <a:latin typeface="+mn-lt"/>
                <a:ea typeface="+mn-ea"/>
                <a:cs typeface="+mn-cs"/>
              </a:rPr>
              <a:t> individual </a:t>
            </a:r>
            <a:r>
              <a:rPr lang="de-DE" sz="1400" b="0" i="0" kern="1200" dirty="0" err="1">
                <a:solidFill>
                  <a:schemeClr val="tx1"/>
                </a:solidFill>
                <a:effectLst/>
                <a:latin typeface="+mn-lt"/>
                <a:ea typeface="+mn-ea"/>
                <a:cs typeface="+mn-cs"/>
              </a:rPr>
              <a:t>pod</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that</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uses</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the</a:t>
            </a:r>
            <a:r>
              <a:rPr lang="de-DE" sz="1400" b="0" i="0" kern="1200" dirty="0">
                <a:solidFill>
                  <a:schemeClr val="tx1"/>
                </a:solidFill>
                <a:effectLst/>
                <a:latin typeface="+mn-lt"/>
                <a:ea typeface="+mn-ea"/>
                <a:cs typeface="+mn-cs"/>
              </a:rPr>
              <a:t> PV. This API </a:t>
            </a:r>
            <a:r>
              <a:rPr lang="de-DE" sz="1400" b="0" i="0" kern="1200" dirty="0" err="1">
                <a:solidFill>
                  <a:schemeClr val="tx1"/>
                </a:solidFill>
                <a:effectLst/>
                <a:latin typeface="+mn-lt"/>
                <a:ea typeface="+mn-ea"/>
                <a:cs typeface="+mn-cs"/>
              </a:rPr>
              <a:t>object</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captures</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the</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details</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of</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the</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implementation</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of</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the</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storage</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be</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that</a:t>
            </a:r>
            <a:r>
              <a:rPr lang="de-DE" sz="1400" b="0" i="0" kern="1200" dirty="0">
                <a:solidFill>
                  <a:schemeClr val="tx1"/>
                </a:solidFill>
                <a:effectLst/>
                <a:latin typeface="+mn-lt"/>
                <a:ea typeface="+mn-ea"/>
                <a:cs typeface="+mn-cs"/>
              </a:rPr>
              <a:t> NFS, </a:t>
            </a:r>
            <a:r>
              <a:rPr lang="de-DE" sz="1400" b="0" i="0" kern="1200" dirty="0" err="1">
                <a:solidFill>
                  <a:schemeClr val="tx1"/>
                </a:solidFill>
                <a:effectLst/>
                <a:latin typeface="+mn-lt"/>
                <a:ea typeface="+mn-ea"/>
                <a:cs typeface="+mn-cs"/>
              </a:rPr>
              <a:t>iSCSI</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or</a:t>
            </a:r>
            <a:r>
              <a:rPr lang="de-DE" sz="1400" b="0" i="0" kern="1200" dirty="0">
                <a:solidFill>
                  <a:schemeClr val="tx1"/>
                </a:solidFill>
                <a:effectLst/>
                <a:latin typeface="+mn-lt"/>
                <a:ea typeface="+mn-ea"/>
                <a:cs typeface="+mn-cs"/>
              </a:rPr>
              <a:t> a </a:t>
            </a:r>
            <a:r>
              <a:rPr lang="de-DE" sz="1400" b="0" i="0" kern="1200" dirty="0" err="1">
                <a:solidFill>
                  <a:schemeClr val="tx1"/>
                </a:solidFill>
                <a:effectLst/>
                <a:latin typeface="+mn-lt"/>
                <a:ea typeface="+mn-ea"/>
                <a:cs typeface="+mn-cs"/>
              </a:rPr>
              <a:t>cloud</a:t>
            </a:r>
            <a:r>
              <a:rPr lang="de-DE" sz="1400" b="0" i="0" kern="1200" dirty="0">
                <a:solidFill>
                  <a:schemeClr val="tx1"/>
                </a:solidFill>
                <a:effectLst/>
                <a:latin typeface="+mn-lt"/>
                <a:ea typeface="+mn-ea"/>
                <a:cs typeface="+mn-cs"/>
              </a:rPr>
              <a:t>-provider-</a:t>
            </a:r>
            <a:r>
              <a:rPr lang="de-DE" sz="1400" b="0" i="0" kern="1200" dirty="0" err="1">
                <a:solidFill>
                  <a:schemeClr val="tx1"/>
                </a:solidFill>
                <a:effectLst/>
                <a:latin typeface="+mn-lt"/>
                <a:ea typeface="+mn-ea"/>
                <a:cs typeface="+mn-cs"/>
              </a:rPr>
              <a:t>specific</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storage</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system</a:t>
            </a:r>
            <a:r>
              <a:rPr lang="de-DE" sz="1400" b="0" i="0" kern="1200" dirty="0">
                <a:solidFill>
                  <a:schemeClr val="tx1"/>
                </a:solidFill>
                <a:effectLst/>
                <a:latin typeface="+mn-lt"/>
                <a:ea typeface="+mn-ea"/>
                <a:cs typeface="+mn-cs"/>
              </a:rPr>
              <a:t>.</a:t>
            </a:r>
          </a:p>
          <a:p>
            <a:endParaRPr lang="de-DE" sz="1400" b="0" i="0" kern="1200" dirty="0">
              <a:solidFill>
                <a:schemeClr val="tx1"/>
              </a:solidFill>
              <a:effectLst/>
              <a:latin typeface="+mn-lt"/>
              <a:ea typeface="+mn-ea"/>
              <a:cs typeface="+mn-cs"/>
            </a:endParaRPr>
          </a:p>
          <a:p>
            <a:r>
              <a:rPr lang="de-DE" sz="1400" b="0" i="0" kern="1200" dirty="0">
                <a:solidFill>
                  <a:schemeClr val="tx1"/>
                </a:solidFill>
                <a:effectLst/>
                <a:latin typeface="+mn-lt"/>
                <a:ea typeface="+mn-ea"/>
                <a:cs typeface="+mn-cs"/>
              </a:rPr>
              <a:t>A </a:t>
            </a:r>
            <a:r>
              <a:rPr lang="de-DE" sz="1400" b="1" i="0" kern="1200" dirty="0" err="1">
                <a:solidFill>
                  <a:schemeClr val="tx1"/>
                </a:solidFill>
                <a:effectLst/>
                <a:latin typeface="+mn-lt"/>
                <a:ea typeface="+mn-ea"/>
                <a:cs typeface="+mn-cs"/>
              </a:rPr>
              <a:t>PersistentVolumeClaim</a:t>
            </a:r>
            <a:r>
              <a:rPr lang="de-DE" sz="1400" b="0" i="0" kern="1200" dirty="0">
                <a:solidFill>
                  <a:schemeClr val="tx1"/>
                </a:solidFill>
                <a:effectLst/>
                <a:latin typeface="+mn-lt"/>
                <a:ea typeface="+mn-ea"/>
                <a:cs typeface="+mn-cs"/>
              </a:rPr>
              <a:t> (PVC) </a:t>
            </a:r>
            <a:r>
              <a:rPr lang="de-DE" sz="1400" b="0" i="0" kern="1200" dirty="0" err="1">
                <a:solidFill>
                  <a:schemeClr val="tx1"/>
                </a:solidFill>
                <a:effectLst/>
                <a:latin typeface="+mn-lt"/>
                <a:ea typeface="+mn-ea"/>
                <a:cs typeface="+mn-cs"/>
              </a:rPr>
              <a:t>is</a:t>
            </a:r>
            <a:r>
              <a:rPr lang="de-DE" sz="1400" b="0" i="0" kern="1200" dirty="0">
                <a:solidFill>
                  <a:schemeClr val="tx1"/>
                </a:solidFill>
                <a:effectLst/>
                <a:latin typeface="+mn-lt"/>
                <a:ea typeface="+mn-ea"/>
                <a:cs typeface="+mn-cs"/>
              </a:rPr>
              <a:t> a </a:t>
            </a:r>
            <a:r>
              <a:rPr lang="de-DE" sz="1400" b="0" i="0" kern="1200" dirty="0" err="1">
                <a:solidFill>
                  <a:schemeClr val="tx1"/>
                </a:solidFill>
                <a:effectLst/>
                <a:latin typeface="+mn-lt"/>
                <a:ea typeface="+mn-ea"/>
                <a:cs typeface="+mn-cs"/>
              </a:rPr>
              <a:t>request</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for</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storage</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by</a:t>
            </a:r>
            <a:r>
              <a:rPr lang="de-DE" sz="1400" b="0" i="0" kern="1200" dirty="0">
                <a:solidFill>
                  <a:schemeClr val="tx1"/>
                </a:solidFill>
                <a:effectLst/>
                <a:latin typeface="+mn-lt"/>
                <a:ea typeface="+mn-ea"/>
                <a:cs typeface="+mn-cs"/>
              </a:rPr>
              <a:t> a </a:t>
            </a:r>
            <a:r>
              <a:rPr lang="de-DE" sz="1400" b="0" i="0" kern="1200" dirty="0" err="1">
                <a:solidFill>
                  <a:schemeClr val="tx1"/>
                </a:solidFill>
                <a:effectLst/>
                <a:latin typeface="+mn-lt"/>
                <a:ea typeface="+mn-ea"/>
                <a:cs typeface="+mn-cs"/>
              </a:rPr>
              <a:t>user</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It</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is</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similar</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to</a:t>
            </a:r>
            <a:r>
              <a:rPr lang="de-DE" sz="1400" b="0" i="0" kern="1200" dirty="0">
                <a:solidFill>
                  <a:schemeClr val="tx1"/>
                </a:solidFill>
                <a:effectLst/>
                <a:latin typeface="+mn-lt"/>
                <a:ea typeface="+mn-ea"/>
                <a:cs typeface="+mn-cs"/>
              </a:rPr>
              <a:t> a </a:t>
            </a:r>
            <a:r>
              <a:rPr lang="de-DE" sz="1400" b="0" i="0" kern="1200" dirty="0" err="1">
                <a:solidFill>
                  <a:schemeClr val="tx1"/>
                </a:solidFill>
                <a:effectLst/>
                <a:latin typeface="+mn-lt"/>
                <a:ea typeface="+mn-ea"/>
                <a:cs typeface="+mn-cs"/>
              </a:rPr>
              <a:t>pod</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Pods</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consume</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node</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resources</a:t>
            </a:r>
            <a:r>
              <a:rPr lang="de-DE" sz="1400" b="0" i="0" kern="1200" dirty="0">
                <a:solidFill>
                  <a:schemeClr val="tx1"/>
                </a:solidFill>
                <a:effectLst/>
                <a:latin typeface="+mn-lt"/>
                <a:ea typeface="+mn-ea"/>
                <a:cs typeface="+mn-cs"/>
              </a:rPr>
              <a:t> and PVCs </a:t>
            </a:r>
            <a:r>
              <a:rPr lang="de-DE" sz="1400" b="0" i="0" kern="1200" dirty="0" err="1">
                <a:solidFill>
                  <a:schemeClr val="tx1"/>
                </a:solidFill>
                <a:effectLst/>
                <a:latin typeface="+mn-lt"/>
                <a:ea typeface="+mn-ea"/>
                <a:cs typeface="+mn-cs"/>
              </a:rPr>
              <a:t>consume</a:t>
            </a:r>
            <a:r>
              <a:rPr lang="de-DE" sz="1400" b="0" i="0" kern="1200" dirty="0">
                <a:solidFill>
                  <a:schemeClr val="tx1"/>
                </a:solidFill>
                <a:effectLst/>
                <a:latin typeface="+mn-lt"/>
                <a:ea typeface="+mn-ea"/>
                <a:cs typeface="+mn-cs"/>
              </a:rPr>
              <a:t> PV </a:t>
            </a:r>
            <a:r>
              <a:rPr lang="de-DE" sz="1400" b="0" i="0" kern="1200" dirty="0" err="1">
                <a:solidFill>
                  <a:schemeClr val="tx1"/>
                </a:solidFill>
                <a:effectLst/>
                <a:latin typeface="+mn-lt"/>
                <a:ea typeface="+mn-ea"/>
                <a:cs typeface="+mn-cs"/>
              </a:rPr>
              <a:t>resources</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Pods</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can</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request</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specific</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levels</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of</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resources</a:t>
            </a:r>
            <a:r>
              <a:rPr lang="de-DE" sz="1400" b="0" i="0" kern="1200" dirty="0">
                <a:solidFill>
                  <a:schemeClr val="tx1"/>
                </a:solidFill>
                <a:effectLst/>
                <a:latin typeface="+mn-lt"/>
                <a:ea typeface="+mn-ea"/>
                <a:cs typeface="+mn-cs"/>
              </a:rPr>
              <a:t> (CPU and Memory). Claims </a:t>
            </a:r>
            <a:r>
              <a:rPr lang="de-DE" sz="1400" b="0" i="0" kern="1200" dirty="0" err="1">
                <a:solidFill>
                  <a:schemeClr val="tx1"/>
                </a:solidFill>
                <a:effectLst/>
                <a:latin typeface="+mn-lt"/>
                <a:ea typeface="+mn-ea"/>
                <a:cs typeface="+mn-cs"/>
              </a:rPr>
              <a:t>can</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request</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specific</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size</a:t>
            </a:r>
            <a:r>
              <a:rPr lang="de-DE" sz="1400" b="0" i="0" kern="1200" dirty="0">
                <a:solidFill>
                  <a:schemeClr val="tx1"/>
                </a:solidFill>
                <a:effectLst/>
                <a:latin typeface="+mn-lt"/>
                <a:ea typeface="+mn-ea"/>
                <a:cs typeface="+mn-cs"/>
              </a:rPr>
              <a:t> and </a:t>
            </a:r>
            <a:r>
              <a:rPr lang="de-DE" sz="1400" b="0" i="0" kern="1200" dirty="0" err="1">
                <a:solidFill>
                  <a:schemeClr val="tx1"/>
                </a:solidFill>
                <a:effectLst/>
                <a:latin typeface="+mn-lt"/>
                <a:ea typeface="+mn-ea"/>
                <a:cs typeface="+mn-cs"/>
              </a:rPr>
              <a:t>access</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modes</a:t>
            </a:r>
            <a:r>
              <a:rPr lang="de-DE" sz="1400" b="0" i="0" kern="1200" dirty="0">
                <a:solidFill>
                  <a:schemeClr val="tx1"/>
                </a:solidFill>
                <a:effectLst/>
                <a:latin typeface="+mn-lt"/>
                <a:ea typeface="+mn-ea"/>
                <a:cs typeface="+mn-cs"/>
              </a:rPr>
              <a:t> (e.g., </a:t>
            </a:r>
            <a:r>
              <a:rPr lang="de-DE" sz="1400" b="0" i="0" kern="1200" dirty="0" err="1">
                <a:solidFill>
                  <a:schemeClr val="tx1"/>
                </a:solidFill>
                <a:effectLst/>
                <a:latin typeface="+mn-lt"/>
                <a:ea typeface="+mn-ea"/>
                <a:cs typeface="+mn-cs"/>
              </a:rPr>
              <a:t>can</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be</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mounted</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once</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read</a:t>
            </a:r>
            <a:r>
              <a:rPr lang="de-DE" sz="1400" b="0" i="0" kern="1200" dirty="0">
                <a:solidFill>
                  <a:schemeClr val="tx1"/>
                </a:solidFill>
                <a:effectLst/>
                <a:latin typeface="+mn-lt"/>
                <a:ea typeface="+mn-ea"/>
                <a:cs typeface="+mn-cs"/>
              </a:rPr>
              <a:t>/</a:t>
            </a:r>
            <a:r>
              <a:rPr lang="de-DE" sz="1400" b="0" i="0" kern="1200" dirty="0" err="1">
                <a:solidFill>
                  <a:schemeClr val="tx1"/>
                </a:solidFill>
                <a:effectLst/>
                <a:latin typeface="+mn-lt"/>
                <a:ea typeface="+mn-ea"/>
                <a:cs typeface="+mn-cs"/>
              </a:rPr>
              <a:t>write</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or</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many</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times</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read-only</a:t>
            </a:r>
            <a:r>
              <a:rPr lang="de-DE" sz="1400" b="0" i="0" kern="1200" dirty="0">
                <a:solidFill>
                  <a:schemeClr val="tx1"/>
                </a:solidFill>
                <a:effectLst/>
                <a:latin typeface="+mn-lt"/>
                <a:ea typeface="+mn-ea"/>
                <a:cs typeface="+mn-cs"/>
              </a:rPr>
              <a:t>).</a:t>
            </a:r>
          </a:p>
          <a:p>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en-US" smtClean="0"/>
              <a:pPr/>
              <a:t>8</a:t>
            </a:fld>
            <a:endParaRPr lang="en-US" dirty="0"/>
          </a:p>
        </p:txBody>
      </p:sp>
    </p:spTree>
    <p:extLst>
      <p:ext uri="{BB962C8B-B14F-4D97-AF65-F5344CB8AC3E}">
        <p14:creationId xmlns:p14="http://schemas.microsoft.com/office/powerpoint/2010/main" val="154532001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PV is always bound by exactly 1 PVC. There is no real order but Kubernetes tries to create matches between requested and provisioned size.</a:t>
            </a:r>
          </a:p>
          <a:p>
            <a:r>
              <a:rPr lang="en-US" dirty="0"/>
              <a:t>Problem: the match making is based on “equals or greater”. So if the PVC requests 1GB but there is only one PVC with 50GB available, it will be bound nevertheless (and “waste” 49GB)</a:t>
            </a:r>
          </a:p>
        </p:txBody>
      </p:sp>
      <p:sp>
        <p:nvSpPr>
          <p:cNvPr id="4" name="Slide Number Placeholder 3"/>
          <p:cNvSpPr>
            <a:spLocks noGrp="1"/>
          </p:cNvSpPr>
          <p:nvPr>
            <p:ph type="sldNum" sz="quarter" idx="10"/>
          </p:nvPr>
        </p:nvSpPr>
        <p:spPr/>
        <p:txBody>
          <a:bodyPr/>
          <a:lstStyle/>
          <a:p>
            <a:fld id="{7D8C2C35-2B8A-446E-BEC0-FD36716C29AC}" type="slidenum">
              <a:rPr lang="en-US" smtClean="0"/>
              <a:pPr/>
              <a:t>9</a:t>
            </a:fld>
            <a:endParaRPr lang="en-US" dirty="0"/>
          </a:p>
        </p:txBody>
      </p:sp>
    </p:spTree>
    <p:extLst>
      <p:ext uri="{BB962C8B-B14F-4D97-AF65-F5344CB8AC3E}">
        <p14:creationId xmlns:p14="http://schemas.microsoft.com/office/powerpoint/2010/main" val="284407981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to the PV-PVC bind mechanism, it might happen that storage is claimed by the “wrong” requests. Storage classes overcome this issue by reversing the order. Firstly create a PVC and the storage class provides a fitting PV. </a:t>
            </a:r>
          </a:p>
          <a:p>
            <a:endParaRPr lang="en-US" dirty="0"/>
          </a:p>
          <a:p>
            <a:r>
              <a:rPr lang="en-US" dirty="0"/>
              <a:t>On Kubernetes level a storage class is a piece of software running inside the cluster that also is able to administer the </a:t>
            </a:r>
            <a:r>
              <a:rPr lang="en-US"/>
              <a:t>storage backend.</a:t>
            </a:r>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en-US" smtClean="0"/>
              <a:pPr/>
              <a:t>10</a:t>
            </a:fld>
            <a:endParaRPr lang="en-US" dirty="0"/>
          </a:p>
        </p:txBody>
      </p:sp>
    </p:spTree>
    <p:extLst>
      <p:ext uri="{BB962C8B-B14F-4D97-AF65-F5344CB8AC3E}">
        <p14:creationId xmlns:p14="http://schemas.microsoft.com/office/powerpoint/2010/main" val="220256361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CSI – Container Storage Interface</a:t>
            </a:r>
          </a:p>
          <a:p>
            <a:endParaRPr lang="en-US" dirty="0"/>
          </a:p>
          <a:p>
            <a:pPr marL="342900" indent="-342900">
              <a:buAutoNum type="arabicPeriod"/>
            </a:pPr>
            <a:r>
              <a:rPr lang="en-US" dirty="0"/>
              <a:t>User requests a PVC</a:t>
            </a:r>
          </a:p>
          <a:p>
            <a:pPr marL="342900" indent="-342900">
              <a:buAutoNum type="arabicPeriod"/>
            </a:pPr>
            <a:r>
              <a:rPr lang="en-US" dirty="0" err="1"/>
              <a:t>StorageClass</a:t>
            </a:r>
            <a:r>
              <a:rPr lang="en-US" dirty="0"/>
              <a:t> is triggered to provision a PV</a:t>
            </a:r>
          </a:p>
          <a:p>
            <a:pPr marL="342900" indent="-342900">
              <a:buAutoNum type="arabicPeriod"/>
            </a:pPr>
            <a:r>
              <a:rPr lang="en-US" dirty="0"/>
              <a:t>PV is backed by a physical volume, which is made available via the container storage interface</a:t>
            </a:r>
          </a:p>
          <a:p>
            <a:pPr marL="342900" indent="-342900">
              <a:buAutoNum type="arabicPeriod"/>
            </a:pPr>
            <a:endParaRPr lang="en-US" dirty="0"/>
          </a:p>
          <a:p>
            <a:pPr marL="0" indent="0">
              <a:buNone/>
            </a:pPr>
            <a:r>
              <a:rPr lang="en-US" dirty="0"/>
              <a:t>Depending on the CSI driver used, all kinds of storage backends can be exposed.</a:t>
            </a:r>
          </a:p>
        </p:txBody>
      </p:sp>
      <p:sp>
        <p:nvSpPr>
          <p:cNvPr id="4" name="Slide Number Placeholder 3"/>
          <p:cNvSpPr>
            <a:spLocks noGrp="1"/>
          </p:cNvSpPr>
          <p:nvPr>
            <p:ph type="sldNum" sz="quarter" idx="5"/>
          </p:nvPr>
        </p:nvSpPr>
        <p:spPr/>
        <p:txBody>
          <a:bodyPr/>
          <a:lstStyle/>
          <a:p>
            <a:fld id="{7D8C2C35-2B8A-446E-BEC0-FD36716C29AC}" type="slidenum">
              <a:rPr lang="de-DE" smtClean="0"/>
              <a:pPr/>
              <a:t>11</a:t>
            </a:fld>
            <a:endParaRPr lang="de-DE" dirty="0"/>
          </a:p>
        </p:txBody>
      </p:sp>
    </p:spTree>
    <p:extLst>
      <p:ext uri="{BB962C8B-B14F-4D97-AF65-F5344CB8AC3E}">
        <p14:creationId xmlns:p14="http://schemas.microsoft.com/office/powerpoint/2010/main" val="95274761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make use of a CSI provisioned volume:</a:t>
            </a:r>
          </a:p>
          <a:p>
            <a:pPr marL="342900" indent="-342900">
              <a:buAutoNum type="arabicPeriod"/>
            </a:pPr>
            <a:r>
              <a:rPr lang="en-US" dirty="0"/>
              <a:t>User requests to schedule a pod</a:t>
            </a:r>
          </a:p>
          <a:p>
            <a:pPr marL="342900" indent="-342900">
              <a:buAutoNum type="arabicPeriod"/>
            </a:pPr>
            <a:r>
              <a:rPr lang="en-US" dirty="0"/>
              <a:t>The pod used a PVC</a:t>
            </a:r>
          </a:p>
          <a:p>
            <a:pPr marL="342900" indent="-342900">
              <a:buAutoNum type="arabicPeriod"/>
            </a:pPr>
            <a:r>
              <a:rPr lang="en-US" dirty="0"/>
              <a:t>To get the volume mounted to the respective node, a </a:t>
            </a:r>
            <a:r>
              <a:rPr lang="en-US" dirty="0" err="1"/>
              <a:t>VolumeAttachment</a:t>
            </a:r>
            <a:r>
              <a:rPr lang="en-US" dirty="0"/>
              <a:t> gets issued</a:t>
            </a:r>
          </a:p>
          <a:p>
            <a:pPr marL="342900" indent="-342900">
              <a:buAutoNum type="arabicPeriod"/>
            </a:pPr>
            <a:r>
              <a:rPr lang="en-US" dirty="0"/>
              <a:t>The CSI driver that also provisioned the volume reacts and ensures the volume gets mounted to the node.</a:t>
            </a:r>
          </a:p>
        </p:txBody>
      </p:sp>
      <p:sp>
        <p:nvSpPr>
          <p:cNvPr id="4" name="Slide Number Placeholder 3"/>
          <p:cNvSpPr>
            <a:spLocks noGrp="1"/>
          </p:cNvSpPr>
          <p:nvPr>
            <p:ph type="sldNum" sz="quarter" idx="5"/>
          </p:nvPr>
        </p:nvSpPr>
        <p:spPr/>
        <p:txBody>
          <a:bodyPr/>
          <a:lstStyle/>
          <a:p>
            <a:fld id="{7D8C2C35-2B8A-446E-BEC0-FD36716C29AC}" type="slidenum">
              <a:rPr lang="de-DE" smtClean="0"/>
              <a:pPr/>
              <a:t>12</a:t>
            </a:fld>
            <a:endParaRPr lang="de-DE" dirty="0"/>
          </a:p>
        </p:txBody>
      </p:sp>
    </p:spTree>
    <p:extLst>
      <p:ext uri="{BB962C8B-B14F-4D97-AF65-F5344CB8AC3E}">
        <p14:creationId xmlns:p14="http://schemas.microsoft.com/office/powerpoint/2010/main" val="316752815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Upon deletion of the claim object the persistent volume becomes “unbound”. </a:t>
            </a:r>
          </a:p>
          <a:p>
            <a:r>
              <a:rPr lang="en-US" dirty="0"/>
              <a:t>There are 3 scenarios:</a:t>
            </a:r>
          </a:p>
          <a:p>
            <a:pPr marL="285750" indent="-285750">
              <a:buFontTx/>
              <a:buChar char="-"/>
            </a:pPr>
            <a:r>
              <a:rPr lang="en-US" dirty="0"/>
              <a:t>Retain: nothing happens, the PV will remain until an administrator deals with it. The data is not (yet) deleted.</a:t>
            </a:r>
          </a:p>
          <a:p>
            <a:pPr marL="285750" indent="-285750">
              <a:buFontTx/>
              <a:buChar char="-"/>
            </a:pPr>
            <a:r>
              <a:rPr lang="en-US" dirty="0"/>
              <a:t>Delete:  together with the PVC also the PV will be deleted. All data is gone.</a:t>
            </a:r>
          </a:p>
          <a:p>
            <a:pPr marL="285750" indent="-285750">
              <a:buFontTx/>
              <a:buChar char="-"/>
            </a:pPr>
            <a:r>
              <a:rPr lang="en-US" dirty="0"/>
              <a:t>Recycle (deprecated):  remove all data and make PV available to be bound again by a different PVC</a:t>
            </a:r>
          </a:p>
        </p:txBody>
      </p:sp>
      <p:sp>
        <p:nvSpPr>
          <p:cNvPr id="4" name="Slide Number Placeholder 3"/>
          <p:cNvSpPr>
            <a:spLocks noGrp="1"/>
          </p:cNvSpPr>
          <p:nvPr>
            <p:ph type="sldNum" sz="quarter" idx="10"/>
          </p:nvPr>
        </p:nvSpPr>
        <p:spPr/>
        <p:txBody>
          <a:bodyPr/>
          <a:lstStyle/>
          <a:p>
            <a:fld id="{7D8C2C35-2B8A-446E-BEC0-FD36716C29AC}" type="slidenum">
              <a:rPr lang="de-DE" smtClean="0"/>
              <a:pPr/>
              <a:t>13</a:t>
            </a:fld>
            <a:endParaRPr lang="de-DE" dirty="0"/>
          </a:p>
        </p:txBody>
      </p:sp>
    </p:spTree>
    <p:extLst>
      <p:ext uri="{BB962C8B-B14F-4D97-AF65-F5344CB8AC3E}">
        <p14:creationId xmlns:p14="http://schemas.microsoft.com/office/powerpoint/2010/main" val="399007652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Modes depend on the storage backend (physical storage). Example for RWX is NFS</a:t>
            </a:r>
          </a:p>
          <a:p>
            <a:endParaRPr lang="en-US" dirty="0"/>
          </a:p>
          <a:p>
            <a:r>
              <a:rPr lang="en-US" dirty="0"/>
              <a:t>https://kubernetes.io/docs/concepts/storage/persistent-volumes/#access-modes</a:t>
            </a:r>
          </a:p>
        </p:txBody>
      </p:sp>
      <p:sp>
        <p:nvSpPr>
          <p:cNvPr id="4" name="Slide Number Placeholder 3"/>
          <p:cNvSpPr>
            <a:spLocks noGrp="1"/>
          </p:cNvSpPr>
          <p:nvPr>
            <p:ph type="sldNum" sz="quarter" idx="10"/>
          </p:nvPr>
        </p:nvSpPr>
        <p:spPr/>
        <p:txBody>
          <a:bodyPr/>
          <a:lstStyle/>
          <a:p>
            <a:fld id="{7D8C2C35-2B8A-446E-BEC0-FD36716C29AC}" type="slidenum">
              <a:rPr lang="de-DE" smtClean="0"/>
              <a:pPr/>
              <a:t>14</a:t>
            </a:fld>
            <a:endParaRPr lang="de-DE" dirty="0"/>
          </a:p>
        </p:txBody>
      </p:sp>
    </p:spTree>
    <p:extLst>
      <p:ext uri="{BB962C8B-B14F-4D97-AF65-F5344CB8AC3E}">
        <p14:creationId xmlns:p14="http://schemas.microsoft.com/office/powerpoint/2010/main" val="247517964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abstraction is easy to work with, it is also quite helpful to know, what is happening in the background.</a:t>
            </a:r>
          </a:p>
          <a:p>
            <a:endParaRPr lang="en-US" dirty="0"/>
          </a:p>
          <a:p>
            <a:r>
              <a:rPr lang="en-US" dirty="0"/>
              <a:t>When declaring the pod spec with it’s volume mount section, in the end it refers to some physical storage. To get actual access to it, the disk needs to be mounted to the node first. Only then the docker daemon can use a bind mount to make the disk available to the container.</a:t>
            </a:r>
          </a:p>
        </p:txBody>
      </p:sp>
      <p:sp>
        <p:nvSpPr>
          <p:cNvPr id="4" name="Slide Number Placeholder 3"/>
          <p:cNvSpPr>
            <a:spLocks noGrp="1"/>
          </p:cNvSpPr>
          <p:nvPr>
            <p:ph type="sldNum" sz="quarter" idx="5"/>
          </p:nvPr>
        </p:nvSpPr>
        <p:spPr/>
        <p:txBody>
          <a:bodyPr/>
          <a:lstStyle/>
          <a:p>
            <a:fld id="{7D8C2C35-2B8A-446E-BEC0-FD36716C29AC}" type="slidenum">
              <a:rPr lang="de-DE" smtClean="0"/>
              <a:pPr/>
              <a:t>15</a:t>
            </a:fld>
            <a:endParaRPr lang="de-DE" dirty="0"/>
          </a:p>
        </p:txBody>
      </p:sp>
    </p:spTree>
    <p:extLst>
      <p:ext uri="{BB962C8B-B14F-4D97-AF65-F5344CB8AC3E}">
        <p14:creationId xmlns:p14="http://schemas.microsoft.com/office/powerpoint/2010/main" val="136247778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abstraction is easy to work with, it is also quite helpful to know, what is happening in the background.</a:t>
            </a:r>
          </a:p>
          <a:p>
            <a:endParaRPr lang="en-US" dirty="0"/>
          </a:p>
          <a:p>
            <a:r>
              <a:rPr lang="en-US" dirty="0"/>
              <a:t>When declaring the pod spec with it’s volume mount section, in the end it refers to some physical storage. To get actual access to it, the disk needs to be mounted to the node first. Only then the docker daemon can use a bind mount to make the disk available to the container.</a:t>
            </a:r>
          </a:p>
        </p:txBody>
      </p:sp>
      <p:sp>
        <p:nvSpPr>
          <p:cNvPr id="4" name="Slide Number Placeholder 3"/>
          <p:cNvSpPr>
            <a:spLocks noGrp="1"/>
          </p:cNvSpPr>
          <p:nvPr>
            <p:ph type="sldNum" sz="quarter" idx="5"/>
          </p:nvPr>
        </p:nvSpPr>
        <p:spPr/>
        <p:txBody>
          <a:bodyPr/>
          <a:lstStyle/>
          <a:p>
            <a:fld id="{7D8C2C35-2B8A-446E-BEC0-FD36716C29AC}" type="slidenum">
              <a:rPr lang="de-DE" smtClean="0"/>
              <a:pPr/>
              <a:t>16</a:t>
            </a:fld>
            <a:endParaRPr lang="de-DE" dirty="0"/>
          </a:p>
        </p:txBody>
      </p:sp>
    </p:spTree>
    <p:extLst>
      <p:ext uri="{BB962C8B-B14F-4D97-AF65-F5344CB8AC3E}">
        <p14:creationId xmlns:p14="http://schemas.microsoft.com/office/powerpoint/2010/main" val="169211860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abstraction is easy to work with, it is also quite helpful to know, what is happening in the background.</a:t>
            </a:r>
          </a:p>
          <a:p>
            <a:endParaRPr lang="en-US" dirty="0"/>
          </a:p>
          <a:p>
            <a:r>
              <a:rPr lang="en-US" dirty="0"/>
              <a:t>When declaring the pod spec with it’s volume mount section, in the end it refers to some physical storage. To get actual access to it, the disk needs to be mounted to the node first. Only then the docker daemon can use a bind mount to make the disk available to the container.</a:t>
            </a:r>
          </a:p>
        </p:txBody>
      </p:sp>
      <p:sp>
        <p:nvSpPr>
          <p:cNvPr id="4" name="Slide Number Placeholder 3"/>
          <p:cNvSpPr>
            <a:spLocks noGrp="1"/>
          </p:cNvSpPr>
          <p:nvPr>
            <p:ph type="sldNum" sz="quarter" idx="5"/>
          </p:nvPr>
        </p:nvSpPr>
        <p:spPr/>
        <p:txBody>
          <a:bodyPr/>
          <a:lstStyle/>
          <a:p>
            <a:fld id="{7D8C2C35-2B8A-446E-BEC0-FD36716C29AC}" type="slidenum">
              <a:rPr lang="de-DE" smtClean="0"/>
              <a:pPr/>
              <a:t>17</a:t>
            </a:fld>
            <a:endParaRPr lang="de-DE" dirty="0"/>
          </a:p>
        </p:txBody>
      </p:sp>
    </p:spTree>
    <p:extLst>
      <p:ext uri="{BB962C8B-B14F-4D97-AF65-F5344CB8AC3E}">
        <p14:creationId xmlns:p14="http://schemas.microsoft.com/office/powerpoint/2010/main" val="70223056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https://kubernetes.io/docs/concepts/storage/persistent-volumes/#types-of-persistent-volumes</a:t>
            </a:r>
          </a:p>
          <a:p>
            <a:endParaRPr lang="en-US" dirty="0"/>
          </a:p>
          <a:p>
            <a:r>
              <a:rPr lang="en-US" dirty="0"/>
              <a:t>https://kubernetes.io/docs/concepts/storage/persistent-volumes/#access-modes</a:t>
            </a:r>
          </a:p>
        </p:txBody>
      </p:sp>
      <p:sp>
        <p:nvSpPr>
          <p:cNvPr id="4" name="Slide Number Placeholder 3"/>
          <p:cNvSpPr>
            <a:spLocks noGrp="1"/>
          </p:cNvSpPr>
          <p:nvPr>
            <p:ph type="sldNum" sz="quarter" idx="10"/>
          </p:nvPr>
        </p:nvSpPr>
        <p:spPr/>
        <p:txBody>
          <a:bodyPr/>
          <a:lstStyle/>
          <a:p>
            <a:fld id="{7D8C2C35-2B8A-446E-BEC0-FD36716C29AC}" type="slidenum">
              <a:rPr lang="de-DE" smtClean="0"/>
              <a:pPr/>
              <a:t>18</a:t>
            </a:fld>
            <a:endParaRPr lang="de-DE" dirty="0"/>
          </a:p>
        </p:txBody>
      </p:sp>
    </p:spTree>
    <p:extLst>
      <p:ext uri="{BB962C8B-B14F-4D97-AF65-F5344CB8AC3E}">
        <p14:creationId xmlns:p14="http://schemas.microsoft.com/office/powerpoint/2010/main" val="369536380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pPr marL="285750" marR="0" lvl="0" indent="-285750" algn="l" defTabSz="1088776" rtl="0" eaLnBrk="1" fontAlgn="auto" latinLnBrk="0" hangingPunct="1">
              <a:lnSpc>
                <a:spcPct val="100000"/>
              </a:lnSpc>
              <a:spcBef>
                <a:spcPts val="0"/>
              </a:spcBef>
              <a:spcAft>
                <a:spcPts val="0"/>
              </a:spcAft>
              <a:buClrTx/>
              <a:buSzTx/>
              <a:buFontTx/>
              <a:buChar char="-"/>
              <a:tabLst/>
              <a:defRPr/>
            </a:pPr>
            <a:r>
              <a:rPr lang="en-US" baseline="0" dirty="0"/>
              <a:t>Create a PVC from </a:t>
            </a:r>
            <a:r>
              <a:rPr lang="en-US" baseline="0" dirty="0" err="1"/>
              <a:t>yaml</a:t>
            </a:r>
            <a:endParaRPr lang="en-US" baseline="0" dirty="0"/>
          </a:p>
          <a:p>
            <a:pPr marL="285750" marR="0" lvl="0" indent="-285750" algn="l" defTabSz="1088776" rtl="0" eaLnBrk="1" fontAlgn="auto" latinLnBrk="0" hangingPunct="1">
              <a:lnSpc>
                <a:spcPct val="100000"/>
              </a:lnSpc>
              <a:spcBef>
                <a:spcPts val="0"/>
              </a:spcBef>
              <a:spcAft>
                <a:spcPts val="0"/>
              </a:spcAft>
              <a:buClrTx/>
              <a:buSzTx/>
              <a:buFontTx/>
              <a:buChar char="-"/>
              <a:tabLst/>
              <a:defRPr/>
            </a:pPr>
            <a:r>
              <a:rPr lang="en-US" baseline="0" dirty="0"/>
              <a:t>Explain the </a:t>
            </a:r>
            <a:r>
              <a:rPr lang="en-US" baseline="0" dirty="0" err="1"/>
              <a:t>waitForFirstConsumer</a:t>
            </a:r>
            <a:r>
              <a:rPr lang="en-US" baseline="0" dirty="0"/>
              <a:t> Policy (storage class will provision the PV only when a pod actually requests to mount the </a:t>
            </a:r>
            <a:r>
              <a:rPr lang="en-US" baseline="0" dirty="0" err="1"/>
              <a:t>pvc</a:t>
            </a:r>
            <a:r>
              <a:rPr lang="en-US" baseline="0" dirty="0"/>
              <a:t>)</a:t>
            </a:r>
          </a:p>
          <a:p>
            <a:pPr marL="285750" marR="0" lvl="0" indent="-285750" algn="l" defTabSz="1088776" rtl="0" eaLnBrk="1" fontAlgn="auto" latinLnBrk="0" hangingPunct="1">
              <a:lnSpc>
                <a:spcPct val="100000"/>
              </a:lnSpc>
              <a:spcBef>
                <a:spcPts val="0"/>
              </a:spcBef>
              <a:spcAft>
                <a:spcPts val="0"/>
              </a:spcAft>
              <a:buClrTx/>
              <a:buSzTx/>
              <a:buFontTx/>
              <a:buChar char="-"/>
              <a:tabLst/>
              <a:defRPr/>
            </a:pPr>
            <a:r>
              <a:rPr lang="en-US" baseline="0" dirty="0"/>
              <a:t>Create a deployment which mounts the PVC. Discuss the volume &amp; </a:t>
            </a:r>
            <a:r>
              <a:rPr lang="en-US" baseline="0" dirty="0" err="1"/>
              <a:t>volumeMount</a:t>
            </a:r>
            <a:r>
              <a:rPr lang="en-US" baseline="0" dirty="0"/>
              <a:t> section and highlight the matching names for the volume within the pod spec to make it referenceable.</a:t>
            </a:r>
          </a:p>
          <a:p>
            <a:pPr marL="285750" marR="0" lvl="0" indent="-285750" algn="l" defTabSz="1088776" rtl="0" eaLnBrk="1" fontAlgn="auto" latinLnBrk="0" hangingPunct="1">
              <a:lnSpc>
                <a:spcPct val="100000"/>
              </a:lnSpc>
              <a:spcBef>
                <a:spcPts val="0"/>
              </a:spcBef>
              <a:spcAft>
                <a:spcPts val="0"/>
              </a:spcAft>
              <a:buClrTx/>
              <a:buSzTx/>
              <a:buFontTx/>
              <a:buChar char="-"/>
              <a:tabLst/>
              <a:defRPr/>
            </a:pPr>
            <a:r>
              <a:rPr lang="en-US" baseline="0" dirty="0"/>
              <a:t>Show the storage class reference in the PVC </a:t>
            </a:r>
            <a:r>
              <a:rPr lang="en-US" baseline="0" dirty="0" err="1"/>
              <a:t>yaml</a:t>
            </a:r>
            <a:r>
              <a:rPr lang="en-US" baseline="0" dirty="0"/>
              <a:t> and the corresponding storage class within the cluster (</a:t>
            </a:r>
            <a:r>
              <a:rPr lang="en-US" baseline="0" dirty="0" err="1"/>
              <a:t>kubectl</a:t>
            </a:r>
            <a:r>
              <a:rPr lang="en-US" baseline="0" dirty="0"/>
              <a:t> get </a:t>
            </a:r>
            <a:r>
              <a:rPr lang="en-US" baseline="0" dirty="0" err="1"/>
              <a:t>storageclass</a:t>
            </a:r>
            <a:r>
              <a:rPr lang="en-US" baseline="0" dirty="0"/>
              <a:t>). These have to match!</a:t>
            </a:r>
          </a:p>
          <a:p>
            <a:pPr marL="285750" marR="0" lvl="0" indent="-285750" algn="l" defTabSz="1088776" rtl="0" eaLnBrk="1" fontAlgn="auto" latinLnBrk="0" hangingPunct="1">
              <a:lnSpc>
                <a:spcPct val="100000"/>
              </a:lnSpc>
              <a:spcBef>
                <a:spcPts val="0"/>
              </a:spcBef>
              <a:spcAft>
                <a:spcPts val="0"/>
              </a:spcAft>
              <a:buClrTx/>
              <a:buSzTx/>
              <a:buFontTx/>
              <a:buChar char="-"/>
              <a:tabLst/>
              <a:defRPr/>
            </a:pPr>
            <a:r>
              <a:rPr lang="en-US" baseline="0" dirty="0"/>
              <a:t>Query the PV’s and outline the connection between the PVC in the namespace and the PV. Print out the PV </a:t>
            </a:r>
            <a:r>
              <a:rPr lang="en-US" baseline="0" dirty="0" err="1"/>
              <a:t>yaml</a:t>
            </a:r>
            <a:r>
              <a:rPr lang="en-US" baseline="0" dirty="0"/>
              <a:t> and highlight that there is no namespace as PV resources are not </a:t>
            </a:r>
            <a:r>
              <a:rPr lang="en-US" baseline="0" dirty="0" err="1"/>
              <a:t>namespaced</a:t>
            </a:r>
            <a:r>
              <a:rPr lang="en-US" baseline="0" dirty="0"/>
              <a:t>.</a:t>
            </a:r>
          </a:p>
          <a:p>
            <a:pPr marL="285750" marR="0" lvl="0" indent="-285750" algn="l" defTabSz="1088776" rtl="0" eaLnBrk="1" fontAlgn="auto" latinLnBrk="0" hangingPunct="1">
              <a:lnSpc>
                <a:spcPct val="100000"/>
              </a:lnSpc>
              <a:spcBef>
                <a:spcPts val="0"/>
              </a:spcBef>
              <a:spcAft>
                <a:spcPts val="0"/>
              </a:spcAft>
              <a:buClrTx/>
              <a:buSzTx/>
              <a:buFontTx/>
              <a:buChar char="-"/>
              <a:tabLst/>
              <a:defRPr/>
            </a:pPr>
            <a:endParaRPr lang="en-US" baseline="0" dirty="0"/>
          </a:p>
          <a:p>
            <a:pPr marL="285750" marR="0" lvl="0" indent="-285750" algn="l" defTabSz="1088776" rtl="0" eaLnBrk="1" fontAlgn="auto" latinLnBrk="0" hangingPunct="1">
              <a:lnSpc>
                <a:spcPct val="100000"/>
              </a:lnSpc>
              <a:spcBef>
                <a:spcPts val="0"/>
              </a:spcBef>
              <a:spcAft>
                <a:spcPts val="0"/>
              </a:spcAft>
              <a:buClrTx/>
              <a:buSzTx/>
              <a:buFontTx/>
              <a:buChar char="-"/>
              <a:tabLst/>
              <a:defRPr/>
            </a:pPr>
            <a:r>
              <a:rPr lang="en-US" baseline="0" dirty="0"/>
              <a:t>Once the pod is created, logon to it and create some content.</a:t>
            </a:r>
          </a:p>
          <a:p>
            <a:pPr marL="285750" marR="0" lvl="0" indent="-285750" algn="l" defTabSz="1088776" rtl="0" eaLnBrk="1" fontAlgn="auto" latinLnBrk="0" hangingPunct="1">
              <a:lnSpc>
                <a:spcPct val="100000"/>
              </a:lnSpc>
              <a:spcBef>
                <a:spcPts val="0"/>
              </a:spcBef>
              <a:spcAft>
                <a:spcPts val="0"/>
              </a:spcAft>
              <a:buClrTx/>
              <a:buSzTx/>
              <a:buFontTx/>
              <a:buChar char="-"/>
              <a:tabLst/>
              <a:defRPr/>
            </a:pPr>
            <a:endParaRPr lang="en-US" baseline="0" dirty="0"/>
          </a:p>
          <a:p>
            <a:pPr marL="285750" marR="0" lvl="0" indent="-285750" algn="l" defTabSz="1088776" rtl="0" eaLnBrk="1" fontAlgn="auto" latinLnBrk="0" hangingPunct="1">
              <a:lnSpc>
                <a:spcPct val="100000"/>
              </a:lnSpc>
              <a:spcBef>
                <a:spcPts val="0"/>
              </a:spcBef>
              <a:spcAft>
                <a:spcPts val="0"/>
              </a:spcAft>
              <a:buClrTx/>
              <a:buSzTx/>
              <a:buFontTx/>
              <a:buChar char="-"/>
              <a:tabLst/>
              <a:defRPr/>
            </a:pPr>
            <a:r>
              <a:rPr lang="en-US" baseline="0" dirty="0"/>
              <a:t>Next, scale the deployment that attempts to mount the same PVC. </a:t>
            </a:r>
          </a:p>
          <a:p>
            <a:pPr marL="465750" marR="0" lvl="1" indent="-285750" algn="l" defTabSz="1088776" rtl="0" eaLnBrk="1" fontAlgn="auto" latinLnBrk="0" hangingPunct="1">
              <a:lnSpc>
                <a:spcPct val="100000"/>
              </a:lnSpc>
              <a:spcBef>
                <a:spcPts val="0"/>
              </a:spcBef>
              <a:spcAft>
                <a:spcPts val="0"/>
              </a:spcAft>
              <a:buClrTx/>
              <a:buSzTx/>
              <a:buFontTx/>
              <a:buChar char="-"/>
              <a:tabLst/>
              <a:defRPr/>
            </a:pPr>
            <a:r>
              <a:rPr lang="en-US" baseline="0" dirty="0"/>
              <a:t>Discuss the error message (</a:t>
            </a:r>
            <a:r>
              <a:rPr lang="en-US" baseline="0" dirty="0" err="1"/>
              <a:t>kubectl</a:t>
            </a:r>
            <a:r>
              <a:rPr lang="en-US" baseline="0" dirty="0"/>
              <a:t> describe pod &lt;pod of a deployment&gt;)</a:t>
            </a:r>
          </a:p>
          <a:p>
            <a:pPr marL="465750" marR="0" lvl="1" indent="-285750" algn="l" defTabSz="1088776" rtl="0" eaLnBrk="1" fontAlgn="auto" latinLnBrk="0" hangingPunct="1">
              <a:lnSpc>
                <a:spcPct val="100000"/>
              </a:lnSpc>
              <a:spcBef>
                <a:spcPts val="0"/>
              </a:spcBef>
              <a:spcAft>
                <a:spcPts val="0"/>
              </a:spcAft>
              <a:buClrTx/>
              <a:buSzTx/>
              <a:buFontTx/>
              <a:buChar char="-"/>
              <a:tabLst/>
              <a:defRPr/>
            </a:pPr>
            <a:r>
              <a:rPr lang="en-US" baseline="0" dirty="0"/>
              <a:t>Outline the implication of the access-mode. If the PVC is already bound once in RWO mode, it cannot be bound in any other mode. </a:t>
            </a:r>
          </a:p>
          <a:p>
            <a:pPr marL="465750" marR="0" lvl="1" indent="-285750" algn="l" defTabSz="1088776" rtl="0" eaLnBrk="1" fontAlgn="auto" latinLnBrk="0" hangingPunct="1">
              <a:lnSpc>
                <a:spcPct val="100000"/>
              </a:lnSpc>
              <a:spcBef>
                <a:spcPts val="0"/>
              </a:spcBef>
              <a:spcAft>
                <a:spcPts val="0"/>
              </a:spcAft>
              <a:buClrTx/>
              <a:buSzTx/>
              <a:buFontTx/>
              <a:buChar char="-"/>
              <a:tabLst/>
              <a:defRPr/>
            </a:pPr>
            <a:r>
              <a:rPr lang="en-US" baseline="0" dirty="0"/>
              <a:t>Highlight, that if a pod already runs on a node and mounts a volume a 2</a:t>
            </a:r>
            <a:r>
              <a:rPr lang="en-US" baseline="30000" dirty="0"/>
              <a:t>nd</a:t>
            </a:r>
            <a:r>
              <a:rPr lang="en-US" baseline="0" dirty="0"/>
              <a:t> pod can start on the same node and also use this volume (which of course </a:t>
            </a:r>
            <a:r>
              <a:rPr lang="en-US" baseline="0"/>
              <a:t>is dangerous) </a:t>
            </a:r>
            <a:endParaRPr lang="en-US" baseline="0" dirty="0"/>
          </a:p>
        </p:txBody>
      </p:sp>
      <p:sp>
        <p:nvSpPr>
          <p:cNvPr id="4" name="Slide Number Placeholder 3"/>
          <p:cNvSpPr>
            <a:spLocks noGrp="1"/>
          </p:cNvSpPr>
          <p:nvPr>
            <p:ph type="sldNum" sz="quarter" idx="10"/>
          </p:nvPr>
        </p:nvSpPr>
        <p:spPr/>
        <p:txBody>
          <a:bodyPr/>
          <a:lstStyle/>
          <a:p>
            <a:fld id="{7D8C2C35-2B8A-446E-BEC0-FD36716C29AC}" type="slidenum">
              <a:rPr lang="de-DE" smtClean="0"/>
              <a:pPr/>
              <a:t>19</a:t>
            </a:fld>
            <a:endParaRPr lang="de-DE" dirty="0"/>
          </a:p>
        </p:txBody>
      </p:sp>
    </p:spTree>
    <p:extLst>
      <p:ext uri="{BB962C8B-B14F-4D97-AF65-F5344CB8AC3E}">
        <p14:creationId xmlns:p14="http://schemas.microsoft.com/office/powerpoint/2010/main" val="83054118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7D8C2C35-2B8A-446E-BEC0-FD36716C29AC}" type="slidenum">
              <a:rPr lang="en-US" smtClean="0"/>
              <a:pPr/>
              <a:t>21</a:t>
            </a:fld>
            <a:endParaRPr lang="en-US" dirty="0"/>
          </a:p>
        </p:txBody>
      </p:sp>
      <p:sp>
        <p:nvSpPr>
          <p:cNvPr id="6" name="Slide Image Placeholder 5"/>
          <p:cNvSpPr>
            <a:spLocks noGrp="1" noRot="1" noChangeAspect="1"/>
          </p:cNvSpPr>
          <p:nvPr>
            <p:ph type="sldImg"/>
          </p:nvPr>
        </p:nvSpPr>
        <p:spPr>
          <a:xfrm>
            <a:off x="547688" y="612775"/>
            <a:ext cx="5762625" cy="3241675"/>
          </a:xfrm>
        </p:spPr>
      </p:sp>
      <p:sp>
        <p:nvSpPr>
          <p:cNvPr id="7" name="Notes Placeholder 6"/>
          <p:cNvSpPr>
            <a:spLocks noGrp="1"/>
          </p:cNvSpPr>
          <p:nvPr>
            <p:ph type="body" idx="1"/>
          </p:nvPr>
        </p:nvSpPr>
        <p:spPr/>
        <p:txBody>
          <a:bodyPr>
            <a:normAutofit/>
          </a:bodyPr>
          <a:lstStyle/>
          <a:p>
            <a:endParaRPr lang="en-US" dirty="0"/>
          </a:p>
        </p:txBody>
      </p:sp>
    </p:spTree>
    <p:extLst>
      <p:ext uri="{BB962C8B-B14F-4D97-AF65-F5344CB8AC3E}">
        <p14:creationId xmlns:p14="http://schemas.microsoft.com/office/powerpoint/2010/main" val="254426430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hyperlink" Target="http://global.sap.com/corporate-en/legal/copyright/index.epx" TargetMode="External"/><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hyperlink" Target="http://www.sap.com/corporate-de/legal/copyright/index.epx" TargetMode="Externa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ver with image">
    <p:spTree>
      <p:nvGrpSpPr>
        <p:cNvPr id="1" name=""/>
        <p:cNvGrpSpPr/>
        <p:nvPr/>
      </p:nvGrpSpPr>
      <p:grpSpPr>
        <a:xfrm>
          <a:off x="0" y="0"/>
          <a:ext cx="0" cy="0"/>
          <a:chOff x="0" y="0"/>
          <a:chExt cx="0" cy="0"/>
        </a:xfrm>
      </p:grpSpPr>
      <p:sp>
        <p:nvSpPr>
          <p:cNvPr id="5" name="Cover Image Placeholder"/>
          <p:cNvSpPr>
            <a:spLocks noGrp="1"/>
          </p:cNvSpPr>
          <p:nvPr>
            <p:ph type="pic" sz="quarter" idx="12" hasCustomPrompt="1"/>
          </p:nvPr>
        </p:nvSpPr>
        <p:spPr>
          <a:xfrm>
            <a:off x="1" y="0"/>
            <a:ext cx="12195175" cy="3430006"/>
          </a:xfrm>
          <a:solidFill>
            <a:schemeClr val="tx2">
              <a:alpha val="70000"/>
            </a:schemeClr>
          </a:solidFill>
        </p:spPr>
        <p:txBody>
          <a:bodyPr tIns="504000"/>
          <a:lstStyle>
            <a:lvl1pPr algn="ctr">
              <a:defRPr sz="1600">
                <a:solidFill>
                  <a:schemeClr val="tx1"/>
                </a:solidFill>
              </a:defRPr>
            </a:lvl1pPr>
          </a:lstStyle>
          <a:p>
            <a:r>
              <a:rPr lang="en-US" dirty="0"/>
              <a:t>Click to insert title image</a:t>
            </a:r>
          </a:p>
        </p:txBody>
      </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grpSp>
        <p:nvGrpSpPr>
          <p:cNvPr id="2" name="Group 1"/>
          <p:cNvGrpSpPr/>
          <p:nvPr userDrawn="1"/>
        </p:nvGrpSpPr>
        <p:grpSpPr>
          <a:xfrm>
            <a:off x="9171173" y="0"/>
            <a:ext cx="3024002" cy="3430006"/>
            <a:chOff x="9171173" y="0"/>
            <a:chExt cx="3024002" cy="3430006"/>
          </a:xfrm>
        </p:grpSpPr>
        <p:sp>
          <p:nvSpPr>
            <p:cNvPr id="17" name="Rectangle 16"/>
            <p:cNvSpPr/>
            <p:nvPr userDrawn="1"/>
          </p:nvSpPr>
          <p:spPr bwMode="gray">
            <a:xfrm>
              <a:off x="11187175" y="0"/>
              <a:ext cx="1008000" cy="3430006"/>
            </a:xfrm>
            <a:prstGeom prst="rect">
              <a:avLst/>
            </a:prstGeom>
            <a:solidFill>
              <a:schemeClr val="accent1"/>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17"/>
            <p:cNvSpPr/>
            <p:nvPr userDrawn="1"/>
          </p:nvSpPr>
          <p:spPr bwMode="gray">
            <a:xfrm>
              <a:off x="10179174" y="0"/>
              <a:ext cx="1008000" cy="3430006"/>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2" name="Rectangle 21"/>
            <p:cNvSpPr/>
            <p:nvPr userDrawn="1"/>
          </p:nvSpPr>
          <p:spPr bwMode="gray">
            <a:xfrm>
              <a:off x="9171173" y="0"/>
              <a:ext cx="1008000" cy="3430006"/>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
        <p:nvSpPr>
          <p:cNvPr id="13" name="Classification"/>
          <p:cNvSpPr txBox="1"/>
          <p:nvPr userDrawn="1"/>
        </p:nvSpPr>
        <p:spPr>
          <a:xfrm>
            <a:off x="288000" y="5769666"/>
            <a:ext cx="4204855" cy="138499"/>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dirty="0"/>
              <a:t>INTERNAL</a:t>
            </a:r>
          </a:p>
        </p:txBody>
      </p:sp>
      <p:sp>
        <p:nvSpPr>
          <p:cNvPr id="19" name="Speaker"/>
          <p:cNvSpPr>
            <a:spLocks noGrp="1"/>
          </p:cNvSpPr>
          <p:nvPr userDrawn="1">
            <p:ph type="subTitle" idx="1" hasCustomPrompt="1"/>
          </p:nvPr>
        </p:nvSpPr>
        <p:spPr bwMode="gray">
          <a:xfrm>
            <a:off x="288000" y="5130489"/>
            <a:ext cx="1090080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20" name="Presentation Title"/>
          <p:cNvSpPr>
            <a:spLocks noGrp="1"/>
          </p:cNvSpPr>
          <p:nvPr userDrawn="1">
            <p:ph type="body" sz="quarter" idx="14" hasCustomPrompt="1"/>
          </p:nvPr>
        </p:nvSpPr>
        <p:spPr>
          <a:xfrm>
            <a:off x="288000" y="4024430"/>
            <a:ext cx="10899174" cy="997196"/>
          </a:xfrm>
        </p:spPr>
        <p:txBody>
          <a:bodyPr wrap="square">
            <a:spAutoFit/>
          </a:bodyPr>
          <a:lstStyle>
            <a:lvl1pPr>
              <a:lnSpc>
                <a:spcPct val="90000"/>
              </a:lnSpc>
              <a:spcBef>
                <a:spcPts val="0"/>
              </a:spcBef>
              <a:defRPr sz="3600" b="1" baseline="0"/>
            </a:lvl1pPr>
          </a:lstStyle>
          <a:p>
            <a:pPr lvl="0"/>
            <a:r>
              <a:rPr lang="en-US" dirty="0"/>
              <a:t>Presentation Title </a:t>
            </a:r>
            <a:br>
              <a:rPr lang="en-US" dirty="0"/>
            </a:br>
            <a:r>
              <a:rPr lang="en-US" dirty="0"/>
              <a:t>Goes Here and Here.</a:t>
            </a:r>
          </a:p>
        </p:txBody>
      </p:sp>
    </p:spTree>
    <p:extLst>
      <p:ext uri="{BB962C8B-B14F-4D97-AF65-F5344CB8AC3E}">
        <p14:creationId xmlns:p14="http://schemas.microsoft.com/office/powerpoint/2010/main" val="2452717617"/>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Cover with illustration scene art">
    <p:spTree>
      <p:nvGrpSpPr>
        <p:cNvPr id="1" name=""/>
        <p:cNvGrpSpPr/>
        <p:nvPr/>
      </p:nvGrpSpPr>
      <p:grpSpPr>
        <a:xfrm>
          <a:off x="0" y="0"/>
          <a:ext cx="0" cy="0"/>
          <a:chOff x="0" y="0"/>
          <a:chExt cx="0" cy="0"/>
        </a:xfrm>
      </p:grpSpPr>
      <p:sp>
        <p:nvSpPr>
          <p:cNvPr id="5" name="Cover Image Placeholder"/>
          <p:cNvSpPr>
            <a:spLocks noGrp="1"/>
          </p:cNvSpPr>
          <p:nvPr>
            <p:ph type="pic" sz="quarter" idx="12" hasCustomPrompt="1"/>
          </p:nvPr>
        </p:nvSpPr>
        <p:spPr>
          <a:xfrm>
            <a:off x="1" y="0"/>
            <a:ext cx="12195175" cy="3430006"/>
          </a:xfrm>
          <a:noFill/>
        </p:spPr>
        <p:txBody>
          <a:bodyPr tIns="504000"/>
          <a:lstStyle>
            <a:lvl1pPr algn="ctr">
              <a:defRPr sz="1600">
                <a:solidFill>
                  <a:schemeClr val="tx1"/>
                </a:solidFill>
              </a:defRPr>
            </a:lvl1pPr>
          </a:lstStyle>
          <a:p>
            <a:r>
              <a:rPr lang="en-US" dirty="0"/>
              <a:t>Click to insert illustration scene art</a:t>
            </a:r>
          </a:p>
        </p:txBody>
      </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
        <p:nvSpPr>
          <p:cNvPr id="13" name="Classification"/>
          <p:cNvSpPr txBox="1"/>
          <p:nvPr userDrawn="1"/>
        </p:nvSpPr>
        <p:spPr>
          <a:xfrm>
            <a:off x="288000" y="5769666"/>
            <a:ext cx="4204855" cy="138499"/>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dirty="0"/>
              <a:t>INTERNAL</a:t>
            </a:r>
          </a:p>
        </p:txBody>
      </p:sp>
      <p:sp>
        <p:nvSpPr>
          <p:cNvPr id="19" name="Speaker"/>
          <p:cNvSpPr>
            <a:spLocks noGrp="1"/>
          </p:cNvSpPr>
          <p:nvPr userDrawn="1">
            <p:ph type="subTitle" idx="1" hasCustomPrompt="1"/>
          </p:nvPr>
        </p:nvSpPr>
        <p:spPr bwMode="gray">
          <a:xfrm>
            <a:off x="288000" y="5130489"/>
            <a:ext cx="1090080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20" name="Presentation Title"/>
          <p:cNvSpPr>
            <a:spLocks noGrp="1"/>
          </p:cNvSpPr>
          <p:nvPr userDrawn="1">
            <p:ph type="body" sz="quarter" idx="14" hasCustomPrompt="1"/>
          </p:nvPr>
        </p:nvSpPr>
        <p:spPr>
          <a:xfrm>
            <a:off x="288000" y="4024430"/>
            <a:ext cx="10899174" cy="997196"/>
          </a:xfrm>
        </p:spPr>
        <p:txBody>
          <a:bodyPr wrap="square">
            <a:spAutoFit/>
          </a:bodyPr>
          <a:lstStyle>
            <a:lvl1pPr>
              <a:lnSpc>
                <a:spcPct val="90000"/>
              </a:lnSpc>
              <a:spcBef>
                <a:spcPts val="0"/>
              </a:spcBef>
              <a:defRPr sz="3600" b="1" baseline="0"/>
            </a:lvl1pPr>
          </a:lstStyle>
          <a:p>
            <a:pPr lvl="0"/>
            <a:r>
              <a:rPr lang="en-US" dirty="0"/>
              <a:t>Presentation Title </a:t>
            </a:r>
            <a:br>
              <a:rPr lang="en-US" dirty="0"/>
            </a:br>
            <a:r>
              <a:rPr lang="en-US" dirty="0"/>
              <a:t>Goes Here and Here.</a:t>
            </a:r>
          </a:p>
        </p:txBody>
      </p:sp>
    </p:spTree>
    <p:extLst>
      <p:ext uri="{BB962C8B-B14F-4D97-AF65-F5344CB8AC3E}">
        <p14:creationId xmlns:p14="http://schemas.microsoft.com/office/powerpoint/2010/main" val="3018874800"/>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Cover black">
    <p:spTree>
      <p:nvGrpSpPr>
        <p:cNvPr id="1" name=""/>
        <p:cNvGrpSpPr/>
        <p:nvPr/>
      </p:nvGrpSpPr>
      <p:grpSpPr>
        <a:xfrm>
          <a:off x="0" y="0"/>
          <a:ext cx="0" cy="0"/>
          <a:chOff x="0" y="0"/>
          <a:chExt cx="0" cy="0"/>
        </a:xfrm>
      </p:grpSpPr>
      <p:sp>
        <p:nvSpPr>
          <p:cNvPr id="24" name="Classification"/>
          <p:cNvSpPr txBox="1"/>
          <p:nvPr userDrawn="1"/>
        </p:nvSpPr>
        <p:spPr>
          <a:xfrm>
            <a:off x="288000" y="5093865"/>
            <a:ext cx="4204855" cy="153852"/>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dirty="0"/>
              <a:t>INTERNAL</a:t>
            </a:r>
          </a:p>
        </p:txBody>
      </p:sp>
      <p:sp>
        <p:nvSpPr>
          <p:cNvPr id="6" name="Speaker"/>
          <p:cNvSpPr>
            <a:spLocks noGrp="1"/>
          </p:cNvSpPr>
          <p:nvPr userDrawn="1">
            <p:ph type="subTitle" idx="1" hasCustomPrompt="1"/>
          </p:nvPr>
        </p:nvSpPr>
        <p:spPr bwMode="gray">
          <a:xfrm>
            <a:off x="288000" y="4268503"/>
            <a:ext cx="8595171"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10" name="Presentation Title"/>
          <p:cNvSpPr>
            <a:spLocks noGrp="1"/>
          </p:cNvSpPr>
          <p:nvPr>
            <p:ph type="body" sz="quarter" idx="14" hasCustomPrompt="1"/>
          </p:nvPr>
        </p:nvSpPr>
        <p:spPr>
          <a:xfrm>
            <a:off x="288000" y="2706317"/>
            <a:ext cx="8595171" cy="997196"/>
          </a:xfrm>
        </p:spPr>
        <p:txBody>
          <a:bodyPr wrap="square">
            <a:noAutofit/>
          </a:bodyPr>
          <a:lstStyle>
            <a:lvl1pPr>
              <a:lnSpc>
                <a:spcPct val="90000"/>
              </a:lnSpc>
              <a:spcBef>
                <a:spcPts val="0"/>
              </a:spcBef>
              <a:defRPr sz="3600" b="1" baseline="0"/>
            </a:lvl1pPr>
          </a:lstStyle>
          <a:p>
            <a:pPr lvl="0"/>
            <a:r>
              <a:rPr lang="en-US" dirty="0"/>
              <a:t>Title Goes Here </a:t>
            </a:r>
            <a:br>
              <a:rPr lang="en-US" dirty="0"/>
            </a:br>
            <a:r>
              <a:rPr lang="en-US" dirty="0"/>
              <a:t>and Here and Here.</a:t>
            </a:r>
          </a:p>
        </p:txBody>
      </p:sp>
      <p:grpSp>
        <p:nvGrpSpPr>
          <p:cNvPr id="2" name="Group 1"/>
          <p:cNvGrpSpPr/>
          <p:nvPr userDrawn="1"/>
        </p:nvGrpSpPr>
        <p:grpSpPr>
          <a:xfrm>
            <a:off x="9171173" y="0"/>
            <a:ext cx="3024002" cy="6858000"/>
            <a:chOff x="9171173" y="0"/>
            <a:chExt cx="3024002" cy="6855990"/>
          </a:xfrm>
        </p:grpSpPr>
        <p:sp>
          <p:nvSpPr>
            <p:cNvPr id="17" name="Rectangle 16"/>
            <p:cNvSpPr/>
            <p:nvPr userDrawn="1"/>
          </p:nvSpPr>
          <p:spPr bwMode="gray">
            <a:xfrm>
              <a:off x="11187175" y="0"/>
              <a:ext cx="1008000" cy="6855990"/>
            </a:xfrm>
            <a:prstGeom prst="rect">
              <a:avLst/>
            </a:prstGeom>
            <a:solidFill>
              <a:schemeClr val="accent1"/>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17"/>
            <p:cNvSpPr/>
            <p:nvPr userDrawn="1"/>
          </p:nvSpPr>
          <p:spPr bwMode="gray">
            <a:xfrm>
              <a:off x="10179174" y="0"/>
              <a:ext cx="1008000" cy="685599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2" name="Rectangle 21"/>
            <p:cNvSpPr/>
            <p:nvPr userDrawn="1"/>
          </p:nvSpPr>
          <p:spPr bwMode="gray">
            <a:xfrm>
              <a:off x="9171173" y="0"/>
              <a:ext cx="1008000" cy="685599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Tree>
    <p:extLst>
      <p:ext uri="{BB962C8B-B14F-4D97-AF65-F5344CB8AC3E}">
        <p14:creationId xmlns:p14="http://schemas.microsoft.com/office/powerpoint/2010/main" val="1982410628"/>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Cover with pictogram">
    <p:spTree>
      <p:nvGrpSpPr>
        <p:cNvPr id="1" name=""/>
        <p:cNvGrpSpPr/>
        <p:nvPr/>
      </p:nvGrpSpPr>
      <p:grpSpPr>
        <a:xfrm>
          <a:off x="0" y="0"/>
          <a:ext cx="0" cy="0"/>
          <a:chOff x="0" y="0"/>
          <a:chExt cx="0" cy="0"/>
        </a:xfrm>
      </p:grpSpPr>
      <p:sp>
        <p:nvSpPr>
          <p:cNvPr id="24" name="Classification"/>
          <p:cNvSpPr txBox="1"/>
          <p:nvPr userDrawn="1"/>
        </p:nvSpPr>
        <p:spPr>
          <a:xfrm>
            <a:off x="288000" y="5093865"/>
            <a:ext cx="4204855" cy="153852"/>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dirty="0"/>
              <a:t>INTERNAL</a:t>
            </a:r>
          </a:p>
        </p:txBody>
      </p:sp>
      <p:sp>
        <p:nvSpPr>
          <p:cNvPr id="6" name="Speaker"/>
          <p:cNvSpPr>
            <a:spLocks noGrp="1"/>
          </p:cNvSpPr>
          <p:nvPr userDrawn="1">
            <p:ph type="subTitle" idx="1" hasCustomPrompt="1"/>
          </p:nvPr>
        </p:nvSpPr>
        <p:spPr bwMode="gray">
          <a:xfrm>
            <a:off x="288001" y="4268503"/>
            <a:ext cx="637343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10" name="Presentation Title"/>
          <p:cNvSpPr>
            <a:spLocks noGrp="1"/>
          </p:cNvSpPr>
          <p:nvPr>
            <p:ph type="body" sz="quarter" idx="14" hasCustomPrompt="1"/>
          </p:nvPr>
        </p:nvSpPr>
        <p:spPr>
          <a:xfrm>
            <a:off x="288001" y="2706317"/>
            <a:ext cx="6373430" cy="997196"/>
          </a:xfrm>
        </p:spPr>
        <p:txBody>
          <a:bodyPr wrap="square">
            <a:noAutofit/>
          </a:bodyPr>
          <a:lstStyle>
            <a:lvl1pPr>
              <a:lnSpc>
                <a:spcPct val="90000"/>
              </a:lnSpc>
              <a:spcBef>
                <a:spcPts val="0"/>
              </a:spcBef>
              <a:defRPr sz="3600" b="1" baseline="0"/>
            </a:lvl1pPr>
          </a:lstStyle>
          <a:p>
            <a:pPr lvl="0"/>
            <a:r>
              <a:rPr lang="en-US" dirty="0"/>
              <a:t>Title Goes Here </a:t>
            </a:r>
            <a:br>
              <a:rPr lang="en-US" dirty="0"/>
            </a:br>
            <a:r>
              <a:rPr lang="en-US" dirty="0"/>
              <a:t>and Here and Here.</a:t>
            </a:r>
          </a:p>
        </p:txBody>
      </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
        <p:nvSpPr>
          <p:cNvPr id="7" name="Picture Placeholder 6"/>
          <p:cNvSpPr>
            <a:spLocks noGrp="1"/>
          </p:cNvSpPr>
          <p:nvPr>
            <p:ph type="pic" sz="quarter" idx="16"/>
          </p:nvPr>
        </p:nvSpPr>
        <p:spPr>
          <a:xfrm>
            <a:off x="6954855" y="963000"/>
            <a:ext cx="4932000" cy="4932000"/>
          </a:xfrm>
        </p:spPr>
        <p:txBody>
          <a:bodyPr/>
          <a:lstStyle/>
          <a:p>
            <a:endParaRPr lang="en-US" dirty="0"/>
          </a:p>
        </p:txBody>
      </p:sp>
    </p:spTree>
    <p:extLst>
      <p:ext uri="{BB962C8B-B14F-4D97-AF65-F5344CB8AC3E}">
        <p14:creationId xmlns:p14="http://schemas.microsoft.com/office/powerpoint/2010/main" val="3048046299"/>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4" name="Agenda items placeholder"/>
          <p:cNvSpPr>
            <a:spLocks noGrp="1"/>
          </p:cNvSpPr>
          <p:nvPr>
            <p:ph type="body" sz="quarter" idx="10" hasCustomPrompt="1"/>
          </p:nvPr>
        </p:nvSpPr>
        <p:spPr>
          <a:xfrm>
            <a:off x="504000" y="1620000"/>
            <a:ext cx="11185200" cy="4230000"/>
          </a:xfrm>
        </p:spPr>
        <p:txBody>
          <a:bodyPr>
            <a:noAutofit/>
          </a:bodyPr>
          <a:lstStyle>
            <a:lvl1pPr marL="0" marR="0" indent="0" algn="l" defTabSz="1088558" rtl="0" eaLnBrk="1" fontAlgn="auto" latinLnBrk="0" hangingPunct="1">
              <a:lnSpc>
                <a:spcPct val="100000"/>
              </a:lnSpc>
              <a:spcBef>
                <a:spcPts val="3000"/>
              </a:spcBef>
              <a:spcAft>
                <a:spcPts val="0"/>
              </a:spcAft>
              <a:buClr>
                <a:schemeClr val="accent1"/>
              </a:buClr>
              <a:buSzPct val="80000"/>
              <a:buFontTx/>
              <a:buNone/>
              <a:tabLst/>
              <a:defRPr sz="2000" b="0"/>
            </a:lvl1pPr>
            <a:lvl2pPr marL="179964" marR="0" indent="-179964" algn="l" defTabSz="1088558" rtl="0" eaLnBrk="1" fontAlgn="auto" latinLnBrk="0" hangingPunct="1">
              <a:lnSpc>
                <a:spcPct val="100000"/>
              </a:lnSpc>
              <a:spcBef>
                <a:spcPts val="600"/>
              </a:spcBef>
              <a:spcAft>
                <a:spcPts val="0"/>
              </a:spcAft>
              <a:buClr>
                <a:schemeClr val="accent1"/>
              </a:buClr>
              <a:buSzPct val="100000"/>
              <a:buFont typeface="Wingdings" panose="05000000000000000000" pitchFamily="2" charset="2"/>
              <a:buChar char="§"/>
              <a:tabLst/>
              <a:defRPr sz="1800"/>
            </a:lvl2pPr>
            <a:lvl3pPr marL="359928" marR="0" indent="-179352" algn="l" defTabSz="1088558" rtl="0" eaLnBrk="1" fontAlgn="auto" latinLnBrk="0" hangingPunct="1">
              <a:lnSpc>
                <a:spcPct val="100000"/>
              </a:lnSpc>
              <a:spcBef>
                <a:spcPts val="400"/>
              </a:spcBef>
              <a:spcAft>
                <a:spcPts val="0"/>
              </a:spcAft>
              <a:buClr>
                <a:schemeClr val="tx1"/>
              </a:buClr>
              <a:buSzPct val="100000"/>
              <a:buFont typeface="Arial" pitchFamily="34" charset="0"/>
              <a:buChar char="–"/>
              <a:tabLst/>
              <a:defRPr sz="1800" baseline="0"/>
            </a:lvl3pPr>
            <a:lvl4pPr marL="539892" marR="0" indent="-179964" algn="l" defTabSz="1088558" rtl="0" eaLnBrk="1" fontAlgn="auto" latinLnBrk="0" hangingPunct="1">
              <a:lnSpc>
                <a:spcPct val="100000"/>
              </a:lnSpc>
              <a:spcBef>
                <a:spcPts val="250"/>
              </a:spcBef>
              <a:spcAft>
                <a:spcPts val="0"/>
              </a:spcAft>
              <a:buClr>
                <a:schemeClr val="tx1"/>
              </a:buClr>
              <a:buSzPct val="100000"/>
              <a:buFont typeface="Courier New" pitchFamily="49" charset="0"/>
              <a:buChar char="o"/>
              <a:tabLst/>
              <a:defRPr sz="1600"/>
            </a:lvl4pPr>
            <a:lvl5pPr>
              <a:buClr>
                <a:schemeClr val="accent2"/>
              </a:buClr>
              <a:buFont typeface="Arial" pitchFamily="34" charset="0"/>
              <a:buChar char="–"/>
              <a:defRPr/>
            </a:lvl5pPr>
          </a:lstStyle>
          <a:p>
            <a:pPr lvl="0"/>
            <a:r>
              <a:rPr lang="en-US" dirty="0"/>
              <a:t>Agenda Item/Divider Headline</a:t>
            </a:r>
          </a:p>
          <a:p>
            <a:pPr lvl="1"/>
            <a:r>
              <a:rPr lang="en-US" dirty="0"/>
              <a:t>Details</a:t>
            </a:r>
          </a:p>
        </p:txBody>
      </p:sp>
      <p:sp>
        <p:nvSpPr>
          <p:cNvPr id="3" name="Agenda title"/>
          <p:cNvSpPr>
            <a:spLocks noGrp="1"/>
          </p:cNvSpPr>
          <p:nvPr>
            <p:ph type="title" hasCustomPrompt="1"/>
          </p:nvPr>
        </p:nvSpPr>
        <p:spPr/>
        <p:txBody>
          <a:bodyPr/>
          <a:lstStyle>
            <a:lvl1pPr>
              <a:defRPr/>
            </a:lvl1pPr>
          </a:lstStyle>
          <a:p>
            <a:r>
              <a:rPr lang="en-US" dirty="0"/>
              <a:t>Agenda</a:t>
            </a:r>
          </a:p>
        </p:txBody>
      </p:sp>
    </p:spTree>
    <p:extLst>
      <p:ext uri="{BB962C8B-B14F-4D97-AF65-F5344CB8AC3E}">
        <p14:creationId xmlns:p14="http://schemas.microsoft.com/office/powerpoint/2010/main" val="185936061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Divider Page">
    <p:spTree>
      <p:nvGrpSpPr>
        <p:cNvPr id="1" name=""/>
        <p:cNvGrpSpPr/>
        <p:nvPr/>
      </p:nvGrpSpPr>
      <p:grpSpPr>
        <a:xfrm>
          <a:off x="0" y="0"/>
          <a:ext cx="0" cy="0"/>
          <a:chOff x="0" y="0"/>
          <a:chExt cx="0" cy="0"/>
        </a:xfrm>
      </p:grpSpPr>
      <p:sp>
        <p:nvSpPr>
          <p:cNvPr id="2" name="Divider text"/>
          <p:cNvSpPr>
            <a:spLocks noGrp="1"/>
          </p:cNvSpPr>
          <p:nvPr>
            <p:ph type="ctrTitle" hasCustomPrompt="1"/>
          </p:nvPr>
        </p:nvSpPr>
        <p:spPr bwMode="gray">
          <a:xfrm>
            <a:off x="504000" y="3090446"/>
            <a:ext cx="11185200" cy="677108"/>
          </a:xfrm>
        </p:spPr>
        <p:txBody>
          <a:bodyPr anchor="ctr" anchorCtr="0">
            <a:noAutofit/>
          </a:bodyPr>
          <a:lstStyle>
            <a:lvl1pPr>
              <a:defRPr sz="4400">
                <a:solidFill>
                  <a:schemeClr val="tx1"/>
                </a:solidFill>
                <a:latin typeface="+mj-lt"/>
              </a:defRPr>
            </a:lvl1pPr>
          </a:lstStyle>
          <a:p>
            <a:r>
              <a:rPr lang="en-US" dirty="0"/>
              <a:t>Divider page</a:t>
            </a:r>
          </a:p>
        </p:txBody>
      </p:sp>
    </p:spTree>
    <p:extLst>
      <p:ext uri="{BB962C8B-B14F-4D97-AF65-F5344CB8AC3E}">
        <p14:creationId xmlns:p14="http://schemas.microsoft.com/office/powerpoint/2010/main" val="4109527874"/>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Divider Page with image">
    <p:spTree>
      <p:nvGrpSpPr>
        <p:cNvPr id="1" name=""/>
        <p:cNvGrpSpPr/>
        <p:nvPr/>
      </p:nvGrpSpPr>
      <p:grpSpPr>
        <a:xfrm>
          <a:off x="0" y="0"/>
          <a:ext cx="0" cy="0"/>
          <a:chOff x="0" y="0"/>
          <a:chExt cx="0" cy="0"/>
        </a:xfrm>
      </p:grpSpPr>
      <p:sp>
        <p:nvSpPr>
          <p:cNvPr id="4" name="Divider image placeholder"/>
          <p:cNvSpPr>
            <a:spLocks noGrp="1"/>
          </p:cNvSpPr>
          <p:nvPr>
            <p:ph type="pic" sz="quarter" idx="12" hasCustomPrompt="1"/>
          </p:nvPr>
        </p:nvSpPr>
        <p:spPr>
          <a:xfrm>
            <a:off x="1" y="3427200"/>
            <a:ext cx="12195175" cy="3430800"/>
          </a:xfrm>
          <a:noFill/>
        </p:spPr>
        <p:txBody>
          <a:bodyPr tIns="324000"/>
          <a:lstStyle>
            <a:lvl1pPr marL="0" marR="0" indent="0" algn="ctr" defTabSz="1088558" rtl="0" eaLnBrk="1" fontAlgn="auto" latinLnBrk="0" hangingPunct="1">
              <a:lnSpc>
                <a:spcPct val="100000"/>
              </a:lnSpc>
              <a:spcBef>
                <a:spcPts val="1200"/>
              </a:spcBef>
              <a:spcAft>
                <a:spcPts val="0"/>
              </a:spcAft>
              <a:buClr>
                <a:schemeClr val="accent1"/>
              </a:buClr>
              <a:buSzPct val="80000"/>
              <a:buFontTx/>
              <a:buNone/>
              <a:tabLst/>
              <a:defRPr sz="1600">
                <a:solidFill>
                  <a:schemeClr val="tx1"/>
                </a:solidFill>
              </a:defRPr>
            </a:lvl1pPr>
          </a:lstStyle>
          <a:p>
            <a:pPr marL="0" marR="0" lvl="0" indent="0" algn="ctr" defTabSz="1088558" rtl="0" eaLnBrk="1" fontAlgn="auto" latinLnBrk="0" hangingPunct="1">
              <a:lnSpc>
                <a:spcPct val="100000"/>
              </a:lnSpc>
              <a:spcBef>
                <a:spcPts val="1200"/>
              </a:spcBef>
              <a:spcAft>
                <a:spcPts val="0"/>
              </a:spcAft>
              <a:buClr>
                <a:schemeClr val="accent1"/>
              </a:buClr>
              <a:buSzPct val="80000"/>
              <a:buFontTx/>
              <a:buNone/>
              <a:tabLst/>
              <a:defRPr/>
            </a:pPr>
            <a:r>
              <a:rPr lang="en-US" dirty="0"/>
              <a:t>Placeholder for image and illustration scene art</a:t>
            </a:r>
          </a:p>
        </p:txBody>
      </p:sp>
      <p:sp>
        <p:nvSpPr>
          <p:cNvPr id="2" name="Divider text"/>
          <p:cNvSpPr>
            <a:spLocks noGrp="1"/>
          </p:cNvSpPr>
          <p:nvPr>
            <p:ph type="ctrTitle" hasCustomPrompt="1"/>
          </p:nvPr>
        </p:nvSpPr>
        <p:spPr bwMode="gray">
          <a:xfrm>
            <a:off x="504000" y="1375046"/>
            <a:ext cx="11185200" cy="677108"/>
          </a:xfrm>
        </p:spPr>
        <p:txBody>
          <a:bodyPr anchor="t" anchorCtr="0">
            <a:noAutofit/>
          </a:bodyPr>
          <a:lstStyle>
            <a:lvl1pPr>
              <a:defRPr sz="4400">
                <a:solidFill>
                  <a:schemeClr val="tx1"/>
                </a:solidFill>
                <a:latin typeface="+mj-lt"/>
              </a:defRPr>
            </a:lvl1pPr>
          </a:lstStyle>
          <a:p>
            <a:r>
              <a:rPr lang="en-US" dirty="0"/>
              <a:t>Divider page</a:t>
            </a:r>
          </a:p>
        </p:txBody>
      </p:sp>
    </p:spTree>
    <p:extLst>
      <p:ext uri="{BB962C8B-B14F-4D97-AF65-F5344CB8AC3E}">
        <p14:creationId xmlns:p14="http://schemas.microsoft.com/office/powerpoint/2010/main" val="1008985274"/>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3" name="Title 2"/>
          <p:cNvSpPr>
            <a:spLocks noGrp="1"/>
          </p:cNvSpPr>
          <p:nvPr>
            <p:ph type="title" hasCustomPrompt="1"/>
          </p:nvPr>
        </p:nvSpPr>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4667436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and text">
    <p:spTree>
      <p:nvGrpSpPr>
        <p:cNvPr id="1" name=""/>
        <p:cNvGrpSpPr/>
        <p:nvPr/>
      </p:nvGrpSpPr>
      <p:grpSpPr>
        <a:xfrm>
          <a:off x="0" y="0"/>
          <a:ext cx="0" cy="0"/>
          <a:chOff x="0" y="0"/>
          <a:chExt cx="0" cy="0"/>
        </a:xfrm>
      </p:grpSpPr>
      <p:sp>
        <p:nvSpPr>
          <p:cNvPr id="4" name="Text placeholder - column 2"/>
          <p:cNvSpPr>
            <a:spLocks noGrp="1"/>
          </p:cNvSpPr>
          <p:nvPr>
            <p:ph type="body" sz="quarter" idx="10" hasCustomPrompt="1"/>
          </p:nvPr>
        </p:nvSpPr>
        <p:spPr>
          <a:xfrm>
            <a:off x="503999" y="1620000"/>
            <a:ext cx="11186477"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1293322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text: 2 columns">
    <p:spTree>
      <p:nvGrpSpPr>
        <p:cNvPr id="1" name=""/>
        <p:cNvGrpSpPr/>
        <p:nvPr/>
      </p:nvGrpSpPr>
      <p:grpSpPr>
        <a:xfrm>
          <a:off x="0" y="0"/>
          <a:ext cx="0" cy="0"/>
          <a:chOff x="0" y="0"/>
          <a:chExt cx="0" cy="0"/>
        </a:xfrm>
      </p:grpSpPr>
      <p:sp>
        <p:nvSpPr>
          <p:cNvPr id="4" name="Text placeholder - column 2"/>
          <p:cNvSpPr>
            <a:spLocks noGrp="1"/>
          </p:cNvSpPr>
          <p:nvPr>
            <p:ph type="body" sz="quarter" idx="10" hasCustomPrompt="1"/>
          </p:nvPr>
        </p:nvSpPr>
        <p:spPr>
          <a:xfrm>
            <a:off x="504000"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 column 1"/>
          <p:cNvSpPr>
            <a:spLocks noGrp="1"/>
          </p:cNvSpPr>
          <p:nvPr>
            <p:ph type="body" sz="quarter" idx="11" hasCustomPrompt="1"/>
          </p:nvPr>
        </p:nvSpPr>
        <p:spPr>
          <a:xfrm>
            <a:off x="6362477"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630481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text: 3 columns">
    <p:spTree>
      <p:nvGrpSpPr>
        <p:cNvPr id="1" name=""/>
        <p:cNvGrpSpPr/>
        <p:nvPr/>
      </p:nvGrpSpPr>
      <p:grpSpPr>
        <a:xfrm>
          <a:off x="0" y="0"/>
          <a:ext cx="0" cy="0"/>
          <a:chOff x="0" y="0"/>
          <a:chExt cx="0" cy="0"/>
        </a:xfrm>
      </p:grpSpPr>
      <p:sp>
        <p:nvSpPr>
          <p:cNvPr id="7" name="Text Placeholder - column 3"/>
          <p:cNvSpPr>
            <a:spLocks noGrp="1"/>
          </p:cNvSpPr>
          <p:nvPr>
            <p:ph type="body" sz="quarter" idx="13" hasCustomPrompt="1"/>
          </p:nvPr>
        </p:nvSpPr>
        <p:spPr>
          <a:xfrm>
            <a:off x="8126477"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ext Placeholder - column 2"/>
          <p:cNvSpPr>
            <a:spLocks noGrp="1"/>
          </p:cNvSpPr>
          <p:nvPr>
            <p:ph type="body" sz="quarter" idx="12" hasCustomPrompt="1"/>
          </p:nvPr>
        </p:nvSpPr>
        <p:spPr>
          <a:xfrm>
            <a:off x="4315238"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 column 1"/>
          <p:cNvSpPr>
            <a:spLocks noGrp="1"/>
          </p:cNvSpPr>
          <p:nvPr>
            <p:ph type="body" sz="quarter" idx="10" hasCustomPrompt="1"/>
          </p:nvPr>
        </p:nvSpPr>
        <p:spPr>
          <a:xfrm>
            <a:off x="504000"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86641637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2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4770000"/>
            <a:ext cx="5328000" cy="108000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5328000" cy="2631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17" name="Text placeholder - column 2"/>
          <p:cNvSpPr>
            <a:spLocks noGrp="1"/>
          </p:cNvSpPr>
          <p:nvPr>
            <p:ph type="body" sz="quarter" idx="13" hasCustomPrompt="1"/>
          </p:nvPr>
        </p:nvSpPr>
        <p:spPr>
          <a:xfrm>
            <a:off x="6362477" y="4770000"/>
            <a:ext cx="5328000" cy="108000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6362477" y="1620000"/>
            <a:ext cx="5328000" cy="2631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250494129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3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17" name="Text placeholder - column 2"/>
          <p:cNvSpPr>
            <a:spLocks noGrp="1"/>
          </p:cNvSpPr>
          <p:nvPr>
            <p:ph type="body" sz="quarter" idx="13" hasCustomPrompt="1"/>
          </p:nvPr>
        </p:nvSpPr>
        <p:spPr>
          <a:xfrm>
            <a:off x="8299277"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8299277"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9" name="Text placeholder - column 2"/>
          <p:cNvSpPr>
            <a:spLocks noGrp="1"/>
          </p:cNvSpPr>
          <p:nvPr>
            <p:ph type="body" sz="quarter" idx="15" hasCustomPrompt="1"/>
          </p:nvPr>
        </p:nvSpPr>
        <p:spPr>
          <a:xfrm>
            <a:off x="4401639"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0" name="Picture Placeholder 4"/>
          <p:cNvSpPr>
            <a:spLocks noGrp="1"/>
          </p:cNvSpPr>
          <p:nvPr>
            <p:ph type="pic" sz="quarter" idx="16" hasCustomPrompt="1"/>
          </p:nvPr>
        </p:nvSpPr>
        <p:spPr bwMode="gray">
          <a:xfrm>
            <a:off x="4401639"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72766759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4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3878220"/>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17" name="Text placeholder - column 2"/>
          <p:cNvSpPr>
            <a:spLocks noGrp="1"/>
          </p:cNvSpPr>
          <p:nvPr>
            <p:ph type="body" sz="quarter" idx="13" hasCustomPrompt="1"/>
          </p:nvPr>
        </p:nvSpPr>
        <p:spPr>
          <a:xfrm>
            <a:off x="9274877"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9274877"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9" name="Text placeholder - column 2"/>
          <p:cNvSpPr>
            <a:spLocks noGrp="1"/>
          </p:cNvSpPr>
          <p:nvPr>
            <p:ph type="body" sz="quarter" idx="15" hasCustomPrompt="1"/>
          </p:nvPr>
        </p:nvSpPr>
        <p:spPr>
          <a:xfrm>
            <a:off x="3427626"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0" name="Picture Placeholder 4"/>
          <p:cNvSpPr>
            <a:spLocks noGrp="1"/>
          </p:cNvSpPr>
          <p:nvPr>
            <p:ph type="pic" sz="quarter" idx="16" hasCustomPrompt="1"/>
          </p:nvPr>
        </p:nvSpPr>
        <p:spPr bwMode="gray">
          <a:xfrm>
            <a:off x="3427626"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13" name="Text placeholder - column 2"/>
          <p:cNvSpPr>
            <a:spLocks noGrp="1"/>
          </p:cNvSpPr>
          <p:nvPr>
            <p:ph type="body" sz="quarter" idx="17" hasCustomPrompt="1"/>
          </p:nvPr>
        </p:nvSpPr>
        <p:spPr>
          <a:xfrm>
            <a:off x="6351252"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4" name="Picture Placeholder 4"/>
          <p:cNvSpPr>
            <a:spLocks noGrp="1"/>
          </p:cNvSpPr>
          <p:nvPr>
            <p:ph type="pic" sz="quarter" idx="18" hasCustomPrompt="1"/>
          </p:nvPr>
        </p:nvSpPr>
        <p:spPr bwMode="gray">
          <a:xfrm>
            <a:off x="6351252"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268059447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sp>
        <p:nvSpPr>
          <p:cNvPr id="5" name="Quote placeholder"/>
          <p:cNvSpPr>
            <a:spLocks noGrp="1"/>
          </p:cNvSpPr>
          <p:nvPr>
            <p:ph type="body" sz="quarter" idx="10" hasCustomPrompt="1"/>
          </p:nvPr>
        </p:nvSpPr>
        <p:spPr>
          <a:xfrm>
            <a:off x="504000" y="1800000"/>
            <a:ext cx="11185200" cy="3285032"/>
          </a:xfrm>
        </p:spPr>
        <p:txBody>
          <a:bodyPr/>
          <a:lstStyle>
            <a:lvl1pPr marL="395921" indent="-395921">
              <a:lnSpc>
                <a:spcPct val="90000"/>
              </a:lnSpc>
              <a:spcBef>
                <a:spcPts val="600"/>
              </a:spcBef>
              <a:defRPr sz="5999" b="1"/>
            </a:lvl1pPr>
            <a:lvl2pPr marL="395921" indent="0">
              <a:buNone/>
              <a:defRPr sz="1200"/>
            </a:lvl2pPr>
          </a:lstStyle>
          <a:p>
            <a:pPr lvl="0"/>
            <a:r>
              <a:rPr lang="en-US" noProof="0" dirty="0"/>
              <a:t>“Quote goes here </a:t>
            </a:r>
            <a:br>
              <a:rPr lang="en-US" noProof="0" dirty="0"/>
            </a:br>
            <a:r>
              <a:rPr lang="en-US" noProof="0" dirty="0"/>
              <a:t>and here.”</a:t>
            </a:r>
          </a:p>
          <a:p>
            <a:pPr lvl="1"/>
            <a:r>
              <a:rPr lang="en-US" noProof="0" dirty="0"/>
              <a:t>Source</a:t>
            </a:r>
          </a:p>
        </p:txBody>
      </p:sp>
      <p:sp>
        <p:nvSpPr>
          <p:cNvPr id="2" name="Title 1"/>
          <p:cNvSpPr>
            <a:spLocks noGrp="1"/>
          </p:cNvSpPr>
          <p:nvPr>
            <p:ph type="title" hasCustomPrompt="1"/>
          </p:nvPr>
        </p:nvSpPr>
        <p:spPr/>
        <p:txBody>
          <a:bodyPr/>
          <a:lstStyle/>
          <a:p>
            <a:r>
              <a:rPr lang="en-US" noProof="0" dirty="0"/>
              <a:t>Insert page title (sentence case)</a:t>
            </a:r>
            <a:endParaRPr lang="en-US" dirty="0"/>
          </a:p>
        </p:txBody>
      </p:sp>
      <p:grpSp>
        <p:nvGrpSpPr>
          <p:cNvPr id="3" name="Group 2"/>
          <p:cNvGrpSpPr/>
          <p:nvPr userDrawn="1"/>
        </p:nvGrpSpPr>
        <p:grpSpPr>
          <a:xfrm>
            <a:off x="0" y="0"/>
            <a:ext cx="12195175" cy="251942"/>
            <a:chOff x="0" y="0"/>
            <a:chExt cx="12195175" cy="251942"/>
          </a:xfrm>
        </p:grpSpPr>
        <p:sp>
          <p:nvSpPr>
            <p:cNvPr id="9" name="Rectangle 8"/>
            <p:cNvSpPr/>
            <p:nvPr userDrawn="1"/>
          </p:nvSpPr>
          <p:spPr bwMode="gray">
            <a:xfrm>
              <a:off x="0" y="0"/>
              <a:ext cx="12195175" cy="251942"/>
            </a:xfrm>
            <a:prstGeom prst="rect">
              <a:avLst/>
            </a:prstGeom>
            <a:solidFill>
              <a:schemeClr val="bg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nvGrpSpPr>
            <p:cNvPr id="4" name="Secondary Motion Band"/>
            <p:cNvGrpSpPr/>
            <p:nvPr userDrawn="1"/>
          </p:nvGrpSpPr>
          <p:grpSpPr>
            <a:xfrm>
              <a:off x="10682127" y="0"/>
              <a:ext cx="1513048" cy="251942"/>
              <a:chOff x="10682127" y="0"/>
              <a:chExt cx="1513048" cy="252000"/>
            </a:xfrm>
          </p:grpSpPr>
          <p:sp>
            <p:nvSpPr>
              <p:cNvPr id="6" name="Rectangle 5"/>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7" name="Rectangle 6"/>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 name="Rectangle 7"/>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grpSp>
    </p:spTree>
    <p:extLst>
      <p:ext uri="{BB962C8B-B14F-4D97-AF65-F5344CB8AC3E}">
        <p14:creationId xmlns:p14="http://schemas.microsoft.com/office/powerpoint/2010/main" val="93278590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and text with image 1">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8127175" y="252000"/>
            <a:ext cx="4068000"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7" name="Text Placeholder 6"/>
          <p:cNvSpPr>
            <a:spLocks noGrp="1"/>
          </p:cNvSpPr>
          <p:nvPr>
            <p:ph type="body" sz="quarter" idx="11" hasCustomPrompt="1"/>
          </p:nvPr>
        </p:nvSpPr>
        <p:spPr bwMode="gray">
          <a:xfrm>
            <a:off x="503999" y="1620000"/>
            <a:ext cx="7092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7092000"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342502026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and text with image 2">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6111175" y="252000"/>
            <a:ext cx="6084000"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7" name="Text Placeholder 6"/>
          <p:cNvSpPr>
            <a:spLocks noGrp="1"/>
          </p:cNvSpPr>
          <p:nvPr>
            <p:ph type="body" sz="quarter" idx="11" hasCustomPrompt="1"/>
          </p:nvPr>
        </p:nvSpPr>
        <p:spPr bwMode="gray">
          <a:xfrm>
            <a:off x="503999" y="1620000"/>
            <a:ext cx="5112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hasCustomPrompt="1"/>
          </p:nvPr>
        </p:nvSpPr>
        <p:spPr>
          <a:xfrm>
            <a:off x="504001" y="504000"/>
            <a:ext cx="5112000"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55278771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Image with motion band">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1" y="252000"/>
            <a:ext cx="12195175"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190104987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Full bleed image ">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1" y="0"/>
            <a:ext cx="12195175" cy="6858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413979114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xt and screenshot">
    <p:spTree>
      <p:nvGrpSpPr>
        <p:cNvPr id="1" name=""/>
        <p:cNvGrpSpPr/>
        <p:nvPr/>
      </p:nvGrpSpPr>
      <p:grpSpPr>
        <a:xfrm>
          <a:off x="0" y="0"/>
          <a:ext cx="0" cy="0"/>
          <a:chOff x="0" y="0"/>
          <a:chExt cx="0" cy="0"/>
        </a:xfrm>
      </p:grpSpPr>
      <p:sp>
        <p:nvSpPr>
          <p:cNvPr id="5" name="Picture Placeholder 4"/>
          <p:cNvSpPr>
            <a:spLocks noGrp="1"/>
          </p:cNvSpPr>
          <p:nvPr>
            <p:ph type="pic" sz="quarter" idx="13" hasCustomPrompt="1"/>
          </p:nvPr>
        </p:nvSpPr>
        <p:spPr bwMode="gray">
          <a:xfrm>
            <a:off x="6362477" y="1601628"/>
            <a:ext cx="5328000" cy="4230000"/>
          </a:xfrm>
          <a:solidFill>
            <a:schemeClr val="tx2">
              <a:alpha val="70000"/>
            </a:schemeClr>
          </a:solidFill>
        </p:spPr>
        <p:txBody>
          <a:bodyPr vert="horz" lIns="0" tIns="1512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screenshot</a:t>
            </a:r>
          </a:p>
        </p:txBody>
      </p:sp>
      <p:sp>
        <p:nvSpPr>
          <p:cNvPr id="4" name="Text Placeholder 3"/>
          <p:cNvSpPr>
            <a:spLocks noGrp="1"/>
          </p:cNvSpPr>
          <p:nvPr>
            <p:ph type="body" sz="quarter" idx="10" hasCustomPrompt="1"/>
          </p:nvPr>
        </p:nvSpPr>
        <p:spPr>
          <a:xfrm>
            <a:off x="504000"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1287227243"/>
      </p:ext>
    </p:extLst>
  </p:cSld>
  <p:clrMapOvr>
    <a:masterClrMapping/>
  </p:clrMapOvr>
  <p:extLst>
    <p:ext uri="{DCECCB84-F9BA-43D5-87BE-67443E8EF086}">
      <p15:sldGuideLst xmlns:p15="http://schemas.microsoft.com/office/powerpoint/2012/main"/>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Content Placeholder 2"/>
          <p:cNvSpPr>
            <a:spLocks noGrp="1"/>
          </p:cNvSpPr>
          <p:nvPr>
            <p:ph idx="1" hasCustomPrompt="1"/>
          </p:nvPr>
        </p:nvSpPr>
        <p:spPr>
          <a:xfrm>
            <a:off x="504000" y="1620000"/>
            <a:ext cx="11185200" cy="4230000"/>
          </a:xfrm>
          <a:solidFill>
            <a:schemeClr val="tx2">
              <a:alpha val="70000"/>
            </a:schemeClr>
          </a:solidFill>
        </p:spPr>
        <p:txBody>
          <a:bodyPr tIns="1368000"/>
          <a:lstStyle>
            <a:lvl1pPr algn="ctr">
              <a:defRPr sz="1400" b="0"/>
            </a:lvl1pPr>
          </a:lstStyle>
          <a:p>
            <a:pPr lvl="0"/>
            <a:r>
              <a:rPr lang="en-US" dirty="0"/>
              <a:t>Click to add content</a:t>
            </a:r>
          </a:p>
        </p:txBody>
      </p:sp>
      <p:sp>
        <p:nvSpPr>
          <p:cNvPr id="2" name="Title 1"/>
          <p:cNvSpPr>
            <a:spLocks noGrp="1"/>
          </p:cNvSpPr>
          <p:nvPr>
            <p:ph type="title" hasCustomPrompt="1"/>
          </p:nvPr>
        </p:nvSpPr>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418609874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Blank with motion band">
    <p:spTree>
      <p:nvGrpSpPr>
        <p:cNvPr id="1" name=""/>
        <p:cNvGrpSpPr/>
        <p:nvPr/>
      </p:nvGrpSpPr>
      <p:grpSpPr>
        <a:xfrm>
          <a:off x="0" y="0"/>
          <a:ext cx="0" cy="0"/>
          <a:chOff x="0" y="0"/>
          <a:chExt cx="0" cy="0"/>
        </a:xfrm>
      </p:grpSpPr>
      <p:sp>
        <p:nvSpPr>
          <p:cNvPr id="7" name="Rectangle 6"/>
          <p:cNvSpPr/>
          <p:nvPr userDrawn="1"/>
        </p:nvSpPr>
        <p:spPr bwMode="gray">
          <a:xfrm>
            <a:off x="236220" y="1142735"/>
            <a:ext cx="11795760" cy="220929"/>
          </a:xfrm>
          <a:prstGeom prst="rect">
            <a:avLst/>
          </a:prstGeom>
          <a:solidFill>
            <a:schemeClr val="bg1"/>
          </a:solidFill>
          <a:ln w="6350" algn="ctr">
            <a:noFill/>
            <a:miter lim="800000"/>
            <a:headEnd/>
            <a:tailEnd/>
          </a:ln>
        </p:spPr>
        <p:txBody>
          <a:bodyPr lIns="89979" tIns="71983" rIns="89979" bIns="71983"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337924837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21819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p:cSld name="Thank you and contact information">
    <p:spTree>
      <p:nvGrpSpPr>
        <p:cNvPr id="1" name=""/>
        <p:cNvGrpSpPr/>
        <p:nvPr/>
      </p:nvGrpSpPr>
      <p:grpSpPr>
        <a:xfrm>
          <a:off x="0" y="0"/>
          <a:ext cx="0" cy="0"/>
          <a:chOff x="0" y="0"/>
          <a:chExt cx="0" cy="0"/>
        </a:xfrm>
      </p:grpSpPr>
      <p:sp>
        <p:nvSpPr>
          <p:cNvPr id="93" name="Contact information"/>
          <p:cNvSpPr>
            <a:spLocks noGrp="1"/>
          </p:cNvSpPr>
          <p:nvPr>
            <p:ph type="body" sz="quarter" idx="10" hasCustomPrompt="1"/>
          </p:nvPr>
        </p:nvSpPr>
        <p:spPr>
          <a:xfrm>
            <a:off x="504000" y="2905487"/>
            <a:ext cx="5328000" cy="2501010"/>
          </a:xfrm>
        </p:spPr>
        <p:txBody>
          <a:bodyPr anchor="t" anchorCtr="0">
            <a:noAutofit/>
          </a:bodyPr>
          <a:lstStyle>
            <a:lvl1pPr>
              <a:spcBef>
                <a:spcPts val="0"/>
              </a:spcBef>
              <a:spcAft>
                <a:spcPts val="1200"/>
              </a:spcAft>
              <a:defRPr sz="1600" b="0"/>
            </a:lvl1pPr>
            <a:lvl2pPr marL="0" indent="0">
              <a:spcBef>
                <a:spcPts val="0"/>
              </a:spcBef>
              <a:buNone/>
              <a:defRPr sz="1600" b="0"/>
            </a:lvl2pPr>
          </a:lstStyle>
          <a:p>
            <a:r>
              <a:rPr lang="en-US" dirty="0"/>
              <a:t>Contact information:</a:t>
            </a:r>
          </a:p>
          <a:p>
            <a:pPr lvl="1"/>
            <a:r>
              <a:rPr lang="en-US" dirty="0"/>
              <a:t>F name L name</a:t>
            </a:r>
          </a:p>
          <a:p>
            <a:pPr lvl="1"/>
            <a:r>
              <a:rPr lang="en-US" dirty="0"/>
              <a:t>Title</a:t>
            </a:r>
          </a:p>
          <a:p>
            <a:pPr lvl="1"/>
            <a:r>
              <a:rPr lang="en-US" dirty="0"/>
              <a:t>Address</a:t>
            </a:r>
          </a:p>
          <a:p>
            <a:pPr lvl="1"/>
            <a:r>
              <a:rPr lang="en-US" dirty="0"/>
              <a:t>Phone number</a:t>
            </a:r>
          </a:p>
        </p:txBody>
      </p:sp>
      <p:sp>
        <p:nvSpPr>
          <p:cNvPr id="2" name="Thank you"/>
          <p:cNvSpPr>
            <a:spLocks noGrp="1"/>
          </p:cNvSpPr>
          <p:nvPr>
            <p:ph type="ctrTitle" hasCustomPrompt="1"/>
          </p:nvPr>
        </p:nvSpPr>
        <p:spPr bwMode="gray">
          <a:xfrm>
            <a:off x="504000" y="1467009"/>
            <a:ext cx="5328000" cy="923116"/>
          </a:xfrm>
        </p:spPr>
        <p:txBody>
          <a:bodyPr anchor="t" anchorCtr="0">
            <a:noAutofit/>
          </a:bodyPr>
          <a:lstStyle>
            <a:lvl1pPr>
              <a:defRPr sz="5500">
                <a:solidFill>
                  <a:schemeClr val="accent1"/>
                </a:solidFill>
                <a:latin typeface="+mj-lt"/>
              </a:defRPr>
            </a:lvl1pPr>
          </a:lstStyle>
          <a:p>
            <a:r>
              <a:rPr lang="en-US" dirty="0"/>
              <a:t>Thank you.</a:t>
            </a:r>
          </a:p>
        </p:txBody>
      </p:sp>
      <p:pic>
        <p:nvPicPr>
          <p:cNvPr id="10"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04000" y="5994000"/>
            <a:ext cx="1578462" cy="360000"/>
          </a:xfrm>
          <a:prstGeom prst="rect">
            <a:avLst/>
          </a:prstGeom>
        </p:spPr>
      </p:pic>
    </p:spTree>
    <p:extLst>
      <p:ext uri="{BB962C8B-B14F-4D97-AF65-F5344CB8AC3E}">
        <p14:creationId xmlns:p14="http://schemas.microsoft.com/office/powerpoint/2010/main" val="781090314"/>
      </p:ext>
    </p:extLst>
  </p:cSld>
  <p:clrMapOvr>
    <a:masterClrMapping/>
  </p:clrMapOvr>
  <p:hf sldNum="0" hdr="0" ftr="0" dt="0"/>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Copyright">
    <p:spTree>
      <p:nvGrpSpPr>
        <p:cNvPr id="1" name=""/>
        <p:cNvGrpSpPr/>
        <p:nvPr/>
      </p:nvGrpSpPr>
      <p:grpSpPr>
        <a:xfrm>
          <a:off x="0" y="0"/>
          <a:ext cx="0" cy="0"/>
          <a:chOff x="0" y="0"/>
          <a:chExt cx="0" cy="0"/>
        </a:xfrm>
      </p:grpSpPr>
      <p:sp>
        <p:nvSpPr>
          <p:cNvPr id="4" name="TextBox 3"/>
          <p:cNvSpPr txBox="1"/>
          <p:nvPr/>
        </p:nvSpPr>
        <p:spPr bwMode="gray">
          <a:xfrm>
            <a:off x="503999" y="1620000"/>
            <a:ext cx="11185200" cy="3153980"/>
          </a:xfrm>
          <a:prstGeom prst="rect">
            <a:avLst/>
          </a:prstGeom>
          <a:noFill/>
        </p:spPr>
        <p:txBody>
          <a:bodyPr wrap="square" lIns="0" tIns="0" rIns="0" bIns="0" rtlCol="0">
            <a:spAutoFit/>
          </a:bodyPr>
          <a:lstStyle/>
          <a:p>
            <a:pPr>
              <a:spcBef>
                <a:spcPts val="1200"/>
              </a:spcBef>
            </a:pPr>
            <a:r>
              <a:rPr lang="en-US" sz="1100" kern="1200" dirty="0">
                <a:solidFill>
                  <a:schemeClr val="tx1"/>
                </a:solidFill>
                <a:latin typeface="Arial"/>
                <a:ea typeface="Arial Unicode MS" panose="020B0604020202020204" pitchFamily="34" charset="-128"/>
                <a:cs typeface="+mn-cs"/>
              </a:rPr>
              <a:t>No part of this publication may be reproduced or transmitted in any form or for any purpose without the express permission of SAP SE or an SAP affiliate company.</a:t>
            </a:r>
          </a:p>
          <a:p>
            <a:pPr>
              <a:spcBef>
                <a:spcPts val="1200"/>
              </a:spcBef>
            </a:pPr>
            <a:r>
              <a:rPr lang="en-US" sz="1100" kern="1200" dirty="0">
                <a:solidFill>
                  <a:schemeClr val="tx1"/>
                </a:solidFill>
                <a:latin typeface="Arial"/>
                <a:ea typeface="Arial Unicode MS" panose="020B0604020202020204" pitchFamily="34" charset="-128"/>
                <a:cs typeface="+mn-cs"/>
              </a:rPr>
              <a:t>The information contained herein may be changed without prior notice. Some software products marketed by SAP SE and its distributors contain proprietary software components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of other software vendors. National product specifications may vary.</a:t>
            </a:r>
          </a:p>
          <a:p>
            <a:pPr>
              <a:spcBef>
                <a:spcPts val="1200"/>
              </a:spcBef>
            </a:pPr>
            <a:r>
              <a:rPr lang="en-US" sz="1100" kern="1200" dirty="0">
                <a:solidFill>
                  <a:schemeClr val="tx1"/>
                </a:solidFill>
                <a:latin typeface="Arial"/>
                <a:ea typeface="Arial Unicode MS" panose="020B0604020202020204" pitchFamily="34" charset="-128"/>
                <a:cs typeface="+mn-cs"/>
              </a:rPr>
              <a:t>These materials are provided by SAP SE or an SAP affiliate company for informational purposes only, without representation or warranty of any kind, and SAP or its affiliated companies shall not be liable for errors or omissions with respect to the materials. The only warranties for SAP or SAP affiliate company products and services are those that are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set forth in the express warranty statements accompanying such products and services, if any. Nothing herein should be construed as constituting an additional warranty. </a:t>
            </a:r>
          </a:p>
          <a:p>
            <a:pPr>
              <a:spcBef>
                <a:spcPts val="1200"/>
              </a:spcBef>
            </a:pPr>
            <a:r>
              <a:rPr lang="en-US" sz="1100" kern="1200" dirty="0">
                <a:solidFill>
                  <a:schemeClr val="tx1"/>
                </a:solidFill>
                <a:latin typeface="Arial"/>
                <a:ea typeface="Arial Unicode MS" panose="020B0604020202020204" pitchFamily="34" charset="-128"/>
                <a:cs typeface="+mn-cs"/>
              </a:rPr>
              <a:t>In particular, SAP SE or its affiliated companies have no obligation to pursue any course of business outlined in this document or any related presentation, or to develop or release any functionality mentioned therein. This document, or any related presentation, and SAP SE’s or its affiliated companies’ strategy and possible future developments, products, and/or platform directions and functionality are all subject to change and may be changed by SAP SE or its affiliated companies at any time for any reason without notice. The information in this document is not a commitment, promise, or legal obligation to deliver any material, code, or functionality. All forward-looking statements are subject to various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risks and uncertainties that could cause actual results to differ materially from expectations. Readers are cautioned not to place undue reliance on these forward-looking statements, and they should not be relied upon in making purchasing decisions.</a:t>
            </a:r>
          </a:p>
          <a:p>
            <a:pPr>
              <a:spcBef>
                <a:spcPts val="1200"/>
              </a:spcBef>
            </a:pPr>
            <a:r>
              <a:rPr lang="en-US" sz="1100" kern="1200" dirty="0">
                <a:solidFill>
                  <a:schemeClr val="tx1"/>
                </a:solidFill>
                <a:latin typeface="Arial"/>
                <a:ea typeface="Arial Unicode MS" panose="020B0604020202020204" pitchFamily="34" charset="-128"/>
                <a:cs typeface="+mn-cs"/>
              </a:rPr>
              <a:t>SAP and other SAP products and services mentioned herein as well as their respective logos are trademarks or registered trademarks of SAP SE (or an SAP affiliate company)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in Germany and other countries. All other product and service names mentioned are the trademarks of their respective companies.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See </a:t>
            </a:r>
            <a:r>
              <a:rPr lang="en-US" sz="1100" kern="1200" dirty="0">
                <a:solidFill>
                  <a:schemeClr val="tx2"/>
                </a:solidFill>
                <a:latin typeface="Arial"/>
                <a:ea typeface="Arial Unicode MS" panose="020B0604020202020204" pitchFamily="34" charset="-128"/>
                <a:cs typeface="+mn-cs"/>
                <a:hlinkClick r:id="rId2"/>
              </a:rPr>
              <a:t>http://global.sap.com/corporate-en/legal/copyright/index.epx</a:t>
            </a:r>
            <a:r>
              <a:rPr lang="en-US" sz="1100" kern="1200" dirty="0">
                <a:solidFill>
                  <a:schemeClr val="tx2"/>
                </a:solidFill>
                <a:latin typeface="Arial"/>
                <a:ea typeface="Arial Unicode MS" panose="020B0604020202020204" pitchFamily="34" charset="-128"/>
                <a:cs typeface="+mn-cs"/>
              </a:rPr>
              <a:t> </a:t>
            </a:r>
            <a:r>
              <a:rPr lang="en-US" sz="1100" kern="1200" dirty="0">
                <a:solidFill>
                  <a:schemeClr val="tx1"/>
                </a:solidFill>
                <a:latin typeface="Arial"/>
                <a:ea typeface="Arial Unicode MS" panose="020B0604020202020204" pitchFamily="34" charset="-128"/>
                <a:cs typeface="+mn-cs"/>
              </a:rPr>
              <a:t>for additional trademark information and notices.</a:t>
            </a:r>
          </a:p>
        </p:txBody>
      </p:sp>
      <p:sp>
        <p:nvSpPr>
          <p:cNvPr id="5" name="TextBox 4"/>
          <p:cNvSpPr txBox="1"/>
          <p:nvPr userDrawn="1"/>
        </p:nvSpPr>
        <p:spPr bwMode="gray">
          <a:xfrm>
            <a:off x="504000" y="719834"/>
            <a:ext cx="9540674" cy="369246"/>
          </a:xfrm>
          <a:prstGeom prst="rect">
            <a:avLst/>
          </a:prstGeom>
        </p:spPr>
        <p:txBody>
          <a:bodyPr vert="horz" wrap="square" lIns="0" tIns="0" rIns="0" bIns="0" rtlCol="0" anchor="t" anchorCtr="0">
            <a:spAutoFit/>
          </a:bodyPr>
          <a:lstStyle>
            <a:lvl1pPr>
              <a:spcBef>
                <a:spcPct val="0"/>
              </a:spcBef>
              <a:buNone/>
              <a:defRPr sz="2400" b="1" baseline="0">
                <a:latin typeface="+mj-lt"/>
                <a:ea typeface="+mj-ea"/>
                <a:cs typeface="+mj-cs"/>
              </a:defRPr>
            </a:lvl1pPr>
          </a:lstStyle>
          <a:p>
            <a:pPr lvl="0"/>
            <a:r>
              <a:rPr lang="en-US" sz="2400" b="0" noProof="0" dirty="0"/>
              <a:t>© 2017 SAP SE or an SAP affiliate company. All rights reserved.</a:t>
            </a:r>
          </a:p>
        </p:txBody>
      </p:sp>
      <p:grpSp>
        <p:nvGrpSpPr>
          <p:cNvPr id="6" name="Secondary Motion Band"/>
          <p:cNvGrpSpPr/>
          <p:nvPr userDrawn="1"/>
        </p:nvGrpSpPr>
        <p:grpSpPr>
          <a:xfrm>
            <a:off x="10682127" y="0"/>
            <a:ext cx="1513048" cy="251942"/>
            <a:chOff x="10682127" y="0"/>
            <a:chExt cx="1513048" cy="252000"/>
          </a:xfrm>
        </p:grpSpPr>
        <p:sp>
          <p:nvSpPr>
            <p:cNvPr id="7" name="Rectangle 6"/>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 name="Rectangle 7"/>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9" name="Rectangle 8"/>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Tree>
    <p:extLst>
      <p:ext uri="{BB962C8B-B14F-4D97-AF65-F5344CB8AC3E}">
        <p14:creationId xmlns:p14="http://schemas.microsoft.com/office/powerpoint/2010/main" val="45192519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p:cSld name="Copyright german">
    <p:spTree>
      <p:nvGrpSpPr>
        <p:cNvPr id="1" name=""/>
        <p:cNvGrpSpPr/>
        <p:nvPr/>
      </p:nvGrpSpPr>
      <p:grpSpPr>
        <a:xfrm>
          <a:off x="0" y="0"/>
          <a:ext cx="0" cy="0"/>
          <a:chOff x="0" y="0"/>
          <a:chExt cx="0" cy="0"/>
        </a:xfrm>
      </p:grpSpPr>
      <p:sp>
        <p:nvSpPr>
          <p:cNvPr id="4" name="TextBox 3"/>
          <p:cNvSpPr txBox="1"/>
          <p:nvPr userDrawn="1"/>
        </p:nvSpPr>
        <p:spPr bwMode="gray">
          <a:xfrm>
            <a:off x="504000" y="1620000"/>
            <a:ext cx="11185200" cy="3830931"/>
          </a:xfrm>
          <a:prstGeom prst="rect">
            <a:avLst/>
          </a:prstGeom>
          <a:noFill/>
        </p:spPr>
        <p:txBody>
          <a:bodyPr wrap="square" lIns="0" tIns="0" rIns="0" bIns="0" rtlCol="0">
            <a:spAutoFit/>
          </a:bodyPr>
          <a:lstStyle/>
          <a:p>
            <a:pPr>
              <a:spcBef>
                <a:spcPts val="1200"/>
              </a:spcBef>
            </a:pPr>
            <a:r>
              <a:rPr lang="en-US" sz="1100" kern="1200" noProof="0" dirty="0" err="1">
                <a:solidFill>
                  <a:schemeClr val="tx1"/>
                </a:solidFill>
                <a:effectLst/>
                <a:latin typeface="Arial"/>
                <a:ea typeface="+mn-ea"/>
                <a:cs typeface="+mn-cs"/>
              </a:rPr>
              <a:t>Weitergabe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Vervielfältigung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von </a:t>
            </a:r>
            <a:r>
              <a:rPr lang="en-US" sz="1100" kern="1200" noProof="0" dirty="0" err="1">
                <a:solidFill>
                  <a:schemeClr val="tx1"/>
                </a:solidFill>
                <a:effectLst/>
                <a:latin typeface="Arial"/>
                <a:ea typeface="+mn-ea"/>
                <a:cs typeface="+mn-cs"/>
              </a:rPr>
              <a:t>Teilen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daraus</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sind</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welchem</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Zweck</a:t>
            </a:r>
            <a:r>
              <a:rPr lang="en-US" sz="1100" kern="1200" noProof="0" dirty="0">
                <a:solidFill>
                  <a:schemeClr val="tx1"/>
                </a:solidFill>
                <a:effectLst/>
                <a:latin typeface="Arial"/>
                <a:ea typeface="+mn-ea"/>
                <a:cs typeface="+mn-cs"/>
              </a:rPr>
              <a:t> und in </a:t>
            </a:r>
            <a:r>
              <a:rPr lang="en-US" sz="1100" kern="1200" noProof="0" dirty="0" err="1">
                <a:solidFill>
                  <a:schemeClr val="tx1"/>
                </a:solidFill>
                <a:effectLst/>
                <a:latin typeface="Arial"/>
                <a:ea typeface="+mn-ea"/>
                <a:cs typeface="+mn-cs"/>
              </a:rPr>
              <a:t>welcher</a:t>
            </a:r>
            <a:r>
              <a:rPr lang="en-US" sz="1100" kern="1200" noProof="0" dirty="0">
                <a:solidFill>
                  <a:schemeClr val="tx1"/>
                </a:solidFill>
                <a:effectLst/>
                <a:latin typeface="Arial"/>
                <a:ea typeface="+mn-ea"/>
                <a:cs typeface="+mn-cs"/>
              </a:rPr>
              <a:t> Form </a:t>
            </a:r>
            <a:r>
              <a:rPr lang="en-US" sz="1100" kern="1200" noProof="0" dirty="0" err="1">
                <a:solidFill>
                  <a:schemeClr val="tx1"/>
                </a:solidFill>
                <a:effectLst/>
                <a:latin typeface="Arial"/>
                <a:ea typeface="+mn-ea"/>
                <a:cs typeface="+mn-cs"/>
              </a:rPr>
              <a:t>auch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immer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ohne</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ausdrückliche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schriftliche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Genehmigung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durch</a:t>
            </a:r>
            <a:r>
              <a:rPr lang="en-US" sz="1100" kern="1200" noProof="0" dirty="0">
                <a:solidFill>
                  <a:schemeClr val="tx1"/>
                </a:solidFill>
                <a:effectLst/>
                <a:latin typeface="Arial"/>
                <a:ea typeface="+mn-ea"/>
                <a:cs typeface="+mn-cs"/>
              </a:rPr>
              <a:t>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a:t>
            </a:r>
            <a:r>
              <a:rPr lang="en-US" sz="1100" kern="1200" noProof="0" dirty="0">
                <a:solidFill>
                  <a:schemeClr val="tx1"/>
                </a:solidFill>
                <a:effectLst/>
                <a:latin typeface="Arial"/>
                <a:ea typeface="+mn-ea"/>
                <a:cs typeface="+mn-cs"/>
              </a:rPr>
              <a:t> SAP-</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nicht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gestattet</a:t>
            </a:r>
            <a:r>
              <a:rPr lang="en-US" sz="1100" kern="1200" noProof="0" dirty="0">
                <a:solidFill>
                  <a:schemeClr val="tx1"/>
                </a:solidFill>
                <a:effectLst/>
                <a:latin typeface="Arial"/>
                <a:ea typeface="+mn-ea"/>
                <a:cs typeface="+mn-cs"/>
              </a:rPr>
              <a:t>.</a:t>
            </a:r>
          </a:p>
          <a:p>
            <a:pPr>
              <a:spcBef>
                <a:spcPts val="1200"/>
              </a:spcBef>
            </a:pPr>
            <a:r>
              <a:rPr lang="en-US" sz="1100" kern="1200" noProof="0" dirty="0">
                <a:solidFill>
                  <a:schemeClr val="tx1"/>
                </a:solidFill>
                <a:effectLst/>
                <a:latin typeface="Arial"/>
                <a:ea typeface="+mn-ea"/>
                <a:cs typeface="+mn-cs"/>
              </a:rPr>
              <a:t>In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enthaltene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ohne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vorherige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Ankündigung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geändert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werden</a:t>
            </a:r>
            <a:r>
              <a:rPr lang="en-US" sz="1100" kern="1200" noProof="0" dirty="0">
                <a:solidFill>
                  <a:schemeClr val="tx1"/>
                </a:solidFill>
                <a:effectLst/>
                <a:latin typeface="Arial"/>
                <a:ea typeface="+mn-ea"/>
                <a:cs typeface="+mn-cs"/>
              </a:rPr>
              <a:t>. Die von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deren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Vertriebsfirmen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angebotenen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Softwareprodukte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Softwarekomponenten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anderer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Softwarehersteller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enthalten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länderspezifische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Unterschiede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aufweisen</a:t>
            </a:r>
            <a:r>
              <a:rPr lang="en-US" sz="1100" kern="1200" noProof="0" dirty="0">
                <a:solidFill>
                  <a:schemeClr val="tx1"/>
                </a:solidFill>
                <a:effectLst/>
                <a:latin typeface="Arial"/>
                <a:ea typeface="+mn-ea"/>
                <a:cs typeface="+mn-cs"/>
              </a:rPr>
              <a:t>.</a:t>
            </a:r>
          </a:p>
          <a:p>
            <a:pPr>
              <a:spcBef>
                <a:spcPts val="1200"/>
              </a:spcBef>
            </a:pPr>
            <a:r>
              <a:rPr lang="en-US" sz="1100" kern="1200" noProof="0" dirty="0">
                <a:solidFill>
                  <a:schemeClr val="tx1"/>
                </a:solidFill>
                <a:effectLst/>
                <a:latin typeface="Arial"/>
                <a:ea typeface="+mn-ea"/>
                <a:cs typeface="+mn-cs"/>
              </a:rPr>
              <a:t>Die </a:t>
            </a:r>
            <a:r>
              <a:rPr lang="en-US" sz="1100" kern="1200" noProof="0" dirty="0" err="1">
                <a:solidFill>
                  <a:schemeClr val="tx1"/>
                </a:solidFill>
                <a:effectLst/>
                <a:latin typeface="Arial"/>
                <a:ea typeface="+mn-ea"/>
                <a:cs typeface="+mn-cs"/>
              </a:rPr>
              <a:t>vorliegenden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Unterlagen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werden</a:t>
            </a:r>
            <a:r>
              <a:rPr lang="en-US" sz="1100" kern="1200" noProof="0" dirty="0">
                <a:solidFill>
                  <a:schemeClr val="tx1"/>
                </a:solidFill>
                <a:effectLst/>
                <a:latin typeface="Arial"/>
                <a:ea typeface="+mn-ea"/>
                <a:cs typeface="+mn-cs"/>
              </a:rPr>
              <a:t> von der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einem</a:t>
            </a:r>
            <a:r>
              <a:rPr lang="en-US" sz="1100" kern="1200" noProof="0" dirty="0">
                <a:solidFill>
                  <a:schemeClr val="tx1"/>
                </a:solidFill>
                <a:effectLst/>
                <a:latin typeface="Arial"/>
                <a:ea typeface="+mn-ea"/>
                <a:cs typeface="+mn-cs"/>
              </a:rPr>
              <a:t> SAP-</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bereitgestellt</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ausschließlich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Informationszwecken</a:t>
            </a:r>
            <a:r>
              <a:rPr lang="en-US" sz="1100" kern="1200" noProof="0" dirty="0">
                <a:solidFill>
                  <a:schemeClr val="tx1"/>
                </a:solidFill>
                <a:effectLst/>
                <a:latin typeface="Arial"/>
                <a:ea typeface="+mn-ea"/>
                <a:cs typeface="+mn-cs"/>
              </a:rPr>
              <a:t>. </a:t>
            </a:r>
            <a:br>
              <a:rPr lang="en-US" sz="1100" kern="1200" noProof="0" dirty="0">
                <a:solidFill>
                  <a:schemeClr val="tx1"/>
                </a:solidFill>
                <a:effectLst/>
                <a:latin typeface="Arial"/>
                <a:ea typeface="+mn-ea"/>
                <a:cs typeface="+mn-cs"/>
              </a:rPr>
            </a:br>
            <a:r>
              <a:rPr lang="en-US" sz="1100" kern="1200" noProof="0" dirty="0">
                <a:solidFill>
                  <a:schemeClr val="tx1"/>
                </a:solidFill>
                <a:effectLst/>
                <a:latin typeface="Arial"/>
                <a:ea typeface="+mn-ea"/>
                <a:cs typeface="+mn-cs"/>
              </a:rPr>
              <a:t>Die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ihre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übernehmen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keinerlei</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Haftung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Gewährleistung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für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Fehler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Unvollständigkeiten</a:t>
            </a:r>
            <a:r>
              <a:rPr lang="en-US" sz="1100" kern="1200" noProof="0" dirty="0">
                <a:solidFill>
                  <a:schemeClr val="tx1"/>
                </a:solidFill>
                <a:effectLst/>
                <a:latin typeface="Arial"/>
                <a:ea typeface="+mn-ea"/>
                <a:cs typeface="+mn-cs"/>
              </a:rPr>
              <a:t> in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br>
              <a:rPr lang="en-US" sz="1100" kern="1200" noProof="0" dirty="0">
                <a:solidFill>
                  <a:schemeClr val="tx1"/>
                </a:solidFill>
                <a:effectLst/>
                <a:latin typeface="Arial"/>
                <a:ea typeface="+mn-ea"/>
                <a:cs typeface="+mn-cs"/>
              </a:rPr>
            </a:br>
            <a:r>
              <a:rPr lang="en-US" sz="1100" kern="1200" noProof="0" dirty="0">
                <a:solidFill>
                  <a:schemeClr val="tx1"/>
                </a:solidFill>
                <a:effectLst/>
                <a:latin typeface="Arial"/>
                <a:ea typeface="+mn-ea"/>
                <a:cs typeface="+mn-cs"/>
              </a:rPr>
              <a:t>Die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a:t>
            </a:r>
            <a:r>
              <a:rPr lang="en-US" sz="1100" kern="1200" noProof="0" dirty="0">
                <a:solidFill>
                  <a:schemeClr val="tx1"/>
                </a:solidFill>
                <a:effectLst/>
                <a:latin typeface="Arial"/>
                <a:ea typeface="+mn-ea"/>
                <a:cs typeface="+mn-cs"/>
              </a:rPr>
              <a:t> SAP-</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steht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lediglich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für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Dienstleistungen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nach</a:t>
            </a:r>
            <a:r>
              <a:rPr lang="en-US" sz="1100" kern="1200" noProof="0" dirty="0">
                <a:solidFill>
                  <a:schemeClr val="tx1"/>
                </a:solidFill>
                <a:effectLst/>
                <a:latin typeface="Arial"/>
                <a:ea typeface="+mn-ea"/>
                <a:cs typeface="+mn-cs"/>
              </a:rPr>
              <a:t> der </a:t>
            </a:r>
            <a:r>
              <a:rPr lang="en-US" sz="1100" kern="1200" noProof="0" dirty="0" err="1">
                <a:solidFill>
                  <a:schemeClr val="tx1"/>
                </a:solidFill>
                <a:effectLst/>
                <a:latin typeface="Arial"/>
                <a:ea typeface="+mn-ea"/>
                <a:cs typeface="+mn-cs"/>
              </a:rPr>
              <a:t>Maßgabe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a:t>
            </a:r>
            <a:r>
              <a:rPr lang="en-US" sz="1100" kern="1200" noProof="0" dirty="0">
                <a:solidFill>
                  <a:schemeClr val="tx1"/>
                </a:solidFill>
                <a:effectLst/>
                <a:latin typeface="Arial"/>
                <a:ea typeface="+mn-ea"/>
                <a:cs typeface="+mn-cs"/>
              </a:rPr>
              <a:t>, die in der </a:t>
            </a:r>
            <a:r>
              <a:rPr lang="en-US" sz="1100" kern="1200" noProof="0" dirty="0" err="1">
                <a:solidFill>
                  <a:schemeClr val="tx1"/>
                </a:solidFill>
                <a:effectLst/>
                <a:latin typeface="Arial"/>
                <a:ea typeface="+mn-ea"/>
                <a:cs typeface="+mn-cs"/>
              </a:rPr>
              <a:t>Vereinbarung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über</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jeweiligen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Dienstleistungen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ausdrücklich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geregelt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ist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Keine</a:t>
            </a:r>
            <a:r>
              <a:rPr lang="en-US" sz="1100" kern="1200" noProof="0" dirty="0">
                <a:solidFill>
                  <a:schemeClr val="tx1"/>
                </a:solidFill>
                <a:effectLst/>
                <a:latin typeface="Arial"/>
                <a:ea typeface="+mn-ea"/>
                <a:cs typeface="+mn-cs"/>
              </a:rPr>
              <a:t> der </a:t>
            </a:r>
            <a:r>
              <a:rPr lang="en-US" sz="1100" kern="1200" noProof="0" dirty="0" err="1">
                <a:solidFill>
                  <a:schemeClr val="tx1"/>
                </a:solidFill>
                <a:effectLst/>
                <a:latin typeface="Arial"/>
                <a:ea typeface="+mn-ea"/>
                <a:cs typeface="+mn-cs"/>
              </a:rPr>
              <a:t>hierin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enthaltenen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ist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als</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zusätzliche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Garantie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interpretieren</a:t>
            </a:r>
            <a:r>
              <a:rPr lang="en-US" sz="1100" kern="1200" noProof="0" dirty="0">
                <a:solidFill>
                  <a:schemeClr val="tx1"/>
                </a:solidFill>
                <a:effectLst/>
                <a:latin typeface="Arial"/>
                <a:ea typeface="+mn-ea"/>
                <a:cs typeface="+mn-cs"/>
              </a:rPr>
              <a:t>. </a:t>
            </a:r>
          </a:p>
          <a:p>
            <a:pPr>
              <a:spcBef>
                <a:spcPts val="1200"/>
              </a:spcBef>
            </a:pPr>
            <a:r>
              <a:rPr lang="en-US" sz="1100" kern="1200" noProof="0" dirty="0" err="1">
                <a:solidFill>
                  <a:schemeClr val="tx1"/>
                </a:solidFill>
                <a:effectLst/>
                <a:latin typeface="Arial"/>
                <a:ea typeface="+mn-ea"/>
                <a:cs typeface="+mn-cs"/>
              </a:rPr>
              <a:t>Insbesondere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sind</a:t>
            </a:r>
            <a:r>
              <a:rPr lang="en-US" sz="1100" kern="1200" noProof="0" dirty="0">
                <a:solidFill>
                  <a:schemeClr val="tx1"/>
                </a:solidFill>
                <a:effectLst/>
                <a:latin typeface="Arial"/>
                <a:ea typeface="+mn-ea"/>
                <a:cs typeface="+mn-cs"/>
              </a:rPr>
              <a:t> die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ihre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in </a:t>
            </a:r>
            <a:r>
              <a:rPr lang="en-US" sz="1100" kern="1200" noProof="0" dirty="0" err="1">
                <a:solidFill>
                  <a:schemeClr val="tx1"/>
                </a:solidFill>
                <a:effectLst/>
                <a:latin typeface="Arial"/>
                <a:ea typeface="+mn-ea"/>
                <a:cs typeface="+mn-cs"/>
              </a:rPr>
              <a:t>keiner</a:t>
            </a:r>
            <a:r>
              <a:rPr lang="en-US" sz="1100" kern="1200" noProof="0" dirty="0">
                <a:solidFill>
                  <a:schemeClr val="tx1"/>
                </a:solidFill>
                <a:effectLst/>
                <a:latin typeface="Arial"/>
                <a:ea typeface="+mn-ea"/>
                <a:cs typeface="+mn-cs"/>
              </a:rPr>
              <a:t> Weise </a:t>
            </a:r>
            <a:r>
              <a:rPr lang="en-US" sz="1100" kern="1200" noProof="0" dirty="0" err="1">
                <a:solidFill>
                  <a:schemeClr val="tx1"/>
                </a:solidFill>
                <a:effectLst/>
                <a:latin typeface="Arial"/>
                <a:ea typeface="+mn-ea"/>
                <a:cs typeface="+mn-cs"/>
              </a:rPr>
              <a:t>verpflichtet</a:t>
            </a:r>
            <a:r>
              <a:rPr lang="en-US" sz="1100" kern="1200" noProof="0" dirty="0">
                <a:solidFill>
                  <a:schemeClr val="tx1"/>
                </a:solidFill>
                <a:effectLst/>
                <a:latin typeface="Arial"/>
                <a:ea typeface="+mn-ea"/>
                <a:cs typeface="+mn-cs"/>
              </a:rPr>
              <a:t>, in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zugehörigen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Präsentation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dargestellte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Geschäftsabläufe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verfolgen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hierin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wiedergegebene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Funktionen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entwickeln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veröffentlichen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Diese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zugehörige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Präsentation</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Strategie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etwaige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künftige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Entwicklungen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und/</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Plattformen</a:t>
            </a:r>
            <a:r>
              <a:rPr lang="en-US" sz="1100" kern="1200" noProof="0" dirty="0">
                <a:solidFill>
                  <a:schemeClr val="tx1"/>
                </a:solidFill>
                <a:effectLst/>
                <a:latin typeface="Arial"/>
                <a:ea typeface="+mn-ea"/>
                <a:cs typeface="+mn-cs"/>
              </a:rPr>
              <a:t> der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ihrer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von der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ihren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jederzeit</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ohne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Angabe</a:t>
            </a:r>
            <a:r>
              <a:rPr lang="en-US" sz="1100" kern="1200" noProof="0" dirty="0">
                <a:solidFill>
                  <a:schemeClr val="tx1"/>
                </a:solidFill>
                <a:effectLst/>
                <a:latin typeface="Arial"/>
                <a:ea typeface="+mn-ea"/>
                <a:cs typeface="+mn-cs"/>
              </a:rPr>
              <a:t> von </a:t>
            </a:r>
            <a:r>
              <a:rPr lang="en-US" sz="1100" kern="1200" noProof="0" dirty="0" err="1">
                <a:solidFill>
                  <a:schemeClr val="tx1"/>
                </a:solidFill>
                <a:effectLst/>
                <a:latin typeface="Arial"/>
                <a:ea typeface="+mn-ea"/>
                <a:cs typeface="+mn-cs"/>
              </a:rPr>
              <a:t>Gründen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unangekündigt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geändert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werden</a:t>
            </a:r>
            <a:r>
              <a:rPr lang="en-US" sz="1100" kern="1200" noProof="0" dirty="0">
                <a:solidFill>
                  <a:schemeClr val="tx1"/>
                </a:solidFill>
                <a:effectLst/>
                <a:latin typeface="Arial"/>
                <a:ea typeface="+mn-ea"/>
                <a:cs typeface="+mn-cs"/>
              </a:rPr>
              <a:t>. Die in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enthaltenen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stellen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Zusage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Versprechen</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keine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rechtliche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Verpflichtung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Lieferung</a:t>
            </a:r>
            <a:r>
              <a:rPr lang="en-US" sz="1100" kern="1200" noProof="0" dirty="0">
                <a:solidFill>
                  <a:schemeClr val="tx1"/>
                </a:solidFill>
                <a:effectLst/>
                <a:latin typeface="Arial"/>
                <a:ea typeface="+mn-ea"/>
                <a:cs typeface="+mn-cs"/>
              </a:rPr>
              <a:t> von Material, Code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Funktionen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dar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Sämtliche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vorausschauenden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Aussagen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unterliegen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unterschiedlichen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Risiken</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Unsicherheiten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durch</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die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tatsächlichen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Ergebnisse</a:t>
            </a:r>
            <a:r>
              <a:rPr lang="en-US" sz="1100" kern="1200" noProof="0" dirty="0">
                <a:solidFill>
                  <a:schemeClr val="tx1"/>
                </a:solidFill>
                <a:effectLst/>
                <a:latin typeface="Arial"/>
                <a:ea typeface="+mn-ea"/>
                <a:cs typeface="+mn-cs"/>
              </a:rPr>
              <a:t> von den </a:t>
            </a:r>
            <a:r>
              <a:rPr lang="en-US" sz="1100" kern="1200" noProof="0" dirty="0" err="1">
                <a:solidFill>
                  <a:schemeClr val="tx1"/>
                </a:solidFill>
                <a:effectLst/>
                <a:latin typeface="Arial"/>
                <a:ea typeface="+mn-ea"/>
                <a:cs typeface="+mn-cs"/>
              </a:rPr>
              <a:t>Erwartungen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abweichen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Dem </a:t>
            </a:r>
            <a:r>
              <a:rPr lang="en-US" sz="1100" kern="1200" noProof="0" dirty="0" err="1">
                <a:solidFill>
                  <a:schemeClr val="tx1"/>
                </a:solidFill>
                <a:effectLst/>
                <a:latin typeface="Arial"/>
                <a:ea typeface="+mn-ea"/>
                <a:cs typeface="+mn-cs"/>
              </a:rPr>
              <a:t>Leser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wird</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empfohlen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diesen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vorausschauenden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Aussagen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übertriebenes</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Vertrauen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schenken</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sich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bei</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Kaufentscheidungen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nicht</a:t>
            </a:r>
            <a:r>
              <a:rPr lang="en-US" sz="1100" kern="1200" noProof="0" dirty="0">
                <a:solidFill>
                  <a:schemeClr val="tx1"/>
                </a:solidFill>
                <a:effectLst/>
                <a:latin typeface="Arial"/>
                <a:ea typeface="+mn-ea"/>
                <a:cs typeface="+mn-cs"/>
              </a:rPr>
              <a:t> auf </a:t>
            </a:r>
            <a:r>
              <a:rPr lang="en-US" sz="1100" kern="1200" noProof="0" dirty="0" err="1">
                <a:solidFill>
                  <a:schemeClr val="tx1"/>
                </a:solidFill>
                <a:effectLst/>
                <a:latin typeface="Arial"/>
                <a:ea typeface="+mn-ea"/>
                <a:cs typeface="+mn-cs"/>
              </a:rPr>
              <a:t>sie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stützen</a:t>
            </a:r>
            <a:r>
              <a:rPr lang="en-US" sz="1100" kern="1200" noProof="0" dirty="0">
                <a:solidFill>
                  <a:schemeClr val="tx1"/>
                </a:solidFill>
                <a:effectLst/>
                <a:latin typeface="Arial"/>
                <a:ea typeface="+mn-ea"/>
                <a:cs typeface="+mn-cs"/>
              </a:rPr>
              <a:t>.</a:t>
            </a:r>
          </a:p>
          <a:p>
            <a:pPr>
              <a:spcBef>
                <a:spcPts val="1200"/>
              </a:spcBef>
            </a:pPr>
            <a:r>
              <a:rPr lang="en-US" sz="1100" kern="1200" noProof="0" dirty="0">
                <a:solidFill>
                  <a:schemeClr val="tx1"/>
                </a:solidFill>
                <a:effectLst/>
                <a:latin typeface="Arial"/>
                <a:ea typeface="+mn-ea"/>
                <a:cs typeface="+mn-cs"/>
              </a:rPr>
              <a:t>SAP und </a:t>
            </a:r>
            <a:r>
              <a:rPr lang="en-US" sz="1100" kern="1200" noProof="0" dirty="0" err="1">
                <a:solidFill>
                  <a:schemeClr val="tx1"/>
                </a:solidFill>
                <a:effectLst/>
                <a:latin typeface="Arial"/>
                <a:ea typeface="+mn-ea"/>
                <a:cs typeface="+mn-cs"/>
              </a:rPr>
              <a:t>andere</a:t>
            </a:r>
            <a:r>
              <a:rPr lang="en-US" sz="1100" kern="1200" noProof="0" dirty="0">
                <a:solidFill>
                  <a:schemeClr val="tx1"/>
                </a:solidFill>
                <a:effectLst/>
                <a:latin typeface="Arial"/>
                <a:ea typeface="+mn-ea"/>
                <a:cs typeface="+mn-cs"/>
              </a:rPr>
              <a:t> in </a:t>
            </a:r>
            <a:r>
              <a:rPr lang="en-US" sz="1100" kern="1200" noProof="0" dirty="0" err="1">
                <a:solidFill>
                  <a:schemeClr val="tx1"/>
                </a:solidFill>
                <a:effectLst/>
                <a:latin typeface="Arial"/>
                <a:ea typeface="+mn-ea"/>
                <a:cs typeface="+mn-cs"/>
              </a:rPr>
              <a:t>diesem</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Dokument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erwähnte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Dienstleistungen</a:t>
            </a:r>
            <a:r>
              <a:rPr lang="en-US" sz="1100" kern="1200" noProof="0" dirty="0">
                <a:solidFill>
                  <a:schemeClr val="tx1"/>
                </a:solidFill>
                <a:effectLst/>
                <a:latin typeface="Arial"/>
                <a:ea typeface="+mn-ea"/>
                <a:cs typeface="+mn-cs"/>
              </a:rPr>
              <a:t> von SAP </a:t>
            </a:r>
            <a:r>
              <a:rPr lang="en-US" sz="1100" kern="1200" noProof="0" dirty="0" err="1">
                <a:solidFill>
                  <a:schemeClr val="tx1"/>
                </a:solidFill>
                <a:effectLst/>
                <a:latin typeface="Arial"/>
                <a:ea typeface="+mn-ea"/>
                <a:cs typeface="+mn-cs"/>
              </a:rPr>
              <a:t>sowie</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dazugehörigen</a:t>
            </a:r>
            <a:r>
              <a:rPr lang="en-US" sz="1100" kern="1200" noProof="0" dirty="0">
                <a:solidFill>
                  <a:schemeClr val="tx1"/>
                </a:solidFill>
                <a:effectLst/>
                <a:latin typeface="Arial"/>
                <a:ea typeface="+mn-ea"/>
                <a:cs typeface="+mn-cs"/>
              </a:rPr>
              <a:t> Logos </a:t>
            </a:r>
            <a:r>
              <a:rPr lang="en-US" sz="1100" kern="1200" noProof="0" dirty="0" err="1">
                <a:solidFill>
                  <a:schemeClr val="tx1"/>
                </a:solidFill>
                <a:effectLst/>
                <a:latin typeface="Arial"/>
                <a:ea typeface="+mn-ea"/>
                <a:cs typeface="+mn-cs"/>
              </a:rPr>
              <a:t>sind</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Marken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eingetragene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Marken</a:t>
            </a:r>
            <a:r>
              <a:rPr lang="en-US" sz="1100" kern="1200" noProof="0" dirty="0">
                <a:solidFill>
                  <a:schemeClr val="tx1"/>
                </a:solidFill>
                <a:effectLst/>
                <a:latin typeface="Arial"/>
                <a:ea typeface="+mn-ea"/>
                <a:cs typeface="+mn-cs"/>
              </a:rPr>
              <a:t> der SAP SE </a:t>
            </a:r>
            <a:br>
              <a:rPr lang="en-US" sz="1100" kern="1200" noProof="0" dirty="0">
                <a:solidFill>
                  <a:schemeClr val="tx1"/>
                </a:solidFill>
                <a:effectLst/>
                <a:latin typeface="Arial"/>
                <a:ea typeface="+mn-ea"/>
                <a:cs typeface="+mn-cs"/>
              </a:rPr>
            </a:br>
            <a:r>
              <a:rPr lang="en-US" sz="1100" kern="1200" noProof="0" dirty="0">
                <a:solidFill>
                  <a:schemeClr val="tx1"/>
                </a:solidFill>
                <a:effectLst/>
                <a:latin typeface="Arial"/>
                <a:ea typeface="+mn-ea"/>
                <a:cs typeface="+mn-cs"/>
              </a:rPr>
              <a:t>(</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von </a:t>
            </a:r>
            <a:r>
              <a:rPr lang="en-US" sz="1100" kern="1200" noProof="0" dirty="0" err="1">
                <a:solidFill>
                  <a:schemeClr val="tx1"/>
                </a:solidFill>
                <a:effectLst/>
                <a:latin typeface="Arial"/>
                <a:ea typeface="+mn-ea"/>
                <a:cs typeface="+mn-cs"/>
              </a:rPr>
              <a:t>einem</a:t>
            </a:r>
            <a:r>
              <a:rPr lang="en-US" sz="1100" kern="1200" noProof="0" dirty="0">
                <a:solidFill>
                  <a:schemeClr val="tx1"/>
                </a:solidFill>
                <a:effectLst/>
                <a:latin typeface="Arial"/>
                <a:ea typeface="+mn-ea"/>
                <a:cs typeface="+mn-cs"/>
              </a:rPr>
              <a:t> SAP-</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in Deutschland und </a:t>
            </a:r>
            <a:r>
              <a:rPr lang="en-US" sz="1100" kern="1200" noProof="0" dirty="0" err="1">
                <a:solidFill>
                  <a:schemeClr val="tx1"/>
                </a:solidFill>
                <a:effectLst/>
                <a:latin typeface="Arial"/>
                <a:ea typeface="+mn-ea"/>
                <a:cs typeface="+mn-cs"/>
              </a:rPr>
              <a:t>verschiedenen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anderen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Ländern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weltweit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Alle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anderen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Namen</a:t>
            </a:r>
            <a:r>
              <a:rPr lang="en-US" sz="1100" kern="1200" noProof="0" dirty="0">
                <a:solidFill>
                  <a:schemeClr val="tx1"/>
                </a:solidFill>
                <a:effectLst/>
                <a:latin typeface="Arial"/>
                <a:ea typeface="+mn-ea"/>
                <a:cs typeface="+mn-cs"/>
              </a:rPr>
              <a:t> von </a:t>
            </a:r>
            <a:r>
              <a:rPr lang="en-US" sz="1100" kern="1200" noProof="0" dirty="0" err="1">
                <a:solidFill>
                  <a:schemeClr val="tx1"/>
                </a:solidFill>
                <a:effectLst/>
                <a:latin typeface="Arial"/>
                <a:ea typeface="+mn-ea"/>
                <a:cs typeface="+mn-cs"/>
              </a:rPr>
              <a:t>Produkten</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Dienstleistungen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sind</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Marken</a:t>
            </a:r>
            <a:r>
              <a:rPr lang="en-US" sz="1100" kern="1200" noProof="0" dirty="0">
                <a:solidFill>
                  <a:schemeClr val="tx1"/>
                </a:solidFill>
                <a:effectLst/>
                <a:latin typeface="Arial"/>
                <a:ea typeface="+mn-ea"/>
                <a:cs typeface="+mn-cs"/>
              </a:rPr>
              <a:t> der </a:t>
            </a:r>
            <a:r>
              <a:rPr lang="en-US" sz="1100" kern="1200" noProof="0" dirty="0" err="1">
                <a:solidFill>
                  <a:schemeClr val="tx1"/>
                </a:solidFill>
                <a:effectLst/>
                <a:latin typeface="Arial"/>
                <a:ea typeface="+mn-ea"/>
                <a:cs typeface="+mn-cs"/>
              </a:rPr>
              <a:t>jeweiligen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Firmen</a:t>
            </a:r>
            <a:r>
              <a:rPr lang="en-US" sz="1100" kern="1200" noProof="0" dirty="0">
                <a:solidFill>
                  <a:schemeClr val="tx1"/>
                </a:solidFill>
                <a:effectLst/>
                <a:latin typeface="Arial"/>
                <a:ea typeface="+mn-ea"/>
                <a:cs typeface="+mn-cs"/>
              </a:rPr>
              <a:t>. </a:t>
            </a:r>
            <a:br>
              <a:rPr lang="en-US" sz="1100" kern="1200" noProof="0" dirty="0">
                <a:solidFill>
                  <a:schemeClr val="tx1"/>
                </a:solidFill>
                <a:effectLst/>
                <a:latin typeface="Arial"/>
                <a:ea typeface="+mn-ea"/>
                <a:cs typeface="+mn-cs"/>
              </a:rPr>
            </a:br>
            <a:r>
              <a:rPr lang="en-US" sz="1100" kern="1200" noProof="0" dirty="0" err="1">
                <a:solidFill>
                  <a:schemeClr val="tx1"/>
                </a:solidFill>
                <a:effectLst/>
                <a:latin typeface="Arial"/>
                <a:ea typeface="+mn-ea"/>
                <a:cs typeface="+mn-cs"/>
              </a:rPr>
              <a:t>Zusätzliche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Marke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Vermerke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finden</a:t>
            </a:r>
            <a:r>
              <a:rPr lang="en-US" sz="1100" kern="1200" noProof="0" dirty="0">
                <a:solidFill>
                  <a:schemeClr val="tx1"/>
                </a:solidFill>
                <a:effectLst/>
                <a:latin typeface="Arial"/>
                <a:ea typeface="+mn-ea"/>
                <a:cs typeface="+mn-cs"/>
              </a:rPr>
              <a:t> Sie auf der </a:t>
            </a:r>
            <a:r>
              <a:rPr lang="en-US" sz="1100" kern="1200" noProof="0" dirty="0" err="1">
                <a:solidFill>
                  <a:schemeClr val="tx1"/>
                </a:solidFill>
                <a:effectLst/>
                <a:latin typeface="Arial"/>
                <a:ea typeface="+mn-ea"/>
                <a:cs typeface="+mn-cs"/>
              </a:rPr>
              <a:t>Seite</a:t>
            </a:r>
            <a:r>
              <a:rPr lang="en-US" sz="1100" kern="1200" noProof="0" dirty="0">
                <a:solidFill>
                  <a:schemeClr val="tx1"/>
                </a:solidFill>
                <a:effectLst/>
                <a:latin typeface="Arial"/>
                <a:ea typeface="+mn-ea"/>
                <a:cs typeface="+mn-cs"/>
              </a:rPr>
              <a:t> </a:t>
            </a:r>
            <a:r>
              <a:rPr lang="en-US" sz="1100" kern="1200" noProof="0" dirty="0">
                <a:solidFill>
                  <a:schemeClr val="tx1"/>
                </a:solidFill>
                <a:effectLst/>
                <a:latin typeface="Arial"/>
                <a:ea typeface="+mn-ea"/>
                <a:cs typeface="+mn-cs"/>
                <a:hlinkClick r:id="rId2"/>
              </a:rPr>
              <a:t>http://www.sap.com/corporate-de/legal/copyright/index.epx</a:t>
            </a:r>
            <a:endParaRPr lang="en-US" sz="1100" kern="1200" noProof="0" dirty="0">
              <a:solidFill>
                <a:schemeClr val="tx1"/>
              </a:solidFill>
              <a:effectLst/>
              <a:latin typeface="Arial"/>
              <a:ea typeface="+mn-ea"/>
              <a:cs typeface="+mn-cs"/>
            </a:endParaRPr>
          </a:p>
        </p:txBody>
      </p:sp>
      <p:sp>
        <p:nvSpPr>
          <p:cNvPr id="5" name="TextBox 4"/>
          <p:cNvSpPr txBox="1"/>
          <p:nvPr userDrawn="1"/>
        </p:nvSpPr>
        <p:spPr bwMode="gray">
          <a:xfrm>
            <a:off x="504000" y="719834"/>
            <a:ext cx="11185200" cy="369246"/>
          </a:xfrm>
          <a:prstGeom prst="rect">
            <a:avLst/>
          </a:prstGeom>
        </p:spPr>
        <p:txBody>
          <a:bodyPr vert="horz" wrap="square" lIns="0" tIns="0" rIns="0" bIns="0" rtlCol="0" anchor="t" anchorCtr="0">
            <a:spAutoFit/>
          </a:bodyPr>
          <a:lstStyle>
            <a:lvl1pPr>
              <a:spcBef>
                <a:spcPct val="0"/>
              </a:spcBef>
              <a:buNone/>
              <a:defRPr sz="2400" b="1" baseline="0">
                <a:latin typeface="+mj-lt"/>
                <a:ea typeface="+mj-ea"/>
                <a:cs typeface="+mj-cs"/>
              </a:defRPr>
            </a:lvl1pPr>
          </a:lstStyle>
          <a:p>
            <a:pPr lvl="0"/>
            <a:r>
              <a:rPr lang="en-US" sz="2400" b="0" noProof="0" dirty="0"/>
              <a:t>© 2017 SAP SE </a:t>
            </a:r>
            <a:r>
              <a:rPr lang="en-US" sz="2400" b="0" noProof="0" dirty="0" err="1"/>
              <a:t>oder</a:t>
            </a:r>
            <a:r>
              <a:rPr lang="en-US" sz="2400" b="0" noProof="0" dirty="0"/>
              <a:t> </a:t>
            </a:r>
            <a:r>
              <a:rPr lang="en-US" sz="2400" b="0" noProof="0" dirty="0" err="1"/>
              <a:t>ein</a:t>
            </a:r>
            <a:r>
              <a:rPr lang="en-US" sz="2400" b="0" noProof="0" dirty="0"/>
              <a:t> SAP-</a:t>
            </a:r>
            <a:r>
              <a:rPr lang="en-US" sz="2400" b="0" noProof="0" dirty="0" err="1"/>
              <a:t>Konzernunternehmen</a:t>
            </a:r>
            <a:r>
              <a:rPr lang="en-US" sz="2400" b="0" noProof="0" dirty="0"/>
              <a:t>. </a:t>
            </a:r>
            <a:r>
              <a:rPr lang="en-US" sz="2400" b="0" noProof="0" dirty="0" err="1"/>
              <a:t>Alle</a:t>
            </a:r>
            <a:r>
              <a:rPr lang="en-US" sz="2400" b="0" noProof="0" dirty="0"/>
              <a:t> </a:t>
            </a:r>
            <a:r>
              <a:rPr lang="en-US" sz="2400" b="0" noProof="0" dirty="0" err="1"/>
              <a:t>Rechte</a:t>
            </a:r>
            <a:r>
              <a:rPr lang="en-US" sz="2400" b="0" noProof="0" dirty="0"/>
              <a:t> </a:t>
            </a:r>
            <a:r>
              <a:rPr lang="en-US" sz="2400" b="0" noProof="0" dirty="0" err="1"/>
              <a:t>vorbehalten</a:t>
            </a:r>
            <a:r>
              <a:rPr lang="en-US" sz="2400" b="0" noProof="0" dirty="0"/>
              <a:t>.</a:t>
            </a:r>
          </a:p>
        </p:txBody>
      </p:sp>
      <p:grpSp>
        <p:nvGrpSpPr>
          <p:cNvPr id="6" name="Secondary Motion Band"/>
          <p:cNvGrpSpPr/>
          <p:nvPr userDrawn="1"/>
        </p:nvGrpSpPr>
        <p:grpSpPr>
          <a:xfrm>
            <a:off x="10682127" y="0"/>
            <a:ext cx="1513048" cy="251942"/>
            <a:chOff x="10682127" y="0"/>
            <a:chExt cx="1513048" cy="252000"/>
          </a:xfrm>
        </p:grpSpPr>
        <p:sp>
          <p:nvSpPr>
            <p:cNvPr id="7" name="Rectangle 6"/>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 name="Rectangle 7"/>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9" name="Rectangle 8"/>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Tree>
    <p:extLst>
      <p:ext uri="{BB962C8B-B14F-4D97-AF65-F5344CB8AC3E}">
        <p14:creationId xmlns:p14="http://schemas.microsoft.com/office/powerpoint/2010/main" val="19118627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34" name="Slide number"/>
          <p:cNvSpPr txBox="1"/>
          <p:nvPr userDrawn="1"/>
        </p:nvSpPr>
        <p:spPr bwMode="black">
          <a:xfrm>
            <a:off x="11549413" y="6536751"/>
            <a:ext cx="141064" cy="138499"/>
          </a:xfrm>
          <a:prstGeom prst="rect">
            <a:avLst/>
          </a:prstGeom>
          <a:noFill/>
        </p:spPr>
        <p:txBody>
          <a:bodyPr wrap="none" lIns="0" tIns="0" rIns="0" bIns="0" rtlCol="0">
            <a:spAutoFit/>
          </a:bodyPr>
          <a:lstStyle>
            <a:defPPr>
              <a:defRPr lang="de-DE"/>
            </a:defPPr>
            <a:lvl1pPr marL="84138" indent="-84138">
              <a:buClr>
                <a:schemeClr val="tx1"/>
              </a:buClr>
              <a:buFont typeface="Arial" pitchFamily="34" charset="0"/>
              <a:buChar char="©"/>
              <a:tabLst/>
              <a:defRPr sz="600"/>
            </a:lvl1pPr>
          </a:lstStyle>
          <a:p>
            <a:pPr marL="0" lvl="0" indent="0" algn="r">
              <a:buNone/>
            </a:pPr>
            <a:fld id="{0BDC132A-5C91-4078-9777-31DA19A62E0A}" type="slidenum">
              <a:rPr lang="en-US" sz="900" noProof="0" smtClean="0"/>
              <a:pPr marL="0" lvl="0" indent="0" algn="r">
                <a:buNone/>
              </a:pPr>
              <a:t>‹Nr.›</a:t>
            </a:fld>
            <a:endParaRPr lang="en-US" sz="900" noProof="0" dirty="0"/>
          </a:p>
        </p:txBody>
      </p:sp>
      <p:sp>
        <p:nvSpPr>
          <p:cNvPr id="11" name="Classification"/>
          <p:cNvSpPr txBox="1"/>
          <p:nvPr userDrawn="1"/>
        </p:nvSpPr>
        <p:spPr bwMode="black">
          <a:xfrm>
            <a:off x="2814655" y="6559834"/>
            <a:ext cx="381515" cy="92333"/>
          </a:xfrm>
          <a:prstGeom prst="rect">
            <a:avLst/>
          </a:prstGeom>
          <a:noFill/>
        </p:spPr>
        <p:txBody>
          <a:bodyPr wrap="none" lIns="0" tIns="0" rIns="0" bIns="0" rtlCol="0">
            <a:spAutoFit/>
          </a:bodyPr>
          <a:lstStyle/>
          <a:p>
            <a:pPr marL="0" marR="0" indent="0" algn="l" defTabSz="1088558" rtl="0" eaLnBrk="1" fontAlgn="auto" latinLnBrk="0" hangingPunct="1">
              <a:lnSpc>
                <a:spcPct val="100000"/>
              </a:lnSpc>
              <a:spcBef>
                <a:spcPts val="0"/>
              </a:spcBef>
              <a:spcAft>
                <a:spcPts val="0"/>
              </a:spcAft>
              <a:buClr>
                <a:schemeClr val="tx1"/>
              </a:buClr>
              <a:buSzTx/>
              <a:buFont typeface="Arial" pitchFamily="34" charset="0"/>
              <a:buNone/>
              <a:tabLst/>
              <a:defRPr/>
            </a:pPr>
            <a:r>
              <a:rPr kumimoji="0" lang="en-US" sz="600" b="0" i="0" u="none" kern="0" baseline="0">
                <a:solidFill>
                  <a:schemeClr val="tx1"/>
                </a:solidFill>
                <a:latin typeface="Arial"/>
                <a:ea typeface="Arial Unicode MS"/>
                <a:cs typeface="Arial Unicode MS" pitchFamily="34" charset="-128"/>
                <a:sym typeface="Arial"/>
              </a:rPr>
              <a:t>INTERNAL</a:t>
            </a:r>
            <a:endParaRPr kumimoji="0" lang="en-US" sz="600" b="0" i="0" u="none" kern="0" baseline="0" dirty="0">
              <a:solidFill>
                <a:schemeClr val="tx1"/>
              </a:solidFill>
              <a:latin typeface="Arial"/>
              <a:ea typeface="Arial Unicode MS"/>
              <a:cs typeface="Arial Unicode MS" pitchFamily="34" charset="-128"/>
              <a:sym typeface="Arial"/>
            </a:endParaRPr>
          </a:p>
        </p:txBody>
      </p:sp>
      <p:sp>
        <p:nvSpPr>
          <p:cNvPr id="10" name="Copyright"/>
          <p:cNvSpPr txBox="1"/>
          <p:nvPr userDrawn="1"/>
        </p:nvSpPr>
        <p:spPr bwMode="black">
          <a:xfrm>
            <a:off x="504001" y="6559834"/>
            <a:ext cx="2269679" cy="92333"/>
          </a:xfrm>
          <a:prstGeom prst="rect">
            <a:avLst/>
          </a:prstGeom>
          <a:noFill/>
        </p:spPr>
        <p:txBody>
          <a:bodyPr wrap="square" lIns="0" tIns="0" rIns="0" bIns="0" rtlCol="0">
            <a:spAutoFit/>
          </a:bodyPr>
          <a:lstStyle/>
          <a:p>
            <a:pPr marL="84121" marR="0" indent="-84121" algn="l" defTabSz="1088558" rtl="0" eaLnBrk="1" fontAlgn="auto" latinLnBrk="0" hangingPunct="1">
              <a:lnSpc>
                <a:spcPct val="100000"/>
              </a:lnSpc>
              <a:spcBef>
                <a:spcPts val="0"/>
              </a:spcBef>
              <a:spcAft>
                <a:spcPts val="0"/>
              </a:spcAft>
              <a:buClr>
                <a:schemeClr val="tx1"/>
              </a:buClr>
              <a:buSzTx/>
              <a:buFont typeface="Arial" pitchFamily="34" charset="0"/>
              <a:buChar char="©"/>
              <a:tabLst/>
              <a:defRPr/>
            </a:pPr>
            <a:r>
              <a:rPr lang="en-US" sz="600" noProof="0" dirty="0">
                <a:solidFill>
                  <a:schemeClr val="tx1"/>
                </a:solidFill>
              </a:rPr>
              <a:t>2017 SAP SE or an SAP affiliate company. All rights reserved.  </a:t>
            </a:r>
            <a:r>
              <a:rPr kumimoji="0" lang="en-US" sz="600" b="0" i="0" u="none" kern="0" baseline="0" dirty="0">
                <a:solidFill>
                  <a:schemeClr val="tx1"/>
                </a:solidFill>
                <a:latin typeface="Arial"/>
                <a:ea typeface="Arial Unicode MS"/>
                <a:cs typeface="Arial Unicode MS" pitchFamily="34" charset="-128"/>
                <a:sym typeface="Arial"/>
              </a:rPr>
              <a:t>ǀ</a:t>
            </a:r>
          </a:p>
        </p:txBody>
      </p:sp>
      <p:sp>
        <p:nvSpPr>
          <p:cNvPr id="3" name="Text Placeholder 2"/>
          <p:cNvSpPr>
            <a:spLocks noGrp="1"/>
          </p:cNvSpPr>
          <p:nvPr userDrawn="1">
            <p:ph type="body" idx="1"/>
          </p:nvPr>
        </p:nvSpPr>
        <p:spPr bwMode="gray">
          <a:xfrm>
            <a:off x="504001" y="1620000"/>
            <a:ext cx="11186476" cy="4230235"/>
          </a:xfrm>
          <a:prstGeom prst="rect">
            <a:avLst/>
          </a:prstGeom>
        </p:spPr>
        <p:txBody>
          <a:bodyPr vert="horz" lIns="0" tIns="0" rIns="0" bIns="0" rtlCol="0">
            <a:noAutofit/>
          </a:bodyPr>
          <a:lstStyle/>
          <a:p>
            <a:pPr lvl="0"/>
            <a:r>
              <a:rPr lang="en-US" noProof="0" dirty="0"/>
              <a:t>First level</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2" name="Title Placeholder 1"/>
          <p:cNvSpPr>
            <a:spLocks noGrp="1"/>
          </p:cNvSpPr>
          <p:nvPr userDrawn="1">
            <p:ph type="title"/>
          </p:nvPr>
        </p:nvSpPr>
        <p:spPr bwMode="gray">
          <a:xfrm>
            <a:off x="504001" y="504000"/>
            <a:ext cx="11186476" cy="369332"/>
          </a:xfrm>
          <a:prstGeom prst="rect">
            <a:avLst/>
          </a:prstGeom>
        </p:spPr>
        <p:txBody>
          <a:bodyPr vert="horz" wrap="square" lIns="0" tIns="0" rIns="0" bIns="0" rtlCol="0" anchor="t" anchorCtr="0">
            <a:spAutoFit/>
          </a:bodyPr>
          <a:lstStyle/>
          <a:p>
            <a:r>
              <a:rPr lang="en-US" noProof="0" dirty="0"/>
              <a:t>Insert page title (sentence case)</a:t>
            </a:r>
          </a:p>
        </p:txBody>
      </p:sp>
      <p:grpSp>
        <p:nvGrpSpPr>
          <p:cNvPr id="9" name="Secondary Motion Band"/>
          <p:cNvGrpSpPr/>
          <p:nvPr userDrawn="1"/>
        </p:nvGrpSpPr>
        <p:grpSpPr>
          <a:xfrm>
            <a:off x="10682127" y="0"/>
            <a:ext cx="1513048" cy="251942"/>
            <a:chOff x="10682127" y="0"/>
            <a:chExt cx="1513048" cy="252000"/>
          </a:xfrm>
        </p:grpSpPr>
        <p:sp>
          <p:nvSpPr>
            <p:cNvPr id="16" name="Rectangle 15"/>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7" name="Rectangle 16"/>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17"/>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Tree>
    <p:extLst>
      <p:ext uri="{BB962C8B-B14F-4D97-AF65-F5344CB8AC3E}">
        <p14:creationId xmlns:p14="http://schemas.microsoft.com/office/powerpoint/2010/main" val="3408294523"/>
      </p:ext>
    </p:extLst>
  </p:cSld>
  <p:clrMap bg1="lt1" tx1="dk1" bg2="lt2" tx2="dk2" accent1="accent1" accent2="accent2" accent3="accent3" accent4="accent4" accent5="accent5" accent6="accent6" hlink="hlink" folHlink="folHlink"/>
  <p:sldLayoutIdLst>
    <p:sldLayoutId id="2147483772" r:id="rId1"/>
    <p:sldLayoutId id="2147483776" r:id="rId2"/>
    <p:sldLayoutId id="2147483773" r:id="rId3"/>
    <p:sldLayoutId id="2147483775" r:id="rId4"/>
    <p:sldLayoutId id="2147483741" r:id="rId5"/>
    <p:sldLayoutId id="2147483765" r:id="rId6"/>
    <p:sldLayoutId id="2147483767" r:id="rId7"/>
    <p:sldLayoutId id="2147483743" r:id="rId8"/>
    <p:sldLayoutId id="2147483774" r:id="rId9"/>
    <p:sldLayoutId id="2147483745" r:id="rId10"/>
    <p:sldLayoutId id="2147483760" r:id="rId11"/>
    <p:sldLayoutId id="2147483768" r:id="rId12"/>
    <p:sldLayoutId id="2147483769" r:id="rId13"/>
    <p:sldLayoutId id="2147483770" r:id="rId14"/>
    <p:sldLayoutId id="2147483744" r:id="rId15"/>
    <p:sldLayoutId id="2147483757" r:id="rId16"/>
    <p:sldLayoutId id="2147483748" r:id="rId17"/>
    <p:sldLayoutId id="2147483762" r:id="rId18"/>
    <p:sldLayoutId id="2147483771" r:id="rId19"/>
    <p:sldLayoutId id="2147483763" r:id="rId20"/>
    <p:sldLayoutId id="2147483751" r:id="rId21"/>
    <p:sldLayoutId id="2147483753" r:id="rId22"/>
    <p:sldLayoutId id="2147483756" r:id="rId23"/>
    <p:sldLayoutId id="2147483740" r:id="rId24"/>
    <p:sldLayoutId id="2147483754" r:id="rId25"/>
    <p:sldLayoutId id="2147483755" r:id="rId26"/>
  </p:sldLayoutIdLst>
  <p:hf hdr="0" ftr="0" dt="0"/>
  <p:txStyles>
    <p:titleStyle>
      <a:lvl1pPr algn="l" defTabSz="1088558" rtl="0" eaLnBrk="1" latinLnBrk="0" hangingPunct="1">
        <a:spcBef>
          <a:spcPct val="0"/>
        </a:spcBef>
        <a:buNone/>
        <a:defRPr sz="2400" b="1" kern="1200" baseline="0">
          <a:solidFill>
            <a:schemeClr val="tx1"/>
          </a:solidFill>
          <a:latin typeface="+mj-lt"/>
          <a:ea typeface="+mj-ea"/>
          <a:cs typeface="+mj-cs"/>
        </a:defRPr>
      </a:lvl1pPr>
    </p:titleStyle>
    <p:bodyStyle>
      <a:lvl1pPr marL="0" indent="0" algn="l" defTabSz="1088558" rtl="0" eaLnBrk="1" latinLnBrk="0" hangingPunct="1">
        <a:spcBef>
          <a:spcPts val="1800"/>
        </a:spcBef>
        <a:buClr>
          <a:schemeClr val="accent1"/>
        </a:buClr>
        <a:buSzPct val="80000"/>
        <a:buFontTx/>
        <a:buNone/>
        <a:defRPr sz="2000" b="0" kern="1200">
          <a:solidFill>
            <a:schemeClr val="tx1"/>
          </a:solidFill>
          <a:latin typeface="+mn-lt"/>
          <a:ea typeface="+mn-ea"/>
          <a:cs typeface="+mn-cs"/>
        </a:defRPr>
      </a:lvl1pPr>
      <a:lvl2pPr marL="179964" indent="-179964" algn="l" defTabSz="1088558" rtl="0" eaLnBrk="1" latinLnBrk="0" hangingPunct="1">
        <a:spcBef>
          <a:spcPts val="600"/>
        </a:spcBef>
        <a:buClr>
          <a:schemeClr val="accent1"/>
        </a:buClr>
        <a:buSzPct val="100000"/>
        <a:buFont typeface="Wingdings" pitchFamily="2" charset="2"/>
        <a:buChar char="§"/>
        <a:defRPr sz="1800" kern="1200">
          <a:solidFill>
            <a:schemeClr val="tx1"/>
          </a:solidFill>
          <a:latin typeface="+mn-lt"/>
          <a:ea typeface="+mn-ea"/>
          <a:cs typeface="+mn-cs"/>
        </a:defRPr>
      </a:lvl2pPr>
      <a:lvl3pPr marL="358775" indent="-179388" algn="l" defTabSz="1088558" rtl="0" eaLnBrk="1" latinLnBrk="0" hangingPunct="1">
        <a:spcBef>
          <a:spcPts val="300"/>
        </a:spcBef>
        <a:buClr>
          <a:schemeClr val="tx1"/>
        </a:buClr>
        <a:buSzPct val="100000"/>
        <a:buFont typeface="Arial" panose="020B0604020202020204" pitchFamily="34" charset="0"/>
        <a:buChar char="–"/>
        <a:defRPr lang="en-US" sz="1800" kern="1200" noProof="0" dirty="0" smtClean="0">
          <a:solidFill>
            <a:schemeClr val="tx1"/>
          </a:solidFill>
          <a:latin typeface="+mn-lt"/>
          <a:ea typeface="+mn-ea"/>
          <a:cs typeface="+mn-cs"/>
        </a:defRPr>
      </a:lvl3pPr>
      <a:lvl4pPr marL="539892" indent="-179964" algn="l" defTabSz="1088558" rtl="0" eaLnBrk="1" latinLnBrk="0" hangingPunct="1">
        <a:spcBef>
          <a:spcPts val="300"/>
        </a:spcBef>
        <a:buClr>
          <a:schemeClr val="tx1"/>
        </a:buClr>
        <a:buSzPct val="120000"/>
        <a:buFont typeface="Arial" pitchFamily="34" charset="0"/>
        <a:buChar char="▫"/>
        <a:defRPr sz="1600" kern="1200">
          <a:solidFill>
            <a:schemeClr val="tx1"/>
          </a:solidFill>
          <a:latin typeface="+mn-lt"/>
          <a:ea typeface="+mn-ea"/>
          <a:cs typeface="+mn-cs"/>
        </a:defRPr>
      </a:lvl4pPr>
      <a:lvl5pPr marL="719856" indent="-179964" algn="l" defTabSz="1088558" rtl="0" eaLnBrk="1" latinLnBrk="0" hangingPunct="1">
        <a:spcBef>
          <a:spcPts val="100"/>
        </a:spcBef>
        <a:buClr>
          <a:schemeClr val="tx1"/>
        </a:buClr>
        <a:buSzPct val="100000"/>
        <a:buFont typeface="Symbol" panose="05050102010706020507" pitchFamily="18" charset="2"/>
        <a:buChar char="-"/>
        <a:defRPr sz="1400" kern="1200" baseline="0">
          <a:solidFill>
            <a:schemeClr val="tx1"/>
          </a:solidFill>
          <a:latin typeface="+mn-lt"/>
          <a:ea typeface="+mn-ea"/>
          <a:cs typeface="+mn-cs"/>
        </a:defRPr>
      </a:lvl5pPr>
      <a:lvl6pPr marL="2993535"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6pPr>
      <a:lvl7pPr marL="3537814"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7pPr>
      <a:lvl8pPr marL="408209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8pPr>
      <a:lvl9pPr marL="462637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9pPr>
    </p:bodyStyle>
    <p:otherStyle>
      <a:defPPr>
        <a:defRPr lang="de-DE"/>
      </a:defPPr>
      <a:lvl1pPr marL="0" algn="l" defTabSz="1088558" rtl="0" eaLnBrk="1" latinLnBrk="0" hangingPunct="1">
        <a:defRPr sz="2100" kern="1200">
          <a:solidFill>
            <a:schemeClr val="tx1"/>
          </a:solidFill>
          <a:latin typeface="+mn-lt"/>
          <a:ea typeface="+mn-ea"/>
          <a:cs typeface="+mn-cs"/>
        </a:defRPr>
      </a:lvl1pPr>
      <a:lvl2pPr marL="544279" algn="l" defTabSz="1088558" rtl="0" eaLnBrk="1" latinLnBrk="0" hangingPunct="1">
        <a:defRPr sz="2100" kern="1200">
          <a:solidFill>
            <a:schemeClr val="tx1"/>
          </a:solidFill>
          <a:latin typeface="+mn-lt"/>
          <a:ea typeface="+mn-ea"/>
          <a:cs typeface="+mn-cs"/>
        </a:defRPr>
      </a:lvl2pPr>
      <a:lvl3pPr marL="1088558" algn="l" defTabSz="1088558" rtl="0" eaLnBrk="1" latinLnBrk="0" hangingPunct="1">
        <a:defRPr sz="2100" kern="1200">
          <a:solidFill>
            <a:schemeClr val="tx1"/>
          </a:solidFill>
          <a:latin typeface="+mn-lt"/>
          <a:ea typeface="+mn-ea"/>
          <a:cs typeface="+mn-cs"/>
        </a:defRPr>
      </a:lvl3pPr>
      <a:lvl4pPr marL="1632837" algn="l" defTabSz="1088558" rtl="0" eaLnBrk="1" latinLnBrk="0" hangingPunct="1">
        <a:defRPr sz="2100" kern="1200">
          <a:solidFill>
            <a:schemeClr val="tx1"/>
          </a:solidFill>
          <a:latin typeface="+mn-lt"/>
          <a:ea typeface="+mn-ea"/>
          <a:cs typeface="+mn-cs"/>
        </a:defRPr>
      </a:lvl4pPr>
      <a:lvl5pPr marL="2177116" algn="l" defTabSz="1088558" rtl="0" eaLnBrk="1" latinLnBrk="0" hangingPunct="1">
        <a:defRPr sz="2100" kern="1200">
          <a:solidFill>
            <a:schemeClr val="tx1"/>
          </a:solidFill>
          <a:latin typeface="+mn-lt"/>
          <a:ea typeface="+mn-ea"/>
          <a:cs typeface="+mn-cs"/>
        </a:defRPr>
      </a:lvl5pPr>
      <a:lvl6pPr marL="2721396" algn="l" defTabSz="1088558" rtl="0" eaLnBrk="1" latinLnBrk="0" hangingPunct="1">
        <a:defRPr sz="2100" kern="1200">
          <a:solidFill>
            <a:schemeClr val="tx1"/>
          </a:solidFill>
          <a:latin typeface="+mn-lt"/>
          <a:ea typeface="+mn-ea"/>
          <a:cs typeface="+mn-cs"/>
        </a:defRPr>
      </a:lvl6pPr>
      <a:lvl7pPr marL="3265675" algn="l" defTabSz="1088558" rtl="0" eaLnBrk="1" latinLnBrk="0" hangingPunct="1">
        <a:defRPr sz="2100" kern="1200">
          <a:solidFill>
            <a:schemeClr val="tx1"/>
          </a:solidFill>
          <a:latin typeface="+mn-lt"/>
          <a:ea typeface="+mn-ea"/>
          <a:cs typeface="+mn-cs"/>
        </a:defRPr>
      </a:lvl7pPr>
      <a:lvl8pPr marL="3809954" algn="l" defTabSz="1088558" rtl="0" eaLnBrk="1" latinLnBrk="0" hangingPunct="1">
        <a:defRPr sz="2100" kern="1200">
          <a:solidFill>
            <a:schemeClr val="tx1"/>
          </a:solidFill>
          <a:latin typeface="+mn-lt"/>
          <a:ea typeface="+mn-ea"/>
          <a:cs typeface="+mn-cs"/>
        </a:defRPr>
      </a:lvl8pPr>
      <a:lvl9pPr marL="4354233" algn="l" defTabSz="1088558" rtl="0" eaLnBrk="1" latinLnBrk="0" hangingPunct="1">
        <a:defRPr sz="21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8.xml"/></Relationships>
</file>

<file path=ppt/slides/_rels/slide3.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4.png"/><Relationship Id="rId7" Type="http://schemas.openxmlformats.org/officeDocument/2006/relationships/image" Target="../media/image8.png"/><Relationship Id="rId12" Type="http://schemas.openxmlformats.org/officeDocument/2006/relationships/image" Target="../media/image13.svg"/><Relationship Id="rId2" Type="http://schemas.openxmlformats.org/officeDocument/2006/relationships/notesSlide" Target="../notesSlides/notesSlide3.xml"/><Relationship Id="rId1" Type="http://schemas.openxmlformats.org/officeDocument/2006/relationships/slideLayout" Target="../slideLayouts/slideLayout8.xml"/><Relationship Id="rId6" Type="http://schemas.openxmlformats.org/officeDocument/2006/relationships/image" Target="../media/image7.svg"/><Relationship Id="rId11" Type="http://schemas.openxmlformats.org/officeDocument/2006/relationships/image" Target="../media/image12.png"/><Relationship Id="rId5" Type="http://schemas.openxmlformats.org/officeDocument/2006/relationships/image" Target="../media/image6.png"/><Relationship Id="rId10" Type="http://schemas.openxmlformats.org/officeDocument/2006/relationships/image" Target="../media/image11.svg"/><Relationship Id="rId4" Type="http://schemas.openxmlformats.org/officeDocument/2006/relationships/image" Target="../media/image5.svg"/><Relationship Id="rId9" Type="http://schemas.openxmlformats.org/officeDocument/2006/relationships/image" Target="../media/image10.png"/></Relationships>
</file>

<file path=ppt/slides/_rels/slide4.xml.rels><?xml version="1.0" encoding="UTF-8" standalone="yes"?>
<Relationships xmlns="http://schemas.openxmlformats.org/package/2006/relationships"><Relationship Id="rId3" Type="http://schemas.openxmlformats.org/officeDocument/2006/relationships/hyperlink" Target="https://kubernetes.io/docs/concepts/storage/volumes/" TargetMode="External"/><Relationship Id="rId2" Type="http://schemas.openxmlformats.org/officeDocument/2006/relationships/notesSlide" Target="../notesSlides/notesSlide4.xml"/><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8" Type="http://schemas.openxmlformats.org/officeDocument/2006/relationships/image" Target="../media/image20.svg"/><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notesSlide" Target="../notesSlides/notesSlide6.xml"/><Relationship Id="rId1" Type="http://schemas.openxmlformats.org/officeDocument/2006/relationships/slideLayout" Target="../slideLayouts/slideLayout8.xml"/><Relationship Id="rId6" Type="http://schemas.openxmlformats.org/officeDocument/2006/relationships/image" Target="../media/image18.svg"/><Relationship Id="rId5" Type="http://schemas.openxmlformats.org/officeDocument/2006/relationships/image" Target="../media/image17.png"/><Relationship Id="rId4" Type="http://schemas.openxmlformats.org/officeDocument/2006/relationships/image" Target="../media/image16.sv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9.xml"/><Relationship Id="rId1" Type="http://schemas.openxmlformats.org/officeDocument/2006/relationships/slideLayout" Target="../slideLayouts/slideLayout8.xml"/><Relationship Id="rId5" Type="http://schemas.openxmlformats.org/officeDocument/2006/relationships/image" Target="../media/image23.png"/><Relationship Id="rId4" Type="http://schemas.openxmlformats.org/officeDocument/2006/relationships/image" Target="../media/image22.png"/></Relationships>
</file>

<file path=ppt/slides/_rels/slide1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0.xml"/><Relationship Id="rId1" Type="http://schemas.openxmlformats.org/officeDocument/2006/relationships/slideLayout" Target="../slideLayouts/slideLayout8.xml"/><Relationship Id="rId4" Type="http://schemas.openxmlformats.org/officeDocument/2006/relationships/image" Target="../media/image25.png"/></Relationships>
</file>

<file path=ppt/slides/_rels/slide1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1.xml"/><Relationship Id="rId1" Type="http://schemas.openxmlformats.org/officeDocument/2006/relationships/slideLayout" Target="../slideLayouts/slideLayout8.xml"/><Relationship Id="rId6" Type="http://schemas.openxmlformats.org/officeDocument/2006/relationships/image" Target="../media/image29.svg"/><Relationship Id="rId5" Type="http://schemas.openxmlformats.org/officeDocument/2006/relationships/image" Target="../media/image28.png"/><Relationship Id="rId4" Type="http://schemas.openxmlformats.org/officeDocument/2006/relationships/image" Target="../media/image27.svg"/></Relationships>
</file>

<file path=ppt/slides/_rels/slide12.xml.rels><?xml version="1.0" encoding="UTF-8" standalone="yes"?>
<Relationships xmlns="http://schemas.openxmlformats.org/package/2006/relationships"><Relationship Id="rId3" Type="http://schemas.openxmlformats.org/officeDocument/2006/relationships/image" Target="../media/image26.png"/><Relationship Id="rId7" Type="http://schemas.openxmlformats.org/officeDocument/2006/relationships/image" Target="../media/image29.svg"/><Relationship Id="rId2" Type="http://schemas.openxmlformats.org/officeDocument/2006/relationships/notesSlide" Target="../notesSlides/notesSlide12.xml"/><Relationship Id="rId1" Type="http://schemas.openxmlformats.org/officeDocument/2006/relationships/slideLayout" Target="../slideLayouts/slideLayout8.xml"/><Relationship Id="rId6" Type="http://schemas.openxmlformats.org/officeDocument/2006/relationships/image" Target="../media/image28.png"/><Relationship Id="rId5" Type="http://schemas.openxmlformats.org/officeDocument/2006/relationships/image" Target="../media/image30.png"/><Relationship Id="rId4" Type="http://schemas.openxmlformats.org/officeDocument/2006/relationships/image" Target="../media/image27.svg"/></Relationships>
</file>

<file path=ppt/slides/_rels/slide13.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3.xml"/><Relationship Id="rId1" Type="http://schemas.openxmlformats.org/officeDocument/2006/relationships/slideLayout" Target="../slideLayouts/slideLayout8.xml"/><Relationship Id="rId4" Type="http://schemas.openxmlformats.org/officeDocument/2006/relationships/image" Target="../media/image32.sv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5.xml"/><Relationship Id="rId1" Type="http://schemas.openxmlformats.org/officeDocument/2006/relationships/slideLayout" Target="../slideLayouts/slideLayout8.xml"/><Relationship Id="rId6" Type="http://schemas.openxmlformats.org/officeDocument/2006/relationships/image" Target="../media/image34.svg"/><Relationship Id="rId5" Type="http://schemas.openxmlformats.org/officeDocument/2006/relationships/image" Target="../media/image33.png"/><Relationship Id="rId4" Type="http://schemas.openxmlformats.org/officeDocument/2006/relationships/image" Target="../media/image16.svg"/></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6.xml"/><Relationship Id="rId1" Type="http://schemas.openxmlformats.org/officeDocument/2006/relationships/slideLayout" Target="../slideLayouts/slideLayout8.xml"/><Relationship Id="rId6" Type="http://schemas.openxmlformats.org/officeDocument/2006/relationships/image" Target="../media/image34.svg"/><Relationship Id="rId5" Type="http://schemas.openxmlformats.org/officeDocument/2006/relationships/image" Target="../media/image33.png"/><Relationship Id="rId4" Type="http://schemas.openxmlformats.org/officeDocument/2006/relationships/image" Target="../media/image16.svg"/></Relationships>
</file>

<file path=ppt/slides/_rels/slide1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7.xml"/><Relationship Id="rId1" Type="http://schemas.openxmlformats.org/officeDocument/2006/relationships/slideLayout" Target="../slideLayouts/slideLayout8.xml"/><Relationship Id="rId4" Type="http://schemas.openxmlformats.org/officeDocument/2006/relationships/image" Target="../media/image16.svg"/></Relationships>
</file>

<file path=ppt/slides/_rels/slide1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8.xml"/><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4"/>
          </p:nvPr>
        </p:nvSpPr>
        <p:spPr/>
        <p:txBody>
          <a:bodyPr/>
          <a:lstStyle/>
          <a:p>
            <a:r>
              <a:rPr lang="en-US" dirty="0"/>
              <a:t>Kubernetes</a:t>
            </a:r>
            <a:br>
              <a:rPr lang="en-US" dirty="0"/>
            </a:br>
            <a:r>
              <a:rPr lang="en-US" dirty="0">
                <a:solidFill>
                  <a:schemeClr val="accent1"/>
                </a:solidFill>
              </a:rPr>
              <a:t>Persistence</a:t>
            </a:r>
          </a:p>
        </p:txBody>
      </p:sp>
      <p:pic>
        <p:nvPicPr>
          <p:cNvPr id="4" name="Picture 3" descr="cid:image003.png@01D31CC6.A08B1C50">
            <a:extLst>
              <a:ext uri="{FF2B5EF4-FFF2-40B4-BE49-F238E27FC236}">
                <a16:creationId xmlns:a16="http://schemas.microsoft.com/office/drawing/2014/main" id="{CE860390-F50F-48A8-AA1A-AE0217946FC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80713" y="5721975"/>
            <a:ext cx="1414463" cy="1136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 name="Illustration" descr="Example of an illustration" title="Illustration for title slide">
            <a:extLst>
              <a:ext uri="{FF2B5EF4-FFF2-40B4-BE49-F238E27FC236}">
                <a16:creationId xmlns:a16="http://schemas.microsoft.com/office/drawing/2014/main" id="{E53C8E3A-1E81-4242-B8E7-650C8631D3D8}"/>
              </a:ext>
            </a:extLst>
          </p:cNvPr>
          <p:cNvPicPr>
            <a:picLocks noGrp="1" noChangeAspect="1"/>
          </p:cNvPicPr>
          <p:nvPr>
            <p:ph type="pic" sz="quarter" idx="12"/>
          </p:nvPr>
        </p:nvPicPr>
        <p:blipFill>
          <a:blip r:embed="rId4"/>
          <a:srcRect t="3112" b="3112"/>
          <a:stretch>
            <a:fillRect/>
          </a:stretch>
        </p:blipFill>
        <p:spPr bwMode="gray">
          <a:xfrm>
            <a:off x="0" y="0"/>
            <a:ext cx="12195174" cy="3430006"/>
          </a:xfrm>
        </p:spPr>
      </p:pic>
    </p:spTree>
    <p:extLst>
      <p:ext uri="{BB962C8B-B14F-4D97-AF65-F5344CB8AC3E}">
        <p14:creationId xmlns:p14="http://schemas.microsoft.com/office/powerpoint/2010/main" val="18192059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What‘s the issue? </a:t>
            </a:r>
          </a:p>
        </p:txBody>
      </p:sp>
      <p:sp>
        <p:nvSpPr>
          <p:cNvPr id="8" name="Rectangle 7"/>
          <p:cNvSpPr/>
          <p:nvPr/>
        </p:nvSpPr>
        <p:spPr>
          <a:xfrm>
            <a:off x="504000" y="1223190"/>
            <a:ext cx="10590719" cy="738664"/>
          </a:xfrm>
          <a:prstGeom prst="rect">
            <a:avLst/>
          </a:prstGeom>
        </p:spPr>
        <p:txBody>
          <a:bodyPr wrap="square">
            <a:spAutoFit/>
          </a:bodyPr>
          <a:lstStyle/>
          <a:p>
            <a:pPr marL="342900" indent="-342900">
              <a:buFont typeface="Wingdings" panose="05000000000000000000" pitchFamily="2" charset="2"/>
              <a:buChar char="§"/>
            </a:pPr>
            <a:r>
              <a:rPr lang="en-US" dirty="0"/>
              <a:t>Pods are ephemeral and can vanish any moment</a:t>
            </a:r>
          </a:p>
          <a:p>
            <a:pPr marL="342900" indent="-342900">
              <a:buFont typeface="Wingdings" panose="05000000000000000000" pitchFamily="2" charset="2"/>
              <a:buChar char="§"/>
            </a:pPr>
            <a:r>
              <a:rPr lang="en-US" dirty="0"/>
              <a:t>Data residing in a pod will vanish with the pod</a:t>
            </a:r>
          </a:p>
        </p:txBody>
      </p:sp>
      <p:sp>
        <p:nvSpPr>
          <p:cNvPr id="4" name="Rectangle 3"/>
          <p:cNvSpPr/>
          <p:nvPr/>
        </p:nvSpPr>
        <p:spPr bwMode="gray">
          <a:xfrm>
            <a:off x="2900521" y="2655920"/>
            <a:ext cx="5032722" cy="3141422"/>
          </a:xfrm>
          <a:prstGeom prst="rect">
            <a:avLst/>
          </a:prstGeom>
          <a:solidFill>
            <a:schemeClr val="tx2"/>
          </a:solidFill>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lang="en-US" sz="1600" b="1" kern="0" noProof="0" dirty="0">
                <a:solidFill>
                  <a:sysClr val="windowText" lastClr="000000"/>
                </a:solidFill>
                <a:ea typeface="Arial Unicode MS" pitchFamily="34" charset="-128"/>
                <a:cs typeface="Arial Unicode MS" pitchFamily="34" charset="-128"/>
              </a:rPr>
              <a:t>Pod-A</a:t>
            </a:r>
            <a:endParaRPr kumimoji="0" lang="en-US" sz="1600" b="1" i="0" u="none" strike="noStrike" kern="0" cap="none" spc="0" normalizeH="0" baseline="0" noProof="0" dirty="0">
              <a:ln>
                <a:noFill/>
              </a:ln>
              <a:solidFill>
                <a:sysClr val="windowText" lastClr="000000"/>
              </a:solidFill>
              <a:effectLst/>
              <a:uLnTx/>
              <a:uFillTx/>
              <a:ea typeface="Arial Unicode MS" pitchFamily="34" charset="-128"/>
              <a:cs typeface="Arial Unicode MS" pitchFamily="34" charset="-128"/>
            </a:endParaRPr>
          </a:p>
        </p:txBody>
      </p:sp>
      <p:sp>
        <p:nvSpPr>
          <p:cNvPr id="5" name="Rectangle 4"/>
          <p:cNvSpPr/>
          <p:nvPr/>
        </p:nvSpPr>
        <p:spPr bwMode="gray">
          <a:xfrm>
            <a:off x="2728784" y="2473040"/>
            <a:ext cx="1645920" cy="365760"/>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IP: 10.10.10.1</a:t>
            </a:r>
          </a:p>
        </p:txBody>
      </p:sp>
      <p:sp>
        <p:nvSpPr>
          <p:cNvPr id="6" name="Cylinder 5"/>
          <p:cNvSpPr/>
          <p:nvPr/>
        </p:nvSpPr>
        <p:spPr bwMode="gray">
          <a:xfrm>
            <a:off x="4579815" y="4477855"/>
            <a:ext cx="1812912" cy="1004248"/>
          </a:xfrm>
          <a:prstGeom prst="can">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Container FS</a:t>
            </a:r>
          </a:p>
        </p:txBody>
      </p:sp>
      <p:sp>
        <p:nvSpPr>
          <p:cNvPr id="7" name="Rectangle 6"/>
          <p:cNvSpPr/>
          <p:nvPr/>
        </p:nvSpPr>
        <p:spPr bwMode="gray">
          <a:xfrm>
            <a:off x="4602917" y="3201988"/>
            <a:ext cx="1627931" cy="1118082"/>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c</a:t>
            </a:r>
            <a:r>
              <a:rPr kumimoji="0" lang="en-US" sz="1800" b="0" i="0" u="none" strike="noStrike" kern="0" cap="none" spc="0" normalizeH="0" baseline="0" noProof="0" dirty="0" err="1">
                <a:ln>
                  <a:noFill/>
                </a:ln>
                <a:effectLst/>
                <a:uLnTx/>
                <a:uFillTx/>
                <a:ea typeface="Arial Unicode MS" pitchFamily="34" charset="-128"/>
                <a:cs typeface="Arial Unicode MS" pitchFamily="34" charset="-128"/>
              </a:rPr>
              <a:t>ontainer</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err="1">
                <a:ea typeface="Arial Unicode MS" pitchFamily="34" charset="-128"/>
                <a:cs typeface="Arial Unicode MS" pitchFamily="34" charset="-128"/>
              </a:rPr>
              <a:t>nginx</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9" name="Connector: Elbow 8"/>
          <p:cNvCxnSpPr>
            <a:cxnSpLocks/>
            <a:stCxn id="7" idx="3"/>
            <a:endCxn id="6" idx="4"/>
          </p:cNvCxnSpPr>
          <p:nvPr/>
        </p:nvCxnSpPr>
        <p:spPr>
          <a:xfrm>
            <a:off x="6230848" y="3761029"/>
            <a:ext cx="161879" cy="1218950"/>
          </a:xfrm>
          <a:prstGeom prst="bentConnector3">
            <a:avLst>
              <a:gd name="adj1" fmla="val 241217"/>
            </a:avLst>
          </a:prstGeom>
          <a:ln w="571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 name="Cross 9"/>
          <p:cNvSpPr/>
          <p:nvPr/>
        </p:nvSpPr>
        <p:spPr bwMode="gray">
          <a:xfrm rot="2690790">
            <a:off x="6246410" y="2643900"/>
            <a:ext cx="1795337" cy="1804951"/>
          </a:xfrm>
          <a:prstGeom prst="plus">
            <a:avLst>
              <a:gd name="adj" fmla="val 44715"/>
            </a:avLst>
          </a:prstGeom>
          <a:solidFill>
            <a:schemeClr val="accent5">
              <a:lumMod val="40000"/>
              <a:lumOff val="60000"/>
            </a:schemeClr>
          </a:solidFill>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86419187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Rectangle 32">
            <a:extLst>
              <a:ext uri="{FF2B5EF4-FFF2-40B4-BE49-F238E27FC236}">
                <a16:creationId xmlns:a16="http://schemas.microsoft.com/office/drawing/2014/main" id="{689C4DFA-AAD7-4DF2-8308-7E50B140029E}"/>
              </a:ext>
            </a:extLst>
          </p:cNvPr>
          <p:cNvSpPr/>
          <p:nvPr/>
        </p:nvSpPr>
        <p:spPr bwMode="gray">
          <a:xfrm>
            <a:off x="3955774" y="1036357"/>
            <a:ext cx="6684918" cy="4956937"/>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endParaRPr lang="de-DE" sz="2400" b="1" kern="0" dirty="0">
              <a:ea typeface="Arial Unicode MS" pitchFamily="34" charset="-128"/>
              <a:cs typeface="Arial Unicode MS" pitchFamily="34" charset="-128"/>
            </a:endParaRPr>
          </a:p>
        </p:txBody>
      </p:sp>
      <p:sp>
        <p:nvSpPr>
          <p:cNvPr id="2" name="Title 1">
            <a:extLst>
              <a:ext uri="{FF2B5EF4-FFF2-40B4-BE49-F238E27FC236}">
                <a16:creationId xmlns:a16="http://schemas.microsoft.com/office/drawing/2014/main" id="{AE3C9C03-1FD5-466C-A43A-66E85A4C2E5D}"/>
              </a:ext>
            </a:extLst>
          </p:cNvPr>
          <p:cNvSpPr>
            <a:spLocks noGrp="1"/>
          </p:cNvSpPr>
          <p:nvPr>
            <p:ph type="title"/>
          </p:nvPr>
        </p:nvSpPr>
        <p:spPr/>
        <p:txBody>
          <a:bodyPr/>
          <a:lstStyle/>
          <a:p>
            <a:r>
              <a:rPr lang="en-US" dirty="0"/>
              <a:t>Technically, it’s still about containers …</a:t>
            </a:r>
          </a:p>
        </p:txBody>
      </p:sp>
      <p:sp>
        <p:nvSpPr>
          <p:cNvPr id="3" name="Rectangle 2">
            <a:extLst>
              <a:ext uri="{FF2B5EF4-FFF2-40B4-BE49-F238E27FC236}">
                <a16:creationId xmlns:a16="http://schemas.microsoft.com/office/drawing/2014/main" id="{37534004-9BD7-46AF-8689-35CCE4320B4F}"/>
              </a:ext>
            </a:extLst>
          </p:cNvPr>
          <p:cNvSpPr/>
          <p:nvPr/>
        </p:nvSpPr>
        <p:spPr bwMode="gray">
          <a:xfrm>
            <a:off x="7224216" y="1159325"/>
            <a:ext cx="3274827" cy="4701421"/>
          </a:xfrm>
          <a:prstGeom prst="rect">
            <a:avLst/>
          </a:prstGeom>
          <a:noFill/>
          <a:ln w="25400" algn="ctr">
            <a:solidFill>
              <a:schemeClr val="tx1"/>
            </a:solidFill>
            <a:miter lim="800000"/>
            <a:headEnd/>
            <a:tailEnd/>
          </a:ln>
        </p:spPr>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1" i="0" u="none" strike="noStrike" kern="0" cap="none" spc="0" normalizeH="0" baseline="0" noProof="0" dirty="0">
                <a:ln>
                  <a:noFill/>
                </a:ln>
                <a:effectLst/>
                <a:uLnTx/>
                <a:uFillTx/>
                <a:ea typeface="Arial Unicode MS" pitchFamily="34" charset="-128"/>
                <a:cs typeface="Arial Unicode MS" pitchFamily="34" charset="-128"/>
              </a:rPr>
              <a:t>Container</a:t>
            </a:r>
          </a:p>
        </p:txBody>
      </p:sp>
      <p:pic>
        <p:nvPicPr>
          <p:cNvPr id="9" name="Graphic 8" descr="Open folder">
            <a:extLst>
              <a:ext uri="{FF2B5EF4-FFF2-40B4-BE49-F238E27FC236}">
                <a16:creationId xmlns:a16="http://schemas.microsoft.com/office/drawing/2014/main" id="{CB24096E-25CB-439F-ABC1-1E6CF7542ED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404429" y="3159331"/>
            <a:ext cx="914400" cy="914400"/>
          </a:xfrm>
          <a:prstGeom prst="rect">
            <a:avLst/>
          </a:prstGeom>
        </p:spPr>
      </p:pic>
      <p:pic>
        <p:nvPicPr>
          <p:cNvPr id="5" name="Graphic 4" descr="Open folder">
            <a:extLst>
              <a:ext uri="{FF2B5EF4-FFF2-40B4-BE49-F238E27FC236}">
                <a16:creationId xmlns:a16="http://schemas.microsoft.com/office/drawing/2014/main" id="{5996316E-0396-4923-A41F-6E0B6B46255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449086" y="1234830"/>
            <a:ext cx="914400" cy="914400"/>
          </a:xfrm>
          <a:prstGeom prst="rect">
            <a:avLst/>
          </a:prstGeom>
        </p:spPr>
      </p:pic>
      <p:pic>
        <p:nvPicPr>
          <p:cNvPr id="7" name="Graphic 6" descr="Paper">
            <a:extLst>
              <a:ext uri="{FF2B5EF4-FFF2-40B4-BE49-F238E27FC236}">
                <a16:creationId xmlns:a16="http://schemas.microsoft.com/office/drawing/2014/main" id="{7F8972B3-A747-4C6F-A359-8591C0BC59F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582464" y="3896611"/>
            <a:ext cx="652943" cy="652943"/>
          </a:xfrm>
          <a:prstGeom prst="rect">
            <a:avLst/>
          </a:prstGeom>
        </p:spPr>
      </p:pic>
      <p:pic>
        <p:nvPicPr>
          <p:cNvPr id="8" name="Graphic 7" descr="Open folder">
            <a:extLst>
              <a:ext uri="{FF2B5EF4-FFF2-40B4-BE49-F238E27FC236}">
                <a16:creationId xmlns:a16="http://schemas.microsoft.com/office/drawing/2014/main" id="{90BF7465-B376-4AE8-9106-643B626574D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404429" y="1979113"/>
            <a:ext cx="914400" cy="914400"/>
          </a:xfrm>
          <a:prstGeom prst="rect">
            <a:avLst/>
          </a:prstGeom>
        </p:spPr>
      </p:pic>
      <p:pic>
        <p:nvPicPr>
          <p:cNvPr id="10" name="Graphic 9" descr="Paper">
            <a:extLst>
              <a:ext uri="{FF2B5EF4-FFF2-40B4-BE49-F238E27FC236}">
                <a16:creationId xmlns:a16="http://schemas.microsoft.com/office/drawing/2014/main" id="{76174BFA-09B4-42FF-B185-189CC49B32DF}"/>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582463" y="2769061"/>
            <a:ext cx="652943" cy="652943"/>
          </a:xfrm>
          <a:prstGeom prst="rect">
            <a:avLst/>
          </a:prstGeom>
        </p:spPr>
      </p:pic>
      <p:cxnSp>
        <p:nvCxnSpPr>
          <p:cNvPr id="12" name="Connector: Elbow 11">
            <a:extLst>
              <a:ext uri="{FF2B5EF4-FFF2-40B4-BE49-F238E27FC236}">
                <a16:creationId xmlns:a16="http://schemas.microsoft.com/office/drawing/2014/main" id="{84CEB734-CA6C-481E-94C9-03DA89854903}"/>
              </a:ext>
            </a:extLst>
          </p:cNvPr>
          <p:cNvCxnSpPr>
            <a:stCxn id="5" idx="2"/>
            <a:endCxn id="8" idx="1"/>
          </p:cNvCxnSpPr>
          <p:nvPr/>
        </p:nvCxnSpPr>
        <p:spPr>
          <a:xfrm rot="16200000" flipH="1">
            <a:off x="8011816" y="2043699"/>
            <a:ext cx="287083" cy="498143"/>
          </a:xfrm>
          <a:prstGeom prst="bentConnector2">
            <a:avLst/>
          </a:prstGeom>
          <a:ln w="2540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 name="Connector: Elbow 13">
            <a:extLst>
              <a:ext uri="{FF2B5EF4-FFF2-40B4-BE49-F238E27FC236}">
                <a16:creationId xmlns:a16="http://schemas.microsoft.com/office/drawing/2014/main" id="{DD16C945-8B15-467B-A978-AD5761198398}"/>
              </a:ext>
            </a:extLst>
          </p:cNvPr>
          <p:cNvCxnSpPr>
            <a:cxnSpLocks/>
            <a:stCxn id="5" idx="2"/>
            <a:endCxn id="9" idx="1"/>
          </p:cNvCxnSpPr>
          <p:nvPr/>
        </p:nvCxnSpPr>
        <p:spPr>
          <a:xfrm rot="16200000" flipH="1">
            <a:off x="7421707" y="2633808"/>
            <a:ext cx="1467301" cy="498143"/>
          </a:xfrm>
          <a:prstGeom prst="bentConnector2">
            <a:avLst/>
          </a:prstGeom>
          <a:ln w="2540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 name="Connector: Elbow 15">
            <a:extLst>
              <a:ext uri="{FF2B5EF4-FFF2-40B4-BE49-F238E27FC236}">
                <a16:creationId xmlns:a16="http://schemas.microsoft.com/office/drawing/2014/main" id="{05A2AC34-A096-48F1-BFE3-69846F2190C4}"/>
              </a:ext>
            </a:extLst>
          </p:cNvPr>
          <p:cNvCxnSpPr>
            <a:stCxn id="8" idx="2"/>
            <a:endCxn id="10" idx="1"/>
          </p:cNvCxnSpPr>
          <p:nvPr/>
        </p:nvCxnSpPr>
        <p:spPr>
          <a:xfrm rot="16200000" flipH="1">
            <a:off x="9121036" y="2634106"/>
            <a:ext cx="202020" cy="720834"/>
          </a:xfrm>
          <a:prstGeom prst="bentConnector2">
            <a:avLst/>
          </a:prstGeom>
          <a:ln w="2540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 name="Connector: Elbow 16">
            <a:extLst>
              <a:ext uri="{FF2B5EF4-FFF2-40B4-BE49-F238E27FC236}">
                <a16:creationId xmlns:a16="http://schemas.microsoft.com/office/drawing/2014/main" id="{07BDE53D-707A-4D25-8B01-43FF216CCD8E}"/>
              </a:ext>
            </a:extLst>
          </p:cNvPr>
          <p:cNvCxnSpPr>
            <a:cxnSpLocks/>
            <a:stCxn id="9" idx="2"/>
            <a:endCxn id="7" idx="1"/>
          </p:cNvCxnSpPr>
          <p:nvPr/>
        </p:nvCxnSpPr>
        <p:spPr>
          <a:xfrm rot="16200000" flipH="1">
            <a:off x="9147370" y="3787989"/>
            <a:ext cx="149352" cy="720835"/>
          </a:xfrm>
          <a:prstGeom prst="bentConnector2">
            <a:avLst/>
          </a:prstGeom>
          <a:ln w="2540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20" name="Graphic 19" descr="Paper">
            <a:extLst>
              <a:ext uri="{FF2B5EF4-FFF2-40B4-BE49-F238E27FC236}">
                <a16:creationId xmlns:a16="http://schemas.microsoft.com/office/drawing/2014/main" id="{76BA5873-5F4F-4A66-8E0E-AD657969D41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582463" y="4549554"/>
            <a:ext cx="652943" cy="652943"/>
          </a:xfrm>
          <a:prstGeom prst="rect">
            <a:avLst/>
          </a:prstGeom>
        </p:spPr>
      </p:pic>
      <p:cxnSp>
        <p:nvCxnSpPr>
          <p:cNvPr id="21" name="Connector: Elbow 20">
            <a:extLst>
              <a:ext uri="{FF2B5EF4-FFF2-40B4-BE49-F238E27FC236}">
                <a16:creationId xmlns:a16="http://schemas.microsoft.com/office/drawing/2014/main" id="{952717D7-3295-42AD-B0BA-899070A4BC00}"/>
              </a:ext>
            </a:extLst>
          </p:cNvPr>
          <p:cNvCxnSpPr>
            <a:cxnSpLocks/>
            <a:stCxn id="9" idx="2"/>
            <a:endCxn id="20" idx="1"/>
          </p:cNvCxnSpPr>
          <p:nvPr/>
        </p:nvCxnSpPr>
        <p:spPr>
          <a:xfrm rot="16200000" flipH="1">
            <a:off x="8820899" y="4114461"/>
            <a:ext cx="802295" cy="720834"/>
          </a:xfrm>
          <a:prstGeom prst="bentConnector2">
            <a:avLst/>
          </a:prstGeom>
          <a:ln w="2540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38" name="Graphic 37" descr="Open folder">
            <a:extLst>
              <a:ext uri="{FF2B5EF4-FFF2-40B4-BE49-F238E27FC236}">
                <a16:creationId xmlns:a16="http://schemas.microsoft.com/office/drawing/2014/main" id="{8E3063F4-F04B-4E45-991F-6CCEE9C6A49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158977" y="1234830"/>
            <a:ext cx="914400" cy="914400"/>
          </a:xfrm>
          <a:prstGeom prst="rect">
            <a:avLst/>
          </a:prstGeom>
        </p:spPr>
      </p:pic>
      <p:pic>
        <p:nvPicPr>
          <p:cNvPr id="39" name="Graphic 38" descr="Open folder">
            <a:extLst>
              <a:ext uri="{FF2B5EF4-FFF2-40B4-BE49-F238E27FC236}">
                <a16:creationId xmlns:a16="http://schemas.microsoft.com/office/drawing/2014/main" id="{49967E5A-EF4C-4EB1-B08D-88DD24DAC33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5114320" y="2149230"/>
            <a:ext cx="914400" cy="914400"/>
          </a:xfrm>
          <a:prstGeom prst="rect">
            <a:avLst/>
          </a:prstGeom>
        </p:spPr>
      </p:pic>
      <p:pic>
        <p:nvPicPr>
          <p:cNvPr id="40" name="Graphic 39" descr="Open folder">
            <a:extLst>
              <a:ext uri="{FF2B5EF4-FFF2-40B4-BE49-F238E27FC236}">
                <a16:creationId xmlns:a16="http://schemas.microsoft.com/office/drawing/2014/main" id="{F0423320-73AA-43E1-8ED3-BE48B8BE40D3}"/>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5114320" y="3184447"/>
            <a:ext cx="914400" cy="914400"/>
          </a:xfrm>
          <a:prstGeom prst="rect">
            <a:avLst/>
          </a:prstGeom>
        </p:spPr>
      </p:pic>
      <p:cxnSp>
        <p:nvCxnSpPr>
          <p:cNvPr id="41" name="Connector: Elbow 40">
            <a:extLst>
              <a:ext uri="{FF2B5EF4-FFF2-40B4-BE49-F238E27FC236}">
                <a16:creationId xmlns:a16="http://schemas.microsoft.com/office/drawing/2014/main" id="{346226CF-B5A9-4F05-A6AD-32DCFC51F6DF}"/>
              </a:ext>
            </a:extLst>
          </p:cNvPr>
          <p:cNvCxnSpPr>
            <a:stCxn id="38" idx="2"/>
            <a:endCxn id="39" idx="1"/>
          </p:cNvCxnSpPr>
          <p:nvPr/>
        </p:nvCxnSpPr>
        <p:spPr>
          <a:xfrm rot="16200000" flipH="1">
            <a:off x="4636648" y="2128758"/>
            <a:ext cx="457200" cy="498143"/>
          </a:xfrm>
          <a:prstGeom prst="bentConnector2">
            <a:avLst/>
          </a:prstGeom>
          <a:ln w="2540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 name="Connector: Elbow 41">
            <a:extLst>
              <a:ext uri="{FF2B5EF4-FFF2-40B4-BE49-F238E27FC236}">
                <a16:creationId xmlns:a16="http://schemas.microsoft.com/office/drawing/2014/main" id="{1939448F-7479-40F8-A250-44BDFE14B987}"/>
              </a:ext>
            </a:extLst>
          </p:cNvPr>
          <p:cNvCxnSpPr>
            <a:stCxn id="38" idx="2"/>
            <a:endCxn id="40" idx="1"/>
          </p:cNvCxnSpPr>
          <p:nvPr/>
        </p:nvCxnSpPr>
        <p:spPr>
          <a:xfrm rot="16200000" flipH="1">
            <a:off x="4119040" y="2646366"/>
            <a:ext cx="1492417" cy="498143"/>
          </a:xfrm>
          <a:prstGeom prst="bentConnector2">
            <a:avLst/>
          </a:prstGeom>
          <a:ln w="2540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4" name="Connector: Elbow 43">
            <a:extLst>
              <a:ext uri="{FF2B5EF4-FFF2-40B4-BE49-F238E27FC236}">
                <a16:creationId xmlns:a16="http://schemas.microsoft.com/office/drawing/2014/main" id="{24E152C0-412F-4E88-B9E6-24BE066A873B}"/>
              </a:ext>
            </a:extLst>
          </p:cNvPr>
          <p:cNvCxnSpPr>
            <a:cxnSpLocks/>
            <a:stCxn id="9" idx="1"/>
            <a:endCxn id="39" idx="3"/>
          </p:cNvCxnSpPr>
          <p:nvPr/>
        </p:nvCxnSpPr>
        <p:spPr>
          <a:xfrm rot="10800000">
            <a:off x="6028721" y="2606431"/>
            <a:ext cx="2375709" cy="1010101"/>
          </a:xfrm>
          <a:prstGeom prst="bentConnector3">
            <a:avLst>
              <a:gd name="adj1" fmla="val 50000"/>
            </a:avLst>
          </a:prstGeom>
          <a:ln w="25400">
            <a:solidFill>
              <a:schemeClr val="accent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64" name="Graphic 63" descr="Open folder">
            <a:extLst>
              <a:ext uri="{FF2B5EF4-FFF2-40B4-BE49-F238E27FC236}">
                <a16:creationId xmlns:a16="http://schemas.microsoft.com/office/drawing/2014/main" id="{1A03C5BB-8374-46DB-807B-1263F3DCD33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404429" y="4946346"/>
            <a:ext cx="914400" cy="914400"/>
          </a:xfrm>
          <a:prstGeom prst="rect">
            <a:avLst/>
          </a:prstGeom>
        </p:spPr>
      </p:pic>
      <p:cxnSp>
        <p:nvCxnSpPr>
          <p:cNvPr id="65" name="Connector: Elbow 64">
            <a:extLst>
              <a:ext uri="{FF2B5EF4-FFF2-40B4-BE49-F238E27FC236}">
                <a16:creationId xmlns:a16="http://schemas.microsoft.com/office/drawing/2014/main" id="{AF6072E9-DAFC-47E0-9675-342D2212800A}"/>
              </a:ext>
            </a:extLst>
          </p:cNvPr>
          <p:cNvCxnSpPr>
            <a:cxnSpLocks/>
            <a:stCxn id="5" idx="2"/>
            <a:endCxn id="64" idx="1"/>
          </p:cNvCxnSpPr>
          <p:nvPr/>
        </p:nvCxnSpPr>
        <p:spPr>
          <a:xfrm rot="16200000" flipH="1">
            <a:off x="6528199" y="3527316"/>
            <a:ext cx="3254316" cy="498143"/>
          </a:xfrm>
          <a:prstGeom prst="bentConnector2">
            <a:avLst/>
          </a:prstGeom>
          <a:ln w="2540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73" name="Graphic 72" descr="Database">
            <a:extLst>
              <a:ext uri="{FF2B5EF4-FFF2-40B4-BE49-F238E27FC236}">
                <a16:creationId xmlns:a16="http://schemas.microsoft.com/office/drawing/2014/main" id="{BAF624F1-5420-4059-812A-1BC02D968D6B}"/>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69971" y="2758165"/>
            <a:ext cx="1766961" cy="1766961"/>
          </a:xfrm>
          <a:prstGeom prst="rect">
            <a:avLst/>
          </a:prstGeom>
        </p:spPr>
      </p:pic>
      <p:cxnSp>
        <p:nvCxnSpPr>
          <p:cNvPr id="74" name="Connector: Elbow 73">
            <a:extLst>
              <a:ext uri="{FF2B5EF4-FFF2-40B4-BE49-F238E27FC236}">
                <a16:creationId xmlns:a16="http://schemas.microsoft.com/office/drawing/2014/main" id="{B1BA2845-530D-4E2E-AD7C-6F5E46DB0C64}"/>
              </a:ext>
            </a:extLst>
          </p:cNvPr>
          <p:cNvCxnSpPr>
            <a:cxnSpLocks/>
            <a:stCxn id="40" idx="1"/>
            <a:endCxn id="73" idx="3"/>
          </p:cNvCxnSpPr>
          <p:nvPr/>
        </p:nvCxnSpPr>
        <p:spPr>
          <a:xfrm rot="10800000">
            <a:off x="2736932" y="3641647"/>
            <a:ext cx="2377388" cy="1"/>
          </a:xfrm>
          <a:prstGeom prst="bentConnector3">
            <a:avLst>
              <a:gd name="adj1" fmla="val 50000"/>
            </a:avLst>
          </a:prstGeom>
          <a:ln w="25400">
            <a:solidFill>
              <a:schemeClr val="accent5"/>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7" name="Connector: Elbow 76">
            <a:extLst>
              <a:ext uri="{FF2B5EF4-FFF2-40B4-BE49-F238E27FC236}">
                <a16:creationId xmlns:a16="http://schemas.microsoft.com/office/drawing/2014/main" id="{D2EF959F-4ECC-4C82-A500-ED79C936027E}"/>
              </a:ext>
            </a:extLst>
          </p:cNvPr>
          <p:cNvCxnSpPr>
            <a:cxnSpLocks/>
            <a:stCxn id="64" idx="1"/>
            <a:endCxn id="40" idx="2"/>
          </p:cNvCxnSpPr>
          <p:nvPr/>
        </p:nvCxnSpPr>
        <p:spPr>
          <a:xfrm rot="10800000">
            <a:off x="5571521" y="4098848"/>
            <a:ext cx="2832909" cy="1304699"/>
          </a:xfrm>
          <a:prstGeom prst="bentConnector2">
            <a:avLst/>
          </a:prstGeom>
          <a:ln w="25400">
            <a:solidFill>
              <a:schemeClr val="accent5"/>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1" name="Speech Bubble: Rectangle 30">
            <a:extLst>
              <a:ext uri="{FF2B5EF4-FFF2-40B4-BE49-F238E27FC236}">
                <a16:creationId xmlns:a16="http://schemas.microsoft.com/office/drawing/2014/main" id="{C6A7D9A8-EDF1-43EE-9EDE-5827D187B4B6}"/>
              </a:ext>
            </a:extLst>
          </p:cNvPr>
          <p:cNvSpPr/>
          <p:nvPr/>
        </p:nvSpPr>
        <p:spPr bwMode="gray">
          <a:xfrm>
            <a:off x="3102180" y="4570316"/>
            <a:ext cx="1646227" cy="1344702"/>
          </a:xfrm>
          <a:prstGeom prst="wedgeRectCallout">
            <a:avLst>
              <a:gd name="adj1" fmla="val -57674"/>
              <a:gd name="adj2" fmla="val -105638"/>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Aft>
                <a:spcPct val="0"/>
              </a:spcAft>
              <a:buClr>
                <a:srgbClr val="F0AB00"/>
              </a:buClr>
              <a:buSzPct val="80000"/>
              <a:tabLst/>
            </a:pPr>
            <a:r>
              <a:rPr lang="en-US" sz="1800" kern="0" dirty="0" err="1">
                <a:ea typeface="Arial Unicode MS" pitchFamily="34" charset="-128"/>
                <a:cs typeface="Arial Unicode MS" pitchFamily="34" charset="-128"/>
              </a:rPr>
              <a:t>azureDisk</a:t>
            </a:r>
            <a:endParaRPr lang="en-US" sz="1800" kern="0" dirty="0">
              <a:ea typeface="Arial Unicode MS" pitchFamily="34" charset="-128"/>
              <a:cs typeface="Arial Unicode MS" pitchFamily="34" charset="-128"/>
            </a:endParaRPr>
          </a:p>
          <a:p>
            <a:pPr marR="0" algn="ctr" defTabSz="914400" eaLnBrk="1" fontAlgn="base" latinLnBrk="0" hangingPunct="1">
              <a:lnSpc>
                <a:spcPct val="100000"/>
              </a:lnSpc>
              <a:spcAft>
                <a:spcPct val="0"/>
              </a:spcAft>
              <a:buClr>
                <a:srgbClr val="F0AB00"/>
              </a:buClr>
              <a:buSzPct val="80000"/>
              <a:tabLst/>
            </a:pPr>
            <a:r>
              <a:rPr lang="en-US" sz="1800" kern="0" dirty="0" err="1">
                <a:ea typeface="Arial Unicode MS" pitchFamily="34" charset="-128"/>
                <a:cs typeface="Arial Unicode MS" pitchFamily="34" charset="-128"/>
              </a:rPr>
              <a:t>gcePD</a:t>
            </a:r>
            <a:endParaRPr lang="en-US" sz="1800" kern="0" dirty="0">
              <a:ea typeface="Arial Unicode MS" pitchFamily="34" charset="-128"/>
              <a:cs typeface="Arial Unicode MS" pitchFamily="34" charset="-128"/>
            </a:endParaRPr>
          </a:p>
          <a:p>
            <a:pPr marR="0" algn="ctr" defTabSz="914400" eaLnBrk="1" fontAlgn="base" latinLnBrk="0" hangingPunct="1">
              <a:lnSpc>
                <a:spcPct val="100000"/>
              </a:lnSpc>
              <a:spcAft>
                <a:spcPct val="0"/>
              </a:spcAft>
              <a:buClr>
                <a:srgbClr val="F0AB00"/>
              </a:buClr>
              <a:buSzPct val="80000"/>
              <a:tabLst/>
            </a:pPr>
            <a:r>
              <a:rPr lang="en-US" sz="1800" kern="0" dirty="0">
                <a:ea typeface="Arial Unicode MS" pitchFamily="34" charset="-128"/>
                <a:cs typeface="Arial Unicode MS" pitchFamily="34" charset="-128"/>
              </a:rPr>
              <a:t>NFS</a:t>
            </a:r>
          </a:p>
        </p:txBody>
      </p:sp>
      <p:sp>
        <p:nvSpPr>
          <p:cNvPr id="11" name="Rectangle 10">
            <a:extLst>
              <a:ext uri="{FF2B5EF4-FFF2-40B4-BE49-F238E27FC236}">
                <a16:creationId xmlns:a16="http://schemas.microsoft.com/office/drawing/2014/main" id="{EEA733E8-0B5E-4EBD-A439-F2A2B5477CC2}"/>
              </a:ext>
            </a:extLst>
          </p:cNvPr>
          <p:cNvSpPr/>
          <p:nvPr/>
        </p:nvSpPr>
        <p:spPr>
          <a:xfrm>
            <a:off x="6674599" y="6123388"/>
            <a:ext cx="1083951" cy="523220"/>
          </a:xfrm>
          <a:prstGeom prst="rect">
            <a:avLst/>
          </a:prstGeom>
        </p:spPr>
        <p:txBody>
          <a:bodyPr wrap="none">
            <a:spAutoFit/>
          </a:bodyPr>
          <a:lstStyle/>
          <a:p>
            <a:pPr algn="ctr" defTabSz="914400" fontAlgn="base">
              <a:spcBef>
                <a:spcPct val="50000"/>
              </a:spcBef>
              <a:spcAft>
                <a:spcPct val="0"/>
              </a:spcAft>
              <a:buClr>
                <a:srgbClr val="F0AB00"/>
              </a:buClr>
              <a:buSzPct val="80000"/>
            </a:pPr>
            <a:r>
              <a:rPr lang="de-DE" sz="2800" b="1" kern="0" dirty="0" err="1">
                <a:ea typeface="Arial Unicode MS" pitchFamily="34" charset="-128"/>
                <a:cs typeface="Arial Unicode MS" pitchFamily="34" charset="-128"/>
              </a:rPr>
              <a:t>Node</a:t>
            </a:r>
            <a:endParaRPr lang="de-DE" sz="2800" b="1" kern="0" dirty="0">
              <a:ea typeface="Arial Unicode MS" pitchFamily="34" charset="-128"/>
              <a:cs typeface="Arial Unicode MS" pitchFamily="34" charset="-128"/>
            </a:endParaRPr>
          </a:p>
        </p:txBody>
      </p:sp>
    </p:spTree>
    <p:extLst>
      <p:ext uri="{BB962C8B-B14F-4D97-AF65-F5344CB8AC3E}">
        <p14:creationId xmlns:p14="http://schemas.microsoft.com/office/powerpoint/2010/main" val="15579714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dirty="0"/>
              <a:t>How to solve it on K8s level?</a:t>
            </a:r>
          </a:p>
        </p:txBody>
      </p:sp>
      <p:sp>
        <p:nvSpPr>
          <p:cNvPr id="3" name="Rectangle 2"/>
          <p:cNvSpPr/>
          <p:nvPr/>
        </p:nvSpPr>
        <p:spPr bwMode="gray">
          <a:xfrm>
            <a:off x="1071721" y="2830093"/>
            <a:ext cx="5032722" cy="3141422"/>
          </a:xfrm>
          <a:prstGeom prst="rect">
            <a:avLst/>
          </a:prstGeom>
          <a:solidFill>
            <a:schemeClr val="tx2"/>
          </a:solidFill>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lang="en-US" sz="1600" b="1" kern="0" noProof="0" dirty="0">
                <a:solidFill>
                  <a:sysClr val="windowText" lastClr="000000"/>
                </a:solidFill>
                <a:ea typeface="Arial Unicode MS" pitchFamily="34" charset="-128"/>
                <a:cs typeface="Arial Unicode MS" pitchFamily="34" charset="-128"/>
              </a:rPr>
              <a:t>Pod-A</a:t>
            </a:r>
            <a:endParaRPr kumimoji="0" lang="en-US" sz="1600" b="1" i="0" u="none" strike="noStrike" kern="0" cap="none" spc="0" normalizeH="0" baseline="0" noProof="0" dirty="0">
              <a:ln>
                <a:noFill/>
              </a:ln>
              <a:solidFill>
                <a:sysClr val="windowText" lastClr="000000"/>
              </a:solidFill>
              <a:effectLst/>
              <a:uLnTx/>
              <a:uFillTx/>
              <a:ea typeface="Arial Unicode MS" pitchFamily="34" charset="-128"/>
              <a:cs typeface="Arial Unicode MS" pitchFamily="34" charset="-128"/>
            </a:endParaRPr>
          </a:p>
        </p:txBody>
      </p:sp>
      <p:sp>
        <p:nvSpPr>
          <p:cNvPr id="4" name="Rectangle 3"/>
          <p:cNvSpPr/>
          <p:nvPr/>
        </p:nvSpPr>
        <p:spPr bwMode="gray">
          <a:xfrm>
            <a:off x="882566" y="2775221"/>
            <a:ext cx="1645920" cy="365760"/>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IP: 10.10.10.1</a:t>
            </a:r>
          </a:p>
        </p:txBody>
      </p:sp>
      <p:sp>
        <p:nvSpPr>
          <p:cNvPr id="6" name="Cylinder 5"/>
          <p:cNvSpPr/>
          <p:nvPr/>
        </p:nvSpPr>
        <p:spPr bwMode="gray">
          <a:xfrm>
            <a:off x="7288556" y="3122468"/>
            <a:ext cx="2849743" cy="2556672"/>
          </a:xfrm>
          <a:prstGeom prst="can">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Storage backend</a:t>
            </a:r>
          </a:p>
        </p:txBody>
      </p:sp>
      <p:sp>
        <p:nvSpPr>
          <p:cNvPr id="7" name="Rectangle 6"/>
          <p:cNvSpPr/>
          <p:nvPr/>
        </p:nvSpPr>
        <p:spPr bwMode="gray">
          <a:xfrm>
            <a:off x="1367076" y="3845369"/>
            <a:ext cx="1627931" cy="1156258"/>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C</a:t>
            </a:r>
            <a:r>
              <a:rPr kumimoji="0" lang="en-US" sz="1800" b="0" i="0" u="none" strike="noStrike" kern="0" cap="none" spc="0" normalizeH="0" baseline="0" noProof="0" dirty="0" err="1">
                <a:ln>
                  <a:noFill/>
                </a:ln>
                <a:effectLst/>
                <a:uLnTx/>
                <a:uFillTx/>
                <a:ea typeface="Arial Unicode MS" pitchFamily="34" charset="-128"/>
                <a:cs typeface="Arial Unicode MS" pitchFamily="34" charset="-128"/>
              </a:rPr>
              <a:t>ontainer</a:t>
            </a:r>
            <a:r>
              <a:rPr kumimoji="0" lang="en-US" sz="1800" b="0" i="0" u="none" strike="noStrike" kern="0" cap="none" spc="0" normalizeH="0" baseline="0" noProof="0" dirty="0">
                <a:ln>
                  <a:noFill/>
                </a:ln>
                <a:effectLst/>
                <a:uLnTx/>
                <a:uFillTx/>
                <a:ea typeface="Arial Unicode MS" pitchFamily="34" charset="-128"/>
                <a:cs typeface="Arial Unicode MS" pitchFamily="34" charset="-128"/>
              </a:rPr>
              <a:t>:</a:t>
            </a:r>
          </a:p>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mount as /</a:t>
            </a:r>
            <a:r>
              <a:rPr lang="en-US" sz="1800" kern="0" dirty="0" err="1">
                <a:ea typeface="Arial Unicode MS" pitchFamily="34" charset="-128"/>
                <a:cs typeface="Arial Unicode MS" pitchFamily="34" charset="-128"/>
              </a:rPr>
              <a:t>mnt</a:t>
            </a:r>
            <a:r>
              <a:rPr lang="en-US" sz="1800" kern="0" dirty="0">
                <a:ea typeface="Arial Unicode MS" pitchFamily="34" charset="-128"/>
                <a:cs typeface="Arial Unicode MS" pitchFamily="34" charset="-128"/>
              </a:rPr>
              <a:t>/</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9" name="Rectangle 18"/>
          <p:cNvSpPr/>
          <p:nvPr/>
        </p:nvSpPr>
        <p:spPr>
          <a:xfrm>
            <a:off x="504000" y="1223190"/>
            <a:ext cx="10590719" cy="1384995"/>
          </a:xfrm>
          <a:prstGeom prst="rect">
            <a:avLst/>
          </a:prstGeom>
        </p:spPr>
        <p:txBody>
          <a:bodyPr wrap="square">
            <a:spAutoFit/>
          </a:bodyPr>
          <a:lstStyle/>
          <a:p>
            <a:pPr marL="342900" indent="-342900">
              <a:buFont typeface="Wingdings" panose="05000000000000000000" pitchFamily="2" charset="2"/>
              <a:buChar char="§"/>
            </a:pPr>
            <a:r>
              <a:rPr lang="en-US" dirty="0"/>
              <a:t>Pods may declare &amp; request the usage of storage</a:t>
            </a:r>
          </a:p>
          <a:p>
            <a:pPr marL="342900" indent="-342900">
              <a:buFont typeface="Wingdings" panose="05000000000000000000" pitchFamily="2" charset="2"/>
              <a:buChar char="§"/>
            </a:pPr>
            <a:r>
              <a:rPr lang="en-US" dirty="0"/>
              <a:t>Kubernetes makes the file system available to the container</a:t>
            </a:r>
          </a:p>
          <a:p>
            <a:pPr marL="342900" indent="-342900">
              <a:buFont typeface="Wingdings" panose="05000000000000000000" pitchFamily="2" charset="2"/>
              <a:buChar char="§"/>
            </a:pPr>
            <a:r>
              <a:rPr lang="en-US" dirty="0"/>
              <a:t>Kubernetes offers different types of storage integration:</a:t>
            </a:r>
          </a:p>
          <a:p>
            <a:pPr marL="887288" lvl="1" indent="-342900">
              <a:buFont typeface="Wingdings" panose="05000000000000000000" pitchFamily="2" charset="2"/>
              <a:buChar char="§"/>
            </a:pPr>
            <a:r>
              <a:rPr lang="en-US" dirty="0">
                <a:hlinkClick r:id="rId3"/>
              </a:rPr>
              <a:t>https://kubernetes.io/docs/concepts/storage/volumes/</a:t>
            </a:r>
            <a:r>
              <a:rPr lang="en-US" dirty="0"/>
              <a:t> </a:t>
            </a:r>
          </a:p>
        </p:txBody>
      </p:sp>
      <p:sp>
        <p:nvSpPr>
          <p:cNvPr id="10" name="Rectangle: Folded Corner 9">
            <a:extLst>
              <a:ext uri="{FF2B5EF4-FFF2-40B4-BE49-F238E27FC236}">
                <a16:creationId xmlns:a16="http://schemas.microsoft.com/office/drawing/2014/main" id="{3517D632-E7C8-457B-8486-7040039A0346}"/>
              </a:ext>
            </a:extLst>
          </p:cNvPr>
          <p:cNvSpPr/>
          <p:nvPr/>
        </p:nvSpPr>
        <p:spPr bwMode="gray">
          <a:xfrm>
            <a:off x="3923323" y="4019329"/>
            <a:ext cx="1162455" cy="799123"/>
          </a:xfrm>
          <a:prstGeom prst="foldedCorner">
            <a:avLst/>
          </a:prstGeom>
          <a:solidFill>
            <a:schemeClr val="accent1">
              <a:lumMod val="20000"/>
              <a:lumOff val="80000"/>
            </a:schemeClr>
          </a:solidFill>
          <a:ln w="6350" algn="ctr">
            <a:noFill/>
            <a:miter lim="800000"/>
            <a:headEnd/>
            <a:tailEnd/>
          </a:ln>
        </p:spPr>
        <p:txBody>
          <a:bodyPr lIns="90000" tIns="72000" rIns="90000" bIns="72000" rtlCol="0" anchor="ctr"/>
          <a:lstStyle/>
          <a:p>
            <a:pPr algn="ctr" defTabSz="914400" fontAlgn="base">
              <a:spcBef>
                <a:spcPct val="50000"/>
              </a:spcBef>
              <a:spcAft>
                <a:spcPct val="0"/>
              </a:spcAft>
              <a:buClr>
                <a:srgbClr val="F0AB00"/>
              </a:buClr>
              <a:buSzPct val="80000"/>
            </a:pPr>
            <a:r>
              <a:rPr lang="en-US" sz="1800" kern="0" dirty="0">
                <a:solidFill>
                  <a:schemeClr val="dk1"/>
                </a:solidFill>
                <a:latin typeface="+mn-lt"/>
                <a:ea typeface="Arial Unicode MS" pitchFamily="34" charset="-128"/>
                <a:cs typeface="Arial Unicode MS" pitchFamily="34" charset="-128"/>
              </a:rPr>
              <a:t>reference</a:t>
            </a:r>
            <a:endParaRPr lang="de-DE" sz="1800" kern="0" dirty="0" err="1">
              <a:solidFill>
                <a:schemeClr val="dk1"/>
              </a:solidFill>
              <a:latin typeface="+mn-lt"/>
              <a:ea typeface="Arial Unicode MS" pitchFamily="34" charset="-128"/>
              <a:cs typeface="Arial Unicode MS" pitchFamily="34" charset="-128"/>
            </a:endParaRPr>
          </a:p>
        </p:txBody>
      </p:sp>
      <p:cxnSp>
        <p:nvCxnSpPr>
          <p:cNvPr id="18" name="Straight Arrow Connector 17">
            <a:extLst>
              <a:ext uri="{FF2B5EF4-FFF2-40B4-BE49-F238E27FC236}">
                <a16:creationId xmlns:a16="http://schemas.microsoft.com/office/drawing/2014/main" id="{E0D33A96-9C53-4F98-807F-88BF803B73B4}"/>
              </a:ext>
            </a:extLst>
          </p:cNvPr>
          <p:cNvCxnSpPr>
            <a:cxnSpLocks/>
            <a:stCxn id="6" idx="2"/>
            <a:endCxn id="10" idx="3"/>
          </p:cNvCxnSpPr>
          <p:nvPr/>
        </p:nvCxnSpPr>
        <p:spPr>
          <a:xfrm flipH="1">
            <a:off x="5085778" y="4400804"/>
            <a:ext cx="2202778" cy="18087"/>
          </a:xfrm>
          <a:prstGeom prst="straightConnector1">
            <a:avLst/>
          </a:prstGeom>
          <a:ln w="381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CB689FC9-7BDE-4FFC-B2BF-7DFAF928FCC5}"/>
              </a:ext>
            </a:extLst>
          </p:cNvPr>
          <p:cNvCxnSpPr>
            <a:cxnSpLocks/>
            <a:stCxn id="10" idx="1"/>
            <a:endCxn id="7" idx="3"/>
          </p:cNvCxnSpPr>
          <p:nvPr/>
        </p:nvCxnSpPr>
        <p:spPr>
          <a:xfrm flipH="1">
            <a:off x="2995007" y="4418891"/>
            <a:ext cx="928316" cy="4607"/>
          </a:xfrm>
          <a:prstGeom prst="straightConnector1">
            <a:avLst/>
          </a:prstGeom>
          <a:ln w="381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2010537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339EE352-0CCE-4CF0-8DDC-A3B7E4A11A51}"/>
              </a:ext>
            </a:extLst>
          </p:cNvPr>
          <p:cNvPicPr>
            <a:picLocks noChangeAspect="1"/>
          </p:cNvPicPr>
          <p:nvPr/>
        </p:nvPicPr>
        <p:blipFill>
          <a:blip r:embed="rId3"/>
          <a:stretch>
            <a:fillRect/>
          </a:stretch>
        </p:blipFill>
        <p:spPr>
          <a:xfrm>
            <a:off x="6319048" y="609952"/>
            <a:ext cx="5371429" cy="5638095"/>
          </a:xfrm>
          <a:prstGeom prst="rect">
            <a:avLst/>
          </a:prstGeom>
          <a:ln>
            <a:solidFill>
              <a:schemeClr val="tx1"/>
            </a:solidFill>
          </a:ln>
        </p:spPr>
      </p:pic>
      <p:sp>
        <p:nvSpPr>
          <p:cNvPr id="2" name="Title 1"/>
          <p:cNvSpPr>
            <a:spLocks noGrp="1"/>
          </p:cNvSpPr>
          <p:nvPr>
            <p:ph type="title"/>
          </p:nvPr>
        </p:nvSpPr>
        <p:spPr/>
        <p:txBody>
          <a:bodyPr/>
          <a:lstStyle/>
          <a:p>
            <a:r>
              <a:rPr lang="en-US" dirty="0"/>
              <a:t>Volumes &amp; </a:t>
            </a:r>
            <a:r>
              <a:rPr lang="en-US" dirty="0" err="1"/>
              <a:t>VolumeMounts</a:t>
            </a:r>
            <a:endParaRPr lang="en-US" dirty="0"/>
          </a:p>
        </p:txBody>
      </p:sp>
      <p:sp>
        <p:nvSpPr>
          <p:cNvPr id="3" name="Rectangle 2"/>
          <p:cNvSpPr/>
          <p:nvPr/>
        </p:nvSpPr>
        <p:spPr>
          <a:xfrm>
            <a:off x="504000" y="1136103"/>
            <a:ext cx="6297393" cy="4616648"/>
          </a:xfrm>
          <a:prstGeom prst="rect">
            <a:avLst/>
          </a:prstGeom>
        </p:spPr>
        <p:txBody>
          <a:bodyPr wrap="square">
            <a:spAutoFit/>
          </a:bodyPr>
          <a:lstStyle/>
          <a:p>
            <a:pPr marL="342900" indent="-342900">
              <a:buFont typeface="Wingdings" panose="05000000000000000000" pitchFamily="2" charset="2"/>
              <a:buChar char="§"/>
            </a:pPr>
            <a:r>
              <a:rPr lang="en-US" dirty="0"/>
              <a:t>Volumes are part of the </a:t>
            </a:r>
            <a:r>
              <a:rPr lang="en-US" dirty="0" err="1"/>
              <a:t>PodSpec</a:t>
            </a:r>
            <a:r>
              <a:rPr lang="en-US" dirty="0"/>
              <a:t> object</a:t>
            </a:r>
          </a:p>
          <a:p>
            <a:pPr marL="342900" indent="-342900">
              <a:buFont typeface="Wingdings" panose="05000000000000000000" pitchFamily="2" charset="2"/>
              <a:buChar char="§"/>
            </a:pPr>
            <a:r>
              <a:rPr lang="en-US" dirty="0"/>
              <a:t>Available for a lot of backends</a:t>
            </a:r>
          </a:p>
          <a:p>
            <a:pPr marL="887288" lvl="1" indent="-342900">
              <a:buFont typeface="Wingdings" panose="05000000000000000000" pitchFamily="2" charset="2"/>
              <a:buChar char="§"/>
            </a:pPr>
            <a:r>
              <a:rPr lang="en-US" dirty="0"/>
              <a:t>local storage (</a:t>
            </a:r>
            <a:r>
              <a:rPr lang="en-US" dirty="0" err="1"/>
              <a:t>nfs</a:t>
            </a:r>
            <a:r>
              <a:rPr lang="en-US" dirty="0"/>
              <a:t>, </a:t>
            </a:r>
            <a:r>
              <a:rPr lang="en-US" dirty="0" err="1"/>
              <a:t>hostPath</a:t>
            </a:r>
            <a:r>
              <a:rPr lang="en-US" dirty="0"/>
              <a:t>, </a:t>
            </a:r>
            <a:r>
              <a:rPr lang="en-US" dirty="0" err="1"/>
              <a:t>ceph</a:t>
            </a:r>
            <a:r>
              <a:rPr lang="en-US" dirty="0"/>
              <a:t>)</a:t>
            </a:r>
          </a:p>
          <a:p>
            <a:pPr marL="887288" lvl="1" indent="-342900">
              <a:buFont typeface="Wingdings" panose="05000000000000000000" pitchFamily="2" charset="2"/>
              <a:buChar char="§"/>
            </a:pPr>
            <a:r>
              <a:rPr lang="en-US" dirty="0"/>
              <a:t>cloud storage (Azure, GCP, AWS,…)</a:t>
            </a:r>
          </a:p>
          <a:p>
            <a:pPr marL="342900" indent="-342900">
              <a:buFont typeface="Wingdings" panose="05000000000000000000" pitchFamily="2" charset="2"/>
              <a:buChar char="§"/>
            </a:pPr>
            <a:endParaRPr lang="en-US" dirty="0"/>
          </a:p>
          <a:p>
            <a:pPr marL="342900" indent="-342900">
              <a:buFont typeface="Wingdings" panose="05000000000000000000" pitchFamily="2" charset="2"/>
              <a:buChar char="§"/>
            </a:pPr>
            <a:r>
              <a:rPr lang="en-US" dirty="0"/>
              <a:t>Make storage available in a container via </a:t>
            </a:r>
            <a:r>
              <a:rPr lang="en-US" dirty="0" err="1"/>
              <a:t>VolumeMounts</a:t>
            </a:r>
            <a:r>
              <a:rPr lang="en-US" dirty="0"/>
              <a:t> as part of the container specification</a:t>
            </a:r>
          </a:p>
          <a:p>
            <a:pPr marL="342900" indent="-342900">
              <a:buFont typeface="Wingdings" panose="05000000000000000000" pitchFamily="2" charset="2"/>
              <a:buChar char="§"/>
            </a:pPr>
            <a:endParaRPr lang="en-US" dirty="0"/>
          </a:p>
          <a:p>
            <a:pPr marL="342900" indent="-342900">
              <a:buFont typeface="Wingdings" panose="05000000000000000000" pitchFamily="2" charset="2"/>
              <a:buChar char="§"/>
            </a:pPr>
            <a:r>
              <a:rPr lang="en-US" dirty="0"/>
              <a:t>Special volumes: </a:t>
            </a:r>
          </a:p>
          <a:p>
            <a:pPr marL="887288" lvl="1" indent="-342900">
              <a:buFont typeface="Wingdings" panose="05000000000000000000" pitchFamily="2" charset="2"/>
              <a:buChar char="§"/>
            </a:pPr>
            <a:r>
              <a:rPr lang="en-US" dirty="0" err="1"/>
              <a:t>emptyDir</a:t>
            </a:r>
            <a:endParaRPr lang="en-US" dirty="0"/>
          </a:p>
          <a:p>
            <a:pPr marL="887288" lvl="1" indent="-342900">
              <a:buFont typeface="Wingdings" panose="05000000000000000000" pitchFamily="2" charset="2"/>
              <a:buChar char="§"/>
            </a:pPr>
            <a:r>
              <a:rPr lang="en-US" dirty="0"/>
              <a:t>secret</a:t>
            </a:r>
          </a:p>
          <a:p>
            <a:pPr marL="887288" lvl="1" indent="-342900">
              <a:buFont typeface="Wingdings" panose="05000000000000000000" pitchFamily="2" charset="2"/>
              <a:buChar char="§"/>
            </a:pPr>
            <a:r>
              <a:rPr lang="en-US" dirty="0" err="1"/>
              <a:t>configMap</a:t>
            </a:r>
            <a:endParaRPr lang="en-US" dirty="0"/>
          </a:p>
          <a:p>
            <a:pPr marL="887288" lvl="1" indent="-342900">
              <a:buFont typeface="Wingdings" panose="05000000000000000000" pitchFamily="2" charset="2"/>
              <a:buChar char="§"/>
            </a:pPr>
            <a:r>
              <a:rPr lang="en-US" dirty="0" err="1"/>
              <a:t>persistentVolumeClaim</a:t>
            </a:r>
            <a:endParaRPr lang="en-US" dirty="0"/>
          </a:p>
        </p:txBody>
      </p:sp>
      <p:cxnSp>
        <p:nvCxnSpPr>
          <p:cNvPr id="6" name="Straight Arrow Connector 5">
            <a:extLst>
              <a:ext uri="{FF2B5EF4-FFF2-40B4-BE49-F238E27FC236}">
                <a16:creationId xmlns:a16="http://schemas.microsoft.com/office/drawing/2014/main" id="{E479DB24-BD81-45B4-9289-721AB3CE10B9}"/>
              </a:ext>
            </a:extLst>
          </p:cNvPr>
          <p:cNvCxnSpPr>
            <a:cxnSpLocks/>
          </p:cNvCxnSpPr>
          <p:nvPr/>
        </p:nvCxnSpPr>
        <p:spPr>
          <a:xfrm flipH="1">
            <a:off x="10289708" y="2664374"/>
            <a:ext cx="994298" cy="0"/>
          </a:xfrm>
          <a:prstGeom prst="straightConnector1">
            <a:avLst/>
          </a:prstGeom>
          <a:ln w="762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EC49C768-125F-4533-A932-E3B6166BC153}"/>
              </a:ext>
            </a:extLst>
          </p:cNvPr>
          <p:cNvCxnSpPr>
            <a:cxnSpLocks/>
          </p:cNvCxnSpPr>
          <p:nvPr/>
        </p:nvCxnSpPr>
        <p:spPr>
          <a:xfrm flipH="1">
            <a:off x="10289708" y="5752751"/>
            <a:ext cx="994298" cy="0"/>
          </a:xfrm>
          <a:prstGeom prst="straightConnector1">
            <a:avLst/>
          </a:prstGeom>
          <a:ln w="762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2248433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0234DD-73A1-402F-B475-DA6E6D6E031B}"/>
              </a:ext>
            </a:extLst>
          </p:cNvPr>
          <p:cNvSpPr>
            <a:spLocks noGrp="1"/>
          </p:cNvSpPr>
          <p:nvPr>
            <p:ph type="title"/>
          </p:nvPr>
        </p:nvSpPr>
        <p:spPr/>
        <p:txBody>
          <a:bodyPr/>
          <a:lstStyle/>
          <a:p>
            <a:r>
              <a:rPr lang="en-US" dirty="0"/>
              <a:t>What happens in the background …</a:t>
            </a:r>
          </a:p>
        </p:txBody>
      </p:sp>
      <p:sp>
        <p:nvSpPr>
          <p:cNvPr id="3" name="Rectangle 2">
            <a:extLst>
              <a:ext uri="{FF2B5EF4-FFF2-40B4-BE49-F238E27FC236}">
                <a16:creationId xmlns:a16="http://schemas.microsoft.com/office/drawing/2014/main" id="{72112438-74E8-4D00-9C25-8F0D762876A1}"/>
              </a:ext>
            </a:extLst>
          </p:cNvPr>
          <p:cNvSpPr/>
          <p:nvPr/>
        </p:nvSpPr>
        <p:spPr bwMode="gray">
          <a:xfrm>
            <a:off x="734113" y="1194318"/>
            <a:ext cx="5363474" cy="4822103"/>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r>
              <a:rPr lang="de-DE" sz="2400" b="1" kern="0" dirty="0" err="1">
                <a:ea typeface="Arial Unicode MS" pitchFamily="34" charset="-128"/>
                <a:cs typeface="Arial Unicode MS" pitchFamily="34" charset="-128"/>
              </a:rPr>
              <a:t>Node</a:t>
            </a:r>
            <a:endParaRPr lang="de-DE" sz="2400" b="1" kern="0" dirty="0">
              <a:ea typeface="Arial Unicode MS" pitchFamily="34" charset="-128"/>
              <a:cs typeface="Arial Unicode MS" pitchFamily="34" charset="-128"/>
            </a:endParaRPr>
          </a:p>
        </p:txBody>
      </p:sp>
      <p:sp>
        <p:nvSpPr>
          <p:cNvPr id="4" name="Rectangle 3">
            <a:extLst>
              <a:ext uri="{FF2B5EF4-FFF2-40B4-BE49-F238E27FC236}">
                <a16:creationId xmlns:a16="http://schemas.microsoft.com/office/drawing/2014/main" id="{660740E0-E110-40F4-B654-BF64B5C3974C}"/>
              </a:ext>
            </a:extLst>
          </p:cNvPr>
          <p:cNvSpPr/>
          <p:nvPr/>
        </p:nvSpPr>
        <p:spPr bwMode="gray">
          <a:xfrm>
            <a:off x="942854" y="1824023"/>
            <a:ext cx="4945992" cy="3149193"/>
          </a:xfrm>
          <a:prstGeom prst="rect">
            <a:avLst/>
          </a:prstGeom>
          <a:solidFill>
            <a:schemeClr val="accent1">
              <a:lumMod val="60000"/>
              <a:lumOff val="40000"/>
            </a:schemeClr>
          </a:solidFill>
          <a:ln>
            <a:headEnd/>
            <a:tailEnd/>
          </a:ln>
        </p:spPr>
        <p:style>
          <a:lnRef idx="1">
            <a:schemeClr val="accent1"/>
          </a:lnRef>
          <a:fillRef idx="2">
            <a:schemeClr val="accent1"/>
          </a:fillRef>
          <a:effectRef idx="1">
            <a:schemeClr val="accent1"/>
          </a:effectRef>
          <a:fontRef idx="minor">
            <a:schemeClr val="dk1"/>
          </a:fontRef>
        </p:style>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lang="de-DE" sz="2000" b="1" kern="0" noProof="0" dirty="0">
                <a:ea typeface="Arial Unicode MS" pitchFamily="34" charset="-128"/>
                <a:cs typeface="Arial Unicode MS" pitchFamily="34" charset="-128"/>
              </a:rPr>
              <a:t>D</a:t>
            </a:r>
            <a:r>
              <a:rPr kumimoji="0" lang="de-DE" sz="2000" b="1" i="0" strike="noStrike" kern="0" cap="none" spc="0" normalizeH="0" baseline="0" noProof="0" dirty="0">
                <a:ln>
                  <a:noFill/>
                </a:ln>
                <a:effectLst/>
                <a:uLnTx/>
                <a:uFillTx/>
                <a:ea typeface="Arial Unicode MS" pitchFamily="34" charset="-128"/>
                <a:cs typeface="Arial Unicode MS" pitchFamily="34" charset="-128"/>
              </a:rPr>
              <a:t>ocker</a:t>
            </a:r>
            <a:endParaRPr kumimoji="0" lang="de-DE" sz="2400" b="1" i="0" strike="noStrike" kern="0" cap="none" spc="0" normalizeH="0" baseline="0" noProof="0" dirty="0">
              <a:ln>
                <a:noFill/>
              </a:ln>
              <a:effectLst/>
              <a:uLnTx/>
              <a:uFillTx/>
              <a:ea typeface="Arial Unicode MS" pitchFamily="34" charset="-128"/>
              <a:cs typeface="Arial Unicode MS" pitchFamily="34" charset="-128"/>
            </a:endParaRPr>
          </a:p>
        </p:txBody>
      </p:sp>
      <p:sp>
        <p:nvSpPr>
          <p:cNvPr id="5" name="Rectangle 4">
            <a:extLst>
              <a:ext uri="{FF2B5EF4-FFF2-40B4-BE49-F238E27FC236}">
                <a16:creationId xmlns:a16="http://schemas.microsoft.com/office/drawing/2014/main" id="{4057C0D8-57A8-4B70-9D4A-B8773F041256}"/>
              </a:ext>
            </a:extLst>
          </p:cNvPr>
          <p:cNvSpPr/>
          <p:nvPr/>
        </p:nvSpPr>
        <p:spPr bwMode="gray">
          <a:xfrm>
            <a:off x="1492898" y="2226479"/>
            <a:ext cx="3853543" cy="1449781"/>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b="1" kern="0" noProof="0" dirty="0">
                <a:ea typeface="Arial Unicode MS" pitchFamily="34" charset="-128"/>
                <a:cs typeface="Arial Unicode MS" pitchFamily="34" charset="-128"/>
              </a:rPr>
              <a:t>Container</a:t>
            </a:r>
          </a:p>
          <a:p>
            <a:pPr marR="0" algn="ctr" defTabSz="914400" eaLnBrk="1" fontAlgn="base" latinLnBrk="0" hangingPunct="1">
              <a:lnSpc>
                <a:spcPct val="100000"/>
              </a:lnSpc>
              <a:spcBef>
                <a:spcPct val="50000"/>
              </a:spcBef>
              <a:spcAft>
                <a:spcPct val="0"/>
              </a:spcAft>
              <a:buClr>
                <a:srgbClr val="F0AB00"/>
              </a:buClr>
              <a:buSzPct val="80000"/>
              <a:tabLst/>
            </a:pPr>
            <a:r>
              <a:rPr kumimoji="0" lang="de-DE" sz="1600" i="1" u="none" strike="noStrike" kern="0" cap="none" spc="0" normalizeH="0" baseline="0" dirty="0">
                <a:ln>
                  <a:noFill/>
                </a:ln>
                <a:effectLst/>
                <a:uLnTx/>
                <a:uFillTx/>
                <a:ea typeface="Arial Unicode MS" pitchFamily="34" charset="-128"/>
                <a:cs typeface="Arial Unicode MS" pitchFamily="34" charset="-128"/>
              </a:rPr>
              <a:t>/</a:t>
            </a:r>
            <a:r>
              <a:rPr kumimoji="0" lang="de-DE" sz="1600" i="1" u="none" strike="noStrike" kern="0" cap="none" spc="0" normalizeH="0" baseline="0" dirty="0" err="1">
                <a:ln>
                  <a:noFill/>
                </a:ln>
                <a:effectLst/>
                <a:uLnTx/>
                <a:uFillTx/>
                <a:ea typeface="Arial Unicode MS" pitchFamily="34" charset="-128"/>
                <a:cs typeface="Arial Unicode MS" pitchFamily="34" charset="-128"/>
              </a:rPr>
              <a:t>usr</a:t>
            </a:r>
            <a:r>
              <a:rPr kumimoji="0" lang="de-DE" sz="1600" i="1" u="none" strike="noStrike" kern="0" cap="none" spc="0" normalizeH="0" baseline="0" dirty="0">
                <a:ln>
                  <a:noFill/>
                </a:ln>
                <a:effectLst/>
                <a:uLnTx/>
                <a:uFillTx/>
                <a:ea typeface="Arial Unicode MS" pitchFamily="34" charset="-128"/>
                <a:cs typeface="Arial Unicode MS" pitchFamily="34" charset="-128"/>
              </a:rPr>
              <a:t>/</a:t>
            </a:r>
            <a:r>
              <a:rPr kumimoji="0" lang="de-DE" sz="1600" i="1" u="none" strike="noStrike" kern="0" cap="none" spc="0" normalizeH="0" baseline="0" dirty="0" err="1">
                <a:ln>
                  <a:noFill/>
                </a:ln>
                <a:effectLst/>
                <a:uLnTx/>
                <a:uFillTx/>
                <a:ea typeface="Arial Unicode MS" pitchFamily="34" charset="-128"/>
                <a:cs typeface="Arial Unicode MS" pitchFamily="34" charset="-128"/>
              </a:rPr>
              <a:t>share</a:t>
            </a:r>
            <a:r>
              <a:rPr kumimoji="0" lang="de-DE" sz="1600" i="1" u="none" strike="noStrike" kern="0" cap="none" spc="0" normalizeH="0" baseline="0" dirty="0">
                <a:ln>
                  <a:noFill/>
                </a:ln>
                <a:effectLst/>
                <a:uLnTx/>
                <a:uFillTx/>
                <a:ea typeface="Arial Unicode MS" pitchFamily="34" charset="-128"/>
                <a:cs typeface="Arial Unicode MS" pitchFamily="34" charset="-128"/>
              </a:rPr>
              <a:t>/</a:t>
            </a:r>
            <a:r>
              <a:rPr kumimoji="0" lang="de-DE" sz="1600" i="1" u="none" strike="noStrike" kern="0" cap="none" spc="0" normalizeH="0" baseline="0" dirty="0" err="1">
                <a:ln>
                  <a:noFill/>
                </a:ln>
                <a:effectLst/>
                <a:uLnTx/>
                <a:uFillTx/>
                <a:ea typeface="Arial Unicode MS" pitchFamily="34" charset="-128"/>
                <a:cs typeface="Arial Unicode MS" pitchFamily="34" charset="-128"/>
              </a:rPr>
              <a:t>nginx</a:t>
            </a:r>
            <a:r>
              <a:rPr kumimoji="0" lang="de-DE" sz="1600" i="1" u="none" strike="noStrike" kern="0" cap="none" spc="0" normalizeH="0" baseline="0" dirty="0">
                <a:ln>
                  <a:noFill/>
                </a:ln>
                <a:effectLst/>
                <a:uLnTx/>
                <a:uFillTx/>
                <a:ea typeface="Arial Unicode MS" pitchFamily="34" charset="-128"/>
                <a:cs typeface="Arial Unicode MS" pitchFamily="34" charset="-128"/>
              </a:rPr>
              <a:t>/</a:t>
            </a:r>
            <a:r>
              <a:rPr kumimoji="0" lang="de-DE" sz="1600" i="1" u="none" strike="noStrike" kern="0" cap="none" spc="0" normalizeH="0" baseline="0" dirty="0" err="1">
                <a:ln>
                  <a:noFill/>
                </a:ln>
                <a:effectLst/>
                <a:uLnTx/>
                <a:uFillTx/>
                <a:ea typeface="Arial Unicode MS" pitchFamily="34" charset="-128"/>
                <a:cs typeface="Arial Unicode MS" pitchFamily="34" charset="-128"/>
              </a:rPr>
              <a:t>html</a:t>
            </a:r>
            <a:endParaRPr kumimoji="0" lang="de-DE" sz="1600" i="1" u="none" strike="noStrike" kern="0" cap="none" spc="0" normalizeH="0" baseline="0" noProof="0" dirty="0">
              <a:ln>
                <a:noFill/>
              </a:ln>
              <a:effectLst/>
              <a:uLnTx/>
              <a:uFillTx/>
              <a:ea typeface="Arial Unicode MS" pitchFamily="34" charset="-128"/>
              <a:cs typeface="Arial Unicode MS" pitchFamily="34" charset="-128"/>
            </a:endParaRPr>
          </a:p>
        </p:txBody>
      </p:sp>
      <p:sp>
        <p:nvSpPr>
          <p:cNvPr id="6" name="Rectangle: Rounded Corners 5">
            <a:extLst>
              <a:ext uri="{FF2B5EF4-FFF2-40B4-BE49-F238E27FC236}">
                <a16:creationId xmlns:a16="http://schemas.microsoft.com/office/drawing/2014/main" id="{25830A98-D5F1-49CA-B6A9-D1D12437F037}"/>
              </a:ext>
            </a:extLst>
          </p:cNvPr>
          <p:cNvSpPr/>
          <p:nvPr/>
        </p:nvSpPr>
        <p:spPr bwMode="gray">
          <a:xfrm>
            <a:off x="1156996" y="2025447"/>
            <a:ext cx="4488024" cy="2163998"/>
          </a:xfrm>
          <a:prstGeom prst="roundRect">
            <a:avLst/>
          </a:prstGeom>
          <a:noFill/>
          <a:ln w="19050" algn="ctr">
            <a:solidFill>
              <a:schemeClr val="tx1"/>
            </a:solidFill>
            <a:prstDash val="dash"/>
            <a:miter lim="800000"/>
            <a:headEnd/>
            <a:tailEnd/>
          </a:ln>
        </p:spPr>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Pod</a:t>
            </a:r>
          </a:p>
        </p:txBody>
      </p:sp>
      <p:cxnSp>
        <p:nvCxnSpPr>
          <p:cNvPr id="10" name="Connector: Elbow 9">
            <a:extLst>
              <a:ext uri="{FF2B5EF4-FFF2-40B4-BE49-F238E27FC236}">
                <a16:creationId xmlns:a16="http://schemas.microsoft.com/office/drawing/2014/main" id="{7058B0CF-4E8B-44F0-AB4E-8A4167EF78D9}"/>
              </a:ext>
            </a:extLst>
          </p:cNvPr>
          <p:cNvCxnSpPr>
            <a:cxnSpLocks/>
            <a:stCxn id="41" idx="2"/>
            <a:endCxn id="17" idx="2"/>
          </p:cNvCxnSpPr>
          <p:nvPr/>
        </p:nvCxnSpPr>
        <p:spPr>
          <a:xfrm rot="5400000">
            <a:off x="6683196" y="1664086"/>
            <a:ext cx="701886" cy="7236578"/>
          </a:xfrm>
          <a:prstGeom prst="bentConnector3">
            <a:avLst>
              <a:gd name="adj1" fmla="val 208343"/>
            </a:avLst>
          </a:prstGeom>
          <a:ln w="76200">
            <a:headEnd type="none" w="med" len="med"/>
            <a:tailEnd type="triangle"/>
          </a:ln>
        </p:spPr>
        <p:style>
          <a:lnRef idx="1">
            <a:schemeClr val="accent2"/>
          </a:lnRef>
          <a:fillRef idx="0">
            <a:schemeClr val="accent2"/>
          </a:fillRef>
          <a:effectRef idx="0">
            <a:schemeClr val="accent2"/>
          </a:effectRef>
          <a:fontRef idx="minor">
            <a:schemeClr val="tx1"/>
          </a:fontRef>
        </p:style>
      </p:cxnSp>
      <p:pic>
        <p:nvPicPr>
          <p:cNvPr id="8" name="Graphic 7" descr="Database">
            <a:extLst>
              <a:ext uri="{FF2B5EF4-FFF2-40B4-BE49-F238E27FC236}">
                <a16:creationId xmlns:a16="http://schemas.microsoft.com/office/drawing/2014/main" id="{91424F3F-1D0A-4E2E-93FA-2C0708021F9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638262" y="2835354"/>
            <a:ext cx="1992118" cy="1992118"/>
          </a:xfrm>
          <a:prstGeom prst="rect">
            <a:avLst/>
          </a:prstGeom>
        </p:spPr>
      </p:pic>
      <p:sp>
        <p:nvSpPr>
          <p:cNvPr id="13" name="TextBox 12">
            <a:extLst>
              <a:ext uri="{FF2B5EF4-FFF2-40B4-BE49-F238E27FC236}">
                <a16:creationId xmlns:a16="http://schemas.microsoft.com/office/drawing/2014/main" id="{B41FC596-573E-4AE8-B730-E5EDE03ABBFA}"/>
              </a:ext>
            </a:extLst>
          </p:cNvPr>
          <p:cNvSpPr txBox="1"/>
          <p:nvPr/>
        </p:nvSpPr>
        <p:spPr>
          <a:xfrm>
            <a:off x="8153032" y="3402992"/>
            <a:ext cx="1955904" cy="553998"/>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1800" b="1" kern="0" dirty="0">
                <a:ea typeface="Arial Unicode MS" pitchFamily="34" charset="-128"/>
                <a:cs typeface="Arial Unicode MS" pitchFamily="34" charset="-128"/>
              </a:rPr>
              <a:t>10 GB      Persistent Disk </a:t>
            </a:r>
          </a:p>
        </p:txBody>
      </p:sp>
      <p:sp>
        <p:nvSpPr>
          <p:cNvPr id="17" name="TextBox 16">
            <a:extLst>
              <a:ext uri="{FF2B5EF4-FFF2-40B4-BE49-F238E27FC236}">
                <a16:creationId xmlns:a16="http://schemas.microsoft.com/office/drawing/2014/main" id="{D139FEFC-B3E0-41A1-A62C-89812500AB8A}"/>
              </a:ext>
            </a:extLst>
          </p:cNvPr>
          <p:cNvSpPr txBox="1"/>
          <p:nvPr/>
        </p:nvSpPr>
        <p:spPr>
          <a:xfrm>
            <a:off x="2086237" y="5356319"/>
            <a:ext cx="2659225" cy="276999"/>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1800" b="1" i="1" kern="0" dirty="0">
                <a:solidFill>
                  <a:schemeClr val="accent5"/>
                </a:solidFill>
                <a:ea typeface="Arial Unicode MS" pitchFamily="34" charset="-128"/>
                <a:cs typeface="Arial Unicode MS" pitchFamily="34" charset="-128"/>
              </a:rPr>
              <a:t>/</a:t>
            </a:r>
            <a:r>
              <a:rPr lang="en-US" sz="1800" b="1" i="1" kern="0" dirty="0" err="1">
                <a:solidFill>
                  <a:schemeClr val="accent5"/>
                </a:solidFill>
                <a:ea typeface="Arial Unicode MS" pitchFamily="34" charset="-128"/>
                <a:cs typeface="Arial Unicode MS" pitchFamily="34" charset="-128"/>
              </a:rPr>
              <a:t>mnt</a:t>
            </a:r>
            <a:r>
              <a:rPr lang="en-US" sz="1800" b="1" i="1" kern="0" dirty="0">
                <a:solidFill>
                  <a:schemeClr val="accent5"/>
                </a:solidFill>
                <a:ea typeface="Arial Unicode MS" pitchFamily="34" charset="-128"/>
                <a:cs typeface="Arial Unicode MS" pitchFamily="34" charset="-128"/>
              </a:rPr>
              <a:t>/</a:t>
            </a:r>
            <a:r>
              <a:rPr lang="en-US" sz="1800" b="1" i="1" kern="0" dirty="0" err="1">
                <a:solidFill>
                  <a:schemeClr val="accent5"/>
                </a:solidFill>
                <a:ea typeface="Arial Unicode MS" pitchFamily="34" charset="-128"/>
                <a:cs typeface="Arial Unicode MS" pitchFamily="34" charset="-128"/>
              </a:rPr>
              <a:t>gce</a:t>
            </a:r>
            <a:r>
              <a:rPr lang="en-US" sz="1800" b="1" i="1" kern="0" dirty="0">
                <a:solidFill>
                  <a:schemeClr val="accent5"/>
                </a:solidFill>
                <a:ea typeface="Arial Unicode MS" pitchFamily="34" charset="-128"/>
                <a:cs typeface="Arial Unicode MS" pitchFamily="34" charset="-128"/>
              </a:rPr>
              <a:t>-pd-volume/</a:t>
            </a:r>
          </a:p>
        </p:txBody>
      </p:sp>
      <p:cxnSp>
        <p:nvCxnSpPr>
          <p:cNvPr id="21" name="Connector: Elbow 20">
            <a:extLst>
              <a:ext uri="{FF2B5EF4-FFF2-40B4-BE49-F238E27FC236}">
                <a16:creationId xmlns:a16="http://schemas.microsoft.com/office/drawing/2014/main" id="{F7361A46-7B35-4E09-B259-AA86FD4D6B79}"/>
              </a:ext>
            </a:extLst>
          </p:cNvPr>
          <p:cNvCxnSpPr>
            <a:cxnSpLocks/>
            <a:stCxn id="17" idx="3"/>
            <a:endCxn id="5" idx="3"/>
          </p:cNvCxnSpPr>
          <p:nvPr/>
        </p:nvCxnSpPr>
        <p:spPr>
          <a:xfrm flipV="1">
            <a:off x="4745462" y="2951370"/>
            <a:ext cx="600979" cy="2543449"/>
          </a:xfrm>
          <a:prstGeom prst="bentConnector3">
            <a:avLst>
              <a:gd name="adj1" fmla="val 274664"/>
            </a:avLst>
          </a:prstGeom>
          <a:ln w="76200">
            <a:headEnd type="none" w="med" len="med"/>
            <a:tailEnd type="triangle"/>
          </a:ln>
        </p:spPr>
        <p:style>
          <a:lnRef idx="1">
            <a:schemeClr val="accent2"/>
          </a:lnRef>
          <a:fillRef idx="0">
            <a:schemeClr val="accent2"/>
          </a:fillRef>
          <a:effectRef idx="0">
            <a:schemeClr val="accent2"/>
          </a:effectRef>
          <a:fontRef idx="minor">
            <a:schemeClr val="tx1"/>
          </a:fontRef>
        </p:style>
      </p:cxnSp>
      <p:sp>
        <p:nvSpPr>
          <p:cNvPr id="33" name="Speech Bubble: Rectangle 32">
            <a:extLst>
              <a:ext uri="{FF2B5EF4-FFF2-40B4-BE49-F238E27FC236}">
                <a16:creationId xmlns:a16="http://schemas.microsoft.com/office/drawing/2014/main" id="{5B53B858-3863-4785-B6C9-937C457F27BF}"/>
              </a:ext>
            </a:extLst>
          </p:cNvPr>
          <p:cNvSpPr/>
          <p:nvPr/>
        </p:nvSpPr>
        <p:spPr bwMode="gray">
          <a:xfrm>
            <a:off x="6954486" y="1204378"/>
            <a:ext cx="4083693" cy="915844"/>
          </a:xfrm>
          <a:prstGeom prst="wedgeRectCallout">
            <a:avLst>
              <a:gd name="adj1" fmla="val -60566"/>
              <a:gd name="adj2" fmla="val 123162"/>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bind mount /</a:t>
            </a:r>
            <a:r>
              <a:rPr lang="en-US" sz="1800" kern="0" dirty="0" err="1">
                <a:ea typeface="Arial Unicode MS" pitchFamily="34" charset="-128"/>
                <a:cs typeface="Arial Unicode MS" pitchFamily="34" charset="-128"/>
              </a:rPr>
              <a:t>mnt</a:t>
            </a:r>
            <a:r>
              <a:rPr lang="en-US" sz="1800" kern="0" dirty="0">
                <a:ea typeface="Arial Unicode MS" pitchFamily="34" charset="-128"/>
                <a:cs typeface="Arial Unicode MS" pitchFamily="34" charset="-128"/>
              </a:rPr>
              <a:t>/</a:t>
            </a:r>
            <a:r>
              <a:rPr lang="en-US" sz="1800" kern="0" dirty="0" err="1">
                <a:ea typeface="Arial Unicode MS" pitchFamily="34" charset="-128"/>
                <a:cs typeface="Arial Unicode MS" pitchFamily="34" charset="-128"/>
              </a:rPr>
              <a:t>gce</a:t>
            </a:r>
            <a:r>
              <a:rPr lang="en-US" sz="1800" kern="0" dirty="0">
                <a:ea typeface="Arial Unicode MS" pitchFamily="34" charset="-128"/>
                <a:cs typeface="Arial Unicode MS" pitchFamily="34" charset="-128"/>
              </a:rPr>
              <a:t>-pd-volume into container file system</a:t>
            </a: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34" name="Speech Bubble: Rectangle 33">
            <a:extLst>
              <a:ext uri="{FF2B5EF4-FFF2-40B4-BE49-F238E27FC236}">
                <a16:creationId xmlns:a16="http://schemas.microsoft.com/office/drawing/2014/main" id="{02F1BB7E-F5B4-4CDD-8F67-83E7478969BE}"/>
              </a:ext>
            </a:extLst>
          </p:cNvPr>
          <p:cNvSpPr/>
          <p:nvPr/>
        </p:nvSpPr>
        <p:spPr bwMode="gray">
          <a:xfrm>
            <a:off x="7092886" y="4997906"/>
            <a:ext cx="2257265" cy="636814"/>
          </a:xfrm>
          <a:prstGeom prst="wedgeRectCallout">
            <a:avLst>
              <a:gd name="adj1" fmla="val -44727"/>
              <a:gd name="adj2" fmla="val 146388"/>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Mount disk to node</a:t>
            </a: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41" name="TextBox 40">
            <a:extLst>
              <a:ext uri="{FF2B5EF4-FFF2-40B4-BE49-F238E27FC236}">
                <a16:creationId xmlns:a16="http://schemas.microsoft.com/office/drawing/2014/main" id="{A5B6FDA5-3A11-48F6-B6C6-D8DA71C5C7A8}"/>
              </a:ext>
            </a:extLst>
          </p:cNvPr>
          <p:cNvSpPr txBox="1"/>
          <p:nvPr/>
        </p:nvSpPr>
        <p:spPr>
          <a:xfrm>
            <a:off x="9674476" y="4654433"/>
            <a:ext cx="1955904" cy="276999"/>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1800" b="1" i="1" kern="0" dirty="0">
                <a:solidFill>
                  <a:schemeClr val="accent5"/>
                </a:solidFill>
                <a:ea typeface="Arial Unicode MS" pitchFamily="34" charset="-128"/>
                <a:cs typeface="Arial Unicode MS" pitchFamily="34" charset="-128"/>
              </a:rPr>
              <a:t>/dev/</a:t>
            </a:r>
            <a:r>
              <a:rPr lang="en-US" sz="1800" b="1" i="1" kern="0" dirty="0" err="1">
                <a:solidFill>
                  <a:schemeClr val="accent5"/>
                </a:solidFill>
                <a:ea typeface="Arial Unicode MS" pitchFamily="34" charset="-128"/>
                <a:cs typeface="Arial Unicode MS" pitchFamily="34" charset="-128"/>
              </a:rPr>
              <a:t>sdb</a:t>
            </a:r>
            <a:endParaRPr lang="en-US" sz="1800" b="1" i="1" kern="0" dirty="0">
              <a:solidFill>
                <a:schemeClr val="accent5"/>
              </a:solidFill>
              <a:ea typeface="Arial Unicode MS" pitchFamily="34" charset="-128"/>
              <a:cs typeface="Arial Unicode MS" pitchFamily="34" charset="-128"/>
            </a:endParaRPr>
          </a:p>
        </p:txBody>
      </p:sp>
      <p:pic>
        <p:nvPicPr>
          <p:cNvPr id="15" name="Graphic 14" descr="Open folder">
            <a:extLst>
              <a:ext uri="{FF2B5EF4-FFF2-40B4-BE49-F238E27FC236}">
                <a16:creationId xmlns:a16="http://schemas.microsoft.com/office/drawing/2014/main" id="{D0A6C5E6-05B9-46C9-AA9A-E2462B4A49FD}"/>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204787" y="5037618"/>
            <a:ext cx="914400" cy="914400"/>
          </a:xfrm>
          <a:prstGeom prst="rect">
            <a:avLst/>
          </a:prstGeom>
        </p:spPr>
      </p:pic>
      <p:pic>
        <p:nvPicPr>
          <p:cNvPr id="16" name="Graphic 15" descr="Open folder">
            <a:extLst>
              <a:ext uri="{FF2B5EF4-FFF2-40B4-BE49-F238E27FC236}">
                <a16:creationId xmlns:a16="http://schemas.microsoft.com/office/drawing/2014/main" id="{3F046704-6902-436D-9071-009B283ED88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492436" y="2650246"/>
            <a:ext cx="914400" cy="914400"/>
          </a:xfrm>
          <a:prstGeom prst="rect">
            <a:avLst/>
          </a:prstGeom>
        </p:spPr>
      </p:pic>
    </p:spTree>
    <p:extLst>
      <p:ext uri="{BB962C8B-B14F-4D97-AF65-F5344CB8AC3E}">
        <p14:creationId xmlns:p14="http://schemas.microsoft.com/office/powerpoint/2010/main" val="19674629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3"/>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17" grpId="0"/>
      <p:bldP spid="33" grpId="0" animBg="1"/>
      <p:bldP spid="34"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401F17-8E97-46B7-8E74-3BDBEA4CB50F}"/>
              </a:ext>
            </a:extLst>
          </p:cNvPr>
          <p:cNvSpPr>
            <a:spLocks noGrp="1"/>
          </p:cNvSpPr>
          <p:nvPr>
            <p:ph type="ctrTitle"/>
          </p:nvPr>
        </p:nvSpPr>
        <p:spPr/>
        <p:txBody>
          <a:bodyPr/>
          <a:lstStyle/>
          <a:p>
            <a:r>
              <a:rPr lang="en-US" dirty="0"/>
              <a:t>Are there drawbacks of direct storage integration?</a:t>
            </a:r>
          </a:p>
        </p:txBody>
      </p:sp>
    </p:spTree>
    <p:extLst>
      <p:ext uri="{BB962C8B-B14F-4D97-AF65-F5344CB8AC3E}">
        <p14:creationId xmlns:p14="http://schemas.microsoft.com/office/powerpoint/2010/main" val="295896150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Rectangle 30">
            <a:extLst>
              <a:ext uri="{FF2B5EF4-FFF2-40B4-BE49-F238E27FC236}">
                <a16:creationId xmlns:a16="http://schemas.microsoft.com/office/drawing/2014/main" id="{1E57CB26-11C0-4A32-A2E4-3BF415F0505B}"/>
              </a:ext>
            </a:extLst>
          </p:cNvPr>
          <p:cNvSpPr/>
          <p:nvPr/>
        </p:nvSpPr>
        <p:spPr bwMode="gray">
          <a:xfrm>
            <a:off x="6835806" y="1074198"/>
            <a:ext cx="5193437" cy="2902998"/>
          </a:xfrm>
          <a:prstGeom prst="rect">
            <a:avLst/>
          </a:prstGeom>
          <a:noFill/>
          <a:ln w="5715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1" i="0" u="none" strike="noStrike" kern="0" cap="none" spc="0" normalizeH="0" baseline="0" noProof="0" dirty="0">
                <a:ln>
                  <a:noFill/>
                </a:ln>
                <a:solidFill>
                  <a:schemeClr val="tx1"/>
                </a:solidFill>
                <a:effectLst/>
                <a:uLnTx/>
                <a:uFillTx/>
                <a:ea typeface="Arial Unicode MS" pitchFamily="34" charset="-128"/>
                <a:cs typeface="Arial Unicode MS" pitchFamily="34" charset="-128"/>
              </a:rPr>
              <a:t>Administrator space</a:t>
            </a:r>
          </a:p>
        </p:txBody>
      </p:sp>
      <p:sp>
        <p:nvSpPr>
          <p:cNvPr id="2" name="Title 1"/>
          <p:cNvSpPr>
            <a:spLocks noGrp="1"/>
          </p:cNvSpPr>
          <p:nvPr>
            <p:ph type="title"/>
          </p:nvPr>
        </p:nvSpPr>
        <p:spPr/>
        <p:txBody>
          <a:bodyPr/>
          <a:lstStyle/>
          <a:p>
            <a:r>
              <a:rPr lang="en-US" dirty="0"/>
              <a:t>Storage with </a:t>
            </a:r>
            <a:r>
              <a:rPr lang="en-US" dirty="0" err="1"/>
              <a:t>PersistentVolumes</a:t>
            </a:r>
            <a:r>
              <a:rPr lang="en-US" dirty="0"/>
              <a:t> &amp; </a:t>
            </a:r>
            <a:r>
              <a:rPr lang="en-US" dirty="0" err="1"/>
              <a:t>PersistentVolumeClaims</a:t>
            </a:r>
            <a:endParaRPr lang="en-US" dirty="0"/>
          </a:p>
        </p:txBody>
      </p:sp>
      <p:sp>
        <p:nvSpPr>
          <p:cNvPr id="7" name="Cylinder 6"/>
          <p:cNvSpPr/>
          <p:nvPr/>
        </p:nvSpPr>
        <p:spPr bwMode="gray">
          <a:xfrm>
            <a:off x="9891783" y="1922165"/>
            <a:ext cx="1693576" cy="1362573"/>
          </a:xfrm>
          <a:prstGeom prst="can">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Physical storage</a:t>
            </a:r>
          </a:p>
        </p:txBody>
      </p:sp>
      <p:grpSp>
        <p:nvGrpSpPr>
          <p:cNvPr id="34" name="Group 33">
            <a:extLst>
              <a:ext uri="{FF2B5EF4-FFF2-40B4-BE49-F238E27FC236}">
                <a16:creationId xmlns:a16="http://schemas.microsoft.com/office/drawing/2014/main" id="{5A64DBBD-B70F-448E-98B9-B0B9BD96B767}"/>
              </a:ext>
            </a:extLst>
          </p:cNvPr>
          <p:cNvGrpSpPr/>
          <p:nvPr/>
        </p:nvGrpSpPr>
        <p:grpSpPr>
          <a:xfrm>
            <a:off x="740815" y="1604970"/>
            <a:ext cx="2312888" cy="2001495"/>
            <a:chOff x="572139" y="1383027"/>
            <a:chExt cx="2312888" cy="2001495"/>
          </a:xfrm>
        </p:grpSpPr>
        <p:sp>
          <p:nvSpPr>
            <p:cNvPr id="5" name="Rectangle 4"/>
            <p:cNvSpPr/>
            <p:nvPr/>
          </p:nvSpPr>
          <p:spPr bwMode="gray">
            <a:xfrm>
              <a:off x="572139" y="1383027"/>
              <a:ext cx="2312888" cy="2001495"/>
            </a:xfrm>
            <a:prstGeom prst="rect">
              <a:avLst/>
            </a:prstGeom>
            <a:solidFill>
              <a:schemeClr val="tx2"/>
            </a:solidFill>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lang="en-US" sz="1600" b="1" kern="0" noProof="0" dirty="0">
                  <a:solidFill>
                    <a:sysClr val="windowText" lastClr="000000"/>
                  </a:solidFill>
                  <a:ea typeface="Arial Unicode MS" pitchFamily="34" charset="-128"/>
                  <a:cs typeface="Arial Unicode MS" pitchFamily="34" charset="-128"/>
                </a:rPr>
                <a:t>Pod-A</a:t>
              </a:r>
              <a:endParaRPr kumimoji="0" lang="en-US" sz="1600" b="1" i="0" u="none" strike="noStrike" kern="0" cap="none" spc="0" normalizeH="0" baseline="0" noProof="0" dirty="0">
                <a:ln>
                  <a:noFill/>
                </a:ln>
                <a:solidFill>
                  <a:sysClr val="windowText" lastClr="000000"/>
                </a:solidFill>
                <a:effectLst/>
                <a:uLnTx/>
                <a:uFillTx/>
                <a:ea typeface="Arial Unicode MS" pitchFamily="34" charset="-128"/>
                <a:cs typeface="Arial Unicode MS" pitchFamily="34" charset="-128"/>
              </a:endParaRPr>
            </a:p>
          </p:txBody>
        </p:sp>
        <p:sp>
          <p:nvSpPr>
            <p:cNvPr id="8" name="Rectangle 7"/>
            <p:cNvSpPr/>
            <p:nvPr/>
          </p:nvSpPr>
          <p:spPr bwMode="gray">
            <a:xfrm>
              <a:off x="914617" y="1851143"/>
              <a:ext cx="1627931" cy="1156258"/>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a:ea typeface="Arial Unicode MS" pitchFamily="34" charset="-128"/>
                  <a:cs typeface="Arial Unicode MS" pitchFamily="34" charset="-128"/>
                </a:rPr>
                <a:t>c</a:t>
              </a:r>
              <a:r>
                <a:rPr kumimoji="0" lang="en-US" sz="1800" b="0" i="0" u="none" strike="noStrike" kern="0" cap="none" spc="0" normalizeH="0" baseline="0" noProof="0">
                  <a:ln>
                    <a:noFill/>
                  </a:ln>
                  <a:effectLst/>
                  <a:uLnTx/>
                  <a:uFillTx/>
                  <a:ea typeface="Arial Unicode MS" pitchFamily="34" charset="-128"/>
                  <a:cs typeface="Arial Unicode MS" pitchFamily="34" charset="-128"/>
                </a:rPr>
                <a:t>ontainer</a:t>
              </a:r>
            </a:p>
            <a:p>
              <a:pPr marR="0" algn="ctr" defTabSz="914400" eaLnBrk="1" fontAlgn="base" latinLnBrk="0" hangingPunct="1">
                <a:lnSpc>
                  <a:spcPct val="100000"/>
                </a:lnSpc>
                <a:spcBef>
                  <a:spcPct val="50000"/>
                </a:spcBef>
                <a:spcAft>
                  <a:spcPct val="0"/>
                </a:spcAft>
                <a:buClr>
                  <a:srgbClr val="F0AB00"/>
                </a:buClr>
                <a:buSzPct val="80000"/>
                <a:tabLst/>
              </a:pPr>
              <a:r>
                <a:rPr lang="en-US" sz="1800" kern="0">
                  <a:ea typeface="Arial Unicode MS" pitchFamily="34" charset="-128"/>
                  <a:cs typeface="Arial Unicode MS" pitchFamily="34" charset="-128"/>
                </a:rPr>
                <a:t>nginx</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grpSp>
      <p:sp>
        <p:nvSpPr>
          <p:cNvPr id="14" name="Cylinder 13"/>
          <p:cNvSpPr/>
          <p:nvPr/>
        </p:nvSpPr>
        <p:spPr bwMode="gray">
          <a:xfrm>
            <a:off x="7515467" y="2050742"/>
            <a:ext cx="1486490" cy="1104455"/>
          </a:xfrm>
          <a:prstGeom prst="can">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Persistent</a:t>
            </a:r>
            <a:r>
              <a:rPr kumimoji="0" lang="en-US" sz="1800" b="0" i="0" u="none" strike="noStrike" kern="0" cap="none" spc="0" normalizeH="0" noProof="0" dirty="0">
                <a:ln>
                  <a:noFill/>
                </a:ln>
                <a:effectLst/>
                <a:uLnTx/>
                <a:uFillTx/>
                <a:ea typeface="Arial Unicode MS" pitchFamily="34" charset="-128"/>
                <a:cs typeface="Arial Unicode MS" pitchFamily="34" charset="-128"/>
              </a:rPr>
              <a:t> Volume</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6" name="Rectangle: Diagonal Corners Rounded 15"/>
          <p:cNvSpPr/>
          <p:nvPr/>
        </p:nvSpPr>
        <p:spPr bwMode="gray">
          <a:xfrm>
            <a:off x="3880398" y="2048142"/>
            <a:ext cx="1803653" cy="1112233"/>
          </a:xfrm>
          <a:prstGeom prst="round2Diag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kern="0" dirty="0">
                <a:solidFill>
                  <a:schemeClr val="dk1"/>
                </a:solidFill>
                <a:latin typeface="+mn-lt"/>
                <a:ea typeface="Arial Unicode MS" pitchFamily="34" charset="-128"/>
                <a:cs typeface="Arial Unicode MS" pitchFamily="34" charset="-128"/>
              </a:rPr>
              <a:t>Persistent Volume Claim</a:t>
            </a:r>
          </a:p>
        </p:txBody>
      </p:sp>
      <p:cxnSp>
        <p:nvCxnSpPr>
          <p:cNvPr id="17" name="Connector: Elbow 16"/>
          <p:cNvCxnSpPr>
            <a:cxnSpLocks/>
            <a:stCxn id="14" idx="4"/>
            <a:endCxn id="7" idx="2"/>
          </p:cNvCxnSpPr>
          <p:nvPr/>
        </p:nvCxnSpPr>
        <p:spPr>
          <a:xfrm>
            <a:off x="9001957" y="2602970"/>
            <a:ext cx="889826" cy="482"/>
          </a:xfrm>
          <a:prstGeom prst="bentConnector3">
            <a:avLst>
              <a:gd name="adj1" fmla="val 50000"/>
            </a:avLst>
          </a:prstGeom>
          <a:ln w="571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0" name="Connector: Elbow 19"/>
          <p:cNvCxnSpPr>
            <a:cxnSpLocks/>
            <a:stCxn id="16" idx="0"/>
            <a:endCxn id="14" idx="2"/>
          </p:cNvCxnSpPr>
          <p:nvPr/>
        </p:nvCxnSpPr>
        <p:spPr>
          <a:xfrm flipV="1">
            <a:off x="5684051" y="2602970"/>
            <a:ext cx="1831416" cy="1289"/>
          </a:xfrm>
          <a:prstGeom prst="bentConnector3">
            <a:avLst>
              <a:gd name="adj1" fmla="val 50000"/>
            </a:avLst>
          </a:prstGeom>
          <a:ln w="571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3" name="Connector: Elbow 22"/>
          <p:cNvCxnSpPr>
            <a:cxnSpLocks/>
            <a:stCxn id="5" idx="3"/>
            <a:endCxn id="16" idx="2"/>
          </p:cNvCxnSpPr>
          <p:nvPr/>
        </p:nvCxnSpPr>
        <p:spPr>
          <a:xfrm flipV="1">
            <a:off x="3053703" y="2604259"/>
            <a:ext cx="826695" cy="1459"/>
          </a:xfrm>
          <a:prstGeom prst="bentConnector3">
            <a:avLst>
              <a:gd name="adj1" fmla="val 50000"/>
            </a:avLst>
          </a:prstGeom>
          <a:ln w="571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6" name="Rectangle 35">
            <a:extLst>
              <a:ext uri="{FF2B5EF4-FFF2-40B4-BE49-F238E27FC236}">
                <a16:creationId xmlns:a16="http://schemas.microsoft.com/office/drawing/2014/main" id="{E8DB1AA6-8411-463E-8620-A75558441644}"/>
              </a:ext>
            </a:extLst>
          </p:cNvPr>
          <p:cNvSpPr/>
          <p:nvPr/>
        </p:nvSpPr>
        <p:spPr bwMode="gray">
          <a:xfrm>
            <a:off x="446882" y="1074198"/>
            <a:ext cx="5785243" cy="2902998"/>
          </a:xfrm>
          <a:prstGeom prst="rect">
            <a:avLst/>
          </a:prstGeom>
          <a:noFill/>
          <a:ln w="5715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1" i="0" u="none" strike="noStrike" kern="0" cap="none" spc="0" normalizeH="0" baseline="0" noProof="0" dirty="0">
                <a:ln>
                  <a:noFill/>
                </a:ln>
                <a:solidFill>
                  <a:schemeClr val="tx1"/>
                </a:solidFill>
                <a:effectLst/>
                <a:uLnTx/>
                <a:uFillTx/>
                <a:ea typeface="Arial Unicode MS" pitchFamily="34" charset="-128"/>
                <a:cs typeface="Arial Unicode MS" pitchFamily="34" charset="-128"/>
              </a:rPr>
              <a:t>User space</a:t>
            </a:r>
          </a:p>
        </p:txBody>
      </p:sp>
      <p:sp>
        <p:nvSpPr>
          <p:cNvPr id="37" name="Speech Bubble: Rectangle 36">
            <a:extLst>
              <a:ext uri="{FF2B5EF4-FFF2-40B4-BE49-F238E27FC236}">
                <a16:creationId xmlns:a16="http://schemas.microsoft.com/office/drawing/2014/main" id="{52B3D3DA-BEE8-41ED-BAAE-06AF497E8BC8}"/>
              </a:ext>
            </a:extLst>
          </p:cNvPr>
          <p:cNvSpPr/>
          <p:nvPr/>
        </p:nvSpPr>
        <p:spPr bwMode="gray">
          <a:xfrm>
            <a:off x="7368466" y="4649272"/>
            <a:ext cx="3737500" cy="1713391"/>
          </a:xfrm>
          <a:prstGeom prst="wedgeRectCallout">
            <a:avLst>
              <a:gd name="adj1" fmla="val -9369"/>
              <a:gd name="adj2" fmla="val -107128"/>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Persistent Volumes objects represent physical storage</a:t>
            </a:r>
          </a:p>
        </p:txBody>
      </p:sp>
      <p:sp>
        <p:nvSpPr>
          <p:cNvPr id="38" name="Speech Bubble: Rectangle 37">
            <a:extLst>
              <a:ext uri="{FF2B5EF4-FFF2-40B4-BE49-F238E27FC236}">
                <a16:creationId xmlns:a16="http://schemas.microsoft.com/office/drawing/2014/main" id="{EAA44666-B3C1-46EC-BCE4-4A66C3892705}"/>
              </a:ext>
            </a:extLst>
          </p:cNvPr>
          <p:cNvSpPr/>
          <p:nvPr/>
        </p:nvSpPr>
        <p:spPr bwMode="gray">
          <a:xfrm>
            <a:off x="3822693" y="4649272"/>
            <a:ext cx="2409432" cy="1713391"/>
          </a:xfrm>
          <a:prstGeom prst="wedgeRectCallout">
            <a:avLst>
              <a:gd name="adj1" fmla="val -9369"/>
              <a:gd name="adj2" fmla="val -107128"/>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Create a Persistent Volume Claim to bind the Persistent Volume</a:t>
            </a:r>
          </a:p>
        </p:txBody>
      </p:sp>
      <p:sp>
        <p:nvSpPr>
          <p:cNvPr id="39" name="Speech Bubble: Rectangle 38">
            <a:extLst>
              <a:ext uri="{FF2B5EF4-FFF2-40B4-BE49-F238E27FC236}">
                <a16:creationId xmlns:a16="http://schemas.microsoft.com/office/drawing/2014/main" id="{BB50BE1E-AE4B-4E48-B9C8-8C2BFE722CC6}"/>
              </a:ext>
            </a:extLst>
          </p:cNvPr>
          <p:cNvSpPr/>
          <p:nvPr/>
        </p:nvSpPr>
        <p:spPr bwMode="gray">
          <a:xfrm>
            <a:off x="740815" y="4649272"/>
            <a:ext cx="2409432" cy="1713391"/>
          </a:xfrm>
          <a:prstGeom prst="wedgeRectCallout">
            <a:avLst>
              <a:gd name="adj1" fmla="val -9369"/>
              <a:gd name="adj2" fmla="val -107128"/>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Use the claim as a volume in a pod. </a:t>
            </a:r>
          </a:p>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Note: t</a:t>
            </a:r>
            <a:r>
              <a:rPr kumimoji="0" lang="en-US" sz="1800" b="0" i="0" u="none" strike="noStrike" kern="0" cap="none" spc="0" normalizeH="0" baseline="0" noProof="0" dirty="0">
                <a:ln>
                  <a:noFill/>
                </a:ln>
                <a:effectLst/>
                <a:uLnTx/>
                <a:uFillTx/>
                <a:ea typeface="Arial Unicode MS" pitchFamily="34" charset="-128"/>
                <a:cs typeface="Arial Unicode MS" pitchFamily="34" charset="-128"/>
              </a:rPr>
              <a:t>he claim has </a:t>
            </a:r>
            <a:r>
              <a:rPr lang="en-US" sz="1800" kern="0" dirty="0">
                <a:ea typeface="Arial Unicode MS" pitchFamily="34" charset="-128"/>
                <a:cs typeface="Arial Unicode MS" pitchFamily="34" charset="-128"/>
              </a:rPr>
              <a:t>a separate lifecycle. </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13165437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 grpId="0" animBg="1"/>
      <p:bldP spid="38" grpId="0" animBg="1"/>
      <p:bldP spid="39"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Storage with </a:t>
            </a:r>
            <a:r>
              <a:rPr lang="en-US" dirty="0" err="1"/>
              <a:t>PersistentVolumes</a:t>
            </a:r>
            <a:r>
              <a:rPr lang="en-US" dirty="0"/>
              <a:t> &amp; </a:t>
            </a:r>
            <a:r>
              <a:rPr lang="en-US" dirty="0" err="1"/>
              <a:t>PersistentVolumeClaims</a:t>
            </a:r>
            <a:endParaRPr lang="en-US" dirty="0"/>
          </a:p>
        </p:txBody>
      </p:sp>
      <p:sp>
        <p:nvSpPr>
          <p:cNvPr id="3" name="Rectangle 2"/>
          <p:cNvSpPr/>
          <p:nvPr/>
        </p:nvSpPr>
        <p:spPr>
          <a:xfrm>
            <a:off x="504000" y="1207125"/>
            <a:ext cx="11186477" cy="1061829"/>
          </a:xfrm>
          <a:prstGeom prst="rect">
            <a:avLst/>
          </a:prstGeom>
        </p:spPr>
        <p:txBody>
          <a:bodyPr wrap="square">
            <a:spAutoFit/>
          </a:bodyPr>
          <a:lstStyle/>
          <a:p>
            <a:pPr marL="342900" indent="-342900">
              <a:buFont typeface="Wingdings" panose="05000000000000000000" pitchFamily="2" charset="2"/>
              <a:buChar char="§"/>
            </a:pPr>
            <a:r>
              <a:rPr lang="en-US" dirty="0"/>
              <a:t>PV:PVC is always 1:1</a:t>
            </a:r>
          </a:p>
          <a:p>
            <a:pPr marL="342900" indent="-342900">
              <a:buFont typeface="Wingdings" panose="05000000000000000000" pitchFamily="2" charset="2"/>
              <a:buChar char="§"/>
            </a:pPr>
            <a:r>
              <a:rPr lang="en-US" dirty="0"/>
              <a:t>PV size must match or exceed PVC requested size</a:t>
            </a:r>
          </a:p>
          <a:p>
            <a:pPr marL="342900" indent="-342900">
              <a:buFont typeface="Wingdings" panose="05000000000000000000" pitchFamily="2" charset="2"/>
              <a:buChar char="§"/>
            </a:pPr>
            <a:r>
              <a:rPr lang="en-US" dirty="0"/>
              <a:t>PVC is used as volume within the pod</a:t>
            </a:r>
          </a:p>
        </p:txBody>
      </p:sp>
      <p:pic>
        <p:nvPicPr>
          <p:cNvPr id="10" name="Picture 9">
            <a:extLst>
              <a:ext uri="{FF2B5EF4-FFF2-40B4-BE49-F238E27FC236}">
                <a16:creationId xmlns:a16="http://schemas.microsoft.com/office/drawing/2014/main" id="{1F9B8604-CE72-409D-9CB2-5C97AB5C5C47}"/>
              </a:ext>
            </a:extLst>
          </p:cNvPr>
          <p:cNvPicPr>
            <a:picLocks noChangeAspect="1"/>
          </p:cNvPicPr>
          <p:nvPr/>
        </p:nvPicPr>
        <p:blipFill>
          <a:blip r:embed="rId3"/>
          <a:stretch>
            <a:fillRect/>
          </a:stretch>
        </p:blipFill>
        <p:spPr>
          <a:xfrm>
            <a:off x="8183039" y="2373308"/>
            <a:ext cx="3739324" cy="2974778"/>
          </a:xfrm>
          <a:prstGeom prst="rect">
            <a:avLst/>
          </a:prstGeom>
          <a:ln>
            <a:solidFill>
              <a:schemeClr val="tx1"/>
            </a:solidFill>
          </a:ln>
        </p:spPr>
      </p:pic>
      <p:pic>
        <p:nvPicPr>
          <p:cNvPr id="11" name="Picture 10">
            <a:extLst>
              <a:ext uri="{FF2B5EF4-FFF2-40B4-BE49-F238E27FC236}">
                <a16:creationId xmlns:a16="http://schemas.microsoft.com/office/drawing/2014/main" id="{CF621BDE-FE98-4375-9A5D-B8BEA8246BED}"/>
              </a:ext>
            </a:extLst>
          </p:cNvPr>
          <p:cNvPicPr>
            <a:picLocks noChangeAspect="1"/>
          </p:cNvPicPr>
          <p:nvPr/>
        </p:nvPicPr>
        <p:blipFill>
          <a:blip r:embed="rId4"/>
          <a:stretch>
            <a:fillRect/>
          </a:stretch>
        </p:blipFill>
        <p:spPr>
          <a:xfrm>
            <a:off x="602754" y="2342579"/>
            <a:ext cx="3760176" cy="4093796"/>
          </a:xfrm>
          <a:prstGeom prst="rect">
            <a:avLst/>
          </a:prstGeom>
          <a:ln>
            <a:solidFill>
              <a:schemeClr val="tx1"/>
            </a:solidFill>
          </a:ln>
        </p:spPr>
      </p:pic>
      <p:sp>
        <p:nvSpPr>
          <p:cNvPr id="13" name="Rectangle 12">
            <a:extLst>
              <a:ext uri="{FF2B5EF4-FFF2-40B4-BE49-F238E27FC236}">
                <a16:creationId xmlns:a16="http://schemas.microsoft.com/office/drawing/2014/main" id="{78568838-41F4-4797-AFD0-89EE72EA2978}"/>
              </a:ext>
            </a:extLst>
          </p:cNvPr>
          <p:cNvSpPr/>
          <p:nvPr/>
        </p:nvSpPr>
        <p:spPr>
          <a:xfrm>
            <a:off x="9633255" y="6147424"/>
            <a:ext cx="2561920" cy="415498"/>
          </a:xfrm>
          <a:prstGeom prst="rect">
            <a:avLst/>
          </a:prstGeom>
        </p:spPr>
        <p:txBody>
          <a:bodyPr wrap="none">
            <a:spAutoFit/>
          </a:bodyPr>
          <a:lstStyle/>
          <a:p>
            <a:r>
              <a:rPr lang="en-US" dirty="0"/>
              <a:t>PV is bound to PVC</a:t>
            </a:r>
          </a:p>
        </p:txBody>
      </p:sp>
      <p:sp>
        <p:nvSpPr>
          <p:cNvPr id="14" name="Arrow: Curved Down 13">
            <a:extLst>
              <a:ext uri="{FF2B5EF4-FFF2-40B4-BE49-F238E27FC236}">
                <a16:creationId xmlns:a16="http://schemas.microsoft.com/office/drawing/2014/main" id="{719C549F-1905-4273-A9FC-CE8AA32CA7FD}"/>
              </a:ext>
            </a:extLst>
          </p:cNvPr>
          <p:cNvSpPr/>
          <p:nvPr/>
        </p:nvSpPr>
        <p:spPr bwMode="gray">
          <a:xfrm rot="8642649">
            <a:off x="4441656" y="5752676"/>
            <a:ext cx="1615747" cy="789497"/>
          </a:xfrm>
          <a:prstGeom prst="curvedDownArrow">
            <a:avLst/>
          </a:prstGeom>
          <a:solidFill>
            <a:schemeClr val="bg2"/>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5" name="Rectangle 14">
            <a:extLst>
              <a:ext uri="{FF2B5EF4-FFF2-40B4-BE49-F238E27FC236}">
                <a16:creationId xmlns:a16="http://schemas.microsoft.com/office/drawing/2014/main" id="{A010DCA7-D900-4CE2-B6F9-E8A3CB066D8F}"/>
              </a:ext>
            </a:extLst>
          </p:cNvPr>
          <p:cNvSpPr/>
          <p:nvPr/>
        </p:nvSpPr>
        <p:spPr>
          <a:xfrm>
            <a:off x="5723438" y="6067043"/>
            <a:ext cx="2208876" cy="738664"/>
          </a:xfrm>
          <a:prstGeom prst="rect">
            <a:avLst/>
          </a:prstGeom>
        </p:spPr>
        <p:txBody>
          <a:bodyPr wrap="square">
            <a:spAutoFit/>
          </a:bodyPr>
          <a:lstStyle/>
          <a:p>
            <a:r>
              <a:rPr lang="en-US" dirty="0"/>
              <a:t>PVC referenced by Pod </a:t>
            </a:r>
          </a:p>
        </p:txBody>
      </p:sp>
      <p:pic>
        <p:nvPicPr>
          <p:cNvPr id="16" name="Picture 15">
            <a:extLst>
              <a:ext uri="{FF2B5EF4-FFF2-40B4-BE49-F238E27FC236}">
                <a16:creationId xmlns:a16="http://schemas.microsoft.com/office/drawing/2014/main" id="{53317CB1-4E29-408D-984E-BA4F485334CF}"/>
              </a:ext>
            </a:extLst>
          </p:cNvPr>
          <p:cNvPicPr>
            <a:picLocks noChangeAspect="1"/>
          </p:cNvPicPr>
          <p:nvPr/>
        </p:nvPicPr>
        <p:blipFill>
          <a:blip r:embed="rId5"/>
          <a:stretch>
            <a:fillRect/>
          </a:stretch>
        </p:blipFill>
        <p:spPr>
          <a:xfrm>
            <a:off x="4676972" y="2373308"/>
            <a:ext cx="3151929" cy="2777105"/>
          </a:xfrm>
          <a:prstGeom prst="rect">
            <a:avLst/>
          </a:prstGeom>
          <a:ln>
            <a:solidFill>
              <a:schemeClr val="tx1"/>
            </a:solidFill>
          </a:ln>
        </p:spPr>
      </p:pic>
      <p:sp>
        <p:nvSpPr>
          <p:cNvPr id="12" name="Arrow: Curved Down 11">
            <a:extLst>
              <a:ext uri="{FF2B5EF4-FFF2-40B4-BE49-F238E27FC236}">
                <a16:creationId xmlns:a16="http://schemas.microsoft.com/office/drawing/2014/main" id="{E3AFE01B-2B3A-43BE-9B04-44650E603B81}"/>
              </a:ext>
            </a:extLst>
          </p:cNvPr>
          <p:cNvSpPr/>
          <p:nvPr/>
        </p:nvSpPr>
        <p:spPr bwMode="gray">
          <a:xfrm rot="11316041">
            <a:off x="7008261" y="5159139"/>
            <a:ext cx="3422043" cy="853598"/>
          </a:xfrm>
          <a:prstGeom prst="curvedDownArrow">
            <a:avLst/>
          </a:prstGeom>
          <a:solidFill>
            <a:schemeClr val="bg2"/>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20338418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Storage Classes</a:t>
            </a:r>
          </a:p>
        </p:txBody>
      </p:sp>
      <p:sp>
        <p:nvSpPr>
          <p:cNvPr id="4" name="Rectangle 3"/>
          <p:cNvSpPr/>
          <p:nvPr/>
        </p:nvSpPr>
        <p:spPr>
          <a:xfrm>
            <a:off x="504000" y="1136103"/>
            <a:ext cx="11186477" cy="1061829"/>
          </a:xfrm>
          <a:prstGeom prst="rect">
            <a:avLst/>
          </a:prstGeom>
        </p:spPr>
        <p:txBody>
          <a:bodyPr wrap="square">
            <a:spAutoFit/>
          </a:bodyPr>
          <a:lstStyle/>
          <a:p>
            <a:pPr marL="342900" indent="-342900">
              <a:buFont typeface="Wingdings" panose="05000000000000000000" pitchFamily="2" charset="2"/>
              <a:buChar char="§"/>
            </a:pPr>
            <a:r>
              <a:rPr lang="en-US" dirty="0"/>
              <a:t>Provisions a PV for based on PVC request</a:t>
            </a:r>
          </a:p>
          <a:p>
            <a:pPr marL="342900" indent="-342900">
              <a:buFont typeface="Wingdings" panose="05000000000000000000" pitchFamily="2" charset="2"/>
              <a:buChar char="§"/>
            </a:pPr>
            <a:r>
              <a:rPr lang="en-US" dirty="0"/>
              <a:t>Overcomes need to manually provision PV</a:t>
            </a:r>
          </a:p>
          <a:p>
            <a:pPr marL="342900" indent="-342900">
              <a:buFont typeface="Wingdings" panose="05000000000000000000" pitchFamily="2" charset="2"/>
              <a:buChar char="§"/>
            </a:pPr>
            <a:r>
              <a:rPr lang="en-US" dirty="0"/>
              <a:t>Uses standardized “Container Storage Interface” </a:t>
            </a:r>
          </a:p>
        </p:txBody>
      </p:sp>
      <p:pic>
        <p:nvPicPr>
          <p:cNvPr id="6" name="Picture 5">
            <a:extLst>
              <a:ext uri="{FF2B5EF4-FFF2-40B4-BE49-F238E27FC236}">
                <a16:creationId xmlns:a16="http://schemas.microsoft.com/office/drawing/2014/main" id="{ABE3F88E-E05C-4558-BBC7-AA6D55E24629}"/>
              </a:ext>
            </a:extLst>
          </p:cNvPr>
          <p:cNvPicPr>
            <a:picLocks noChangeAspect="1"/>
          </p:cNvPicPr>
          <p:nvPr/>
        </p:nvPicPr>
        <p:blipFill>
          <a:blip r:embed="rId3"/>
          <a:stretch>
            <a:fillRect/>
          </a:stretch>
        </p:blipFill>
        <p:spPr>
          <a:xfrm>
            <a:off x="1010794" y="3143723"/>
            <a:ext cx="3145390" cy="3036349"/>
          </a:xfrm>
          <a:prstGeom prst="rect">
            <a:avLst/>
          </a:prstGeom>
          <a:ln>
            <a:solidFill>
              <a:schemeClr val="tx1"/>
            </a:solidFill>
          </a:ln>
        </p:spPr>
      </p:pic>
      <p:pic>
        <p:nvPicPr>
          <p:cNvPr id="7" name="Picture 6">
            <a:extLst>
              <a:ext uri="{FF2B5EF4-FFF2-40B4-BE49-F238E27FC236}">
                <a16:creationId xmlns:a16="http://schemas.microsoft.com/office/drawing/2014/main" id="{74085753-1232-4BF7-8C5D-233E1E6569D0}"/>
              </a:ext>
            </a:extLst>
          </p:cNvPr>
          <p:cNvPicPr>
            <a:picLocks noChangeAspect="1"/>
          </p:cNvPicPr>
          <p:nvPr/>
        </p:nvPicPr>
        <p:blipFill>
          <a:blip r:embed="rId4"/>
          <a:stretch>
            <a:fillRect/>
          </a:stretch>
        </p:blipFill>
        <p:spPr>
          <a:xfrm>
            <a:off x="7355757" y="3412129"/>
            <a:ext cx="4034486" cy="2499536"/>
          </a:xfrm>
          <a:prstGeom prst="rect">
            <a:avLst/>
          </a:prstGeom>
          <a:ln>
            <a:solidFill>
              <a:schemeClr val="tx1"/>
            </a:solidFill>
          </a:ln>
        </p:spPr>
      </p:pic>
      <p:sp>
        <p:nvSpPr>
          <p:cNvPr id="10" name="Speech Bubble: Rectangle 9">
            <a:extLst>
              <a:ext uri="{FF2B5EF4-FFF2-40B4-BE49-F238E27FC236}">
                <a16:creationId xmlns:a16="http://schemas.microsoft.com/office/drawing/2014/main" id="{DF73D8EE-D588-4638-A0E2-17D68A9E68CF}"/>
              </a:ext>
            </a:extLst>
          </p:cNvPr>
          <p:cNvSpPr/>
          <p:nvPr/>
        </p:nvSpPr>
        <p:spPr bwMode="gray">
          <a:xfrm>
            <a:off x="4575115" y="2501163"/>
            <a:ext cx="2535294" cy="915844"/>
          </a:xfrm>
          <a:prstGeom prst="wedgeRectCallout">
            <a:avLst>
              <a:gd name="adj1" fmla="val -59195"/>
              <a:gd name="adj2" fmla="val 177158"/>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PVC references storage class as part of its spec</a:t>
            </a: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1" name="Speech Bubble: Rectangle 10">
            <a:extLst>
              <a:ext uri="{FF2B5EF4-FFF2-40B4-BE49-F238E27FC236}">
                <a16:creationId xmlns:a16="http://schemas.microsoft.com/office/drawing/2014/main" id="{AEE5E473-0F84-4589-9896-DB6551CF763C}"/>
              </a:ext>
            </a:extLst>
          </p:cNvPr>
          <p:cNvSpPr/>
          <p:nvPr/>
        </p:nvSpPr>
        <p:spPr bwMode="gray">
          <a:xfrm>
            <a:off x="4575115" y="5572084"/>
            <a:ext cx="2535294" cy="915844"/>
          </a:xfrm>
          <a:prstGeom prst="wedgeRectCallout">
            <a:avLst>
              <a:gd name="adj1" fmla="val 53762"/>
              <a:gd name="adj2" fmla="val -166256"/>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Storage class provisions a PV matching the request</a:t>
            </a: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139910573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40DE819E-EBF2-47BD-B113-0CE4EF805FB2}"/>
              </a:ext>
            </a:extLst>
          </p:cNvPr>
          <p:cNvSpPr/>
          <p:nvPr/>
        </p:nvSpPr>
        <p:spPr bwMode="gray">
          <a:xfrm>
            <a:off x="1018420" y="5599814"/>
            <a:ext cx="2063878" cy="659219"/>
          </a:xfrm>
          <a:prstGeom prst="rect">
            <a:avLst/>
          </a:prstGeom>
          <a:noFill/>
          <a:ln w="25400" algn="ctr">
            <a:solidFill>
              <a:schemeClr val="tx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AWS EBS</a:t>
            </a: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4" name="Rectangle 13">
            <a:extLst>
              <a:ext uri="{FF2B5EF4-FFF2-40B4-BE49-F238E27FC236}">
                <a16:creationId xmlns:a16="http://schemas.microsoft.com/office/drawing/2014/main" id="{B530C19E-B1B0-452A-A2A4-5138D5D477FA}"/>
              </a:ext>
            </a:extLst>
          </p:cNvPr>
          <p:cNvSpPr/>
          <p:nvPr/>
        </p:nvSpPr>
        <p:spPr bwMode="gray">
          <a:xfrm>
            <a:off x="3716340" y="5599814"/>
            <a:ext cx="2063878" cy="659219"/>
          </a:xfrm>
          <a:prstGeom prst="rect">
            <a:avLst/>
          </a:prstGeom>
          <a:noFill/>
          <a:ln w="25400" algn="ctr">
            <a:solidFill>
              <a:schemeClr val="tx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GCP PD</a:t>
            </a:r>
          </a:p>
        </p:txBody>
      </p:sp>
      <p:sp>
        <p:nvSpPr>
          <p:cNvPr id="15" name="Rectangle 14">
            <a:extLst>
              <a:ext uri="{FF2B5EF4-FFF2-40B4-BE49-F238E27FC236}">
                <a16:creationId xmlns:a16="http://schemas.microsoft.com/office/drawing/2014/main" id="{472138A7-4CA0-4BC0-9CA1-40D5F59E161A}"/>
              </a:ext>
            </a:extLst>
          </p:cNvPr>
          <p:cNvSpPr/>
          <p:nvPr/>
        </p:nvSpPr>
        <p:spPr bwMode="gray">
          <a:xfrm>
            <a:off x="6414260" y="5599813"/>
            <a:ext cx="2063878" cy="659219"/>
          </a:xfrm>
          <a:prstGeom prst="rect">
            <a:avLst/>
          </a:prstGeom>
          <a:noFill/>
          <a:ln w="25400" algn="ctr">
            <a:solidFill>
              <a:schemeClr val="tx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err="1">
                <a:ln>
                  <a:noFill/>
                </a:ln>
                <a:effectLst/>
                <a:uLnTx/>
                <a:uFillTx/>
                <a:ea typeface="Arial Unicode MS" pitchFamily="34" charset="-128"/>
                <a:cs typeface="Arial Unicode MS" pitchFamily="34" charset="-128"/>
              </a:rPr>
              <a:t>Ceph</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6" name="Rectangle 15">
            <a:extLst>
              <a:ext uri="{FF2B5EF4-FFF2-40B4-BE49-F238E27FC236}">
                <a16:creationId xmlns:a16="http://schemas.microsoft.com/office/drawing/2014/main" id="{3C935E0E-C45D-4312-99C5-98E76DAA1EA4}"/>
              </a:ext>
            </a:extLst>
          </p:cNvPr>
          <p:cNvSpPr/>
          <p:nvPr/>
        </p:nvSpPr>
        <p:spPr bwMode="gray">
          <a:xfrm>
            <a:off x="9112179" y="5599812"/>
            <a:ext cx="2063878" cy="659219"/>
          </a:xfrm>
          <a:prstGeom prst="rect">
            <a:avLst/>
          </a:prstGeom>
          <a:noFill/>
          <a:ln w="25400" algn="ctr">
            <a:solidFill>
              <a:schemeClr val="tx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a:t>
            </a:r>
          </a:p>
        </p:txBody>
      </p:sp>
      <p:sp>
        <p:nvSpPr>
          <p:cNvPr id="21" name="Rectangle 20">
            <a:extLst>
              <a:ext uri="{FF2B5EF4-FFF2-40B4-BE49-F238E27FC236}">
                <a16:creationId xmlns:a16="http://schemas.microsoft.com/office/drawing/2014/main" id="{768CE002-64AE-4D8B-A4C6-639B54AB7F3E}"/>
              </a:ext>
            </a:extLst>
          </p:cNvPr>
          <p:cNvSpPr/>
          <p:nvPr/>
        </p:nvSpPr>
        <p:spPr bwMode="gray">
          <a:xfrm>
            <a:off x="2319931" y="2385056"/>
            <a:ext cx="2063878" cy="659219"/>
          </a:xfrm>
          <a:prstGeom prst="rect">
            <a:avLst/>
          </a:prstGeom>
          <a:ln>
            <a:headEnd/>
            <a:tailEnd/>
          </a:ln>
        </p:spPr>
        <p:style>
          <a:lnRef idx="2">
            <a:schemeClr val="accent5">
              <a:shade val="50000"/>
            </a:schemeClr>
          </a:lnRef>
          <a:fillRef idx="1">
            <a:schemeClr val="accent5"/>
          </a:fillRef>
          <a:effectRef idx="0">
            <a:schemeClr val="accent5"/>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Storage Class</a:t>
            </a: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2" name="Rectangle 21">
            <a:extLst>
              <a:ext uri="{FF2B5EF4-FFF2-40B4-BE49-F238E27FC236}">
                <a16:creationId xmlns:a16="http://schemas.microsoft.com/office/drawing/2014/main" id="{41C9DB3A-C7B7-43DA-9436-6F674328BA32}"/>
              </a:ext>
            </a:extLst>
          </p:cNvPr>
          <p:cNvSpPr/>
          <p:nvPr/>
        </p:nvSpPr>
        <p:spPr bwMode="gray">
          <a:xfrm>
            <a:off x="5065299" y="2385057"/>
            <a:ext cx="2063878" cy="659219"/>
          </a:xfrm>
          <a:prstGeom prst="rect">
            <a:avLst/>
          </a:prstGeom>
          <a:ln>
            <a:headEnd/>
            <a:tailEnd/>
          </a:ln>
        </p:spPr>
        <p:style>
          <a:lnRef idx="2">
            <a:schemeClr val="accent5">
              <a:shade val="50000"/>
            </a:schemeClr>
          </a:lnRef>
          <a:fillRef idx="1">
            <a:schemeClr val="accent5"/>
          </a:fillRef>
          <a:effectRef idx="0">
            <a:schemeClr val="accent5"/>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PVC</a:t>
            </a: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3" name="Rectangle 22">
            <a:extLst>
              <a:ext uri="{FF2B5EF4-FFF2-40B4-BE49-F238E27FC236}">
                <a16:creationId xmlns:a16="http://schemas.microsoft.com/office/drawing/2014/main" id="{11230B61-BEB8-46FA-9A30-5EBD47D9A823}"/>
              </a:ext>
            </a:extLst>
          </p:cNvPr>
          <p:cNvSpPr/>
          <p:nvPr/>
        </p:nvSpPr>
        <p:spPr bwMode="gray">
          <a:xfrm>
            <a:off x="5065299" y="3496331"/>
            <a:ext cx="2063878" cy="659219"/>
          </a:xfrm>
          <a:prstGeom prst="rect">
            <a:avLst/>
          </a:prstGeom>
          <a:ln>
            <a:headEnd/>
            <a:tailEnd/>
          </a:ln>
        </p:spPr>
        <p:style>
          <a:lnRef idx="2">
            <a:schemeClr val="accent5">
              <a:shade val="50000"/>
            </a:schemeClr>
          </a:lnRef>
          <a:fillRef idx="1">
            <a:schemeClr val="accent5"/>
          </a:fillRef>
          <a:effectRef idx="0">
            <a:schemeClr val="accent5"/>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PV</a:t>
            </a: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pic>
        <p:nvPicPr>
          <p:cNvPr id="25" name="Graphic 24" descr="Female Profile">
            <a:extLst>
              <a:ext uri="{FF2B5EF4-FFF2-40B4-BE49-F238E27FC236}">
                <a16:creationId xmlns:a16="http://schemas.microsoft.com/office/drawing/2014/main" id="{6D300F24-7BD1-42EF-B557-FAE2767566B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640038" y="931898"/>
            <a:ext cx="914400" cy="914400"/>
          </a:xfrm>
          <a:prstGeom prst="rect">
            <a:avLst/>
          </a:prstGeom>
        </p:spPr>
      </p:pic>
      <p:cxnSp>
        <p:nvCxnSpPr>
          <p:cNvPr id="30" name="Straight Arrow Connector 29">
            <a:extLst>
              <a:ext uri="{FF2B5EF4-FFF2-40B4-BE49-F238E27FC236}">
                <a16:creationId xmlns:a16="http://schemas.microsoft.com/office/drawing/2014/main" id="{2BDDBC0E-C5A1-4713-A162-A14C406A7A15}"/>
              </a:ext>
            </a:extLst>
          </p:cNvPr>
          <p:cNvCxnSpPr>
            <a:stCxn id="25" idx="2"/>
            <a:endCxn id="22" idx="0"/>
          </p:cNvCxnSpPr>
          <p:nvPr/>
        </p:nvCxnSpPr>
        <p:spPr>
          <a:xfrm>
            <a:off x="6097238" y="1846298"/>
            <a:ext cx="0" cy="538759"/>
          </a:xfrm>
          <a:prstGeom prst="straightConnector1">
            <a:avLst/>
          </a:prstGeom>
          <a:ln w="254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5649B47D-8584-495F-8F93-2EC80F76AF33}"/>
              </a:ext>
            </a:extLst>
          </p:cNvPr>
          <p:cNvCxnSpPr>
            <a:stCxn id="22" idx="1"/>
            <a:endCxn id="21" idx="3"/>
          </p:cNvCxnSpPr>
          <p:nvPr/>
        </p:nvCxnSpPr>
        <p:spPr>
          <a:xfrm flipH="1" flipV="1">
            <a:off x="4383809" y="2714666"/>
            <a:ext cx="681490" cy="1"/>
          </a:xfrm>
          <a:prstGeom prst="straightConnector1">
            <a:avLst/>
          </a:prstGeom>
          <a:ln w="254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34" name="Connector: Elbow 33">
            <a:extLst>
              <a:ext uri="{FF2B5EF4-FFF2-40B4-BE49-F238E27FC236}">
                <a16:creationId xmlns:a16="http://schemas.microsoft.com/office/drawing/2014/main" id="{784768D4-28EF-4D46-904B-9B8815A036DD}"/>
              </a:ext>
            </a:extLst>
          </p:cNvPr>
          <p:cNvCxnSpPr>
            <a:cxnSpLocks/>
            <a:stCxn id="21" idx="2"/>
            <a:endCxn id="23" idx="1"/>
          </p:cNvCxnSpPr>
          <p:nvPr/>
        </p:nvCxnSpPr>
        <p:spPr>
          <a:xfrm rot="16200000" flipH="1">
            <a:off x="3817751" y="2578393"/>
            <a:ext cx="781666" cy="1713429"/>
          </a:xfrm>
          <a:prstGeom prst="bentConnector2">
            <a:avLst/>
          </a:prstGeom>
          <a:ln w="254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1732FFC2-3118-40E9-999B-BE90DC15A99F}"/>
              </a:ext>
            </a:extLst>
          </p:cNvPr>
          <p:cNvCxnSpPr>
            <a:stCxn id="22" idx="2"/>
            <a:endCxn id="23" idx="0"/>
          </p:cNvCxnSpPr>
          <p:nvPr/>
        </p:nvCxnSpPr>
        <p:spPr>
          <a:xfrm>
            <a:off x="6097238" y="3044276"/>
            <a:ext cx="0" cy="452055"/>
          </a:xfrm>
          <a:prstGeom prst="line">
            <a:avLst/>
          </a:prstGeom>
          <a:ln w="2540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0A71E4B-2450-47BF-A3DE-9E211E3AFAB1}"/>
              </a:ext>
            </a:extLst>
          </p:cNvPr>
          <p:cNvCxnSpPr>
            <a:stCxn id="23" idx="2"/>
            <a:endCxn id="6" idx="0"/>
          </p:cNvCxnSpPr>
          <p:nvPr/>
        </p:nvCxnSpPr>
        <p:spPr>
          <a:xfrm>
            <a:off x="6097238" y="4155550"/>
            <a:ext cx="1" cy="630914"/>
          </a:xfrm>
          <a:prstGeom prst="line">
            <a:avLst/>
          </a:prstGeom>
          <a:ln w="2540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 name="Connector: Elbow 42">
            <a:extLst>
              <a:ext uri="{FF2B5EF4-FFF2-40B4-BE49-F238E27FC236}">
                <a16:creationId xmlns:a16="http://schemas.microsoft.com/office/drawing/2014/main" id="{BC6FE001-728B-4F6A-BC3F-1E9167494887}"/>
              </a:ext>
            </a:extLst>
          </p:cNvPr>
          <p:cNvCxnSpPr>
            <a:cxnSpLocks/>
            <a:stCxn id="21" idx="2"/>
            <a:endCxn id="14" idx="0"/>
          </p:cNvCxnSpPr>
          <p:nvPr/>
        </p:nvCxnSpPr>
        <p:spPr>
          <a:xfrm rot="16200000" flipH="1">
            <a:off x="2772305" y="3623839"/>
            <a:ext cx="2555539" cy="1396409"/>
          </a:xfrm>
          <a:prstGeom prst="bentConnector3">
            <a:avLst>
              <a:gd name="adj1" fmla="val 50000"/>
            </a:avLst>
          </a:prstGeom>
          <a:ln w="254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9EA9885A-92E7-4632-8133-2BC797A40614}"/>
              </a:ext>
            </a:extLst>
          </p:cNvPr>
          <p:cNvSpPr/>
          <p:nvPr/>
        </p:nvSpPr>
        <p:spPr bwMode="gray">
          <a:xfrm>
            <a:off x="1018420" y="4786464"/>
            <a:ext cx="10157637" cy="609009"/>
          </a:xfrm>
          <a:prstGeom prst="rect">
            <a:avLst/>
          </a:prstGeom>
          <a:solidFill>
            <a:schemeClr val="bg1"/>
          </a:solidFill>
          <a:ln w="25400" algn="ctr">
            <a:solidFill>
              <a:schemeClr val="tx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CSI </a:t>
            </a: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cxnSp>
        <p:nvCxnSpPr>
          <p:cNvPr id="47" name="Connector: Elbow 46">
            <a:extLst>
              <a:ext uri="{FF2B5EF4-FFF2-40B4-BE49-F238E27FC236}">
                <a16:creationId xmlns:a16="http://schemas.microsoft.com/office/drawing/2014/main" id="{8C7E6733-0C5B-40C0-B93A-C81E84E94D1B}"/>
              </a:ext>
            </a:extLst>
          </p:cNvPr>
          <p:cNvCxnSpPr>
            <a:stCxn id="14" idx="3"/>
            <a:endCxn id="6" idx="2"/>
          </p:cNvCxnSpPr>
          <p:nvPr/>
        </p:nvCxnSpPr>
        <p:spPr>
          <a:xfrm flipV="1">
            <a:off x="5780218" y="5395473"/>
            <a:ext cx="317021" cy="533951"/>
          </a:xfrm>
          <a:prstGeom prst="bentConnector2">
            <a:avLst/>
          </a:prstGeom>
          <a:ln w="254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24" name="Title 1">
            <a:extLst>
              <a:ext uri="{FF2B5EF4-FFF2-40B4-BE49-F238E27FC236}">
                <a16:creationId xmlns:a16="http://schemas.microsoft.com/office/drawing/2014/main" id="{FFBD3328-B58C-4BC7-AD3F-C2720AE0E3D2}"/>
              </a:ext>
            </a:extLst>
          </p:cNvPr>
          <p:cNvSpPr>
            <a:spLocks noGrp="1"/>
          </p:cNvSpPr>
          <p:nvPr>
            <p:ph type="title"/>
          </p:nvPr>
        </p:nvSpPr>
        <p:spPr>
          <a:xfrm>
            <a:off x="504001" y="504000"/>
            <a:ext cx="11186476" cy="369332"/>
          </a:xfrm>
        </p:spPr>
        <p:txBody>
          <a:bodyPr/>
          <a:lstStyle/>
          <a:p>
            <a:r>
              <a:rPr lang="en-US" dirty="0"/>
              <a:t>            CSI</a:t>
            </a:r>
          </a:p>
        </p:txBody>
      </p:sp>
      <p:pic>
        <p:nvPicPr>
          <p:cNvPr id="26" name="Graphic 25" descr="Sunglasses">
            <a:extLst>
              <a:ext uri="{FF2B5EF4-FFF2-40B4-BE49-F238E27FC236}">
                <a16:creationId xmlns:a16="http://schemas.microsoft.com/office/drawing/2014/main" id="{EDBBD83C-E1D7-4226-809D-7B8C8755B90C}"/>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04001" y="231466"/>
            <a:ext cx="914400" cy="914400"/>
          </a:xfrm>
          <a:prstGeom prst="rect">
            <a:avLst/>
          </a:prstGeom>
        </p:spPr>
      </p:pic>
    </p:spTree>
    <p:extLst>
      <p:ext uri="{BB962C8B-B14F-4D97-AF65-F5344CB8AC3E}">
        <p14:creationId xmlns:p14="http://schemas.microsoft.com/office/powerpoint/2010/main" val="1305649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3"/>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47"/>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41"/>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4" grpId="0" animBg="1"/>
      <p:bldP spid="15" grpId="0" animBg="1"/>
      <p:bldP spid="16" grpId="0" animBg="1"/>
      <p:bldP spid="21" grpId="0" animBg="1"/>
      <p:bldP spid="23" grpId="0" animBg="1"/>
      <p:bldP spid="6"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4BB56E-9CC3-478E-8038-789A6FFF0E7F}"/>
              </a:ext>
            </a:extLst>
          </p:cNvPr>
          <p:cNvSpPr>
            <a:spLocks noGrp="1"/>
          </p:cNvSpPr>
          <p:nvPr>
            <p:ph type="title"/>
          </p:nvPr>
        </p:nvSpPr>
        <p:spPr/>
        <p:txBody>
          <a:bodyPr/>
          <a:lstStyle/>
          <a:p>
            <a:r>
              <a:rPr lang="en-US" dirty="0"/>
              <a:t>            CSI</a:t>
            </a:r>
          </a:p>
        </p:txBody>
      </p:sp>
      <p:sp>
        <p:nvSpPr>
          <p:cNvPr id="11" name="Rectangle 10">
            <a:extLst>
              <a:ext uri="{FF2B5EF4-FFF2-40B4-BE49-F238E27FC236}">
                <a16:creationId xmlns:a16="http://schemas.microsoft.com/office/drawing/2014/main" id="{40DE819E-EBF2-47BD-B113-0CE4EF805FB2}"/>
              </a:ext>
            </a:extLst>
          </p:cNvPr>
          <p:cNvSpPr/>
          <p:nvPr/>
        </p:nvSpPr>
        <p:spPr bwMode="gray">
          <a:xfrm>
            <a:off x="1018420" y="5689265"/>
            <a:ext cx="2063878" cy="659219"/>
          </a:xfrm>
          <a:prstGeom prst="rect">
            <a:avLst/>
          </a:prstGeom>
          <a:noFill/>
          <a:ln w="25400" algn="ctr">
            <a:solidFill>
              <a:schemeClr val="tx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AWS EBS</a:t>
            </a: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4" name="Rectangle 13">
            <a:extLst>
              <a:ext uri="{FF2B5EF4-FFF2-40B4-BE49-F238E27FC236}">
                <a16:creationId xmlns:a16="http://schemas.microsoft.com/office/drawing/2014/main" id="{B530C19E-B1B0-452A-A2A4-5138D5D477FA}"/>
              </a:ext>
            </a:extLst>
          </p:cNvPr>
          <p:cNvSpPr/>
          <p:nvPr/>
        </p:nvSpPr>
        <p:spPr bwMode="gray">
          <a:xfrm>
            <a:off x="3716340" y="5689265"/>
            <a:ext cx="2063878" cy="659219"/>
          </a:xfrm>
          <a:prstGeom prst="rect">
            <a:avLst/>
          </a:prstGeom>
          <a:noFill/>
          <a:ln w="25400" algn="ctr">
            <a:solidFill>
              <a:schemeClr val="tx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GCP PD</a:t>
            </a:r>
          </a:p>
        </p:txBody>
      </p:sp>
      <p:sp>
        <p:nvSpPr>
          <p:cNvPr id="15" name="Rectangle 14">
            <a:extLst>
              <a:ext uri="{FF2B5EF4-FFF2-40B4-BE49-F238E27FC236}">
                <a16:creationId xmlns:a16="http://schemas.microsoft.com/office/drawing/2014/main" id="{472138A7-4CA0-4BC0-9CA1-40D5F59E161A}"/>
              </a:ext>
            </a:extLst>
          </p:cNvPr>
          <p:cNvSpPr/>
          <p:nvPr/>
        </p:nvSpPr>
        <p:spPr bwMode="gray">
          <a:xfrm>
            <a:off x="6414260" y="5689264"/>
            <a:ext cx="2063878" cy="659219"/>
          </a:xfrm>
          <a:prstGeom prst="rect">
            <a:avLst/>
          </a:prstGeom>
          <a:noFill/>
          <a:ln w="25400" algn="ctr">
            <a:solidFill>
              <a:schemeClr val="tx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err="1">
                <a:ln>
                  <a:noFill/>
                </a:ln>
                <a:effectLst/>
                <a:uLnTx/>
                <a:uFillTx/>
                <a:ea typeface="Arial Unicode MS" pitchFamily="34" charset="-128"/>
                <a:cs typeface="Arial Unicode MS" pitchFamily="34" charset="-128"/>
              </a:rPr>
              <a:t>Ceph</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6" name="Rectangle 15">
            <a:extLst>
              <a:ext uri="{FF2B5EF4-FFF2-40B4-BE49-F238E27FC236}">
                <a16:creationId xmlns:a16="http://schemas.microsoft.com/office/drawing/2014/main" id="{3C935E0E-C45D-4312-99C5-98E76DAA1EA4}"/>
              </a:ext>
            </a:extLst>
          </p:cNvPr>
          <p:cNvSpPr/>
          <p:nvPr/>
        </p:nvSpPr>
        <p:spPr bwMode="gray">
          <a:xfrm>
            <a:off x="9112179" y="5689263"/>
            <a:ext cx="2063878" cy="659219"/>
          </a:xfrm>
          <a:prstGeom prst="rect">
            <a:avLst/>
          </a:prstGeom>
          <a:noFill/>
          <a:ln w="25400" algn="ctr">
            <a:solidFill>
              <a:schemeClr val="tx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a:t>
            </a:r>
          </a:p>
        </p:txBody>
      </p:sp>
      <p:sp>
        <p:nvSpPr>
          <p:cNvPr id="22" name="Rectangle 21">
            <a:extLst>
              <a:ext uri="{FF2B5EF4-FFF2-40B4-BE49-F238E27FC236}">
                <a16:creationId xmlns:a16="http://schemas.microsoft.com/office/drawing/2014/main" id="{41C9DB3A-C7B7-43DA-9436-6F674328BA32}"/>
              </a:ext>
            </a:extLst>
          </p:cNvPr>
          <p:cNvSpPr/>
          <p:nvPr/>
        </p:nvSpPr>
        <p:spPr bwMode="gray">
          <a:xfrm>
            <a:off x="1688499" y="2385057"/>
            <a:ext cx="2063878" cy="659219"/>
          </a:xfrm>
          <a:prstGeom prst="rect">
            <a:avLst/>
          </a:prstGeom>
          <a:ln>
            <a:headEnd/>
            <a:tailEnd/>
          </a:ln>
        </p:spPr>
        <p:style>
          <a:lnRef idx="2">
            <a:schemeClr val="accent5">
              <a:shade val="50000"/>
            </a:schemeClr>
          </a:lnRef>
          <a:fillRef idx="1">
            <a:schemeClr val="accent5"/>
          </a:fillRef>
          <a:effectRef idx="0">
            <a:schemeClr val="accent5"/>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PVC</a:t>
            </a: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3" name="Rectangle 22">
            <a:extLst>
              <a:ext uri="{FF2B5EF4-FFF2-40B4-BE49-F238E27FC236}">
                <a16:creationId xmlns:a16="http://schemas.microsoft.com/office/drawing/2014/main" id="{11230B61-BEB8-46FA-9A30-5EBD47D9A823}"/>
              </a:ext>
            </a:extLst>
          </p:cNvPr>
          <p:cNvSpPr/>
          <p:nvPr/>
        </p:nvSpPr>
        <p:spPr bwMode="gray">
          <a:xfrm>
            <a:off x="1688499" y="3496331"/>
            <a:ext cx="2063878" cy="659219"/>
          </a:xfrm>
          <a:prstGeom prst="rect">
            <a:avLst/>
          </a:prstGeom>
          <a:ln>
            <a:headEnd/>
            <a:tailEnd/>
          </a:ln>
        </p:spPr>
        <p:style>
          <a:lnRef idx="2">
            <a:schemeClr val="accent5">
              <a:shade val="50000"/>
            </a:schemeClr>
          </a:lnRef>
          <a:fillRef idx="1">
            <a:schemeClr val="accent5"/>
          </a:fillRef>
          <a:effectRef idx="0">
            <a:schemeClr val="accent5"/>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PV</a:t>
            </a: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pic>
        <p:nvPicPr>
          <p:cNvPr id="25" name="Graphic 24" descr="Female Profile">
            <a:extLst>
              <a:ext uri="{FF2B5EF4-FFF2-40B4-BE49-F238E27FC236}">
                <a16:creationId xmlns:a16="http://schemas.microsoft.com/office/drawing/2014/main" id="{6D300F24-7BD1-42EF-B557-FAE2767566B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263238" y="931898"/>
            <a:ext cx="914400" cy="914400"/>
          </a:xfrm>
          <a:prstGeom prst="rect">
            <a:avLst/>
          </a:prstGeom>
        </p:spPr>
      </p:pic>
      <p:sp>
        <p:nvSpPr>
          <p:cNvPr id="26" name="Rectangle 25">
            <a:extLst>
              <a:ext uri="{FF2B5EF4-FFF2-40B4-BE49-F238E27FC236}">
                <a16:creationId xmlns:a16="http://schemas.microsoft.com/office/drawing/2014/main" id="{08B5D7FD-7161-4E23-90FC-963D49A9C842}"/>
              </a:ext>
            </a:extLst>
          </p:cNvPr>
          <p:cNvSpPr/>
          <p:nvPr/>
        </p:nvSpPr>
        <p:spPr bwMode="gray">
          <a:xfrm>
            <a:off x="4350382" y="2385056"/>
            <a:ext cx="2063878" cy="659219"/>
          </a:xfrm>
          <a:prstGeom prst="rect">
            <a:avLst/>
          </a:prstGeom>
          <a:ln>
            <a:headEnd/>
            <a:tailEnd/>
          </a:ln>
        </p:spPr>
        <p:style>
          <a:lnRef idx="2">
            <a:schemeClr val="accent5">
              <a:shade val="50000"/>
            </a:schemeClr>
          </a:lnRef>
          <a:fillRef idx="1">
            <a:schemeClr val="accent5"/>
          </a:fillRef>
          <a:effectRef idx="0">
            <a:schemeClr val="accent5"/>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Pod</a:t>
            </a: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cxnSp>
        <p:nvCxnSpPr>
          <p:cNvPr id="30" name="Straight Arrow Connector 29">
            <a:extLst>
              <a:ext uri="{FF2B5EF4-FFF2-40B4-BE49-F238E27FC236}">
                <a16:creationId xmlns:a16="http://schemas.microsoft.com/office/drawing/2014/main" id="{2BDDBC0E-C5A1-4713-A162-A14C406A7A15}"/>
              </a:ext>
            </a:extLst>
          </p:cNvPr>
          <p:cNvCxnSpPr>
            <a:stCxn id="25" idx="2"/>
            <a:endCxn id="22" idx="0"/>
          </p:cNvCxnSpPr>
          <p:nvPr/>
        </p:nvCxnSpPr>
        <p:spPr>
          <a:xfrm>
            <a:off x="2720438" y="1846298"/>
            <a:ext cx="0" cy="538759"/>
          </a:xfrm>
          <a:prstGeom prst="straightConnector1">
            <a:avLst/>
          </a:prstGeom>
          <a:ln w="254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1732FFC2-3118-40E9-999B-BE90DC15A99F}"/>
              </a:ext>
            </a:extLst>
          </p:cNvPr>
          <p:cNvCxnSpPr>
            <a:stCxn id="22" idx="2"/>
            <a:endCxn id="23" idx="0"/>
          </p:cNvCxnSpPr>
          <p:nvPr/>
        </p:nvCxnSpPr>
        <p:spPr>
          <a:xfrm>
            <a:off x="2720438" y="3044276"/>
            <a:ext cx="0" cy="452055"/>
          </a:xfrm>
          <a:prstGeom prst="line">
            <a:avLst/>
          </a:prstGeom>
          <a:ln w="2540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9" name="Rectangle 38">
            <a:extLst>
              <a:ext uri="{FF2B5EF4-FFF2-40B4-BE49-F238E27FC236}">
                <a16:creationId xmlns:a16="http://schemas.microsoft.com/office/drawing/2014/main" id="{5A67F9F1-169F-41D6-9AEA-3FB4AE23354B}"/>
              </a:ext>
            </a:extLst>
          </p:cNvPr>
          <p:cNvSpPr/>
          <p:nvPr/>
        </p:nvSpPr>
        <p:spPr bwMode="gray">
          <a:xfrm>
            <a:off x="4350382" y="3496331"/>
            <a:ext cx="2063878" cy="659219"/>
          </a:xfrm>
          <a:prstGeom prst="rect">
            <a:avLst/>
          </a:prstGeom>
          <a:ln>
            <a:headEnd/>
            <a:tailEnd/>
          </a:ln>
        </p:spPr>
        <p:style>
          <a:lnRef idx="2">
            <a:schemeClr val="accent5">
              <a:shade val="50000"/>
            </a:schemeClr>
          </a:lnRef>
          <a:fillRef idx="1">
            <a:schemeClr val="accent5"/>
          </a:fillRef>
          <a:effectRef idx="0">
            <a:schemeClr val="accent5"/>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a:ea typeface="Arial Unicode MS" pitchFamily="34" charset="-128"/>
                <a:cs typeface="Arial Unicode MS" pitchFamily="34" charset="-128"/>
              </a:rPr>
              <a:t>Node</a:t>
            </a: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cxnSp>
        <p:nvCxnSpPr>
          <p:cNvPr id="41" name="Straight Connector 40">
            <a:extLst>
              <a:ext uri="{FF2B5EF4-FFF2-40B4-BE49-F238E27FC236}">
                <a16:creationId xmlns:a16="http://schemas.microsoft.com/office/drawing/2014/main" id="{70A71E4B-2450-47BF-A3DE-9E211E3AFAB1}"/>
              </a:ext>
            </a:extLst>
          </p:cNvPr>
          <p:cNvCxnSpPr>
            <a:cxnSpLocks/>
            <a:stCxn id="23" idx="2"/>
          </p:cNvCxnSpPr>
          <p:nvPr/>
        </p:nvCxnSpPr>
        <p:spPr>
          <a:xfrm>
            <a:off x="2720438" y="4155550"/>
            <a:ext cx="1" cy="630914"/>
          </a:xfrm>
          <a:prstGeom prst="line">
            <a:avLst/>
          </a:prstGeom>
          <a:ln w="2540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9EA9885A-92E7-4632-8133-2BC797A40614}"/>
              </a:ext>
            </a:extLst>
          </p:cNvPr>
          <p:cNvSpPr/>
          <p:nvPr/>
        </p:nvSpPr>
        <p:spPr bwMode="gray">
          <a:xfrm>
            <a:off x="1018420" y="4786464"/>
            <a:ext cx="10157637" cy="609009"/>
          </a:xfrm>
          <a:prstGeom prst="rect">
            <a:avLst/>
          </a:prstGeom>
          <a:solidFill>
            <a:schemeClr val="bg1"/>
          </a:solidFill>
          <a:ln w="25400" algn="ctr">
            <a:solidFill>
              <a:schemeClr val="tx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CSI </a:t>
            </a: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cxnSp>
        <p:nvCxnSpPr>
          <p:cNvPr id="24" name="Straight Connector 23">
            <a:extLst>
              <a:ext uri="{FF2B5EF4-FFF2-40B4-BE49-F238E27FC236}">
                <a16:creationId xmlns:a16="http://schemas.microsoft.com/office/drawing/2014/main" id="{7A89B6EE-5906-4A79-9F65-79D3A93CB617}"/>
              </a:ext>
            </a:extLst>
          </p:cNvPr>
          <p:cNvCxnSpPr>
            <a:cxnSpLocks/>
            <a:stCxn id="26" idx="1"/>
            <a:endCxn id="22" idx="3"/>
          </p:cNvCxnSpPr>
          <p:nvPr/>
        </p:nvCxnSpPr>
        <p:spPr>
          <a:xfrm flipH="1">
            <a:off x="3752377" y="2714666"/>
            <a:ext cx="598005" cy="1"/>
          </a:xfrm>
          <a:prstGeom prst="line">
            <a:avLst/>
          </a:prstGeom>
          <a:ln w="2540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485B2575-D8AD-4C4B-961C-5391D98A20E7}"/>
              </a:ext>
            </a:extLst>
          </p:cNvPr>
          <p:cNvCxnSpPr>
            <a:stCxn id="26" idx="2"/>
            <a:endCxn id="39" idx="0"/>
          </p:cNvCxnSpPr>
          <p:nvPr/>
        </p:nvCxnSpPr>
        <p:spPr>
          <a:xfrm>
            <a:off x="5382321" y="3044275"/>
            <a:ext cx="0" cy="452056"/>
          </a:xfrm>
          <a:prstGeom prst="line">
            <a:avLst/>
          </a:prstGeom>
          <a:ln w="2540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4DB9D945-03B9-48B1-8E01-C4D30D9971FE}"/>
              </a:ext>
            </a:extLst>
          </p:cNvPr>
          <p:cNvCxnSpPr>
            <a:stCxn id="39" idx="2"/>
          </p:cNvCxnSpPr>
          <p:nvPr/>
        </p:nvCxnSpPr>
        <p:spPr>
          <a:xfrm>
            <a:off x="5382321" y="4155550"/>
            <a:ext cx="0" cy="630914"/>
          </a:xfrm>
          <a:prstGeom prst="line">
            <a:avLst/>
          </a:prstGeom>
          <a:ln w="2540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17" name="Picture 16">
            <a:extLst>
              <a:ext uri="{FF2B5EF4-FFF2-40B4-BE49-F238E27FC236}">
                <a16:creationId xmlns:a16="http://schemas.microsoft.com/office/drawing/2014/main" id="{CCB626EE-05D2-4569-990A-EECD14606467}"/>
              </a:ext>
            </a:extLst>
          </p:cNvPr>
          <p:cNvPicPr>
            <a:picLocks noChangeAspect="1"/>
          </p:cNvPicPr>
          <p:nvPr/>
        </p:nvPicPr>
        <p:blipFill>
          <a:blip r:embed="rId5"/>
          <a:stretch>
            <a:fillRect/>
          </a:stretch>
        </p:blipFill>
        <p:spPr>
          <a:xfrm>
            <a:off x="7413937" y="2115677"/>
            <a:ext cx="3723809" cy="2380952"/>
          </a:xfrm>
          <a:prstGeom prst="rect">
            <a:avLst/>
          </a:prstGeom>
          <a:ln>
            <a:solidFill>
              <a:schemeClr val="bg2"/>
            </a:solidFill>
          </a:ln>
        </p:spPr>
      </p:pic>
      <p:cxnSp>
        <p:nvCxnSpPr>
          <p:cNvPr id="20" name="Connector: Elbow 19">
            <a:extLst>
              <a:ext uri="{FF2B5EF4-FFF2-40B4-BE49-F238E27FC236}">
                <a16:creationId xmlns:a16="http://schemas.microsoft.com/office/drawing/2014/main" id="{33C92A6E-5E4F-4755-BFA5-E45AC158F616}"/>
              </a:ext>
            </a:extLst>
          </p:cNvPr>
          <p:cNvCxnSpPr>
            <a:stCxn id="26" idx="3"/>
            <a:endCxn id="17" idx="1"/>
          </p:cNvCxnSpPr>
          <p:nvPr/>
        </p:nvCxnSpPr>
        <p:spPr>
          <a:xfrm>
            <a:off x="6414260" y="2714666"/>
            <a:ext cx="999677" cy="591487"/>
          </a:xfrm>
          <a:prstGeom prst="bentConnector3">
            <a:avLst/>
          </a:prstGeom>
          <a:ln w="254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C66CEDD7-BB9C-4CC5-ACA5-7E526D40B87A}"/>
              </a:ext>
            </a:extLst>
          </p:cNvPr>
          <p:cNvCxnSpPr>
            <a:stCxn id="17" idx="2"/>
          </p:cNvCxnSpPr>
          <p:nvPr/>
        </p:nvCxnSpPr>
        <p:spPr>
          <a:xfrm flipH="1">
            <a:off x="9275841" y="4496629"/>
            <a:ext cx="1" cy="289834"/>
          </a:xfrm>
          <a:prstGeom prst="straightConnector1">
            <a:avLst/>
          </a:prstGeom>
          <a:ln w="254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31" name="Connector: Elbow 30">
            <a:extLst>
              <a:ext uri="{FF2B5EF4-FFF2-40B4-BE49-F238E27FC236}">
                <a16:creationId xmlns:a16="http://schemas.microsoft.com/office/drawing/2014/main" id="{E259BEE1-5BFB-4731-8F55-EC7FDE4E19D1}"/>
              </a:ext>
            </a:extLst>
          </p:cNvPr>
          <p:cNvCxnSpPr>
            <a:stCxn id="25" idx="2"/>
            <a:endCxn id="26" idx="0"/>
          </p:cNvCxnSpPr>
          <p:nvPr/>
        </p:nvCxnSpPr>
        <p:spPr>
          <a:xfrm rot="16200000" flipH="1">
            <a:off x="3782000" y="784735"/>
            <a:ext cx="538758" cy="2661883"/>
          </a:xfrm>
          <a:prstGeom prst="bentConnector3">
            <a:avLst/>
          </a:prstGeom>
          <a:ln w="254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 name="Connector: Elbow 3">
            <a:extLst>
              <a:ext uri="{FF2B5EF4-FFF2-40B4-BE49-F238E27FC236}">
                <a16:creationId xmlns:a16="http://schemas.microsoft.com/office/drawing/2014/main" id="{362167EB-97CE-4AAA-B5E0-E9A5F08D50C4}"/>
              </a:ext>
            </a:extLst>
          </p:cNvPr>
          <p:cNvCxnSpPr>
            <a:cxnSpLocks/>
            <a:stCxn id="6" idx="2"/>
            <a:endCxn id="14" idx="0"/>
          </p:cNvCxnSpPr>
          <p:nvPr/>
        </p:nvCxnSpPr>
        <p:spPr>
          <a:xfrm rot="5400000">
            <a:off x="5275863" y="4867889"/>
            <a:ext cx="293792" cy="1348960"/>
          </a:xfrm>
          <a:prstGeom prst="bentConnector3">
            <a:avLst>
              <a:gd name="adj1" fmla="val 50000"/>
            </a:avLst>
          </a:prstGeom>
          <a:ln w="2540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29" name="Graphic 28" descr="Sunglasses">
            <a:extLst>
              <a:ext uri="{FF2B5EF4-FFF2-40B4-BE49-F238E27FC236}">
                <a16:creationId xmlns:a16="http://schemas.microsoft.com/office/drawing/2014/main" id="{54928828-3740-44DF-9E92-F0EA54FAAE1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04001" y="231466"/>
            <a:ext cx="914400" cy="914400"/>
          </a:xfrm>
          <a:prstGeom prst="rect">
            <a:avLst/>
          </a:prstGeom>
        </p:spPr>
      </p:pic>
    </p:spTree>
    <p:extLst>
      <p:ext uri="{BB962C8B-B14F-4D97-AF65-F5344CB8AC3E}">
        <p14:creationId xmlns:p14="http://schemas.microsoft.com/office/powerpoint/2010/main" val="37752872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6"/>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9"/>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0"/>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39"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C30A85-2277-4AED-93CC-D455D481D551}"/>
              </a:ext>
            </a:extLst>
          </p:cNvPr>
          <p:cNvSpPr>
            <a:spLocks noGrp="1"/>
          </p:cNvSpPr>
          <p:nvPr>
            <p:ph type="title"/>
          </p:nvPr>
        </p:nvSpPr>
        <p:spPr>
          <a:xfrm>
            <a:off x="504001" y="504000"/>
            <a:ext cx="11186476" cy="369332"/>
          </a:xfrm>
        </p:spPr>
        <p:txBody>
          <a:bodyPr/>
          <a:lstStyle/>
          <a:p>
            <a:r>
              <a:rPr lang="en-US" dirty="0"/>
              <a:t>PV/PVC lifecycle</a:t>
            </a:r>
          </a:p>
        </p:txBody>
      </p:sp>
      <p:cxnSp>
        <p:nvCxnSpPr>
          <p:cNvPr id="7" name="Straight Arrow Connector 6">
            <a:extLst>
              <a:ext uri="{FF2B5EF4-FFF2-40B4-BE49-F238E27FC236}">
                <a16:creationId xmlns:a16="http://schemas.microsoft.com/office/drawing/2014/main" id="{0E148E64-5823-42DF-8A18-A33E61E0BD6C}"/>
              </a:ext>
            </a:extLst>
          </p:cNvPr>
          <p:cNvCxnSpPr>
            <a:cxnSpLocks/>
            <a:stCxn id="13" idx="0"/>
            <a:endCxn id="19" idx="1"/>
          </p:cNvCxnSpPr>
          <p:nvPr/>
        </p:nvCxnSpPr>
        <p:spPr>
          <a:xfrm flipV="1">
            <a:off x="2605824" y="3429000"/>
            <a:ext cx="806808" cy="1"/>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13" name="Rectangle: Diagonal Corners Rounded 12">
            <a:extLst>
              <a:ext uri="{FF2B5EF4-FFF2-40B4-BE49-F238E27FC236}">
                <a16:creationId xmlns:a16="http://schemas.microsoft.com/office/drawing/2014/main" id="{16A03595-0330-4635-9435-4D1CD393120F}"/>
              </a:ext>
            </a:extLst>
          </p:cNvPr>
          <p:cNvSpPr/>
          <p:nvPr/>
        </p:nvSpPr>
        <p:spPr bwMode="gray">
          <a:xfrm>
            <a:off x="802171" y="2872884"/>
            <a:ext cx="1803653" cy="1112233"/>
          </a:xfrm>
          <a:prstGeom prst="round2Diag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kern="0" dirty="0">
                <a:solidFill>
                  <a:schemeClr val="dk1"/>
                </a:solidFill>
                <a:latin typeface="+mn-lt"/>
                <a:ea typeface="Arial Unicode MS" pitchFamily="34" charset="-128"/>
                <a:cs typeface="Arial Unicode MS" pitchFamily="34" charset="-128"/>
              </a:rPr>
              <a:t>Persistent Volume Claim</a:t>
            </a:r>
          </a:p>
        </p:txBody>
      </p:sp>
      <p:sp>
        <p:nvSpPr>
          <p:cNvPr id="18" name="Speech Bubble: Rectangle 17">
            <a:extLst>
              <a:ext uri="{FF2B5EF4-FFF2-40B4-BE49-F238E27FC236}">
                <a16:creationId xmlns:a16="http://schemas.microsoft.com/office/drawing/2014/main" id="{F53315F5-5393-42ED-AA74-A5CB6AC0C466}"/>
              </a:ext>
            </a:extLst>
          </p:cNvPr>
          <p:cNvSpPr/>
          <p:nvPr/>
        </p:nvSpPr>
        <p:spPr bwMode="gray">
          <a:xfrm>
            <a:off x="1175928" y="1165881"/>
            <a:ext cx="2535294" cy="915844"/>
          </a:xfrm>
          <a:prstGeom prst="wedgeRectCallout">
            <a:avLst>
              <a:gd name="adj1" fmla="val -31361"/>
              <a:gd name="adj2" fmla="val 117470"/>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User creates a PVC to request storage</a:t>
            </a: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9" name="Diamond 18">
            <a:extLst>
              <a:ext uri="{FF2B5EF4-FFF2-40B4-BE49-F238E27FC236}">
                <a16:creationId xmlns:a16="http://schemas.microsoft.com/office/drawing/2014/main" id="{9EE372CB-8F56-443C-9215-2DA0EC4B459A}"/>
              </a:ext>
            </a:extLst>
          </p:cNvPr>
          <p:cNvSpPr/>
          <p:nvPr/>
        </p:nvSpPr>
        <p:spPr bwMode="gray">
          <a:xfrm>
            <a:off x="3412632" y="2667898"/>
            <a:ext cx="1981071" cy="1522203"/>
          </a:xfrm>
          <a:prstGeom prst="diamond">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kern="0" dirty="0">
                <a:solidFill>
                  <a:schemeClr val="dk1"/>
                </a:solidFill>
                <a:latin typeface="+mn-lt"/>
                <a:ea typeface="Arial Unicode MS" pitchFamily="34" charset="-128"/>
                <a:cs typeface="Arial Unicode MS" pitchFamily="34" charset="-128"/>
              </a:rPr>
              <a:t>Storage Class</a:t>
            </a:r>
          </a:p>
        </p:txBody>
      </p:sp>
      <p:sp>
        <p:nvSpPr>
          <p:cNvPr id="25" name="Speech Bubble: Rectangle 24">
            <a:extLst>
              <a:ext uri="{FF2B5EF4-FFF2-40B4-BE49-F238E27FC236}">
                <a16:creationId xmlns:a16="http://schemas.microsoft.com/office/drawing/2014/main" id="{2C734FFF-558D-4925-8900-F101F47F1C1C}"/>
              </a:ext>
            </a:extLst>
          </p:cNvPr>
          <p:cNvSpPr/>
          <p:nvPr/>
        </p:nvSpPr>
        <p:spPr bwMode="gray">
          <a:xfrm>
            <a:off x="1880267" y="5167406"/>
            <a:ext cx="2826226" cy="915844"/>
          </a:xfrm>
          <a:prstGeom prst="wedgeRectCallout">
            <a:avLst>
              <a:gd name="adj1" fmla="val 33544"/>
              <a:gd name="adj2" fmla="val -148415"/>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Storage Class is triggered to fulfill request</a:t>
            </a: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6" name="Cylinder 25">
            <a:extLst>
              <a:ext uri="{FF2B5EF4-FFF2-40B4-BE49-F238E27FC236}">
                <a16:creationId xmlns:a16="http://schemas.microsoft.com/office/drawing/2014/main" id="{0493B288-1ED8-4F28-8486-18B37A81CB6F}"/>
              </a:ext>
            </a:extLst>
          </p:cNvPr>
          <p:cNvSpPr/>
          <p:nvPr/>
        </p:nvSpPr>
        <p:spPr bwMode="gray">
          <a:xfrm>
            <a:off x="6099203" y="4262755"/>
            <a:ext cx="1693576" cy="1362573"/>
          </a:xfrm>
          <a:prstGeom prst="can">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Physical storage</a:t>
            </a:r>
          </a:p>
        </p:txBody>
      </p:sp>
      <p:sp>
        <p:nvSpPr>
          <p:cNvPr id="27" name="Cylinder 26">
            <a:extLst>
              <a:ext uri="{FF2B5EF4-FFF2-40B4-BE49-F238E27FC236}">
                <a16:creationId xmlns:a16="http://schemas.microsoft.com/office/drawing/2014/main" id="{E89A7678-F502-4E6F-95F2-BE9431FDE897}"/>
              </a:ext>
            </a:extLst>
          </p:cNvPr>
          <p:cNvSpPr/>
          <p:nvPr/>
        </p:nvSpPr>
        <p:spPr bwMode="gray">
          <a:xfrm>
            <a:off x="6202746" y="2751601"/>
            <a:ext cx="1486490" cy="1104455"/>
          </a:xfrm>
          <a:prstGeom prst="can">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Persistent</a:t>
            </a:r>
            <a:r>
              <a:rPr kumimoji="0" lang="en-US" sz="1800" b="0" i="0" u="none" strike="noStrike" kern="0" cap="none" spc="0" normalizeH="0" noProof="0" dirty="0">
                <a:ln>
                  <a:noFill/>
                </a:ln>
                <a:effectLst/>
                <a:uLnTx/>
                <a:uFillTx/>
                <a:ea typeface="Arial Unicode MS" pitchFamily="34" charset="-128"/>
                <a:cs typeface="Arial Unicode MS" pitchFamily="34" charset="-128"/>
              </a:rPr>
              <a:t> Volume</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33" name="Straight Connector 32">
            <a:extLst>
              <a:ext uri="{FF2B5EF4-FFF2-40B4-BE49-F238E27FC236}">
                <a16:creationId xmlns:a16="http://schemas.microsoft.com/office/drawing/2014/main" id="{C78407CA-CD3F-460D-924D-DE2C75E8F10A}"/>
              </a:ext>
            </a:extLst>
          </p:cNvPr>
          <p:cNvCxnSpPr>
            <a:cxnSpLocks/>
            <a:stCxn id="26" idx="1"/>
            <a:endCxn id="27" idx="3"/>
          </p:cNvCxnSpPr>
          <p:nvPr/>
        </p:nvCxnSpPr>
        <p:spPr>
          <a:xfrm flipV="1">
            <a:off x="6945991" y="3856056"/>
            <a:ext cx="0" cy="406699"/>
          </a:xfrm>
          <a:prstGeom prst="line">
            <a:avLst/>
          </a:prstGeom>
          <a:ln w="571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9FC7C8D8-9A9A-4230-B77C-140CCF1AD044}"/>
              </a:ext>
            </a:extLst>
          </p:cNvPr>
          <p:cNvCxnSpPr>
            <a:cxnSpLocks/>
            <a:stCxn id="19" idx="3"/>
          </p:cNvCxnSpPr>
          <p:nvPr/>
        </p:nvCxnSpPr>
        <p:spPr>
          <a:xfrm>
            <a:off x="5393703" y="3429000"/>
            <a:ext cx="789608" cy="0"/>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39" name="Speech Bubble: Rectangle 38">
            <a:extLst>
              <a:ext uri="{FF2B5EF4-FFF2-40B4-BE49-F238E27FC236}">
                <a16:creationId xmlns:a16="http://schemas.microsoft.com/office/drawing/2014/main" id="{24567D07-16BB-4C27-908C-4F840E28F1FE}"/>
              </a:ext>
            </a:extLst>
          </p:cNvPr>
          <p:cNvSpPr/>
          <p:nvPr/>
        </p:nvSpPr>
        <p:spPr bwMode="gray">
          <a:xfrm>
            <a:off x="8740023" y="5167406"/>
            <a:ext cx="2826226" cy="1086530"/>
          </a:xfrm>
          <a:prstGeom prst="wedgeRectCallout">
            <a:avLst>
              <a:gd name="adj1" fmla="val -6196"/>
              <a:gd name="adj2" fmla="val -130558"/>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Upon PVC deletion reclaim policy is executed</a:t>
            </a:r>
          </a:p>
        </p:txBody>
      </p:sp>
      <p:grpSp>
        <p:nvGrpSpPr>
          <p:cNvPr id="42" name="Group 41">
            <a:extLst>
              <a:ext uri="{FF2B5EF4-FFF2-40B4-BE49-F238E27FC236}">
                <a16:creationId xmlns:a16="http://schemas.microsoft.com/office/drawing/2014/main" id="{D69D703F-012B-4E67-BFD2-D5A614F6E503}"/>
              </a:ext>
            </a:extLst>
          </p:cNvPr>
          <p:cNvGrpSpPr/>
          <p:nvPr/>
        </p:nvGrpSpPr>
        <p:grpSpPr>
          <a:xfrm>
            <a:off x="9390346" y="2526523"/>
            <a:ext cx="1803653" cy="1804951"/>
            <a:chOff x="8041527" y="2440671"/>
            <a:chExt cx="1803653" cy="1804951"/>
          </a:xfrm>
        </p:grpSpPr>
        <p:sp>
          <p:nvSpPr>
            <p:cNvPr id="40" name="Rectangle: Diagonal Corners Rounded 39">
              <a:extLst>
                <a:ext uri="{FF2B5EF4-FFF2-40B4-BE49-F238E27FC236}">
                  <a16:creationId xmlns:a16="http://schemas.microsoft.com/office/drawing/2014/main" id="{9E3777A7-A4C8-4913-9241-C0CB955EA765}"/>
                </a:ext>
              </a:extLst>
            </p:cNvPr>
            <p:cNvSpPr/>
            <p:nvPr/>
          </p:nvSpPr>
          <p:spPr bwMode="gray">
            <a:xfrm>
              <a:off x="8041527" y="2787030"/>
              <a:ext cx="1803653" cy="1112233"/>
            </a:xfrm>
            <a:prstGeom prst="round2Diag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kern="0" dirty="0">
                  <a:solidFill>
                    <a:schemeClr val="dk1"/>
                  </a:solidFill>
                  <a:latin typeface="+mn-lt"/>
                  <a:ea typeface="Arial Unicode MS" pitchFamily="34" charset="-128"/>
                  <a:cs typeface="Arial Unicode MS" pitchFamily="34" charset="-128"/>
                </a:rPr>
                <a:t>Persistent Volume Claim</a:t>
              </a:r>
            </a:p>
          </p:txBody>
        </p:sp>
        <p:sp>
          <p:nvSpPr>
            <p:cNvPr id="41" name="Cross 40">
              <a:extLst>
                <a:ext uri="{FF2B5EF4-FFF2-40B4-BE49-F238E27FC236}">
                  <a16:creationId xmlns:a16="http://schemas.microsoft.com/office/drawing/2014/main" id="{E055B24B-F60B-4511-A239-3F8A0E8A1488}"/>
                </a:ext>
              </a:extLst>
            </p:cNvPr>
            <p:cNvSpPr/>
            <p:nvPr/>
          </p:nvSpPr>
          <p:spPr bwMode="gray">
            <a:xfrm rot="2690790">
              <a:off x="8045684" y="2440671"/>
              <a:ext cx="1795337" cy="1804951"/>
            </a:xfrm>
            <a:prstGeom prst="plus">
              <a:avLst>
                <a:gd name="adj" fmla="val 44715"/>
              </a:avLst>
            </a:prstGeom>
            <a:solidFill>
              <a:schemeClr val="accent5">
                <a:lumMod val="40000"/>
                <a:lumOff val="60000"/>
              </a:schemeClr>
            </a:solidFill>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grpSp>
      <p:cxnSp>
        <p:nvCxnSpPr>
          <p:cNvPr id="43" name="Straight Arrow Connector 42">
            <a:extLst>
              <a:ext uri="{FF2B5EF4-FFF2-40B4-BE49-F238E27FC236}">
                <a16:creationId xmlns:a16="http://schemas.microsoft.com/office/drawing/2014/main" id="{E3D5F030-2397-4CF3-BADE-A03F7A6A5F10}"/>
              </a:ext>
            </a:extLst>
          </p:cNvPr>
          <p:cNvCxnSpPr>
            <a:cxnSpLocks/>
            <a:endCxn id="40" idx="2"/>
          </p:cNvCxnSpPr>
          <p:nvPr/>
        </p:nvCxnSpPr>
        <p:spPr>
          <a:xfrm>
            <a:off x="7689236" y="3428999"/>
            <a:ext cx="1701110" cy="0"/>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48" name="Speech Bubble: Rectangle 47">
            <a:extLst>
              <a:ext uri="{FF2B5EF4-FFF2-40B4-BE49-F238E27FC236}">
                <a16:creationId xmlns:a16="http://schemas.microsoft.com/office/drawing/2014/main" id="{24A5F8BA-B3D0-4F4F-A49D-3D4B06BDBD14}"/>
              </a:ext>
            </a:extLst>
          </p:cNvPr>
          <p:cNvSpPr/>
          <p:nvPr/>
        </p:nvSpPr>
        <p:spPr bwMode="gray">
          <a:xfrm>
            <a:off x="5103859" y="1150582"/>
            <a:ext cx="2826226" cy="915844"/>
          </a:xfrm>
          <a:prstGeom prst="wedgeRectCallout">
            <a:avLst>
              <a:gd name="adj1" fmla="val 6816"/>
              <a:gd name="adj2" fmla="val 105532"/>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PVC will be bound to PV</a:t>
            </a: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pic>
        <p:nvPicPr>
          <p:cNvPr id="51" name="Graphic 50" descr="Checkmark">
            <a:extLst>
              <a:ext uri="{FF2B5EF4-FFF2-40B4-BE49-F238E27FC236}">
                <a16:creationId xmlns:a16="http://schemas.microsoft.com/office/drawing/2014/main" id="{7E6E0185-C6A4-478D-A431-4DF3C26581B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488580" y="2611738"/>
            <a:ext cx="1625907" cy="1625907"/>
          </a:xfrm>
          <a:prstGeom prst="rect">
            <a:avLst/>
          </a:prstGeom>
        </p:spPr>
      </p:pic>
    </p:spTree>
    <p:extLst>
      <p:ext uri="{BB962C8B-B14F-4D97-AF65-F5344CB8AC3E}">
        <p14:creationId xmlns:p14="http://schemas.microsoft.com/office/powerpoint/2010/main" val="4475197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8"/>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xit" presetSubtype="0" fill="hold" nodeType="clickEffect">
                                  <p:stCondLst>
                                    <p:cond delay="0"/>
                                  </p:stCondLst>
                                  <p:childTnLst>
                                    <p:set>
                                      <p:cBhvr>
                                        <p:cTn id="30" dur="1" fill="hold">
                                          <p:stCondLst>
                                            <p:cond delay="0"/>
                                          </p:stCondLst>
                                        </p:cTn>
                                        <p:tgtEl>
                                          <p:spTgt spid="51"/>
                                        </p:tgtEl>
                                        <p:attrNameLst>
                                          <p:attrName>style.visibility</p:attrName>
                                        </p:attrNameLst>
                                      </p:cBhvr>
                                      <p:to>
                                        <p:strVal val="hidden"/>
                                      </p:to>
                                    </p:set>
                                  </p:childTnLst>
                                </p:cTn>
                              </p:par>
                            </p:childTnLst>
                          </p:cTn>
                        </p:par>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42"/>
                                        </p:tgtEl>
                                        <p:attrNameLst>
                                          <p:attrName>style.visibility</p:attrName>
                                        </p:attrNameLst>
                                      </p:cBhvr>
                                      <p:to>
                                        <p:strVal val="visible"/>
                                      </p:to>
                                    </p:set>
                                  </p:childTnLst>
                                </p:cTn>
                              </p:par>
                              <p:par>
                                <p:cTn id="34" presetID="1" presetClass="entr" presetSubtype="0" fill="hold" grpId="0" nodeType="withEffect">
                                  <p:stCondLst>
                                    <p:cond delay="0"/>
                                  </p:stCondLst>
                                  <p:childTnLst>
                                    <p:set>
                                      <p:cBhvr>
                                        <p:cTn id="35" dur="1" fill="hold">
                                          <p:stCondLst>
                                            <p:cond delay="0"/>
                                          </p:stCondLst>
                                        </p:cTn>
                                        <p:tgtEl>
                                          <p:spTgt spid="39"/>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4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5" grpId="0" animBg="1"/>
      <p:bldP spid="26" grpId="0" animBg="1"/>
      <p:bldP spid="27" grpId="0" animBg="1"/>
      <p:bldP spid="39" grpId="0" animBg="1"/>
      <p:bldP spid="48"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ectangle: Diagonal Corners Rounded 14">
            <a:extLst>
              <a:ext uri="{FF2B5EF4-FFF2-40B4-BE49-F238E27FC236}">
                <a16:creationId xmlns:a16="http://schemas.microsoft.com/office/drawing/2014/main" id="{2FC0B9D7-3453-4EFB-A7E6-898F1F63A75C}"/>
              </a:ext>
            </a:extLst>
          </p:cNvPr>
          <p:cNvSpPr/>
          <p:nvPr/>
        </p:nvSpPr>
        <p:spPr bwMode="gray">
          <a:xfrm>
            <a:off x="3623970" y="3281258"/>
            <a:ext cx="1803653" cy="1103355"/>
          </a:xfrm>
          <a:prstGeom prst="round2Diag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kern="0" dirty="0">
                <a:solidFill>
                  <a:schemeClr val="dk1"/>
                </a:solidFill>
                <a:latin typeface="+mn-lt"/>
                <a:ea typeface="Arial Unicode MS" pitchFamily="34" charset="-128"/>
                <a:cs typeface="Arial Unicode MS" pitchFamily="34" charset="-128"/>
              </a:rPr>
              <a:t>Persistent Volume Claim</a:t>
            </a:r>
          </a:p>
        </p:txBody>
      </p:sp>
      <p:sp>
        <p:nvSpPr>
          <p:cNvPr id="2" name="Title 1">
            <a:extLst>
              <a:ext uri="{FF2B5EF4-FFF2-40B4-BE49-F238E27FC236}">
                <a16:creationId xmlns:a16="http://schemas.microsoft.com/office/drawing/2014/main" id="{63CEA792-3EB5-4DB7-8C92-AD9889D91019}"/>
              </a:ext>
            </a:extLst>
          </p:cNvPr>
          <p:cNvSpPr>
            <a:spLocks noGrp="1"/>
          </p:cNvSpPr>
          <p:nvPr>
            <p:ph type="title"/>
          </p:nvPr>
        </p:nvSpPr>
        <p:spPr/>
        <p:txBody>
          <a:bodyPr/>
          <a:lstStyle/>
          <a:p>
            <a:r>
              <a:rPr lang="en-US" dirty="0"/>
              <a:t>Access Modes</a:t>
            </a:r>
          </a:p>
        </p:txBody>
      </p:sp>
      <p:sp>
        <p:nvSpPr>
          <p:cNvPr id="4" name="Rectangle 3">
            <a:extLst>
              <a:ext uri="{FF2B5EF4-FFF2-40B4-BE49-F238E27FC236}">
                <a16:creationId xmlns:a16="http://schemas.microsoft.com/office/drawing/2014/main" id="{24EF343A-C10A-4019-AE5D-81BDE41FF336}"/>
              </a:ext>
            </a:extLst>
          </p:cNvPr>
          <p:cNvSpPr/>
          <p:nvPr/>
        </p:nvSpPr>
        <p:spPr bwMode="gray">
          <a:xfrm>
            <a:off x="870562" y="3210949"/>
            <a:ext cx="1815338" cy="1160859"/>
          </a:xfrm>
          <a:prstGeom prst="rect">
            <a:avLst/>
          </a:prstGeom>
          <a:solidFill>
            <a:schemeClr val="tx2"/>
          </a:solidFill>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t"/>
          <a:lstStyle/>
          <a:p>
            <a:pPr algn="ctr" defTabSz="914400" fontAlgn="base">
              <a:spcBef>
                <a:spcPct val="50000"/>
              </a:spcBef>
              <a:spcAft>
                <a:spcPct val="0"/>
              </a:spcAft>
              <a:buClr>
                <a:srgbClr val="F0AB00"/>
              </a:buClr>
              <a:buSzPct val="80000"/>
            </a:pPr>
            <a:endParaRPr lang="de-DE" sz="1600" b="1" kern="0" dirty="0">
              <a:solidFill>
                <a:sysClr val="windowText" lastClr="000000"/>
              </a:solidFill>
              <a:ea typeface="Arial Unicode MS" pitchFamily="34" charset="-128"/>
            </a:endParaRPr>
          </a:p>
          <a:p>
            <a:pPr algn="ctr" defTabSz="914400" fontAlgn="base">
              <a:spcBef>
                <a:spcPct val="50000"/>
              </a:spcBef>
              <a:spcAft>
                <a:spcPct val="0"/>
              </a:spcAft>
              <a:buClr>
                <a:srgbClr val="F0AB00"/>
              </a:buClr>
              <a:buSzPct val="80000"/>
            </a:pPr>
            <a:r>
              <a:rPr lang="de-DE" sz="1600" b="1" kern="0" dirty="0" err="1">
                <a:solidFill>
                  <a:sysClr val="windowText" lastClr="000000"/>
                </a:solidFill>
                <a:ea typeface="Arial Unicode MS" pitchFamily="34" charset="-128"/>
              </a:rPr>
              <a:t>Pod</a:t>
            </a:r>
            <a:r>
              <a:rPr lang="de-DE" sz="1600" b="1" kern="0" dirty="0">
                <a:solidFill>
                  <a:sysClr val="windowText" lastClr="000000"/>
                </a:solidFill>
                <a:ea typeface="Arial Unicode MS" pitchFamily="34" charset="-128"/>
              </a:rPr>
              <a:t> A2</a:t>
            </a:r>
          </a:p>
        </p:txBody>
      </p:sp>
      <p:sp>
        <p:nvSpPr>
          <p:cNvPr id="5" name="Rectangle 4">
            <a:extLst>
              <a:ext uri="{FF2B5EF4-FFF2-40B4-BE49-F238E27FC236}">
                <a16:creationId xmlns:a16="http://schemas.microsoft.com/office/drawing/2014/main" id="{406C96CF-733F-4258-A88F-372E8E1C9AC3}"/>
              </a:ext>
            </a:extLst>
          </p:cNvPr>
          <p:cNvSpPr/>
          <p:nvPr/>
        </p:nvSpPr>
        <p:spPr bwMode="gray">
          <a:xfrm>
            <a:off x="870562" y="4530298"/>
            <a:ext cx="1815338" cy="1160859"/>
          </a:xfrm>
          <a:prstGeom prst="rect">
            <a:avLst/>
          </a:prstGeom>
          <a:solidFill>
            <a:schemeClr val="tx2"/>
          </a:solidFill>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t"/>
          <a:lstStyle/>
          <a:p>
            <a:pPr algn="ctr" defTabSz="914400" fontAlgn="base">
              <a:spcBef>
                <a:spcPct val="50000"/>
              </a:spcBef>
              <a:spcAft>
                <a:spcPct val="0"/>
              </a:spcAft>
              <a:buClr>
                <a:srgbClr val="F0AB00"/>
              </a:buClr>
              <a:buSzPct val="80000"/>
            </a:pPr>
            <a:endParaRPr lang="de-DE" sz="1600" b="1" kern="0" dirty="0">
              <a:solidFill>
                <a:sysClr val="windowText" lastClr="000000"/>
              </a:solidFill>
              <a:ea typeface="Arial Unicode MS" pitchFamily="34" charset="-128"/>
            </a:endParaRPr>
          </a:p>
          <a:p>
            <a:pPr algn="ctr" defTabSz="914400" fontAlgn="base">
              <a:spcBef>
                <a:spcPct val="50000"/>
              </a:spcBef>
              <a:spcAft>
                <a:spcPct val="0"/>
              </a:spcAft>
              <a:buClr>
                <a:srgbClr val="F0AB00"/>
              </a:buClr>
              <a:buSzPct val="80000"/>
            </a:pPr>
            <a:r>
              <a:rPr lang="de-DE" sz="1600" b="1" kern="0" dirty="0" err="1">
                <a:solidFill>
                  <a:sysClr val="windowText" lastClr="000000"/>
                </a:solidFill>
                <a:ea typeface="Arial Unicode MS" pitchFamily="34" charset="-128"/>
              </a:rPr>
              <a:t>Pod</a:t>
            </a:r>
            <a:r>
              <a:rPr lang="de-DE" sz="1600" b="1" kern="0" dirty="0">
                <a:solidFill>
                  <a:sysClr val="windowText" lastClr="000000"/>
                </a:solidFill>
                <a:ea typeface="Arial Unicode MS" pitchFamily="34" charset="-128"/>
              </a:rPr>
              <a:t> A3</a:t>
            </a:r>
          </a:p>
        </p:txBody>
      </p:sp>
      <p:sp>
        <p:nvSpPr>
          <p:cNvPr id="6" name="Rectangle 5">
            <a:extLst>
              <a:ext uri="{FF2B5EF4-FFF2-40B4-BE49-F238E27FC236}">
                <a16:creationId xmlns:a16="http://schemas.microsoft.com/office/drawing/2014/main" id="{38F244DA-1F13-40FD-8214-BBC53B74B7B5}"/>
              </a:ext>
            </a:extLst>
          </p:cNvPr>
          <p:cNvSpPr/>
          <p:nvPr/>
        </p:nvSpPr>
        <p:spPr bwMode="gray">
          <a:xfrm>
            <a:off x="870562" y="1891600"/>
            <a:ext cx="1815338" cy="1160859"/>
          </a:xfrm>
          <a:prstGeom prst="rect">
            <a:avLst/>
          </a:prstGeom>
          <a:solidFill>
            <a:schemeClr val="tx2"/>
          </a:solidFill>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t"/>
          <a:lstStyle/>
          <a:p>
            <a:pPr algn="ctr" defTabSz="914400" fontAlgn="base">
              <a:spcBef>
                <a:spcPct val="50000"/>
              </a:spcBef>
              <a:spcAft>
                <a:spcPct val="0"/>
              </a:spcAft>
              <a:buClr>
                <a:srgbClr val="F0AB00"/>
              </a:buClr>
              <a:buSzPct val="80000"/>
            </a:pPr>
            <a:endParaRPr lang="de-DE" sz="1600" b="1" kern="0" dirty="0">
              <a:solidFill>
                <a:sysClr val="windowText" lastClr="000000"/>
              </a:solidFill>
              <a:ea typeface="Arial Unicode MS" pitchFamily="34" charset="-128"/>
            </a:endParaRPr>
          </a:p>
          <a:p>
            <a:pPr algn="ctr" defTabSz="914400" fontAlgn="base">
              <a:spcBef>
                <a:spcPct val="50000"/>
              </a:spcBef>
              <a:spcAft>
                <a:spcPct val="0"/>
              </a:spcAft>
              <a:buClr>
                <a:srgbClr val="F0AB00"/>
              </a:buClr>
              <a:buSzPct val="80000"/>
            </a:pPr>
            <a:r>
              <a:rPr lang="de-DE" sz="1600" b="1" kern="0" dirty="0" err="1">
                <a:solidFill>
                  <a:sysClr val="windowText" lastClr="000000"/>
                </a:solidFill>
                <a:ea typeface="Arial Unicode MS" pitchFamily="34" charset="-128"/>
              </a:rPr>
              <a:t>Pod</a:t>
            </a:r>
            <a:r>
              <a:rPr lang="de-DE" sz="1600" b="1" kern="0" dirty="0">
                <a:solidFill>
                  <a:sysClr val="windowText" lastClr="000000"/>
                </a:solidFill>
                <a:ea typeface="Arial Unicode MS" pitchFamily="34" charset="-128"/>
              </a:rPr>
              <a:t> A1</a:t>
            </a:r>
          </a:p>
        </p:txBody>
      </p:sp>
      <p:cxnSp>
        <p:nvCxnSpPr>
          <p:cNvPr id="7" name="Straight Arrow Connector 8">
            <a:extLst>
              <a:ext uri="{FF2B5EF4-FFF2-40B4-BE49-F238E27FC236}">
                <a16:creationId xmlns:a16="http://schemas.microsoft.com/office/drawing/2014/main" id="{A99C66D5-FAA1-45A8-A871-A103CD413C67}"/>
              </a:ext>
            </a:extLst>
          </p:cNvPr>
          <p:cNvCxnSpPr>
            <a:cxnSpLocks/>
            <a:endCxn id="4" idx="3"/>
          </p:cNvCxnSpPr>
          <p:nvPr/>
        </p:nvCxnSpPr>
        <p:spPr>
          <a:xfrm rot="10800000" flipV="1">
            <a:off x="2685900" y="3791377"/>
            <a:ext cx="898662" cy="1"/>
          </a:xfrm>
          <a:prstGeom prst="bentConnector3">
            <a:avLst>
              <a:gd name="adj1" fmla="val 50000"/>
            </a:avLst>
          </a:prstGeom>
          <a:ln w="57150">
            <a:solidFill>
              <a:schemeClr val="accent1">
                <a:lumMod val="60000"/>
                <a:lumOff val="40000"/>
              </a:schemeClr>
            </a:solidFill>
            <a:headEnd type="oval" w="med" len="med"/>
            <a:tailEnd type="oval" w="med" len="med"/>
          </a:ln>
        </p:spPr>
        <p:style>
          <a:lnRef idx="2">
            <a:schemeClr val="accent2"/>
          </a:lnRef>
          <a:fillRef idx="0">
            <a:schemeClr val="accent2"/>
          </a:fillRef>
          <a:effectRef idx="1">
            <a:schemeClr val="accent2"/>
          </a:effectRef>
          <a:fontRef idx="minor">
            <a:schemeClr val="tx1"/>
          </a:fontRef>
        </p:style>
      </p:cxnSp>
      <p:cxnSp>
        <p:nvCxnSpPr>
          <p:cNvPr id="8" name="Straight Arrow Connector 8">
            <a:extLst>
              <a:ext uri="{FF2B5EF4-FFF2-40B4-BE49-F238E27FC236}">
                <a16:creationId xmlns:a16="http://schemas.microsoft.com/office/drawing/2014/main" id="{1D720CDF-5D17-46E8-9154-A2DC4A19E1B9}"/>
              </a:ext>
            </a:extLst>
          </p:cNvPr>
          <p:cNvCxnSpPr>
            <a:endCxn id="6" idx="3"/>
          </p:cNvCxnSpPr>
          <p:nvPr/>
        </p:nvCxnSpPr>
        <p:spPr>
          <a:xfrm rot="10800000">
            <a:off x="2685901" y="2472031"/>
            <a:ext cx="898661" cy="1330203"/>
          </a:xfrm>
          <a:prstGeom prst="bentConnector3">
            <a:avLst>
              <a:gd name="adj1" fmla="val 50000"/>
            </a:avLst>
          </a:prstGeom>
          <a:ln w="57150">
            <a:solidFill>
              <a:schemeClr val="accent1">
                <a:lumMod val="60000"/>
                <a:lumOff val="40000"/>
              </a:schemeClr>
            </a:solidFill>
            <a:headEnd type="oval" w="med" len="med"/>
            <a:tailEnd type="oval" w="med" len="med"/>
          </a:ln>
        </p:spPr>
        <p:style>
          <a:lnRef idx="2">
            <a:schemeClr val="accent2"/>
          </a:lnRef>
          <a:fillRef idx="0">
            <a:schemeClr val="accent2"/>
          </a:fillRef>
          <a:effectRef idx="1">
            <a:schemeClr val="accent2"/>
          </a:effectRef>
          <a:fontRef idx="minor">
            <a:schemeClr val="tx1"/>
          </a:fontRef>
        </p:style>
      </p:cxnSp>
      <p:cxnSp>
        <p:nvCxnSpPr>
          <p:cNvPr id="9" name="Straight Arrow Connector 8">
            <a:extLst>
              <a:ext uri="{FF2B5EF4-FFF2-40B4-BE49-F238E27FC236}">
                <a16:creationId xmlns:a16="http://schemas.microsoft.com/office/drawing/2014/main" id="{C5F75523-2EC7-4928-97D2-031CE11D1577}"/>
              </a:ext>
            </a:extLst>
          </p:cNvPr>
          <p:cNvCxnSpPr>
            <a:endCxn id="5" idx="3"/>
          </p:cNvCxnSpPr>
          <p:nvPr/>
        </p:nvCxnSpPr>
        <p:spPr>
          <a:xfrm rot="10800000" flipV="1">
            <a:off x="2685901" y="3802232"/>
            <a:ext cx="898661" cy="1308495"/>
          </a:xfrm>
          <a:prstGeom prst="bentConnector3">
            <a:avLst>
              <a:gd name="adj1" fmla="val 50000"/>
            </a:avLst>
          </a:prstGeom>
          <a:ln w="57150">
            <a:solidFill>
              <a:schemeClr val="accent1">
                <a:lumMod val="60000"/>
                <a:lumOff val="40000"/>
              </a:schemeClr>
            </a:solidFill>
            <a:headEnd type="oval" w="med" len="med"/>
            <a:tailEnd type="oval" w="med" len="med"/>
          </a:ln>
        </p:spPr>
        <p:style>
          <a:lnRef idx="2">
            <a:schemeClr val="accent2"/>
          </a:lnRef>
          <a:fillRef idx="0">
            <a:schemeClr val="accent2"/>
          </a:fillRef>
          <a:effectRef idx="1">
            <a:schemeClr val="accent2"/>
          </a:effectRef>
          <a:fontRef idx="minor">
            <a:schemeClr val="tx1"/>
          </a:fontRef>
        </p:style>
      </p:cxnSp>
      <p:sp>
        <p:nvSpPr>
          <p:cNvPr id="10" name="Rectangle 9">
            <a:extLst>
              <a:ext uri="{FF2B5EF4-FFF2-40B4-BE49-F238E27FC236}">
                <a16:creationId xmlns:a16="http://schemas.microsoft.com/office/drawing/2014/main" id="{E747B2A2-4E85-4BEC-842B-D68BCADB5F49}"/>
              </a:ext>
            </a:extLst>
          </p:cNvPr>
          <p:cNvSpPr/>
          <p:nvPr/>
        </p:nvSpPr>
        <p:spPr bwMode="gray">
          <a:xfrm>
            <a:off x="955271" y="1984280"/>
            <a:ext cx="1645920" cy="365760"/>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800" b="0" i="0" u="none" strike="noStrike" kern="0" cap="none" spc="0" normalizeH="0" baseline="0" noProof="0" dirty="0">
                <a:ln>
                  <a:noFill/>
                </a:ln>
                <a:effectLst/>
                <a:uLnTx/>
                <a:uFillTx/>
                <a:ea typeface="Arial Unicode MS" pitchFamily="34" charset="-128"/>
                <a:cs typeface="Arial Unicode MS" pitchFamily="34" charset="-128"/>
              </a:rPr>
              <a:t>IP: 10.10.10.1</a:t>
            </a:r>
          </a:p>
        </p:txBody>
      </p:sp>
      <p:sp>
        <p:nvSpPr>
          <p:cNvPr id="11" name="Rectangle 10">
            <a:extLst>
              <a:ext uri="{FF2B5EF4-FFF2-40B4-BE49-F238E27FC236}">
                <a16:creationId xmlns:a16="http://schemas.microsoft.com/office/drawing/2014/main" id="{A795CA9F-CC78-4527-A89A-961090560AFC}"/>
              </a:ext>
            </a:extLst>
          </p:cNvPr>
          <p:cNvSpPr/>
          <p:nvPr/>
        </p:nvSpPr>
        <p:spPr bwMode="gray">
          <a:xfrm>
            <a:off x="955271" y="3297366"/>
            <a:ext cx="1645920" cy="365760"/>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800" b="0" i="0" u="none" strike="noStrike" kern="0" cap="none" spc="0" normalizeH="0" baseline="0" noProof="0" dirty="0">
                <a:ln>
                  <a:noFill/>
                </a:ln>
                <a:effectLst/>
                <a:uLnTx/>
                <a:uFillTx/>
                <a:ea typeface="Arial Unicode MS" pitchFamily="34" charset="-128"/>
                <a:cs typeface="Arial Unicode MS" pitchFamily="34" charset="-128"/>
              </a:rPr>
              <a:t>IP: 10.10.10.2</a:t>
            </a:r>
          </a:p>
        </p:txBody>
      </p:sp>
      <p:sp>
        <p:nvSpPr>
          <p:cNvPr id="12" name="Rectangle 11">
            <a:extLst>
              <a:ext uri="{FF2B5EF4-FFF2-40B4-BE49-F238E27FC236}">
                <a16:creationId xmlns:a16="http://schemas.microsoft.com/office/drawing/2014/main" id="{1E40854E-4580-47BA-90E7-BBA8CDFC7C49}"/>
              </a:ext>
            </a:extLst>
          </p:cNvPr>
          <p:cNvSpPr/>
          <p:nvPr/>
        </p:nvSpPr>
        <p:spPr bwMode="gray">
          <a:xfrm>
            <a:off x="955271" y="4616480"/>
            <a:ext cx="1645920" cy="365760"/>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800" b="0" i="0" u="none" strike="noStrike" kern="0" cap="none" spc="0" normalizeH="0" baseline="0" noProof="0" dirty="0">
                <a:ln>
                  <a:noFill/>
                </a:ln>
                <a:effectLst/>
                <a:uLnTx/>
                <a:uFillTx/>
                <a:ea typeface="Arial Unicode MS" pitchFamily="34" charset="-128"/>
                <a:cs typeface="Arial Unicode MS" pitchFamily="34" charset="-128"/>
              </a:rPr>
              <a:t>IP: 10.10.10.3</a:t>
            </a:r>
          </a:p>
        </p:txBody>
      </p:sp>
      <p:sp>
        <p:nvSpPr>
          <p:cNvPr id="13" name="Cylinder 12">
            <a:extLst>
              <a:ext uri="{FF2B5EF4-FFF2-40B4-BE49-F238E27FC236}">
                <a16:creationId xmlns:a16="http://schemas.microsoft.com/office/drawing/2014/main" id="{FEB219DB-284F-4199-B6CA-C8509AA18034}"/>
              </a:ext>
            </a:extLst>
          </p:cNvPr>
          <p:cNvSpPr/>
          <p:nvPr/>
        </p:nvSpPr>
        <p:spPr bwMode="gray">
          <a:xfrm>
            <a:off x="9320646" y="3151098"/>
            <a:ext cx="1693576" cy="1362573"/>
          </a:xfrm>
          <a:prstGeom prst="can">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Physical storage</a:t>
            </a:r>
          </a:p>
        </p:txBody>
      </p:sp>
      <p:sp>
        <p:nvSpPr>
          <p:cNvPr id="14" name="Cylinder 13">
            <a:extLst>
              <a:ext uri="{FF2B5EF4-FFF2-40B4-BE49-F238E27FC236}">
                <a16:creationId xmlns:a16="http://schemas.microsoft.com/office/drawing/2014/main" id="{D71EE5F9-DFE4-4CB0-9CA0-B3DCBA25D5EF}"/>
              </a:ext>
            </a:extLst>
          </p:cNvPr>
          <p:cNvSpPr/>
          <p:nvPr/>
        </p:nvSpPr>
        <p:spPr bwMode="gray">
          <a:xfrm>
            <a:off x="6485680" y="3280158"/>
            <a:ext cx="1486490" cy="1104455"/>
          </a:xfrm>
          <a:prstGeom prst="can">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Persistent</a:t>
            </a:r>
            <a:r>
              <a:rPr kumimoji="0" lang="en-US" sz="1800" b="0" i="0" u="none" strike="noStrike" kern="0" cap="none" spc="0" normalizeH="0" noProof="0" dirty="0">
                <a:ln>
                  <a:noFill/>
                </a:ln>
                <a:effectLst/>
                <a:uLnTx/>
                <a:uFillTx/>
                <a:ea typeface="Arial Unicode MS" pitchFamily="34" charset="-128"/>
                <a:cs typeface="Arial Unicode MS" pitchFamily="34" charset="-128"/>
              </a:rPr>
              <a:t> Volume</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16" name="Connector: Elbow 15">
            <a:extLst>
              <a:ext uri="{FF2B5EF4-FFF2-40B4-BE49-F238E27FC236}">
                <a16:creationId xmlns:a16="http://schemas.microsoft.com/office/drawing/2014/main" id="{84A50DC6-50F3-4D45-A90F-265B9A2BBF60}"/>
              </a:ext>
            </a:extLst>
          </p:cNvPr>
          <p:cNvCxnSpPr>
            <a:cxnSpLocks/>
            <a:stCxn id="14" idx="4"/>
            <a:endCxn id="13" idx="2"/>
          </p:cNvCxnSpPr>
          <p:nvPr/>
        </p:nvCxnSpPr>
        <p:spPr>
          <a:xfrm flipV="1">
            <a:off x="7972170" y="3832385"/>
            <a:ext cx="1348476" cy="1"/>
          </a:xfrm>
          <a:prstGeom prst="bentConnector3">
            <a:avLst>
              <a:gd name="adj1" fmla="val 50000"/>
            </a:avLst>
          </a:prstGeom>
          <a:ln w="571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7" name="Connector: Elbow 16">
            <a:extLst>
              <a:ext uri="{FF2B5EF4-FFF2-40B4-BE49-F238E27FC236}">
                <a16:creationId xmlns:a16="http://schemas.microsoft.com/office/drawing/2014/main" id="{226D7AD1-AE35-461D-84F8-E45BB0E51FC0}"/>
              </a:ext>
            </a:extLst>
          </p:cNvPr>
          <p:cNvCxnSpPr>
            <a:cxnSpLocks/>
            <a:stCxn id="15" idx="0"/>
            <a:endCxn id="14" idx="2"/>
          </p:cNvCxnSpPr>
          <p:nvPr/>
        </p:nvCxnSpPr>
        <p:spPr>
          <a:xfrm flipV="1">
            <a:off x="5427623" y="3832386"/>
            <a:ext cx="1058057" cy="550"/>
          </a:xfrm>
          <a:prstGeom prst="bentConnector3">
            <a:avLst>
              <a:gd name="adj1" fmla="val 50000"/>
            </a:avLst>
          </a:prstGeom>
          <a:ln w="571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1" name="Speech Bubble: Rectangle 30">
            <a:extLst>
              <a:ext uri="{FF2B5EF4-FFF2-40B4-BE49-F238E27FC236}">
                <a16:creationId xmlns:a16="http://schemas.microsoft.com/office/drawing/2014/main" id="{3FFDABBF-A7EC-4EFE-A628-B6C21820E3CD}"/>
              </a:ext>
            </a:extLst>
          </p:cNvPr>
          <p:cNvSpPr/>
          <p:nvPr/>
        </p:nvSpPr>
        <p:spPr bwMode="gray">
          <a:xfrm>
            <a:off x="4307067" y="1071697"/>
            <a:ext cx="2409432" cy="1713391"/>
          </a:xfrm>
          <a:prstGeom prst="wedgeRectCallout">
            <a:avLst>
              <a:gd name="adj1" fmla="val -91903"/>
              <a:gd name="adj2" fmla="val 90799"/>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1" i="0" u="none" strike="noStrike" kern="0" cap="none" spc="0" normalizeH="0" baseline="0" noProof="0" dirty="0">
                <a:ln>
                  <a:noFill/>
                </a:ln>
                <a:effectLst/>
                <a:uLnTx/>
                <a:uFillTx/>
                <a:ea typeface="Arial Unicode MS" pitchFamily="34" charset="-128"/>
                <a:cs typeface="Arial Unicode MS" pitchFamily="34" charset="-128"/>
              </a:rPr>
              <a:t>RWO</a:t>
            </a:r>
            <a:r>
              <a:rPr kumimoji="0" lang="en-US" sz="1800" b="0" i="0" u="none" strike="noStrike" kern="0" cap="none" spc="0" normalizeH="0" baseline="0" noProof="0" dirty="0">
                <a:ln>
                  <a:noFill/>
                </a:ln>
                <a:effectLst/>
                <a:uLnTx/>
                <a:uFillTx/>
                <a:ea typeface="Arial Unicode MS" pitchFamily="34" charset="-128"/>
                <a:cs typeface="Arial Unicode MS" pitchFamily="34" charset="-128"/>
              </a:rPr>
              <a:t> = read-write once</a:t>
            </a:r>
          </a:p>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Only 1 pod can mount the PVC</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33" name="Speech Bubble: Rectangle 32">
            <a:extLst>
              <a:ext uri="{FF2B5EF4-FFF2-40B4-BE49-F238E27FC236}">
                <a16:creationId xmlns:a16="http://schemas.microsoft.com/office/drawing/2014/main" id="{AE2CC4DA-2088-440A-9B6D-2E43D407CE31}"/>
              </a:ext>
            </a:extLst>
          </p:cNvPr>
          <p:cNvSpPr/>
          <p:nvPr/>
        </p:nvSpPr>
        <p:spPr bwMode="gray">
          <a:xfrm>
            <a:off x="4302108" y="1072026"/>
            <a:ext cx="2409432" cy="1713391"/>
          </a:xfrm>
          <a:prstGeom prst="wedgeRectCallout">
            <a:avLst>
              <a:gd name="adj1" fmla="val -91903"/>
              <a:gd name="adj2" fmla="val 90799"/>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1" i="0" u="none" strike="noStrike" kern="0" cap="none" spc="0" normalizeH="0" baseline="0" noProof="0" dirty="0">
                <a:ln>
                  <a:noFill/>
                </a:ln>
                <a:effectLst/>
                <a:uLnTx/>
                <a:uFillTx/>
                <a:ea typeface="Arial Unicode MS" pitchFamily="34" charset="-128"/>
                <a:cs typeface="Arial Unicode MS" pitchFamily="34" charset="-128"/>
              </a:rPr>
              <a:t>ROX</a:t>
            </a:r>
            <a:r>
              <a:rPr kumimoji="0" lang="en-US" sz="1800" b="0" i="0" u="none" strike="noStrike" kern="0" cap="none" spc="0" normalizeH="0" baseline="0" noProof="0" dirty="0">
                <a:ln>
                  <a:noFill/>
                </a:ln>
                <a:effectLst/>
                <a:uLnTx/>
                <a:uFillTx/>
                <a:ea typeface="Arial Unicode MS" pitchFamily="34" charset="-128"/>
                <a:cs typeface="Arial Unicode MS" pitchFamily="34" charset="-128"/>
              </a:rPr>
              <a:t> = read-only many</a:t>
            </a:r>
          </a:p>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Multiple pods can mount re</a:t>
            </a:r>
            <a:r>
              <a:rPr lang="en-US" sz="1800" kern="0" dirty="0">
                <a:ea typeface="Arial Unicode MS" pitchFamily="34" charset="-128"/>
                <a:cs typeface="Arial Unicode MS" pitchFamily="34" charset="-128"/>
              </a:rPr>
              <a:t>ad-only or 1 pod read-write</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34" name="Speech Bubble: Rectangle 33">
            <a:extLst>
              <a:ext uri="{FF2B5EF4-FFF2-40B4-BE49-F238E27FC236}">
                <a16:creationId xmlns:a16="http://schemas.microsoft.com/office/drawing/2014/main" id="{B0AB2C38-875D-4529-B4E2-AB325FBF274F}"/>
              </a:ext>
            </a:extLst>
          </p:cNvPr>
          <p:cNvSpPr/>
          <p:nvPr/>
        </p:nvSpPr>
        <p:spPr bwMode="gray">
          <a:xfrm>
            <a:off x="4308826" y="1080670"/>
            <a:ext cx="2409432" cy="1713391"/>
          </a:xfrm>
          <a:prstGeom prst="wedgeRectCallout">
            <a:avLst>
              <a:gd name="adj1" fmla="val -91903"/>
              <a:gd name="adj2" fmla="val 90799"/>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1" i="0" u="none" strike="noStrike" kern="0" cap="none" spc="0" normalizeH="0" baseline="0" noProof="0" dirty="0">
                <a:ln>
                  <a:noFill/>
                </a:ln>
                <a:effectLst/>
                <a:uLnTx/>
                <a:uFillTx/>
                <a:ea typeface="Arial Unicode MS" pitchFamily="34" charset="-128"/>
                <a:cs typeface="Arial Unicode MS" pitchFamily="34" charset="-128"/>
              </a:rPr>
              <a:t>RWX</a:t>
            </a:r>
            <a:r>
              <a:rPr kumimoji="0" lang="en-US" sz="1800" b="0" i="0" u="none" strike="noStrike" kern="0" cap="none" spc="0" normalizeH="0" baseline="0" noProof="0" dirty="0">
                <a:ln>
                  <a:noFill/>
                </a:ln>
                <a:effectLst/>
                <a:uLnTx/>
                <a:uFillTx/>
                <a:ea typeface="Arial Unicode MS" pitchFamily="34" charset="-128"/>
                <a:cs typeface="Arial Unicode MS" pitchFamily="34" charset="-128"/>
              </a:rPr>
              <a:t> = read-write many</a:t>
            </a:r>
          </a:p>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Multiple pods can mount re</a:t>
            </a:r>
            <a:r>
              <a:rPr lang="en-US" sz="1800" kern="0" dirty="0">
                <a:ea typeface="Arial Unicode MS" pitchFamily="34" charset="-128"/>
                <a:cs typeface="Arial Unicode MS" pitchFamily="34" charset="-128"/>
              </a:rPr>
              <a:t>ad-write</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35" name="Speech Bubble: Rectangle 34">
            <a:extLst>
              <a:ext uri="{FF2B5EF4-FFF2-40B4-BE49-F238E27FC236}">
                <a16:creationId xmlns:a16="http://schemas.microsoft.com/office/drawing/2014/main" id="{C65EFBDC-DA03-4F31-A81A-C14E638769D5}"/>
              </a:ext>
            </a:extLst>
          </p:cNvPr>
          <p:cNvSpPr/>
          <p:nvPr/>
        </p:nvSpPr>
        <p:spPr bwMode="gray">
          <a:xfrm>
            <a:off x="7164280" y="5467422"/>
            <a:ext cx="2681056" cy="982692"/>
          </a:xfrm>
          <a:prstGeom prst="wedgeRectCallout">
            <a:avLst>
              <a:gd name="adj1" fmla="val 42966"/>
              <a:gd name="adj2" fmla="val -135956"/>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Storage backend has to support access modes</a:t>
            </a:r>
          </a:p>
        </p:txBody>
      </p:sp>
    </p:spTree>
    <p:extLst>
      <p:ext uri="{BB962C8B-B14F-4D97-AF65-F5344CB8AC3E}">
        <p14:creationId xmlns:p14="http://schemas.microsoft.com/office/powerpoint/2010/main" val="40856046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xit" presetSubtype="0" fill="hold" grpId="0" nodeType="withEffect">
                                  <p:stCondLst>
                                    <p:cond delay="0"/>
                                  </p:stCondLst>
                                  <p:childTnLst>
                                    <p:set>
                                      <p:cBhvr>
                                        <p:cTn id="10" dur="1" fill="hold">
                                          <p:stCondLst>
                                            <p:cond delay="0"/>
                                          </p:stCondLst>
                                        </p:cTn>
                                        <p:tgtEl>
                                          <p:spTgt spid="31"/>
                                        </p:tgtEl>
                                        <p:attrNameLst>
                                          <p:attrName>style.visibility</p:attrName>
                                        </p:attrNameLst>
                                      </p:cBhvr>
                                      <p:to>
                                        <p:strVal val="hidden"/>
                                      </p:to>
                                    </p:set>
                                  </p:childTnLst>
                                </p:cTn>
                              </p:par>
                              <p:par>
                                <p:cTn id="11" presetID="1" presetClass="entr" presetSubtype="0" fill="hold" grpId="0" nodeType="withEffect">
                                  <p:stCondLst>
                                    <p:cond delay="0"/>
                                  </p:stCondLst>
                                  <p:childTnLst>
                                    <p:set>
                                      <p:cBhvr>
                                        <p:cTn id="12" dur="1" fill="hold">
                                          <p:stCondLst>
                                            <p:cond delay="0"/>
                                          </p:stCondLst>
                                        </p:cTn>
                                        <p:tgtEl>
                                          <p:spTgt spid="3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P spid="33" grpId="0" animBg="1"/>
      <p:bldP spid="34"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0234DD-73A1-402F-B475-DA6E6D6E031B}"/>
              </a:ext>
            </a:extLst>
          </p:cNvPr>
          <p:cNvSpPr>
            <a:spLocks noGrp="1"/>
          </p:cNvSpPr>
          <p:nvPr>
            <p:ph type="title"/>
          </p:nvPr>
        </p:nvSpPr>
        <p:spPr>
          <a:xfrm>
            <a:off x="504001" y="504000"/>
            <a:ext cx="11186476" cy="369332"/>
          </a:xfrm>
        </p:spPr>
        <p:txBody>
          <a:bodyPr/>
          <a:lstStyle/>
          <a:p>
            <a:r>
              <a:rPr lang="en-US" dirty="0"/>
              <a:t>What happens in the background …</a:t>
            </a:r>
          </a:p>
        </p:txBody>
      </p:sp>
      <p:sp>
        <p:nvSpPr>
          <p:cNvPr id="3" name="Rectangle 2">
            <a:extLst>
              <a:ext uri="{FF2B5EF4-FFF2-40B4-BE49-F238E27FC236}">
                <a16:creationId xmlns:a16="http://schemas.microsoft.com/office/drawing/2014/main" id="{72112438-74E8-4D00-9C25-8F0D762876A1}"/>
              </a:ext>
            </a:extLst>
          </p:cNvPr>
          <p:cNvSpPr/>
          <p:nvPr/>
        </p:nvSpPr>
        <p:spPr bwMode="gray">
          <a:xfrm>
            <a:off x="508930" y="1194318"/>
            <a:ext cx="3815027" cy="4439000"/>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r>
              <a:rPr lang="de-DE" sz="2400" b="1" kern="0" dirty="0" err="1">
                <a:ea typeface="Arial Unicode MS" pitchFamily="34" charset="-128"/>
                <a:cs typeface="Arial Unicode MS" pitchFamily="34" charset="-128"/>
              </a:rPr>
              <a:t>Node</a:t>
            </a:r>
            <a:r>
              <a:rPr lang="de-DE" sz="2400" b="1" kern="0" dirty="0">
                <a:ea typeface="Arial Unicode MS" pitchFamily="34" charset="-128"/>
                <a:cs typeface="Arial Unicode MS" pitchFamily="34" charset="-128"/>
              </a:rPr>
              <a:t> 1</a:t>
            </a:r>
          </a:p>
        </p:txBody>
      </p:sp>
      <p:sp>
        <p:nvSpPr>
          <p:cNvPr id="4" name="Rectangle 3">
            <a:extLst>
              <a:ext uri="{FF2B5EF4-FFF2-40B4-BE49-F238E27FC236}">
                <a16:creationId xmlns:a16="http://schemas.microsoft.com/office/drawing/2014/main" id="{660740E0-E110-40F4-B654-BF64B5C3974C}"/>
              </a:ext>
            </a:extLst>
          </p:cNvPr>
          <p:cNvSpPr/>
          <p:nvPr/>
        </p:nvSpPr>
        <p:spPr bwMode="gray">
          <a:xfrm>
            <a:off x="717671" y="1824022"/>
            <a:ext cx="3434836" cy="3149193"/>
          </a:xfrm>
          <a:prstGeom prst="rect">
            <a:avLst/>
          </a:prstGeom>
          <a:solidFill>
            <a:schemeClr val="accent1">
              <a:lumMod val="60000"/>
              <a:lumOff val="40000"/>
            </a:schemeClr>
          </a:solidFill>
          <a:ln>
            <a:headEnd/>
            <a:tailEnd/>
          </a:ln>
        </p:spPr>
        <p:style>
          <a:lnRef idx="1">
            <a:schemeClr val="accent1"/>
          </a:lnRef>
          <a:fillRef idx="2">
            <a:schemeClr val="accent1"/>
          </a:fillRef>
          <a:effectRef idx="1">
            <a:schemeClr val="accent1"/>
          </a:effectRef>
          <a:fontRef idx="minor">
            <a:schemeClr val="dk1"/>
          </a:fontRef>
        </p:style>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lang="de-DE" sz="2000" b="1" kern="0" noProof="0" dirty="0">
                <a:ea typeface="Arial Unicode MS" pitchFamily="34" charset="-128"/>
                <a:cs typeface="Arial Unicode MS" pitchFamily="34" charset="-128"/>
              </a:rPr>
              <a:t>D</a:t>
            </a:r>
            <a:r>
              <a:rPr kumimoji="0" lang="de-DE" sz="2000" b="1" i="0" strike="noStrike" kern="0" cap="none" spc="0" normalizeH="0" baseline="0" noProof="0" dirty="0">
                <a:ln>
                  <a:noFill/>
                </a:ln>
                <a:effectLst/>
                <a:uLnTx/>
                <a:uFillTx/>
                <a:ea typeface="Arial Unicode MS" pitchFamily="34" charset="-128"/>
                <a:cs typeface="Arial Unicode MS" pitchFamily="34" charset="-128"/>
              </a:rPr>
              <a:t>ocker</a:t>
            </a:r>
            <a:endParaRPr kumimoji="0" lang="de-DE" sz="2400" b="1" i="0" strike="noStrike" kern="0" cap="none" spc="0" normalizeH="0" baseline="0" noProof="0" dirty="0">
              <a:ln>
                <a:noFill/>
              </a:ln>
              <a:effectLst/>
              <a:uLnTx/>
              <a:uFillTx/>
              <a:ea typeface="Arial Unicode MS" pitchFamily="34" charset="-128"/>
              <a:cs typeface="Arial Unicode MS" pitchFamily="34" charset="-128"/>
            </a:endParaRPr>
          </a:p>
        </p:txBody>
      </p:sp>
      <p:sp>
        <p:nvSpPr>
          <p:cNvPr id="5" name="Rectangle 4">
            <a:extLst>
              <a:ext uri="{FF2B5EF4-FFF2-40B4-BE49-F238E27FC236}">
                <a16:creationId xmlns:a16="http://schemas.microsoft.com/office/drawing/2014/main" id="{4057C0D8-57A8-4B70-9D4A-B8773F041256}"/>
              </a:ext>
            </a:extLst>
          </p:cNvPr>
          <p:cNvSpPr/>
          <p:nvPr/>
        </p:nvSpPr>
        <p:spPr bwMode="gray">
          <a:xfrm>
            <a:off x="1232723" y="2226478"/>
            <a:ext cx="2404732" cy="1449781"/>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b="1" kern="0" noProof="0" dirty="0">
                <a:ea typeface="Arial Unicode MS" pitchFamily="34" charset="-128"/>
                <a:cs typeface="Arial Unicode MS" pitchFamily="34" charset="-128"/>
              </a:rPr>
              <a:t>Container</a:t>
            </a:r>
          </a:p>
          <a:p>
            <a:pPr marR="0" algn="ctr" defTabSz="914400" eaLnBrk="1" fontAlgn="base" latinLnBrk="0" hangingPunct="1">
              <a:lnSpc>
                <a:spcPct val="100000"/>
              </a:lnSpc>
              <a:spcBef>
                <a:spcPct val="50000"/>
              </a:spcBef>
              <a:spcAft>
                <a:spcPct val="0"/>
              </a:spcAft>
              <a:buClr>
                <a:srgbClr val="F0AB00"/>
              </a:buClr>
              <a:buSzPct val="80000"/>
              <a:tabLst/>
            </a:pPr>
            <a:r>
              <a:rPr kumimoji="0" lang="de-DE" sz="1600" i="1" u="none" strike="noStrike" kern="0" cap="none" spc="0" normalizeH="0" baseline="0" dirty="0">
                <a:ln>
                  <a:noFill/>
                </a:ln>
                <a:effectLst/>
                <a:uLnTx/>
                <a:uFillTx/>
                <a:ea typeface="Arial Unicode MS" pitchFamily="34" charset="-128"/>
                <a:cs typeface="Arial Unicode MS" pitchFamily="34" charset="-128"/>
              </a:rPr>
              <a:t>/</a:t>
            </a:r>
            <a:r>
              <a:rPr kumimoji="0" lang="de-DE" sz="1600" i="1" u="none" strike="noStrike" kern="0" cap="none" spc="0" normalizeH="0" baseline="0" dirty="0" err="1">
                <a:ln>
                  <a:noFill/>
                </a:ln>
                <a:effectLst/>
                <a:uLnTx/>
                <a:uFillTx/>
                <a:ea typeface="Arial Unicode MS" pitchFamily="34" charset="-128"/>
                <a:cs typeface="Arial Unicode MS" pitchFamily="34" charset="-128"/>
              </a:rPr>
              <a:t>usr</a:t>
            </a:r>
            <a:r>
              <a:rPr kumimoji="0" lang="de-DE" sz="1600" i="1" u="none" strike="noStrike" kern="0" cap="none" spc="0" normalizeH="0" baseline="0" dirty="0">
                <a:ln>
                  <a:noFill/>
                </a:ln>
                <a:effectLst/>
                <a:uLnTx/>
                <a:uFillTx/>
                <a:ea typeface="Arial Unicode MS" pitchFamily="34" charset="-128"/>
                <a:cs typeface="Arial Unicode MS" pitchFamily="34" charset="-128"/>
              </a:rPr>
              <a:t>/</a:t>
            </a:r>
            <a:r>
              <a:rPr kumimoji="0" lang="de-DE" sz="1600" i="1" u="none" strike="noStrike" kern="0" cap="none" spc="0" normalizeH="0" baseline="0" dirty="0" err="1">
                <a:ln>
                  <a:noFill/>
                </a:ln>
                <a:effectLst/>
                <a:uLnTx/>
                <a:uFillTx/>
                <a:ea typeface="Arial Unicode MS" pitchFamily="34" charset="-128"/>
                <a:cs typeface="Arial Unicode MS" pitchFamily="34" charset="-128"/>
              </a:rPr>
              <a:t>share</a:t>
            </a:r>
            <a:r>
              <a:rPr kumimoji="0" lang="de-DE" sz="1600" i="1" u="none" strike="noStrike" kern="0" cap="none" spc="0" normalizeH="0" baseline="0" dirty="0">
                <a:ln>
                  <a:noFill/>
                </a:ln>
                <a:effectLst/>
                <a:uLnTx/>
                <a:uFillTx/>
                <a:ea typeface="Arial Unicode MS" pitchFamily="34" charset="-128"/>
                <a:cs typeface="Arial Unicode MS" pitchFamily="34" charset="-128"/>
              </a:rPr>
              <a:t>/</a:t>
            </a:r>
            <a:r>
              <a:rPr kumimoji="0" lang="de-DE" sz="1600" i="1" u="none" strike="noStrike" kern="0" cap="none" spc="0" normalizeH="0" baseline="0" dirty="0" err="1">
                <a:ln>
                  <a:noFill/>
                </a:ln>
                <a:effectLst/>
                <a:uLnTx/>
                <a:uFillTx/>
                <a:ea typeface="Arial Unicode MS" pitchFamily="34" charset="-128"/>
                <a:cs typeface="Arial Unicode MS" pitchFamily="34" charset="-128"/>
              </a:rPr>
              <a:t>nginx</a:t>
            </a:r>
            <a:r>
              <a:rPr kumimoji="0" lang="de-DE" sz="1600" i="1" u="none" strike="noStrike" kern="0" cap="none" spc="0" normalizeH="0" baseline="0" dirty="0">
                <a:ln>
                  <a:noFill/>
                </a:ln>
                <a:effectLst/>
                <a:uLnTx/>
                <a:uFillTx/>
                <a:ea typeface="Arial Unicode MS" pitchFamily="34" charset="-128"/>
                <a:cs typeface="Arial Unicode MS" pitchFamily="34" charset="-128"/>
              </a:rPr>
              <a:t>/</a:t>
            </a:r>
            <a:r>
              <a:rPr kumimoji="0" lang="de-DE" sz="1600" i="1" u="none" strike="noStrike" kern="0" cap="none" spc="0" normalizeH="0" baseline="0" dirty="0" err="1">
                <a:ln>
                  <a:noFill/>
                </a:ln>
                <a:effectLst/>
                <a:uLnTx/>
                <a:uFillTx/>
                <a:ea typeface="Arial Unicode MS" pitchFamily="34" charset="-128"/>
                <a:cs typeface="Arial Unicode MS" pitchFamily="34" charset="-128"/>
              </a:rPr>
              <a:t>html</a:t>
            </a:r>
            <a:endParaRPr kumimoji="0" lang="de-DE" sz="1600" i="1" u="none" strike="noStrike" kern="0" cap="none" spc="0" normalizeH="0" baseline="0" noProof="0" dirty="0">
              <a:ln>
                <a:noFill/>
              </a:ln>
              <a:effectLst/>
              <a:uLnTx/>
              <a:uFillTx/>
              <a:ea typeface="Arial Unicode MS" pitchFamily="34" charset="-128"/>
              <a:cs typeface="Arial Unicode MS" pitchFamily="34" charset="-128"/>
            </a:endParaRPr>
          </a:p>
        </p:txBody>
      </p:sp>
      <p:sp>
        <p:nvSpPr>
          <p:cNvPr id="6" name="Rectangle: Rounded Corners 5">
            <a:extLst>
              <a:ext uri="{FF2B5EF4-FFF2-40B4-BE49-F238E27FC236}">
                <a16:creationId xmlns:a16="http://schemas.microsoft.com/office/drawing/2014/main" id="{25830A98-D5F1-49CA-B6A9-D1D12437F037}"/>
              </a:ext>
            </a:extLst>
          </p:cNvPr>
          <p:cNvSpPr/>
          <p:nvPr/>
        </p:nvSpPr>
        <p:spPr bwMode="gray">
          <a:xfrm>
            <a:off x="950472" y="2025446"/>
            <a:ext cx="2969234" cy="2163998"/>
          </a:xfrm>
          <a:prstGeom prst="roundRect">
            <a:avLst/>
          </a:prstGeom>
          <a:noFill/>
          <a:ln w="19050" algn="ctr">
            <a:solidFill>
              <a:schemeClr val="tx1"/>
            </a:solidFill>
            <a:prstDash val="dash"/>
            <a:miter lim="800000"/>
            <a:headEnd/>
            <a:tailEnd/>
          </a:ln>
        </p:spPr>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Pod</a:t>
            </a:r>
          </a:p>
        </p:txBody>
      </p:sp>
      <p:sp>
        <p:nvSpPr>
          <p:cNvPr id="17" name="TextBox 16">
            <a:extLst>
              <a:ext uri="{FF2B5EF4-FFF2-40B4-BE49-F238E27FC236}">
                <a16:creationId xmlns:a16="http://schemas.microsoft.com/office/drawing/2014/main" id="{D139FEFC-B3E0-41A1-A62C-89812500AB8A}"/>
              </a:ext>
            </a:extLst>
          </p:cNvPr>
          <p:cNvSpPr txBox="1"/>
          <p:nvPr/>
        </p:nvSpPr>
        <p:spPr>
          <a:xfrm>
            <a:off x="1105477" y="5182994"/>
            <a:ext cx="2659225" cy="276999"/>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1800" b="1" i="1" kern="0" dirty="0">
                <a:solidFill>
                  <a:schemeClr val="accent5"/>
                </a:solidFill>
                <a:ea typeface="Arial Unicode MS" pitchFamily="34" charset="-128"/>
                <a:cs typeface="Arial Unicode MS" pitchFamily="34" charset="-128"/>
              </a:rPr>
              <a:t>/</a:t>
            </a:r>
            <a:r>
              <a:rPr lang="en-US" sz="1800" b="1" i="1" kern="0" dirty="0" err="1">
                <a:solidFill>
                  <a:schemeClr val="accent5"/>
                </a:solidFill>
                <a:ea typeface="Arial Unicode MS" pitchFamily="34" charset="-128"/>
                <a:cs typeface="Arial Unicode MS" pitchFamily="34" charset="-128"/>
              </a:rPr>
              <a:t>mnt</a:t>
            </a:r>
            <a:r>
              <a:rPr lang="en-US" sz="1800" b="1" i="1" kern="0" dirty="0">
                <a:solidFill>
                  <a:schemeClr val="accent5"/>
                </a:solidFill>
                <a:ea typeface="Arial Unicode MS" pitchFamily="34" charset="-128"/>
                <a:cs typeface="Arial Unicode MS" pitchFamily="34" charset="-128"/>
              </a:rPr>
              <a:t>/</a:t>
            </a:r>
            <a:r>
              <a:rPr lang="en-US" sz="1800" b="1" i="1" kern="0" dirty="0" err="1">
                <a:solidFill>
                  <a:schemeClr val="accent5"/>
                </a:solidFill>
                <a:ea typeface="Arial Unicode MS" pitchFamily="34" charset="-128"/>
                <a:cs typeface="Arial Unicode MS" pitchFamily="34" charset="-128"/>
              </a:rPr>
              <a:t>gce</a:t>
            </a:r>
            <a:r>
              <a:rPr lang="en-US" sz="1800" b="1" i="1" kern="0" dirty="0">
                <a:solidFill>
                  <a:schemeClr val="accent5"/>
                </a:solidFill>
                <a:ea typeface="Arial Unicode MS" pitchFamily="34" charset="-128"/>
                <a:cs typeface="Arial Unicode MS" pitchFamily="34" charset="-128"/>
              </a:rPr>
              <a:t>-pd-volume/</a:t>
            </a:r>
          </a:p>
        </p:txBody>
      </p:sp>
      <p:cxnSp>
        <p:nvCxnSpPr>
          <p:cNvPr id="21" name="Connector: Elbow 20">
            <a:extLst>
              <a:ext uri="{FF2B5EF4-FFF2-40B4-BE49-F238E27FC236}">
                <a16:creationId xmlns:a16="http://schemas.microsoft.com/office/drawing/2014/main" id="{F7361A46-7B35-4E09-B259-AA86FD4D6B79}"/>
              </a:ext>
            </a:extLst>
          </p:cNvPr>
          <p:cNvCxnSpPr>
            <a:cxnSpLocks/>
            <a:stCxn id="17" idx="3"/>
            <a:endCxn id="5" idx="3"/>
          </p:cNvCxnSpPr>
          <p:nvPr/>
        </p:nvCxnSpPr>
        <p:spPr>
          <a:xfrm flipH="1" flipV="1">
            <a:off x="3637455" y="2951369"/>
            <a:ext cx="127247" cy="2370125"/>
          </a:xfrm>
          <a:prstGeom prst="bentConnector3">
            <a:avLst>
              <a:gd name="adj1" fmla="val -646743"/>
            </a:avLst>
          </a:prstGeom>
          <a:ln w="76200">
            <a:headEnd type="none" w="med" len="med"/>
            <a:tailEnd type="triangle"/>
          </a:ln>
        </p:spPr>
        <p:style>
          <a:lnRef idx="1">
            <a:schemeClr val="accent2"/>
          </a:lnRef>
          <a:fillRef idx="0">
            <a:schemeClr val="accent2"/>
          </a:fillRef>
          <a:effectRef idx="0">
            <a:schemeClr val="accent2"/>
          </a:effectRef>
          <a:fontRef idx="minor">
            <a:schemeClr val="tx1"/>
          </a:fontRef>
        </p:style>
      </p:cxnSp>
      <p:grpSp>
        <p:nvGrpSpPr>
          <p:cNvPr id="7" name="Group 6">
            <a:extLst>
              <a:ext uri="{FF2B5EF4-FFF2-40B4-BE49-F238E27FC236}">
                <a16:creationId xmlns:a16="http://schemas.microsoft.com/office/drawing/2014/main" id="{8154FFA1-6EF9-40ED-926C-58DFB177CAC4}"/>
              </a:ext>
            </a:extLst>
          </p:cNvPr>
          <p:cNvGrpSpPr/>
          <p:nvPr/>
        </p:nvGrpSpPr>
        <p:grpSpPr>
          <a:xfrm>
            <a:off x="5125731" y="1310764"/>
            <a:ext cx="1992118" cy="2583048"/>
            <a:chOff x="9638262" y="2348384"/>
            <a:chExt cx="1992118" cy="2583048"/>
          </a:xfrm>
        </p:grpSpPr>
        <p:pic>
          <p:nvPicPr>
            <p:cNvPr id="8" name="Graphic 7" descr="Database">
              <a:extLst>
                <a:ext uri="{FF2B5EF4-FFF2-40B4-BE49-F238E27FC236}">
                  <a16:creationId xmlns:a16="http://schemas.microsoft.com/office/drawing/2014/main" id="{91424F3F-1D0A-4E2E-93FA-2C0708021F9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638262" y="2782348"/>
              <a:ext cx="1992118" cy="1992118"/>
            </a:xfrm>
            <a:prstGeom prst="rect">
              <a:avLst/>
            </a:prstGeom>
          </p:spPr>
        </p:pic>
        <p:sp>
          <p:nvSpPr>
            <p:cNvPr id="13" name="TextBox 12">
              <a:extLst>
                <a:ext uri="{FF2B5EF4-FFF2-40B4-BE49-F238E27FC236}">
                  <a16:creationId xmlns:a16="http://schemas.microsoft.com/office/drawing/2014/main" id="{B41FC596-573E-4AE8-B730-E5EDE03ABBFA}"/>
                </a:ext>
              </a:extLst>
            </p:cNvPr>
            <p:cNvSpPr txBox="1"/>
            <p:nvPr/>
          </p:nvSpPr>
          <p:spPr>
            <a:xfrm>
              <a:off x="9656369" y="2348384"/>
              <a:ext cx="1955904" cy="553998"/>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1800" b="1" kern="0" dirty="0">
                  <a:ea typeface="Arial Unicode MS" pitchFamily="34" charset="-128"/>
                  <a:cs typeface="Arial Unicode MS" pitchFamily="34" charset="-128"/>
                </a:rPr>
                <a:t>10 GB      Persistent Disk </a:t>
              </a:r>
            </a:p>
          </p:txBody>
        </p:sp>
        <p:sp>
          <p:nvSpPr>
            <p:cNvPr id="41" name="TextBox 40">
              <a:extLst>
                <a:ext uri="{FF2B5EF4-FFF2-40B4-BE49-F238E27FC236}">
                  <a16:creationId xmlns:a16="http://schemas.microsoft.com/office/drawing/2014/main" id="{A5B6FDA5-3A11-48F6-B6C6-D8DA71C5C7A8}"/>
                </a:ext>
              </a:extLst>
            </p:cNvPr>
            <p:cNvSpPr txBox="1"/>
            <p:nvPr/>
          </p:nvSpPr>
          <p:spPr>
            <a:xfrm>
              <a:off x="9656369" y="4654433"/>
              <a:ext cx="1955904" cy="276999"/>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1800" b="1" i="1" kern="0" dirty="0">
                  <a:solidFill>
                    <a:schemeClr val="accent5"/>
                  </a:solidFill>
                  <a:ea typeface="Arial Unicode MS" pitchFamily="34" charset="-128"/>
                  <a:cs typeface="Arial Unicode MS" pitchFamily="34" charset="-128"/>
                </a:rPr>
                <a:t>/dev/</a:t>
              </a:r>
              <a:r>
                <a:rPr lang="en-US" sz="1800" b="1" i="1" kern="0" dirty="0" err="1">
                  <a:solidFill>
                    <a:schemeClr val="accent5"/>
                  </a:solidFill>
                  <a:ea typeface="Arial Unicode MS" pitchFamily="34" charset="-128"/>
                  <a:cs typeface="Arial Unicode MS" pitchFamily="34" charset="-128"/>
                </a:rPr>
                <a:t>sdb</a:t>
              </a:r>
              <a:endParaRPr lang="en-US" sz="1800" b="1" i="1" kern="0" dirty="0">
                <a:solidFill>
                  <a:schemeClr val="accent5"/>
                </a:solidFill>
                <a:ea typeface="Arial Unicode MS" pitchFamily="34" charset="-128"/>
                <a:cs typeface="Arial Unicode MS" pitchFamily="34" charset="-128"/>
              </a:endParaRPr>
            </a:p>
          </p:txBody>
        </p:sp>
      </p:grpSp>
      <p:sp>
        <p:nvSpPr>
          <p:cNvPr id="22" name="Rectangle 21">
            <a:extLst>
              <a:ext uri="{FF2B5EF4-FFF2-40B4-BE49-F238E27FC236}">
                <a16:creationId xmlns:a16="http://schemas.microsoft.com/office/drawing/2014/main" id="{17A03B74-0A8F-446F-8FB4-2823A9A0B4D5}"/>
              </a:ext>
            </a:extLst>
          </p:cNvPr>
          <p:cNvSpPr/>
          <p:nvPr/>
        </p:nvSpPr>
        <p:spPr bwMode="gray">
          <a:xfrm>
            <a:off x="7919624" y="1209500"/>
            <a:ext cx="3815027" cy="4439000"/>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r>
              <a:rPr lang="de-DE" sz="2400" b="1" kern="0" dirty="0" err="1">
                <a:ea typeface="Arial Unicode MS" pitchFamily="34" charset="-128"/>
                <a:cs typeface="Arial Unicode MS" pitchFamily="34" charset="-128"/>
              </a:rPr>
              <a:t>Node</a:t>
            </a:r>
            <a:r>
              <a:rPr lang="de-DE" sz="2400" b="1" kern="0" dirty="0">
                <a:ea typeface="Arial Unicode MS" pitchFamily="34" charset="-128"/>
                <a:cs typeface="Arial Unicode MS" pitchFamily="34" charset="-128"/>
              </a:rPr>
              <a:t> 2</a:t>
            </a:r>
          </a:p>
        </p:txBody>
      </p:sp>
      <p:sp>
        <p:nvSpPr>
          <p:cNvPr id="23" name="Rectangle 22">
            <a:extLst>
              <a:ext uri="{FF2B5EF4-FFF2-40B4-BE49-F238E27FC236}">
                <a16:creationId xmlns:a16="http://schemas.microsoft.com/office/drawing/2014/main" id="{FF49F2F2-D2A1-4B14-BBD5-DA6639A9A5A8}"/>
              </a:ext>
            </a:extLst>
          </p:cNvPr>
          <p:cNvSpPr/>
          <p:nvPr/>
        </p:nvSpPr>
        <p:spPr bwMode="gray">
          <a:xfrm>
            <a:off x="8128365" y="1839204"/>
            <a:ext cx="3434836" cy="3149193"/>
          </a:xfrm>
          <a:prstGeom prst="rect">
            <a:avLst/>
          </a:prstGeom>
          <a:solidFill>
            <a:schemeClr val="accent1">
              <a:lumMod val="60000"/>
              <a:lumOff val="40000"/>
            </a:schemeClr>
          </a:solidFill>
          <a:ln>
            <a:headEnd/>
            <a:tailEnd/>
          </a:ln>
        </p:spPr>
        <p:style>
          <a:lnRef idx="1">
            <a:schemeClr val="accent1"/>
          </a:lnRef>
          <a:fillRef idx="2">
            <a:schemeClr val="accent1"/>
          </a:fillRef>
          <a:effectRef idx="1">
            <a:schemeClr val="accent1"/>
          </a:effectRef>
          <a:fontRef idx="minor">
            <a:schemeClr val="dk1"/>
          </a:fontRef>
        </p:style>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lang="de-DE" sz="2000" b="1" kern="0" noProof="0" dirty="0">
                <a:ea typeface="Arial Unicode MS" pitchFamily="34" charset="-128"/>
                <a:cs typeface="Arial Unicode MS" pitchFamily="34" charset="-128"/>
              </a:rPr>
              <a:t>D</a:t>
            </a:r>
            <a:r>
              <a:rPr kumimoji="0" lang="de-DE" sz="2000" b="1" i="0" strike="noStrike" kern="0" cap="none" spc="0" normalizeH="0" baseline="0" noProof="0" dirty="0">
                <a:ln>
                  <a:noFill/>
                </a:ln>
                <a:effectLst/>
                <a:uLnTx/>
                <a:uFillTx/>
                <a:ea typeface="Arial Unicode MS" pitchFamily="34" charset="-128"/>
                <a:cs typeface="Arial Unicode MS" pitchFamily="34" charset="-128"/>
              </a:rPr>
              <a:t>ocker</a:t>
            </a:r>
            <a:endParaRPr kumimoji="0" lang="de-DE" sz="2400" b="1" i="0" strike="noStrike" kern="0" cap="none" spc="0" normalizeH="0" baseline="0" noProof="0" dirty="0">
              <a:ln>
                <a:noFill/>
              </a:ln>
              <a:effectLst/>
              <a:uLnTx/>
              <a:uFillTx/>
              <a:ea typeface="Arial Unicode MS" pitchFamily="34" charset="-128"/>
              <a:cs typeface="Arial Unicode MS" pitchFamily="34" charset="-128"/>
            </a:endParaRPr>
          </a:p>
        </p:txBody>
      </p:sp>
      <p:sp>
        <p:nvSpPr>
          <p:cNvPr id="24" name="Rectangle 23">
            <a:extLst>
              <a:ext uri="{FF2B5EF4-FFF2-40B4-BE49-F238E27FC236}">
                <a16:creationId xmlns:a16="http://schemas.microsoft.com/office/drawing/2014/main" id="{1BB078D3-3606-4C62-98F8-8C3ECD54EB97}"/>
              </a:ext>
            </a:extLst>
          </p:cNvPr>
          <p:cNvSpPr/>
          <p:nvPr/>
        </p:nvSpPr>
        <p:spPr bwMode="gray">
          <a:xfrm>
            <a:off x="8643417" y="2241660"/>
            <a:ext cx="2404732" cy="1449781"/>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b="1" kern="0" noProof="0" dirty="0">
                <a:ea typeface="Arial Unicode MS" pitchFamily="34" charset="-128"/>
                <a:cs typeface="Arial Unicode MS" pitchFamily="34" charset="-128"/>
              </a:rPr>
              <a:t>Container</a:t>
            </a:r>
          </a:p>
          <a:p>
            <a:pPr marR="0" algn="ctr" defTabSz="914400" eaLnBrk="1" fontAlgn="base" latinLnBrk="0" hangingPunct="1">
              <a:lnSpc>
                <a:spcPct val="100000"/>
              </a:lnSpc>
              <a:spcBef>
                <a:spcPct val="50000"/>
              </a:spcBef>
              <a:spcAft>
                <a:spcPct val="0"/>
              </a:spcAft>
              <a:buClr>
                <a:srgbClr val="F0AB00"/>
              </a:buClr>
              <a:buSzPct val="80000"/>
              <a:tabLst/>
            </a:pPr>
            <a:r>
              <a:rPr kumimoji="0" lang="de-DE" sz="1600" i="1" u="none" strike="noStrike" kern="0" cap="none" spc="0" normalizeH="0" baseline="0" dirty="0">
                <a:ln>
                  <a:noFill/>
                </a:ln>
                <a:effectLst/>
                <a:uLnTx/>
                <a:uFillTx/>
                <a:ea typeface="Arial Unicode MS" pitchFamily="34" charset="-128"/>
                <a:cs typeface="Arial Unicode MS" pitchFamily="34" charset="-128"/>
              </a:rPr>
              <a:t>/</a:t>
            </a:r>
            <a:r>
              <a:rPr kumimoji="0" lang="de-DE" sz="1600" i="1" u="none" strike="noStrike" kern="0" cap="none" spc="0" normalizeH="0" baseline="0" dirty="0" err="1">
                <a:ln>
                  <a:noFill/>
                </a:ln>
                <a:effectLst/>
                <a:uLnTx/>
                <a:uFillTx/>
                <a:ea typeface="Arial Unicode MS" pitchFamily="34" charset="-128"/>
                <a:cs typeface="Arial Unicode MS" pitchFamily="34" charset="-128"/>
              </a:rPr>
              <a:t>usr</a:t>
            </a:r>
            <a:r>
              <a:rPr kumimoji="0" lang="de-DE" sz="1600" i="1" u="none" strike="noStrike" kern="0" cap="none" spc="0" normalizeH="0" baseline="0" dirty="0">
                <a:ln>
                  <a:noFill/>
                </a:ln>
                <a:effectLst/>
                <a:uLnTx/>
                <a:uFillTx/>
                <a:ea typeface="Arial Unicode MS" pitchFamily="34" charset="-128"/>
                <a:cs typeface="Arial Unicode MS" pitchFamily="34" charset="-128"/>
              </a:rPr>
              <a:t>/</a:t>
            </a:r>
            <a:r>
              <a:rPr kumimoji="0" lang="de-DE" sz="1600" i="1" u="none" strike="noStrike" kern="0" cap="none" spc="0" normalizeH="0" baseline="0" dirty="0" err="1">
                <a:ln>
                  <a:noFill/>
                </a:ln>
                <a:effectLst/>
                <a:uLnTx/>
                <a:uFillTx/>
                <a:ea typeface="Arial Unicode MS" pitchFamily="34" charset="-128"/>
                <a:cs typeface="Arial Unicode MS" pitchFamily="34" charset="-128"/>
              </a:rPr>
              <a:t>share</a:t>
            </a:r>
            <a:r>
              <a:rPr kumimoji="0" lang="de-DE" sz="1600" i="1" u="none" strike="noStrike" kern="0" cap="none" spc="0" normalizeH="0" baseline="0" dirty="0">
                <a:ln>
                  <a:noFill/>
                </a:ln>
                <a:effectLst/>
                <a:uLnTx/>
                <a:uFillTx/>
                <a:ea typeface="Arial Unicode MS" pitchFamily="34" charset="-128"/>
                <a:cs typeface="Arial Unicode MS" pitchFamily="34" charset="-128"/>
              </a:rPr>
              <a:t>/</a:t>
            </a:r>
            <a:r>
              <a:rPr kumimoji="0" lang="de-DE" sz="1600" i="1" u="none" strike="noStrike" kern="0" cap="none" spc="0" normalizeH="0" baseline="0" dirty="0" err="1">
                <a:ln>
                  <a:noFill/>
                </a:ln>
                <a:effectLst/>
                <a:uLnTx/>
                <a:uFillTx/>
                <a:ea typeface="Arial Unicode MS" pitchFamily="34" charset="-128"/>
                <a:cs typeface="Arial Unicode MS" pitchFamily="34" charset="-128"/>
              </a:rPr>
              <a:t>nginx</a:t>
            </a:r>
            <a:r>
              <a:rPr kumimoji="0" lang="de-DE" sz="1600" i="1" u="none" strike="noStrike" kern="0" cap="none" spc="0" normalizeH="0" baseline="0" dirty="0">
                <a:ln>
                  <a:noFill/>
                </a:ln>
                <a:effectLst/>
                <a:uLnTx/>
                <a:uFillTx/>
                <a:ea typeface="Arial Unicode MS" pitchFamily="34" charset="-128"/>
                <a:cs typeface="Arial Unicode MS" pitchFamily="34" charset="-128"/>
              </a:rPr>
              <a:t>/</a:t>
            </a:r>
            <a:r>
              <a:rPr kumimoji="0" lang="de-DE" sz="1600" i="1" u="none" strike="noStrike" kern="0" cap="none" spc="0" normalizeH="0" baseline="0" dirty="0" err="1">
                <a:ln>
                  <a:noFill/>
                </a:ln>
                <a:effectLst/>
                <a:uLnTx/>
                <a:uFillTx/>
                <a:ea typeface="Arial Unicode MS" pitchFamily="34" charset="-128"/>
                <a:cs typeface="Arial Unicode MS" pitchFamily="34" charset="-128"/>
              </a:rPr>
              <a:t>html</a:t>
            </a:r>
            <a:endParaRPr kumimoji="0" lang="de-DE" sz="1600" i="1" u="none" strike="noStrike" kern="0" cap="none" spc="0" normalizeH="0" baseline="0" noProof="0" dirty="0">
              <a:ln>
                <a:noFill/>
              </a:ln>
              <a:effectLst/>
              <a:uLnTx/>
              <a:uFillTx/>
              <a:ea typeface="Arial Unicode MS" pitchFamily="34" charset="-128"/>
              <a:cs typeface="Arial Unicode MS" pitchFamily="34" charset="-128"/>
            </a:endParaRPr>
          </a:p>
        </p:txBody>
      </p:sp>
      <p:sp>
        <p:nvSpPr>
          <p:cNvPr id="25" name="Rectangle: Rounded Corners 24">
            <a:extLst>
              <a:ext uri="{FF2B5EF4-FFF2-40B4-BE49-F238E27FC236}">
                <a16:creationId xmlns:a16="http://schemas.microsoft.com/office/drawing/2014/main" id="{AD575484-18CD-4213-9325-F637BF4EE2C5}"/>
              </a:ext>
            </a:extLst>
          </p:cNvPr>
          <p:cNvSpPr/>
          <p:nvPr/>
        </p:nvSpPr>
        <p:spPr bwMode="gray">
          <a:xfrm>
            <a:off x="8361166" y="2040628"/>
            <a:ext cx="2969234" cy="2163998"/>
          </a:xfrm>
          <a:prstGeom prst="roundRect">
            <a:avLst/>
          </a:prstGeom>
          <a:noFill/>
          <a:ln w="19050" algn="ctr">
            <a:solidFill>
              <a:schemeClr val="tx1"/>
            </a:solidFill>
            <a:prstDash val="dash"/>
            <a:miter lim="800000"/>
            <a:headEnd/>
            <a:tailEnd/>
          </a:ln>
        </p:spPr>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Pod</a:t>
            </a:r>
          </a:p>
        </p:txBody>
      </p:sp>
      <p:sp>
        <p:nvSpPr>
          <p:cNvPr id="26" name="TextBox 25">
            <a:extLst>
              <a:ext uri="{FF2B5EF4-FFF2-40B4-BE49-F238E27FC236}">
                <a16:creationId xmlns:a16="http://schemas.microsoft.com/office/drawing/2014/main" id="{705404ED-84FE-4C34-A865-D8C3E182A202}"/>
              </a:ext>
            </a:extLst>
          </p:cNvPr>
          <p:cNvSpPr txBox="1"/>
          <p:nvPr/>
        </p:nvSpPr>
        <p:spPr>
          <a:xfrm>
            <a:off x="8516171" y="5198176"/>
            <a:ext cx="2659225" cy="276999"/>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1800" b="1" i="1" kern="0" dirty="0">
                <a:solidFill>
                  <a:schemeClr val="accent5"/>
                </a:solidFill>
                <a:ea typeface="Arial Unicode MS" pitchFamily="34" charset="-128"/>
                <a:cs typeface="Arial Unicode MS" pitchFamily="34" charset="-128"/>
              </a:rPr>
              <a:t>/</a:t>
            </a:r>
            <a:r>
              <a:rPr lang="en-US" sz="1800" b="1" i="1" kern="0" dirty="0" err="1">
                <a:solidFill>
                  <a:schemeClr val="accent5"/>
                </a:solidFill>
                <a:ea typeface="Arial Unicode MS" pitchFamily="34" charset="-128"/>
                <a:cs typeface="Arial Unicode MS" pitchFamily="34" charset="-128"/>
              </a:rPr>
              <a:t>mnt</a:t>
            </a:r>
            <a:r>
              <a:rPr lang="en-US" sz="1800" b="1" i="1" kern="0" dirty="0">
                <a:solidFill>
                  <a:schemeClr val="accent5"/>
                </a:solidFill>
                <a:ea typeface="Arial Unicode MS" pitchFamily="34" charset="-128"/>
                <a:cs typeface="Arial Unicode MS" pitchFamily="34" charset="-128"/>
              </a:rPr>
              <a:t>/</a:t>
            </a:r>
            <a:r>
              <a:rPr lang="en-US" sz="1800" b="1" i="1" kern="0" dirty="0" err="1">
                <a:solidFill>
                  <a:schemeClr val="accent5"/>
                </a:solidFill>
                <a:ea typeface="Arial Unicode MS" pitchFamily="34" charset="-128"/>
                <a:cs typeface="Arial Unicode MS" pitchFamily="34" charset="-128"/>
              </a:rPr>
              <a:t>gce</a:t>
            </a:r>
            <a:r>
              <a:rPr lang="en-US" sz="1800" b="1" i="1" kern="0" dirty="0">
                <a:solidFill>
                  <a:schemeClr val="accent5"/>
                </a:solidFill>
                <a:ea typeface="Arial Unicode MS" pitchFamily="34" charset="-128"/>
                <a:cs typeface="Arial Unicode MS" pitchFamily="34" charset="-128"/>
              </a:rPr>
              <a:t>-pd-volume/</a:t>
            </a:r>
          </a:p>
        </p:txBody>
      </p:sp>
      <p:cxnSp>
        <p:nvCxnSpPr>
          <p:cNvPr id="27" name="Connector: Elbow 26">
            <a:extLst>
              <a:ext uri="{FF2B5EF4-FFF2-40B4-BE49-F238E27FC236}">
                <a16:creationId xmlns:a16="http://schemas.microsoft.com/office/drawing/2014/main" id="{29B9707C-5250-4605-8216-E074F2243A62}"/>
              </a:ext>
            </a:extLst>
          </p:cNvPr>
          <p:cNvCxnSpPr>
            <a:cxnSpLocks/>
            <a:stCxn id="26" idx="3"/>
            <a:endCxn id="24" idx="3"/>
          </p:cNvCxnSpPr>
          <p:nvPr/>
        </p:nvCxnSpPr>
        <p:spPr>
          <a:xfrm flipH="1" flipV="1">
            <a:off x="11048149" y="2966551"/>
            <a:ext cx="127247" cy="2370125"/>
          </a:xfrm>
          <a:prstGeom prst="bentConnector3">
            <a:avLst>
              <a:gd name="adj1" fmla="val -646743"/>
            </a:avLst>
          </a:prstGeom>
          <a:ln w="76200">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10" name="Connector: Elbow 9">
            <a:extLst>
              <a:ext uri="{FF2B5EF4-FFF2-40B4-BE49-F238E27FC236}">
                <a16:creationId xmlns:a16="http://schemas.microsoft.com/office/drawing/2014/main" id="{7058B0CF-4E8B-44F0-AB4E-8A4167EF78D9}"/>
              </a:ext>
            </a:extLst>
          </p:cNvPr>
          <p:cNvCxnSpPr>
            <a:cxnSpLocks/>
            <a:stCxn id="41" idx="2"/>
            <a:endCxn id="17" idx="2"/>
          </p:cNvCxnSpPr>
          <p:nvPr/>
        </p:nvCxnSpPr>
        <p:spPr>
          <a:xfrm rot="5400000">
            <a:off x="3495350" y="2833552"/>
            <a:ext cx="1566181" cy="3686700"/>
          </a:xfrm>
          <a:prstGeom prst="bentConnector3">
            <a:avLst>
              <a:gd name="adj1" fmla="val 153276"/>
            </a:avLst>
          </a:prstGeom>
          <a:ln w="76200">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31" name="Connector: Elbow 30">
            <a:extLst>
              <a:ext uri="{FF2B5EF4-FFF2-40B4-BE49-F238E27FC236}">
                <a16:creationId xmlns:a16="http://schemas.microsoft.com/office/drawing/2014/main" id="{5D464955-1EEA-4566-AECB-EF1ADFE99C7F}"/>
              </a:ext>
            </a:extLst>
          </p:cNvPr>
          <p:cNvCxnSpPr>
            <a:cxnSpLocks/>
            <a:stCxn id="41" idx="2"/>
            <a:endCxn id="26" idx="2"/>
          </p:cNvCxnSpPr>
          <p:nvPr/>
        </p:nvCxnSpPr>
        <p:spPr>
          <a:xfrm rot="16200000" flipH="1">
            <a:off x="7193106" y="2822496"/>
            <a:ext cx="1581363" cy="3723994"/>
          </a:xfrm>
          <a:prstGeom prst="bentConnector3">
            <a:avLst>
              <a:gd name="adj1" fmla="val 151319"/>
            </a:avLst>
          </a:prstGeom>
          <a:ln w="76200">
            <a:headEnd type="none" w="med" len="med"/>
            <a:tailEnd type="triangle"/>
          </a:ln>
        </p:spPr>
        <p:style>
          <a:lnRef idx="1">
            <a:schemeClr val="accent2"/>
          </a:lnRef>
          <a:fillRef idx="0">
            <a:schemeClr val="accent2"/>
          </a:fillRef>
          <a:effectRef idx="0">
            <a:schemeClr val="accent2"/>
          </a:effectRef>
          <a:fontRef idx="minor">
            <a:schemeClr val="tx1"/>
          </a:fontRef>
        </p:style>
      </p:cxnSp>
      <p:sp>
        <p:nvSpPr>
          <p:cNvPr id="34" name="Speech Bubble: Rectangle 33">
            <a:extLst>
              <a:ext uri="{FF2B5EF4-FFF2-40B4-BE49-F238E27FC236}">
                <a16:creationId xmlns:a16="http://schemas.microsoft.com/office/drawing/2014/main" id="{02F1BB7E-F5B4-4CDD-8F67-83E7478969BE}"/>
              </a:ext>
            </a:extLst>
          </p:cNvPr>
          <p:cNvSpPr/>
          <p:nvPr/>
        </p:nvSpPr>
        <p:spPr bwMode="gray">
          <a:xfrm>
            <a:off x="4912743" y="4696682"/>
            <a:ext cx="2257265" cy="636814"/>
          </a:xfrm>
          <a:prstGeom prst="wedgeRectCallout">
            <a:avLst>
              <a:gd name="adj1" fmla="val -58399"/>
              <a:gd name="adj2" fmla="val 176901"/>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Mount disk        </a:t>
            </a:r>
            <a:r>
              <a:rPr lang="en-US" sz="1800" b="1" kern="0" dirty="0">
                <a:ea typeface="Arial Unicode MS" pitchFamily="34" charset="-128"/>
                <a:cs typeface="Arial Unicode MS" pitchFamily="34" charset="-128"/>
              </a:rPr>
              <a:t>read-write</a:t>
            </a:r>
            <a:endParaRPr kumimoji="0" lang="en-US" sz="1800" b="1" i="0" u="none" strike="noStrike" kern="0" cap="none" spc="0" normalizeH="0" baseline="0" noProof="0" dirty="0" err="1">
              <a:ln>
                <a:noFill/>
              </a:ln>
              <a:effectLst/>
              <a:uLnTx/>
              <a:uFillTx/>
              <a:ea typeface="Arial Unicode MS" pitchFamily="34" charset="-128"/>
              <a:cs typeface="Arial Unicode MS" pitchFamily="34" charset="-128"/>
            </a:endParaRPr>
          </a:p>
        </p:txBody>
      </p:sp>
      <p:pic>
        <p:nvPicPr>
          <p:cNvPr id="39" name="Graphic 38" descr="High voltage">
            <a:extLst>
              <a:ext uri="{FF2B5EF4-FFF2-40B4-BE49-F238E27FC236}">
                <a16:creationId xmlns:a16="http://schemas.microsoft.com/office/drawing/2014/main" id="{47D312D4-B86A-427B-A3EA-E3453281F64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808286" y="5098810"/>
            <a:ext cx="1179235" cy="1179235"/>
          </a:xfrm>
          <a:prstGeom prst="rect">
            <a:avLst/>
          </a:prstGeom>
        </p:spPr>
      </p:pic>
    </p:spTree>
    <p:extLst>
      <p:ext uri="{BB962C8B-B14F-4D97-AF65-F5344CB8AC3E}">
        <p14:creationId xmlns:p14="http://schemas.microsoft.com/office/powerpoint/2010/main" val="39923643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1"/>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7"/>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0234DD-73A1-402F-B475-DA6E6D6E031B}"/>
              </a:ext>
            </a:extLst>
          </p:cNvPr>
          <p:cNvSpPr>
            <a:spLocks noGrp="1"/>
          </p:cNvSpPr>
          <p:nvPr>
            <p:ph type="title"/>
          </p:nvPr>
        </p:nvSpPr>
        <p:spPr>
          <a:xfrm>
            <a:off x="504001" y="504000"/>
            <a:ext cx="11186476" cy="369332"/>
          </a:xfrm>
        </p:spPr>
        <p:txBody>
          <a:bodyPr/>
          <a:lstStyle/>
          <a:p>
            <a:r>
              <a:rPr lang="en-US" dirty="0"/>
              <a:t>What happens in the background …</a:t>
            </a:r>
          </a:p>
        </p:txBody>
      </p:sp>
      <p:sp>
        <p:nvSpPr>
          <p:cNvPr id="3" name="Rectangle 2">
            <a:extLst>
              <a:ext uri="{FF2B5EF4-FFF2-40B4-BE49-F238E27FC236}">
                <a16:creationId xmlns:a16="http://schemas.microsoft.com/office/drawing/2014/main" id="{72112438-74E8-4D00-9C25-8F0D762876A1}"/>
              </a:ext>
            </a:extLst>
          </p:cNvPr>
          <p:cNvSpPr/>
          <p:nvPr/>
        </p:nvSpPr>
        <p:spPr bwMode="gray">
          <a:xfrm>
            <a:off x="508930" y="1194318"/>
            <a:ext cx="3815027" cy="4439000"/>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r>
              <a:rPr lang="de-DE" sz="2400" b="1" kern="0" dirty="0" err="1">
                <a:ea typeface="Arial Unicode MS" pitchFamily="34" charset="-128"/>
                <a:cs typeface="Arial Unicode MS" pitchFamily="34" charset="-128"/>
              </a:rPr>
              <a:t>Node</a:t>
            </a:r>
            <a:r>
              <a:rPr lang="de-DE" sz="2400" b="1" kern="0" dirty="0">
                <a:ea typeface="Arial Unicode MS" pitchFamily="34" charset="-128"/>
                <a:cs typeface="Arial Unicode MS" pitchFamily="34" charset="-128"/>
              </a:rPr>
              <a:t> 1</a:t>
            </a:r>
          </a:p>
        </p:txBody>
      </p:sp>
      <p:sp>
        <p:nvSpPr>
          <p:cNvPr id="4" name="Rectangle 3">
            <a:extLst>
              <a:ext uri="{FF2B5EF4-FFF2-40B4-BE49-F238E27FC236}">
                <a16:creationId xmlns:a16="http://schemas.microsoft.com/office/drawing/2014/main" id="{660740E0-E110-40F4-B654-BF64B5C3974C}"/>
              </a:ext>
            </a:extLst>
          </p:cNvPr>
          <p:cNvSpPr/>
          <p:nvPr/>
        </p:nvSpPr>
        <p:spPr bwMode="gray">
          <a:xfrm>
            <a:off x="717671" y="1824022"/>
            <a:ext cx="3434836" cy="3149193"/>
          </a:xfrm>
          <a:prstGeom prst="rect">
            <a:avLst/>
          </a:prstGeom>
          <a:solidFill>
            <a:schemeClr val="accent1">
              <a:lumMod val="60000"/>
              <a:lumOff val="40000"/>
            </a:schemeClr>
          </a:solidFill>
          <a:ln>
            <a:headEnd/>
            <a:tailEnd/>
          </a:ln>
        </p:spPr>
        <p:style>
          <a:lnRef idx="1">
            <a:schemeClr val="accent1"/>
          </a:lnRef>
          <a:fillRef idx="2">
            <a:schemeClr val="accent1"/>
          </a:fillRef>
          <a:effectRef idx="1">
            <a:schemeClr val="accent1"/>
          </a:effectRef>
          <a:fontRef idx="minor">
            <a:schemeClr val="dk1"/>
          </a:fontRef>
        </p:style>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lang="de-DE" sz="2000" b="1" kern="0" noProof="0" dirty="0">
                <a:ea typeface="Arial Unicode MS" pitchFamily="34" charset="-128"/>
                <a:cs typeface="Arial Unicode MS" pitchFamily="34" charset="-128"/>
              </a:rPr>
              <a:t>D</a:t>
            </a:r>
            <a:r>
              <a:rPr kumimoji="0" lang="de-DE" sz="2000" b="1" i="0" strike="noStrike" kern="0" cap="none" spc="0" normalizeH="0" baseline="0" noProof="0" dirty="0">
                <a:ln>
                  <a:noFill/>
                </a:ln>
                <a:effectLst/>
                <a:uLnTx/>
                <a:uFillTx/>
                <a:ea typeface="Arial Unicode MS" pitchFamily="34" charset="-128"/>
                <a:cs typeface="Arial Unicode MS" pitchFamily="34" charset="-128"/>
              </a:rPr>
              <a:t>ocker</a:t>
            </a:r>
            <a:endParaRPr kumimoji="0" lang="de-DE" sz="2400" b="1" i="0" strike="noStrike" kern="0" cap="none" spc="0" normalizeH="0" baseline="0" noProof="0" dirty="0">
              <a:ln>
                <a:noFill/>
              </a:ln>
              <a:effectLst/>
              <a:uLnTx/>
              <a:uFillTx/>
              <a:ea typeface="Arial Unicode MS" pitchFamily="34" charset="-128"/>
              <a:cs typeface="Arial Unicode MS" pitchFamily="34" charset="-128"/>
            </a:endParaRPr>
          </a:p>
        </p:txBody>
      </p:sp>
      <p:sp>
        <p:nvSpPr>
          <p:cNvPr id="5" name="Rectangle 4">
            <a:extLst>
              <a:ext uri="{FF2B5EF4-FFF2-40B4-BE49-F238E27FC236}">
                <a16:creationId xmlns:a16="http://schemas.microsoft.com/office/drawing/2014/main" id="{4057C0D8-57A8-4B70-9D4A-B8773F041256}"/>
              </a:ext>
            </a:extLst>
          </p:cNvPr>
          <p:cNvSpPr/>
          <p:nvPr/>
        </p:nvSpPr>
        <p:spPr bwMode="gray">
          <a:xfrm>
            <a:off x="1232723" y="2226478"/>
            <a:ext cx="2404732" cy="1449781"/>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b="1" kern="0" noProof="0" dirty="0">
                <a:ea typeface="Arial Unicode MS" pitchFamily="34" charset="-128"/>
                <a:cs typeface="Arial Unicode MS" pitchFamily="34" charset="-128"/>
              </a:rPr>
              <a:t>Container</a:t>
            </a:r>
          </a:p>
          <a:p>
            <a:pPr marR="0" algn="ctr" defTabSz="914400" eaLnBrk="1" fontAlgn="base" latinLnBrk="0" hangingPunct="1">
              <a:lnSpc>
                <a:spcPct val="100000"/>
              </a:lnSpc>
              <a:spcBef>
                <a:spcPct val="50000"/>
              </a:spcBef>
              <a:spcAft>
                <a:spcPct val="0"/>
              </a:spcAft>
              <a:buClr>
                <a:srgbClr val="F0AB00"/>
              </a:buClr>
              <a:buSzPct val="80000"/>
              <a:tabLst/>
            </a:pPr>
            <a:r>
              <a:rPr kumimoji="0" lang="de-DE" sz="1600" i="1" u="none" strike="noStrike" kern="0" cap="none" spc="0" normalizeH="0" baseline="0" dirty="0">
                <a:ln>
                  <a:noFill/>
                </a:ln>
                <a:effectLst/>
                <a:uLnTx/>
                <a:uFillTx/>
                <a:ea typeface="Arial Unicode MS" pitchFamily="34" charset="-128"/>
                <a:cs typeface="Arial Unicode MS" pitchFamily="34" charset="-128"/>
              </a:rPr>
              <a:t>/</a:t>
            </a:r>
            <a:r>
              <a:rPr kumimoji="0" lang="de-DE" sz="1600" i="1" u="none" strike="noStrike" kern="0" cap="none" spc="0" normalizeH="0" baseline="0" dirty="0" err="1">
                <a:ln>
                  <a:noFill/>
                </a:ln>
                <a:effectLst/>
                <a:uLnTx/>
                <a:uFillTx/>
                <a:ea typeface="Arial Unicode MS" pitchFamily="34" charset="-128"/>
                <a:cs typeface="Arial Unicode MS" pitchFamily="34" charset="-128"/>
              </a:rPr>
              <a:t>usr</a:t>
            </a:r>
            <a:r>
              <a:rPr kumimoji="0" lang="de-DE" sz="1600" i="1" u="none" strike="noStrike" kern="0" cap="none" spc="0" normalizeH="0" baseline="0" dirty="0">
                <a:ln>
                  <a:noFill/>
                </a:ln>
                <a:effectLst/>
                <a:uLnTx/>
                <a:uFillTx/>
                <a:ea typeface="Arial Unicode MS" pitchFamily="34" charset="-128"/>
                <a:cs typeface="Arial Unicode MS" pitchFamily="34" charset="-128"/>
              </a:rPr>
              <a:t>/</a:t>
            </a:r>
            <a:r>
              <a:rPr kumimoji="0" lang="de-DE" sz="1600" i="1" u="none" strike="noStrike" kern="0" cap="none" spc="0" normalizeH="0" baseline="0" dirty="0" err="1">
                <a:ln>
                  <a:noFill/>
                </a:ln>
                <a:effectLst/>
                <a:uLnTx/>
                <a:uFillTx/>
                <a:ea typeface="Arial Unicode MS" pitchFamily="34" charset="-128"/>
                <a:cs typeface="Arial Unicode MS" pitchFamily="34" charset="-128"/>
              </a:rPr>
              <a:t>share</a:t>
            </a:r>
            <a:r>
              <a:rPr kumimoji="0" lang="de-DE" sz="1600" i="1" u="none" strike="noStrike" kern="0" cap="none" spc="0" normalizeH="0" baseline="0" dirty="0">
                <a:ln>
                  <a:noFill/>
                </a:ln>
                <a:effectLst/>
                <a:uLnTx/>
                <a:uFillTx/>
                <a:ea typeface="Arial Unicode MS" pitchFamily="34" charset="-128"/>
                <a:cs typeface="Arial Unicode MS" pitchFamily="34" charset="-128"/>
              </a:rPr>
              <a:t>/</a:t>
            </a:r>
            <a:r>
              <a:rPr kumimoji="0" lang="de-DE" sz="1600" i="1" u="none" strike="noStrike" kern="0" cap="none" spc="0" normalizeH="0" baseline="0" dirty="0" err="1">
                <a:ln>
                  <a:noFill/>
                </a:ln>
                <a:effectLst/>
                <a:uLnTx/>
                <a:uFillTx/>
                <a:ea typeface="Arial Unicode MS" pitchFamily="34" charset="-128"/>
                <a:cs typeface="Arial Unicode MS" pitchFamily="34" charset="-128"/>
              </a:rPr>
              <a:t>nginx</a:t>
            </a:r>
            <a:r>
              <a:rPr kumimoji="0" lang="de-DE" sz="1600" i="1" u="none" strike="noStrike" kern="0" cap="none" spc="0" normalizeH="0" baseline="0" dirty="0">
                <a:ln>
                  <a:noFill/>
                </a:ln>
                <a:effectLst/>
                <a:uLnTx/>
                <a:uFillTx/>
                <a:ea typeface="Arial Unicode MS" pitchFamily="34" charset="-128"/>
                <a:cs typeface="Arial Unicode MS" pitchFamily="34" charset="-128"/>
              </a:rPr>
              <a:t>/</a:t>
            </a:r>
            <a:r>
              <a:rPr kumimoji="0" lang="de-DE" sz="1600" i="1" u="none" strike="noStrike" kern="0" cap="none" spc="0" normalizeH="0" baseline="0" dirty="0" err="1">
                <a:ln>
                  <a:noFill/>
                </a:ln>
                <a:effectLst/>
                <a:uLnTx/>
                <a:uFillTx/>
                <a:ea typeface="Arial Unicode MS" pitchFamily="34" charset="-128"/>
                <a:cs typeface="Arial Unicode MS" pitchFamily="34" charset="-128"/>
              </a:rPr>
              <a:t>html</a:t>
            </a:r>
            <a:endParaRPr kumimoji="0" lang="de-DE" sz="1600" i="1" u="none" strike="noStrike" kern="0" cap="none" spc="0" normalizeH="0" baseline="0" noProof="0" dirty="0">
              <a:ln>
                <a:noFill/>
              </a:ln>
              <a:effectLst/>
              <a:uLnTx/>
              <a:uFillTx/>
              <a:ea typeface="Arial Unicode MS" pitchFamily="34" charset="-128"/>
              <a:cs typeface="Arial Unicode MS" pitchFamily="34" charset="-128"/>
            </a:endParaRPr>
          </a:p>
        </p:txBody>
      </p:sp>
      <p:sp>
        <p:nvSpPr>
          <p:cNvPr id="6" name="Rectangle: Rounded Corners 5">
            <a:extLst>
              <a:ext uri="{FF2B5EF4-FFF2-40B4-BE49-F238E27FC236}">
                <a16:creationId xmlns:a16="http://schemas.microsoft.com/office/drawing/2014/main" id="{25830A98-D5F1-49CA-B6A9-D1D12437F037}"/>
              </a:ext>
            </a:extLst>
          </p:cNvPr>
          <p:cNvSpPr/>
          <p:nvPr/>
        </p:nvSpPr>
        <p:spPr bwMode="gray">
          <a:xfrm>
            <a:off x="950472" y="2025446"/>
            <a:ext cx="2969234" cy="2163998"/>
          </a:xfrm>
          <a:prstGeom prst="roundRect">
            <a:avLst/>
          </a:prstGeom>
          <a:noFill/>
          <a:ln w="19050" algn="ctr">
            <a:solidFill>
              <a:schemeClr val="tx1"/>
            </a:solidFill>
            <a:prstDash val="dash"/>
            <a:miter lim="800000"/>
            <a:headEnd/>
            <a:tailEnd/>
          </a:ln>
        </p:spPr>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Pod</a:t>
            </a:r>
          </a:p>
        </p:txBody>
      </p:sp>
      <p:sp>
        <p:nvSpPr>
          <p:cNvPr id="17" name="TextBox 16">
            <a:extLst>
              <a:ext uri="{FF2B5EF4-FFF2-40B4-BE49-F238E27FC236}">
                <a16:creationId xmlns:a16="http://schemas.microsoft.com/office/drawing/2014/main" id="{D139FEFC-B3E0-41A1-A62C-89812500AB8A}"/>
              </a:ext>
            </a:extLst>
          </p:cNvPr>
          <p:cNvSpPr txBox="1"/>
          <p:nvPr/>
        </p:nvSpPr>
        <p:spPr>
          <a:xfrm>
            <a:off x="1105477" y="5182994"/>
            <a:ext cx="2659225" cy="276999"/>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1800" b="1" i="1" kern="0" dirty="0">
                <a:solidFill>
                  <a:schemeClr val="accent5"/>
                </a:solidFill>
                <a:ea typeface="Arial Unicode MS" pitchFamily="34" charset="-128"/>
                <a:cs typeface="Arial Unicode MS" pitchFamily="34" charset="-128"/>
              </a:rPr>
              <a:t>/</a:t>
            </a:r>
            <a:r>
              <a:rPr lang="en-US" sz="1800" b="1" i="1" kern="0" dirty="0" err="1">
                <a:solidFill>
                  <a:schemeClr val="accent5"/>
                </a:solidFill>
                <a:ea typeface="Arial Unicode MS" pitchFamily="34" charset="-128"/>
                <a:cs typeface="Arial Unicode MS" pitchFamily="34" charset="-128"/>
              </a:rPr>
              <a:t>mnt</a:t>
            </a:r>
            <a:r>
              <a:rPr lang="en-US" sz="1800" b="1" i="1" kern="0" dirty="0">
                <a:solidFill>
                  <a:schemeClr val="accent5"/>
                </a:solidFill>
                <a:ea typeface="Arial Unicode MS" pitchFamily="34" charset="-128"/>
                <a:cs typeface="Arial Unicode MS" pitchFamily="34" charset="-128"/>
              </a:rPr>
              <a:t>/</a:t>
            </a:r>
            <a:r>
              <a:rPr lang="en-US" sz="1800" b="1" i="1" kern="0" dirty="0" err="1">
                <a:solidFill>
                  <a:schemeClr val="accent5"/>
                </a:solidFill>
                <a:ea typeface="Arial Unicode MS" pitchFamily="34" charset="-128"/>
                <a:cs typeface="Arial Unicode MS" pitchFamily="34" charset="-128"/>
              </a:rPr>
              <a:t>gce</a:t>
            </a:r>
            <a:r>
              <a:rPr lang="en-US" sz="1800" b="1" i="1" kern="0" dirty="0">
                <a:solidFill>
                  <a:schemeClr val="accent5"/>
                </a:solidFill>
                <a:ea typeface="Arial Unicode MS" pitchFamily="34" charset="-128"/>
                <a:cs typeface="Arial Unicode MS" pitchFamily="34" charset="-128"/>
              </a:rPr>
              <a:t>-pd-volume/</a:t>
            </a:r>
          </a:p>
        </p:txBody>
      </p:sp>
      <p:cxnSp>
        <p:nvCxnSpPr>
          <p:cNvPr id="21" name="Connector: Elbow 20">
            <a:extLst>
              <a:ext uri="{FF2B5EF4-FFF2-40B4-BE49-F238E27FC236}">
                <a16:creationId xmlns:a16="http://schemas.microsoft.com/office/drawing/2014/main" id="{F7361A46-7B35-4E09-B259-AA86FD4D6B79}"/>
              </a:ext>
            </a:extLst>
          </p:cNvPr>
          <p:cNvCxnSpPr>
            <a:cxnSpLocks/>
            <a:stCxn id="17" idx="3"/>
            <a:endCxn id="5" idx="3"/>
          </p:cNvCxnSpPr>
          <p:nvPr/>
        </p:nvCxnSpPr>
        <p:spPr>
          <a:xfrm flipH="1" flipV="1">
            <a:off x="3637455" y="2951369"/>
            <a:ext cx="127247" cy="2370125"/>
          </a:xfrm>
          <a:prstGeom prst="bentConnector3">
            <a:avLst>
              <a:gd name="adj1" fmla="val -646743"/>
            </a:avLst>
          </a:prstGeom>
          <a:ln w="76200">
            <a:headEnd type="none" w="med" len="med"/>
            <a:tailEnd type="triangle"/>
          </a:ln>
        </p:spPr>
        <p:style>
          <a:lnRef idx="1">
            <a:schemeClr val="accent2"/>
          </a:lnRef>
          <a:fillRef idx="0">
            <a:schemeClr val="accent2"/>
          </a:fillRef>
          <a:effectRef idx="0">
            <a:schemeClr val="accent2"/>
          </a:effectRef>
          <a:fontRef idx="minor">
            <a:schemeClr val="tx1"/>
          </a:fontRef>
        </p:style>
      </p:cxnSp>
      <p:grpSp>
        <p:nvGrpSpPr>
          <p:cNvPr id="7" name="Group 6">
            <a:extLst>
              <a:ext uri="{FF2B5EF4-FFF2-40B4-BE49-F238E27FC236}">
                <a16:creationId xmlns:a16="http://schemas.microsoft.com/office/drawing/2014/main" id="{8154FFA1-6EF9-40ED-926C-58DFB177CAC4}"/>
              </a:ext>
            </a:extLst>
          </p:cNvPr>
          <p:cNvGrpSpPr/>
          <p:nvPr/>
        </p:nvGrpSpPr>
        <p:grpSpPr>
          <a:xfrm>
            <a:off x="5125731" y="1310764"/>
            <a:ext cx="1992118" cy="2583048"/>
            <a:chOff x="9638262" y="2348384"/>
            <a:chExt cx="1992118" cy="2583048"/>
          </a:xfrm>
        </p:grpSpPr>
        <p:pic>
          <p:nvPicPr>
            <p:cNvPr id="8" name="Graphic 7" descr="Database">
              <a:extLst>
                <a:ext uri="{FF2B5EF4-FFF2-40B4-BE49-F238E27FC236}">
                  <a16:creationId xmlns:a16="http://schemas.microsoft.com/office/drawing/2014/main" id="{91424F3F-1D0A-4E2E-93FA-2C0708021F9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638262" y="2782348"/>
              <a:ext cx="1992118" cy="1992118"/>
            </a:xfrm>
            <a:prstGeom prst="rect">
              <a:avLst/>
            </a:prstGeom>
          </p:spPr>
        </p:pic>
        <p:sp>
          <p:nvSpPr>
            <p:cNvPr id="13" name="TextBox 12">
              <a:extLst>
                <a:ext uri="{FF2B5EF4-FFF2-40B4-BE49-F238E27FC236}">
                  <a16:creationId xmlns:a16="http://schemas.microsoft.com/office/drawing/2014/main" id="{B41FC596-573E-4AE8-B730-E5EDE03ABBFA}"/>
                </a:ext>
              </a:extLst>
            </p:cNvPr>
            <p:cNvSpPr txBox="1"/>
            <p:nvPr/>
          </p:nvSpPr>
          <p:spPr>
            <a:xfrm>
              <a:off x="9656369" y="2348384"/>
              <a:ext cx="1955904" cy="553998"/>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1800" b="1" kern="0" dirty="0">
                  <a:ea typeface="Arial Unicode MS" pitchFamily="34" charset="-128"/>
                  <a:cs typeface="Arial Unicode MS" pitchFamily="34" charset="-128"/>
                </a:rPr>
                <a:t>10 GB      Persistent Disk </a:t>
              </a:r>
            </a:p>
          </p:txBody>
        </p:sp>
        <p:sp>
          <p:nvSpPr>
            <p:cNvPr id="41" name="TextBox 40">
              <a:extLst>
                <a:ext uri="{FF2B5EF4-FFF2-40B4-BE49-F238E27FC236}">
                  <a16:creationId xmlns:a16="http://schemas.microsoft.com/office/drawing/2014/main" id="{A5B6FDA5-3A11-48F6-B6C6-D8DA71C5C7A8}"/>
                </a:ext>
              </a:extLst>
            </p:cNvPr>
            <p:cNvSpPr txBox="1"/>
            <p:nvPr/>
          </p:nvSpPr>
          <p:spPr>
            <a:xfrm>
              <a:off x="9656369" y="4654433"/>
              <a:ext cx="1955904" cy="276999"/>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1800" b="1" i="1" kern="0" dirty="0">
                  <a:solidFill>
                    <a:schemeClr val="accent5"/>
                  </a:solidFill>
                  <a:ea typeface="Arial Unicode MS" pitchFamily="34" charset="-128"/>
                  <a:cs typeface="Arial Unicode MS" pitchFamily="34" charset="-128"/>
                </a:rPr>
                <a:t>/dev/</a:t>
              </a:r>
              <a:r>
                <a:rPr lang="en-US" sz="1800" b="1" i="1" kern="0" dirty="0" err="1">
                  <a:solidFill>
                    <a:schemeClr val="accent5"/>
                  </a:solidFill>
                  <a:ea typeface="Arial Unicode MS" pitchFamily="34" charset="-128"/>
                  <a:cs typeface="Arial Unicode MS" pitchFamily="34" charset="-128"/>
                </a:rPr>
                <a:t>sdb</a:t>
              </a:r>
              <a:endParaRPr lang="en-US" sz="1800" b="1" i="1" kern="0" dirty="0">
                <a:solidFill>
                  <a:schemeClr val="accent5"/>
                </a:solidFill>
                <a:ea typeface="Arial Unicode MS" pitchFamily="34" charset="-128"/>
                <a:cs typeface="Arial Unicode MS" pitchFamily="34" charset="-128"/>
              </a:endParaRPr>
            </a:p>
          </p:txBody>
        </p:sp>
      </p:grpSp>
      <p:sp>
        <p:nvSpPr>
          <p:cNvPr id="22" name="Rectangle 21">
            <a:extLst>
              <a:ext uri="{FF2B5EF4-FFF2-40B4-BE49-F238E27FC236}">
                <a16:creationId xmlns:a16="http://schemas.microsoft.com/office/drawing/2014/main" id="{17A03B74-0A8F-446F-8FB4-2823A9A0B4D5}"/>
              </a:ext>
            </a:extLst>
          </p:cNvPr>
          <p:cNvSpPr/>
          <p:nvPr/>
        </p:nvSpPr>
        <p:spPr bwMode="gray">
          <a:xfrm>
            <a:off x="7919624" y="1209500"/>
            <a:ext cx="3815027" cy="4439000"/>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r>
              <a:rPr lang="de-DE" sz="2400" b="1" kern="0" dirty="0" err="1">
                <a:ea typeface="Arial Unicode MS" pitchFamily="34" charset="-128"/>
                <a:cs typeface="Arial Unicode MS" pitchFamily="34" charset="-128"/>
              </a:rPr>
              <a:t>Node</a:t>
            </a:r>
            <a:r>
              <a:rPr lang="de-DE" sz="2400" b="1" kern="0" dirty="0">
                <a:ea typeface="Arial Unicode MS" pitchFamily="34" charset="-128"/>
                <a:cs typeface="Arial Unicode MS" pitchFamily="34" charset="-128"/>
              </a:rPr>
              <a:t> 2</a:t>
            </a:r>
          </a:p>
        </p:txBody>
      </p:sp>
      <p:sp>
        <p:nvSpPr>
          <p:cNvPr id="23" name="Rectangle 22">
            <a:extLst>
              <a:ext uri="{FF2B5EF4-FFF2-40B4-BE49-F238E27FC236}">
                <a16:creationId xmlns:a16="http://schemas.microsoft.com/office/drawing/2014/main" id="{FF49F2F2-D2A1-4B14-BBD5-DA6639A9A5A8}"/>
              </a:ext>
            </a:extLst>
          </p:cNvPr>
          <p:cNvSpPr/>
          <p:nvPr/>
        </p:nvSpPr>
        <p:spPr bwMode="gray">
          <a:xfrm>
            <a:off x="8128365" y="1839204"/>
            <a:ext cx="3434836" cy="3149193"/>
          </a:xfrm>
          <a:prstGeom prst="rect">
            <a:avLst/>
          </a:prstGeom>
          <a:solidFill>
            <a:schemeClr val="accent1">
              <a:lumMod val="60000"/>
              <a:lumOff val="40000"/>
            </a:schemeClr>
          </a:solidFill>
          <a:ln>
            <a:headEnd/>
            <a:tailEnd/>
          </a:ln>
        </p:spPr>
        <p:style>
          <a:lnRef idx="1">
            <a:schemeClr val="accent1"/>
          </a:lnRef>
          <a:fillRef idx="2">
            <a:schemeClr val="accent1"/>
          </a:fillRef>
          <a:effectRef idx="1">
            <a:schemeClr val="accent1"/>
          </a:effectRef>
          <a:fontRef idx="minor">
            <a:schemeClr val="dk1"/>
          </a:fontRef>
        </p:style>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lang="de-DE" sz="2000" b="1" kern="0" noProof="0" dirty="0">
                <a:ea typeface="Arial Unicode MS" pitchFamily="34" charset="-128"/>
                <a:cs typeface="Arial Unicode MS" pitchFamily="34" charset="-128"/>
              </a:rPr>
              <a:t>D</a:t>
            </a:r>
            <a:r>
              <a:rPr kumimoji="0" lang="de-DE" sz="2000" b="1" i="0" strike="noStrike" kern="0" cap="none" spc="0" normalizeH="0" baseline="0" noProof="0" dirty="0">
                <a:ln>
                  <a:noFill/>
                </a:ln>
                <a:effectLst/>
                <a:uLnTx/>
                <a:uFillTx/>
                <a:ea typeface="Arial Unicode MS" pitchFamily="34" charset="-128"/>
                <a:cs typeface="Arial Unicode MS" pitchFamily="34" charset="-128"/>
              </a:rPr>
              <a:t>ocker</a:t>
            </a:r>
            <a:endParaRPr kumimoji="0" lang="de-DE" sz="2400" b="1" i="0" strike="noStrike" kern="0" cap="none" spc="0" normalizeH="0" baseline="0" noProof="0" dirty="0">
              <a:ln>
                <a:noFill/>
              </a:ln>
              <a:effectLst/>
              <a:uLnTx/>
              <a:uFillTx/>
              <a:ea typeface="Arial Unicode MS" pitchFamily="34" charset="-128"/>
              <a:cs typeface="Arial Unicode MS" pitchFamily="34" charset="-128"/>
            </a:endParaRPr>
          </a:p>
        </p:txBody>
      </p:sp>
      <p:sp>
        <p:nvSpPr>
          <p:cNvPr id="24" name="Rectangle 23">
            <a:extLst>
              <a:ext uri="{FF2B5EF4-FFF2-40B4-BE49-F238E27FC236}">
                <a16:creationId xmlns:a16="http://schemas.microsoft.com/office/drawing/2014/main" id="{1BB078D3-3606-4C62-98F8-8C3ECD54EB97}"/>
              </a:ext>
            </a:extLst>
          </p:cNvPr>
          <p:cNvSpPr/>
          <p:nvPr/>
        </p:nvSpPr>
        <p:spPr bwMode="gray">
          <a:xfrm>
            <a:off x="8643417" y="2241660"/>
            <a:ext cx="2404732" cy="1449781"/>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b="1" kern="0" noProof="0" dirty="0">
                <a:ea typeface="Arial Unicode MS" pitchFamily="34" charset="-128"/>
                <a:cs typeface="Arial Unicode MS" pitchFamily="34" charset="-128"/>
              </a:rPr>
              <a:t>Container</a:t>
            </a:r>
          </a:p>
          <a:p>
            <a:pPr marR="0" algn="ctr" defTabSz="914400" eaLnBrk="1" fontAlgn="base" latinLnBrk="0" hangingPunct="1">
              <a:lnSpc>
                <a:spcPct val="100000"/>
              </a:lnSpc>
              <a:spcBef>
                <a:spcPct val="50000"/>
              </a:spcBef>
              <a:spcAft>
                <a:spcPct val="0"/>
              </a:spcAft>
              <a:buClr>
                <a:srgbClr val="F0AB00"/>
              </a:buClr>
              <a:buSzPct val="80000"/>
              <a:tabLst/>
            </a:pPr>
            <a:r>
              <a:rPr kumimoji="0" lang="de-DE" sz="1600" i="1" u="none" strike="noStrike" kern="0" cap="none" spc="0" normalizeH="0" baseline="0" dirty="0">
                <a:ln>
                  <a:noFill/>
                </a:ln>
                <a:effectLst/>
                <a:uLnTx/>
                <a:uFillTx/>
                <a:ea typeface="Arial Unicode MS" pitchFamily="34" charset="-128"/>
                <a:cs typeface="Arial Unicode MS" pitchFamily="34" charset="-128"/>
              </a:rPr>
              <a:t>/</a:t>
            </a:r>
            <a:r>
              <a:rPr kumimoji="0" lang="de-DE" sz="1600" i="1" u="none" strike="noStrike" kern="0" cap="none" spc="0" normalizeH="0" baseline="0" dirty="0" err="1">
                <a:ln>
                  <a:noFill/>
                </a:ln>
                <a:effectLst/>
                <a:uLnTx/>
                <a:uFillTx/>
                <a:ea typeface="Arial Unicode MS" pitchFamily="34" charset="-128"/>
                <a:cs typeface="Arial Unicode MS" pitchFamily="34" charset="-128"/>
              </a:rPr>
              <a:t>usr</a:t>
            </a:r>
            <a:r>
              <a:rPr kumimoji="0" lang="de-DE" sz="1600" i="1" u="none" strike="noStrike" kern="0" cap="none" spc="0" normalizeH="0" baseline="0" dirty="0">
                <a:ln>
                  <a:noFill/>
                </a:ln>
                <a:effectLst/>
                <a:uLnTx/>
                <a:uFillTx/>
                <a:ea typeface="Arial Unicode MS" pitchFamily="34" charset="-128"/>
                <a:cs typeface="Arial Unicode MS" pitchFamily="34" charset="-128"/>
              </a:rPr>
              <a:t>/</a:t>
            </a:r>
            <a:r>
              <a:rPr kumimoji="0" lang="de-DE" sz="1600" i="1" u="none" strike="noStrike" kern="0" cap="none" spc="0" normalizeH="0" baseline="0" dirty="0" err="1">
                <a:ln>
                  <a:noFill/>
                </a:ln>
                <a:effectLst/>
                <a:uLnTx/>
                <a:uFillTx/>
                <a:ea typeface="Arial Unicode MS" pitchFamily="34" charset="-128"/>
                <a:cs typeface="Arial Unicode MS" pitchFamily="34" charset="-128"/>
              </a:rPr>
              <a:t>share</a:t>
            </a:r>
            <a:r>
              <a:rPr kumimoji="0" lang="de-DE" sz="1600" i="1" u="none" strike="noStrike" kern="0" cap="none" spc="0" normalizeH="0" baseline="0" dirty="0">
                <a:ln>
                  <a:noFill/>
                </a:ln>
                <a:effectLst/>
                <a:uLnTx/>
                <a:uFillTx/>
                <a:ea typeface="Arial Unicode MS" pitchFamily="34" charset="-128"/>
                <a:cs typeface="Arial Unicode MS" pitchFamily="34" charset="-128"/>
              </a:rPr>
              <a:t>/</a:t>
            </a:r>
            <a:r>
              <a:rPr kumimoji="0" lang="de-DE" sz="1600" i="1" u="none" strike="noStrike" kern="0" cap="none" spc="0" normalizeH="0" baseline="0" dirty="0" err="1">
                <a:ln>
                  <a:noFill/>
                </a:ln>
                <a:effectLst/>
                <a:uLnTx/>
                <a:uFillTx/>
                <a:ea typeface="Arial Unicode MS" pitchFamily="34" charset="-128"/>
                <a:cs typeface="Arial Unicode MS" pitchFamily="34" charset="-128"/>
              </a:rPr>
              <a:t>nginx</a:t>
            </a:r>
            <a:r>
              <a:rPr kumimoji="0" lang="de-DE" sz="1600" i="1" u="none" strike="noStrike" kern="0" cap="none" spc="0" normalizeH="0" baseline="0" dirty="0">
                <a:ln>
                  <a:noFill/>
                </a:ln>
                <a:effectLst/>
                <a:uLnTx/>
                <a:uFillTx/>
                <a:ea typeface="Arial Unicode MS" pitchFamily="34" charset="-128"/>
                <a:cs typeface="Arial Unicode MS" pitchFamily="34" charset="-128"/>
              </a:rPr>
              <a:t>/</a:t>
            </a:r>
            <a:r>
              <a:rPr kumimoji="0" lang="de-DE" sz="1600" i="1" u="none" strike="noStrike" kern="0" cap="none" spc="0" normalizeH="0" baseline="0" dirty="0" err="1">
                <a:ln>
                  <a:noFill/>
                </a:ln>
                <a:effectLst/>
                <a:uLnTx/>
                <a:uFillTx/>
                <a:ea typeface="Arial Unicode MS" pitchFamily="34" charset="-128"/>
                <a:cs typeface="Arial Unicode MS" pitchFamily="34" charset="-128"/>
              </a:rPr>
              <a:t>html</a:t>
            </a:r>
            <a:endParaRPr kumimoji="0" lang="de-DE" sz="1600" i="1" u="none" strike="noStrike" kern="0" cap="none" spc="0" normalizeH="0" baseline="0" noProof="0" dirty="0">
              <a:ln>
                <a:noFill/>
              </a:ln>
              <a:effectLst/>
              <a:uLnTx/>
              <a:uFillTx/>
              <a:ea typeface="Arial Unicode MS" pitchFamily="34" charset="-128"/>
              <a:cs typeface="Arial Unicode MS" pitchFamily="34" charset="-128"/>
            </a:endParaRPr>
          </a:p>
        </p:txBody>
      </p:sp>
      <p:sp>
        <p:nvSpPr>
          <p:cNvPr id="25" name="Rectangle: Rounded Corners 24">
            <a:extLst>
              <a:ext uri="{FF2B5EF4-FFF2-40B4-BE49-F238E27FC236}">
                <a16:creationId xmlns:a16="http://schemas.microsoft.com/office/drawing/2014/main" id="{AD575484-18CD-4213-9325-F637BF4EE2C5}"/>
              </a:ext>
            </a:extLst>
          </p:cNvPr>
          <p:cNvSpPr/>
          <p:nvPr/>
        </p:nvSpPr>
        <p:spPr bwMode="gray">
          <a:xfrm>
            <a:off x="8361166" y="2040628"/>
            <a:ext cx="2969234" cy="2163998"/>
          </a:xfrm>
          <a:prstGeom prst="roundRect">
            <a:avLst/>
          </a:prstGeom>
          <a:noFill/>
          <a:ln w="19050" algn="ctr">
            <a:solidFill>
              <a:schemeClr val="tx1"/>
            </a:solidFill>
            <a:prstDash val="dash"/>
            <a:miter lim="800000"/>
            <a:headEnd/>
            <a:tailEnd/>
          </a:ln>
        </p:spPr>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Pod</a:t>
            </a:r>
          </a:p>
        </p:txBody>
      </p:sp>
      <p:sp>
        <p:nvSpPr>
          <p:cNvPr id="26" name="TextBox 25">
            <a:extLst>
              <a:ext uri="{FF2B5EF4-FFF2-40B4-BE49-F238E27FC236}">
                <a16:creationId xmlns:a16="http://schemas.microsoft.com/office/drawing/2014/main" id="{705404ED-84FE-4C34-A865-D8C3E182A202}"/>
              </a:ext>
            </a:extLst>
          </p:cNvPr>
          <p:cNvSpPr txBox="1"/>
          <p:nvPr/>
        </p:nvSpPr>
        <p:spPr>
          <a:xfrm>
            <a:off x="8516171" y="5198176"/>
            <a:ext cx="2659225" cy="276999"/>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1800" b="1" i="1" kern="0" dirty="0">
                <a:solidFill>
                  <a:schemeClr val="accent5"/>
                </a:solidFill>
                <a:ea typeface="Arial Unicode MS" pitchFamily="34" charset="-128"/>
                <a:cs typeface="Arial Unicode MS" pitchFamily="34" charset="-128"/>
              </a:rPr>
              <a:t>/</a:t>
            </a:r>
            <a:r>
              <a:rPr lang="en-US" sz="1800" b="1" i="1" kern="0" dirty="0" err="1">
                <a:solidFill>
                  <a:schemeClr val="accent5"/>
                </a:solidFill>
                <a:ea typeface="Arial Unicode MS" pitchFamily="34" charset="-128"/>
                <a:cs typeface="Arial Unicode MS" pitchFamily="34" charset="-128"/>
              </a:rPr>
              <a:t>mnt</a:t>
            </a:r>
            <a:r>
              <a:rPr lang="en-US" sz="1800" b="1" i="1" kern="0" dirty="0">
                <a:solidFill>
                  <a:schemeClr val="accent5"/>
                </a:solidFill>
                <a:ea typeface="Arial Unicode MS" pitchFamily="34" charset="-128"/>
                <a:cs typeface="Arial Unicode MS" pitchFamily="34" charset="-128"/>
              </a:rPr>
              <a:t>/</a:t>
            </a:r>
            <a:r>
              <a:rPr lang="en-US" sz="1800" b="1" i="1" kern="0" dirty="0" err="1">
                <a:solidFill>
                  <a:schemeClr val="accent5"/>
                </a:solidFill>
                <a:ea typeface="Arial Unicode MS" pitchFamily="34" charset="-128"/>
                <a:cs typeface="Arial Unicode MS" pitchFamily="34" charset="-128"/>
              </a:rPr>
              <a:t>gce</a:t>
            </a:r>
            <a:r>
              <a:rPr lang="en-US" sz="1800" b="1" i="1" kern="0" dirty="0">
                <a:solidFill>
                  <a:schemeClr val="accent5"/>
                </a:solidFill>
                <a:ea typeface="Arial Unicode MS" pitchFamily="34" charset="-128"/>
                <a:cs typeface="Arial Unicode MS" pitchFamily="34" charset="-128"/>
              </a:rPr>
              <a:t>-pd-volume/</a:t>
            </a:r>
          </a:p>
        </p:txBody>
      </p:sp>
      <p:cxnSp>
        <p:nvCxnSpPr>
          <p:cNvPr id="27" name="Connector: Elbow 26">
            <a:extLst>
              <a:ext uri="{FF2B5EF4-FFF2-40B4-BE49-F238E27FC236}">
                <a16:creationId xmlns:a16="http://schemas.microsoft.com/office/drawing/2014/main" id="{29B9707C-5250-4605-8216-E074F2243A62}"/>
              </a:ext>
            </a:extLst>
          </p:cNvPr>
          <p:cNvCxnSpPr>
            <a:cxnSpLocks/>
            <a:stCxn id="26" idx="3"/>
            <a:endCxn id="24" idx="3"/>
          </p:cNvCxnSpPr>
          <p:nvPr/>
        </p:nvCxnSpPr>
        <p:spPr>
          <a:xfrm flipH="1" flipV="1">
            <a:off x="11048149" y="2966551"/>
            <a:ext cx="127247" cy="2370125"/>
          </a:xfrm>
          <a:prstGeom prst="bentConnector3">
            <a:avLst>
              <a:gd name="adj1" fmla="val -646743"/>
            </a:avLst>
          </a:prstGeom>
          <a:ln w="76200">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10" name="Connector: Elbow 9">
            <a:extLst>
              <a:ext uri="{FF2B5EF4-FFF2-40B4-BE49-F238E27FC236}">
                <a16:creationId xmlns:a16="http://schemas.microsoft.com/office/drawing/2014/main" id="{7058B0CF-4E8B-44F0-AB4E-8A4167EF78D9}"/>
              </a:ext>
            </a:extLst>
          </p:cNvPr>
          <p:cNvCxnSpPr>
            <a:cxnSpLocks/>
            <a:stCxn id="41" idx="2"/>
            <a:endCxn id="17" idx="2"/>
          </p:cNvCxnSpPr>
          <p:nvPr/>
        </p:nvCxnSpPr>
        <p:spPr>
          <a:xfrm rot="5400000">
            <a:off x="3495350" y="2833552"/>
            <a:ext cx="1566181" cy="3686700"/>
          </a:xfrm>
          <a:prstGeom prst="bentConnector3">
            <a:avLst>
              <a:gd name="adj1" fmla="val 153276"/>
            </a:avLst>
          </a:prstGeom>
          <a:ln w="76200">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31" name="Connector: Elbow 30">
            <a:extLst>
              <a:ext uri="{FF2B5EF4-FFF2-40B4-BE49-F238E27FC236}">
                <a16:creationId xmlns:a16="http://schemas.microsoft.com/office/drawing/2014/main" id="{5D464955-1EEA-4566-AECB-EF1ADFE99C7F}"/>
              </a:ext>
            </a:extLst>
          </p:cNvPr>
          <p:cNvCxnSpPr>
            <a:cxnSpLocks/>
            <a:stCxn id="41" idx="2"/>
            <a:endCxn id="26" idx="2"/>
          </p:cNvCxnSpPr>
          <p:nvPr/>
        </p:nvCxnSpPr>
        <p:spPr>
          <a:xfrm rot="16200000" flipH="1">
            <a:off x="7193106" y="2822496"/>
            <a:ext cx="1581363" cy="3723994"/>
          </a:xfrm>
          <a:prstGeom prst="bentConnector3">
            <a:avLst>
              <a:gd name="adj1" fmla="val 151319"/>
            </a:avLst>
          </a:prstGeom>
          <a:ln w="76200">
            <a:headEnd type="none" w="med" len="med"/>
            <a:tailEnd type="triangle"/>
          </a:ln>
        </p:spPr>
        <p:style>
          <a:lnRef idx="1">
            <a:schemeClr val="accent2"/>
          </a:lnRef>
          <a:fillRef idx="0">
            <a:schemeClr val="accent2"/>
          </a:fillRef>
          <a:effectRef idx="0">
            <a:schemeClr val="accent2"/>
          </a:effectRef>
          <a:fontRef idx="minor">
            <a:schemeClr val="tx1"/>
          </a:fontRef>
        </p:style>
      </p:cxnSp>
      <p:pic>
        <p:nvPicPr>
          <p:cNvPr id="39" name="Graphic 38" descr="High voltage">
            <a:extLst>
              <a:ext uri="{FF2B5EF4-FFF2-40B4-BE49-F238E27FC236}">
                <a16:creationId xmlns:a16="http://schemas.microsoft.com/office/drawing/2014/main" id="{47D312D4-B86A-427B-A3EA-E3453281F64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808286" y="5098810"/>
            <a:ext cx="1179235" cy="1179235"/>
          </a:xfrm>
          <a:prstGeom prst="rect">
            <a:avLst/>
          </a:prstGeom>
        </p:spPr>
      </p:pic>
      <p:sp>
        <p:nvSpPr>
          <p:cNvPr id="42" name="Speech Bubble: Rectangle 41">
            <a:extLst>
              <a:ext uri="{FF2B5EF4-FFF2-40B4-BE49-F238E27FC236}">
                <a16:creationId xmlns:a16="http://schemas.microsoft.com/office/drawing/2014/main" id="{FFBFC18B-1A79-4368-BD3F-52961CC704B2}"/>
              </a:ext>
            </a:extLst>
          </p:cNvPr>
          <p:cNvSpPr/>
          <p:nvPr/>
        </p:nvSpPr>
        <p:spPr bwMode="gray">
          <a:xfrm>
            <a:off x="4897439" y="4608242"/>
            <a:ext cx="2257265" cy="636814"/>
          </a:xfrm>
          <a:prstGeom prst="wedgeRectCallout">
            <a:avLst>
              <a:gd name="adj1" fmla="val -58399"/>
              <a:gd name="adj2" fmla="val -210792"/>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Stop container</a:t>
            </a: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44" name="Speech Bubble: Rectangle 43">
            <a:extLst>
              <a:ext uri="{FF2B5EF4-FFF2-40B4-BE49-F238E27FC236}">
                <a16:creationId xmlns:a16="http://schemas.microsoft.com/office/drawing/2014/main" id="{685B0E0F-CFEC-404A-87B2-9F8020293FE2}"/>
              </a:ext>
            </a:extLst>
          </p:cNvPr>
          <p:cNvSpPr/>
          <p:nvPr/>
        </p:nvSpPr>
        <p:spPr bwMode="gray">
          <a:xfrm>
            <a:off x="4897439" y="4609019"/>
            <a:ext cx="2257265" cy="636814"/>
          </a:xfrm>
          <a:prstGeom prst="wedgeRectCallout">
            <a:avLst>
              <a:gd name="adj1" fmla="val -57893"/>
              <a:gd name="adj2" fmla="val 175106"/>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noProof="0" dirty="0" err="1">
                <a:ea typeface="Arial Unicode MS" pitchFamily="34" charset="-128"/>
                <a:cs typeface="Arial Unicode MS" pitchFamily="34" charset="-128"/>
              </a:rPr>
              <a:t>umount</a:t>
            </a:r>
            <a:r>
              <a:rPr lang="en-US" sz="1800" kern="0" noProof="0" dirty="0">
                <a:ea typeface="Arial Unicode MS" pitchFamily="34" charset="-128"/>
                <a:cs typeface="Arial Unicode MS" pitchFamily="34" charset="-128"/>
              </a:rPr>
              <a:t> disk</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9648188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hidden"/>
                                      </p:to>
                                    </p:set>
                                  </p:childTnLst>
                                </p:cTn>
                              </p:par>
                              <p:par>
                                <p:cTn id="7" presetID="1" presetClass="exit" presetSubtype="0" fill="hold" nodeType="withEffect">
                                  <p:stCondLst>
                                    <p:cond delay="0"/>
                                  </p:stCondLst>
                                  <p:childTnLst>
                                    <p:set>
                                      <p:cBhvr>
                                        <p:cTn id="8" dur="1" fill="hold">
                                          <p:stCondLst>
                                            <p:cond delay="0"/>
                                          </p:stCondLst>
                                        </p:cTn>
                                        <p:tgtEl>
                                          <p:spTgt spid="21"/>
                                        </p:tgtEl>
                                        <p:attrNameLst>
                                          <p:attrName>style.visibility</p:attrName>
                                        </p:attrNameLst>
                                      </p:cBhvr>
                                      <p:to>
                                        <p:strVal val="hidden"/>
                                      </p:to>
                                    </p:set>
                                  </p:childTnLst>
                                </p:cTn>
                              </p:par>
                              <p:par>
                                <p:cTn id="9" presetID="1" presetClass="exit"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hidden"/>
                                      </p:to>
                                    </p:set>
                                  </p:childTnLst>
                                </p:cTn>
                              </p:par>
                              <p:par>
                                <p:cTn id="11" presetID="1" presetClass="exit" presetSubtype="0" fill="hold" grpId="0" nodeType="withEffect">
                                  <p:stCondLst>
                                    <p:cond delay="0"/>
                                  </p:stCondLst>
                                  <p:childTnLst>
                                    <p:set>
                                      <p:cBhvr>
                                        <p:cTn id="12" dur="1" fill="hold">
                                          <p:stCondLst>
                                            <p:cond delay="0"/>
                                          </p:stCondLst>
                                        </p:cTn>
                                        <p:tgtEl>
                                          <p:spTgt spid="24"/>
                                        </p:tgtEl>
                                        <p:attrNameLst>
                                          <p:attrName>style.visibility</p:attrName>
                                        </p:attrNameLst>
                                      </p:cBhvr>
                                      <p:to>
                                        <p:strVal val="hidden"/>
                                      </p:to>
                                    </p:set>
                                  </p:childTnLst>
                                </p:cTn>
                              </p:par>
                              <p:par>
                                <p:cTn id="13" presetID="1" presetClass="exit" presetSubtype="0" fill="hold" grpId="0" nodeType="withEffect">
                                  <p:stCondLst>
                                    <p:cond delay="0"/>
                                  </p:stCondLst>
                                  <p:childTnLst>
                                    <p:set>
                                      <p:cBhvr>
                                        <p:cTn id="14" dur="1" fill="hold">
                                          <p:stCondLst>
                                            <p:cond delay="0"/>
                                          </p:stCondLst>
                                        </p:cTn>
                                        <p:tgtEl>
                                          <p:spTgt spid="25"/>
                                        </p:tgtEl>
                                        <p:attrNameLst>
                                          <p:attrName>style.visibility</p:attrName>
                                        </p:attrNameLst>
                                      </p:cBhvr>
                                      <p:to>
                                        <p:strVal val="hidden"/>
                                      </p:to>
                                    </p:set>
                                  </p:childTnLst>
                                </p:cTn>
                              </p:par>
                              <p:par>
                                <p:cTn id="15" presetID="1" presetClass="exit" presetSubtype="0" fill="hold" nodeType="withEffect">
                                  <p:stCondLst>
                                    <p:cond delay="0"/>
                                  </p:stCondLst>
                                  <p:childTnLst>
                                    <p:set>
                                      <p:cBhvr>
                                        <p:cTn id="16" dur="1" fill="hold">
                                          <p:stCondLst>
                                            <p:cond delay="0"/>
                                          </p:stCondLst>
                                        </p:cTn>
                                        <p:tgtEl>
                                          <p:spTgt spid="27"/>
                                        </p:tgtEl>
                                        <p:attrNameLst>
                                          <p:attrName>style.visibility</p:attrName>
                                        </p:attrNameLst>
                                      </p:cBhvr>
                                      <p:to>
                                        <p:strVal val="hidden"/>
                                      </p:to>
                                    </p:set>
                                  </p:childTnLst>
                                </p:cTn>
                              </p:par>
                              <p:par>
                                <p:cTn id="17" presetID="1" presetClass="exit" presetSubtype="0" fill="hold" grpId="0" nodeType="withEffect">
                                  <p:stCondLst>
                                    <p:cond delay="0"/>
                                  </p:stCondLst>
                                  <p:childTnLst>
                                    <p:set>
                                      <p:cBhvr>
                                        <p:cTn id="18" dur="1" fill="hold">
                                          <p:stCondLst>
                                            <p:cond delay="0"/>
                                          </p:stCondLst>
                                        </p:cTn>
                                        <p:tgtEl>
                                          <p:spTgt spid="42"/>
                                        </p:tgtEl>
                                        <p:attrNameLst>
                                          <p:attrName>style.visibility</p:attrName>
                                        </p:attrNameLst>
                                      </p:cBhvr>
                                      <p:to>
                                        <p:strVal val="hidden"/>
                                      </p:to>
                                    </p:set>
                                  </p:childTnLst>
                                </p:cTn>
                              </p:par>
                              <p:par>
                                <p:cTn id="19" presetID="1" presetClass="entr" presetSubtype="0" fill="hold" grpId="0" nodeType="withEffect">
                                  <p:stCondLst>
                                    <p:cond delay="0"/>
                                  </p:stCondLst>
                                  <p:childTnLst>
                                    <p:set>
                                      <p:cBhvr>
                                        <p:cTn id="20" dur="1" fill="hold">
                                          <p:stCondLst>
                                            <p:cond delay="0"/>
                                          </p:stCondLst>
                                        </p:cTn>
                                        <p:tgtEl>
                                          <p:spTgt spid="4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xit" presetSubtype="0" fill="hold" nodeType="clickEffect">
                                  <p:stCondLst>
                                    <p:cond delay="0"/>
                                  </p:stCondLst>
                                  <p:childTnLst>
                                    <p:set>
                                      <p:cBhvr>
                                        <p:cTn id="24" dur="1" fill="hold">
                                          <p:stCondLst>
                                            <p:cond delay="0"/>
                                          </p:stCondLst>
                                        </p:cTn>
                                        <p:tgtEl>
                                          <p:spTgt spid="10"/>
                                        </p:tgtEl>
                                        <p:attrNameLst>
                                          <p:attrName>style.visibility</p:attrName>
                                        </p:attrNameLst>
                                      </p:cBhvr>
                                      <p:to>
                                        <p:strVal val="hidden"/>
                                      </p:to>
                                    </p:set>
                                  </p:childTnLst>
                                </p:cTn>
                              </p:par>
                              <p:par>
                                <p:cTn id="25" presetID="1" presetClass="exit" presetSubtype="0" fill="hold" nodeType="withEffect">
                                  <p:stCondLst>
                                    <p:cond delay="0"/>
                                  </p:stCondLst>
                                  <p:childTnLst>
                                    <p:set>
                                      <p:cBhvr>
                                        <p:cTn id="26" dur="1" fill="hold">
                                          <p:stCondLst>
                                            <p:cond delay="0"/>
                                          </p:stCondLst>
                                        </p:cTn>
                                        <p:tgtEl>
                                          <p:spTgt spid="31"/>
                                        </p:tgtEl>
                                        <p:attrNameLst>
                                          <p:attrName>style.visibility</p:attrName>
                                        </p:attrNameLst>
                                      </p:cBhvr>
                                      <p:to>
                                        <p:strVal val="hidden"/>
                                      </p:to>
                                    </p:set>
                                  </p:childTnLst>
                                </p:cTn>
                              </p:par>
                              <p:par>
                                <p:cTn id="27" presetID="1" presetClass="exit" presetSubtype="0" fill="hold" nodeType="withEffect">
                                  <p:stCondLst>
                                    <p:cond delay="0"/>
                                  </p:stCondLst>
                                  <p:childTnLst>
                                    <p:set>
                                      <p:cBhvr>
                                        <p:cTn id="28" dur="1" fill="hold">
                                          <p:stCondLst>
                                            <p:cond delay="0"/>
                                          </p:stCondLst>
                                        </p:cTn>
                                        <p:tgtEl>
                                          <p:spTgt spid="39"/>
                                        </p:tgtEl>
                                        <p:attrNameLst>
                                          <p:attrName>style.visibility</p:attrName>
                                        </p:attrNameLst>
                                      </p:cBhvr>
                                      <p:to>
                                        <p:strVal val="hidden"/>
                                      </p:to>
                                    </p:set>
                                  </p:childTnLst>
                                </p:cTn>
                              </p:par>
                              <p:par>
                                <p:cTn id="29" presetID="1" presetClass="exit" presetSubtype="0" fill="hold" grpId="0" nodeType="withEffect">
                                  <p:stCondLst>
                                    <p:cond delay="0"/>
                                  </p:stCondLst>
                                  <p:childTnLst>
                                    <p:set>
                                      <p:cBhvr>
                                        <p:cTn id="30" dur="1" fill="hold">
                                          <p:stCondLst>
                                            <p:cond delay="0"/>
                                          </p:stCondLst>
                                        </p:cTn>
                                        <p:tgtEl>
                                          <p:spTgt spid="26"/>
                                        </p:tgtEl>
                                        <p:attrNameLst>
                                          <p:attrName>style.visibility</p:attrName>
                                        </p:attrNameLst>
                                      </p:cBhvr>
                                      <p:to>
                                        <p:strVal val="hidden"/>
                                      </p:to>
                                    </p:set>
                                  </p:childTnLst>
                                </p:cTn>
                              </p:par>
                              <p:par>
                                <p:cTn id="31" presetID="1" presetClass="exit" presetSubtype="0" fill="hold" grpId="0" nodeType="withEffect">
                                  <p:stCondLst>
                                    <p:cond delay="0"/>
                                  </p:stCondLst>
                                  <p:childTnLst>
                                    <p:set>
                                      <p:cBhvr>
                                        <p:cTn id="32" dur="1" fill="hold">
                                          <p:stCondLst>
                                            <p:cond delay="0"/>
                                          </p:stCondLst>
                                        </p:cTn>
                                        <p:tgtEl>
                                          <p:spTgt spid="17"/>
                                        </p:tgtEl>
                                        <p:attrNameLst>
                                          <p:attrName>style.visibility</p:attrName>
                                        </p:attrNameLst>
                                      </p:cBhvr>
                                      <p:to>
                                        <p:strVal val="hidden"/>
                                      </p:to>
                                    </p:set>
                                  </p:childTnLst>
                                </p:cTn>
                              </p:par>
                              <p:par>
                                <p:cTn id="33" presetID="1" presetClass="exit" presetSubtype="0" fill="hold" grpId="1" nodeType="withEffect">
                                  <p:stCondLst>
                                    <p:cond delay="0"/>
                                  </p:stCondLst>
                                  <p:childTnLst>
                                    <p:set>
                                      <p:cBhvr>
                                        <p:cTn id="34" dur="1" fill="hold">
                                          <p:stCondLst>
                                            <p:cond delay="0"/>
                                          </p:stCondLst>
                                        </p:cTn>
                                        <p:tgtEl>
                                          <p:spTgt spid="4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17" grpId="0"/>
      <p:bldP spid="24" grpId="0" animBg="1"/>
      <p:bldP spid="25" grpId="0" animBg="1"/>
      <p:bldP spid="26" grpId="0"/>
      <p:bldP spid="42" grpId="0" animBg="1"/>
      <p:bldP spid="44" grpId="0" animBg="1"/>
      <p:bldP spid="44" grpId="1"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0234DD-73A1-402F-B475-DA6E6D6E031B}"/>
              </a:ext>
            </a:extLst>
          </p:cNvPr>
          <p:cNvSpPr>
            <a:spLocks noGrp="1"/>
          </p:cNvSpPr>
          <p:nvPr>
            <p:ph type="title"/>
          </p:nvPr>
        </p:nvSpPr>
        <p:spPr>
          <a:xfrm>
            <a:off x="504001" y="504000"/>
            <a:ext cx="11186476" cy="369332"/>
          </a:xfrm>
        </p:spPr>
        <p:txBody>
          <a:bodyPr/>
          <a:lstStyle/>
          <a:p>
            <a:r>
              <a:rPr lang="en-US" dirty="0"/>
              <a:t>What happens in the background …</a:t>
            </a:r>
          </a:p>
        </p:txBody>
      </p:sp>
      <p:sp>
        <p:nvSpPr>
          <p:cNvPr id="3" name="Rectangle 2">
            <a:extLst>
              <a:ext uri="{FF2B5EF4-FFF2-40B4-BE49-F238E27FC236}">
                <a16:creationId xmlns:a16="http://schemas.microsoft.com/office/drawing/2014/main" id="{72112438-74E8-4D00-9C25-8F0D762876A1}"/>
              </a:ext>
            </a:extLst>
          </p:cNvPr>
          <p:cNvSpPr/>
          <p:nvPr/>
        </p:nvSpPr>
        <p:spPr bwMode="gray">
          <a:xfrm>
            <a:off x="508930" y="1194318"/>
            <a:ext cx="3815027" cy="4439000"/>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r>
              <a:rPr lang="de-DE" sz="2400" b="1" kern="0" dirty="0" err="1">
                <a:ea typeface="Arial Unicode MS" pitchFamily="34" charset="-128"/>
                <a:cs typeface="Arial Unicode MS" pitchFamily="34" charset="-128"/>
              </a:rPr>
              <a:t>Node</a:t>
            </a:r>
            <a:r>
              <a:rPr lang="de-DE" sz="2400" b="1" kern="0" dirty="0">
                <a:ea typeface="Arial Unicode MS" pitchFamily="34" charset="-128"/>
                <a:cs typeface="Arial Unicode MS" pitchFamily="34" charset="-128"/>
              </a:rPr>
              <a:t> 1</a:t>
            </a:r>
          </a:p>
        </p:txBody>
      </p:sp>
      <p:sp>
        <p:nvSpPr>
          <p:cNvPr id="4" name="Rectangle 3">
            <a:extLst>
              <a:ext uri="{FF2B5EF4-FFF2-40B4-BE49-F238E27FC236}">
                <a16:creationId xmlns:a16="http://schemas.microsoft.com/office/drawing/2014/main" id="{660740E0-E110-40F4-B654-BF64B5C3974C}"/>
              </a:ext>
            </a:extLst>
          </p:cNvPr>
          <p:cNvSpPr/>
          <p:nvPr/>
        </p:nvSpPr>
        <p:spPr bwMode="gray">
          <a:xfrm>
            <a:off x="717671" y="1824022"/>
            <a:ext cx="3434836" cy="3149193"/>
          </a:xfrm>
          <a:prstGeom prst="rect">
            <a:avLst/>
          </a:prstGeom>
          <a:solidFill>
            <a:schemeClr val="accent1">
              <a:lumMod val="60000"/>
              <a:lumOff val="40000"/>
            </a:schemeClr>
          </a:solidFill>
          <a:ln>
            <a:headEnd/>
            <a:tailEnd/>
          </a:ln>
        </p:spPr>
        <p:style>
          <a:lnRef idx="1">
            <a:schemeClr val="accent1"/>
          </a:lnRef>
          <a:fillRef idx="2">
            <a:schemeClr val="accent1"/>
          </a:fillRef>
          <a:effectRef idx="1">
            <a:schemeClr val="accent1"/>
          </a:effectRef>
          <a:fontRef idx="minor">
            <a:schemeClr val="dk1"/>
          </a:fontRef>
        </p:style>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lang="de-DE" sz="2000" b="1" kern="0" noProof="0" dirty="0">
                <a:ea typeface="Arial Unicode MS" pitchFamily="34" charset="-128"/>
                <a:cs typeface="Arial Unicode MS" pitchFamily="34" charset="-128"/>
              </a:rPr>
              <a:t>D</a:t>
            </a:r>
            <a:r>
              <a:rPr kumimoji="0" lang="de-DE" sz="2000" b="1" i="0" strike="noStrike" kern="0" cap="none" spc="0" normalizeH="0" baseline="0" noProof="0" dirty="0">
                <a:ln>
                  <a:noFill/>
                </a:ln>
                <a:effectLst/>
                <a:uLnTx/>
                <a:uFillTx/>
                <a:ea typeface="Arial Unicode MS" pitchFamily="34" charset="-128"/>
                <a:cs typeface="Arial Unicode MS" pitchFamily="34" charset="-128"/>
              </a:rPr>
              <a:t>ocker</a:t>
            </a:r>
            <a:endParaRPr kumimoji="0" lang="de-DE" sz="2400" b="1" i="0" strike="noStrike" kern="0" cap="none" spc="0" normalizeH="0" baseline="0" noProof="0" dirty="0">
              <a:ln>
                <a:noFill/>
              </a:ln>
              <a:effectLst/>
              <a:uLnTx/>
              <a:uFillTx/>
              <a:ea typeface="Arial Unicode MS" pitchFamily="34" charset="-128"/>
              <a:cs typeface="Arial Unicode MS" pitchFamily="34" charset="-128"/>
            </a:endParaRPr>
          </a:p>
        </p:txBody>
      </p:sp>
      <p:sp>
        <p:nvSpPr>
          <p:cNvPr id="5" name="Rectangle 4">
            <a:extLst>
              <a:ext uri="{FF2B5EF4-FFF2-40B4-BE49-F238E27FC236}">
                <a16:creationId xmlns:a16="http://schemas.microsoft.com/office/drawing/2014/main" id="{4057C0D8-57A8-4B70-9D4A-B8773F041256}"/>
              </a:ext>
            </a:extLst>
          </p:cNvPr>
          <p:cNvSpPr/>
          <p:nvPr/>
        </p:nvSpPr>
        <p:spPr bwMode="gray">
          <a:xfrm>
            <a:off x="1232723" y="2226478"/>
            <a:ext cx="2404732" cy="1449781"/>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b="1" kern="0" noProof="0" dirty="0">
                <a:ea typeface="Arial Unicode MS" pitchFamily="34" charset="-128"/>
                <a:cs typeface="Arial Unicode MS" pitchFamily="34" charset="-128"/>
              </a:rPr>
              <a:t>Container</a:t>
            </a:r>
          </a:p>
          <a:p>
            <a:pPr marR="0" algn="ctr" defTabSz="914400" eaLnBrk="1" fontAlgn="base" latinLnBrk="0" hangingPunct="1">
              <a:lnSpc>
                <a:spcPct val="100000"/>
              </a:lnSpc>
              <a:spcBef>
                <a:spcPct val="50000"/>
              </a:spcBef>
              <a:spcAft>
                <a:spcPct val="0"/>
              </a:spcAft>
              <a:buClr>
                <a:srgbClr val="F0AB00"/>
              </a:buClr>
              <a:buSzPct val="80000"/>
              <a:tabLst/>
            </a:pPr>
            <a:r>
              <a:rPr kumimoji="0" lang="de-DE" sz="1600" i="1" u="none" strike="noStrike" kern="0" cap="none" spc="0" normalizeH="0" baseline="0" dirty="0">
                <a:ln>
                  <a:noFill/>
                </a:ln>
                <a:effectLst/>
                <a:uLnTx/>
                <a:uFillTx/>
                <a:ea typeface="Arial Unicode MS" pitchFamily="34" charset="-128"/>
                <a:cs typeface="Arial Unicode MS" pitchFamily="34" charset="-128"/>
              </a:rPr>
              <a:t>/</a:t>
            </a:r>
            <a:r>
              <a:rPr kumimoji="0" lang="de-DE" sz="1600" i="1" u="none" strike="noStrike" kern="0" cap="none" spc="0" normalizeH="0" baseline="0" dirty="0" err="1">
                <a:ln>
                  <a:noFill/>
                </a:ln>
                <a:effectLst/>
                <a:uLnTx/>
                <a:uFillTx/>
                <a:ea typeface="Arial Unicode MS" pitchFamily="34" charset="-128"/>
                <a:cs typeface="Arial Unicode MS" pitchFamily="34" charset="-128"/>
              </a:rPr>
              <a:t>usr</a:t>
            </a:r>
            <a:r>
              <a:rPr kumimoji="0" lang="de-DE" sz="1600" i="1" u="none" strike="noStrike" kern="0" cap="none" spc="0" normalizeH="0" baseline="0" dirty="0">
                <a:ln>
                  <a:noFill/>
                </a:ln>
                <a:effectLst/>
                <a:uLnTx/>
                <a:uFillTx/>
                <a:ea typeface="Arial Unicode MS" pitchFamily="34" charset="-128"/>
                <a:cs typeface="Arial Unicode MS" pitchFamily="34" charset="-128"/>
              </a:rPr>
              <a:t>/</a:t>
            </a:r>
            <a:r>
              <a:rPr kumimoji="0" lang="de-DE" sz="1600" i="1" u="none" strike="noStrike" kern="0" cap="none" spc="0" normalizeH="0" baseline="0" dirty="0" err="1">
                <a:ln>
                  <a:noFill/>
                </a:ln>
                <a:effectLst/>
                <a:uLnTx/>
                <a:uFillTx/>
                <a:ea typeface="Arial Unicode MS" pitchFamily="34" charset="-128"/>
                <a:cs typeface="Arial Unicode MS" pitchFamily="34" charset="-128"/>
              </a:rPr>
              <a:t>share</a:t>
            </a:r>
            <a:r>
              <a:rPr kumimoji="0" lang="de-DE" sz="1600" i="1" u="none" strike="noStrike" kern="0" cap="none" spc="0" normalizeH="0" baseline="0" dirty="0">
                <a:ln>
                  <a:noFill/>
                </a:ln>
                <a:effectLst/>
                <a:uLnTx/>
                <a:uFillTx/>
                <a:ea typeface="Arial Unicode MS" pitchFamily="34" charset="-128"/>
                <a:cs typeface="Arial Unicode MS" pitchFamily="34" charset="-128"/>
              </a:rPr>
              <a:t>/</a:t>
            </a:r>
            <a:r>
              <a:rPr kumimoji="0" lang="de-DE" sz="1600" i="1" u="none" strike="noStrike" kern="0" cap="none" spc="0" normalizeH="0" baseline="0" dirty="0" err="1">
                <a:ln>
                  <a:noFill/>
                </a:ln>
                <a:effectLst/>
                <a:uLnTx/>
                <a:uFillTx/>
                <a:ea typeface="Arial Unicode MS" pitchFamily="34" charset="-128"/>
                <a:cs typeface="Arial Unicode MS" pitchFamily="34" charset="-128"/>
              </a:rPr>
              <a:t>nginx</a:t>
            </a:r>
            <a:r>
              <a:rPr kumimoji="0" lang="de-DE" sz="1600" i="1" u="none" strike="noStrike" kern="0" cap="none" spc="0" normalizeH="0" baseline="0" dirty="0">
                <a:ln>
                  <a:noFill/>
                </a:ln>
                <a:effectLst/>
                <a:uLnTx/>
                <a:uFillTx/>
                <a:ea typeface="Arial Unicode MS" pitchFamily="34" charset="-128"/>
                <a:cs typeface="Arial Unicode MS" pitchFamily="34" charset="-128"/>
              </a:rPr>
              <a:t>/</a:t>
            </a:r>
            <a:r>
              <a:rPr kumimoji="0" lang="de-DE" sz="1600" i="1" u="none" strike="noStrike" kern="0" cap="none" spc="0" normalizeH="0" baseline="0" dirty="0" err="1">
                <a:ln>
                  <a:noFill/>
                </a:ln>
                <a:effectLst/>
                <a:uLnTx/>
                <a:uFillTx/>
                <a:ea typeface="Arial Unicode MS" pitchFamily="34" charset="-128"/>
                <a:cs typeface="Arial Unicode MS" pitchFamily="34" charset="-128"/>
              </a:rPr>
              <a:t>html</a:t>
            </a:r>
            <a:endParaRPr kumimoji="0" lang="de-DE" sz="1600" i="1" u="none" strike="noStrike" kern="0" cap="none" spc="0" normalizeH="0" baseline="0" noProof="0" dirty="0">
              <a:ln>
                <a:noFill/>
              </a:ln>
              <a:effectLst/>
              <a:uLnTx/>
              <a:uFillTx/>
              <a:ea typeface="Arial Unicode MS" pitchFamily="34" charset="-128"/>
              <a:cs typeface="Arial Unicode MS" pitchFamily="34" charset="-128"/>
            </a:endParaRPr>
          </a:p>
        </p:txBody>
      </p:sp>
      <p:sp>
        <p:nvSpPr>
          <p:cNvPr id="6" name="Rectangle: Rounded Corners 5">
            <a:extLst>
              <a:ext uri="{FF2B5EF4-FFF2-40B4-BE49-F238E27FC236}">
                <a16:creationId xmlns:a16="http://schemas.microsoft.com/office/drawing/2014/main" id="{25830A98-D5F1-49CA-B6A9-D1D12437F037}"/>
              </a:ext>
            </a:extLst>
          </p:cNvPr>
          <p:cNvSpPr/>
          <p:nvPr/>
        </p:nvSpPr>
        <p:spPr bwMode="gray">
          <a:xfrm>
            <a:off x="950472" y="2025446"/>
            <a:ext cx="2969234" cy="2163998"/>
          </a:xfrm>
          <a:prstGeom prst="roundRect">
            <a:avLst/>
          </a:prstGeom>
          <a:noFill/>
          <a:ln w="19050" algn="ctr">
            <a:solidFill>
              <a:schemeClr val="tx1"/>
            </a:solidFill>
            <a:prstDash val="dash"/>
            <a:miter lim="800000"/>
            <a:headEnd/>
            <a:tailEnd/>
          </a:ln>
        </p:spPr>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Pod</a:t>
            </a:r>
          </a:p>
        </p:txBody>
      </p:sp>
      <p:sp>
        <p:nvSpPr>
          <p:cNvPr id="17" name="TextBox 16">
            <a:extLst>
              <a:ext uri="{FF2B5EF4-FFF2-40B4-BE49-F238E27FC236}">
                <a16:creationId xmlns:a16="http://schemas.microsoft.com/office/drawing/2014/main" id="{D139FEFC-B3E0-41A1-A62C-89812500AB8A}"/>
              </a:ext>
            </a:extLst>
          </p:cNvPr>
          <p:cNvSpPr txBox="1"/>
          <p:nvPr/>
        </p:nvSpPr>
        <p:spPr>
          <a:xfrm>
            <a:off x="1105477" y="5182994"/>
            <a:ext cx="2659225" cy="276999"/>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1800" b="1" i="1" kern="0" dirty="0">
                <a:solidFill>
                  <a:schemeClr val="accent5"/>
                </a:solidFill>
                <a:ea typeface="Arial Unicode MS" pitchFamily="34" charset="-128"/>
                <a:cs typeface="Arial Unicode MS" pitchFamily="34" charset="-128"/>
              </a:rPr>
              <a:t>/</a:t>
            </a:r>
            <a:r>
              <a:rPr lang="en-US" sz="1800" b="1" i="1" kern="0" dirty="0" err="1">
                <a:solidFill>
                  <a:schemeClr val="accent5"/>
                </a:solidFill>
                <a:ea typeface="Arial Unicode MS" pitchFamily="34" charset="-128"/>
                <a:cs typeface="Arial Unicode MS" pitchFamily="34" charset="-128"/>
              </a:rPr>
              <a:t>mnt</a:t>
            </a:r>
            <a:r>
              <a:rPr lang="en-US" sz="1800" b="1" i="1" kern="0" dirty="0">
                <a:solidFill>
                  <a:schemeClr val="accent5"/>
                </a:solidFill>
                <a:ea typeface="Arial Unicode MS" pitchFamily="34" charset="-128"/>
                <a:cs typeface="Arial Unicode MS" pitchFamily="34" charset="-128"/>
              </a:rPr>
              <a:t>/</a:t>
            </a:r>
            <a:r>
              <a:rPr lang="en-US" sz="1800" b="1" i="1" kern="0" dirty="0" err="1">
                <a:solidFill>
                  <a:schemeClr val="accent5"/>
                </a:solidFill>
                <a:ea typeface="Arial Unicode MS" pitchFamily="34" charset="-128"/>
                <a:cs typeface="Arial Unicode MS" pitchFamily="34" charset="-128"/>
              </a:rPr>
              <a:t>gce</a:t>
            </a:r>
            <a:r>
              <a:rPr lang="en-US" sz="1800" b="1" i="1" kern="0" dirty="0">
                <a:solidFill>
                  <a:schemeClr val="accent5"/>
                </a:solidFill>
                <a:ea typeface="Arial Unicode MS" pitchFamily="34" charset="-128"/>
                <a:cs typeface="Arial Unicode MS" pitchFamily="34" charset="-128"/>
              </a:rPr>
              <a:t>-pd-volume/</a:t>
            </a:r>
          </a:p>
        </p:txBody>
      </p:sp>
      <p:cxnSp>
        <p:nvCxnSpPr>
          <p:cNvPr id="21" name="Connector: Elbow 20">
            <a:extLst>
              <a:ext uri="{FF2B5EF4-FFF2-40B4-BE49-F238E27FC236}">
                <a16:creationId xmlns:a16="http://schemas.microsoft.com/office/drawing/2014/main" id="{F7361A46-7B35-4E09-B259-AA86FD4D6B79}"/>
              </a:ext>
            </a:extLst>
          </p:cNvPr>
          <p:cNvCxnSpPr>
            <a:cxnSpLocks/>
            <a:stCxn id="17" idx="3"/>
            <a:endCxn id="5" idx="3"/>
          </p:cNvCxnSpPr>
          <p:nvPr/>
        </p:nvCxnSpPr>
        <p:spPr>
          <a:xfrm flipH="1" flipV="1">
            <a:off x="3637455" y="2951369"/>
            <a:ext cx="127247" cy="2370125"/>
          </a:xfrm>
          <a:prstGeom prst="bentConnector3">
            <a:avLst>
              <a:gd name="adj1" fmla="val -646743"/>
            </a:avLst>
          </a:prstGeom>
          <a:ln w="76200">
            <a:headEnd type="none" w="med" len="med"/>
            <a:tailEnd type="triangle"/>
          </a:ln>
        </p:spPr>
        <p:style>
          <a:lnRef idx="1">
            <a:schemeClr val="accent2"/>
          </a:lnRef>
          <a:fillRef idx="0">
            <a:schemeClr val="accent2"/>
          </a:fillRef>
          <a:effectRef idx="0">
            <a:schemeClr val="accent2"/>
          </a:effectRef>
          <a:fontRef idx="minor">
            <a:schemeClr val="tx1"/>
          </a:fontRef>
        </p:style>
      </p:cxnSp>
      <p:grpSp>
        <p:nvGrpSpPr>
          <p:cNvPr id="7" name="Group 6">
            <a:extLst>
              <a:ext uri="{FF2B5EF4-FFF2-40B4-BE49-F238E27FC236}">
                <a16:creationId xmlns:a16="http://schemas.microsoft.com/office/drawing/2014/main" id="{8154FFA1-6EF9-40ED-926C-58DFB177CAC4}"/>
              </a:ext>
            </a:extLst>
          </p:cNvPr>
          <p:cNvGrpSpPr/>
          <p:nvPr/>
        </p:nvGrpSpPr>
        <p:grpSpPr>
          <a:xfrm>
            <a:off x="5125731" y="1310764"/>
            <a:ext cx="1992118" cy="2583048"/>
            <a:chOff x="9638262" y="2348384"/>
            <a:chExt cx="1992118" cy="2583048"/>
          </a:xfrm>
        </p:grpSpPr>
        <p:pic>
          <p:nvPicPr>
            <p:cNvPr id="8" name="Graphic 7" descr="Database">
              <a:extLst>
                <a:ext uri="{FF2B5EF4-FFF2-40B4-BE49-F238E27FC236}">
                  <a16:creationId xmlns:a16="http://schemas.microsoft.com/office/drawing/2014/main" id="{91424F3F-1D0A-4E2E-93FA-2C0708021F9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638262" y="2782348"/>
              <a:ext cx="1992118" cy="1992118"/>
            </a:xfrm>
            <a:prstGeom prst="rect">
              <a:avLst/>
            </a:prstGeom>
          </p:spPr>
        </p:pic>
        <p:sp>
          <p:nvSpPr>
            <p:cNvPr id="13" name="TextBox 12">
              <a:extLst>
                <a:ext uri="{FF2B5EF4-FFF2-40B4-BE49-F238E27FC236}">
                  <a16:creationId xmlns:a16="http://schemas.microsoft.com/office/drawing/2014/main" id="{B41FC596-573E-4AE8-B730-E5EDE03ABBFA}"/>
                </a:ext>
              </a:extLst>
            </p:cNvPr>
            <p:cNvSpPr txBox="1"/>
            <p:nvPr/>
          </p:nvSpPr>
          <p:spPr>
            <a:xfrm>
              <a:off x="9656369" y="2348384"/>
              <a:ext cx="1955904" cy="553998"/>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1800" b="1" kern="0" dirty="0">
                  <a:ea typeface="Arial Unicode MS" pitchFamily="34" charset="-128"/>
                  <a:cs typeface="Arial Unicode MS" pitchFamily="34" charset="-128"/>
                </a:rPr>
                <a:t>10 GB      Persistent Disk </a:t>
              </a:r>
            </a:p>
          </p:txBody>
        </p:sp>
        <p:sp>
          <p:nvSpPr>
            <p:cNvPr id="41" name="TextBox 40">
              <a:extLst>
                <a:ext uri="{FF2B5EF4-FFF2-40B4-BE49-F238E27FC236}">
                  <a16:creationId xmlns:a16="http://schemas.microsoft.com/office/drawing/2014/main" id="{A5B6FDA5-3A11-48F6-B6C6-D8DA71C5C7A8}"/>
                </a:ext>
              </a:extLst>
            </p:cNvPr>
            <p:cNvSpPr txBox="1"/>
            <p:nvPr/>
          </p:nvSpPr>
          <p:spPr>
            <a:xfrm>
              <a:off x="9656369" y="4654433"/>
              <a:ext cx="1955904" cy="276999"/>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1800" b="1" i="1" kern="0" dirty="0">
                  <a:solidFill>
                    <a:schemeClr val="accent5"/>
                  </a:solidFill>
                  <a:ea typeface="Arial Unicode MS" pitchFamily="34" charset="-128"/>
                  <a:cs typeface="Arial Unicode MS" pitchFamily="34" charset="-128"/>
                </a:rPr>
                <a:t>/dev/</a:t>
              </a:r>
              <a:r>
                <a:rPr lang="en-US" sz="1800" b="1" i="1" kern="0" dirty="0" err="1">
                  <a:solidFill>
                    <a:schemeClr val="accent5"/>
                  </a:solidFill>
                  <a:ea typeface="Arial Unicode MS" pitchFamily="34" charset="-128"/>
                  <a:cs typeface="Arial Unicode MS" pitchFamily="34" charset="-128"/>
                </a:rPr>
                <a:t>sdb</a:t>
              </a:r>
              <a:endParaRPr lang="en-US" sz="1800" b="1" i="1" kern="0" dirty="0">
                <a:solidFill>
                  <a:schemeClr val="accent5"/>
                </a:solidFill>
                <a:ea typeface="Arial Unicode MS" pitchFamily="34" charset="-128"/>
                <a:cs typeface="Arial Unicode MS" pitchFamily="34" charset="-128"/>
              </a:endParaRPr>
            </a:p>
          </p:txBody>
        </p:sp>
      </p:grpSp>
      <p:sp>
        <p:nvSpPr>
          <p:cNvPr id="22" name="Rectangle 21">
            <a:extLst>
              <a:ext uri="{FF2B5EF4-FFF2-40B4-BE49-F238E27FC236}">
                <a16:creationId xmlns:a16="http://schemas.microsoft.com/office/drawing/2014/main" id="{17A03B74-0A8F-446F-8FB4-2823A9A0B4D5}"/>
              </a:ext>
            </a:extLst>
          </p:cNvPr>
          <p:cNvSpPr/>
          <p:nvPr/>
        </p:nvSpPr>
        <p:spPr bwMode="gray">
          <a:xfrm>
            <a:off x="7919624" y="1209500"/>
            <a:ext cx="3815027" cy="4439000"/>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r>
              <a:rPr lang="de-DE" sz="2400" b="1" kern="0" dirty="0" err="1">
                <a:ea typeface="Arial Unicode MS" pitchFamily="34" charset="-128"/>
                <a:cs typeface="Arial Unicode MS" pitchFamily="34" charset="-128"/>
              </a:rPr>
              <a:t>Node</a:t>
            </a:r>
            <a:r>
              <a:rPr lang="de-DE" sz="2400" b="1" kern="0" dirty="0">
                <a:ea typeface="Arial Unicode MS" pitchFamily="34" charset="-128"/>
                <a:cs typeface="Arial Unicode MS" pitchFamily="34" charset="-128"/>
              </a:rPr>
              <a:t> 2</a:t>
            </a:r>
          </a:p>
        </p:txBody>
      </p:sp>
      <p:sp>
        <p:nvSpPr>
          <p:cNvPr id="23" name="Rectangle 22">
            <a:extLst>
              <a:ext uri="{FF2B5EF4-FFF2-40B4-BE49-F238E27FC236}">
                <a16:creationId xmlns:a16="http://schemas.microsoft.com/office/drawing/2014/main" id="{FF49F2F2-D2A1-4B14-BBD5-DA6639A9A5A8}"/>
              </a:ext>
            </a:extLst>
          </p:cNvPr>
          <p:cNvSpPr/>
          <p:nvPr/>
        </p:nvSpPr>
        <p:spPr bwMode="gray">
          <a:xfrm>
            <a:off x="8128365" y="1839204"/>
            <a:ext cx="3434836" cy="3149193"/>
          </a:xfrm>
          <a:prstGeom prst="rect">
            <a:avLst/>
          </a:prstGeom>
          <a:solidFill>
            <a:schemeClr val="accent1">
              <a:lumMod val="60000"/>
              <a:lumOff val="40000"/>
            </a:schemeClr>
          </a:solidFill>
          <a:ln>
            <a:headEnd/>
            <a:tailEnd/>
          </a:ln>
        </p:spPr>
        <p:style>
          <a:lnRef idx="1">
            <a:schemeClr val="accent1"/>
          </a:lnRef>
          <a:fillRef idx="2">
            <a:schemeClr val="accent1"/>
          </a:fillRef>
          <a:effectRef idx="1">
            <a:schemeClr val="accent1"/>
          </a:effectRef>
          <a:fontRef idx="minor">
            <a:schemeClr val="dk1"/>
          </a:fontRef>
        </p:style>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lang="de-DE" sz="2000" b="1" kern="0" noProof="0" dirty="0">
                <a:ea typeface="Arial Unicode MS" pitchFamily="34" charset="-128"/>
                <a:cs typeface="Arial Unicode MS" pitchFamily="34" charset="-128"/>
              </a:rPr>
              <a:t>D</a:t>
            </a:r>
            <a:r>
              <a:rPr kumimoji="0" lang="de-DE" sz="2000" b="1" i="0" strike="noStrike" kern="0" cap="none" spc="0" normalizeH="0" baseline="0" noProof="0" dirty="0">
                <a:ln>
                  <a:noFill/>
                </a:ln>
                <a:effectLst/>
                <a:uLnTx/>
                <a:uFillTx/>
                <a:ea typeface="Arial Unicode MS" pitchFamily="34" charset="-128"/>
                <a:cs typeface="Arial Unicode MS" pitchFamily="34" charset="-128"/>
              </a:rPr>
              <a:t>ocker</a:t>
            </a:r>
            <a:endParaRPr kumimoji="0" lang="de-DE" sz="2400" b="1" i="0" strike="noStrike" kern="0" cap="none" spc="0" normalizeH="0" baseline="0" noProof="0" dirty="0">
              <a:ln>
                <a:noFill/>
              </a:ln>
              <a:effectLst/>
              <a:uLnTx/>
              <a:uFillTx/>
              <a:ea typeface="Arial Unicode MS" pitchFamily="34" charset="-128"/>
              <a:cs typeface="Arial Unicode MS" pitchFamily="34" charset="-128"/>
            </a:endParaRPr>
          </a:p>
        </p:txBody>
      </p:sp>
      <p:sp>
        <p:nvSpPr>
          <p:cNvPr id="24" name="Rectangle 23">
            <a:extLst>
              <a:ext uri="{FF2B5EF4-FFF2-40B4-BE49-F238E27FC236}">
                <a16:creationId xmlns:a16="http://schemas.microsoft.com/office/drawing/2014/main" id="{1BB078D3-3606-4C62-98F8-8C3ECD54EB97}"/>
              </a:ext>
            </a:extLst>
          </p:cNvPr>
          <p:cNvSpPr/>
          <p:nvPr/>
        </p:nvSpPr>
        <p:spPr bwMode="gray">
          <a:xfrm>
            <a:off x="8643417" y="2241660"/>
            <a:ext cx="2404732" cy="1449781"/>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b="1" kern="0" noProof="0" dirty="0">
                <a:ea typeface="Arial Unicode MS" pitchFamily="34" charset="-128"/>
                <a:cs typeface="Arial Unicode MS" pitchFamily="34" charset="-128"/>
              </a:rPr>
              <a:t>Container</a:t>
            </a:r>
          </a:p>
          <a:p>
            <a:pPr marR="0" algn="ctr" defTabSz="914400" eaLnBrk="1" fontAlgn="base" latinLnBrk="0" hangingPunct="1">
              <a:lnSpc>
                <a:spcPct val="100000"/>
              </a:lnSpc>
              <a:spcBef>
                <a:spcPct val="50000"/>
              </a:spcBef>
              <a:spcAft>
                <a:spcPct val="0"/>
              </a:spcAft>
              <a:buClr>
                <a:srgbClr val="F0AB00"/>
              </a:buClr>
              <a:buSzPct val="80000"/>
              <a:tabLst/>
            </a:pPr>
            <a:r>
              <a:rPr kumimoji="0" lang="de-DE" sz="1600" i="1" u="none" strike="noStrike" kern="0" cap="none" spc="0" normalizeH="0" baseline="0" dirty="0">
                <a:ln>
                  <a:noFill/>
                </a:ln>
                <a:effectLst/>
                <a:uLnTx/>
                <a:uFillTx/>
                <a:ea typeface="Arial Unicode MS" pitchFamily="34" charset="-128"/>
                <a:cs typeface="Arial Unicode MS" pitchFamily="34" charset="-128"/>
              </a:rPr>
              <a:t>/</a:t>
            </a:r>
            <a:r>
              <a:rPr kumimoji="0" lang="de-DE" sz="1600" i="1" u="none" strike="noStrike" kern="0" cap="none" spc="0" normalizeH="0" baseline="0" dirty="0" err="1">
                <a:ln>
                  <a:noFill/>
                </a:ln>
                <a:effectLst/>
                <a:uLnTx/>
                <a:uFillTx/>
                <a:ea typeface="Arial Unicode MS" pitchFamily="34" charset="-128"/>
                <a:cs typeface="Arial Unicode MS" pitchFamily="34" charset="-128"/>
              </a:rPr>
              <a:t>usr</a:t>
            </a:r>
            <a:r>
              <a:rPr kumimoji="0" lang="de-DE" sz="1600" i="1" u="none" strike="noStrike" kern="0" cap="none" spc="0" normalizeH="0" baseline="0" dirty="0">
                <a:ln>
                  <a:noFill/>
                </a:ln>
                <a:effectLst/>
                <a:uLnTx/>
                <a:uFillTx/>
                <a:ea typeface="Arial Unicode MS" pitchFamily="34" charset="-128"/>
                <a:cs typeface="Arial Unicode MS" pitchFamily="34" charset="-128"/>
              </a:rPr>
              <a:t>/</a:t>
            </a:r>
            <a:r>
              <a:rPr kumimoji="0" lang="de-DE" sz="1600" i="1" u="none" strike="noStrike" kern="0" cap="none" spc="0" normalizeH="0" baseline="0" dirty="0" err="1">
                <a:ln>
                  <a:noFill/>
                </a:ln>
                <a:effectLst/>
                <a:uLnTx/>
                <a:uFillTx/>
                <a:ea typeface="Arial Unicode MS" pitchFamily="34" charset="-128"/>
                <a:cs typeface="Arial Unicode MS" pitchFamily="34" charset="-128"/>
              </a:rPr>
              <a:t>share</a:t>
            </a:r>
            <a:r>
              <a:rPr kumimoji="0" lang="de-DE" sz="1600" i="1" u="none" strike="noStrike" kern="0" cap="none" spc="0" normalizeH="0" baseline="0" dirty="0">
                <a:ln>
                  <a:noFill/>
                </a:ln>
                <a:effectLst/>
                <a:uLnTx/>
                <a:uFillTx/>
                <a:ea typeface="Arial Unicode MS" pitchFamily="34" charset="-128"/>
                <a:cs typeface="Arial Unicode MS" pitchFamily="34" charset="-128"/>
              </a:rPr>
              <a:t>/</a:t>
            </a:r>
            <a:r>
              <a:rPr kumimoji="0" lang="de-DE" sz="1600" i="1" u="none" strike="noStrike" kern="0" cap="none" spc="0" normalizeH="0" baseline="0" dirty="0" err="1">
                <a:ln>
                  <a:noFill/>
                </a:ln>
                <a:effectLst/>
                <a:uLnTx/>
                <a:uFillTx/>
                <a:ea typeface="Arial Unicode MS" pitchFamily="34" charset="-128"/>
                <a:cs typeface="Arial Unicode MS" pitchFamily="34" charset="-128"/>
              </a:rPr>
              <a:t>nginx</a:t>
            </a:r>
            <a:r>
              <a:rPr kumimoji="0" lang="de-DE" sz="1600" i="1" u="none" strike="noStrike" kern="0" cap="none" spc="0" normalizeH="0" baseline="0" dirty="0">
                <a:ln>
                  <a:noFill/>
                </a:ln>
                <a:effectLst/>
                <a:uLnTx/>
                <a:uFillTx/>
                <a:ea typeface="Arial Unicode MS" pitchFamily="34" charset="-128"/>
                <a:cs typeface="Arial Unicode MS" pitchFamily="34" charset="-128"/>
              </a:rPr>
              <a:t>/</a:t>
            </a:r>
            <a:r>
              <a:rPr kumimoji="0" lang="de-DE" sz="1600" i="1" u="none" strike="noStrike" kern="0" cap="none" spc="0" normalizeH="0" baseline="0" dirty="0" err="1">
                <a:ln>
                  <a:noFill/>
                </a:ln>
                <a:effectLst/>
                <a:uLnTx/>
                <a:uFillTx/>
                <a:ea typeface="Arial Unicode MS" pitchFamily="34" charset="-128"/>
                <a:cs typeface="Arial Unicode MS" pitchFamily="34" charset="-128"/>
              </a:rPr>
              <a:t>html</a:t>
            </a:r>
            <a:endParaRPr kumimoji="0" lang="de-DE" sz="1600" i="1" u="none" strike="noStrike" kern="0" cap="none" spc="0" normalizeH="0" baseline="0" noProof="0" dirty="0">
              <a:ln>
                <a:noFill/>
              </a:ln>
              <a:effectLst/>
              <a:uLnTx/>
              <a:uFillTx/>
              <a:ea typeface="Arial Unicode MS" pitchFamily="34" charset="-128"/>
              <a:cs typeface="Arial Unicode MS" pitchFamily="34" charset="-128"/>
            </a:endParaRPr>
          </a:p>
        </p:txBody>
      </p:sp>
      <p:sp>
        <p:nvSpPr>
          <p:cNvPr id="25" name="Rectangle: Rounded Corners 24">
            <a:extLst>
              <a:ext uri="{FF2B5EF4-FFF2-40B4-BE49-F238E27FC236}">
                <a16:creationId xmlns:a16="http://schemas.microsoft.com/office/drawing/2014/main" id="{AD575484-18CD-4213-9325-F637BF4EE2C5}"/>
              </a:ext>
            </a:extLst>
          </p:cNvPr>
          <p:cNvSpPr/>
          <p:nvPr/>
        </p:nvSpPr>
        <p:spPr bwMode="gray">
          <a:xfrm>
            <a:off x="8361166" y="2040628"/>
            <a:ext cx="2969234" cy="2163998"/>
          </a:xfrm>
          <a:prstGeom prst="roundRect">
            <a:avLst/>
          </a:prstGeom>
          <a:noFill/>
          <a:ln w="19050" algn="ctr">
            <a:solidFill>
              <a:schemeClr val="tx1"/>
            </a:solidFill>
            <a:prstDash val="dash"/>
            <a:miter lim="800000"/>
            <a:headEnd/>
            <a:tailEnd/>
          </a:ln>
        </p:spPr>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Pod</a:t>
            </a:r>
          </a:p>
        </p:txBody>
      </p:sp>
      <p:sp>
        <p:nvSpPr>
          <p:cNvPr id="26" name="TextBox 25">
            <a:extLst>
              <a:ext uri="{FF2B5EF4-FFF2-40B4-BE49-F238E27FC236}">
                <a16:creationId xmlns:a16="http://schemas.microsoft.com/office/drawing/2014/main" id="{705404ED-84FE-4C34-A865-D8C3E182A202}"/>
              </a:ext>
            </a:extLst>
          </p:cNvPr>
          <p:cNvSpPr txBox="1"/>
          <p:nvPr/>
        </p:nvSpPr>
        <p:spPr>
          <a:xfrm>
            <a:off x="8516171" y="5198176"/>
            <a:ext cx="2659225" cy="276999"/>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1800" b="1" i="1" kern="0" dirty="0">
                <a:solidFill>
                  <a:schemeClr val="accent5"/>
                </a:solidFill>
                <a:ea typeface="Arial Unicode MS" pitchFamily="34" charset="-128"/>
                <a:cs typeface="Arial Unicode MS" pitchFamily="34" charset="-128"/>
              </a:rPr>
              <a:t>/</a:t>
            </a:r>
            <a:r>
              <a:rPr lang="en-US" sz="1800" b="1" i="1" kern="0" dirty="0" err="1">
                <a:solidFill>
                  <a:schemeClr val="accent5"/>
                </a:solidFill>
                <a:ea typeface="Arial Unicode MS" pitchFamily="34" charset="-128"/>
                <a:cs typeface="Arial Unicode MS" pitchFamily="34" charset="-128"/>
              </a:rPr>
              <a:t>mnt</a:t>
            </a:r>
            <a:r>
              <a:rPr lang="en-US" sz="1800" b="1" i="1" kern="0" dirty="0">
                <a:solidFill>
                  <a:schemeClr val="accent5"/>
                </a:solidFill>
                <a:ea typeface="Arial Unicode MS" pitchFamily="34" charset="-128"/>
                <a:cs typeface="Arial Unicode MS" pitchFamily="34" charset="-128"/>
              </a:rPr>
              <a:t>/</a:t>
            </a:r>
            <a:r>
              <a:rPr lang="en-US" sz="1800" b="1" i="1" kern="0" dirty="0" err="1">
                <a:solidFill>
                  <a:schemeClr val="accent5"/>
                </a:solidFill>
                <a:ea typeface="Arial Unicode MS" pitchFamily="34" charset="-128"/>
                <a:cs typeface="Arial Unicode MS" pitchFamily="34" charset="-128"/>
              </a:rPr>
              <a:t>gce</a:t>
            </a:r>
            <a:r>
              <a:rPr lang="en-US" sz="1800" b="1" i="1" kern="0" dirty="0">
                <a:solidFill>
                  <a:schemeClr val="accent5"/>
                </a:solidFill>
                <a:ea typeface="Arial Unicode MS" pitchFamily="34" charset="-128"/>
                <a:cs typeface="Arial Unicode MS" pitchFamily="34" charset="-128"/>
              </a:rPr>
              <a:t>-pd-volume/</a:t>
            </a:r>
          </a:p>
        </p:txBody>
      </p:sp>
      <p:cxnSp>
        <p:nvCxnSpPr>
          <p:cNvPr id="27" name="Connector: Elbow 26">
            <a:extLst>
              <a:ext uri="{FF2B5EF4-FFF2-40B4-BE49-F238E27FC236}">
                <a16:creationId xmlns:a16="http://schemas.microsoft.com/office/drawing/2014/main" id="{29B9707C-5250-4605-8216-E074F2243A62}"/>
              </a:ext>
            </a:extLst>
          </p:cNvPr>
          <p:cNvCxnSpPr>
            <a:cxnSpLocks/>
            <a:stCxn id="26" idx="3"/>
            <a:endCxn id="24" idx="3"/>
          </p:cNvCxnSpPr>
          <p:nvPr/>
        </p:nvCxnSpPr>
        <p:spPr>
          <a:xfrm flipH="1" flipV="1">
            <a:off x="11048149" y="2966551"/>
            <a:ext cx="127247" cy="2370125"/>
          </a:xfrm>
          <a:prstGeom prst="bentConnector3">
            <a:avLst>
              <a:gd name="adj1" fmla="val -646743"/>
            </a:avLst>
          </a:prstGeom>
          <a:ln w="76200">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10" name="Connector: Elbow 9">
            <a:extLst>
              <a:ext uri="{FF2B5EF4-FFF2-40B4-BE49-F238E27FC236}">
                <a16:creationId xmlns:a16="http://schemas.microsoft.com/office/drawing/2014/main" id="{7058B0CF-4E8B-44F0-AB4E-8A4167EF78D9}"/>
              </a:ext>
            </a:extLst>
          </p:cNvPr>
          <p:cNvCxnSpPr>
            <a:cxnSpLocks/>
            <a:stCxn id="41" idx="2"/>
            <a:endCxn id="17" idx="2"/>
          </p:cNvCxnSpPr>
          <p:nvPr/>
        </p:nvCxnSpPr>
        <p:spPr>
          <a:xfrm rot="5400000">
            <a:off x="3495350" y="2833552"/>
            <a:ext cx="1566181" cy="3686700"/>
          </a:xfrm>
          <a:prstGeom prst="bentConnector3">
            <a:avLst>
              <a:gd name="adj1" fmla="val 153276"/>
            </a:avLst>
          </a:prstGeom>
          <a:ln w="76200">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31" name="Connector: Elbow 30">
            <a:extLst>
              <a:ext uri="{FF2B5EF4-FFF2-40B4-BE49-F238E27FC236}">
                <a16:creationId xmlns:a16="http://schemas.microsoft.com/office/drawing/2014/main" id="{5D464955-1EEA-4566-AECB-EF1ADFE99C7F}"/>
              </a:ext>
            </a:extLst>
          </p:cNvPr>
          <p:cNvCxnSpPr>
            <a:cxnSpLocks/>
            <a:stCxn id="41" idx="2"/>
            <a:endCxn id="26" idx="2"/>
          </p:cNvCxnSpPr>
          <p:nvPr/>
        </p:nvCxnSpPr>
        <p:spPr>
          <a:xfrm rot="16200000" flipH="1">
            <a:off x="7193106" y="2822496"/>
            <a:ext cx="1581363" cy="3723994"/>
          </a:xfrm>
          <a:prstGeom prst="bentConnector3">
            <a:avLst>
              <a:gd name="adj1" fmla="val 151319"/>
            </a:avLst>
          </a:prstGeom>
          <a:ln w="76200">
            <a:headEnd type="none" w="med" len="med"/>
            <a:tailEnd type="triangle"/>
          </a:ln>
        </p:spPr>
        <p:style>
          <a:lnRef idx="1">
            <a:schemeClr val="accent2"/>
          </a:lnRef>
          <a:fillRef idx="0">
            <a:schemeClr val="accent2"/>
          </a:fillRef>
          <a:effectRef idx="0">
            <a:schemeClr val="accent2"/>
          </a:effectRef>
          <a:fontRef idx="minor">
            <a:schemeClr val="tx1"/>
          </a:fontRef>
        </p:style>
      </p:cxnSp>
      <p:sp>
        <p:nvSpPr>
          <p:cNvPr id="42" name="Speech Bubble: Rectangle 41">
            <a:extLst>
              <a:ext uri="{FF2B5EF4-FFF2-40B4-BE49-F238E27FC236}">
                <a16:creationId xmlns:a16="http://schemas.microsoft.com/office/drawing/2014/main" id="{FFBFC18B-1A79-4368-BD3F-52961CC704B2}"/>
              </a:ext>
            </a:extLst>
          </p:cNvPr>
          <p:cNvSpPr/>
          <p:nvPr/>
        </p:nvSpPr>
        <p:spPr bwMode="gray">
          <a:xfrm>
            <a:off x="4897439" y="4608242"/>
            <a:ext cx="2257265" cy="636814"/>
          </a:xfrm>
          <a:prstGeom prst="wedgeRectCallout">
            <a:avLst>
              <a:gd name="adj1" fmla="val -37132"/>
              <a:gd name="adj2" fmla="val 175106"/>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Mount disk       </a:t>
            </a:r>
            <a:r>
              <a:rPr lang="en-US" sz="1800" b="1" kern="0" dirty="0">
                <a:ea typeface="Arial Unicode MS" pitchFamily="34" charset="-128"/>
                <a:cs typeface="Arial Unicode MS" pitchFamily="34" charset="-128"/>
              </a:rPr>
              <a:t>read-only</a:t>
            </a:r>
            <a:endParaRPr kumimoji="0" lang="en-US" sz="1800" b="1" i="0" u="none" strike="noStrike" kern="0" cap="none" spc="0" normalizeH="0" baseline="0" noProof="0" dirty="0" err="1">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36813958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CEA792-3EB5-4DB7-8C92-AD9889D91019}"/>
              </a:ext>
            </a:extLst>
          </p:cNvPr>
          <p:cNvSpPr>
            <a:spLocks noGrp="1"/>
          </p:cNvSpPr>
          <p:nvPr>
            <p:ph type="title"/>
          </p:nvPr>
        </p:nvSpPr>
        <p:spPr/>
        <p:txBody>
          <a:bodyPr/>
          <a:lstStyle/>
          <a:p>
            <a:r>
              <a:rPr lang="en-US" dirty="0"/>
              <a:t>Persistent Volume Types - Access Modes</a:t>
            </a:r>
          </a:p>
        </p:txBody>
      </p:sp>
      <p:pic>
        <p:nvPicPr>
          <p:cNvPr id="3" name="Picture 2">
            <a:extLst>
              <a:ext uri="{FF2B5EF4-FFF2-40B4-BE49-F238E27FC236}">
                <a16:creationId xmlns:a16="http://schemas.microsoft.com/office/drawing/2014/main" id="{338E6F6E-0917-4601-8DCC-B55E2184291F}"/>
              </a:ext>
            </a:extLst>
          </p:cNvPr>
          <p:cNvPicPr>
            <a:picLocks noChangeAspect="1"/>
          </p:cNvPicPr>
          <p:nvPr/>
        </p:nvPicPr>
        <p:blipFill>
          <a:blip r:embed="rId3"/>
          <a:stretch>
            <a:fillRect/>
          </a:stretch>
        </p:blipFill>
        <p:spPr>
          <a:xfrm>
            <a:off x="504001" y="1125235"/>
            <a:ext cx="6321428" cy="5028572"/>
          </a:xfrm>
          <a:prstGeom prst="rect">
            <a:avLst/>
          </a:prstGeom>
        </p:spPr>
      </p:pic>
    </p:spTree>
    <p:extLst>
      <p:ext uri="{BB962C8B-B14F-4D97-AF65-F5344CB8AC3E}">
        <p14:creationId xmlns:p14="http://schemas.microsoft.com/office/powerpoint/2010/main" val="229661371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Demo</a:t>
            </a:r>
          </a:p>
        </p:txBody>
      </p:sp>
      <p:pic>
        <p:nvPicPr>
          <p:cNvPr id="5" name="Picture 4">
            <a:extLst>
              <a:ext uri="{FF2B5EF4-FFF2-40B4-BE49-F238E27FC236}">
                <a16:creationId xmlns:a16="http://schemas.microsoft.com/office/drawing/2014/main" id="{3B1F9752-9103-4489-B0E8-3477308D9444}"/>
              </a:ext>
            </a:extLst>
          </p:cNvPr>
          <p:cNvPicPr>
            <a:picLocks noChangeAspect="1"/>
          </p:cNvPicPr>
          <p:nvPr/>
        </p:nvPicPr>
        <p:blipFill>
          <a:blip r:embed="rId3"/>
          <a:stretch>
            <a:fillRect/>
          </a:stretch>
        </p:blipFill>
        <p:spPr>
          <a:xfrm>
            <a:off x="3645157" y="976918"/>
            <a:ext cx="4904163" cy="4904163"/>
          </a:xfrm>
          <a:prstGeom prst="rect">
            <a:avLst/>
          </a:prstGeom>
        </p:spPr>
      </p:pic>
    </p:spTree>
    <p:extLst>
      <p:ext uri="{BB962C8B-B14F-4D97-AF65-F5344CB8AC3E}">
        <p14:creationId xmlns:p14="http://schemas.microsoft.com/office/powerpoint/2010/main" val="301270707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What YOU will do in exercise #05</a:t>
            </a:r>
          </a:p>
        </p:txBody>
      </p:sp>
      <p:grpSp>
        <p:nvGrpSpPr>
          <p:cNvPr id="13" name="Group 12"/>
          <p:cNvGrpSpPr/>
          <p:nvPr/>
        </p:nvGrpSpPr>
        <p:grpSpPr>
          <a:xfrm>
            <a:off x="2674620" y="2948940"/>
            <a:ext cx="6187440" cy="1752600"/>
            <a:chOff x="2697480" y="2743200"/>
            <a:chExt cx="6187440" cy="2034540"/>
          </a:xfrm>
        </p:grpSpPr>
        <p:sp>
          <p:nvSpPr>
            <p:cNvPr id="12" name="Rectangle: Rounded Corners 11"/>
            <p:cNvSpPr/>
            <p:nvPr/>
          </p:nvSpPr>
          <p:spPr bwMode="gray">
            <a:xfrm>
              <a:off x="2697480" y="2743200"/>
              <a:ext cx="6187440" cy="2034540"/>
            </a:xfrm>
            <a:prstGeom prst="roundRect">
              <a:avLst/>
            </a:prstGeom>
            <a:ln>
              <a:headEnd/>
              <a:tailEnd/>
            </a:ln>
          </p:spPr>
          <p:style>
            <a:lnRef idx="2">
              <a:schemeClr val="accent1"/>
            </a:lnRef>
            <a:fillRef idx="1">
              <a:schemeClr val="lt1"/>
            </a:fillRef>
            <a:effectRef idx="0">
              <a:schemeClr val="accent1"/>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4" name="Rectangle 3"/>
            <p:cNvSpPr/>
            <p:nvPr/>
          </p:nvSpPr>
          <p:spPr bwMode="gray">
            <a:xfrm>
              <a:off x="2989653" y="3164976"/>
              <a:ext cx="1627931" cy="1156258"/>
            </a:xfrm>
            <a:prstGeom prst="rect">
              <a:avLst/>
            </a:prstGeom>
            <a:solidFill>
              <a:schemeClr val="bg2"/>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de-DE" sz="1800" kern="0" dirty="0" err="1">
                  <a:ea typeface="Arial Unicode MS" pitchFamily="34" charset="-128"/>
                  <a:cs typeface="Arial Unicode MS" pitchFamily="34" charset="-128"/>
                </a:rPr>
                <a:t>nginx</a:t>
              </a:r>
              <a:endParaRPr lang="de-DE" sz="1800" kern="0" dirty="0">
                <a:ea typeface="Arial Unicode MS" pitchFamily="34" charset="-128"/>
                <a:cs typeface="Arial Unicode MS" pitchFamily="34" charset="-128"/>
              </a:endParaRPr>
            </a:p>
          </p:txBody>
        </p:sp>
        <p:sp>
          <p:nvSpPr>
            <p:cNvPr id="6" name="Rectangle 5"/>
            <p:cNvSpPr/>
            <p:nvPr/>
          </p:nvSpPr>
          <p:spPr bwMode="gray">
            <a:xfrm>
              <a:off x="6855115" y="3164976"/>
              <a:ext cx="1627931" cy="1156258"/>
            </a:xfrm>
            <a:prstGeom prst="rect">
              <a:avLst/>
            </a:prstGeom>
            <a:solidFill>
              <a:schemeClr val="bg2"/>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800" kern="0" dirty="0" err="1">
                  <a:ea typeface="Arial Unicode MS" pitchFamily="34" charset="-128"/>
                  <a:cs typeface="Arial Unicode MS" pitchFamily="34" charset="-128"/>
                </a:rPr>
                <a:t>nginx</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7" name="Rectangle 6"/>
            <p:cNvSpPr/>
            <p:nvPr/>
          </p:nvSpPr>
          <p:spPr bwMode="gray">
            <a:xfrm>
              <a:off x="4922384" y="3164976"/>
              <a:ext cx="1627931" cy="1156258"/>
            </a:xfrm>
            <a:prstGeom prst="rect">
              <a:avLst/>
            </a:prstGeom>
            <a:solidFill>
              <a:schemeClr val="bg2"/>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800" kern="0" dirty="0" err="1">
                  <a:ea typeface="Arial Unicode MS" pitchFamily="34" charset="-128"/>
                  <a:cs typeface="Arial Unicode MS" pitchFamily="34" charset="-128"/>
                </a:rPr>
                <a:t>nginx</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grpSp>
      <p:grpSp>
        <p:nvGrpSpPr>
          <p:cNvPr id="15" name="Group 14"/>
          <p:cNvGrpSpPr/>
          <p:nvPr/>
        </p:nvGrpSpPr>
        <p:grpSpPr>
          <a:xfrm>
            <a:off x="3482340" y="5176656"/>
            <a:ext cx="4572000" cy="1363980"/>
            <a:chOff x="3421380" y="5067300"/>
            <a:chExt cx="4572000" cy="1363980"/>
          </a:xfrm>
        </p:grpSpPr>
        <p:sp>
          <p:nvSpPr>
            <p:cNvPr id="14" name="Rectangle: Rounded Corners 13"/>
            <p:cNvSpPr/>
            <p:nvPr/>
          </p:nvSpPr>
          <p:spPr bwMode="gray">
            <a:xfrm>
              <a:off x="3421380" y="5067300"/>
              <a:ext cx="4572000" cy="1363980"/>
            </a:xfrm>
            <a:prstGeom prst="roundRect">
              <a:avLst/>
            </a:prstGeom>
            <a:ln>
              <a:headEnd/>
              <a:tailEnd/>
            </a:ln>
          </p:spPr>
          <p:style>
            <a:lnRef idx="2">
              <a:schemeClr val="accent1"/>
            </a:lnRef>
            <a:fillRef idx="1">
              <a:schemeClr val="lt1"/>
            </a:fillRef>
            <a:effectRef idx="0">
              <a:schemeClr val="accent1"/>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 name="Cylinder 7"/>
            <p:cNvSpPr/>
            <p:nvPr/>
          </p:nvSpPr>
          <p:spPr bwMode="gray">
            <a:xfrm>
              <a:off x="3946888" y="5248563"/>
              <a:ext cx="998220" cy="1004248"/>
            </a:xfrm>
            <a:prstGeom prst="can">
              <a:avLst/>
            </a:prstGeom>
            <a:solidFill>
              <a:schemeClr val="accent4"/>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800" b="0" i="0" u="none" strike="noStrike" kern="0" cap="none" spc="0" normalizeH="0" baseline="0" noProof="0" dirty="0" err="1">
                  <a:ln>
                    <a:noFill/>
                  </a:ln>
                  <a:effectLst/>
                  <a:uLnTx/>
                  <a:uFillTx/>
                  <a:ea typeface="Arial Unicode MS" pitchFamily="34" charset="-128"/>
                  <a:cs typeface="Arial Unicode MS" pitchFamily="34" charset="-128"/>
                </a:rPr>
                <a:t>content</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9" name="Cylinder 8"/>
            <p:cNvSpPr/>
            <p:nvPr/>
          </p:nvSpPr>
          <p:spPr bwMode="gray">
            <a:xfrm>
              <a:off x="5214379" y="5248563"/>
              <a:ext cx="998220" cy="1004248"/>
            </a:xfrm>
            <a:prstGeom prst="can">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800" b="0" i="0" u="none" strike="noStrike" kern="0" cap="none" spc="0" normalizeH="0" baseline="0" noProof="0" dirty="0" err="1">
                  <a:ln>
                    <a:noFill/>
                  </a:ln>
                  <a:effectLst/>
                  <a:uLnTx/>
                  <a:uFillTx/>
                  <a:ea typeface="Arial Unicode MS" pitchFamily="34" charset="-128"/>
                  <a:cs typeface="Arial Unicode MS" pitchFamily="34" charset="-128"/>
                </a:rPr>
                <a:t>config</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0" name="Cylinder 9"/>
            <p:cNvSpPr/>
            <p:nvPr/>
          </p:nvSpPr>
          <p:spPr bwMode="gray">
            <a:xfrm>
              <a:off x="6481870" y="5248563"/>
              <a:ext cx="998220" cy="1004248"/>
            </a:xfrm>
            <a:prstGeom prst="can">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800" kern="0" dirty="0" err="1">
                  <a:ea typeface="Arial Unicode MS" pitchFamily="34" charset="-128"/>
                  <a:cs typeface="Arial Unicode MS" pitchFamily="34" charset="-128"/>
                </a:rPr>
                <a:t>tls</a:t>
              </a:r>
              <a:r>
                <a:rPr lang="de-DE" sz="1800" kern="0" dirty="0">
                  <a:ea typeface="Arial Unicode MS" pitchFamily="34" charset="-128"/>
                  <a:cs typeface="Arial Unicode MS" pitchFamily="34" charset="-128"/>
                </a:rPr>
                <a:t> </a:t>
              </a:r>
              <a:r>
                <a:rPr lang="de-DE" sz="1800" kern="0" dirty="0" err="1">
                  <a:ea typeface="Arial Unicode MS" pitchFamily="34" charset="-128"/>
                  <a:cs typeface="Arial Unicode MS" pitchFamily="34" charset="-128"/>
                </a:rPr>
                <a:t>certs</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grpSp>
      <p:sp>
        <p:nvSpPr>
          <p:cNvPr id="16" name="Arrow: Up-Down 15"/>
          <p:cNvSpPr/>
          <p:nvPr/>
        </p:nvSpPr>
        <p:spPr bwMode="gray">
          <a:xfrm>
            <a:off x="5657231" y="4400550"/>
            <a:ext cx="222219" cy="845820"/>
          </a:xfrm>
          <a:prstGeom prst="upDownArrow">
            <a:avLst/>
          </a:prstGeom>
          <a:solidFill>
            <a:schemeClr val="accent4"/>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7" name="Cloud 16"/>
          <p:cNvSpPr/>
          <p:nvPr/>
        </p:nvSpPr>
        <p:spPr bwMode="gray">
          <a:xfrm>
            <a:off x="4077319" y="1126276"/>
            <a:ext cx="3382042" cy="914400"/>
          </a:xfrm>
          <a:prstGeom prst="cloud">
            <a:avLst/>
          </a:prstGeom>
          <a:solidFill>
            <a:schemeClr val="accent1"/>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Arrow: Up-Down 17"/>
          <p:cNvSpPr/>
          <p:nvPr/>
        </p:nvSpPr>
        <p:spPr bwMode="gray">
          <a:xfrm>
            <a:off x="5657231" y="2071898"/>
            <a:ext cx="222219" cy="845820"/>
          </a:xfrm>
          <a:prstGeom prst="upDownArrow">
            <a:avLst/>
          </a:prstGeom>
          <a:solidFill>
            <a:schemeClr val="accent1"/>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9" name="Speech Bubble: Rectangle 18">
            <a:extLst>
              <a:ext uri="{FF2B5EF4-FFF2-40B4-BE49-F238E27FC236}">
                <a16:creationId xmlns:a16="http://schemas.microsoft.com/office/drawing/2014/main" id="{E73EBB9E-26DF-49BD-95B4-828C2AA2B35A}"/>
              </a:ext>
            </a:extLst>
          </p:cNvPr>
          <p:cNvSpPr/>
          <p:nvPr/>
        </p:nvSpPr>
        <p:spPr bwMode="gray">
          <a:xfrm>
            <a:off x="384953" y="4899997"/>
            <a:ext cx="2535294" cy="915844"/>
          </a:xfrm>
          <a:prstGeom prst="wedgeRectCallout">
            <a:avLst>
              <a:gd name="adj1" fmla="val 84676"/>
              <a:gd name="adj2" fmla="val 47692"/>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Add persistent storage to your pods</a:t>
            </a: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408558144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Tree>
  </p:cSld>
  <p:clrMapOvr>
    <a:masterClrMapping/>
  </p:clrMapOvr>
  <p:transition spd="med"/>
</p:sld>
</file>

<file path=ppt/theme/theme1.xml><?xml version="1.0" encoding="utf-8"?>
<a:theme xmlns:a="http://schemas.openxmlformats.org/drawingml/2006/main" name="SAP_2017_16x9_black">
  <a:themeElements>
    <a:clrScheme name="SAP_colors_2017">
      <a:dk1>
        <a:srgbClr val="000000"/>
      </a:dk1>
      <a:lt1>
        <a:srgbClr val="FFFFFF"/>
      </a:lt1>
      <a:dk2>
        <a:srgbClr val="CCCCCC"/>
      </a:dk2>
      <a:lt2>
        <a:srgbClr val="999999"/>
      </a:lt2>
      <a:accent1>
        <a:srgbClr val="F0AB00"/>
      </a:accent1>
      <a:accent2>
        <a:srgbClr val="666666"/>
      </a:accent2>
      <a:accent3>
        <a:srgbClr val="008FD3"/>
      </a:accent3>
      <a:accent4>
        <a:srgbClr val="4FB81C"/>
      </a:accent4>
      <a:accent5>
        <a:srgbClr val="E35500"/>
      </a:accent5>
      <a:accent6>
        <a:srgbClr val="970A82"/>
      </a:accent6>
      <a:hlink>
        <a:srgbClr val="008FD3"/>
      </a:hlink>
      <a:folHlink>
        <a:srgbClr val="008FD3"/>
      </a:folHlink>
    </a:clrScheme>
    <a:fontScheme name="SAP Fonts">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chemeClr val="accent1"/>
        </a:solidFill>
        <a:ln w="6350" algn="ctr">
          <a:noFill/>
          <a:miter lim="800000"/>
          <a:headEnd/>
          <a:tailEnd/>
        </a:ln>
      </a:spPr>
      <a:bodyPr lIns="90000" tIns="72000" rIns="90000" bIns="72000" rtlCol="0" anchor="ctr"/>
      <a:lstStyle>
        <a:defPPr marR="0" algn="ctr" defTabSz="914400" eaLnBrk="1" fontAlgn="base" latinLnBrk="0" hangingPunct="1">
          <a:lnSpc>
            <a:spcPct val="100000"/>
          </a:lnSpc>
          <a:spcBef>
            <a:spcPct val="50000"/>
          </a:spcBef>
          <a:spcAft>
            <a:spcPct val="0"/>
          </a:spcAft>
          <a:buClr>
            <a:srgbClr val="F0AB00"/>
          </a:buClr>
          <a:buSzPct val="80000"/>
          <a:tabLst/>
          <a:defRPr kumimoji="0" sz="1800" b="0" i="0" u="none" strike="noStrike" kern="0" cap="none" spc="0" normalizeH="0" baseline="0" noProof="0" dirty="0" err="1" smtClean="0">
            <a:ln>
              <a:noFill/>
            </a:ln>
            <a:effectLst/>
            <a:uLnTx/>
            <a:uFillTx/>
            <a:ea typeface="Arial Unicode MS" pitchFamily="34" charset="-128"/>
            <a:cs typeface="Arial Unicode MS" pitchFamily="34" charset="-128"/>
          </a:defRPr>
        </a:defPPr>
      </a:lstStyle>
    </a:spDef>
    <a:lnDef>
      <a:spPr>
        <a:ln w="9525">
          <a:solidFill>
            <a:schemeClr val="tx1"/>
          </a:solidFill>
          <a:headEnd type="none" w="med" len="med"/>
          <a:tailEnd type="none" w="med" len="med"/>
        </a:ln>
      </a:spPr>
      <a:bodyPr/>
      <a:lstStyle/>
      <a:style>
        <a:lnRef idx="1">
          <a:schemeClr val="accent1"/>
        </a:lnRef>
        <a:fillRef idx="0">
          <a:schemeClr val="accent1"/>
        </a:fillRef>
        <a:effectRef idx="0">
          <a:schemeClr val="accent1"/>
        </a:effectRef>
        <a:fontRef idx="minor">
          <a:schemeClr val="tx1"/>
        </a:fontRef>
      </a:style>
    </a:lnDef>
    <a:txDef>
      <a:spPr>
        <a:noFill/>
      </a:spPr>
      <a:bodyPr wrap="none" lIns="0" tIns="0" rIns="0" bIns="0" rtlCol="0">
        <a:spAutoFit/>
      </a:bodyPr>
      <a:lstStyle>
        <a:defPPr fontAlgn="base">
          <a:spcBef>
            <a:spcPct val="50000"/>
          </a:spcBef>
          <a:spcAft>
            <a:spcPct val="0"/>
          </a:spcAft>
          <a:buClr>
            <a:srgbClr val="F0AB00"/>
          </a:buClr>
          <a:buSzPct val="80000"/>
          <a:defRPr sz="1800" kern="0" dirty="0" err="1" smtClean="0">
            <a:ea typeface="Arial Unicode MS" pitchFamily="34" charset="-128"/>
            <a:cs typeface="Arial Unicode MS" pitchFamily="34" charset="-128"/>
          </a:defRPr>
        </a:defPPr>
      </a:lstStyle>
    </a:txDef>
  </a:objectDefaults>
  <a:extraClrSchemeLst/>
  <a:extLst>
    <a:ext uri="{05A4C25C-085E-4340-85A3-A5531E510DB2}">
      <thm15:themeFamily xmlns:thm15="http://schemas.microsoft.com/office/thememl/2012/main" name="SAP_2017_16x9_black.potx" id="{9488014F-4BF2-4B73-9741-6D40B78C18AF}" vid="{315AB80D-2AE3-4555-B7D1-B9C512524916}"/>
    </a:ext>
  </a:extLst>
</a:theme>
</file>

<file path=ppt/theme/theme2.xml><?xml version="1.0" encoding="utf-8"?>
<a:theme xmlns:a="http://schemas.openxmlformats.org/drawingml/2006/main" name="Office Theme">
  <a:themeElements>
    <a:clrScheme name="SAP_Colors2011_1.1">
      <a:dk1>
        <a:srgbClr val="000000"/>
      </a:dk1>
      <a:lt1>
        <a:srgbClr val="FFFFFF"/>
      </a:lt1>
      <a:dk2>
        <a:srgbClr val="0076CB"/>
      </a:dk2>
      <a:lt2>
        <a:srgbClr val="CCCCCC"/>
      </a:lt2>
      <a:accent1>
        <a:srgbClr val="F0AB00"/>
      </a:accent1>
      <a:accent2>
        <a:srgbClr val="666666"/>
      </a:accent2>
      <a:accent3>
        <a:srgbClr val="0076CB"/>
      </a:accent3>
      <a:accent4>
        <a:srgbClr val="4FB81C"/>
      </a:accent4>
      <a:accent5>
        <a:srgbClr val="E35500"/>
      </a:accent5>
      <a:accent6>
        <a:srgbClr val="760A85"/>
      </a:accent6>
      <a:hlink>
        <a:srgbClr val="666666"/>
      </a:hlink>
      <a:folHlink>
        <a:srgbClr val="CCCCCC"/>
      </a:folHlink>
    </a:clrScheme>
    <a:fontScheme name="SAP_Fonts2011">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SAP_Colors2011">
      <a:dk1>
        <a:srgbClr val="000000"/>
      </a:dk1>
      <a:lt1>
        <a:srgbClr val="FFFFFF"/>
      </a:lt1>
      <a:dk2>
        <a:srgbClr val="00AFE3"/>
      </a:dk2>
      <a:lt2>
        <a:srgbClr val="CCCCCC"/>
      </a:lt2>
      <a:accent1>
        <a:srgbClr val="FDB913"/>
      </a:accent1>
      <a:accent2>
        <a:srgbClr val="626366"/>
      </a:accent2>
      <a:accent3>
        <a:srgbClr val="0082C9"/>
      </a:accent3>
      <a:accent4>
        <a:srgbClr val="4BBE44"/>
      </a:accent4>
      <a:accent5>
        <a:srgbClr val="B1D249"/>
      </a:accent5>
      <a:accent6>
        <a:srgbClr val="80298F"/>
      </a:accent6>
      <a:hlink>
        <a:srgbClr val="04357B"/>
      </a:hlink>
      <a:folHlink>
        <a:srgbClr val="999999"/>
      </a:folHlink>
    </a:clrScheme>
    <a:fontScheme name="SAP_Fonts2011">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2177</Words>
  <Application>Microsoft Macintosh PowerPoint</Application>
  <PresentationFormat>Benutzerdefiniert</PresentationFormat>
  <Paragraphs>284</Paragraphs>
  <Slides>21</Slides>
  <Notes>20</Notes>
  <HiddenSlides>2</HiddenSlides>
  <MMClips>0</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21</vt:i4>
      </vt:variant>
    </vt:vector>
  </HeadingPairs>
  <TitlesOfParts>
    <vt:vector size="27" baseType="lpstr">
      <vt:lpstr>Arial</vt:lpstr>
      <vt:lpstr>Courier New</vt:lpstr>
      <vt:lpstr>Symbol</vt:lpstr>
      <vt:lpstr>Wingdings</vt:lpstr>
      <vt:lpstr>Wingdings</vt:lpstr>
      <vt:lpstr>SAP_2017_16x9_black</vt:lpstr>
      <vt:lpstr>PowerPoint-Präsentation</vt:lpstr>
      <vt:lpstr>What‘s the issue? </vt:lpstr>
      <vt:lpstr>Technically, it’s still about containers …</vt:lpstr>
      <vt:lpstr>How to solve it on K8s level?</vt:lpstr>
      <vt:lpstr>Volumes &amp; VolumeMounts</vt:lpstr>
      <vt:lpstr>What happens in the background …</vt:lpstr>
      <vt:lpstr>Are there drawbacks of direct storage integration?</vt:lpstr>
      <vt:lpstr>Storage with PersistentVolumes &amp; PersistentVolumeClaims</vt:lpstr>
      <vt:lpstr>Storage with PersistentVolumes &amp; PersistentVolumeClaims</vt:lpstr>
      <vt:lpstr>Storage Classes</vt:lpstr>
      <vt:lpstr>            CSI</vt:lpstr>
      <vt:lpstr>            CSI</vt:lpstr>
      <vt:lpstr>PV/PVC lifecycle</vt:lpstr>
      <vt:lpstr>Access Modes</vt:lpstr>
      <vt:lpstr>What happens in the background …</vt:lpstr>
      <vt:lpstr>What happens in the background …</vt:lpstr>
      <vt:lpstr>What happens in the background …</vt:lpstr>
      <vt:lpstr>Persistent Volume Types - Access Modes</vt:lpstr>
      <vt:lpstr>Demo</vt:lpstr>
      <vt:lpstr>What YOU will do in exercise #05</vt:lpstr>
      <vt:lpstr>PowerPoint-Präsentation</vt:lpstr>
    </vt:vector>
  </TitlesOfParts>
  <Company>SAP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SAP PPT Template</dc:title>
  <dc:creator>SAP SE</dc:creator>
  <cp:keywords>2017/16:9/black</cp:keywords>
  <cp:lastModifiedBy>Kahl, Hendrik</cp:lastModifiedBy>
  <cp:revision>568</cp:revision>
  <dcterms:created xsi:type="dcterms:W3CDTF">2015-10-14T11:21:43Z</dcterms:created>
  <dcterms:modified xsi:type="dcterms:W3CDTF">2021-02-11T15:31:24Z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AdHocReviewCycleID">
    <vt:i4>1101452479</vt:i4>
  </property>
  <property fmtid="{D5CDD505-2E9C-101B-9397-08002B2CF9AE}" pid="3" name="_NewReviewCycle">
    <vt:lpwstr/>
  </property>
  <property fmtid="{D5CDD505-2E9C-101B-9397-08002B2CF9AE}" pid="4" name="_EmailSubject">
    <vt:lpwstr>SAP - PPT Exploration (Updated)</vt:lpwstr>
  </property>
  <property fmtid="{D5CDD505-2E9C-101B-9397-08002B2CF9AE}" pid="5" name="_AuthorEmail">
    <vt:lpwstr>heidi.bitz@sap.com</vt:lpwstr>
  </property>
  <property fmtid="{D5CDD505-2E9C-101B-9397-08002B2CF9AE}" pid="6" name="_AuthorEmailDisplayName">
    <vt:lpwstr>Bitz, Heidi</vt:lpwstr>
  </property>
  <property fmtid="{D5CDD505-2E9C-101B-9397-08002B2CF9AE}" pid="7" name="_PreviousAdHocReviewCycleID">
    <vt:i4>1357826825</vt:i4>
  </property>
</Properties>
</file>