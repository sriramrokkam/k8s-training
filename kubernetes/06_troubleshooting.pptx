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3" r:id="rId1"/>
  </p:sldMasterIdLst>
  <p:notesMasterIdLst>
    <p:notesMasterId r:id="rId13"/>
  </p:notesMasterIdLst>
  <p:handoutMasterIdLst>
    <p:handoutMasterId r:id="rId14"/>
  </p:handoutMasterIdLst>
  <p:sldIdLst>
    <p:sldId id="433" r:id="rId2"/>
    <p:sldId id="448" r:id="rId3"/>
    <p:sldId id="454" r:id="rId4"/>
    <p:sldId id="453" r:id="rId5"/>
    <p:sldId id="455" r:id="rId6"/>
    <p:sldId id="457" r:id="rId7"/>
    <p:sldId id="459" r:id="rId8"/>
    <p:sldId id="458" r:id="rId9"/>
    <p:sldId id="456" r:id="rId10"/>
    <p:sldId id="460" r:id="rId11"/>
    <p:sldId id="265" r:id="rId12"/>
  </p:sldIdLst>
  <p:sldSz cx="12195175" cy="6858000"/>
  <p:notesSz cx="6858000" cy="9144000"/>
  <p:defaultTex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FDB913"/>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1" userDrawn="1">
          <p15:clr>
            <a:srgbClr val="A4A3A4"/>
          </p15:clr>
        </p15:guide>
        <p15:guide id="2" orient="horz" pos="1022" userDrawn="1">
          <p15:clr>
            <a:srgbClr val="A4A3A4"/>
          </p15:clr>
        </p15:guide>
        <p15:guide id="3" orient="horz" pos="4004" userDrawn="1">
          <p15:clr>
            <a:srgbClr val="A4A3A4"/>
          </p15:clr>
        </p15:guide>
        <p15:guide id="4" pos="303" userDrawn="1">
          <p15:clr>
            <a:srgbClr val="A4A3A4"/>
          </p15:clr>
        </p15:guide>
        <p15:guide id="5" pos="7356" userDrawn="1">
          <p15:clr>
            <a:srgbClr val="A4A3A4"/>
          </p15:clr>
        </p15:guide>
        <p15:guide id="7" orient="horz" pos="30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0F46A7"/>
    <a:srgbClr val="970A82"/>
    <a:srgbClr val="FF3399"/>
    <a:srgbClr val="FF0000"/>
    <a:srgbClr val="FFFFFF"/>
    <a:srgbClr val="FEE3A1"/>
    <a:srgbClr val="FFF1D0"/>
    <a:srgbClr val="FFF8E7"/>
    <a:srgbClr val="FECE59"/>
    <a:srgbClr val="00328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340" autoAdjust="0"/>
    <p:restoredTop sz="52757" autoAdjust="0"/>
  </p:normalViewPr>
  <p:slideViewPr>
    <p:cSldViewPr snapToGrid="0" showGuides="1">
      <p:cViewPr varScale="1">
        <p:scale>
          <a:sx n="50" d="100"/>
          <a:sy n="50" d="100"/>
        </p:scale>
        <p:origin x="2184" y="22"/>
      </p:cViewPr>
      <p:guideLst>
        <p:guide pos="3841"/>
        <p:guide orient="horz" pos="1022"/>
        <p:guide orient="horz" pos="4004"/>
        <p:guide pos="303"/>
        <p:guide pos="7356"/>
        <p:guide orient="horz" pos="300"/>
      </p:guideLst>
    </p:cSldViewPr>
  </p:slideViewPr>
  <p:outlineViewPr>
    <p:cViewPr>
      <p:scale>
        <a:sx n="33" d="100"/>
        <a:sy n="33" d="100"/>
      </p:scale>
      <p:origin x="0" y="-6394"/>
    </p:cViewPr>
  </p:outlineViewPr>
  <p:notesTextViewPr>
    <p:cViewPr>
      <p:scale>
        <a:sx n="200" d="100"/>
        <a:sy n="200" d="100"/>
      </p:scale>
      <p:origin x="0" y="0"/>
    </p:cViewPr>
  </p:notesTextViewPr>
  <p:sorterViewPr>
    <p:cViewPr varScale="1">
      <p:scale>
        <a:sx n="1" d="1"/>
        <a:sy n="1" d="1"/>
      </p:scale>
      <p:origin x="0" y="0"/>
    </p:cViewPr>
  </p:sorterViewPr>
  <p:notesViewPr>
    <p:cSldViewPr snapToGrid="0" showGuides="1">
      <p:cViewPr varScale="1">
        <p:scale>
          <a:sx n="92" d="100"/>
          <a:sy n="92" d="100"/>
        </p:scale>
        <p:origin x="404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1943100" y="8685213"/>
            <a:ext cx="2971800" cy="457200"/>
          </a:xfrm>
          <a:prstGeom prst="rect">
            <a:avLst/>
          </a:prstGeom>
        </p:spPr>
        <p:txBody>
          <a:bodyPr vert="horz" lIns="91440" tIns="45720" rIns="91440" bIns="45720" rtlCol="0" anchor="b"/>
          <a:lstStyle>
            <a:lvl1pPr algn="r">
              <a:defRPr sz="1200"/>
            </a:lvl1pPr>
          </a:lstStyle>
          <a:p>
            <a:pPr algn="ctr"/>
            <a:fld id="{47855BD9-AF71-426C-9B9B-B0E52B88852E}" type="slidenum">
              <a:rPr lang="de-DE" sz="1000" smtClean="0"/>
              <a:pPr algn="ctr"/>
              <a:t>‹#›</a:t>
            </a:fld>
            <a:endParaRPr lang="de-DE" sz="1000" dirty="0"/>
          </a:p>
        </p:txBody>
      </p:sp>
    </p:spTree>
    <p:extLst>
      <p:ext uri="{BB962C8B-B14F-4D97-AF65-F5344CB8AC3E}">
        <p14:creationId xmlns:p14="http://schemas.microsoft.com/office/powerpoint/2010/main" val="23599324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547688" y="612775"/>
            <a:ext cx="5762625" cy="3241675"/>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es Placeholder 4"/>
          <p:cNvSpPr>
            <a:spLocks noGrp="1"/>
          </p:cNvSpPr>
          <p:nvPr>
            <p:ph type="body" sz="quarter" idx="3"/>
          </p:nvPr>
        </p:nvSpPr>
        <p:spPr>
          <a:xfrm>
            <a:off x="549000" y="4120162"/>
            <a:ext cx="5760000" cy="456356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7" name="Slide Number Placeholder 6"/>
          <p:cNvSpPr>
            <a:spLocks noGrp="1"/>
          </p:cNvSpPr>
          <p:nvPr>
            <p:ph type="sldNum" sz="quarter" idx="5"/>
          </p:nvPr>
        </p:nvSpPr>
        <p:spPr>
          <a:xfrm>
            <a:off x="2957512" y="8935722"/>
            <a:ext cx="942976" cy="205358"/>
          </a:xfrm>
          <a:prstGeom prst="rect">
            <a:avLst/>
          </a:prstGeom>
        </p:spPr>
        <p:txBody>
          <a:bodyPr vert="horz" lIns="91440" tIns="45720" rIns="91440" bIns="45720" rtlCol="0" anchor="b"/>
          <a:lstStyle>
            <a:lvl1pPr algn="ctr">
              <a:defRPr sz="800"/>
            </a:lvl1pPr>
          </a:lstStyle>
          <a:p>
            <a:fld id="{7D8C2C35-2B8A-446E-BEC0-FD36716C29AC}" type="slidenum">
              <a:rPr lang="de-DE" smtClean="0"/>
              <a:pPr/>
              <a:t>‹#›</a:t>
            </a:fld>
            <a:endParaRPr lang="de-DE" dirty="0"/>
          </a:p>
        </p:txBody>
      </p:sp>
    </p:spTree>
    <p:extLst>
      <p:ext uri="{BB962C8B-B14F-4D97-AF65-F5344CB8AC3E}">
        <p14:creationId xmlns:p14="http://schemas.microsoft.com/office/powerpoint/2010/main" val="2847385487"/>
      </p:ext>
    </p:extLst>
  </p:cSld>
  <p:clrMap bg1="lt1" tx1="dk1" bg2="lt2" tx2="dk2" accent1="accent1" accent2="accent2" accent3="accent3" accent4="accent4" accent5="accent5" accent6="accent6" hlink="hlink" folHlink="folHlink"/>
  <p:notesStyle>
    <a:lvl1pPr marL="0" algn="l" defTabSz="1088776" rtl="0" eaLnBrk="1" latinLnBrk="0" hangingPunct="1">
      <a:defRPr sz="1400" kern="1200">
        <a:solidFill>
          <a:schemeClr val="tx1"/>
        </a:solidFill>
        <a:latin typeface="+mn-lt"/>
        <a:ea typeface="+mn-ea"/>
        <a:cs typeface="+mn-cs"/>
      </a:defRPr>
    </a:lvl1pPr>
    <a:lvl2pPr marL="180000" indent="-180000" algn="l" defTabSz="1088776" rtl="0" eaLnBrk="1" latinLnBrk="0" hangingPunct="1">
      <a:buClr>
        <a:schemeClr val="accent1"/>
      </a:buClr>
      <a:buSzPct val="100000"/>
      <a:buFont typeface="Wingdings" pitchFamily="2" charset="2"/>
      <a:buChar char=""/>
      <a:defRPr sz="1400" kern="1200">
        <a:solidFill>
          <a:schemeClr val="tx1"/>
        </a:solidFill>
        <a:latin typeface="+mn-lt"/>
        <a:ea typeface="+mn-ea"/>
        <a:cs typeface="+mn-cs"/>
      </a:defRPr>
    </a:lvl2pPr>
    <a:lvl3pPr marL="360000" indent="-180000" algn="l" defTabSz="1088776" rtl="0" eaLnBrk="1" latinLnBrk="0" hangingPunct="1">
      <a:buClr>
        <a:schemeClr val="accent2"/>
      </a:buClr>
      <a:buSzPct val="80000"/>
      <a:buFont typeface="Symbol" pitchFamily="18" charset="2"/>
      <a:buChar char="-"/>
      <a:defRPr sz="1200" kern="1200">
        <a:solidFill>
          <a:schemeClr val="tx1"/>
        </a:solidFill>
        <a:latin typeface="+mn-lt"/>
        <a:ea typeface="+mn-ea"/>
        <a:cs typeface="+mn-cs"/>
      </a:defRPr>
    </a:lvl3pPr>
    <a:lvl4pPr marL="674815" indent="-158780" algn="l" defTabSz="1088776" rtl="0" eaLnBrk="1" latinLnBrk="0" hangingPunct="1">
      <a:buClr>
        <a:schemeClr val="accent2"/>
      </a:buClr>
      <a:buFont typeface="Arial" pitchFamily="34" charset="0"/>
      <a:buChar char="–"/>
      <a:defRPr sz="1200" kern="1200">
        <a:solidFill>
          <a:schemeClr val="tx1"/>
        </a:solidFill>
        <a:latin typeface="+mn-lt"/>
        <a:ea typeface="+mn-ea"/>
        <a:cs typeface="+mn-cs"/>
      </a:defRPr>
    </a:lvl4pPr>
    <a:lvl5pPr marL="2177552" algn="l" defTabSz="1088776" rtl="0" eaLnBrk="1" latinLnBrk="0" hangingPunct="1">
      <a:defRPr sz="1400" kern="1200">
        <a:solidFill>
          <a:schemeClr val="tx1"/>
        </a:solidFill>
        <a:latin typeface="+mn-lt"/>
        <a:ea typeface="+mn-ea"/>
        <a:cs typeface="+mn-cs"/>
      </a:defRPr>
    </a:lvl5pPr>
    <a:lvl6pPr marL="2721940" algn="l" defTabSz="1088776" rtl="0" eaLnBrk="1" latinLnBrk="0" hangingPunct="1">
      <a:defRPr sz="1400" kern="1200">
        <a:solidFill>
          <a:schemeClr val="tx1"/>
        </a:solidFill>
        <a:latin typeface="+mn-lt"/>
        <a:ea typeface="+mn-ea"/>
        <a:cs typeface="+mn-cs"/>
      </a:defRPr>
    </a:lvl6pPr>
    <a:lvl7pPr marL="3266328" algn="l" defTabSz="1088776" rtl="0" eaLnBrk="1" latinLnBrk="0" hangingPunct="1">
      <a:defRPr sz="1400" kern="1200">
        <a:solidFill>
          <a:schemeClr val="tx1"/>
        </a:solidFill>
        <a:latin typeface="+mn-lt"/>
        <a:ea typeface="+mn-ea"/>
        <a:cs typeface="+mn-cs"/>
      </a:defRPr>
    </a:lvl7pPr>
    <a:lvl8pPr marL="3810716" algn="l" defTabSz="1088776" rtl="0" eaLnBrk="1" latinLnBrk="0" hangingPunct="1">
      <a:defRPr sz="1400" kern="1200">
        <a:solidFill>
          <a:schemeClr val="tx1"/>
        </a:solidFill>
        <a:latin typeface="+mn-lt"/>
        <a:ea typeface="+mn-ea"/>
        <a:cs typeface="+mn-cs"/>
      </a:defRPr>
    </a:lvl8pPr>
    <a:lvl9pPr marL="4355104" algn="l" defTabSz="108877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en-US" smtClean="0"/>
              <a:pPr/>
              <a:t>1</a:t>
            </a:fld>
            <a:endParaRPr lang="en-US" dirty="0"/>
          </a:p>
        </p:txBody>
      </p:sp>
    </p:spTree>
    <p:extLst>
      <p:ext uri="{BB962C8B-B14F-4D97-AF65-F5344CB8AC3E}">
        <p14:creationId xmlns:p14="http://schemas.microsoft.com/office/powerpoint/2010/main" val="16739428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Pretty much as with software operations, in the game exploding kittens, you want to be the last man/women standing. This slide deck is about troubleshooting pods and services.</a:t>
            </a:r>
          </a:p>
        </p:txBody>
      </p:sp>
      <p:sp>
        <p:nvSpPr>
          <p:cNvPr id="4" name="Slide Number Placeholder 3"/>
          <p:cNvSpPr>
            <a:spLocks noGrp="1"/>
          </p:cNvSpPr>
          <p:nvPr>
            <p:ph type="sldNum" sz="quarter" idx="10"/>
          </p:nvPr>
        </p:nvSpPr>
        <p:spPr/>
        <p:txBody>
          <a:bodyPr/>
          <a:lstStyle/>
          <a:p>
            <a:fld id="{7D8C2C35-2B8A-446E-BEC0-FD36716C29AC}" type="slidenum">
              <a:rPr lang="de-DE" smtClean="0"/>
              <a:pPr/>
              <a:t>2</a:t>
            </a:fld>
            <a:endParaRPr lang="de-DE" dirty="0"/>
          </a:p>
        </p:txBody>
      </p:sp>
    </p:spTree>
    <p:extLst>
      <p:ext uri="{BB962C8B-B14F-4D97-AF65-F5344CB8AC3E}">
        <p14:creationId xmlns:p14="http://schemas.microsoft.com/office/powerpoint/2010/main" val="36341041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this interactive and ask participants first!</a:t>
            </a:r>
          </a:p>
          <a:p>
            <a:endParaRPr lang="en-US" dirty="0"/>
          </a:p>
          <a:p>
            <a:r>
              <a:rPr lang="en-US" dirty="0"/>
              <a:t>There are lots of different errors and way more reasons for a pod to terminate.</a:t>
            </a:r>
          </a:p>
          <a:p>
            <a:r>
              <a:rPr lang="en-US" dirty="0" err="1"/>
              <a:t>CrashLoopBackOff</a:t>
            </a:r>
            <a:r>
              <a:rPr lang="en-US" dirty="0"/>
              <a:t>: container has been started multiple times and almost immediately exited with exit-code != 0. K8s will stop trying now.</a:t>
            </a:r>
          </a:p>
          <a:p>
            <a:r>
              <a:rPr lang="en-US" dirty="0" err="1"/>
              <a:t>ErrImagePull</a:t>
            </a:r>
            <a:r>
              <a:rPr lang="en-US" dirty="0"/>
              <a:t>: failed to pull docker image from specified registry/repo</a:t>
            </a:r>
          </a:p>
          <a:p>
            <a:r>
              <a:rPr lang="en-US" dirty="0" err="1"/>
              <a:t>ImagePullBackOff</a:t>
            </a:r>
            <a:r>
              <a:rPr lang="en-US" dirty="0"/>
              <a:t>: many </a:t>
            </a:r>
            <a:r>
              <a:rPr lang="en-US" dirty="0" err="1"/>
              <a:t>ErrImagePull</a:t>
            </a:r>
            <a:r>
              <a:rPr lang="en-US" dirty="0"/>
              <a:t> =&gt; K8s will stop trying now</a:t>
            </a:r>
          </a:p>
          <a:p>
            <a:r>
              <a:rPr lang="en-US" dirty="0"/>
              <a:t>Pending: pod not yet created (and no resources to do so)</a:t>
            </a:r>
          </a:p>
          <a:p>
            <a:r>
              <a:rPr lang="en-US" dirty="0" err="1"/>
              <a:t>ContainerCreating</a:t>
            </a:r>
            <a:r>
              <a:rPr lang="en-US" dirty="0"/>
              <a:t>: trying to create the container, but something is not yet available (like a mount point/volume)</a:t>
            </a:r>
          </a:p>
          <a:p>
            <a:endParaRPr lang="en-US" dirty="0"/>
          </a:p>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3</a:t>
            </a:fld>
            <a:endParaRPr lang="de-DE" dirty="0"/>
          </a:p>
        </p:txBody>
      </p:sp>
    </p:spTree>
    <p:extLst>
      <p:ext uri="{BB962C8B-B14F-4D97-AF65-F5344CB8AC3E}">
        <p14:creationId xmlns:p14="http://schemas.microsoft.com/office/powerpoint/2010/main" val="26681506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face an error there are a few thing you can always check. Debugging relevant information is store in the logs of a pod but also hidden in the events associated with the resource your currently looking at.</a:t>
            </a:r>
          </a:p>
        </p:txBody>
      </p:sp>
      <p:sp>
        <p:nvSpPr>
          <p:cNvPr id="4" name="Slide Number Placeholder 3"/>
          <p:cNvSpPr>
            <a:spLocks noGrp="1"/>
          </p:cNvSpPr>
          <p:nvPr>
            <p:ph type="sldNum" sz="quarter" idx="10"/>
          </p:nvPr>
        </p:nvSpPr>
        <p:spPr/>
        <p:txBody>
          <a:bodyPr/>
          <a:lstStyle/>
          <a:p>
            <a:fld id="{7D8C2C35-2B8A-446E-BEC0-FD36716C29AC}" type="slidenum">
              <a:rPr lang="de-DE" smtClean="0"/>
              <a:pPr/>
              <a:t>4</a:t>
            </a:fld>
            <a:endParaRPr lang="de-DE" dirty="0"/>
          </a:p>
        </p:txBody>
      </p:sp>
    </p:spTree>
    <p:extLst>
      <p:ext uri="{BB962C8B-B14F-4D97-AF65-F5344CB8AC3E}">
        <p14:creationId xmlns:p14="http://schemas.microsoft.com/office/powerpoint/2010/main" val="18731329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case something does not work as expected:</a:t>
            </a:r>
          </a:p>
          <a:p>
            <a:pPr marL="342900" indent="-342900">
              <a:buAutoNum type="arabicParenR"/>
            </a:pPr>
            <a:r>
              <a:rPr lang="en-US" dirty="0"/>
              <a:t>Check, if the resource is available (</a:t>
            </a:r>
            <a:r>
              <a:rPr lang="en-US" dirty="0" err="1"/>
              <a:t>kubectl</a:t>
            </a:r>
            <a:r>
              <a:rPr lang="en-US" dirty="0"/>
              <a:t> get pod)</a:t>
            </a:r>
          </a:p>
          <a:p>
            <a:pPr marL="342900" indent="-342900">
              <a:buAutoNum type="arabicParenR"/>
            </a:pPr>
            <a:r>
              <a:rPr lang="en-US" dirty="0"/>
              <a:t>Check, if the status indicates an error</a:t>
            </a:r>
          </a:p>
        </p:txBody>
      </p:sp>
      <p:sp>
        <p:nvSpPr>
          <p:cNvPr id="4" name="Slide Number Placeholder 3"/>
          <p:cNvSpPr>
            <a:spLocks noGrp="1"/>
          </p:cNvSpPr>
          <p:nvPr>
            <p:ph type="sldNum" sz="quarter" idx="10"/>
          </p:nvPr>
        </p:nvSpPr>
        <p:spPr/>
        <p:txBody>
          <a:bodyPr/>
          <a:lstStyle/>
          <a:p>
            <a:fld id="{7D8C2C35-2B8A-446E-BEC0-FD36716C29AC}" type="slidenum">
              <a:rPr lang="de-DE" smtClean="0"/>
              <a:pPr/>
              <a:t>5</a:t>
            </a:fld>
            <a:endParaRPr lang="de-DE" dirty="0"/>
          </a:p>
        </p:txBody>
      </p:sp>
    </p:spTree>
    <p:extLst>
      <p:ext uri="{BB962C8B-B14F-4D97-AF65-F5344CB8AC3E}">
        <p14:creationId xmlns:p14="http://schemas.microsoft.com/office/powerpoint/2010/main" val="32409616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case something does not work as expected:</a:t>
            </a:r>
          </a:p>
          <a:p>
            <a:pPr marL="342900" indent="-342900">
              <a:buAutoNum type="arabicParenR"/>
            </a:pPr>
            <a:r>
              <a:rPr lang="en-US" dirty="0"/>
              <a:t>In case the pod was started, the might be logs -&gt; use “</a:t>
            </a:r>
            <a:r>
              <a:rPr lang="en-US" dirty="0" err="1"/>
              <a:t>kubectl</a:t>
            </a:r>
            <a:r>
              <a:rPr lang="en-US" dirty="0"/>
              <a:t> get logs &lt;pod name&gt;” to look into it or add the –previous flag to access older logs</a:t>
            </a:r>
          </a:p>
          <a:p>
            <a:pPr marL="342900" indent="-342900">
              <a:buAutoNum type="arabicParenR"/>
            </a:pPr>
            <a:r>
              <a:rPr lang="en-US" dirty="0"/>
              <a:t>If the error is with the application and not the container, exec into the container an look around</a:t>
            </a:r>
          </a:p>
          <a:p>
            <a:pPr marL="342900" indent="-342900">
              <a:buAutoNum type="arabicParenR"/>
            </a:pPr>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6</a:t>
            </a:fld>
            <a:endParaRPr lang="de-DE" dirty="0"/>
          </a:p>
        </p:txBody>
      </p:sp>
    </p:spTree>
    <p:extLst>
      <p:ext uri="{BB962C8B-B14F-4D97-AF65-F5344CB8AC3E}">
        <p14:creationId xmlns:p14="http://schemas.microsoft.com/office/powerpoint/2010/main" val="9830376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marR="0" lvl="0" indent="-285750" algn="l" defTabSz="1088776" rtl="0" eaLnBrk="1" fontAlgn="auto" latinLnBrk="0" hangingPunct="1">
              <a:lnSpc>
                <a:spcPct val="100000"/>
              </a:lnSpc>
              <a:spcBef>
                <a:spcPts val="0"/>
              </a:spcBef>
              <a:spcAft>
                <a:spcPts val="0"/>
              </a:spcAft>
              <a:buClrTx/>
              <a:buSzTx/>
              <a:buFontTx/>
              <a:buChar char="-"/>
              <a:tabLst/>
              <a:defRPr/>
            </a:pPr>
            <a:r>
              <a:rPr lang="en-US" baseline="0" dirty="0"/>
              <a:t>Use the </a:t>
            </a:r>
            <a:r>
              <a:rPr lang="en-US" baseline="0" dirty="0" err="1"/>
              <a:t>crashloop</a:t>
            </a:r>
            <a:r>
              <a:rPr lang="en-US" baseline="0" dirty="0"/>
              <a:t> and </a:t>
            </a:r>
            <a:r>
              <a:rPr lang="en-US" baseline="0" dirty="0" err="1"/>
              <a:t>app_failure</a:t>
            </a:r>
            <a:r>
              <a:rPr lang="en-US" baseline="0" dirty="0"/>
              <a:t> demos </a:t>
            </a:r>
          </a:p>
          <a:p>
            <a:pPr marL="285750" marR="0" lvl="0" indent="-285750" algn="l" defTabSz="1088776" rtl="0" eaLnBrk="1" fontAlgn="auto" latinLnBrk="0" hangingPunct="1">
              <a:lnSpc>
                <a:spcPct val="100000"/>
              </a:lnSpc>
              <a:spcBef>
                <a:spcPts val="0"/>
              </a:spcBef>
              <a:spcAft>
                <a:spcPts val="0"/>
              </a:spcAft>
              <a:buClrTx/>
              <a:buSzTx/>
              <a:buFontTx/>
              <a:buChar char="-"/>
              <a:tabLst/>
              <a:defRPr/>
            </a:pPr>
            <a:r>
              <a:rPr lang="en-US" baseline="0" dirty="0" err="1"/>
              <a:t>Crashloop</a:t>
            </a:r>
            <a:r>
              <a:rPr lang="en-US" baseline="0" dirty="0"/>
              <a:t>:</a:t>
            </a:r>
          </a:p>
          <a:p>
            <a:pPr marL="465750" marR="0" lvl="1" indent="-285750" algn="l" defTabSz="1088776" rtl="0" eaLnBrk="1" fontAlgn="auto" latinLnBrk="0" hangingPunct="1">
              <a:lnSpc>
                <a:spcPct val="100000"/>
              </a:lnSpc>
              <a:spcBef>
                <a:spcPts val="0"/>
              </a:spcBef>
              <a:spcAft>
                <a:spcPts val="0"/>
              </a:spcAft>
              <a:buClrTx/>
              <a:buSzTx/>
              <a:buFontTx/>
              <a:buChar char="-"/>
              <a:tabLst/>
              <a:defRPr/>
            </a:pPr>
            <a:r>
              <a:rPr lang="en-US" baseline="0" dirty="0"/>
              <a:t>Show the </a:t>
            </a:r>
            <a:r>
              <a:rPr lang="en-US" baseline="0" dirty="0" err="1"/>
              <a:t>yaml</a:t>
            </a:r>
            <a:r>
              <a:rPr lang="en-US" baseline="0" dirty="0"/>
              <a:t> file</a:t>
            </a:r>
          </a:p>
          <a:p>
            <a:pPr marL="465750" marR="0" lvl="1" indent="-285750" algn="l" defTabSz="1088776" rtl="0" eaLnBrk="1" fontAlgn="auto" latinLnBrk="0" hangingPunct="1">
              <a:lnSpc>
                <a:spcPct val="100000"/>
              </a:lnSpc>
              <a:spcBef>
                <a:spcPts val="0"/>
              </a:spcBef>
              <a:spcAft>
                <a:spcPts val="0"/>
              </a:spcAft>
              <a:buClrTx/>
              <a:buSzTx/>
              <a:buFontTx/>
              <a:buChar char="-"/>
              <a:tabLst/>
              <a:defRPr/>
            </a:pPr>
            <a:r>
              <a:rPr lang="en-US" baseline="0" dirty="0"/>
              <a:t>Run the pod and show the restart counter &amp; error message with </a:t>
            </a:r>
            <a:r>
              <a:rPr lang="en-US" baseline="0" dirty="0" err="1"/>
              <a:t>kubectl</a:t>
            </a:r>
            <a:r>
              <a:rPr lang="en-US" baseline="0" dirty="0"/>
              <a:t> get pods</a:t>
            </a:r>
          </a:p>
          <a:p>
            <a:pPr marL="465750" marR="0" lvl="1" indent="-285750" algn="l" defTabSz="1088776" rtl="0" eaLnBrk="1" fontAlgn="auto" latinLnBrk="0" hangingPunct="1">
              <a:lnSpc>
                <a:spcPct val="100000"/>
              </a:lnSpc>
              <a:spcBef>
                <a:spcPts val="0"/>
              </a:spcBef>
              <a:spcAft>
                <a:spcPts val="0"/>
              </a:spcAft>
              <a:buClrTx/>
              <a:buSzTx/>
              <a:buFontTx/>
              <a:buChar char="-"/>
              <a:tabLst/>
              <a:defRPr/>
            </a:pPr>
            <a:r>
              <a:rPr lang="en-US" baseline="0" dirty="0"/>
              <a:t>Show the logs of the pod </a:t>
            </a:r>
            <a:r>
              <a:rPr lang="en-US" baseline="0" dirty="0">
                <a:sym typeface="Wingdings" panose="05000000000000000000" pitchFamily="2" charset="2"/>
              </a:rPr>
              <a:t> expected output: /bin/</a:t>
            </a:r>
            <a:r>
              <a:rPr lang="en-US" baseline="0" dirty="0" err="1">
                <a:sym typeface="Wingdings" panose="05000000000000000000" pitchFamily="2" charset="2"/>
              </a:rPr>
              <a:t>sh</a:t>
            </a:r>
            <a:r>
              <a:rPr lang="en-US" baseline="0" dirty="0">
                <a:sym typeface="Wingdings" panose="05000000000000000000" pitchFamily="2" charset="2"/>
              </a:rPr>
              <a:t>: no-such-</a:t>
            </a:r>
            <a:r>
              <a:rPr lang="en-US" baseline="0" dirty="0" err="1">
                <a:sym typeface="Wingdings" panose="05000000000000000000" pitchFamily="2" charset="2"/>
              </a:rPr>
              <a:t>cmd</a:t>
            </a:r>
            <a:r>
              <a:rPr lang="en-US" baseline="0" dirty="0">
                <a:sym typeface="Wingdings" panose="05000000000000000000" pitchFamily="2" charset="2"/>
              </a:rPr>
              <a:t>: not found</a:t>
            </a:r>
            <a:endParaRPr lang="en-US" baseline="0" dirty="0"/>
          </a:p>
          <a:p>
            <a:pPr marL="285750" marR="0" lvl="0" indent="-285750" algn="l" defTabSz="1088776" rtl="0" eaLnBrk="1" fontAlgn="auto" latinLnBrk="0" hangingPunct="1">
              <a:lnSpc>
                <a:spcPct val="100000"/>
              </a:lnSpc>
              <a:spcBef>
                <a:spcPts val="0"/>
              </a:spcBef>
              <a:spcAft>
                <a:spcPts val="0"/>
              </a:spcAft>
              <a:buClrTx/>
              <a:buSzTx/>
              <a:buFontTx/>
              <a:buChar char="-"/>
              <a:tabLst/>
              <a:defRPr/>
            </a:pPr>
            <a:r>
              <a:rPr lang="en-US" baseline="0" dirty="0"/>
              <a:t>App failure:</a:t>
            </a:r>
          </a:p>
          <a:p>
            <a:pPr marL="465750" marR="0" lvl="1" indent="-285750" algn="l" defTabSz="1088776" rtl="0" eaLnBrk="1" fontAlgn="auto" latinLnBrk="0" hangingPunct="1">
              <a:lnSpc>
                <a:spcPct val="100000"/>
              </a:lnSpc>
              <a:spcBef>
                <a:spcPts val="0"/>
              </a:spcBef>
              <a:spcAft>
                <a:spcPts val="0"/>
              </a:spcAft>
              <a:buClrTx/>
              <a:buSzTx/>
              <a:buFontTx/>
              <a:buChar char="-"/>
              <a:tabLst/>
              <a:defRPr/>
            </a:pPr>
            <a:r>
              <a:rPr lang="en-US" baseline="0" dirty="0"/>
              <a:t>Show the </a:t>
            </a:r>
            <a:r>
              <a:rPr lang="en-US" baseline="0" dirty="0" err="1"/>
              <a:t>yaml</a:t>
            </a:r>
            <a:r>
              <a:rPr lang="en-US" baseline="0" dirty="0"/>
              <a:t> file</a:t>
            </a:r>
          </a:p>
          <a:p>
            <a:pPr marL="465750" marR="0" lvl="1" indent="-285750" algn="l" defTabSz="1088776" rtl="0" eaLnBrk="1" fontAlgn="auto" latinLnBrk="0" hangingPunct="1">
              <a:lnSpc>
                <a:spcPct val="100000"/>
              </a:lnSpc>
              <a:spcBef>
                <a:spcPts val="0"/>
              </a:spcBef>
              <a:spcAft>
                <a:spcPts val="0"/>
              </a:spcAft>
              <a:buClrTx/>
              <a:buSzTx/>
              <a:buFontTx/>
              <a:buChar char="-"/>
              <a:tabLst/>
              <a:defRPr/>
            </a:pPr>
            <a:r>
              <a:rPr lang="en-US" baseline="0" dirty="0"/>
              <a:t>Start the pod and show it is running</a:t>
            </a:r>
          </a:p>
          <a:p>
            <a:pPr marL="465750" marR="0" lvl="1" indent="-285750" algn="l" defTabSz="1088776" rtl="0" eaLnBrk="1" fontAlgn="auto" latinLnBrk="0" hangingPunct="1">
              <a:lnSpc>
                <a:spcPct val="100000"/>
              </a:lnSpc>
              <a:spcBef>
                <a:spcPts val="0"/>
              </a:spcBef>
              <a:spcAft>
                <a:spcPts val="0"/>
              </a:spcAft>
              <a:buClrTx/>
              <a:buSzTx/>
              <a:buFontTx/>
              <a:buChar char="-"/>
              <a:tabLst/>
              <a:defRPr/>
            </a:pPr>
            <a:r>
              <a:rPr lang="en-US" baseline="0" dirty="0"/>
              <a:t>Use port forward to get to the index.html page (</a:t>
            </a:r>
            <a:r>
              <a:rPr lang="en-US" baseline="0" dirty="0" err="1"/>
              <a:t>kubectl</a:t>
            </a:r>
            <a:r>
              <a:rPr lang="en-US" baseline="0" dirty="0"/>
              <a:t> port-forward app-failure 8080:80)</a:t>
            </a:r>
          </a:p>
          <a:p>
            <a:pPr marL="465750" marR="0" lvl="1" indent="-285750" algn="l" defTabSz="1088776" rtl="0" eaLnBrk="1" fontAlgn="auto" latinLnBrk="0" hangingPunct="1">
              <a:lnSpc>
                <a:spcPct val="100000"/>
              </a:lnSpc>
              <a:spcBef>
                <a:spcPts val="0"/>
              </a:spcBef>
              <a:spcAft>
                <a:spcPts val="0"/>
              </a:spcAft>
              <a:buClrTx/>
              <a:buSzTx/>
              <a:buFontTx/>
              <a:buChar char="-"/>
              <a:tabLst/>
              <a:defRPr/>
            </a:pPr>
            <a:r>
              <a:rPr lang="en-US" baseline="0" dirty="0"/>
              <a:t>Show the error message with </a:t>
            </a:r>
            <a:r>
              <a:rPr lang="en-US" baseline="0" dirty="0" err="1"/>
              <a:t>kubectl</a:t>
            </a:r>
            <a:r>
              <a:rPr lang="en-US" baseline="0" dirty="0"/>
              <a:t> logs … &amp; exec into the pod. Show the directory without the index.html file</a:t>
            </a:r>
          </a:p>
          <a:p>
            <a:pPr marL="465750" marR="0" lvl="1" indent="-285750" algn="l" defTabSz="1088776" rtl="0" eaLnBrk="1" fontAlgn="auto" latinLnBrk="0" hangingPunct="1">
              <a:lnSpc>
                <a:spcPct val="100000"/>
              </a:lnSpc>
              <a:spcBef>
                <a:spcPts val="0"/>
              </a:spcBef>
              <a:spcAft>
                <a:spcPts val="0"/>
              </a:spcAft>
              <a:buClrTx/>
              <a:buSzTx/>
              <a:buFontTx/>
              <a:buChar char="-"/>
              <a:tabLst/>
              <a:defRPr/>
            </a:pPr>
            <a:r>
              <a:rPr lang="en-US" baseline="0" dirty="0"/>
              <a:t>Explanation: upon start with a default configuration </a:t>
            </a:r>
            <a:r>
              <a:rPr lang="en-US" baseline="0" dirty="0" err="1"/>
              <a:t>nginx</a:t>
            </a:r>
            <a:r>
              <a:rPr lang="en-US" baseline="0" dirty="0"/>
              <a:t> looks at a /</a:t>
            </a:r>
            <a:r>
              <a:rPr lang="en-US" baseline="0" dirty="0" err="1"/>
              <a:t>usr</a:t>
            </a:r>
            <a:r>
              <a:rPr lang="en-US" baseline="0" dirty="0"/>
              <a:t>/share/</a:t>
            </a:r>
            <a:r>
              <a:rPr lang="en-US" baseline="0" dirty="0" err="1"/>
              <a:t>nginx</a:t>
            </a:r>
            <a:r>
              <a:rPr lang="en-US" baseline="0" dirty="0"/>
              <a:t>/html for an index.html file. If this file is not found, </a:t>
            </a:r>
            <a:r>
              <a:rPr lang="en-US" baseline="0" dirty="0" err="1"/>
              <a:t>nginx</a:t>
            </a:r>
            <a:r>
              <a:rPr lang="en-US" baseline="0" dirty="0"/>
              <a:t> attempts a “list directory” action, which is also </a:t>
            </a:r>
            <a:r>
              <a:rPr lang="en-US" b="1" baseline="0" dirty="0"/>
              <a:t>forbidden </a:t>
            </a:r>
            <a:r>
              <a:rPr lang="en-US" b="0" baseline="0" dirty="0"/>
              <a:t>in the default configuration.</a:t>
            </a:r>
            <a:endParaRPr lang="en-US" b="1" baseline="0" dirty="0"/>
          </a:p>
          <a:p>
            <a:pPr marL="0" marR="0" lvl="0" indent="0" algn="l" defTabSz="1088776"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1088776" rtl="0" eaLnBrk="1" fontAlgn="auto" latinLnBrk="0" hangingPunct="1">
              <a:lnSpc>
                <a:spcPct val="100000"/>
              </a:lnSpc>
              <a:spcBef>
                <a:spcPts val="0"/>
              </a:spcBef>
              <a:spcAft>
                <a:spcPts val="0"/>
              </a:spcAft>
              <a:buClrTx/>
              <a:buSzTx/>
              <a:buFontTx/>
              <a:buNone/>
              <a:tabLst/>
              <a:defRPr/>
            </a:pPr>
            <a:r>
              <a:rPr lang="en-US" baseline="0" dirty="0"/>
              <a:t>These 2 strategies can be used for application debugging. Usually issues are not connected to the cluster itself.</a:t>
            </a:r>
          </a:p>
        </p:txBody>
      </p:sp>
      <p:sp>
        <p:nvSpPr>
          <p:cNvPr id="4" name="Slide Number Placeholder 3"/>
          <p:cNvSpPr>
            <a:spLocks noGrp="1"/>
          </p:cNvSpPr>
          <p:nvPr>
            <p:ph type="sldNum" sz="quarter" idx="10"/>
          </p:nvPr>
        </p:nvSpPr>
        <p:spPr/>
        <p:txBody>
          <a:bodyPr/>
          <a:lstStyle/>
          <a:p>
            <a:fld id="{7D8C2C35-2B8A-446E-BEC0-FD36716C29AC}" type="slidenum">
              <a:rPr lang="de-DE" smtClean="0"/>
              <a:pPr/>
              <a:t>7</a:t>
            </a:fld>
            <a:endParaRPr lang="de-DE" dirty="0"/>
          </a:p>
        </p:txBody>
      </p:sp>
    </p:spTree>
    <p:extLst>
      <p:ext uri="{BB962C8B-B14F-4D97-AF65-F5344CB8AC3E}">
        <p14:creationId xmlns:p14="http://schemas.microsoft.com/office/powerpoint/2010/main" val="32770233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case something does not work as expected:</a:t>
            </a:r>
          </a:p>
          <a:p>
            <a:pPr marL="342900" indent="-342900">
              <a:buAutoNum type="arabicParenR"/>
            </a:pPr>
            <a:r>
              <a:rPr lang="en-US" dirty="0"/>
              <a:t>In case the pod was not started, use “</a:t>
            </a:r>
            <a:r>
              <a:rPr lang="en-US" dirty="0" err="1"/>
              <a:t>kubectl</a:t>
            </a:r>
            <a:r>
              <a:rPr lang="en-US" dirty="0"/>
              <a:t> describe pod &lt;name&gt;” to look at events. They usually contain a hint about what went wrong</a:t>
            </a:r>
          </a:p>
          <a:p>
            <a:pPr marL="342900" indent="-342900">
              <a:buAutoNum type="arabicParenR"/>
            </a:pPr>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8</a:t>
            </a:fld>
            <a:endParaRPr lang="de-DE" dirty="0"/>
          </a:p>
        </p:txBody>
      </p:sp>
    </p:spTree>
    <p:extLst>
      <p:ext uri="{BB962C8B-B14F-4D97-AF65-F5344CB8AC3E}">
        <p14:creationId xmlns:p14="http://schemas.microsoft.com/office/powerpoint/2010/main" val="26668654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various reasons why a service may not be working properly. </a:t>
            </a:r>
            <a:r>
              <a:rPr lang="en-US" dirty="0" err="1"/>
              <a:t>Kube-dns</a:t>
            </a:r>
            <a:r>
              <a:rPr lang="en-US" dirty="0"/>
              <a:t> &amp; </a:t>
            </a:r>
            <a:r>
              <a:rPr lang="en-US" dirty="0" err="1"/>
              <a:t>kube</a:t>
            </a:r>
            <a:r>
              <a:rPr lang="en-US" dirty="0"/>
              <a:t>-proxy might have issues but most likely the issues during a training are user-specific.</a:t>
            </a:r>
          </a:p>
          <a:p>
            <a:r>
              <a:rPr lang="en-US" dirty="0"/>
              <a:t>So here are a few ideas how to debug a service based on the “describe command”</a:t>
            </a:r>
          </a:p>
          <a:p>
            <a:endParaRPr lang="en-US" dirty="0"/>
          </a:p>
          <a:p>
            <a:pPr marL="342900" indent="-342900">
              <a:buAutoNum type="arabicParenR"/>
            </a:pPr>
            <a:r>
              <a:rPr lang="en-US" dirty="0"/>
              <a:t>Are you using the correct set of labels (</a:t>
            </a:r>
            <a:r>
              <a:rPr lang="en-US" dirty="0" err="1"/>
              <a:t>key:value</a:t>
            </a:r>
            <a:r>
              <a:rPr lang="en-US" dirty="0"/>
              <a:t> pairs) to select pods that should be managed by the service?</a:t>
            </a:r>
          </a:p>
          <a:p>
            <a:pPr marL="180000" lvl="1" indent="0">
              <a:buNone/>
            </a:pPr>
            <a:r>
              <a:rPr lang="en-US" dirty="0"/>
              <a:t>    Test with “</a:t>
            </a:r>
            <a:r>
              <a:rPr lang="en-US" dirty="0" err="1"/>
              <a:t>kubectl</a:t>
            </a:r>
            <a:r>
              <a:rPr lang="en-US" dirty="0"/>
              <a:t> get pods –l &lt;key&gt;=&lt;value&gt;” as described in the selector of the service.</a:t>
            </a:r>
          </a:p>
          <a:p>
            <a:pPr marL="342900" indent="-342900">
              <a:buAutoNum type="arabicParenR"/>
            </a:pPr>
            <a:r>
              <a:rPr lang="en-US" dirty="0"/>
              <a:t>Are you targeting the correct port? The target port is the port specified in the pod spec.</a:t>
            </a:r>
          </a:p>
          <a:p>
            <a:pPr marL="342900" indent="-342900">
              <a:buAutoNum type="arabicParenR"/>
            </a:pPr>
            <a:r>
              <a:rPr lang="en-US" dirty="0"/>
              <a:t>Are there any pods available? The “Endpoints” part of the description lists all the IP addresses of the pods identified by the label. Run the query with from step 1 with “-o wide” and check for the IP addresses. If there are no endpoints listed, either the label/selector part is wrong or there are simply no pods (e.g. because someone deleted the deployment)</a:t>
            </a:r>
          </a:p>
        </p:txBody>
      </p:sp>
      <p:sp>
        <p:nvSpPr>
          <p:cNvPr id="4" name="Slide Number Placeholder 3"/>
          <p:cNvSpPr>
            <a:spLocks noGrp="1"/>
          </p:cNvSpPr>
          <p:nvPr>
            <p:ph type="sldNum" sz="quarter" idx="10"/>
          </p:nvPr>
        </p:nvSpPr>
        <p:spPr/>
        <p:txBody>
          <a:bodyPr/>
          <a:lstStyle/>
          <a:p>
            <a:fld id="{7D8C2C35-2B8A-446E-BEC0-FD36716C29AC}" type="slidenum">
              <a:rPr lang="de-DE" smtClean="0"/>
              <a:pPr/>
              <a:t>9</a:t>
            </a:fld>
            <a:endParaRPr lang="de-DE" dirty="0"/>
          </a:p>
        </p:txBody>
      </p:sp>
    </p:spTree>
    <p:extLst>
      <p:ext uri="{BB962C8B-B14F-4D97-AF65-F5344CB8AC3E}">
        <p14:creationId xmlns:p14="http://schemas.microsoft.com/office/powerpoint/2010/main" val="12107003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marR="0" lvl="0" indent="-285750" algn="l" defTabSz="1088776" rtl="0" eaLnBrk="1" fontAlgn="auto" latinLnBrk="0" hangingPunct="1">
              <a:lnSpc>
                <a:spcPct val="100000"/>
              </a:lnSpc>
              <a:spcBef>
                <a:spcPts val="0"/>
              </a:spcBef>
              <a:spcAft>
                <a:spcPts val="0"/>
              </a:spcAft>
              <a:buClrTx/>
              <a:buSzTx/>
              <a:buFont typeface="Symbol" panose="05050102010706020507" pitchFamily="18" charset="2"/>
              <a:buChar char="-"/>
              <a:tabLst/>
              <a:defRPr/>
            </a:pPr>
            <a:r>
              <a:rPr lang="en-US" baseline="0" dirty="0"/>
              <a:t>This demo is about services and how they relate to endpoints.</a:t>
            </a:r>
          </a:p>
          <a:p>
            <a:pPr marL="285750" marR="0" lvl="0" indent="-285750" algn="l" defTabSz="1088776" rtl="0" eaLnBrk="1" fontAlgn="auto" latinLnBrk="0" hangingPunct="1">
              <a:lnSpc>
                <a:spcPct val="100000"/>
              </a:lnSpc>
              <a:spcBef>
                <a:spcPts val="0"/>
              </a:spcBef>
              <a:spcAft>
                <a:spcPts val="0"/>
              </a:spcAft>
              <a:buClrTx/>
              <a:buSzTx/>
              <a:buFont typeface="Symbol" panose="05050102010706020507" pitchFamily="18" charset="2"/>
              <a:buChar char="-"/>
              <a:tabLst/>
              <a:defRPr/>
            </a:pPr>
            <a:endParaRPr lang="en-US" baseline="0" dirty="0"/>
          </a:p>
          <a:p>
            <a:pPr marL="342900" marR="0" lvl="0" indent="-342900" algn="l" defTabSz="1088776" rtl="0" eaLnBrk="1" fontAlgn="auto" latinLnBrk="0" hangingPunct="1">
              <a:lnSpc>
                <a:spcPct val="100000"/>
              </a:lnSpc>
              <a:spcBef>
                <a:spcPts val="0"/>
              </a:spcBef>
              <a:spcAft>
                <a:spcPts val="0"/>
              </a:spcAft>
              <a:buClrTx/>
              <a:buSzTx/>
              <a:buFont typeface="Symbol" panose="05050102010706020507" pitchFamily="18" charset="2"/>
              <a:buChar char="-"/>
              <a:tabLst/>
              <a:defRPr/>
            </a:pPr>
            <a:r>
              <a:rPr lang="en-US" baseline="0" dirty="0"/>
              <a:t>Start by deploying 06c_service_issues.yaml</a:t>
            </a:r>
          </a:p>
          <a:p>
            <a:pPr marL="342900" marR="0" lvl="0" indent="-342900" algn="l" defTabSz="1088776" rtl="0" eaLnBrk="1" fontAlgn="auto" latinLnBrk="0" hangingPunct="1">
              <a:lnSpc>
                <a:spcPct val="100000"/>
              </a:lnSpc>
              <a:spcBef>
                <a:spcPts val="0"/>
              </a:spcBef>
              <a:spcAft>
                <a:spcPts val="0"/>
              </a:spcAft>
              <a:buClrTx/>
              <a:buSzTx/>
              <a:buFont typeface="Symbol" panose="05050102010706020507" pitchFamily="18" charset="2"/>
              <a:buChar char="-"/>
              <a:tabLst/>
              <a:defRPr/>
            </a:pPr>
            <a:r>
              <a:rPr lang="en-US" baseline="0" dirty="0">
                <a:sym typeface="Wingdings" panose="05000000000000000000" pitchFamily="2" charset="2"/>
              </a:rPr>
              <a:t>Get the public IP of the service and open it in a browser</a:t>
            </a:r>
          </a:p>
          <a:p>
            <a:pPr marL="342900" marR="0" lvl="0" indent="-342900" algn="l" defTabSz="1088776" rtl="0" eaLnBrk="1" fontAlgn="auto" latinLnBrk="0" hangingPunct="1">
              <a:lnSpc>
                <a:spcPct val="100000"/>
              </a:lnSpc>
              <a:spcBef>
                <a:spcPts val="0"/>
              </a:spcBef>
              <a:spcAft>
                <a:spcPts val="0"/>
              </a:spcAft>
              <a:buClrTx/>
              <a:buSzTx/>
              <a:buFont typeface="Symbol" panose="05050102010706020507" pitchFamily="18" charset="2"/>
              <a:buChar char="-"/>
              <a:tabLst/>
              <a:defRPr/>
            </a:pPr>
            <a:r>
              <a:rPr lang="en-US" baseline="0" dirty="0">
                <a:sym typeface="Wingdings" panose="05000000000000000000" pitchFamily="2" charset="2"/>
              </a:rPr>
              <a:t>The answer should be something like “this site can’t be reached”</a:t>
            </a:r>
          </a:p>
          <a:p>
            <a:pPr marL="342900" marR="0" lvl="0" indent="-342900" algn="l" defTabSz="1088776" rtl="0" eaLnBrk="1" fontAlgn="auto" latinLnBrk="0" hangingPunct="1">
              <a:lnSpc>
                <a:spcPct val="100000"/>
              </a:lnSpc>
              <a:spcBef>
                <a:spcPts val="0"/>
              </a:spcBef>
              <a:spcAft>
                <a:spcPts val="0"/>
              </a:spcAft>
              <a:buClrTx/>
              <a:buSzTx/>
              <a:buFont typeface="Symbol" panose="05050102010706020507" pitchFamily="18" charset="2"/>
              <a:buChar char="-"/>
              <a:tabLst/>
              <a:defRPr/>
            </a:pPr>
            <a:r>
              <a:rPr lang="en-US" baseline="0" dirty="0"/>
              <a:t>Show the service with describe </a:t>
            </a:r>
            <a:r>
              <a:rPr lang="en-US" baseline="0" dirty="0">
                <a:sym typeface="Wingdings" panose="05000000000000000000" pitchFamily="2" charset="2"/>
              </a:rPr>
              <a:t> highlight the empty “endpoints” list</a:t>
            </a:r>
          </a:p>
          <a:p>
            <a:pPr marL="342900" marR="0" lvl="0" indent="-342900" algn="l" defTabSz="1088776" rtl="0" eaLnBrk="1" fontAlgn="auto" latinLnBrk="0" hangingPunct="1">
              <a:lnSpc>
                <a:spcPct val="100000"/>
              </a:lnSpc>
              <a:spcBef>
                <a:spcPts val="0"/>
              </a:spcBef>
              <a:spcAft>
                <a:spcPts val="0"/>
              </a:spcAft>
              <a:buClrTx/>
              <a:buSzTx/>
              <a:buFont typeface="Symbol" panose="05050102010706020507" pitchFamily="18" charset="2"/>
              <a:buChar char="-"/>
              <a:tabLst/>
              <a:defRPr/>
            </a:pPr>
            <a:r>
              <a:rPr lang="en-US" baseline="0" dirty="0"/>
              <a:t>Scale the deployment up to 3 and reload the page to display the welcome text</a:t>
            </a:r>
          </a:p>
          <a:p>
            <a:pPr marL="342900" marR="0" lvl="0" indent="-342900" algn="l" defTabSz="1088776" rtl="0" eaLnBrk="1" fontAlgn="auto" latinLnBrk="0" hangingPunct="1">
              <a:lnSpc>
                <a:spcPct val="100000"/>
              </a:lnSpc>
              <a:spcBef>
                <a:spcPts val="0"/>
              </a:spcBef>
              <a:spcAft>
                <a:spcPts val="0"/>
              </a:spcAft>
              <a:buClrTx/>
              <a:buSzTx/>
              <a:buFont typeface="Symbol" panose="05050102010706020507" pitchFamily="18" charset="2"/>
              <a:buChar char="-"/>
              <a:tabLst/>
              <a:defRPr/>
            </a:pPr>
            <a:r>
              <a:rPr lang="en-US" baseline="0" dirty="0"/>
              <a:t>Again, describe the service and show the endpoints list</a:t>
            </a:r>
          </a:p>
          <a:p>
            <a:pPr marL="342900" marR="0" lvl="0" indent="-342900" algn="l" defTabSz="1088776" rtl="0" eaLnBrk="1" fontAlgn="auto" latinLnBrk="0" hangingPunct="1">
              <a:lnSpc>
                <a:spcPct val="100000"/>
              </a:lnSpc>
              <a:spcBef>
                <a:spcPts val="0"/>
              </a:spcBef>
              <a:spcAft>
                <a:spcPts val="0"/>
              </a:spcAft>
              <a:buClrTx/>
              <a:buSzTx/>
              <a:buFont typeface="Symbol" panose="05050102010706020507" pitchFamily="18" charset="2"/>
              <a:buChar char="-"/>
              <a:tabLst/>
              <a:defRPr/>
            </a:pPr>
            <a:r>
              <a:rPr lang="en-US" baseline="0" dirty="0"/>
              <a:t>Next, run the selection query of the service manually: </a:t>
            </a:r>
            <a:r>
              <a:rPr lang="en-US" baseline="0" dirty="0" err="1"/>
              <a:t>kubectl</a:t>
            </a:r>
            <a:r>
              <a:rPr lang="en-US" baseline="0" dirty="0"/>
              <a:t> get pods -l tier=web-frontend -o wide</a:t>
            </a:r>
          </a:p>
          <a:p>
            <a:pPr marL="342900" marR="0" lvl="0" indent="-342900" algn="l" defTabSz="1088776" rtl="0" eaLnBrk="1" fontAlgn="auto" latinLnBrk="0" hangingPunct="1">
              <a:lnSpc>
                <a:spcPct val="100000"/>
              </a:lnSpc>
              <a:spcBef>
                <a:spcPts val="0"/>
              </a:spcBef>
              <a:spcAft>
                <a:spcPts val="0"/>
              </a:spcAft>
              <a:buClrTx/>
              <a:buSzTx/>
              <a:buFont typeface="Symbol" panose="05050102010706020507" pitchFamily="18" charset="2"/>
              <a:buChar char="-"/>
              <a:tabLst/>
              <a:defRPr/>
            </a:pPr>
            <a:r>
              <a:rPr lang="en-US" baseline="0" dirty="0"/>
              <a:t>The IP addresses of the pods and the service endpoints should match</a:t>
            </a:r>
          </a:p>
          <a:p>
            <a:pPr marL="342900" marR="0" lvl="0" indent="-342900" algn="l" defTabSz="1088776" rtl="0" eaLnBrk="1" fontAlgn="auto" latinLnBrk="0" hangingPunct="1">
              <a:lnSpc>
                <a:spcPct val="100000"/>
              </a:lnSpc>
              <a:spcBef>
                <a:spcPts val="0"/>
              </a:spcBef>
              <a:spcAft>
                <a:spcPts val="0"/>
              </a:spcAft>
              <a:buClrTx/>
              <a:buSzTx/>
              <a:buFont typeface="Symbol" panose="05050102010706020507" pitchFamily="18" charset="2"/>
              <a:buChar char="-"/>
              <a:tabLst/>
              <a:defRPr/>
            </a:pPr>
            <a:endParaRPr lang="en-US" baseline="0" dirty="0"/>
          </a:p>
          <a:p>
            <a:pPr marL="342900" marR="0" lvl="0" indent="-342900" algn="l" defTabSz="1088776" rtl="0" eaLnBrk="1" fontAlgn="auto" latinLnBrk="0" hangingPunct="1">
              <a:lnSpc>
                <a:spcPct val="100000"/>
              </a:lnSpc>
              <a:spcBef>
                <a:spcPts val="0"/>
              </a:spcBef>
              <a:spcAft>
                <a:spcPts val="0"/>
              </a:spcAft>
              <a:buClrTx/>
              <a:buSzTx/>
              <a:buFont typeface="Symbol" panose="05050102010706020507" pitchFamily="18" charset="2"/>
              <a:buChar char="-"/>
              <a:tabLst/>
              <a:defRPr/>
            </a:pPr>
            <a:r>
              <a:rPr lang="en-US" b="1" baseline="0" dirty="0"/>
              <a:t>10 most common reasons why k8s deployments fail</a:t>
            </a:r>
          </a:p>
          <a:p>
            <a:pPr marL="522900" marR="0" lvl="1" indent="-342900" algn="l" defTabSz="1088776" rtl="0" eaLnBrk="1" fontAlgn="auto" latinLnBrk="0" hangingPunct="1">
              <a:lnSpc>
                <a:spcPct val="100000"/>
              </a:lnSpc>
              <a:spcBef>
                <a:spcPts val="0"/>
              </a:spcBef>
              <a:spcAft>
                <a:spcPts val="0"/>
              </a:spcAft>
              <a:buClrTx/>
              <a:buSzTx/>
              <a:buFont typeface="Symbol" panose="05050102010706020507" pitchFamily="18" charset="2"/>
              <a:buChar char="-"/>
              <a:tabLst/>
              <a:defRPr/>
            </a:pPr>
            <a:r>
              <a:rPr lang="en-US" baseline="0" dirty="0"/>
              <a:t>https://kukulinski.com/10-most-common-reasons-kubernetes-deployments-fail-part-1/</a:t>
            </a:r>
          </a:p>
          <a:p>
            <a:pPr marL="522900" marR="0" lvl="1" indent="-342900" algn="l" defTabSz="1088776" rtl="0" eaLnBrk="1" fontAlgn="auto" latinLnBrk="0" hangingPunct="1">
              <a:lnSpc>
                <a:spcPct val="100000"/>
              </a:lnSpc>
              <a:spcBef>
                <a:spcPts val="0"/>
              </a:spcBef>
              <a:spcAft>
                <a:spcPts val="0"/>
              </a:spcAft>
              <a:buClrTx/>
              <a:buSzTx/>
              <a:buFont typeface="Symbol" panose="05050102010706020507" pitchFamily="18" charset="2"/>
              <a:buChar char="-"/>
              <a:tabLst/>
              <a:defRPr/>
            </a:pPr>
            <a:r>
              <a:rPr lang="en-US" baseline="0"/>
              <a:t>https://kukulinski.com/10-most-common-reasons-kubernetes-deployments-fail-part-2/</a:t>
            </a:r>
          </a:p>
          <a:p>
            <a:pPr marL="342900" marR="0" lvl="0" indent="-342900" algn="l" defTabSz="1088776" rtl="0" eaLnBrk="1" fontAlgn="auto" latinLnBrk="0" hangingPunct="1">
              <a:lnSpc>
                <a:spcPct val="100000"/>
              </a:lnSpc>
              <a:spcBef>
                <a:spcPts val="0"/>
              </a:spcBef>
              <a:spcAft>
                <a:spcPts val="0"/>
              </a:spcAft>
              <a:buClrTx/>
              <a:buSzTx/>
              <a:buFont typeface="Symbol" panose="05050102010706020507" pitchFamily="18" charset="2"/>
              <a:buChar char="-"/>
              <a:tabLst/>
              <a:defRPr/>
            </a:pPr>
            <a:endParaRPr lang="en-US" baseline="0"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10</a:t>
            </a:fld>
            <a:endParaRPr lang="de-DE" dirty="0"/>
          </a:p>
        </p:txBody>
      </p:sp>
    </p:spTree>
    <p:extLst>
      <p:ext uri="{BB962C8B-B14F-4D97-AF65-F5344CB8AC3E}">
        <p14:creationId xmlns:p14="http://schemas.microsoft.com/office/powerpoint/2010/main" val="18532547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7D8C2C35-2B8A-446E-BEC0-FD36716C29AC}" type="slidenum">
              <a:rPr lang="en-US" smtClean="0"/>
              <a:pPr/>
              <a:t>11</a:t>
            </a:fld>
            <a:endParaRPr lang="en-US" dirty="0"/>
          </a:p>
        </p:txBody>
      </p:sp>
      <p:sp>
        <p:nvSpPr>
          <p:cNvPr id="6" name="Slide Image Placeholder 5"/>
          <p:cNvSpPr>
            <a:spLocks noGrp="1" noRot="1" noChangeAspect="1"/>
          </p:cNvSpPr>
          <p:nvPr>
            <p:ph type="sldImg"/>
          </p:nvPr>
        </p:nvSpPr>
        <p:spPr>
          <a:xfrm>
            <a:off x="547688" y="612775"/>
            <a:ext cx="5762625" cy="3241675"/>
          </a:xfrm>
        </p:spPr>
      </p:sp>
      <p:sp>
        <p:nvSpPr>
          <p:cNvPr id="7" name="Notes Placeholder 6"/>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5442643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hyperlink" Target="http://global.sap.com/corporate-en/legal/copyright/index.epx" TargetMode="External"/><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hyperlink" Target="http://www.sap.com/corporate-de/legal/copyright/index.epx"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with image">
    <p:spTree>
      <p:nvGrpSpPr>
        <p:cNvPr id="1" name=""/>
        <p:cNvGrpSpPr/>
        <p:nvPr/>
      </p:nvGrpSpPr>
      <p:grpSpPr>
        <a:xfrm>
          <a:off x="0" y="0"/>
          <a:ext cx="0" cy="0"/>
          <a:chOff x="0" y="0"/>
          <a:chExt cx="0" cy="0"/>
        </a:xfrm>
      </p:grpSpPr>
      <p:sp>
        <p:nvSpPr>
          <p:cNvPr id="5" name="Cover Image Placeholder"/>
          <p:cNvSpPr>
            <a:spLocks noGrp="1"/>
          </p:cNvSpPr>
          <p:nvPr>
            <p:ph type="pic" sz="quarter" idx="12" hasCustomPrompt="1"/>
          </p:nvPr>
        </p:nvSpPr>
        <p:spPr>
          <a:xfrm>
            <a:off x="1" y="0"/>
            <a:ext cx="12195175" cy="3430006"/>
          </a:xfrm>
          <a:solidFill>
            <a:schemeClr val="tx2">
              <a:alpha val="70000"/>
            </a:schemeClr>
          </a:solidFill>
        </p:spPr>
        <p:txBody>
          <a:bodyPr tIns="504000"/>
          <a:lstStyle>
            <a:lvl1pPr algn="ctr">
              <a:defRPr sz="1600">
                <a:solidFill>
                  <a:schemeClr val="tx1"/>
                </a:solidFill>
              </a:defRPr>
            </a:lvl1pPr>
          </a:lstStyle>
          <a:p>
            <a:r>
              <a:rPr lang="en-US" dirty="0"/>
              <a:t>Click to insert title image</a:t>
            </a:r>
          </a:p>
        </p:txBody>
      </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grpSp>
        <p:nvGrpSpPr>
          <p:cNvPr id="2" name="Group 1"/>
          <p:cNvGrpSpPr/>
          <p:nvPr userDrawn="1"/>
        </p:nvGrpSpPr>
        <p:grpSpPr>
          <a:xfrm>
            <a:off x="9171173" y="0"/>
            <a:ext cx="3024002" cy="3430006"/>
            <a:chOff x="9171173" y="0"/>
            <a:chExt cx="3024002" cy="3430006"/>
          </a:xfrm>
        </p:grpSpPr>
        <p:sp>
          <p:nvSpPr>
            <p:cNvPr id="17" name="Rectangle 16"/>
            <p:cNvSpPr/>
            <p:nvPr userDrawn="1"/>
          </p:nvSpPr>
          <p:spPr bwMode="gray">
            <a:xfrm>
              <a:off x="11187175" y="0"/>
              <a:ext cx="1008000" cy="3430006"/>
            </a:xfrm>
            <a:prstGeom prst="rect">
              <a:avLst/>
            </a:prstGeom>
            <a:solidFill>
              <a:schemeClr val="accent1"/>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179174" y="0"/>
              <a:ext cx="1008000" cy="3430006"/>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2" name="Rectangle 21"/>
            <p:cNvSpPr/>
            <p:nvPr userDrawn="1"/>
          </p:nvSpPr>
          <p:spPr bwMode="gray">
            <a:xfrm>
              <a:off x="9171173" y="0"/>
              <a:ext cx="1008000" cy="3430006"/>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
        <p:nvSpPr>
          <p:cNvPr id="13" name="Classification"/>
          <p:cNvSpPr txBox="1"/>
          <p:nvPr userDrawn="1"/>
        </p:nvSpPr>
        <p:spPr>
          <a:xfrm>
            <a:off x="288000" y="5769666"/>
            <a:ext cx="4204855" cy="138499"/>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dirty="0"/>
              <a:t>INTERNAL</a:t>
            </a:r>
          </a:p>
        </p:txBody>
      </p:sp>
      <p:sp>
        <p:nvSpPr>
          <p:cNvPr id="19" name="Speaker"/>
          <p:cNvSpPr>
            <a:spLocks noGrp="1"/>
          </p:cNvSpPr>
          <p:nvPr userDrawn="1">
            <p:ph type="subTitle" idx="1" hasCustomPrompt="1"/>
          </p:nvPr>
        </p:nvSpPr>
        <p:spPr bwMode="gray">
          <a:xfrm>
            <a:off x="288000" y="5130489"/>
            <a:ext cx="1090080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20" name="Presentation Title"/>
          <p:cNvSpPr>
            <a:spLocks noGrp="1"/>
          </p:cNvSpPr>
          <p:nvPr userDrawn="1">
            <p:ph type="body" sz="quarter" idx="14" hasCustomPrompt="1"/>
          </p:nvPr>
        </p:nvSpPr>
        <p:spPr>
          <a:xfrm>
            <a:off x="288000" y="4024430"/>
            <a:ext cx="10899174" cy="997196"/>
          </a:xfrm>
        </p:spPr>
        <p:txBody>
          <a:bodyPr wrap="square">
            <a:spAutoFit/>
          </a:bodyPr>
          <a:lstStyle>
            <a:lvl1pPr>
              <a:lnSpc>
                <a:spcPct val="90000"/>
              </a:lnSpc>
              <a:spcBef>
                <a:spcPts val="0"/>
              </a:spcBef>
              <a:defRPr sz="3600" b="1" baseline="0"/>
            </a:lvl1pPr>
          </a:lstStyle>
          <a:p>
            <a:pPr lvl="0"/>
            <a:r>
              <a:rPr lang="en-US" dirty="0"/>
              <a:t>Presentation Title </a:t>
            </a:r>
            <a:br>
              <a:rPr lang="en-US" dirty="0"/>
            </a:br>
            <a:r>
              <a:rPr lang="en-US" dirty="0"/>
              <a:t>Goes Here and Here.</a:t>
            </a:r>
          </a:p>
        </p:txBody>
      </p:sp>
    </p:spTree>
    <p:extLst>
      <p:ext uri="{BB962C8B-B14F-4D97-AF65-F5344CB8AC3E}">
        <p14:creationId xmlns:p14="http://schemas.microsoft.com/office/powerpoint/2010/main" val="245271761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with illustration scene art">
    <p:spTree>
      <p:nvGrpSpPr>
        <p:cNvPr id="1" name=""/>
        <p:cNvGrpSpPr/>
        <p:nvPr/>
      </p:nvGrpSpPr>
      <p:grpSpPr>
        <a:xfrm>
          <a:off x="0" y="0"/>
          <a:ext cx="0" cy="0"/>
          <a:chOff x="0" y="0"/>
          <a:chExt cx="0" cy="0"/>
        </a:xfrm>
      </p:grpSpPr>
      <p:sp>
        <p:nvSpPr>
          <p:cNvPr id="5" name="Cover Image Placeholder"/>
          <p:cNvSpPr>
            <a:spLocks noGrp="1"/>
          </p:cNvSpPr>
          <p:nvPr>
            <p:ph type="pic" sz="quarter" idx="12" hasCustomPrompt="1"/>
          </p:nvPr>
        </p:nvSpPr>
        <p:spPr>
          <a:xfrm>
            <a:off x="1" y="0"/>
            <a:ext cx="12195175" cy="3430006"/>
          </a:xfrm>
          <a:noFill/>
        </p:spPr>
        <p:txBody>
          <a:bodyPr tIns="504000"/>
          <a:lstStyle>
            <a:lvl1pPr algn="ctr">
              <a:defRPr sz="1600">
                <a:solidFill>
                  <a:schemeClr val="tx1"/>
                </a:solidFill>
              </a:defRPr>
            </a:lvl1pPr>
          </a:lstStyle>
          <a:p>
            <a:r>
              <a:rPr lang="en-US" dirty="0"/>
              <a:t>Click to insert illustration scene art</a:t>
            </a:r>
          </a:p>
        </p:txBody>
      </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
        <p:nvSpPr>
          <p:cNvPr id="13" name="Classification"/>
          <p:cNvSpPr txBox="1"/>
          <p:nvPr userDrawn="1"/>
        </p:nvSpPr>
        <p:spPr>
          <a:xfrm>
            <a:off x="288000" y="5769666"/>
            <a:ext cx="4204855" cy="138499"/>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dirty="0"/>
              <a:t>INTERNAL</a:t>
            </a:r>
          </a:p>
        </p:txBody>
      </p:sp>
      <p:sp>
        <p:nvSpPr>
          <p:cNvPr id="19" name="Speaker"/>
          <p:cNvSpPr>
            <a:spLocks noGrp="1"/>
          </p:cNvSpPr>
          <p:nvPr userDrawn="1">
            <p:ph type="subTitle" idx="1" hasCustomPrompt="1"/>
          </p:nvPr>
        </p:nvSpPr>
        <p:spPr bwMode="gray">
          <a:xfrm>
            <a:off x="288000" y="5130489"/>
            <a:ext cx="1090080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20" name="Presentation Title"/>
          <p:cNvSpPr>
            <a:spLocks noGrp="1"/>
          </p:cNvSpPr>
          <p:nvPr userDrawn="1">
            <p:ph type="body" sz="quarter" idx="14" hasCustomPrompt="1"/>
          </p:nvPr>
        </p:nvSpPr>
        <p:spPr>
          <a:xfrm>
            <a:off x="288000" y="4024430"/>
            <a:ext cx="10899174" cy="997196"/>
          </a:xfrm>
        </p:spPr>
        <p:txBody>
          <a:bodyPr wrap="square">
            <a:spAutoFit/>
          </a:bodyPr>
          <a:lstStyle>
            <a:lvl1pPr>
              <a:lnSpc>
                <a:spcPct val="90000"/>
              </a:lnSpc>
              <a:spcBef>
                <a:spcPts val="0"/>
              </a:spcBef>
              <a:defRPr sz="3600" b="1" baseline="0"/>
            </a:lvl1pPr>
          </a:lstStyle>
          <a:p>
            <a:pPr lvl="0"/>
            <a:r>
              <a:rPr lang="en-US" dirty="0"/>
              <a:t>Presentation Title </a:t>
            </a:r>
            <a:br>
              <a:rPr lang="en-US" dirty="0"/>
            </a:br>
            <a:r>
              <a:rPr lang="en-US" dirty="0"/>
              <a:t>Goes Here and Here.</a:t>
            </a:r>
          </a:p>
        </p:txBody>
      </p:sp>
    </p:spTree>
    <p:extLst>
      <p:ext uri="{BB962C8B-B14F-4D97-AF65-F5344CB8AC3E}">
        <p14:creationId xmlns:p14="http://schemas.microsoft.com/office/powerpoint/2010/main" val="301887480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black">
    <p:spTree>
      <p:nvGrpSpPr>
        <p:cNvPr id="1" name=""/>
        <p:cNvGrpSpPr/>
        <p:nvPr/>
      </p:nvGrpSpPr>
      <p:grpSpPr>
        <a:xfrm>
          <a:off x="0" y="0"/>
          <a:ext cx="0" cy="0"/>
          <a:chOff x="0" y="0"/>
          <a:chExt cx="0" cy="0"/>
        </a:xfrm>
      </p:grpSpPr>
      <p:sp>
        <p:nvSpPr>
          <p:cNvPr id="24" name="Classification"/>
          <p:cNvSpPr txBox="1"/>
          <p:nvPr userDrawn="1"/>
        </p:nvSpPr>
        <p:spPr>
          <a:xfrm>
            <a:off x="288000" y="5093865"/>
            <a:ext cx="4204855" cy="153852"/>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dirty="0"/>
              <a:t>INTERNAL</a:t>
            </a:r>
          </a:p>
        </p:txBody>
      </p:sp>
      <p:sp>
        <p:nvSpPr>
          <p:cNvPr id="6" name="Speaker"/>
          <p:cNvSpPr>
            <a:spLocks noGrp="1"/>
          </p:cNvSpPr>
          <p:nvPr userDrawn="1">
            <p:ph type="subTitle" idx="1" hasCustomPrompt="1"/>
          </p:nvPr>
        </p:nvSpPr>
        <p:spPr bwMode="gray">
          <a:xfrm>
            <a:off x="288000" y="4268503"/>
            <a:ext cx="8595171"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10" name="Presentation Title"/>
          <p:cNvSpPr>
            <a:spLocks noGrp="1"/>
          </p:cNvSpPr>
          <p:nvPr>
            <p:ph type="body" sz="quarter" idx="14" hasCustomPrompt="1"/>
          </p:nvPr>
        </p:nvSpPr>
        <p:spPr>
          <a:xfrm>
            <a:off x="288000" y="2706317"/>
            <a:ext cx="8595171" cy="997196"/>
          </a:xfrm>
        </p:spPr>
        <p:txBody>
          <a:bodyPr wrap="square">
            <a:noAutofit/>
          </a:bodyPr>
          <a:lstStyle>
            <a:lvl1pPr>
              <a:lnSpc>
                <a:spcPct val="90000"/>
              </a:lnSpc>
              <a:spcBef>
                <a:spcPts val="0"/>
              </a:spcBef>
              <a:defRPr sz="3600" b="1" baseline="0"/>
            </a:lvl1pPr>
          </a:lstStyle>
          <a:p>
            <a:pPr lvl="0"/>
            <a:r>
              <a:rPr lang="en-US" dirty="0"/>
              <a:t>Title Goes Here </a:t>
            </a:r>
            <a:br>
              <a:rPr lang="en-US" dirty="0"/>
            </a:br>
            <a:r>
              <a:rPr lang="en-US" dirty="0"/>
              <a:t>and Here and Here.</a:t>
            </a:r>
          </a:p>
        </p:txBody>
      </p:sp>
      <p:grpSp>
        <p:nvGrpSpPr>
          <p:cNvPr id="2" name="Group 1"/>
          <p:cNvGrpSpPr/>
          <p:nvPr userDrawn="1"/>
        </p:nvGrpSpPr>
        <p:grpSpPr>
          <a:xfrm>
            <a:off x="9171173" y="0"/>
            <a:ext cx="3024002" cy="6858000"/>
            <a:chOff x="9171173" y="0"/>
            <a:chExt cx="3024002" cy="6855990"/>
          </a:xfrm>
        </p:grpSpPr>
        <p:sp>
          <p:nvSpPr>
            <p:cNvPr id="17" name="Rectangle 16"/>
            <p:cNvSpPr/>
            <p:nvPr userDrawn="1"/>
          </p:nvSpPr>
          <p:spPr bwMode="gray">
            <a:xfrm>
              <a:off x="11187175" y="0"/>
              <a:ext cx="1008000" cy="6855990"/>
            </a:xfrm>
            <a:prstGeom prst="rect">
              <a:avLst/>
            </a:prstGeom>
            <a:solidFill>
              <a:schemeClr val="accent1"/>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179174" y="0"/>
              <a:ext cx="1008000" cy="685599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2" name="Rectangle 21"/>
            <p:cNvSpPr/>
            <p:nvPr userDrawn="1"/>
          </p:nvSpPr>
          <p:spPr bwMode="gray">
            <a:xfrm>
              <a:off x="9171173" y="0"/>
              <a:ext cx="1008000" cy="685599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Tree>
    <p:extLst>
      <p:ext uri="{BB962C8B-B14F-4D97-AF65-F5344CB8AC3E}">
        <p14:creationId xmlns:p14="http://schemas.microsoft.com/office/powerpoint/2010/main" val="1982410628"/>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with pictogram">
    <p:spTree>
      <p:nvGrpSpPr>
        <p:cNvPr id="1" name=""/>
        <p:cNvGrpSpPr/>
        <p:nvPr/>
      </p:nvGrpSpPr>
      <p:grpSpPr>
        <a:xfrm>
          <a:off x="0" y="0"/>
          <a:ext cx="0" cy="0"/>
          <a:chOff x="0" y="0"/>
          <a:chExt cx="0" cy="0"/>
        </a:xfrm>
      </p:grpSpPr>
      <p:sp>
        <p:nvSpPr>
          <p:cNvPr id="24" name="Classification"/>
          <p:cNvSpPr txBox="1"/>
          <p:nvPr userDrawn="1"/>
        </p:nvSpPr>
        <p:spPr>
          <a:xfrm>
            <a:off x="288000" y="5093865"/>
            <a:ext cx="4204855" cy="153852"/>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dirty="0"/>
              <a:t>INTERNAL</a:t>
            </a:r>
          </a:p>
        </p:txBody>
      </p:sp>
      <p:sp>
        <p:nvSpPr>
          <p:cNvPr id="6" name="Speaker"/>
          <p:cNvSpPr>
            <a:spLocks noGrp="1"/>
          </p:cNvSpPr>
          <p:nvPr userDrawn="1">
            <p:ph type="subTitle" idx="1" hasCustomPrompt="1"/>
          </p:nvPr>
        </p:nvSpPr>
        <p:spPr bwMode="gray">
          <a:xfrm>
            <a:off x="288001" y="4268503"/>
            <a:ext cx="637343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10" name="Presentation Title"/>
          <p:cNvSpPr>
            <a:spLocks noGrp="1"/>
          </p:cNvSpPr>
          <p:nvPr>
            <p:ph type="body" sz="quarter" idx="14" hasCustomPrompt="1"/>
          </p:nvPr>
        </p:nvSpPr>
        <p:spPr>
          <a:xfrm>
            <a:off x="288001" y="2706317"/>
            <a:ext cx="6373430" cy="997196"/>
          </a:xfrm>
        </p:spPr>
        <p:txBody>
          <a:bodyPr wrap="square">
            <a:noAutofit/>
          </a:bodyPr>
          <a:lstStyle>
            <a:lvl1pPr>
              <a:lnSpc>
                <a:spcPct val="90000"/>
              </a:lnSpc>
              <a:spcBef>
                <a:spcPts val="0"/>
              </a:spcBef>
              <a:defRPr sz="3600" b="1" baseline="0"/>
            </a:lvl1pPr>
          </a:lstStyle>
          <a:p>
            <a:pPr lvl="0"/>
            <a:r>
              <a:rPr lang="en-US" dirty="0"/>
              <a:t>Title Goes Here </a:t>
            </a:r>
            <a:br>
              <a:rPr lang="en-US" dirty="0"/>
            </a:br>
            <a:r>
              <a:rPr lang="en-US" dirty="0"/>
              <a:t>and Here and Here.</a:t>
            </a:r>
          </a:p>
        </p:txBody>
      </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
        <p:nvSpPr>
          <p:cNvPr id="7" name="Picture Placeholder 6"/>
          <p:cNvSpPr>
            <a:spLocks noGrp="1"/>
          </p:cNvSpPr>
          <p:nvPr>
            <p:ph type="pic" sz="quarter" idx="16"/>
          </p:nvPr>
        </p:nvSpPr>
        <p:spPr>
          <a:xfrm>
            <a:off x="6954855" y="963000"/>
            <a:ext cx="4932000" cy="4932000"/>
          </a:xfrm>
        </p:spPr>
        <p:txBody>
          <a:bodyPr/>
          <a:lstStyle/>
          <a:p>
            <a:endParaRPr lang="en-US" dirty="0"/>
          </a:p>
        </p:txBody>
      </p:sp>
    </p:spTree>
    <p:extLst>
      <p:ext uri="{BB962C8B-B14F-4D97-AF65-F5344CB8AC3E}">
        <p14:creationId xmlns:p14="http://schemas.microsoft.com/office/powerpoint/2010/main" val="304804629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Agenda items placeholder"/>
          <p:cNvSpPr>
            <a:spLocks noGrp="1"/>
          </p:cNvSpPr>
          <p:nvPr>
            <p:ph type="body" sz="quarter" idx="10" hasCustomPrompt="1"/>
          </p:nvPr>
        </p:nvSpPr>
        <p:spPr>
          <a:xfrm>
            <a:off x="504000" y="1620000"/>
            <a:ext cx="11185200" cy="4230000"/>
          </a:xfrm>
        </p:spPr>
        <p:txBody>
          <a:bodyPr>
            <a:noAutofit/>
          </a:bodyPr>
          <a:lstStyle>
            <a:lvl1pPr marL="0" marR="0" indent="0" algn="l" defTabSz="1088558" rtl="0" eaLnBrk="1" fontAlgn="auto" latinLnBrk="0" hangingPunct="1">
              <a:lnSpc>
                <a:spcPct val="100000"/>
              </a:lnSpc>
              <a:spcBef>
                <a:spcPts val="3000"/>
              </a:spcBef>
              <a:spcAft>
                <a:spcPts val="0"/>
              </a:spcAft>
              <a:buClr>
                <a:schemeClr val="accent1"/>
              </a:buClr>
              <a:buSzPct val="80000"/>
              <a:buFontTx/>
              <a:buNone/>
              <a:tabLst/>
              <a:defRPr sz="2000" b="0"/>
            </a:lvl1pPr>
            <a:lvl2pPr marL="179964" marR="0" indent="-179964" algn="l" defTabSz="1088558" rtl="0" eaLnBrk="1" fontAlgn="auto" latinLnBrk="0" hangingPunct="1">
              <a:lnSpc>
                <a:spcPct val="100000"/>
              </a:lnSpc>
              <a:spcBef>
                <a:spcPts val="600"/>
              </a:spcBef>
              <a:spcAft>
                <a:spcPts val="0"/>
              </a:spcAft>
              <a:buClr>
                <a:schemeClr val="accent1"/>
              </a:buClr>
              <a:buSzPct val="100000"/>
              <a:buFont typeface="Wingdings" panose="05000000000000000000" pitchFamily="2" charset="2"/>
              <a:buChar char="§"/>
              <a:tabLst/>
              <a:defRPr sz="1800"/>
            </a:lvl2pPr>
            <a:lvl3pPr marL="359928" marR="0" indent="-179352" algn="l" defTabSz="1088558" rtl="0" eaLnBrk="1" fontAlgn="auto" latinLnBrk="0" hangingPunct="1">
              <a:lnSpc>
                <a:spcPct val="100000"/>
              </a:lnSpc>
              <a:spcBef>
                <a:spcPts val="400"/>
              </a:spcBef>
              <a:spcAft>
                <a:spcPts val="0"/>
              </a:spcAft>
              <a:buClr>
                <a:schemeClr val="tx1"/>
              </a:buClr>
              <a:buSzPct val="100000"/>
              <a:buFont typeface="Arial" pitchFamily="34" charset="0"/>
              <a:buChar char="–"/>
              <a:tabLst/>
              <a:defRPr sz="1800" baseline="0"/>
            </a:lvl3pPr>
            <a:lvl4pPr marL="539892" marR="0" indent="-179964" algn="l" defTabSz="1088558" rtl="0" eaLnBrk="1" fontAlgn="auto" latinLnBrk="0" hangingPunct="1">
              <a:lnSpc>
                <a:spcPct val="100000"/>
              </a:lnSpc>
              <a:spcBef>
                <a:spcPts val="250"/>
              </a:spcBef>
              <a:spcAft>
                <a:spcPts val="0"/>
              </a:spcAft>
              <a:buClr>
                <a:schemeClr val="tx1"/>
              </a:buClr>
              <a:buSzPct val="100000"/>
              <a:buFont typeface="Courier New" pitchFamily="49" charset="0"/>
              <a:buChar char="o"/>
              <a:tabLst/>
              <a:defRPr sz="1600"/>
            </a:lvl4pPr>
            <a:lvl5pPr>
              <a:buClr>
                <a:schemeClr val="accent2"/>
              </a:buClr>
              <a:buFont typeface="Arial" pitchFamily="34" charset="0"/>
              <a:buChar char="–"/>
              <a:defRPr/>
            </a:lvl5pPr>
          </a:lstStyle>
          <a:p>
            <a:pPr lvl="0"/>
            <a:r>
              <a:rPr lang="en-US" dirty="0"/>
              <a:t>Agenda Item/Divider Headline</a:t>
            </a:r>
          </a:p>
          <a:p>
            <a:pPr lvl="1"/>
            <a:r>
              <a:rPr lang="en-US" dirty="0"/>
              <a:t>Details</a:t>
            </a:r>
          </a:p>
        </p:txBody>
      </p:sp>
      <p:sp>
        <p:nvSpPr>
          <p:cNvPr id="3" name="Agenda title"/>
          <p:cNvSpPr>
            <a:spLocks noGrp="1"/>
          </p:cNvSpPr>
          <p:nvPr>
            <p:ph type="title" hasCustomPrompt="1"/>
          </p:nvPr>
        </p:nvSpPr>
        <p:spPr/>
        <p:txBody>
          <a:bodyPr/>
          <a:lstStyle>
            <a:lvl1pPr>
              <a:defRPr/>
            </a:lvl1pPr>
          </a:lstStyle>
          <a:p>
            <a:r>
              <a:rPr lang="en-US" dirty="0"/>
              <a:t>Agenda</a:t>
            </a:r>
          </a:p>
        </p:txBody>
      </p:sp>
    </p:spTree>
    <p:extLst>
      <p:ext uri="{BB962C8B-B14F-4D97-AF65-F5344CB8AC3E}">
        <p14:creationId xmlns:p14="http://schemas.microsoft.com/office/powerpoint/2010/main" val="18593606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Page">
    <p:spTree>
      <p:nvGrpSpPr>
        <p:cNvPr id="1" name=""/>
        <p:cNvGrpSpPr/>
        <p:nvPr/>
      </p:nvGrpSpPr>
      <p:grpSpPr>
        <a:xfrm>
          <a:off x="0" y="0"/>
          <a:ext cx="0" cy="0"/>
          <a:chOff x="0" y="0"/>
          <a:chExt cx="0" cy="0"/>
        </a:xfrm>
      </p:grpSpPr>
      <p:sp>
        <p:nvSpPr>
          <p:cNvPr id="2" name="Divider text"/>
          <p:cNvSpPr>
            <a:spLocks noGrp="1"/>
          </p:cNvSpPr>
          <p:nvPr>
            <p:ph type="ctrTitle" hasCustomPrompt="1"/>
          </p:nvPr>
        </p:nvSpPr>
        <p:spPr bwMode="gray">
          <a:xfrm>
            <a:off x="504000" y="3090446"/>
            <a:ext cx="11185200" cy="677108"/>
          </a:xfrm>
        </p:spPr>
        <p:txBody>
          <a:bodyPr anchor="ctr" anchorCtr="0">
            <a:noAutofit/>
          </a:bodyPr>
          <a:lstStyle>
            <a:lvl1pPr>
              <a:defRPr sz="4400">
                <a:solidFill>
                  <a:schemeClr val="tx1"/>
                </a:solidFill>
                <a:latin typeface="+mj-lt"/>
              </a:defRPr>
            </a:lvl1pPr>
          </a:lstStyle>
          <a:p>
            <a:r>
              <a:rPr lang="en-US" dirty="0"/>
              <a:t>Divider page</a:t>
            </a:r>
          </a:p>
        </p:txBody>
      </p:sp>
    </p:spTree>
    <p:extLst>
      <p:ext uri="{BB962C8B-B14F-4D97-AF65-F5344CB8AC3E}">
        <p14:creationId xmlns:p14="http://schemas.microsoft.com/office/powerpoint/2010/main" val="410952787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Page with image">
    <p:spTree>
      <p:nvGrpSpPr>
        <p:cNvPr id="1" name=""/>
        <p:cNvGrpSpPr/>
        <p:nvPr/>
      </p:nvGrpSpPr>
      <p:grpSpPr>
        <a:xfrm>
          <a:off x="0" y="0"/>
          <a:ext cx="0" cy="0"/>
          <a:chOff x="0" y="0"/>
          <a:chExt cx="0" cy="0"/>
        </a:xfrm>
      </p:grpSpPr>
      <p:sp>
        <p:nvSpPr>
          <p:cNvPr id="4" name="Divider image placeholder"/>
          <p:cNvSpPr>
            <a:spLocks noGrp="1"/>
          </p:cNvSpPr>
          <p:nvPr>
            <p:ph type="pic" sz="quarter" idx="12" hasCustomPrompt="1"/>
          </p:nvPr>
        </p:nvSpPr>
        <p:spPr>
          <a:xfrm>
            <a:off x="1" y="3427200"/>
            <a:ext cx="12195175" cy="3430800"/>
          </a:xfrm>
          <a:noFill/>
        </p:spPr>
        <p:txBody>
          <a:bodyPr tIns="324000"/>
          <a:lstStyle>
            <a:lvl1pPr marL="0" marR="0" indent="0" algn="ctr" defTabSz="1088558" rtl="0" eaLnBrk="1" fontAlgn="auto" latinLnBrk="0" hangingPunct="1">
              <a:lnSpc>
                <a:spcPct val="100000"/>
              </a:lnSpc>
              <a:spcBef>
                <a:spcPts val="1200"/>
              </a:spcBef>
              <a:spcAft>
                <a:spcPts val="0"/>
              </a:spcAft>
              <a:buClr>
                <a:schemeClr val="accent1"/>
              </a:buClr>
              <a:buSzPct val="80000"/>
              <a:buFontTx/>
              <a:buNone/>
              <a:tabLst/>
              <a:defRPr sz="1600">
                <a:solidFill>
                  <a:schemeClr val="tx1"/>
                </a:solidFill>
              </a:defRPr>
            </a:lvl1pPr>
          </a:lstStyle>
          <a:p>
            <a:pPr marL="0" marR="0" lvl="0" indent="0" algn="ctr" defTabSz="1088558" rtl="0" eaLnBrk="1" fontAlgn="auto" latinLnBrk="0" hangingPunct="1">
              <a:lnSpc>
                <a:spcPct val="100000"/>
              </a:lnSpc>
              <a:spcBef>
                <a:spcPts val="1200"/>
              </a:spcBef>
              <a:spcAft>
                <a:spcPts val="0"/>
              </a:spcAft>
              <a:buClr>
                <a:schemeClr val="accent1"/>
              </a:buClr>
              <a:buSzPct val="80000"/>
              <a:buFontTx/>
              <a:buNone/>
              <a:tabLst/>
              <a:defRPr/>
            </a:pPr>
            <a:r>
              <a:rPr lang="en-US" dirty="0"/>
              <a:t>Placeholder for image and illustration scene art</a:t>
            </a:r>
          </a:p>
        </p:txBody>
      </p:sp>
      <p:sp>
        <p:nvSpPr>
          <p:cNvPr id="2" name="Divider text"/>
          <p:cNvSpPr>
            <a:spLocks noGrp="1"/>
          </p:cNvSpPr>
          <p:nvPr>
            <p:ph type="ctrTitle" hasCustomPrompt="1"/>
          </p:nvPr>
        </p:nvSpPr>
        <p:spPr bwMode="gray">
          <a:xfrm>
            <a:off x="504000" y="1375046"/>
            <a:ext cx="11185200" cy="677108"/>
          </a:xfrm>
        </p:spPr>
        <p:txBody>
          <a:bodyPr anchor="t" anchorCtr="0">
            <a:noAutofit/>
          </a:bodyPr>
          <a:lstStyle>
            <a:lvl1pPr>
              <a:defRPr sz="4400">
                <a:solidFill>
                  <a:schemeClr val="tx1"/>
                </a:solidFill>
                <a:latin typeface="+mj-lt"/>
              </a:defRPr>
            </a:lvl1pPr>
          </a:lstStyle>
          <a:p>
            <a:r>
              <a:rPr lang="en-US" dirty="0"/>
              <a:t>Divider page</a:t>
            </a:r>
          </a:p>
        </p:txBody>
      </p:sp>
    </p:spTree>
    <p:extLst>
      <p:ext uri="{BB962C8B-B14F-4D97-AF65-F5344CB8AC3E}">
        <p14:creationId xmlns:p14="http://schemas.microsoft.com/office/powerpoint/2010/main" val="100898527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4667436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4" name="Text placeholder - column 2"/>
          <p:cNvSpPr>
            <a:spLocks noGrp="1"/>
          </p:cNvSpPr>
          <p:nvPr>
            <p:ph type="body" sz="quarter" idx="10" hasCustomPrompt="1"/>
          </p:nvPr>
        </p:nvSpPr>
        <p:spPr>
          <a:xfrm>
            <a:off x="503999" y="1620000"/>
            <a:ext cx="11186477"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1293322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text: 2 columns">
    <p:spTree>
      <p:nvGrpSpPr>
        <p:cNvPr id="1" name=""/>
        <p:cNvGrpSpPr/>
        <p:nvPr/>
      </p:nvGrpSpPr>
      <p:grpSpPr>
        <a:xfrm>
          <a:off x="0" y="0"/>
          <a:ext cx="0" cy="0"/>
          <a:chOff x="0" y="0"/>
          <a:chExt cx="0" cy="0"/>
        </a:xfrm>
      </p:grpSpPr>
      <p:sp>
        <p:nvSpPr>
          <p:cNvPr id="4" name="Text placeholder - column 2"/>
          <p:cNvSpPr>
            <a:spLocks noGrp="1"/>
          </p:cNvSpPr>
          <p:nvPr>
            <p:ph type="body" sz="quarter" idx="10" hasCustomPrompt="1"/>
          </p:nvPr>
        </p:nvSpPr>
        <p:spPr>
          <a:xfrm>
            <a:off x="504000"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 column 1"/>
          <p:cNvSpPr>
            <a:spLocks noGrp="1"/>
          </p:cNvSpPr>
          <p:nvPr>
            <p:ph type="body" sz="quarter" idx="11" hasCustomPrompt="1"/>
          </p:nvPr>
        </p:nvSpPr>
        <p:spPr>
          <a:xfrm>
            <a:off x="6362477"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630481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ext: 3 columns">
    <p:spTree>
      <p:nvGrpSpPr>
        <p:cNvPr id="1" name=""/>
        <p:cNvGrpSpPr/>
        <p:nvPr/>
      </p:nvGrpSpPr>
      <p:grpSpPr>
        <a:xfrm>
          <a:off x="0" y="0"/>
          <a:ext cx="0" cy="0"/>
          <a:chOff x="0" y="0"/>
          <a:chExt cx="0" cy="0"/>
        </a:xfrm>
      </p:grpSpPr>
      <p:sp>
        <p:nvSpPr>
          <p:cNvPr id="7" name="Text Placeholder - column 3"/>
          <p:cNvSpPr>
            <a:spLocks noGrp="1"/>
          </p:cNvSpPr>
          <p:nvPr>
            <p:ph type="body" sz="quarter" idx="13" hasCustomPrompt="1"/>
          </p:nvPr>
        </p:nvSpPr>
        <p:spPr>
          <a:xfrm>
            <a:off x="8126477"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 column 2"/>
          <p:cNvSpPr>
            <a:spLocks noGrp="1"/>
          </p:cNvSpPr>
          <p:nvPr>
            <p:ph type="body" sz="quarter" idx="12" hasCustomPrompt="1"/>
          </p:nvPr>
        </p:nvSpPr>
        <p:spPr>
          <a:xfrm>
            <a:off x="4315238"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 column 1"/>
          <p:cNvSpPr>
            <a:spLocks noGrp="1"/>
          </p:cNvSpPr>
          <p:nvPr>
            <p:ph type="body" sz="quarter" idx="10" hasCustomPrompt="1"/>
          </p:nvPr>
        </p:nvSpPr>
        <p:spPr>
          <a:xfrm>
            <a:off x="504000"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8664163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4770000"/>
            <a:ext cx="5328000" cy="108000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5328000" cy="2631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17" name="Text placeholder - column 2"/>
          <p:cNvSpPr>
            <a:spLocks noGrp="1"/>
          </p:cNvSpPr>
          <p:nvPr>
            <p:ph type="body" sz="quarter" idx="13" hasCustomPrompt="1"/>
          </p:nvPr>
        </p:nvSpPr>
        <p:spPr>
          <a:xfrm>
            <a:off x="6362477" y="4770000"/>
            <a:ext cx="5328000" cy="108000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6362477" y="1620000"/>
            <a:ext cx="5328000" cy="2631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25049412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17" name="Text placeholder - column 2"/>
          <p:cNvSpPr>
            <a:spLocks noGrp="1"/>
          </p:cNvSpPr>
          <p:nvPr>
            <p:ph type="body" sz="quarter" idx="13" hasCustomPrompt="1"/>
          </p:nvPr>
        </p:nvSpPr>
        <p:spPr>
          <a:xfrm>
            <a:off x="8299277"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8299277"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9" name="Text placeholder - column 2"/>
          <p:cNvSpPr>
            <a:spLocks noGrp="1"/>
          </p:cNvSpPr>
          <p:nvPr>
            <p:ph type="body" sz="quarter" idx="15" hasCustomPrompt="1"/>
          </p:nvPr>
        </p:nvSpPr>
        <p:spPr>
          <a:xfrm>
            <a:off x="4401639"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0" name="Picture Placeholder 4"/>
          <p:cNvSpPr>
            <a:spLocks noGrp="1"/>
          </p:cNvSpPr>
          <p:nvPr>
            <p:ph type="pic" sz="quarter" idx="16" hasCustomPrompt="1"/>
          </p:nvPr>
        </p:nvSpPr>
        <p:spPr bwMode="gray">
          <a:xfrm>
            <a:off x="4401639"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7276675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3878220"/>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17" name="Text placeholder - column 2"/>
          <p:cNvSpPr>
            <a:spLocks noGrp="1"/>
          </p:cNvSpPr>
          <p:nvPr>
            <p:ph type="body" sz="quarter" idx="13" hasCustomPrompt="1"/>
          </p:nvPr>
        </p:nvSpPr>
        <p:spPr>
          <a:xfrm>
            <a:off x="9274877"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9274877"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9" name="Text placeholder - column 2"/>
          <p:cNvSpPr>
            <a:spLocks noGrp="1"/>
          </p:cNvSpPr>
          <p:nvPr>
            <p:ph type="body" sz="quarter" idx="15" hasCustomPrompt="1"/>
          </p:nvPr>
        </p:nvSpPr>
        <p:spPr>
          <a:xfrm>
            <a:off x="3427626"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0" name="Picture Placeholder 4"/>
          <p:cNvSpPr>
            <a:spLocks noGrp="1"/>
          </p:cNvSpPr>
          <p:nvPr>
            <p:ph type="pic" sz="quarter" idx="16" hasCustomPrompt="1"/>
          </p:nvPr>
        </p:nvSpPr>
        <p:spPr bwMode="gray">
          <a:xfrm>
            <a:off x="3427626"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13" name="Text placeholder - column 2"/>
          <p:cNvSpPr>
            <a:spLocks noGrp="1"/>
          </p:cNvSpPr>
          <p:nvPr>
            <p:ph type="body" sz="quarter" idx="17" hasCustomPrompt="1"/>
          </p:nvPr>
        </p:nvSpPr>
        <p:spPr>
          <a:xfrm>
            <a:off x="6351252"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4" name="Picture Placeholder 4"/>
          <p:cNvSpPr>
            <a:spLocks noGrp="1"/>
          </p:cNvSpPr>
          <p:nvPr>
            <p:ph type="pic" sz="quarter" idx="18" hasCustomPrompt="1"/>
          </p:nvPr>
        </p:nvSpPr>
        <p:spPr bwMode="gray">
          <a:xfrm>
            <a:off x="6351252"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26805944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5" name="Quote placeholder"/>
          <p:cNvSpPr>
            <a:spLocks noGrp="1"/>
          </p:cNvSpPr>
          <p:nvPr>
            <p:ph type="body" sz="quarter" idx="10" hasCustomPrompt="1"/>
          </p:nvPr>
        </p:nvSpPr>
        <p:spPr>
          <a:xfrm>
            <a:off x="504000" y="1800000"/>
            <a:ext cx="11185200" cy="3285032"/>
          </a:xfrm>
        </p:spPr>
        <p:txBody>
          <a:bodyPr/>
          <a:lstStyle>
            <a:lvl1pPr marL="395921" indent="-395921">
              <a:lnSpc>
                <a:spcPct val="90000"/>
              </a:lnSpc>
              <a:spcBef>
                <a:spcPts val="600"/>
              </a:spcBef>
              <a:defRPr sz="5999" b="1"/>
            </a:lvl1pPr>
            <a:lvl2pPr marL="395921" indent="0">
              <a:buNone/>
              <a:defRPr sz="1200"/>
            </a:lvl2pPr>
          </a:lstStyle>
          <a:p>
            <a:pPr lvl="0"/>
            <a:r>
              <a:rPr lang="en-US" noProof="0" dirty="0"/>
              <a:t>“Quote goes here </a:t>
            </a:r>
            <a:br>
              <a:rPr lang="en-US" noProof="0" dirty="0"/>
            </a:br>
            <a:r>
              <a:rPr lang="en-US" noProof="0" dirty="0"/>
              <a:t>and here.”</a:t>
            </a:r>
          </a:p>
          <a:p>
            <a:pPr lvl="1"/>
            <a:r>
              <a:rPr lang="en-US" noProof="0" dirty="0"/>
              <a:t>Source</a:t>
            </a:r>
          </a:p>
        </p:txBody>
      </p:sp>
      <p:sp>
        <p:nvSpPr>
          <p:cNvPr id="2" name="Title 1"/>
          <p:cNvSpPr>
            <a:spLocks noGrp="1"/>
          </p:cNvSpPr>
          <p:nvPr>
            <p:ph type="title" hasCustomPrompt="1"/>
          </p:nvPr>
        </p:nvSpPr>
        <p:spPr/>
        <p:txBody>
          <a:bodyPr/>
          <a:lstStyle/>
          <a:p>
            <a:r>
              <a:rPr lang="en-US" noProof="0" dirty="0"/>
              <a:t>Insert page title (sentence case)</a:t>
            </a:r>
            <a:endParaRPr lang="en-US" dirty="0"/>
          </a:p>
        </p:txBody>
      </p:sp>
      <p:grpSp>
        <p:nvGrpSpPr>
          <p:cNvPr id="3" name="Group 2"/>
          <p:cNvGrpSpPr/>
          <p:nvPr userDrawn="1"/>
        </p:nvGrpSpPr>
        <p:grpSpPr>
          <a:xfrm>
            <a:off x="0" y="0"/>
            <a:ext cx="12195175" cy="251942"/>
            <a:chOff x="0" y="0"/>
            <a:chExt cx="12195175" cy="251942"/>
          </a:xfrm>
        </p:grpSpPr>
        <p:sp>
          <p:nvSpPr>
            <p:cNvPr id="9" name="Rectangle 8"/>
            <p:cNvSpPr/>
            <p:nvPr userDrawn="1"/>
          </p:nvSpPr>
          <p:spPr bwMode="gray">
            <a:xfrm>
              <a:off x="0" y="0"/>
              <a:ext cx="12195175" cy="251942"/>
            </a:xfrm>
            <a:prstGeom prst="rect">
              <a:avLst/>
            </a:prstGeom>
            <a:solidFill>
              <a:schemeClr val="bg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nvGrpSpPr>
            <p:cNvPr id="4" name="Secondary Motion Band"/>
            <p:cNvGrpSpPr/>
            <p:nvPr userDrawn="1"/>
          </p:nvGrpSpPr>
          <p:grpSpPr>
            <a:xfrm>
              <a:off x="10682127" y="0"/>
              <a:ext cx="1513048" cy="251942"/>
              <a:chOff x="10682127" y="0"/>
              <a:chExt cx="1513048" cy="252000"/>
            </a:xfrm>
          </p:grpSpPr>
          <p:sp>
            <p:nvSpPr>
              <p:cNvPr id="6" name="Rectangle 5"/>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7" name="Rectangle 6"/>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8" name="Rectangle 7"/>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grpSp>
    </p:spTree>
    <p:extLst>
      <p:ext uri="{BB962C8B-B14F-4D97-AF65-F5344CB8AC3E}">
        <p14:creationId xmlns:p14="http://schemas.microsoft.com/office/powerpoint/2010/main" val="9327859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text with image 1">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8127175" y="252000"/>
            <a:ext cx="4068000"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7" name="Text Placeholder 6"/>
          <p:cNvSpPr>
            <a:spLocks noGrp="1"/>
          </p:cNvSpPr>
          <p:nvPr>
            <p:ph type="body" sz="quarter" idx="11" hasCustomPrompt="1"/>
          </p:nvPr>
        </p:nvSpPr>
        <p:spPr bwMode="gray">
          <a:xfrm>
            <a:off x="503999" y="1620000"/>
            <a:ext cx="7092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7092000"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34250202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text with image 2">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6111175" y="252000"/>
            <a:ext cx="6084000"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7" name="Text Placeholder 6"/>
          <p:cNvSpPr>
            <a:spLocks noGrp="1"/>
          </p:cNvSpPr>
          <p:nvPr>
            <p:ph type="body" sz="quarter" idx="11" hasCustomPrompt="1"/>
          </p:nvPr>
        </p:nvSpPr>
        <p:spPr bwMode="gray">
          <a:xfrm>
            <a:off x="503999" y="1620000"/>
            <a:ext cx="5112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a:xfrm>
            <a:off x="504001" y="504000"/>
            <a:ext cx="5112000"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5527877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with motion band">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1" y="252000"/>
            <a:ext cx="12195175"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19010498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Full bleed image ">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1" y="0"/>
            <a:ext cx="12195175" cy="6858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41397911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and screenshot">
    <p:spTree>
      <p:nvGrpSpPr>
        <p:cNvPr id="1" name=""/>
        <p:cNvGrpSpPr/>
        <p:nvPr/>
      </p:nvGrpSpPr>
      <p:grpSpPr>
        <a:xfrm>
          <a:off x="0" y="0"/>
          <a:ext cx="0" cy="0"/>
          <a:chOff x="0" y="0"/>
          <a:chExt cx="0" cy="0"/>
        </a:xfrm>
      </p:grpSpPr>
      <p:sp>
        <p:nvSpPr>
          <p:cNvPr id="5" name="Picture Placeholder 4"/>
          <p:cNvSpPr>
            <a:spLocks noGrp="1"/>
          </p:cNvSpPr>
          <p:nvPr>
            <p:ph type="pic" sz="quarter" idx="13" hasCustomPrompt="1"/>
          </p:nvPr>
        </p:nvSpPr>
        <p:spPr bwMode="gray">
          <a:xfrm>
            <a:off x="6362477" y="1601628"/>
            <a:ext cx="5328000" cy="4230000"/>
          </a:xfrm>
          <a:solidFill>
            <a:schemeClr val="tx2">
              <a:alpha val="70000"/>
            </a:schemeClr>
          </a:solidFill>
        </p:spPr>
        <p:txBody>
          <a:bodyPr vert="horz" lIns="0" tIns="1512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screenshot</a:t>
            </a:r>
          </a:p>
        </p:txBody>
      </p:sp>
      <p:sp>
        <p:nvSpPr>
          <p:cNvPr id="4" name="Text Placeholder 3"/>
          <p:cNvSpPr>
            <a:spLocks noGrp="1"/>
          </p:cNvSpPr>
          <p:nvPr>
            <p:ph type="body" sz="quarter" idx="10" hasCustomPrompt="1"/>
          </p:nvPr>
        </p:nvSpPr>
        <p:spPr>
          <a:xfrm>
            <a:off x="504000"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1287227243"/>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hasCustomPrompt="1"/>
          </p:nvPr>
        </p:nvSpPr>
        <p:spPr>
          <a:xfrm>
            <a:off x="504000" y="1620000"/>
            <a:ext cx="11185200" cy="4230000"/>
          </a:xfrm>
          <a:solidFill>
            <a:schemeClr val="tx2">
              <a:alpha val="70000"/>
            </a:schemeClr>
          </a:solidFill>
        </p:spPr>
        <p:txBody>
          <a:bodyPr tIns="1368000"/>
          <a:lstStyle>
            <a:lvl1pPr algn="ctr">
              <a:defRPr sz="1400" b="0"/>
            </a:lvl1pPr>
          </a:lstStyle>
          <a:p>
            <a:pPr lvl="0"/>
            <a:r>
              <a:rPr lang="en-US" dirty="0"/>
              <a:t>Click to add content</a:t>
            </a:r>
          </a:p>
        </p:txBody>
      </p:sp>
      <p:sp>
        <p:nvSpPr>
          <p:cNvPr id="2" name="Title 1"/>
          <p:cNvSpPr>
            <a:spLocks noGrp="1"/>
          </p:cNvSpPr>
          <p:nvPr>
            <p:ph type="title" hasCustomPrompt="1"/>
          </p:nvPr>
        </p:nvSpPr>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41860987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Blank with motion band">
    <p:spTree>
      <p:nvGrpSpPr>
        <p:cNvPr id="1" name=""/>
        <p:cNvGrpSpPr/>
        <p:nvPr/>
      </p:nvGrpSpPr>
      <p:grpSpPr>
        <a:xfrm>
          <a:off x="0" y="0"/>
          <a:ext cx="0" cy="0"/>
          <a:chOff x="0" y="0"/>
          <a:chExt cx="0" cy="0"/>
        </a:xfrm>
      </p:grpSpPr>
      <p:sp>
        <p:nvSpPr>
          <p:cNvPr id="7" name="Rectangle 6"/>
          <p:cNvSpPr/>
          <p:nvPr userDrawn="1"/>
        </p:nvSpPr>
        <p:spPr bwMode="gray">
          <a:xfrm>
            <a:off x="236220" y="1142735"/>
            <a:ext cx="11795760" cy="220929"/>
          </a:xfrm>
          <a:prstGeom prst="rect">
            <a:avLst/>
          </a:prstGeom>
          <a:solidFill>
            <a:schemeClr val="bg1"/>
          </a:solidFill>
          <a:ln w="6350" algn="ctr">
            <a:noFill/>
            <a:miter lim="800000"/>
            <a:headEnd/>
            <a:tailEnd/>
          </a:ln>
        </p:spPr>
        <p:txBody>
          <a:bodyPr lIns="89979" tIns="71983" rIns="89979" bIns="71983"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33792483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342181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hank you and contact information">
    <p:spTree>
      <p:nvGrpSpPr>
        <p:cNvPr id="1" name=""/>
        <p:cNvGrpSpPr/>
        <p:nvPr/>
      </p:nvGrpSpPr>
      <p:grpSpPr>
        <a:xfrm>
          <a:off x="0" y="0"/>
          <a:ext cx="0" cy="0"/>
          <a:chOff x="0" y="0"/>
          <a:chExt cx="0" cy="0"/>
        </a:xfrm>
      </p:grpSpPr>
      <p:sp>
        <p:nvSpPr>
          <p:cNvPr id="93" name="Contact information"/>
          <p:cNvSpPr>
            <a:spLocks noGrp="1"/>
          </p:cNvSpPr>
          <p:nvPr>
            <p:ph type="body" sz="quarter" idx="10" hasCustomPrompt="1"/>
          </p:nvPr>
        </p:nvSpPr>
        <p:spPr>
          <a:xfrm>
            <a:off x="504000" y="2905487"/>
            <a:ext cx="5328000" cy="2501010"/>
          </a:xfrm>
        </p:spPr>
        <p:txBody>
          <a:bodyPr anchor="t" anchorCtr="0">
            <a:noAutofit/>
          </a:bodyPr>
          <a:lstStyle>
            <a:lvl1pPr>
              <a:spcBef>
                <a:spcPts val="0"/>
              </a:spcBef>
              <a:spcAft>
                <a:spcPts val="1200"/>
              </a:spcAft>
              <a:defRPr sz="1600" b="0"/>
            </a:lvl1pPr>
            <a:lvl2pPr marL="0" indent="0">
              <a:spcBef>
                <a:spcPts val="0"/>
              </a:spcBef>
              <a:buNone/>
              <a:defRPr sz="1600" b="0"/>
            </a:lvl2pPr>
          </a:lstStyle>
          <a:p>
            <a:r>
              <a:rPr lang="en-US" dirty="0"/>
              <a:t>Contact information:</a:t>
            </a:r>
          </a:p>
          <a:p>
            <a:pPr lvl="1"/>
            <a:r>
              <a:rPr lang="en-US" dirty="0"/>
              <a:t>F name L name</a:t>
            </a:r>
          </a:p>
          <a:p>
            <a:pPr lvl="1"/>
            <a:r>
              <a:rPr lang="en-US" dirty="0"/>
              <a:t>Title</a:t>
            </a:r>
          </a:p>
          <a:p>
            <a:pPr lvl="1"/>
            <a:r>
              <a:rPr lang="en-US" dirty="0"/>
              <a:t>Address</a:t>
            </a:r>
          </a:p>
          <a:p>
            <a:pPr lvl="1"/>
            <a:r>
              <a:rPr lang="en-US" dirty="0"/>
              <a:t>Phone number</a:t>
            </a:r>
          </a:p>
        </p:txBody>
      </p:sp>
      <p:sp>
        <p:nvSpPr>
          <p:cNvPr id="2" name="Thank you"/>
          <p:cNvSpPr>
            <a:spLocks noGrp="1"/>
          </p:cNvSpPr>
          <p:nvPr>
            <p:ph type="ctrTitle" hasCustomPrompt="1"/>
          </p:nvPr>
        </p:nvSpPr>
        <p:spPr bwMode="gray">
          <a:xfrm>
            <a:off x="504000" y="1467009"/>
            <a:ext cx="5328000" cy="923116"/>
          </a:xfrm>
        </p:spPr>
        <p:txBody>
          <a:bodyPr anchor="t" anchorCtr="0">
            <a:noAutofit/>
          </a:bodyPr>
          <a:lstStyle>
            <a:lvl1pPr>
              <a:defRPr sz="5500">
                <a:solidFill>
                  <a:schemeClr val="accent1"/>
                </a:solidFill>
                <a:latin typeface="+mj-lt"/>
              </a:defRPr>
            </a:lvl1pPr>
          </a:lstStyle>
          <a:p>
            <a:r>
              <a:rPr lang="en-US" dirty="0"/>
              <a:t>Thank you.</a:t>
            </a:r>
          </a:p>
        </p:txBody>
      </p:sp>
      <p:pic>
        <p:nvPicPr>
          <p:cNvPr id="10"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04000" y="5994000"/>
            <a:ext cx="1578462" cy="360000"/>
          </a:xfrm>
          <a:prstGeom prst="rect">
            <a:avLst/>
          </a:prstGeom>
        </p:spPr>
      </p:pic>
    </p:spTree>
    <p:extLst>
      <p:ext uri="{BB962C8B-B14F-4D97-AF65-F5344CB8AC3E}">
        <p14:creationId xmlns:p14="http://schemas.microsoft.com/office/powerpoint/2010/main" val="781090314"/>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pyright">
    <p:spTree>
      <p:nvGrpSpPr>
        <p:cNvPr id="1" name=""/>
        <p:cNvGrpSpPr/>
        <p:nvPr/>
      </p:nvGrpSpPr>
      <p:grpSpPr>
        <a:xfrm>
          <a:off x="0" y="0"/>
          <a:ext cx="0" cy="0"/>
          <a:chOff x="0" y="0"/>
          <a:chExt cx="0" cy="0"/>
        </a:xfrm>
      </p:grpSpPr>
      <p:sp>
        <p:nvSpPr>
          <p:cNvPr id="4" name="TextBox 3"/>
          <p:cNvSpPr txBox="1"/>
          <p:nvPr/>
        </p:nvSpPr>
        <p:spPr bwMode="gray">
          <a:xfrm>
            <a:off x="503999" y="1620000"/>
            <a:ext cx="11185200" cy="3153980"/>
          </a:xfrm>
          <a:prstGeom prst="rect">
            <a:avLst/>
          </a:prstGeom>
          <a:noFill/>
        </p:spPr>
        <p:txBody>
          <a:bodyPr wrap="square" lIns="0" tIns="0" rIns="0" bIns="0" rtlCol="0">
            <a:spAutoFit/>
          </a:bodyPr>
          <a:lstStyle/>
          <a:p>
            <a:pPr>
              <a:spcBef>
                <a:spcPts val="1200"/>
              </a:spcBef>
            </a:pPr>
            <a:r>
              <a:rPr lang="en-US" sz="1100" kern="1200" dirty="0">
                <a:solidFill>
                  <a:schemeClr val="tx1"/>
                </a:solidFill>
                <a:latin typeface="Arial"/>
                <a:ea typeface="Arial Unicode MS" panose="020B0604020202020204" pitchFamily="34" charset="-128"/>
                <a:cs typeface="+mn-cs"/>
              </a:rPr>
              <a:t>No part of this publication may be reproduced or transmitted in any form or for any purpose without the express permission of SAP SE or an SAP affiliate company.</a:t>
            </a:r>
          </a:p>
          <a:p>
            <a:pPr>
              <a:spcBef>
                <a:spcPts val="1200"/>
              </a:spcBef>
            </a:pPr>
            <a:r>
              <a:rPr lang="en-US" sz="1100" kern="1200" dirty="0">
                <a:solidFill>
                  <a:schemeClr val="tx1"/>
                </a:solidFill>
                <a:latin typeface="Arial"/>
                <a:ea typeface="Arial Unicode MS" panose="020B0604020202020204" pitchFamily="34" charset="-128"/>
                <a:cs typeface="+mn-cs"/>
              </a:rPr>
              <a:t>The information contained herein may be changed without prior notice. Some software products marketed by SAP SE and its distributors contain proprietary software components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of other software vendors. National product specifications may vary.</a:t>
            </a:r>
          </a:p>
          <a:p>
            <a:pPr>
              <a:spcBef>
                <a:spcPts val="1200"/>
              </a:spcBef>
            </a:pPr>
            <a:r>
              <a:rPr lang="en-US" sz="1100" kern="1200" dirty="0">
                <a:solidFill>
                  <a:schemeClr val="tx1"/>
                </a:solidFill>
                <a:latin typeface="Arial"/>
                <a:ea typeface="Arial Unicode MS" panose="020B0604020202020204" pitchFamily="34" charset="-128"/>
                <a:cs typeface="+mn-cs"/>
              </a:rPr>
              <a:t>These materials are provided by SAP SE or an SAP affiliate company for informational purposes only, without representation or warranty of any kind, and SAP or its affiliated companies shall not be liable for errors or omissions with respect to the materials. The only warranties for SAP or SAP affiliate company products and services are those that are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set forth in the express warranty statements accompanying such products and services, if any. Nothing herein should be construed as constituting an additional warranty. </a:t>
            </a:r>
          </a:p>
          <a:p>
            <a:pPr>
              <a:spcBef>
                <a:spcPts val="1200"/>
              </a:spcBef>
            </a:pPr>
            <a:r>
              <a:rPr lang="en-US" sz="1100" kern="1200" dirty="0">
                <a:solidFill>
                  <a:schemeClr val="tx1"/>
                </a:solidFill>
                <a:latin typeface="Arial"/>
                <a:ea typeface="Arial Unicode MS" panose="020B0604020202020204" pitchFamily="34" charset="-128"/>
                <a:cs typeface="+mn-cs"/>
              </a:rPr>
              <a:t>In particular, SAP SE or its affiliated companies have no obligation to pursue any course of business outlined in this document or any related presentation, or to develop or release any functionality mentioned therein. This document, or any related presentation, and SAP SE’s or its affiliated companies’ strategy and possible future developments, products, and/or platform directions and functionality are all subject to change and may be changed by SAP SE or its affiliated companies at any time for any reason without notice. The information in this document is not a commitment, promise, or legal obligation to deliver any material, code, or functionality. All forward-looking statements are subject to various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risks and uncertainties that could cause actual results to differ materially from expectations. Readers are cautioned not to place undue reliance on these forward-looking statements, and they should not be relied upon in making purchasing decisions.</a:t>
            </a:r>
          </a:p>
          <a:p>
            <a:pPr>
              <a:spcBef>
                <a:spcPts val="1200"/>
              </a:spcBef>
            </a:pPr>
            <a:r>
              <a:rPr lang="en-US" sz="1100" kern="1200" dirty="0">
                <a:solidFill>
                  <a:schemeClr val="tx1"/>
                </a:solidFill>
                <a:latin typeface="Arial"/>
                <a:ea typeface="Arial Unicode MS" panose="020B0604020202020204" pitchFamily="34" charset="-128"/>
                <a:cs typeface="+mn-cs"/>
              </a:rPr>
              <a:t>SAP and other SAP products and services mentioned herein as well as their respective logos are trademarks or registered trademarks of SAP SE (or an SAP affiliate company)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in Germany and other countries. All other product and service names mentioned are the trademarks of their respective companies.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See </a:t>
            </a:r>
            <a:r>
              <a:rPr lang="en-US" sz="1100" kern="1200" dirty="0">
                <a:solidFill>
                  <a:schemeClr val="tx2"/>
                </a:solidFill>
                <a:latin typeface="Arial"/>
                <a:ea typeface="Arial Unicode MS" panose="020B0604020202020204" pitchFamily="34" charset="-128"/>
                <a:cs typeface="+mn-cs"/>
                <a:hlinkClick r:id="rId2"/>
              </a:rPr>
              <a:t>http://global.sap.com/corporate-en/legal/copyright/index.epx</a:t>
            </a:r>
            <a:r>
              <a:rPr lang="en-US" sz="1100" kern="1200" dirty="0">
                <a:solidFill>
                  <a:schemeClr val="tx2"/>
                </a:solidFill>
                <a:latin typeface="Arial"/>
                <a:ea typeface="Arial Unicode MS" panose="020B0604020202020204" pitchFamily="34" charset="-128"/>
                <a:cs typeface="+mn-cs"/>
              </a:rPr>
              <a:t> </a:t>
            </a:r>
            <a:r>
              <a:rPr lang="en-US" sz="1100" kern="1200" dirty="0">
                <a:solidFill>
                  <a:schemeClr val="tx1"/>
                </a:solidFill>
                <a:latin typeface="Arial"/>
                <a:ea typeface="Arial Unicode MS" panose="020B0604020202020204" pitchFamily="34" charset="-128"/>
                <a:cs typeface="+mn-cs"/>
              </a:rPr>
              <a:t>for additional trademark information and notices.</a:t>
            </a:r>
          </a:p>
        </p:txBody>
      </p:sp>
      <p:sp>
        <p:nvSpPr>
          <p:cNvPr id="5" name="TextBox 4"/>
          <p:cNvSpPr txBox="1"/>
          <p:nvPr userDrawn="1"/>
        </p:nvSpPr>
        <p:spPr bwMode="gray">
          <a:xfrm>
            <a:off x="504000" y="719834"/>
            <a:ext cx="9540674" cy="369246"/>
          </a:xfrm>
          <a:prstGeom prst="rect">
            <a:avLst/>
          </a:prstGeom>
        </p:spPr>
        <p:txBody>
          <a:bodyPr vert="horz" wrap="square" lIns="0" tIns="0" rIns="0" bIns="0" rtlCol="0" anchor="t" anchorCtr="0">
            <a:spAutoFit/>
          </a:bodyPr>
          <a:lstStyle>
            <a:lvl1pPr>
              <a:spcBef>
                <a:spcPct val="0"/>
              </a:spcBef>
              <a:buNone/>
              <a:defRPr sz="2400" b="1" baseline="0">
                <a:latin typeface="+mj-lt"/>
                <a:ea typeface="+mj-ea"/>
                <a:cs typeface="+mj-cs"/>
              </a:defRPr>
            </a:lvl1pPr>
          </a:lstStyle>
          <a:p>
            <a:pPr lvl="0"/>
            <a:r>
              <a:rPr lang="en-US" sz="2400" b="0" noProof="0" dirty="0"/>
              <a:t>© 2017 SAP SE or an SAP affiliate company. All rights reserved.</a:t>
            </a:r>
          </a:p>
        </p:txBody>
      </p:sp>
      <p:grpSp>
        <p:nvGrpSpPr>
          <p:cNvPr id="6" name="Secondary Motion Band"/>
          <p:cNvGrpSpPr/>
          <p:nvPr userDrawn="1"/>
        </p:nvGrpSpPr>
        <p:grpSpPr>
          <a:xfrm>
            <a:off x="10682127" y="0"/>
            <a:ext cx="1513048" cy="251942"/>
            <a:chOff x="10682127" y="0"/>
            <a:chExt cx="1513048" cy="252000"/>
          </a:xfrm>
        </p:grpSpPr>
        <p:sp>
          <p:nvSpPr>
            <p:cNvPr id="7" name="Rectangle 6"/>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8" name="Rectangle 7"/>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9" name="Rectangle 8"/>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Tree>
    <p:extLst>
      <p:ext uri="{BB962C8B-B14F-4D97-AF65-F5344CB8AC3E}">
        <p14:creationId xmlns:p14="http://schemas.microsoft.com/office/powerpoint/2010/main" val="45192519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pyright german">
    <p:spTree>
      <p:nvGrpSpPr>
        <p:cNvPr id="1" name=""/>
        <p:cNvGrpSpPr/>
        <p:nvPr/>
      </p:nvGrpSpPr>
      <p:grpSpPr>
        <a:xfrm>
          <a:off x="0" y="0"/>
          <a:ext cx="0" cy="0"/>
          <a:chOff x="0" y="0"/>
          <a:chExt cx="0" cy="0"/>
        </a:xfrm>
      </p:grpSpPr>
      <p:sp>
        <p:nvSpPr>
          <p:cNvPr id="4" name="TextBox 3"/>
          <p:cNvSpPr txBox="1"/>
          <p:nvPr userDrawn="1"/>
        </p:nvSpPr>
        <p:spPr bwMode="gray">
          <a:xfrm>
            <a:off x="504000" y="1620000"/>
            <a:ext cx="11185200" cy="3830931"/>
          </a:xfrm>
          <a:prstGeom prst="rect">
            <a:avLst/>
          </a:prstGeom>
          <a:noFill/>
        </p:spPr>
        <p:txBody>
          <a:bodyPr wrap="square" lIns="0" tIns="0" rIns="0" bIns="0" rtlCol="0">
            <a:spAutoFit/>
          </a:bodyPr>
          <a:lstStyle/>
          <a:p>
            <a:pPr>
              <a:spcBef>
                <a:spcPts val="1200"/>
              </a:spcBef>
            </a:pPr>
            <a:r>
              <a:rPr lang="en-US" sz="1100" kern="1200" noProof="0" dirty="0" err="1">
                <a:solidFill>
                  <a:schemeClr val="tx1"/>
                </a:solidFill>
                <a:effectLst/>
                <a:latin typeface="Arial"/>
                <a:ea typeface="+mn-ea"/>
                <a:cs typeface="+mn-cs"/>
              </a:rPr>
              <a:t>Weitergabe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Vervielfältigung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von </a:t>
            </a:r>
            <a:r>
              <a:rPr lang="en-US" sz="1100" kern="1200" noProof="0" dirty="0" err="1">
                <a:solidFill>
                  <a:schemeClr val="tx1"/>
                </a:solidFill>
                <a:effectLst/>
                <a:latin typeface="Arial"/>
                <a:ea typeface="+mn-ea"/>
                <a:cs typeface="+mn-cs"/>
              </a:rPr>
              <a:t>Teilen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daraus</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sind</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welchem</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Zweck</a:t>
            </a:r>
            <a:r>
              <a:rPr lang="en-US" sz="1100" kern="1200" noProof="0" dirty="0">
                <a:solidFill>
                  <a:schemeClr val="tx1"/>
                </a:solidFill>
                <a:effectLst/>
                <a:latin typeface="Arial"/>
                <a:ea typeface="+mn-ea"/>
                <a:cs typeface="+mn-cs"/>
              </a:rPr>
              <a:t> und in </a:t>
            </a:r>
            <a:r>
              <a:rPr lang="en-US" sz="1100" kern="1200" noProof="0" dirty="0" err="1">
                <a:solidFill>
                  <a:schemeClr val="tx1"/>
                </a:solidFill>
                <a:effectLst/>
                <a:latin typeface="Arial"/>
                <a:ea typeface="+mn-ea"/>
                <a:cs typeface="+mn-cs"/>
              </a:rPr>
              <a:t>welcher</a:t>
            </a:r>
            <a:r>
              <a:rPr lang="en-US" sz="1100" kern="1200" noProof="0" dirty="0">
                <a:solidFill>
                  <a:schemeClr val="tx1"/>
                </a:solidFill>
                <a:effectLst/>
                <a:latin typeface="Arial"/>
                <a:ea typeface="+mn-ea"/>
                <a:cs typeface="+mn-cs"/>
              </a:rPr>
              <a:t> Form </a:t>
            </a:r>
            <a:r>
              <a:rPr lang="en-US" sz="1100" kern="1200" noProof="0" dirty="0" err="1">
                <a:solidFill>
                  <a:schemeClr val="tx1"/>
                </a:solidFill>
                <a:effectLst/>
                <a:latin typeface="Arial"/>
                <a:ea typeface="+mn-ea"/>
                <a:cs typeface="+mn-cs"/>
              </a:rPr>
              <a:t>auch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immer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ohne</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ausdrückliche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schriftliche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Genehmigung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durch</a:t>
            </a:r>
            <a:r>
              <a:rPr lang="en-US" sz="1100" kern="1200" noProof="0" dirty="0">
                <a:solidFill>
                  <a:schemeClr val="tx1"/>
                </a:solidFill>
                <a:effectLst/>
                <a:latin typeface="Arial"/>
                <a:ea typeface="+mn-ea"/>
                <a:cs typeface="+mn-cs"/>
              </a:rPr>
              <a:t>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a:t>
            </a:r>
            <a:r>
              <a:rPr lang="en-US" sz="1100" kern="1200" noProof="0" dirty="0">
                <a:solidFill>
                  <a:schemeClr val="tx1"/>
                </a:solidFill>
                <a:effectLst/>
                <a:latin typeface="Arial"/>
                <a:ea typeface="+mn-ea"/>
                <a:cs typeface="+mn-cs"/>
              </a:rPr>
              <a:t> SAP-</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nicht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gestattet</a:t>
            </a:r>
            <a:r>
              <a:rPr lang="en-US" sz="1100" kern="1200" noProof="0" dirty="0">
                <a:solidFill>
                  <a:schemeClr val="tx1"/>
                </a:solidFill>
                <a:effectLst/>
                <a:latin typeface="Arial"/>
                <a:ea typeface="+mn-ea"/>
                <a:cs typeface="+mn-cs"/>
              </a:rPr>
              <a:t>.</a:t>
            </a:r>
          </a:p>
          <a:p>
            <a:pPr>
              <a:spcBef>
                <a:spcPts val="1200"/>
              </a:spcBef>
            </a:pPr>
            <a:r>
              <a:rPr lang="en-US" sz="1100" kern="1200" noProof="0" dirty="0">
                <a:solidFill>
                  <a:schemeClr val="tx1"/>
                </a:solidFill>
                <a:effectLst/>
                <a:latin typeface="Arial"/>
                <a:ea typeface="+mn-ea"/>
                <a:cs typeface="+mn-cs"/>
              </a:rPr>
              <a:t>In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enthaltene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ohne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vorherige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Ankündigung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geändert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werden</a:t>
            </a:r>
            <a:r>
              <a:rPr lang="en-US" sz="1100" kern="1200" noProof="0" dirty="0">
                <a:solidFill>
                  <a:schemeClr val="tx1"/>
                </a:solidFill>
                <a:effectLst/>
                <a:latin typeface="Arial"/>
                <a:ea typeface="+mn-ea"/>
                <a:cs typeface="+mn-cs"/>
              </a:rPr>
              <a:t>. Die von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deren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Vertriebsfirmen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angebotenen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Softwareprodukte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Softwarekomponenten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anderer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Softwarehersteller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enthalten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länderspezifische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Unterschiede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aufweisen</a:t>
            </a:r>
            <a:r>
              <a:rPr lang="en-US" sz="1100" kern="1200" noProof="0" dirty="0">
                <a:solidFill>
                  <a:schemeClr val="tx1"/>
                </a:solidFill>
                <a:effectLst/>
                <a:latin typeface="Arial"/>
                <a:ea typeface="+mn-ea"/>
                <a:cs typeface="+mn-cs"/>
              </a:rPr>
              <a:t>.</a:t>
            </a:r>
          </a:p>
          <a:p>
            <a:pPr>
              <a:spcBef>
                <a:spcPts val="1200"/>
              </a:spcBef>
            </a:pPr>
            <a:r>
              <a:rPr lang="en-US" sz="1100" kern="1200" noProof="0" dirty="0">
                <a:solidFill>
                  <a:schemeClr val="tx1"/>
                </a:solidFill>
                <a:effectLst/>
                <a:latin typeface="Arial"/>
                <a:ea typeface="+mn-ea"/>
                <a:cs typeface="+mn-cs"/>
              </a:rPr>
              <a:t>Die </a:t>
            </a:r>
            <a:r>
              <a:rPr lang="en-US" sz="1100" kern="1200" noProof="0" dirty="0" err="1">
                <a:solidFill>
                  <a:schemeClr val="tx1"/>
                </a:solidFill>
                <a:effectLst/>
                <a:latin typeface="Arial"/>
                <a:ea typeface="+mn-ea"/>
                <a:cs typeface="+mn-cs"/>
              </a:rPr>
              <a:t>vorliegenden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Unterlagen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werden</a:t>
            </a:r>
            <a:r>
              <a:rPr lang="en-US" sz="1100" kern="1200" noProof="0" dirty="0">
                <a:solidFill>
                  <a:schemeClr val="tx1"/>
                </a:solidFill>
                <a:effectLst/>
                <a:latin typeface="Arial"/>
                <a:ea typeface="+mn-ea"/>
                <a:cs typeface="+mn-cs"/>
              </a:rPr>
              <a:t> von der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einem</a:t>
            </a:r>
            <a:r>
              <a:rPr lang="en-US" sz="1100" kern="1200" noProof="0" dirty="0">
                <a:solidFill>
                  <a:schemeClr val="tx1"/>
                </a:solidFill>
                <a:effectLst/>
                <a:latin typeface="Arial"/>
                <a:ea typeface="+mn-ea"/>
                <a:cs typeface="+mn-cs"/>
              </a:rPr>
              <a:t> SAP-</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bereitgestellt</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ausschließlich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Informationszwecken</a:t>
            </a:r>
            <a:r>
              <a:rPr lang="en-US" sz="1100" kern="1200" noProof="0" dirty="0">
                <a:solidFill>
                  <a:schemeClr val="tx1"/>
                </a:solidFill>
                <a:effectLst/>
                <a:latin typeface="Arial"/>
                <a:ea typeface="+mn-ea"/>
                <a:cs typeface="+mn-cs"/>
              </a:rPr>
              <a:t>. </a:t>
            </a:r>
            <a:br>
              <a:rPr lang="en-US" sz="1100" kern="1200" noProof="0" dirty="0">
                <a:solidFill>
                  <a:schemeClr val="tx1"/>
                </a:solidFill>
                <a:effectLst/>
                <a:latin typeface="Arial"/>
                <a:ea typeface="+mn-ea"/>
                <a:cs typeface="+mn-cs"/>
              </a:rPr>
            </a:br>
            <a:r>
              <a:rPr lang="en-US" sz="1100" kern="1200" noProof="0" dirty="0">
                <a:solidFill>
                  <a:schemeClr val="tx1"/>
                </a:solidFill>
                <a:effectLst/>
                <a:latin typeface="Arial"/>
                <a:ea typeface="+mn-ea"/>
                <a:cs typeface="+mn-cs"/>
              </a:rPr>
              <a:t>Die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ihre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übernehmen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keinerlei</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Haftung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Gewährleistung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für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Fehler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Unvollständigkeiten</a:t>
            </a:r>
            <a:r>
              <a:rPr lang="en-US" sz="1100" kern="1200" noProof="0" dirty="0">
                <a:solidFill>
                  <a:schemeClr val="tx1"/>
                </a:solidFill>
                <a:effectLst/>
                <a:latin typeface="Arial"/>
                <a:ea typeface="+mn-ea"/>
                <a:cs typeface="+mn-cs"/>
              </a:rPr>
              <a:t> in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br>
              <a:rPr lang="en-US" sz="1100" kern="1200" noProof="0" dirty="0">
                <a:solidFill>
                  <a:schemeClr val="tx1"/>
                </a:solidFill>
                <a:effectLst/>
                <a:latin typeface="Arial"/>
                <a:ea typeface="+mn-ea"/>
                <a:cs typeface="+mn-cs"/>
              </a:rPr>
            </a:br>
            <a:r>
              <a:rPr lang="en-US" sz="1100" kern="1200" noProof="0" dirty="0">
                <a:solidFill>
                  <a:schemeClr val="tx1"/>
                </a:solidFill>
                <a:effectLst/>
                <a:latin typeface="Arial"/>
                <a:ea typeface="+mn-ea"/>
                <a:cs typeface="+mn-cs"/>
              </a:rPr>
              <a:t>Die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a:t>
            </a:r>
            <a:r>
              <a:rPr lang="en-US" sz="1100" kern="1200" noProof="0" dirty="0">
                <a:solidFill>
                  <a:schemeClr val="tx1"/>
                </a:solidFill>
                <a:effectLst/>
                <a:latin typeface="Arial"/>
                <a:ea typeface="+mn-ea"/>
                <a:cs typeface="+mn-cs"/>
              </a:rPr>
              <a:t> SAP-</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steht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lediglich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für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Dienstleistungen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nach</a:t>
            </a:r>
            <a:r>
              <a:rPr lang="en-US" sz="1100" kern="1200" noProof="0" dirty="0">
                <a:solidFill>
                  <a:schemeClr val="tx1"/>
                </a:solidFill>
                <a:effectLst/>
                <a:latin typeface="Arial"/>
                <a:ea typeface="+mn-ea"/>
                <a:cs typeface="+mn-cs"/>
              </a:rPr>
              <a:t> der </a:t>
            </a:r>
            <a:r>
              <a:rPr lang="en-US" sz="1100" kern="1200" noProof="0" dirty="0" err="1">
                <a:solidFill>
                  <a:schemeClr val="tx1"/>
                </a:solidFill>
                <a:effectLst/>
                <a:latin typeface="Arial"/>
                <a:ea typeface="+mn-ea"/>
                <a:cs typeface="+mn-cs"/>
              </a:rPr>
              <a:t>Maßgabe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a:t>
            </a:r>
            <a:r>
              <a:rPr lang="en-US" sz="1100" kern="1200" noProof="0" dirty="0">
                <a:solidFill>
                  <a:schemeClr val="tx1"/>
                </a:solidFill>
                <a:effectLst/>
                <a:latin typeface="Arial"/>
                <a:ea typeface="+mn-ea"/>
                <a:cs typeface="+mn-cs"/>
              </a:rPr>
              <a:t>, die in der </a:t>
            </a:r>
            <a:r>
              <a:rPr lang="en-US" sz="1100" kern="1200" noProof="0" dirty="0" err="1">
                <a:solidFill>
                  <a:schemeClr val="tx1"/>
                </a:solidFill>
                <a:effectLst/>
                <a:latin typeface="Arial"/>
                <a:ea typeface="+mn-ea"/>
                <a:cs typeface="+mn-cs"/>
              </a:rPr>
              <a:t>Vereinbarung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über</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jeweiligen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Dienstleistungen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ausdrücklich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geregelt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ist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Keine</a:t>
            </a:r>
            <a:r>
              <a:rPr lang="en-US" sz="1100" kern="1200" noProof="0" dirty="0">
                <a:solidFill>
                  <a:schemeClr val="tx1"/>
                </a:solidFill>
                <a:effectLst/>
                <a:latin typeface="Arial"/>
                <a:ea typeface="+mn-ea"/>
                <a:cs typeface="+mn-cs"/>
              </a:rPr>
              <a:t> der </a:t>
            </a:r>
            <a:r>
              <a:rPr lang="en-US" sz="1100" kern="1200" noProof="0" dirty="0" err="1">
                <a:solidFill>
                  <a:schemeClr val="tx1"/>
                </a:solidFill>
                <a:effectLst/>
                <a:latin typeface="Arial"/>
                <a:ea typeface="+mn-ea"/>
                <a:cs typeface="+mn-cs"/>
              </a:rPr>
              <a:t>hierin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enthaltenen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ist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als</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zusätzliche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Garantie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interpretieren</a:t>
            </a:r>
            <a:r>
              <a:rPr lang="en-US" sz="1100" kern="1200" noProof="0" dirty="0">
                <a:solidFill>
                  <a:schemeClr val="tx1"/>
                </a:solidFill>
                <a:effectLst/>
                <a:latin typeface="Arial"/>
                <a:ea typeface="+mn-ea"/>
                <a:cs typeface="+mn-cs"/>
              </a:rPr>
              <a:t>. </a:t>
            </a:r>
          </a:p>
          <a:p>
            <a:pPr>
              <a:spcBef>
                <a:spcPts val="1200"/>
              </a:spcBef>
            </a:pPr>
            <a:r>
              <a:rPr lang="en-US" sz="1100" kern="1200" noProof="0" dirty="0" err="1">
                <a:solidFill>
                  <a:schemeClr val="tx1"/>
                </a:solidFill>
                <a:effectLst/>
                <a:latin typeface="Arial"/>
                <a:ea typeface="+mn-ea"/>
                <a:cs typeface="+mn-cs"/>
              </a:rPr>
              <a:t>Insbesondere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sind</a:t>
            </a:r>
            <a:r>
              <a:rPr lang="en-US" sz="1100" kern="1200" noProof="0" dirty="0">
                <a:solidFill>
                  <a:schemeClr val="tx1"/>
                </a:solidFill>
                <a:effectLst/>
                <a:latin typeface="Arial"/>
                <a:ea typeface="+mn-ea"/>
                <a:cs typeface="+mn-cs"/>
              </a:rPr>
              <a:t> die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ihre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in </a:t>
            </a:r>
            <a:r>
              <a:rPr lang="en-US" sz="1100" kern="1200" noProof="0" dirty="0" err="1">
                <a:solidFill>
                  <a:schemeClr val="tx1"/>
                </a:solidFill>
                <a:effectLst/>
                <a:latin typeface="Arial"/>
                <a:ea typeface="+mn-ea"/>
                <a:cs typeface="+mn-cs"/>
              </a:rPr>
              <a:t>keiner</a:t>
            </a:r>
            <a:r>
              <a:rPr lang="en-US" sz="1100" kern="1200" noProof="0" dirty="0">
                <a:solidFill>
                  <a:schemeClr val="tx1"/>
                </a:solidFill>
                <a:effectLst/>
                <a:latin typeface="Arial"/>
                <a:ea typeface="+mn-ea"/>
                <a:cs typeface="+mn-cs"/>
              </a:rPr>
              <a:t> Weise </a:t>
            </a:r>
            <a:r>
              <a:rPr lang="en-US" sz="1100" kern="1200" noProof="0" dirty="0" err="1">
                <a:solidFill>
                  <a:schemeClr val="tx1"/>
                </a:solidFill>
                <a:effectLst/>
                <a:latin typeface="Arial"/>
                <a:ea typeface="+mn-ea"/>
                <a:cs typeface="+mn-cs"/>
              </a:rPr>
              <a:t>verpflichtet</a:t>
            </a:r>
            <a:r>
              <a:rPr lang="en-US" sz="1100" kern="1200" noProof="0" dirty="0">
                <a:solidFill>
                  <a:schemeClr val="tx1"/>
                </a:solidFill>
                <a:effectLst/>
                <a:latin typeface="Arial"/>
                <a:ea typeface="+mn-ea"/>
                <a:cs typeface="+mn-cs"/>
              </a:rPr>
              <a:t>, in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zugehörigen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Präsentation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dargestellte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Geschäftsabläufe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verfolgen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hierin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wiedergegebene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Funktionen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entwickeln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veröffentlichen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Diese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zugehörige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Präsentation</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Strategie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etwaige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künftige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Entwicklungen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und/</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Plattformen</a:t>
            </a:r>
            <a:r>
              <a:rPr lang="en-US" sz="1100" kern="1200" noProof="0" dirty="0">
                <a:solidFill>
                  <a:schemeClr val="tx1"/>
                </a:solidFill>
                <a:effectLst/>
                <a:latin typeface="Arial"/>
                <a:ea typeface="+mn-ea"/>
                <a:cs typeface="+mn-cs"/>
              </a:rPr>
              <a:t> der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ihrer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von der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ihren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jederzeit</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ohne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Angabe</a:t>
            </a:r>
            <a:r>
              <a:rPr lang="en-US" sz="1100" kern="1200" noProof="0" dirty="0">
                <a:solidFill>
                  <a:schemeClr val="tx1"/>
                </a:solidFill>
                <a:effectLst/>
                <a:latin typeface="Arial"/>
                <a:ea typeface="+mn-ea"/>
                <a:cs typeface="+mn-cs"/>
              </a:rPr>
              <a:t> von </a:t>
            </a:r>
            <a:r>
              <a:rPr lang="en-US" sz="1100" kern="1200" noProof="0" dirty="0" err="1">
                <a:solidFill>
                  <a:schemeClr val="tx1"/>
                </a:solidFill>
                <a:effectLst/>
                <a:latin typeface="Arial"/>
                <a:ea typeface="+mn-ea"/>
                <a:cs typeface="+mn-cs"/>
              </a:rPr>
              <a:t>Gründen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unangekündigt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geändert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werden</a:t>
            </a:r>
            <a:r>
              <a:rPr lang="en-US" sz="1100" kern="1200" noProof="0" dirty="0">
                <a:solidFill>
                  <a:schemeClr val="tx1"/>
                </a:solidFill>
                <a:effectLst/>
                <a:latin typeface="Arial"/>
                <a:ea typeface="+mn-ea"/>
                <a:cs typeface="+mn-cs"/>
              </a:rPr>
              <a:t>. Die in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enthaltenen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stellen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Zusage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Versprechen</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keine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rechtliche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Verpflichtung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Lieferung</a:t>
            </a:r>
            <a:r>
              <a:rPr lang="en-US" sz="1100" kern="1200" noProof="0" dirty="0">
                <a:solidFill>
                  <a:schemeClr val="tx1"/>
                </a:solidFill>
                <a:effectLst/>
                <a:latin typeface="Arial"/>
                <a:ea typeface="+mn-ea"/>
                <a:cs typeface="+mn-cs"/>
              </a:rPr>
              <a:t> von Material, Code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Funktionen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dar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Sämtliche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vorausschauenden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Aussagen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unterliegen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unterschiedlichen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Risiken</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Unsicherheiten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durch</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die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tatsächlichen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Ergebnisse</a:t>
            </a:r>
            <a:r>
              <a:rPr lang="en-US" sz="1100" kern="1200" noProof="0" dirty="0">
                <a:solidFill>
                  <a:schemeClr val="tx1"/>
                </a:solidFill>
                <a:effectLst/>
                <a:latin typeface="Arial"/>
                <a:ea typeface="+mn-ea"/>
                <a:cs typeface="+mn-cs"/>
              </a:rPr>
              <a:t> von den </a:t>
            </a:r>
            <a:r>
              <a:rPr lang="en-US" sz="1100" kern="1200" noProof="0" dirty="0" err="1">
                <a:solidFill>
                  <a:schemeClr val="tx1"/>
                </a:solidFill>
                <a:effectLst/>
                <a:latin typeface="Arial"/>
                <a:ea typeface="+mn-ea"/>
                <a:cs typeface="+mn-cs"/>
              </a:rPr>
              <a:t>Erwartungen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abweichen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Dem </a:t>
            </a:r>
            <a:r>
              <a:rPr lang="en-US" sz="1100" kern="1200" noProof="0" dirty="0" err="1">
                <a:solidFill>
                  <a:schemeClr val="tx1"/>
                </a:solidFill>
                <a:effectLst/>
                <a:latin typeface="Arial"/>
                <a:ea typeface="+mn-ea"/>
                <a:cs typeface="+mn-cs"/>
              </a:rPr>
              <a:t>Leser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wird</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empfohlen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diesen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vorausschauenden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Aussagen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übertriebenes</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Vertrauen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schenken</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sich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bei</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Kaufentscheidungen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nicht</a:t>
            </a:r>
            <a:r>
              <a:rPr lang="en-US" sz="1100" kern="1200" noProof="0" dirty="0">
                <a:solidFill>
                  <a:schemeClr val="tx1"/>
                </a:solidFill>
                <a:effectLst/>
                <a:latin typeface="Arial"/>
                <a:ea typeface="+mn-ea"/>
                <a:cs typeface="+mn-cs"/>
              </a:rPr>
              <a:t> auf </a:t>
            </a:r>
            <a:r>
              <a:rPr lang="en-US" sz="1100" kern="1200" noProof="0" dirty="0" err="1">
                <a:solidFill>
                  <a:schemeClr val="tx1"/>
                </a:solidFill>
                <a:effectLst/>
                <a:latin typeface="Arial"/>
                <a:ea typeface="+mn-ea"/>
                <a:cs typeface="+mn-cs"/>
              </a:rPr>
              <a:t>sie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stützen</a:t>
            </a:r>
            <a:r>
              <a:rPr lang="en-US" sz="1100" kern="1200" noProof="0" dirty="0">
                <a:solidFill>
                  <a:schemeClr val="tx1"/>
                </a:solidFill>
                <a:effectLst/>
                <a:latin typeface="Arial"/>
                <a:ea typeface="+mn-ea"/>
                <a:cs typeface="+mn-cs"/>
              </a:rPr>
              <a:t>.</a:t>
            </a:r>
          </a:p>
          <a:p>
            <a:pPr>
              <a:spcBef>
                <a:spcPts val="1200"/>
              </a:spcBef>
            </a:pPr>
            <a:r>
              <a:rPr lang="en-US" sz="1100" kern="1200" noProof="0" dirty="0">
                <a:solidFill>
                  <a:schemeClr val="tx1"/>
                </a:solidFill>
                <a:effectLst/>
                <a:latin typeface="Arial"/>
                <a:ea typeface="+mn-ea"/>
                <a:cs typeface="+mn-cs"/>
              </a:rPr>
              <a:t>SAP und </a:t>
            </a:r>
            <a:r>
              <a:rPr lang="en-US" sz="1100" kern="1200" noProof="0" dirty="0" err="1">
                <a:solidFill>
                  <a:schemeClr val="tx1"/>
                </a:solidFill>
                <a:effectLst/>
                <a:latin typeface="Arial"/>
                <a:ea typeface="+mn-ea"/>
                <a:cs typeface="+mn-cs"/>
              </a:rPr>
              <a:t>andere</a:t>
            </a:r>
            <a:r>
              <a:rPr lang="en-US" sz="1100" kern="1200" noProof="0" dirty="0">
                <a:solidFill>
                  <a:schemeClr val="tx1"/>
                </a:solidFill>
                <a:effectLst/>
                <a:latin typeface="Arial"/>
                <a:ea typeface="+mn-ea"/>
                <a:cs typeface="+mn-cs"/>
              </a:rPr>
              <a:t> in </a:t>
            </a:r>
            <a:r>
              <a:rPr lang="en-US" sz="1100" kern="1200" noProof="0" dirty="0" err="1">
                <a:solidFill>
                  <a:schemeClr val="tx1"/>
                </a:solidFill>
                <a:effectLst/>
                <a:latin typeface="Arial"/>
                <a:ea typeface="+mn-ea"/>
                <a:cs typeface="+mn-cs"/>
              </a:rPr>
              <a:t>diesem</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Dokument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erwähnte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Dienstleistungen</a:t>
            </a:r>
            <a:r>
              <a:rPr lang="en-US" sz="1100" kern="1200" noProof="0" dirty="0">
                <a:solidFill>
                  <a:schemeClr val="tx1"/>
                </a:solidFill>
                <a:effectLst/>
                <a:latin typeface="Arial"/>
                <a:ea typeface="+mn-ea"/>
                <a:cs typeface="+mn-cs"/>
              </a:rPr>
              <a:t> von SAP </a:t>
            </a:r>
            <a:r>
              <a:rPr lang="en-US" sz="1100" kern="1200" noProof="0" dirty="0" err="1">
                <a:solidFill>
                  <a:schemeClr val="tx1"/>
                </a:solidFill>
                <a:effectLst/>
                <a:latin typeface="Arial"/>
                <a:ea typeface="+mn-ea"/>
                <a:cs typeface="+mn-cs"/>
              </a:rPr>
              <a:t>sowie</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dazugehörigen</a:t>
            </a:r>
            <a:r>
              <a:rPr lang="en-US" sz="1100" kern="1200" noProof="0" dirty="0">
                <a:solidFill>
                  <a:schemeClr val="tx1"/>
                </a:solidFill>
                <a:effectLst/>
                <a:latin typeface="Arial"/>
                <a:ea typeface="+mn-ea"/>
                <a:cs typeface="+mn-cs"/>
              </a:rPr>
              <a:t> Logos </a:t>
            </a:r>
            <a:r>
              <a:rPr lang="en-US" sz="1100" kern="1200" noProof="0" dirty="0" err="1">
                <a:solidFill>
                  <a:schemeClr val="tx1"/>
                </a:solidFill>
                <a:effectLst/>
                <a:latin typeface="Arial"/>
                <a:ea typeface="+mn-ea"/>
                <a:cs typeface="+mn-cs"/>
              </a:rPr>
              <a:t>sind</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Marken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eingetragene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Marken</a:t>
            </a:r>
            <a:r>
              <a:rPr lang="en-US" sz="1100" kern="1200" noProof="0" dirty="0">
                <a:solidFill>
                  <a:schemeClr val="tx1"/>
                </a:solidFill>
                <a:effectLst/>
                <a:latin typeface="Arial"/>
                <a:ea typeface="+mn-ea"/>
                <a:cs typeface="+mn-cs"/>
              </a:rPr>
              <a:t> der SAP SE </a:t>
            </a:r>
            <a:br>
              <a:rPr lang="en-US" sz="1100" kern="1200" noProof="0" dirty="0">
                <a:solidFill>
                  <a:schemeClr val="tx1"/>
                </a:solidFill>
                <a:effectLst/>
                <a:latin typeface="Arial"/>
                <a:ea typeface="+mn-ea"/>
                <a:cs typeface="+mn-cs"/>
              </a:rPr>
            </a:br>
            <a:r>
              <a:rPr lang="en-US" sz="1100" kern="1200" noProof="0" dirty="0">
                <a:solidFill>
                  <a:schemeClr val="tx1"/>
                </a:solidFill>
                <a:effectLst/>
                <a:latin typeface="Arial"/>
                <a:ea typeface="+mn-ea"/>
                <a:cs typeface="+mn-cs"/>
              </a:rPr>
              <a:t>(</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von </a:t>
            </a:r>
            <a:r>
              <a:rPr lang="en-US" sz="1100" kern="1200" noProof="0" dirty="0" err="1">
                <a:solidFill>
                  <a:schemeClr val="tx1"/>
                </a:solidFill>
                <a:effectLst/>
                <a:latin typeface="Arial"/>
                <a:ea typeface="+mn-ea"/>
                <a:cs typeface="+mn-cs"/>
              </a:rPr>
              <a:t>einem</a:t>
            </a:r>
            <a:r>
              <a:rPr lang="en-US" sz="1100" kern="1200" noProof="0" dirty="0">
                <a:solidFill>
                  <a:schemeClr val="tx1"/>
                </a:solidFill>
                <a:effectLst/>
                <a:latin typeface="Arial"/>
                <a:ea typeface="+mn-ea"/>
                <a:cs typeface="+mn-cs"/>
              </a:rPr>
              <a:t> SAP-</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in Deutschland und </a:t>
            </a:r>
            <a:r>
              <a:rPr lang="en-US" sz="1100" kern="1200" noProof="0" dirty="0" err="1">
                <a:solidFill>
                  <a:schemeClr val="tx1"/>
                </a:solidFill>
                <a:effectLst/>
                <a:latin typeface="Arial"/>
                <a:ea typeface="+mn-ea"/>
                <a:cs typeface="+mn-cs"/>
              </a:rPr>
              <a:t>verschiedenen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anderen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Ländern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weltweit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Alle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anderen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Namen</a:t>
            </a:r>
            <a:r>
              <a:rPr lang="en-US" sz="1100" kern="1200" noProof="0" dirty="0">
                <a:solidFill>
                  <a:schemeClr val="tx1"/>
                </a:solidFill>
                <a:effectLst/>
                <a:latin typeface="Arial"/>
                <a:ea typeface="+mn-ea"/>
                <a:cs typeface="+mn-cs"/>
              </a:rPr>
              <a:t> von </a:t>
            </a:r>
            <a:r>
              <a:rPr lang="en-US" sz="1100" kern="1200" noProof="0" dirty="0" err="1">
                <a:solidFill>
                  <a:schemeClr val="tx1"/>
                </a:solidFill>
                <a:effectLst/>
                <a:latin typeface="Arial"/>
                <a:ea typeface="+mn-ea"/>
                <a:cs typeface="+mn-cs"/>
              </a:rPr>
              <a:t>Produkten</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Dienstleistungen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sind</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Marken</a:t>
            </a:r>
            <a:r>
              <a:rPr lang="en-US" sz="1100" kern="1200" noProof="0" dirty="0">
                <a:solidFill>
                  <a:schemeClr val="tx1"/>
                </a:solidFill>
                <a:effectLst/>
                <a:latin typeface="Arial"/>
                <a:ea typeface="+mn-ea"/>
                <a:cs typeface="+mn-cs"/>
              </a:rPr>
              <a:t> der </a:t>
            </a:r>
            <a:r>
              <a:rPr lang="en-US" sz="1100" kern="1200" noProof="0" dirty="0" err="1">
                <a:solidFill>
                  <a:schemeClr val="tx1"/>
                </a:solidFill>
                <a:effectLst/>
                <a:latin typeface="Arial"/>
                <a:ea typeface="+mn-ea"/>
                <a:cs typeface="+mn-cs"/>
              </a:rPr>
              <a:t>jeweiligen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Firmen</a:t>
            </a:r>
            <a:r>
              <a:rPr lang="en-US" sz="1100" kern="1200" noProof="0" dirty="0">
                <a:solidFill>
                  <a:schemeClr val="tx1"/>
                </a:solidFill>
                <a:effectLst/>
                <a:latin typeface="Arial"/>
                <a:ea typeface="+mn-ea"/>
                <a:cs typeface="+mn-cs"/>
              </a:rPr>
              <a:t>. </a:t>
            </a:r>
            <a:br>
              <a:rPr lang="en-US" sz="1100" kern="1200" noProof="0" dirty="0">
                <a:solidFill>
                  <a:schemeClr val="tx1"/>
                </a:solidFill>
                <a:effectLst/>
                <a:latin typeface="Arial"/>
                <a:ea typeface="+mn-ea"/>
                <a:cs typeface="+mn-cs"/>
              </a:rPr>
            </a:br>
            <a:r>
              <a:rPr lang="en-US" sz="1100" kern="1200" noProof="0" dirty="0" err="1">
                <a:solidFill>
                  <a:schemeClr val="tx1"/>
                </a:solidFill>
                <a:effectLst/>
                <a:latin typeface="Arial"/>
                <a:ea typeface="+mn-ea"/>
                <a:cs typeface="+mn-cs"/>
              </a:rPr>
              <a:t>Zusätzliche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Marke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Vermerke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finden</a:t>
            </a:r>
            <a:r>
              <a:rPr lang="en-US" sz="1100" kern="1200" noProof="0" dirty="0">
                <a:solidFill>
                  <a:schemeClr val="tx1"/>
                </a:solidFill>
                <a:effectLst/>
                <a:latin typeface="Arial"/>
                <a:ea typeface="+mn-ea"/>
                <a:cs typeface="+mn-cs"/>
              </a:rPr>
              <a:t> Sie auf der </a:t>
            </a:r>
            <a:r>
              <a:rPr lang="en-US" sz="1100" kern="1200" noProof="0" dirty="0" err="1">
                <a:solidFill>
                  <a:schemeClr val="tx1"/>
                </a:solidFill>
                <a:effectLst/>
                <a:latin typeface="Arial"/>
                <a:ea typeface="+mn-ea"/>
                <a:cs typeface="+mn-cs"/>
              </a:rPr>
              <a:t>Seite</a:t>
            </a:r>
            <a:r>
              <a:rPr lang="en-US" sz="1100" kern="1200" noProof="0" dirty="0">
                <a:solidFill>
                  <a:schemeClr val="tx1"/>
                </a:solidFill>
                <a:effectLst/>
                <a:latin typeface="Arial"/>
                <a:ea typeface="+mn-ea"/>
                <a:cs typeface="+mn-cs"/>
              </a:rPr>
              <a:t> </a:t>
            </a:r>
            <a:r>
              <a:rPr lang="en-US" sz="1100" kern="1200" noProof="0" dirty="0">
                <a:solidFill>
                  <a:schemeClr val="tx1"/>
                </a:solidFill>
                <a:effectLst/>
                <a:latin typeface="Arial"/>
                <a:ea typeface="+mn-ea"/>
                <a:cs typeface="+mn-cs"/>
                <a:hlinkClick r:id="rId2"/>
              </a:rPr>
              <a:t>http://www.sap.com/corporate-de/legal/copyright/index.epx</a:t>
            </a:r>
            <a:endParaRPr lang="en-US" sz="1100" kern="1200" noProof="0" dirty="0">
              <a:solidFill>
                <a:schemeClr val="tx1"/>
              </a:solidFill>
              <a:effectLst/>
              <a:latin typeface="Arial"/>
              <a:ea typeface="+mn-ea"/>
              <a:cs typeface="+mn-cs"/>
            </a:endParaRPr>
          </a:p>
        </p:txBody>
      </p:sp>
      <p:sp>
        <p:nvSpPr>
          <p:cNvPr id="5" name="TextBox 4"/>
          <p:cNvSpPr txBox="1"/>
          <p:nvPr userDrawn="1"/>
        </p:nvSpPr>
        <p:spPr bwMode="gray">
          <a:xfrm>
            <a:off x="504000" y="719834"/>
            <a:ext cx="11185200" cy="369246"/>
          </a:xfrm>
          <a:prstGeom prst="rect">
            <a:avLst/>
          </a:prstGeom>
        </p:spPr>
        <p:txBody>
          <a:bodyPr vert="horz" wrap="square" lIns="0" tIns="0" rIns="0" bIns="0" rtlCol="0" anchor="t" anchorCtr="0">
            <a:spAutoFit/>
          </a:bodyPr>
          <a:lstStyle>
            <a:lvl1pPr>
              <a:spcBef>
                <a:spcPct val="0"/>
              </a:spcBef>
              <a:buNone/>
              <a:defRPr sz="2400" b="1" baseline="0">
                <a:latin typeface="+mj-lt"/>
                <a:ea typeface="+mj-ea"/>
                <a:cs typeface="+mj-cs"/>
              </a:defRPr>
            </a:lvl1pPr>
          </a:lstStyle>
          <a:p>
            <a:pPr lvl="0"/>
            <a:r>
              <a:rPr lang="en-US" sz="2400" b="0" noProof="0" dirty="0"/>
              <a:t>© 2017 SAP SE </a:t>
            </a:r>
            <a:r>
              <a:rPr lang="en-US" sz="2400" b="0" noProof="0" dirty="0" err="1"/>
              <a:t>oder</a:t>
            </a:r>
            <a:r>
              <a:rPr lang="en-US" sz="2400" b="0" noProof="0" dirty="0"/>
              <a:t> </a:t>
            </a:r>
            <a:r>
              <a:rPr lang="en-US" sz="2400" b="0" noProof="0" dirty="0" err="1"/>
              <a:t>ein</a:t>
            </a:r>
            <a:r>
              <a:rPr lang="en-US" sz="2400" b="0" noProof="0" dirty="0"/>
              <a:t> SAP-</a:t>
            </a:r>
            <a:r>
              <a:rPr lang="en-US" sz="2400" b="0" noProof="0" dirty="0" err="1"/>
              <a:t>Konzernunternehmen</a:t>
            </a:r>
            <a:r>
              <a:rPr lang="en-US" sz="2400" b="0" noProof="0" dirty="0"/>
              <a:t>. </a:t>
            </a:r>
            <a:r>
              <a:rPr lang="en-US" sz="2400" b="0" noProof="0" dirty="0" err="1"/>
              <a:t>Alle</a:t>
            </a:r>
            <a:r>
              <a:rPr lang="en-US" sz="2400" b="0" noProof="0" dirty="0"/>
              <a:t> </a:t>
            </a:r>
            <a:r>
              <a:rPr lang="en-US" sz="2400" b="0" noProof="0" dirty="0" err="1"/>
              <a:t>Rechte</a:t>
            </a:r>
            <a:r>
              <a:rPr lang="en-US" sz="2400" b="0" noProof="0" dirty="0"/>
              <a:t> </a:t>
            </a:r>
            <a:r>
              <a:rPr lang="en-US" sz="2400" b="0" noProof="0" dirty="0" err="1"/>
              <a:t>vorbehalten</a:t>
            </a:r>
            <a:r>
              <a:rPr lang="en-US" sz="2400" b="0" noProof="0" dirty="0"/>
              <a:t>.</a:t>
            </a:r>
          </a:p>
        </p:txBody>
      </p:sp>
      <p:grpSp>
        <p:nvGrpSpPr>
          <p:cNvPr id="6" name="Secondary Motion Band"/>
          <p:cNvGrpSpPr/>
          <p:nvPr userDrawn="1"/>
        </p:nvGrpSpPr>
        <p:grpSpPr>
          <a:xfrm>
            <a:off x="10682127" y="0"/>
            <a:ext cx="1513048" cy="251942"/>
            <a:chOff x="10682127" y="0"/>
            <a:chExt cx="1513048" cy="252000"/>
          </a:xfrm>
        </p:grpSpPr>
        <p:sp>
          <p:nvSpPr>
            <p:cNvPr id="7" name="Rectangle 6"/>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8" name="Rectangle 7"/>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9" name="Rectangle 8"/>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Tree>
    <p:extLst>
      <p:ext uri="{BB962C8B-B14F-4D97-AF65-F5344CB8AC3E}">
        <p14:creationId xmlns:p14="http://schemas.microsoft.com/office/powerpoint/2010/main" val="1911862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34" name="Slide number"/>
          <p:cNvSpPr txBox="1"/>
          <p:nvPr userDrawn="1"/>
        </p:nvSpPr>
        <p:spPr bwMode="black">
          <a:xfrm>
            <a:off x="11549413" y="6536751"/>
            <a:ext cx="141064"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noProof="0" smtClean="0"/>
              <a:pPr marL="0" lvl="0" indent="0" algn="r">
                <a:buNone/>
              </a:pPr>
              <a:t>‹#›</a:t>
            </a:fld>
            <a:endParaRPr lang="en-US" sz="900" noProof="0" dirty="0"/>
          </a:p>
        </p:txBody>
      </p:sp>
      <p:sp>
        <p:nvSpPr>
          <p:cNvPr id="11" name="Classification"/>
          <p:cNvSpPr txBox="1"/>
          <p:nvPr userDrawn="1"/>
        </p:nvSpPr>
        <p:spPr bwMode="black">
          <a:xfrm>
            <a:off x="2814655" y="6559834"/>
            <a:ext cx="381515" cy="92333"/>
          </a:xfrm>
          <a:prstGeom prst="rect">
            <a:avLst/>
          </a:prstGeom>
          <a:noFill/>
        </p:spPr>
        <p:txBody>
          <a:bodyPr wrap="none" lIns="0" tIns="0" rIns="0" bIns="0" rtlCol="0">
            <a:spAutoFit/>
          </a:bodyPr>
          <a:lstStyle/>
          <a:p>
            <a:pPr marL="0" marR="0" indent="0" algn="l" defTabSz="1088558" rtl="0" eaLnBrk="1" fontAlgn="auto" latinLnBrk="0" hangingPunct="1">
              <a:lnSpc>
                <a:spcPct val="100000"/>
              </a:lnSpc>
              <a:spcBef>
                <a:spcPts val="0"/>
              </a:spcBef>
              <a:spcAft>
                <a:spcPts val="0"/>
              </a:spcAft>
              <a:buClr>
                <a:schemeClr val="tx1"/>
              </a:buClr>
              <a:buSzTx/>
              <a:buFont typeface="Arial" pitchFamily="34" charset="0"/>
              <a:buNone/>
              <a:tabLst/>
              <a:defRPr/>
            </a:pPr>
            <a:r>
              <a:rPr kumimoji="0" lang="en-US" sz="600" b="0" i="0" u="none" kern="0" baseline="0">
                <a:solidFill>
                  <a:schemeClr val="tx1"/>
                </a:solidFill>
                <a:latin typeface="Arial"/>
                <a:ea typeface="Arial Unicode MS"/>
                <a:cs typeface="Arial Unicode MS" pitchFamily="34" charset="-128"/>
                <a:sym typeface="Arial"/>
              </a:rPr>
              <a:t>INTERNAL</a:t>
            </a:r>
            <a:endParaRPr kumimoji="0" lang="en-US" sz="600" b="0" i="0" u="none" kern="0" baseline="0" dirty="0">
              <a:solidFill>
                <a:schemeClr val="tx1"/>
              </a:solidFill>
              <a:latin typeface="Arial"/>
              <a:ea typeface="Arial Unicode MS"/>
              <a:cs typeface="Arial Unicode MS" pitchFamily="34" charset="-128"/>
              <a:sym typeface="Arial"/>
            </a:endParaRPr>
          </a:p>
        </p:txBody>
      </p:sp>
      <p:sp>
        <p:nvSpPr>
          <p:cNvPr id="10" name="Copyright"/>
          <p:cNvSpPr txBox="1"/>
          <p:nvPr userDrawn="1"/>
        </p:nvSpPr>
        <p:spPr bwMode="black">
          <a:xfrm>
            <a:off x="504001" y="6559834"/>
            <a:ext cx="2269679" cy="92333"/>
          </a:xfrm>
          <a:prstGeom prst="rect">
            <a:avLst/>
          </a:prstGeom>
          <a:noFill/>
        </p:spPr>
        <p:txBody>
          <a:bodyPr wrap="square" lIns="0" tIns="0" rIns="0" bIns="0" rtlCol="0">
            <a:spAutoFit/>
          </a:bodyPr>
          <a:lstStyle/>
          <a:p>
            <a:pPr marL="84121" marR="0" indent="-84121" algn="l" defTabSz="1088558" rtl="0" eaLnBrk="1" fontAlgn="auto" latinLnBrk="0" hangingPunct="1">
              <a:lnSpc>
                <a:spcPct val="100000"/>
              </a:lnSpc>
              <a:spcBef>
                <a:spcPts val="0"/>
              </a:spcBef>
              <a:spcAft>
                <a:spcPts val="0"/>
              </a:spcAft>
              <a:buClr>
                <a:schemeClr val="tx1"/>
              </a:buClr>
              <a:buSzTx/>
              <a:buFont typeface="Arial" pitchFamily="34" charset="0"/>
              <a:buChar char="©"/>
              <a:tabLst/>
              <a:defRPr/>
            </a:pPr>
            <a:r>
              <a:rPr lang="en-US" sz="600" noProof="0" dirty="0">
                <a:solidFill>
                  <a:schemeClr val="tx1"/>
                </a:solidFill>
              </a:rPr>
              <a:t>2017 SAP SE or an SAP affiliate company. All rights reserved.  </a:t>
            </a:r>
            <a:r>
              <a:rPr kumimoji="0" lang="en-US" sz="600" b="0" i="0" u="none" kern="0" baseline="0" dirty="0">
                <a:solidFill>
                  <a:schemeClr val="tx1"/>
                </a:solidFill>
                <a:latin typeface="Arial"/>
                <a:ea typeface="Arial Unicode MS"/>
                <a:cs typeface="Arial Unicode MS" pitchFamily="34" charset="-128"/>
                <a:sym typeface="Arial"/>
              </a:rPr>
              <a:t>ǀ</a:t>
            </a:r>
          </a:p>
        </p:txBody>
      </p:sp>
      <p:sp>
        <p:nvSpPr>
          <p:cNvPr id="3" name="Text Placeholder 2"/>
          <p:cNvSpPr>
            <a:spLocks noGrp="1"/>
          </p:cNvSpPr>
          <p:nvPr userDrawn="1">
            <p:ph type="body" idx="1"/>
          </p:nvPr>
        </p:nvSpPr>
        <p:spPr bwMode="gray">
          <a:xfrm>
            <a:off x="504001" y="1620000"/>
            <a:ext cx="11186476" cy="4230235"/>
          </a:xfrm>
          <a:prstGeom prst="rect">
            <a:avLst/>
          </a:prstGeom>
        </p:spPr>
        <p:txBody>
          <a:bodyPr vert="horz" lIns="0" tIns="0" rIns="0" bIns="0" rtlCol="0">
            <a:noAutofit/>
          </a:bodyPr>
          <a:lstStyle/>
          <a:p>
            <a:pPr lvl="0"/>
            <a:r>
              <a:rPr lang="en-US" noProof="0" dirty="0"/>
              <a:t>First level</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Title Placeholder 1"/>
          <p:cNvSpPr>
            <a:spLocks noGrp="1"/>
          </p:cNvSpPr>
          <p:nvPr userDrawn="1">
            <p:ph type="title"/>
          </p:nvPr>
        </p:nvSpPr>
        <p:spPr bwMode="gray">
          <a:xfrm>
            <a:off x="504001" y="504000"/>
            <a:ext cx="11186476" cy="369332"/>
          </a:xfrm>
          <a:prstGeom prst="rect">
            <a:avLst/>
          </a:prstGeom>
        </p:spPr>
        <p:txBody>
          <a:bodyPr vert="horz" wrap="square" lIns="0" tIns="0" rIns="0" bIns="0" rtlCol="0" anchor="t" anchorCtr="0">
            <a:spAutoFit/>
          </a:bodyPr>
          <a:lstStyle/>
          <a:p>
            <a:r>
              <a:rPr lang="en-US" noProof="0" dirty="0"/>
              <a:t>Insert page title (sentence case)</a:t>
            </a:r>
          </a:p>
        </p:txBody>
      </p:sp>
      <p:grpSp>
        <p:nvGrpSpPr>
          <p:cNvPr id="9" name="Secondary Motion Band"/>
          <p:cNvGrpSpPr/>
          <p:nvPr userDrawn="1"/>
        </p:nvGrpSpPr>
        <p:grpSpPr>
          <a:xfrm>
            <a:off x="10682127" y="0"/>
            <a:ext cx="1513048" cy="251942"/>
            <a:chOff x="10682127" y="0"/>
            <a:chExt cx="1513048" cy="252000"/>
          </a:xfrm>
        </p:grpSpPr>
        <p:sp>
          <p:nvSpPr>
            <p:cNvPr id="16" name="Rectangle 15"/>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7" name="Rectangle 16"/>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Tree>
    <p:extLst>
      <p:ext uri="{BB962C8B-B14F-4D97-AF65-F5344CB8AC3E}">
        <p14:creationId xmlns:p14="http://schemas.microsoft.com/office/powerpoint/2010/main" val="3408294523"/>
      </p:ext>
    </p:extLst>
  </p:cSld>
  <p:clrMap bg1="lt1" tx1="dk1" bg2="lt2" tx2="dk2" accent1="accent1" accent2="accent2" accent3="accent3" accent4="accent4" accent5="accent5" accent6="accent6" hlink="hlink" folHlink="folHlink"/>
  <p:sldLayoutIdLst>
    <p:sldLayoutId id="2147483772" r:id="rId1"/>
    <p:sldLayoutId id="2147483776" r:id="rId2"/>
    <p:sldLayoutId id="2147483773" r:id="rId3"/>
    <p:sldLayoutId id="2147483775" r:id="rId4"/>
    <p:sldLayoutId id="2147483741" r:id="rId5"/>
    <p:sldLayoutId id="2147483765" r:id="rId6"/>
    <p:sldLayoutId id="2147483767" r:id="rId7"/>
    <p:sldLayoutId id="2147483743" r:id="rId8"/>
    <p:sldLayoutId id="2147483774" r:id="rId9"/>
    <p:sldLayoutId id="2147483745" r:id="rId10"/>
    <p:sldLayoutId id="2147483760" r:id="rId11"/>
    <p:sldLayoutId id="2147483768" r:id="rId12"/>
    <p:sldLayoutId id="2147483769" r:id="rId13"/>
    <p:sldLayoutId id="2147483770" r:id="rId14"/>
    <p:sldLayoutId id="2147483744" r:id="rId15"/>
    <p:sldLayoutId id="2147483757" r:id="rId16"/>
    <p:sldLayoutId id="2147483748" r:id="rId17"/>
    <p:sldLayoutId id="2147483762" r:id="rId18"/>
    <p:sldLayoutId id="2147483771" r:id="rId19"/>
    <p:sldLayoutId id="2147483763" r:id="rId20"/>
    <p:sldLayoutId id="2147483751" r:id="rId21"/>
    <p:sldLayoutId id="2147483753" r:id="rId22"/>
    <p:sldLayoutId id="2147483756" r:id="rId23"/>
    <p:sldLayoutId id="2147483740" r:id="rId24"/>
    <p:sldLayoutId id="2147483754" r:id="rId25"/>
    <p:sldLayoutId id="2147483755" r:id="rId26"/>
  </p:sldLayoutIdLst>
  <p:hf hdr="0" ftr="0" dt="0"/>
  <p:txStyles>
    <p:titleStyle>
      <a:lvl1pPr algn="l" defTabSz="1088558" rtl="0" eaLnBrk="1" latinLnBrk="0" hangingPunct="1">
        <a:spcBef>
          <a:spcPct val="0"/>
        </a:spcBef>
        <a:buNone/>
        <a:defRPr sz="2400" b="1" kern="1200" baseline="0">
          <a:solidFill>
            <a:schemeClr val="tx1"/>
          </a:solidFill>
          <a:latin typeface="+mj-lt"/>
          <a:ea typeface="+mj-ea"/>
          <a:cs typeface="+mj-cs"/>
        </a:defRPr>
      </a:lvl1pPr>
    </p:titleStyle>
    <p:body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de-DE"/>
      </a:defPPr>
      <a:lvl1pPr marL="0" algn="l" defTabSz="1088558" rtl="0" eaLnBrk="1" latinLnBrk="0" hangingPunct="1">
        <a:defRPr sz="2100" kern="1200">
          <a:solidFill>
            <a:schemeClr val="tx1"/>
          </a:solidFill>
          <a:latin typeface="+mn-lt"/>
          <a:ea typeface="+mn-ea"/>
          <a:cs typeface="+mn-cs"/>
        </a:defRPr>
      </a:lvl1pPr>
      <a:lvl2pPr marL="544279" algn="l" defTabSz="1088558" rtl="0" eaLnBrk="1" latinLnBrk="0" hangingPunct="1">
        <a:defRPr sz="2100" kern="1200">
          <a:solidFill>
            <a:schemeClr val="tx1"/>
          </a:solidFill>
          <a:latin typeface="+mn-lt"/>
          <a:ea typeface="+mn-ea"/>
          <a:cs typeface="+mn-cs"/>
        </a:defRPr>
      </a:lvl2pPr>
      <a:lvl3pPr marL="1088558" algn="l" defTabSz="1088558" rtl="0" eaLnBrk="1" latinLnBrk="0" hangingPunct="1">
        <a:defRPr sz="2100" kern="1200">
          <a:solidFill>
            <a:schemeClr val="tx1"/>
          </a:solidFill>
          <a:latin typeface="+mn-lt"/>
          <a:ea typeface="+mn-ea"/>
          <a:cs typeface="+mn-cs"/>
        </a:defRPr>
      </a:lvl3pPr>
      <a:lvl4pPr marL="1632837" algn="l" defTabSz="1088558" rtl="0" eaLnBrk="1" latinLnBrk="0" hangingPunct="1">
        <a:defRPr sz="2100" kern="1200">
          <a:solidFill>
            <a:schemeClr val="tx1"/>
          </a:solidFill>
          <a:latin typeface="+mn-lt"/>
          <a:ea typeface="+mn-ea"/>
          <a:cs typeface="+mn-cs"/>
        </a:defRPr>
      </a:lvl4pPr>
      <a:lvl5pPr marL="2177116" algn="l" defTabSz="1088558" rtl="0" eaLnBrk="1" latinLnBrk="0" hangingPunct="1">
        <a:defRPr sz="2100" kern="1200">
          <a:solidFill>
            <a:schemeClr val="tx1"/>
          </a:solidFill>
          <a:latin typeface="+mn-lt"/>
          <a:ea typeface="+mn-ea"/>
          <a:cs typeface="+mn-cs"/>
        </a:defRPr>
      </a:lvl5pPr>
      <a:lvl6pPr marL="2721396" algn="l" defTabSz="1088558" rtl="0" eaLnBrk="1" latinLnBrk="0" hangingPunct="1">
        <a:defRPr sz="2100" kern="1200">
          <a:solidFill>
            <a:schemeClr val="tx1"/>
          </a:solidFill>
          <a:latin typeface="+mn-lt"/>
          <a:ea typeface="+mn-ea"/>
          <a:cs typeface="+mn-cs"/>
        </a:defRPr>
      </a:lvl6pPr>
      <a:lvl7pPr marL="3265675" algn="l" defTabSz="1088558" rtl="0" eaLnBrk="1" latinLnBrk="0" hangingPunct="1">
        <a:defRPr sz="2100" kern="1200">
          <a:solidFill>
            <a:schemeClr val="tx1"/>
          </a:solidFill>
          <a:latin typeface="+mn-lt"/>
          <a:ea typeface="+mn-ea"/>
          <a:cs typeface="+mn-cs"/>
        </a:defRPr>
      </a:lvl7pPr>
      <a:lvl8pPr marL="3809954" algn="l" defTabSz="1088558" rtl="0" eaLnBrk="1" latinLnBrk="0" hangingPunct="1">
        <a:defRPr sz="2100" kern="1200">
          <a:solidFill>
            <a:schemeClr val="tx1"/>
          </a:solidFill>
          <a:latin typeface="+mn-lt"/>
          <a:ea typeface="+mn-ea"/>
          <a:cs typeface="+mn-cs"/>
        </a:defRPr>
      </a:lvl8pPr>
      <a:lvl9pPr marL="4354233" algn="l" defTabSz="1088558" rtl="0" eaLnBrk="1" latinLnBrk="0" hangingPunct="1">
        <a:defRPr sz="21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hyperlink" Target="https://explodingkittens.com/"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hyperlink" Target="https://explodingkittens.com/"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hyperlink" Target="https://kubernetes.io/docs/tasks/debug-application-cluster/debug-service/" TargetMode="External"/><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4"/>
          </p:nvPr>
        </p:nvSpPr>
        <p:spPr/>
        <p:txBody>
          <a:bodyPr/>
          <a:lstStyle/>
          <a:p>
            <a:r>
              <a:rPr lang="en-US" dirty="0"/>
              <a:t>Kubernetes</a:t>
            </a:r>
            <a:br>
              <a:rPr lang="en-US" dirty="0"/>
            </a:br>
            <a:r>
              <a:rPr lang="en-US" dirty="0">
                <a:solidFill>
                  <a:schemeClr val="accent1"/>
                </a:solidFill>
              </a:rPr>
              <a:t>Troubleshooting</a:t>
            </a:r>
          </a:p>
        </p:txBody>
      </p:sp>
      <p:pic>
        <p:nvPicPr>
          <p:cNvPr id="4" name="Picture 3" descr="cid:image003.png@01D31CC6.A08B1C50">
            <a:extLst>
              <a:ext uri="{FF2B5EF4-FFF2-40B4-BE49-F238E27FC236}">
                <a16:creationId xmlns:a16="http://schemas.microsoft.com/office/drawing/2014/main" id="{CE860390-F50F-48A8-AA1A-AE0217946F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80713" y="5721975"/>
            <a:ext cx="1414463" cy="113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llustration" descr="Example of an illustration" title="Illustration for title slide">
            <a:extLst>
              <a:ext uri="{FF2B5EF4-FFF2-40B4-BE49-F238E27FC236}">
                <a16:creationId xmlns:a16="http://schemas.microsoft.com/office/drawing/2014/main" id="{7BE114E3-7B32-4D16-B735-5A18C44B9E67}"/>
              </a:ext>
            </a:extLst>
          </p:cNvPr>
          <p:cNvPicPr>
            <a:picLocks noGrp="1" noChangeAspect="1"/>
          </p:cNvPicPr>
          <p:nvPr>
            <p:ph type="pic" sz="quarter" idx="12"/>
          </p:nvPr>
        </p:nvPicPr>
        <p:blipFill>
          <a:blip r:embed="rId4"/>
          <a:srcRect t="3112" b="3112"/>
          <a:stretch>
            <a:fillRect/>
          </a:stretch>
        </p:blipFill>
        <p:spPr bwMode="gray">
          <a:xfrm>
            <a:off x="0" y="0"/>
            <a:ext cx="12195174" cy="3430006"/>
          </a:xfrm>
        </p:spPr>
      </p:pic>
    </p:spTree>
    <p:extLst>
      <p:ext uri="{BB962C8B-B14F-4D97-AF65-F5344CB8AC3E}">
        <p14:creationId xmlns:p14="http://schemas.microsoft.com/office/powerpoint/2010/main" val="1819205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xploding Kittens Card Samples">
            <a:extLst>
              <a:ext uri="{FF2B5EF4-FFF2-40B4-BE49-F238E27FC236}">
                <a16:creationId xmlns:a16="http://schemas.microsoft.com/office/drawing/2014/main" id="{41E36E21-2989-468D-866D-CC6F8A7B7F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9194" y="1620186"/>
            <a:ext cx="6796090" cy="3783157"/>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C9003B2F-0C3E-44F2-A72D-BC2F99AFBD8A}"/>
              </a:ext>
            </a:extLst>
          </p:cNvPr>
          <p:cNvSpPr/>
          <p:nvPr/>
        </p:nvSpPr>
        <p:spPr>
          <a:xfrm>
            <a:off x="4270457" y="5403343"/>
            <a:ext cx="3653564" cy="415498"/>
          </a:xfrm>
          <a:prstGeom prst="rect">
            <a:avLst/>
          </a:prstGeom>
        </p:spPr>
        <p:txBody>
          <a:bodyPr wrap="none">
            <a:spAutoFit/>
          </a:bodyPr>
          <a:lstStyle/>
          <a:p>
            <a:r>
              <a:rPr lang="en-US" dirty="0">
                <a:hlinkClick r:id="rId4"/>
              </a:rPr>
              <a:t>https://explodingkittens.com/</a:t>
            </a:r>
            <a:r>
              <a:rPr lang="en-US" dirty="0"/>
              <a:t> </a:t>
            </a:r>
          </a:p>
        </p:txBody>
      </p:sp>
      <p:sp>
        <p:nvSpPr>
          <p:cNvPr id="9" name="Rectangle 8">
            <a:extLst>
              <a:ext uri="{FF2B5EF4-FFF2-40B4-BE49-F238E27FC236}">
                <a16:creationId xmlns:a16="http://schemas.microsoft.com/office/drawing/2014/main" id="{DDE0B217-148D-472E-9C3F-CC3C8C86949F}"/>
              </a:ext>
            </a:extLst>
          </p:cNvPr>
          <p:cNvSpPr/>
          <p:nvPr/>
        </p:nvSpPr>
        <p:spPr>
          <a:xfrm>
            <a:off x="1322264" y="934577"/>
            <a:ext cx="9549949" cy="738664"/>
          </a:xfrm>
          <a:prstGeom prst="rect">
            <a:avLst/>
          </a:prstGeom>
        </p:spPr>
        <p:txBody>
          <a:bodyPr wrap="square">
            <a:spAutoFit/>
          </a:bodyPr>
          <a:lstStyle/>
          <a:p>
            <a:pPr algn="ctr"/>
            <a:r>
              <a:rPr lang="en-US" b="1" cap="all" dirty="0">
                <a:solidFill>
                  <a:sysClr val="windowText" lastClr="000000"/>
                </a:solidFill>
                <a:latin typeface="bebas_neuebold"/>
              </a:rPr>
              <a:t>IF YOU DRAW AN</a:t>
            </a:r>
            <a:r>
              <a:rPr lang="en-US" b="1" cap="all" dirty="0">
                <a:solidFill>
                  <a:srgbClr val="E0E0E0"/>
                </a:solidFill>
                <a:latin typeface="bebas_neuebold"/>
              </a:rPr>
              <a:t> </a:t>
            </a:r>
            <a:r>
              <a:rPr lang="en-US" b="1" cap="all" dirty="0">
                <a:solidFill>
                  <a:srgbClr val="F7931E"/>
                </a:solidFill>
                <a:latin typeface="bebas_neuebold"/>
              </a:rPr>
              <a:t>EXPLODING KITTEN</a:t>
            </a:r>
            <a:r>
              <a:rPr lang="en-US" b="1" cap="all" dirty="0">
                <a:solidFill>
                  <a:sysClr val="windowText" lastClr="000000"/>
                </a:solidFill>
                <a:latin typeface="bebas_neuebold"/>
              </a:rPr>
              <a:t> CARD, YOU EXPLODE. </a:t>
            </a:r>
            <a:br>
              <a:rPr lang="en-US" b="1" dirty="0">
                <a:solidFill>
                  <a:sysClr val="windowText" lastClr="000000"/>
                </a:solidFill>
              </a:rPr>
            </a:br>
            <a:r>
              <a:rPr lang="en-US" b="1" cap="all" dirty="0">
                <a:solidFill>
                  <a:sysClr val="windowText" lastClr="000000"/>
                </a:solidFill>
                <a:latin typeface="bebas_neuebold"/>
              </a:rPr>
              <a:t>WHEN YOU EXPLODE, YOU DIE AND YOU'RE OUT OF THE GAME.</a:t>
            </a:r>
            <a:endParaRPr lang="en-US" b="1" dirty="0">
              <a:solidFill>
                <a:sysClr val="windowText" lastClr="000000"/>
              </a:solidFill>
            </a:endParaRPr>
          </a:p>
        </p:txBody>
      </p:sp>
    </p:spTree>
    <p:extLst>
      <p:ext uri="{BB962C8B-B14F-4D97-AF65-F5344CB8AC3E}">
        <p14:creationId xmlns:p14="http://schemas.microsoft.com/office/powerpoint/2010/main" val="42472112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AFD51-0501-414C-9813-64B6BEA9742F}"/>
              </a:ext>
            </a:extLst>
          </p:cNvPr>
          <p:cNvSpPr>
            <a:spLocks noGrp="1"/>
          </p:cNvSpPr>
          <p:nvPr>
            <p:ph type="title"/>
          </p:nvPr>
        </p:nvSpPr>
        <p:spPr/>
        <p:txBody>
          <a:bodyPr/>
          <a:lstStyle/>
          <a:p>
            <a:r>
              <a:rPr lang="en-US" dirty="0"/>
              <a:t>What kind of errors did you face, so far?</a:t>
            </a:r>
          </a:p>
        </p:txBody>
      </p:sp>
      <p:sp>
        <p:nvSpPr>
          <p:cNvPr id="5" name="TextBox 4">
            <a:extLst>
              <a:ext uri="{FF2B5EF4-FFF2-40B4-BE49-F238E27FC236}">
                <a16:creationId xmlns:a16="http://schemas.microsoft.com/office/drawing/2014/main" id="{90C7B479-A10B-408F-84B3-CEFFB79BA40B}"/>
              </a:ext>
            </a:extLst>
          </p:cNvPr>
          <p:cNvSpPr txBox="1"/>
          <p:nvPr/>
        </p:nvSpPr>
        <p:spPr>
          <a:xfrm>
            <a:off x="633845" y="1953491"/>
            <a:ext cx="3480954" cy="369332"/>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2400" b="1" kern="0" dirty="0" err="1">
                <a:latin typeface="Courier New" panose="02070309020205020404" pitchFamily="49" charset="0"/>
                <a:ea typeface="Arial Unicode MS" pitchFamily="34" charset="-128"/>
                <a:cs typeface="Courier New" panose="02070309020205020404" pitchFamily="49" charset="0"/>
              </a:rPr>
              <a:t>CrashLoopBackOff</a:t>
            </a:r>
            <a:endParaRPr lang="en-US" sz="2400" b="1" kern="0" dirty="0">
              <a:latin typeface="Courier New" panose="02070309020205020404" pitchFamily="49" charset="0"/>
              <a:ea typeface="Arial Unicode MS" pitchFamily="34" charset="-128"/>
              <a:cs typeface="Courier New" panose="02070309020205020404" pitchFamily="49" charset="0"/>
            </a:endParaRPr>
          </a:p>
        </p:txBody>
      </p:sp>
      <p:sp>
        <p:nvSpPr>
          <p:cNvPr id="6" name="TextBox 5">
            <a:extLst>
              <a:ext uri="{FF2B5EF4-FFF2-40B4-BE49-F238E27FC236}">
                <a16:creationId xmlns:a16="http://schemas.microsoft.com/office/drawing/2014/main" id="{5F23ACF7-98E1-4399-8483-53136B0F7896}"/>
              </a:ext>
            </a:extLst>
          </p:cNvPr>
          <p:cNvSpPr txBox="1"/>
          <p:nvPr/>
        </p:nvSpPr>
        <p:spPr>
          <a:xfrm>
            <a:off x="633845" y="4291855"/>
            <a:ext cx="3480954" cy="369332"/>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2400" b="1" kern="0" dirty="0" err="1">
                <a:latin typeface="Courier New" panose="02070309020205020404" pitchFamily="49" charset="0"/>
                <a:ea typeface="Arial Unicode MS" pitchFamily="34" charset="-128"/>
                <a:cs typeface="Courier New" panose="02070309020205020404" pitchFamily="49" charset="0"/>
              </a:rPr>
              <a:t>ImagePullBackOff</a:t>
            </a:r>
            <a:endParaRPr lang="en-US" sz="2400" b="1" kern="0" dirty="0">
              <a:latin typeface="Courier New" panose="02070309020205020404" pitchFamily="49" charset="0"/>
              <a:ea typeface="Arial Unicode MS" pitchFamily="34" charset="-128"/>
              <a:cs typeface="Courier New" panose="02070309020205020404" pitchFamily="49" charset="0"/>
            </a:endParaRPr>
          </a:p>
        </p:txBody>
      </p:sp>
      <p:sp>
        <p:nvSpPr>
          <p:cNvPr id="7" name="TextBox 6">
            <a:extLst>
              <a:ext uri="{FF2B5EF4-FFF2-40B4-BE49-F238E27FC236}">
                <a16:creationId xmlns:a16="http://schemas.microsoft.com/office/drawing/2014/main" id="{562BA37A-41B1-4005-8B5B-24CE9BDE83F0}"/>
              </a:ext>
            </a:extLst>
          </p:cNvPr>
          <p:cNvSpPr txBox="1"/>
          <p:nvPr/>
        </p:nvSpPr>
        <p:spPr>
          <a:xfrm>
            <a:off x="2143990" y="3218316"/>
            <a:ext cx="3480954" cy="369332"/>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2400" b="1" kern="0" dirty="0" err="1">
                <a:latin typeface="Courier New" panose="02070309020205020404" pitchFamily="49" charset="0"/>
                <a:ea typeface="Arial Unicode MS" pitchFamily="34" charset="-128"/>
                <a:cs typeface="Courier New" panose="02070309020205020404" pitchFamily="49" charset="0"/>
              </a:rPr>
              <a:t>ErrImagePull</a:t>
            </a:r>
            <a:endParaRPr lang="en-US" sz="2400" b="1" kern="0" dirty="0">
              <a:latin typeface="Courier New" panose="02070309020205020404" pitchFamily="49" charset="0"/>
              <a:ea typeface="Arial Unicode MS" pitchFamily="34" charset="-128"/>
              <a:cs typeface="Courier New" panose="02070309020205020404" pitchFamily="49" charset="0"/>
            </a:endParaRPr>
          </a:p>
        </p:txBody>
      </p:sp>
      <p:sp>
        <p:nvSpPr>
          <p:cNvPr id="9" name="TextBox 8">
            <a:extLst>
              <a:ext uri="{FF2B5EF4-FFF2-40B4-BE49-F238E27FC236}">
                <a16:creationId xmlns:a16="http://schemas.microsoft.com/office/drawing/2014/main" id="{5FA01FAC-F82A-4F58-8DB8-0740B6B79449}"/>
              </a:ext>
            </a:extLst>
          </p:cNvPr>
          <p:cNvSpPr txBox="1"/>
          <p:nvPr/>
        </p:nvSpPr>
        <p:spPr>
          <a:xfrm>
            <a:off x="5511758" y="4291855"/>
            <a:ext cx="4369995" cy="369332"/>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2400" b="1" kern="0" dirty="0" err="1">
                <a:latin typeface="Courier New" panose="02070309020205020404" pitchFamily="49" charset="0"/>
                <a:ea typeface="Arial Unicode MS" pitchFamily="34" charset="-128"/>
                <a:cs typeface="Courier New" panose="02070309020205020404" pitchFamily="49" charset="0"/>
              </a:rPr>
              <a:t>ContainerCreating</a:t>
            </a:r>
            <a:r>
              <a:rPr lang="en-US" sz="2400" b="1" kern="0" dirty="0">
                <a:latin typeface="Courier New" panose="02070309020205020404" pitchFamily="49" charset="0"/>
                <a:ea typeface="Arial Unicode MS" pitchFamily="34" charset="-128"/>
                <a:cs typeface="Courier New" panose="02070309020205020404" pitchFamily="49" charset="0"/>
              </a:rPr>
              <a:t> … … …</a:t>
            </a:r>
          </a:p>
        </p:txBody>
      </p:sp>
      <p:sp>
        <p:nvSpPr>
          <p:cNvPr id="10" name="TextBox 9">
            <a:extLst>
              <a:ext uri="{FF2B5EF4-FFF2-40B4-BE49-F238E27FC236}">
                <a16:creationId xmlns:a16="http://schemas.microsoft.com/office/drawing/2014/main" id="{A4273D05-CF38-4F91-82D0-147742AFFB57}"/>
              </a:ext>
            </a:extLst>
          </p:cNvPr>
          <p:cNvSpPr txBox="1"/>
          <p:nvPr/>
        </p:nvSpPr>
        <p:spPr>
          <a:xfrm>
            <a:off x="6370366" y="2973583"/>
            <a:ext cx="4369995" cy="369332"/>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2400" b="1" kern="0" dirty="0">
                <a:latin typeface="Courier New" panose="02070309020205020404" pitchFamily="49" charset="0"/>
                <a:ea typeface="Arial Unicode MS" pitchFamily="34" charset="-128"/>
                <a:cs typeface="Courier New" panose="02070309020205020404" pitchFamily="49" charset="0"/>
              </a:rPr>
              <a:t>Pending … … …</a:t>
            </a:r>
          </a:p>
        </p:txBody>
      </p:sp>
    </p:spTree>
    <p:extLst>
      <p:ext uri="{BB962C8B-B14F-4D97-AF65-F5344CB8AC3E}">
        <p14:creationId xmlns:p14="http://schemas.microsoft.com/office/powerpoint/2010/main" val="1870991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9"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Exploding Kittens Defuse Card Samples">
            <a:extLst>
              <a:ext uri="{FF2B5EF4-FFF2-40B4-BE49-F238E27FC236}">
                <a16:creationId xmlns:a16="http://schemas.microsoft.com/office/drawing/2014/main" id="{D8B1A174-1777-4449-87EE-97EE158817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9194" y="1744877"/>
            <a:ext cx="6782004" cy="3730102"/>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03364167-6039-4C29-B332-D6192243B50B}"/>
              </a:ext>
            </a:extLst>
          </p:cNvPr>
          <p:cNvSpPr/>
          <p:nvPr/>
        </p:nvSpPr>
        <p:spPr>
          <a:xfrm>
            <a:off x="4270457" y="5528034"/>
            <a:ext cx="3653564" cy="415498"/>
          </a:xfrm>
          <a:prstGeom prst="rect">
            <a:avLst/>
          </a:prstGeom>
        </p:spPr>
        <p:txBody>
          <a:bodyPr wrap="none">
            <a:spAutoFit/>
          </a:bodyPr>
          <a:lstStyle/>
          <a:p>
            <a:r>
              <a:rPr lang="en-US" dirty="0">
                <a:hlinkClick r:id="rId4"/>
              </a:rPr>
              <a:t>https://explodingkittens.com/</a:t>
            </a:r>
            <a:r>
              <a:rPr lang="en-US" dirty="0"/>
              <a:t> </a:t>
            </a:r>
          </a:p>
        </p:txBody>
      </p:sp>
      <p:sp>
        <p:nvSpPr>
          <p:cNvPr id="3" name="Rectangle 2">
            <a:extLst>
              <a:ext uri="{FF2B5EF4-FFF2-40B4-BE49-F238E27FC236}">
                <a16:creationId xmlns:a16="http://schemas.microsoft.com/office/drawing/2014/main" id="{4AE97B7D-C306-4F1C-A233-724DABD3AE5D}"/>
              </a:ext>
            </a:extLst>
          </p:cNvPr>
          <p:cNvSpPr/>
          <p:nvPr/>
        </p:nvSpPr>
        <p:spPr>
          <a:xfrm>
            <a:off x="1000498" y="541920"/>
            <a:ext cx="10193482" cy="1061829"/>
          </a:xfrm>
          <a:prstGeom prst="rect">
            <a:avLst/>
          </a:prstGeom>
        </p:spPr>
        <p:txBody>
          <a:bodyPr wrap="square">
            <a:spAutoFit/>
          </a:bodyPr>
          <a:lstStyle/>
          <a:p>
            <a:pPr algn="ctr"/>
            <a:r>
              <a:rPr lang="en-US" b="1" cap="all" dirty="0">
                <a:solidFill>
                  <a:srgbClr val="FAFAFA"/>
                </a:solidFill>
                <a:latin typeface="bebas_neuebold"/>
              </a:rPr>
              <a:t>UNLESS!</a:t>
            </a:r>
          </a:p>
          <a:p>
            <a:pPr algn="ctr"/>
            <a:r>
              <a:rPr lang="en-US" b="1" cap="all" dirty="0">
                <a:latin typeface="bebas_neuebold"/>
              </a:rPr>
              <a:t>YOU PLAY A</a:t>
            </a:r>
            <a:r>
              <a:rPr lang="en-US" b="1" cap="all" dirty="0">
                <a:solidFill>
                  <a:srgbClr val="E0E0E0"/>
                </a:solidFill>
                <a:latin typeface="bebas_neuebold"/>
              </a:rPr>
              <a:t> </a:t>
            </a:r>
            <a:r>
              <a:rPr lang="en-US" b="1" cap="all" dirty="0">
                <a:solidFill>
                  <a:srgbClr val="8CC63F"/>
                </a:solidFill>
                <a:latin typeface="bebas_neuebold"/>
              </a:rPr>
              <a:t>DEFUSE</a:t>
            </a:r>
            <a:r>
              <a:rPr lang="en-US" b="1" cap="all" dirty="0">
                <a:solidFill>
                  <a:srgbClr val="E0E0E0"/>
                </a:solidFill>
                <a:latin typeface="bebas_neuebold"/>
              </a:rPr>
              <a:t> </a:t>
            </a:r>
            <a:r>
              <a:rPr lang="en-US" b="1" cap="all" dirty="0">
                <a:latin typeface="bebas_neuebold"/>
              </a:rPr>
              <a:t>CARD, WHICH WILL STOP THE KITTEN FROM EXPLODING </a:t>
            </a:r>
            <a:br>
              <a:rPr lang="en-US" b="1" cap="all" dirty="0">
                <a:latin typeface="bebas_neuebold"/>
              </a:rPr>
            </a:br>
            <a:r>
              <a:rPr lang="en-US" b="1" cap="all" dirty="0">
                <a:latin typeface="bebas_neuebold"/>
              </a:rPr>
              <a:t>USING THINGS LIKE LASER POINTERS, KITTEN YOGA, AND CATNIP SANDWICHES.</a:t>
            </a:r>
            <a:endParaRPr lang="en-US" b="1" i="0" cap="all" dirty="0">
              <a:effectLst/>
              <a:latin typeface="bebas_neuebold"/>
            </a:endParaRPr>
          </a:p>
        </p:txBody>
      </p:sp>
    </p:spTree>
    <p:extLst>
      <p:ext uri="{BB962C8B-B14F-4D97-AF65-F5344CB8AC3E}">
        <p14:creationId xmlns:p14="http://schemas.microsoft.com/office/powerpoint/2010/main" val="25240597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96985-8F3C-4F8E-A840-866A7297AAB1}"/>
              </a:ext>
            </a:extLst>
          </p:cNvPr>
          <p:cNvSpPr>
            <a:spLocks noGrp="1"/>
          </p:cNvSpPr>
          <p:nvPr>
            <p:ph type="title"/>
          </p:nvPr>
        </p:nvSpPr>
        <p:spPr/>
        <p:txBody>
          <a:bodyPr/>
          <a:lstStyle/>
          <a:p>
            <a:r>
              <a:rPr lang="en-US" dirty="0"/>
              <a:t>Pod failure - where to look for information</a:t>
            </a:r>
          </a:p>
        </p:txBody>
      </p:sp>
      <p:sp>
        <p:nvSpPr>
          <p:cNvPr id="5" name="Rectangle 4">
            <a:extLst>
              <a:ext uri="{FF2B5EF4-FFF2-40B4-BE49-F238E27FC236}">
                <a16:creationId xmlns:a16="http://schemas.microsoft.com/office/drawing/2014/main" id="{B334D4B4-EC7C-4477-9B76-8973D4039366}"/>
              </a:ext>
            </a:extLst>
          </p:cNvPr>
          <p:cNvSpPr/>
          <p:nvPr/>
        </p:nvSpPr>
        <p:spPr>
          <a:xfrm>
            <a:off x="504001" y="1985638"/>
            <a:ext cx="11268901" cy="1200329"/>
          </a:xfrm>
          <a:prstGeom prst="rect">
            <a:avLst/>
          </a:prstGeom>
        </p:spPr>
        <p:txBody>
          <a:bodyPr wrap="square">
            <a:spAutoFit/>
          </a:bodyPr>
          <a:lstStyle/>
          <a:p>
            <a:r>
              <a:rPr lang="en-US" sz="2400" b="1" kern="0" dirty="0" err="1">
                <a:solidFill>
                  <a:schemeClr val="accent1">
                    <a:lumMod val="75000"/>
                  </a:schemeClr>
                </a:solidFill>
                <a:latin typeface="Courier New" panose="02070309020205020404" pitchFamily="49" charset="0"/>
                <a:ea typeface="Arial Unicode MS" pitchFamily="34" charset="-128"/>
                <a:cs typeface="Courier New" panose="02070309020205020404" pitchFamily="49" charset="0"/>
              </a:rPr>
              <a:t>kubectl</a:t>
            </a:r>
            <a:r>
              <a:rPr lang="en-US" sz="2400" b="1" kern="0" dirty="0">
                <a:solidFill>
                  <a:schemeClr val="accent1">
                    <a:lumMod val="75000"/>
                  </a:schemeClr>
                </a:solidFill>
                <a:latin typeface="Courier New" panose="02070309020205020404" pitchFamily="49" charset="0"/>
                <a:ea typeface="Arial Unicode MS" pitchFamily="34" charset="-128"/>
                <a:cs typeface="Courier New" panose="02070309020205020404" pitchFamily="49" charset="0"/>
              </a:rPr>
              <a:t> get pods</a:t>
            </a:r>
          </a:p>
          <a:p>
            <a:r>
              <a:rPr lang="en-US" sz="2400" b="1" kern="0" dirty="0">
                <a:latin typeface="Courier New" panose="02070309020205020404" pitchFamily="49" charset="0"/>
                <a:ea typeface="Arial Unicode MS" pitchFamily="34" charset="-128"/>
                <a:cs typeface="Courier New" panose="02070309020205020404" pitchFamily="49" charset="0"/>
              </a:rPr>
              <a:t> NAME    READY       STATUS           RESTARTS   AGE  </a:t>
            </a:r>
          </a:p>
          <a:p>
            <a:r>
              <a:rPr lang="en-US" sz="2400" b="1" kern="0" dirty="0">
                <a:latin typeface="Courier New" panose="02070309020205020404" pitchFamily="49" charset="0"/>
                <a:ea typeface="Arial Unicode MS" pitchFamily="34" charset="-128"/>
                <a:cs typeface="Courier New" panose="02070309020205020404" pitchFamily="49" charset="0"/>
              </a:rPr>
              <a:t> </a:t>
            </a:r>
            <a:r>
              <a:rPr lang="en-US" sz="2400" b="1" kern="0" dirty="0" err="1">
                <a:latin typeface="Courier New" panose="02070309020205020404" pitchFamily="49" charset="0"/>
                <a:ea typeface="Arial Unicode MS" pitchFamily="34" charset="-128"/>
                <a:cs typeface="Courier New" panose="02070309020205020404" pitchFamily="49" charset="0"/>
              </a:rPr>
              <a:t>nginx</a:t>
            </a:r>
            <a:r>
              <a:rPr lang="en-US" sz="2400" b="1" kern="0" dirty="0">
                <a:latin typeface="Courier New" panose="02070309020205020404" pitchFamily="49" charset="0"/>
                <a:ea typeface="Arial Unicode MS" pitchFamily="34" charset="-128"/>
                <a:cs typeface="Courier New" panose="02070309020205020404" pitchFamily="49" charset="0"/>
              </a:rPr>
              <a:t>    0/1    </a:t>
            </a:r>
            <a:r>
              <a:rPr lang="en-US" sz="2400" b="1" kern="0" dirty="0" err="1">
                <a:latin typeface="Courier New" panose="02070309020205020404" pitchFamily="49" charset="0"/>
                <a:ea typeface="Arial Unicode MS" pitchFamily="34" charset="-128"/>
                <a:cs typeface="Courier New" panose="02070309020205020404" pitchFamily="49" charset="0"/>
              </a:rPr>
              <a:t>CrashLoopBackOff</a:t>
            </a:r>
            <a:r>
              <a:rPr lang="en-US" sz="2400" b="1" kern="0" dirty="0">
                <a:latin typeface="Courier New" panose="02070309020205020404" pitchFamily="49" charset="0"/>
                <a:ea typeface="Arial Unicode MS" pitchFamily="34" charset="-128"/>
                <a:cs typeface="Courier New" panose="02070309020205020404" pitchFamily="49" charset="0"/>
              </a:rPr>
              <a:t>        5        5s</a:t>
            </a:r>
          </a:p>
        </p:txBody>
      </p:sp>
      <p:sp>
        <p:nvSpPr>
          <p:cNvPr id="9" name="Speech Bubble: Rectangle 8">
            <a:extLst>
              <a:ext uri="{FF2B5EF4-FFF2-40B4-BE49-F238E27FC236}">
                <a16:creationId xmlns:a16="http://schemas.microsoft.com/office/drawing/2014/main" id="{17359BAA-C164-4F1C-8EF2-E911311D333A}"/>
              </a:ext>
            </a:extLst>
          </p:cNvPr>
          <p:cNvSpPr/>
          <p:nvPr/>
        </p:nvSpPr>
        <p:spPr bwMode="gray">
          <a:xfrm>
            <a:off x="504001" y="4249528"/>
            <a:ext cx="2667427" cy="677425"/>
          </a:xfrm>
          <a:prstGeom prst="wedgeRectCallout">
            <a:avLst>
              <a:gd name="adj1" fmla="val 32694"/>
              <a:gd name="adj2" fmla="val -201039"/>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Is any container in the pod running?</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0" name="Speech Bubble: Rectangle 9">
            <a:extLst>
              <a:ext uri="{FF2B5EF4-FFF2-40B4-BE49-F238E27FC236}">
                <a16:creationId xmlns:a16="http://schemas.microsoft.com/office/drawing/2014/main" id="{D7DB12F8-84B8-4049-837D-85259C73B2BA}"/>
              </a:ext>
            </a:extLst>
          </p:cNvPr>
          <p:cNvSpPr/>
          <p:nvPr/>
        </p:nvSpPr>
        <p:spPr bwMode="gray">
          <a:xfrm>
            <a:off x="3860753" y="4249528"/>
            <a:ext cx="2667427" cy="677425"/>
          </a:xfrm>
          <a:prstGeom prst="wedgeRectCallout">
            <a:avLst>
              <a:gd name="adj1" fmla="val 14775"/>
              <a:gd name="adj2" fmla="val -205641"/>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What is the pod’s status?</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1" name="Speech Bubble: Rectangle 10">
            <a:extLst>
              <a:ext uri="{FF2B5EF4-FFF2-40B4-BE49-F238E27FC236}">
                <a16:creationId xmlns:a16="http://schemas.microsoft.com/office/drawing/2014/main" id="{0F4F038E-DCCC-48FB-9FCC-B421350335D2}"/>
              </a:ext>
            </a:extLst>
          </p:cNvPr>
          <p:cNvSpPr/>
          <p:nvPr/>
        </p:nvSpPr>
        <p:spPr bwMode="gray">
          <a:xfrm>
            <a:off x="7217506" y="4251189"/>
            <a:ext cx="2667427" cy="677425"/>
          </a:xfrm>
          <a:prstGeom prst="wedgeRectCallout">
            <a:avLst>
              <a:gd name="adj1" fmla="val 10490"/>
              <a:gd name="adj2" fmla="val -202573"/>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Where there any (recent) restarts</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336526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96985-8F3C-4F8E-A840-866A7297AAB1}"/>
              </a:ext>
            </a:extLst>
          </p:cNvPr>
          <p:cNvSpPr>
            <a:spLocks noGrp="1"/>
          </p:cNvSpPr>
          <p:nvPr>
            <p:ph type="title"/>
          </p:nvPr>
        </p:nvSpPr>
        <p:spPr/>
        <p:txBody>
          <a:bodyPr/>
          <a:lstStyle/>
          <a:p>
            <a:r>
              <a:rPr lang="en-US" dirty="0"/>
              <a:t>Pod failure - where to look for information</a:t>
            </a:r>
          </a:p>
        </p:txBody>
      </p:sp>
      <p:sp>
        <p:nvSpPr>
          <p:cNvPr id="3" name="TextBox 2">
            <a:extLst>
              <a:ext uri="{FF2B5EF4-FFF2-40B4-BE49-F238E27FC236}">
                <a16:creationId xmlns:a16="http://schemas.microsoft.com/office/drawing/2014/main" id="{CDA4960A-C3A7-4291-ACBE-5CC735D7640F}"/>
              </a:ext>
            </a:extLst>
          </p:cNvPr>
          <p:cNvSpPr txBox="1"/>
          <p:nvPr/>
        </p:nvSpPr>
        <p:spPr>
          <a:xfrm>
            <a:off x="504001" y="1544252"/>
            <a:ext cx="8203581" cy="369332"/>
          </a:xfrm>
          <a:prstGeom prst="rect">
            <a:avLst/>
          </a:prstGeom>
          <a:noFill/>
        </p:spPr>
        <p:txBody>
          <a:bodyPr wrap="square" lIns="0" tIns="0" rIns="0" bIns="0" rtlCol="0">
            <a:spAutoFit/>
          </a:bodyPr>
          <a:lstStyle/>
          <a:p>
            <a:pPr fontAlgn="base">
              <a:spcBef>
                <a:spcPct val="50000"/>
              </a:spcBef>
              <a:spcAft>
                <a:spcPct val="0"/>
              </a:spcAft>
              <a:buClr>
                <a:srgbClr val="F0AB00"/>
              </a:buClr>
              <a:buSzPct val="80000"/>
            </a:pPr>
            <a:r>
              <a:rPr lang="en-US" sz="2400" b="1" kern="0" dirty="0" err="1">
                <a:solidFill>
                  <a:schemeClr val="accent1">
                    <a:lumMod val="75000"/>
                  </a:schemeClr>
                </a:solidFill>
                <a:latin typeface="Courier New" panose="02070309020205020404" pitchFamily="49" charset="0"/>
                <a:ea typeface="Arial Unicode MS" pitchFamily="34" charset="-128"/>
                <a:cs typeface="Courier New" panose="02070309020205020404" pitchFamily="49" charset="0"/>
              </a:rPr>
              <a:t>kubectl</a:t>
            </a:r>
            <a:r>
              <a:rPr lang="en-US" sz="2400" b="1" kern="0" dirty="0">
                <a:solidFill>
                  <a:schemeClr val="accent1">
                    <a:lumMod val="75000"/>
                  </a:schemeClr>
                </a:solidFill>
                <a:latin typeface="Courier New" panose="02070309020205020404" pitchFamily="49" charset="0"/>
                <a:ea typeface="Arial Unicode MS" pitchFamily="34" charset="-128"/>
                <a:cs typeface="Courier New" panose="02070309020205020404" pitchFamily="49" charset="0"/>
              </a:rPr>
              <a:t> logs [--previous] &lt;pod name&gt;</a:t>
            </a:r>
          </a:p>
        </p:txBody>
      </p:sp>
      <p:sp>
        <p:nvSpPr>
          <p:cNvPr id="9" name="Speech Bubble: Rectangle 8">
            <a:extLst>
              <a:ext uri="{FF2B5EF4-FFF2-40B4-BE49-F238E27FC236}">
                <a16:creationId xmlns:a16="http://schemas.microsoft.com/office/drawing/2014/main" id="{24B68F1A-191A-4DAB-8767-E74884DAAADE}"/>
              </a:ext>
            </a:extLst>
          </p:cNvPr>
          <p:cNvSpPr/>
          <p:nvPr/>
        </p:nvSpPr>
        <p:spPr bwMode="gray">
          <a:xfrm>
            <a:off x="3028993" y="2645183"/>
            <a:ext cx="5023962" cy="977097"/>
          </a:xfrm>
          <a:prstGeom prst="wedgeRectCallout">
            <a:avLst>
              <a:gd name="adj1" fmla="val -48176"/>
              <a:gd name="adj2" fmla="val -113080"/>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If the container ran, there might be logs available – also from the previous container</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0" name="TextBox 9">
            <a:extLst>
              <a:ext uri="{FF2B5EF4-FFF2-40B4-BE49-F238E27FC236}">
                <a16:creationId xmlns:a16="http://schemas.microsoft.com/office/drawing/2014/main" id="{431597A8-0A79-49E9-90E0-E616041139D4}"/>
              </a:ext>
            </a:extLst>
          </p:cNvPr>
          <p:cNvSpPr txBox="1"/>
          <p:nvPr/>
        </p:nvSpPr>
        <p:spPr>
          <a:xfrm>
            <a:off x="504001" y="4145737"/>
            <a:ext cx="7642473" cy="369332"/>
          </a:xfrm>
          <a:prstGeom prst="rect">
            <a:avLst/>
          </a:prstGeom>
          <a:noFill/>
        </p:spPr>
        <p:txBody>
          <a:bodyPr wrap="square" lIns="0" tIns="0" rIns="0" bIns="0" rtlCol="0">
            <a:spAutoFit/>
          </a:bodyPr>
          <a:lstStyle/>
          <a:p>
            <a:pPr fontAlgn="base">
              <a:spcBef>
                <a:spcPct val="50000"/>
              </a:spcBef>
              <a:spcAft>
                <a:spcPct val="0"/>
              </a:spcAft>
              <a:buClr>
                <a:srgbClr val="F0AB00"/>
              </a:buClr>
              <a:buSzPct val="80000"/>
            </a:pPr>
            <a:r>
              <a:rPr lang="en-US" sz="2400" b="1" kern="0" dirty="0" err="1">
                <a:solidFill>
                  <a:schemeClr val="accent1">
                    <a:lumMod val="75000"/>
                  </a:schemeClr>
                </a:solidFill>
                <a:latin typeface="Courier New" panose="02070309020205020404" pitchFamily="49" charset="0"/>
                <a:ea typeface="Arial Unicode MS" pitchFamily="34" charset="-128"/>
                <a:cs typeface="Courier New" panose="02070309020205020404" pitchFamily="49" charset="0"/>
              </a:rPr>
              <a:t>kubectl</a:t>
            </a:r>
            <a:r>
              <a:rPr lang="en-US" sz="2400" b="1" kern="0" dirty="0">
                <a:solidFill>
                  <a:schemeClr val="accent1">
                    <a:lumMod val="75000"/>
                  </a:schemeClr>
                </a:solidFill>
                <a:latin typeface="Courier New" panose="02070309020205020404" pitchFamily="49" charset="0"/>
                <a:ea typeface="Arial Unicode MS" pitchFamily="34" charset="-128"/>
                <a:cs typeface="Courier New" panose="02070309020205020404" pitchFamily="49" charset="0"/>
              </a:rPr>
              <a:t> exec –</a:t>
            </a:r>
            <a:r>
              <a:rPr lang="en-US" sz="2400" b="1" kern="0" dirty="0" err="1">
                <a:solidFill>
                  <a:schemeClr val="accent1">
                    <a:lumMod val="75000"/>
                  </a:schemeClr>
                </a:solidFill>
                <a:latin typeface="Courier New" panose="02070309020205020404" pitchFamily="49" charset="0"/>
                <a:ea typeface="Arial Unicode MS" pitchFamily="34" charset="-128"/>
                <a:cs typeface="Courier New" panose="02070309020205020404" pitchFamily="49" charset="0"/>
              </a:rPr>
              <a:t>ti</a:t>
            </a:r>
            <a:r>
              <a:rPr lang="en-US" sz="2400" b="1" kern="0" dirty="0">
                <a:solidFill>
                  <a:schemeClr val="accent1">
                    <a:lumMod val="75000"/>
                  </a:schemeClr>
                </a:solidFill>
                <a:latin typeface="Courier New" panose="02070309020205020404" pitchFamily="49" charset="0"/>
                <a:ea typeface="Arial Unicode MS" pitchFamily="34" charset="-128"/>
                <a:cs typeface="Courier New" panose="02070309020205020404" pitchFamily="49" charset="0"/>
              </a:rPr>
              <a:t> &lt;pod name&gt; -- /bin/bash</a:t>
            </a:r>
          </a:p>
        </p:txBody>
      </p:sp>
      <p:sp>
        <p:nvSpPr>
          <p:cNvPr id="11" name="Speech Bubble: Rectangle 10">
            <a:extLst>
              <a:ext uri="{FF2B5EF4-FFF2-40B4-BE49-F238E27FC236}">
                <a16:creationId xmlns:a16="http://schemas.microsoft.com/office/drawing/2014/main" id="{3C43FA7C-ED1E-4C21-9BB4-440FE4791F4B}"/>
              </a:ext>
            </a:extLst>
          </p:cNvPr>
          <p:cNvSpPr/>
          <p:nvPr/>
        </p:nvSpPr>
        <p:spPr bwMode="gray">
          <a:xfrm>
            <a:off x="3028993" y="5038526"/>
            <a:ext cx="5023962" cy="1049835"/>
          </a:xfrm>
          <a:prstGeom prst="wedgeRectCallout">
            <a:avLst>
              <a:gd name="adj1" fmla="val -45073"/>
              <a:gd name="adj2" fmla="val -99223"/>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If the container is still running, exec into the pod and debug it from within</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36959537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Demo</a:t>
            </a:r>
          </a:p>
        </p:txBody>
      </p:sp>
      <p:pic>
        <p:nvPicPr>
          <p:cNvPr id="5" name="Picture 4">
            <a:extLst>
              <a:ext uri="{FF2B5EF4-FFF2-40B4-BE49-F238E27FC236}">
                <a16:creationId xmlns:a16="http://schemas.microsoft.com/office/drawing/2014/main" id="{2783D3B9-080F-4461-B92E-ED091ED04B55}"/>
              </a:ext>
            </a:extLst>
          </p:cNvPr>
          <p:cNvPicPr>
            <a:picLocks noChangeAspect="1"/>
          </p:cNvPicPr>
          <p:nvPr/>
        </p:nvPicPr>
        <p:blipFill>
          <a:blip r:embed="rId3"/>
          <a:stretch>
            <a:fillRect/>
          </a:stretch>
        </p:blipFill>
        <p:spPr>
          <a:xfrm>
            <a:off x="3645157" y="976918"/>
            <a:ext cx="4904163" cy="4904163"/>
          </a:xfrm>
          <a:prstGeom prst="rect">
            <a:avLst/>
          </a:prstGeom>
        </p:spPr>
      </p:pic>
    </p:spTree>
    <p:extLst>
      <p:ext uri="{BB962C8B-B14F-4D97-AF65-F5344CB8AC3E}">
        <p14:creationId xmlns:p14="http://schemas.microsoft.com/office/powerpoint/2010/main" val="30127070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96985-8F3C-4F8E-A840-866A7297AAB1}"/>
              </a:ext>
            </a:extLst>
          </p:cNvPr>
          <p:cNvSpPr>
            <a:spLocks noGrp="1"/>
          </p:cNvSpPr>
          <p:nvPr>
            <p:ph type="title"/>
          </p:nvPr>
        </p:nvSpPr>
        <p:spPr/>
        <p:txBody>
          <a:bodyPr/>
          <a:lstStyle/>
          <a:p>
            <a:r>
              <a:rPr lang="en-US" dirty="0"/>
              <a:t>Pod failure - where to look for information</a:t>
            </a:r>
          </a:p>
        </p:txBody>
      </p:sp>
      <p:sp>
        <p:nvSpPr>
          <p:cNvPr id="4" name="TextBox 3">
            <a:extLst>
              <a:ext uri="{FF2B5EF4-FFF2-40B4-BE49-F238E27FC236}">
                <a16:creationId xmlns:a16="http://schemas.microsoft.com/office/drawing/2014/main" id="{8030DC8D-B615-4A34-8CD4-6C4439E63297}"/>
              </a:ext>
            </a:extLst>
          </p:cNvPr>
          <p:cNvSpPr txBox="1"/>
          <p:nvPr/>
        </p:nvSpPr>
        <p:spPr>
          <a:xfrm>
            <a:off x="504001" y="1331742"/>
            <a:ext cx="11186476" cy="3277820"/>
          </a:xfrm>
          <a:prstGeom prst="rect">
            <a:avLst/>
          </a:prstGeom>
          <a:noFill/>
        </p:spPr>
        <p:txBody>
          <a:bodyPr wrap="square" lIns="0" tIns="0" rIns="0" bIns="0" rtlCol="0">
            <a:spAutoFit/>
          </a:bodyPr>
          <a:lstStyle/>
          <a:p>
            <a:pPr fontAlgn="base">
              <a:spcBef>
                <a:spcPct val="50000"/>
              </a:spcBef>
              <a:spcAft>
                <a:spcPct val="0"/>
              </a:spcAft>
              <a:buClr>
                <a:srgbClr val="F0AB00"/>
              </a:buClr>
              <a:buSzPct val="80000"/>
            </a:pPr>
            <a:r>
              <a:rPr lang="en-US" sz="2400" b="1" kern="0" dirty="0" err="1">
                <a:solidFill>
                  <a:schemeClr val="accent1">
                    <a:lumMod val="75000"/>
                  </a:schemeClr>
                </a:solidFill>
                <a:latin typeface="Courier New" panose="02070309020205020404" pitchFamily="49" charset="0"/>
                <a:ea typeface="Arial Unicode MS" pitchFamily="34" charset="-128"/>
                <a:cs typeface="Courier New" panose="02070309020205020404" pitchFamily="49" charset="0"/>
              </a:rPr>
              <a:t>kubectl</a:t>
            </a:r>
            <a:r>
              <a:rPr lang="en-US" sz="2400" b="1" kern="0" dirty="0">
                <a:solidFill>
                  <a:schemeClr val="accent1">
                    <a:lumMod val="75000"/>
                  </a:schemeClr>
                </a:solidFill>
                <a:latin typeface="Courier New" panose="02070309020205020404" pitchFamily="49" charset="0"/>
                <a:ea typeface="Arial Unicode MS" pitchFamily="34" charset="-128"/>
                <a:cs typeface="Courier New" panose="02070309020205020404" pitchFamily="49" charset="0"/>
              </a:rPr>
              <a:t> describe pod test-pod</a:t>
            </a:r>
          </a:p>
          <a:p>
            <a:pPr fontAlgn="base">
              <a:spcBef>
                <a:spcPct val="50000"/>
              </a:spcBef>
              <a:spcAft>
                <a:spcPct val="0"/>
              </a:spcAft>
              <a:buClr>
                <a:srgbClr val="F0AB00"/>
              </a:buClr>
              <a:buSzPct val="80000"/>
            </a:pPr>
            <a:r>
              <a:rPr lang="en-US" sz="1400" b="1" kern="0" dirty="0">
                <a:latin typeface="Courier New" panose="02070309020205020404" pitchFamily="49" charset="0"/>
                <a:ea typeface="Arial Unicode MS" pitchFamily="34" charset="-128"/>
                <a:cs typeface="Courier New" panose="02070309020205020404" pitchFamily="49" charset="0"/>
              </a:rPr>
              <a:t>Name:         test-pod</a:t>
            </a:r>
          </a:p>
          <a:p>
            <a:pPr fontAlgn="base">
              <a:spcBef>
                <a:spcPct val="50000"/>
              </a:spcBef>
              <a:spcAft>
                <a:spcPct val="0"/>
              </a:spcAft>
              <a:buClr>
                <a:srgbClr val="F0AB00"/>
              </a:buClr>
              <a:buSzPct val="80000"/>
            </a:pPr>
            <a:r>
              <a:rPr lang="en-US" sz="1400" b="1" kern="0" dirty="0">
                <a:latin typeface="Courier New" panose="02070309020205020404" pitchFamily="49" charset="0"/>
                <a:ea typeface="Arial Unicode MS" pitchFamily="34" charset="-128"/>
                <a:cs typeface="Courier New" panose="02070309020205020404" pitchFamily="49" charset="0"/>
              </a:rPr>
              <a:t>Namespace:    default</a:t>
            </a:r>
          </a:p>
          <a:p>
            <a:pPr fontAlgn="base">
              <a:spcBef>
                <a:spcPct val="50000"/>
              </a:spcBef>
              <a:spcAft>
                <a:spcPct val="0"/>
              </a:spcAft>
              <a:buClr>
                <a:srgbClr val="F0AB00"/>
              </a:buClr>
              <a:buSzPct val="80000"/>
            </a:pPr>
            <a:r>
              <a:rPr lang="en-US" sz="1400" b="1" kern="0" dirty="0">
                <a:latin typeface="Courier New" panose="02070309020205020404" pitchFamily="49" charset="0"/>
                <a:ea typeface="Arial Unicode MS" pitchFamily="34" charset="-128"/>
                <a:cs typeface="Courier New" panose="02070309020205020404" pitchFamily="49" charset="0"/>
              </a:rPr>
              <a:t>…</a:t>
            </a:r>
          </a:p>
          <a:p>
            <a:pPr fontAlgn="base">
              <a:spcBef>
                <a:spcPct val="50000"/>
              </a:spcBef>
              <a:spcAft>
                <a:spcPct val="0"/>
              </a:spcAft>
              <a:buClr>
                <a:srgbClr val="F0AB00"/>
              </a:buClr>
              <a:buSzPct val="80000"/>
            </a:pPr>
            <a:r>
              <a:rPr lang="en-US" sz="1400" b="1" kern="0" dirty="0" err="1">
                <a:latin typeface="Courier New" panose="02070309020205020404" pitchFamily="49" charset="0"/>
                <a:ea typeface="Arial Unicode MS" pitchFamily="34" charset="-128"/>
                <a:cs typeface="Courier New" panose="02070309020205020404" pitchFamily="49" charset="0"/>
              </a:rPr>
              <a:t>PodScheduled</a:t>
            </a:r>
            <a:r>
              <a:rPr lang="en-US" sz="1400" b="1" kern="0" dirty="0">
                <a:latin typeface="Courier New" panose="02070309020205020404" pitchFamily="49" charset="0"/>
                <a:ea typeface="Arial Unicode MS" pitchFamily="34" charset="-128"/>
                <a:cs typeface="Courier New" panose="02070309020205020404" pitchFamily="49" charset="0"/>
              </a:rPr>
              <a:t>   False</a:t>
            </a:r>
          </a:p>
          <a:p>
            <a:pPr fontAlgn="base">
              <a:spcBef>
                <a:spcPct val="50000"/>
              </a:spcBef>
              <a:spcAft>
                <a:spcPct val="0"/>
              </a:spcAft>
              <a:buClr>
                <a:srgbClr val="F0AB00"/>
              </a:buClr>
              <a:buSzPct val="80000"/>
            </a:pPr>
            <a:r>
              <a:rPr lang="en-US" sz="1400" b="1" kern="0" dirty="0">
                <a:latin typeface="Courier New" panose="02070309020205020404" pitchFamily="49" charset="0"/>
                <a:ea typeface="Arial Unicode MS" pitchFamily="34" charset="-128"/>
                <a:cs typeface="Courier New" panose="02070309020205020404" pitchFamily="49" charset="0"/>
              </a:rPr>
              <a:t>…</a:t>
            </a:r>
          </a:p>
          <a:p>
            <a:pPr fontAlgn="base">
              <a:spcBef>
                <a:spcPct val="50000"/>
              </a:spcBef>
              <a:spcAft>
                <a:spcPct val="0"/>
              </a:spcAft>
              <a:buClr>
                <a:srgbClr val="F0AB00"/>
              </a:buClr>
              <a:buSzPct val="80000"/>
            </a:pPr>
            <a:r>
              <a:rPr lang="en-US" sz="1400" b="1" kern="0" dirty="0">
                <a:latin typeface="Courier New" panose="02070309020205020404" pitchFamily="49" charset="0"/>
                <a:ea typeface="Arial Unicode MS" pitchFamily="34" charset="-128"/>
                <a:cs typeface="Courier New" panose="02070309020205020404" pitchFamily="49" charset="0"/>
              </a:rPr>
              <a:t>Events:</a:t>
            </a:r>
          </a:p>
          <a:p>
            <a:pPr fontAlgn="base">
              <a:spcBef>
                <a:spcPct val="50000"/>
              </a:spcBef>
              <a:spcAft>
                <a:spcPct val="0"/>
              </a:spcAft>
              <a:buClr>
                <a:srgbClr val="F0AB00"/>
              </a:buClr>
              <a:buSzPct val="80000"/>
            </a:pPr>
            <a:r>
              <a:rPr lang="en-US" sz="1400" b="1" kern="0" dirty="0">
                <a:latin typeface="Courier New" panose="02070309020205020404" pitchFamily="49" charset="0"/>
                <a:ea typeface="Arial Unicode MS" pitchFamily="34" charset="-128"/>
                <a:cs typeface="Courier New" panose="02070309020205020404" pitchFamily="49" charset="0"/>
              </a:rPr>
              <a:t>  Type     Reason           Age   From                Message</a:t>
            </a:r>
          </a:p>
          <a:p>
            <a:pPr fontAlgn="base">
              <a:spcBef>
                <a:spcPct val="50000"/>
              </a:spcBef>
              <a:spcAft>
                <a:spcPct val="0"/>
              </a:spcAft>
              <a:buClr>
                <a:srgbClr val="F0AB00"/>
              </a:buClr>
              <a:buSzPct val="80000"/>
            </a:pPr>
            <a:r>
              <a:rPr lang="en-US" sz="1400" b="1" kern="0" dirty="0">
                <a:latin typeface="Courier New" panose="02070309020205020404" pitchFamily="49" charset="0"/>
                <a:ea typeface="Arial Unicode MS" pitchFamily="34" charset="-128"/>
                <a:cs typeface="Courier New" panose="02070309020205020404" pitchFamily="49" charset="0"/>
              </a:rPr>
              <a:t>  ----     ------           ----  ----                -------</a:t>
            </a:r>
          </a:p>
          <a:p>
            <a:pPr fontAlgn="base">
              <a:spcBef>
                <a:spcPct val="50000"/>
              </a:spcBef>
              <a:spcAft>
                <a:spcPct val="0"/>
              </a:spcAft>
              <a:buClr>
                <a:srgbClr val="F0AB00"/>
              </a:buClr>
              <a:buSzPct val="80000"/>
            </a:pPr>
            <a:r>
              <a:rPr lang="en-US" sz="1400" b="1" kern="0" dirty="0">
                <a:latin typeface="Courier New" panose="02070309020205020404" pitchFamily="49" charset="0"/>
                <a:ea typeface="Arial Unicode MS" pitchFamily="34" charset="-128"/>
                <a:cs typeface="Courier New" panose="02070309020205020404" pitchFamily="49" charset="0"/>
              </a:rPr>
              <a:t> Warning  </a:t>
            </a:r>
            <a:r>
              <a:rPr lang="en-US" sz="1400" b="1" kern="0" dirty="0" err="1">
                <a:latin typeface="Courier New" panose="02070309020205020404" pitchFamily="49" charset="0"/>
                <a:ea typeface="Arial Unicode MS" pitchFamily="34" charset="-128"/>
                <a:cs typeface="Courier New" panose="02070309020205020404" pitchFamily="49" charset="0"/>
              </a:rPr>
              <a:t>FailedScheduling</a:t>
            </a:r>
            <a:r>
              <a:rPr lang="en-US" sz="1400" b="1" kern="0" dirty="0">
                <a:latin typeface="Courier New" panose="02070309020205020404" pitchFamily="49" charset="0"/>
                <a:ea typeface="Arial Unicode MS" pitchFamily="34" charset="-128"/>
                <a:cs typeface="Courier New" panose="02070309020205020404" pitchFamily="49" charset="0"/>
              </a:rPr>
              <a:t>  2s    default-scheduler   </a:t>
            </a:r>
            <a:r>
              <a:rPr lang="en-US" sz="1400" b="1" kern="0" dirty="0" err="1">
                <a:latin typeface="Courier New" panose="02070309020205020404" pitchFamily="49" charset="0"/>
                <a:ea typeface="Arial Unicode MS" pitchFamily="34" charset="-128"/>
                <a:cs typeface="Courier New" panose="02070309020205020404" pitchFamily="49" charset="0"/>
              </a:rPr>
              <a:t>persistentvolumeclaim</a:t>
            </a:r>
            <a:r>
              <a:rPr lang="en-US" sz="1400" b="1" kern="0" dirty="0">
                <a:latin typeface="Courier New" panose="02070309020205020404" pitchFamily="49" charset="0"/>
                <a:ea typeface="Arial Unicode MS" pitchFamily="34" charset="-128"/>
                <a:cs typeface="Courier New" panose="02070309020205020404" pitchFamily="49" charset="0"/>
              </a:rPr>
              <a:t> "</a:t>
            </a:r>
            <a:r>
              <a:rPr lang="en-US" sz="1400" b="1" kern="0" dirty="0" err="1">
                <a:latin typeface="Courier New" panose="02070309020205020404" pitchFamily="49" charset="0"/>
                <a:ea typeface="Arial Unicode MS" pitchFamily="34" charset="-128"/>
                <a:cs typeface="Courier New" panose="02070309020205020404" pitchFamily="49" charset="0"/>
              </a:rPr>
              <a:t>nginx-pvc</a:t>
            </a:r>
            <a:r>
              <a:rPr lang="en-US" sz="1400" b="1" kern="0" dirty="0">
                <a:latin typeface="Courier New" panose="02070309020205020404" pitchFamily="49" charset="0"/>
                <a:ea typeface="Arial Unicode MS" pitchFamily="34" charset="-128"/>
                <a:cs typeface="Courier New" panose="02070309020205020404" pitchFamily="49" charset="0"/>
              </a:rPr>
              <a:t>" not found</a:t>
            </a:r>
          </a:p>
        </p:txBody>
      </p:sp>
      <p:sp>
        <p:nvSpPr>
          <p:cNvPr id="11" name="Speech Bubble: Rectangle 10">
            <a:extLst>
              <a:ext uri="{FF2B5EF4-FFF2-40B4-BE49-F238E27FC236}">
                <a16:creationId xmlns:a16="http://schemas.microsoft.com/office/drawing/2014/main" id="{185BA364-6F45-4E64-8437-D0790698F164}"/>
              </a:ext>
            </a:extLst>
          </p:cNvPr>
          <p:cNvSpPr/>
          <p:nvPr/>
        </p:nvSpPr>
        <p:spPr bwMode="gray">
          <a:xfrm>
            <a:off x="7408625" y="1899520"/>
            <a:ext cx="3518455" cy="677425"/>
          </a:xfrm>
          <a:prstGeom prst="wedgeRectCallout">
            <a:avLst>
              <a:gd name="adj1" fmla="val -87771"/>
              <a:gd name="adj2" fmla="val 108866"/>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Pod was not scheduled</a:t>
            </a:r>
          </a:p>
        </p:txBody>
      </p:sp>
      <p:sp>
        <p:nvSpPr>
          <p:cNvPr id="12" name="Speech Bubble: Rectangle 11">
            <a:extLst>
              <a:ext uri="{FF2B5EF4-FFF2-40B4-BE49-F238E27FC236}">
                <a16:creationId xmlns:a16="http://schemas.microsoft.com/office/drawing/2014/main" id="{97679C3A-1F38-4437-85A5-914F8B13C2F3}"/>
              </a:ext>
            </a:extLst>
          </p:cNvPr>
          <p:cNvSpPr/>
          <p:nvPr/>
        </p:nvSpPr>
        <p:spPr bwMode="gray">
          <a:xfrm>
            <a:off x="6832552" y="5500506"/>
            <a:ext cx="3518455" cy="677425"/>
          </a:xfrm>
          <a:prstGeom prst="wedgeRectCallout">
            <a:avLst>
              <a:gd name="adj1" fmla="val -40472"/>
              <a:gd name="adj2" fmla="val -132751"/>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Reason for failure can be found in the events section</a:t>
            </a:r>
          </a:p>
        </p:txBody>
      </p:sp>
    </p:spTree>
    <p:extLst>
      <p:ext uri="{BB962C8B-B14F-4D97-AF65-F5344CB8AC3E}">
        <p14:creationId xmlns:p14="http://schemas.microsoft.com/office/powerpoint/2010/main" val="29337997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AB707-1225-4D64-A95E-F1193D92F3BE}"/>
              </a:ext>
            </a:extLst>
          </p:cNvPr>
          <p:cNvSpPr>
            <a:spLocks noGrp="1"/>
          </p:cNvSpPr>
          <p:nvPr>
            <p:ph type="title"/>
          </p:nvPr>
        </p:nvSpPr>
        <p:spPr/>
        <p:txBody>
          <a:bodyPr/>
          <a:lstStyle/>
          <a:p>
            <a:r>
              <a:rPr lang="en-US" dirty="0"/>
              <a:t>Issues with services</a:t>
            </a:r>
          </a:p>
        </p:txBody>
      </p:sp>
      <p:sp>
        <p:nvSpPr>
          <p:cNvPr id="3" name="Rectangle 2">
            <a:extLst>
              <a:ext uri="{FF2B5EF4-FFF2-40B4-BE49-F238E27FC236}">
                <a16:creationId xmlns:a16="http://schemas.microsoft.com/office/drawing/2014/main" id="{B6791FF6-F4CE-4E9F-BD65-77201830485B}"/>
              </a:ext>
            </a:extLst>
          </p:cNvPr>
          <p:cNvSpPr/>
          <p:nvPr/>
        </p:nvSpPr>
        <p:spPr>
          <a:xfrm>
            <a:off x="504001" y="6021077"/>
            <a:ext cx="9606354" cy="415498"/>
          </a:xfrm>
          <a:prstGeom prst="rect">
            <a:avLst/>
          </a:prstGeom>
        </p:spPr>
        <p:txBody>
          <a:bodyPr wrap="square">
            <a:spAutoFit/>
          </a:bodyPr>
          <a:lstStyle/>
          <a:p>
            <a:r>
              <a:rPr lang="en-US" dirty="0">
                <a:hlinkClick r:id="rId3"/>
              </a:rPr>
              <a:t>https://kubernetes.io/docs/tasks/debug-application-cluster/debug-service/</a:t>
            </a:r>
            <a:r>
              <a:rPr lang="en-US" dirty="0"/>
              <a:t> </a:t>
            </a:r>
          </a:p>
        </p:txBody>
      </p:sp>
      <p:sp>
        <p:nvSpPr>
          <p:cNvPr id="4" name="Rectangle 3">
            <a:extLst>
              <a:ext uri="{FF2B5EF4-FFF2-40B4-BE49-F238E27FC236}">
                <a16:creationId xmlns:a16="http://schemas.microsoft.com/office/drawing/2014/main" id="{8EA39D1E-A943-46DB-91C6-E6352F757421}"/>
              </a:ext>
            </a:extLst>
          </p:cNvPr>
          <p:cNvSpPr/>
          <p:nvPr/>
        </p:nvSpPr>
        <p:spPr>
          <a:xfrm>
            <a:off x="504000" y="1345168"/>
            <a:ext cx="9751827" cy="4524315"/>
          </a:xfrm>
          <a:prstGeom prst="rect">
            <a:avLst/>
          </a:prstGeom>
        </p:spPr>
        <p:txBody>
          <a:bodyPr wrap="square">
            <a:spAutoFit/>
          </a:bodyPr>
          <a:lstStyle/>
          <a:p>
            <a:r>
              <a:rPr lang="en-US" sz="2400" b="1" kern="0" dirty="0" err="1">
                <a:solidFill>
                  <a:schemeClr val="accent1">
                    <a:lumMod val="75000"/>
                  </a:schemeClr>
                </a:solidFill>
                <a:latin typeface="Courier New" panose="02070309020205020404" pitchFamily="49" charset="0"/>
                <a:ea typeface="Arial Unicode MS" pitchFamily="34" charset="-128"/>
                <a:cs typeface="Courier New" panose="02070309020205020404" pitchFamily="49" charset="0"/>
              </a:rPr>
              <a:t>kubectl</a:t>
            </a:r>
            <a:r>
              <a:rPr lang="en-US" sz="2400" b="1" kern="0" dirty="0">
                <a:solidFill>
                  <a:schemeClr val="accent1">
                    <a:lumMod val="75000"/>
                  </a:schemeClr>
                </a:solidFill>
                <a:latin typeface="Courier New" panose="02070309020205020404" pitchFamily="49" charset="0"/>
                <a:ea typeface="Arial Unicode MS" pitchFamily="34" charset="-128"/>
                <a:cs typeface="Courier New" panose="02070309020205020404" pitchFamily="49" charset="0"/>
              </a:rPr>
              <a:t> -n </a:t>
            </a:r>
            <a:r>
              <a:rPr lang="en-US" sz="2400" b="1" kern="0" dirty="0" err="1">
                <a:solidFill>
                  <a:schemeClr val="accent1">
                    <a:lumMod val="75000"/>
                  </a:schemeClr>
                </a:solidFill>
                <a:latin typeface="Courier New" panose="02070309020205020404" pitchFamily="49" charset="0"/>
                <a:ea typeface="Arial Unicode MS" pitchFamily="34" charset="-128"/>
                <a:cs typeface="Courier New" panose="02070309020205020404" pitchFamily="49" charset="0"/>
              </a:rPr>
              <a:t>kube</a:t>
            </a:r>
            <a:r>
              <a:rPr lang="en-US" sz="2400" b="1" kern="0" dirty="0">
                <a:solidFill>
                  <a:schemeClr val="accent1">
                    <a:lumMod val="75000"/>
                  </a:schemeClr>
                </a:solidFill>
                <a:latin typeface="Courier New" panose="02070309020205020404" pitchFamily="49" charset="0"/>
                <a:ea typeface="Arial Unicode MS" pitchFamily="34" charset="-128"/>
                <a:cs typeface="Courier New" panose="02070309020205020404" pitchFamily="49" charset="0"/>
              </a:rPr>
              <a:t>-system describe svc node-exporter</a:t>
            </a:r>
          </a:p>
          <a:p>
            <a:endParaRPr lang="en-US" sz="2400" b="1" kern="0" dirty="0">
              <a:latin typeface="Courier New" panose="02070309020205020404" pitchFamily="49" charset="0"/>
              <a:ea typeface="Arial Unicode MS" pitchFamily="34" charset="-128"/>
              <a:cs typeface="Courier New" panose="02070309020205020404" pitchFamily="49" charset="0"/>
            </a:endParaRPr>
          </a:p>
          <a:p>
            <a:r>
              <a:rPr lang="en-US" sz="2400" b="1" kern="0" dirty="0">
                <a:latin typeface="Courier New" panose="02070309020205020404" pitchFamily="49" charset="0"/>
                <a:ea typeface="Arial Unicode MS" pitchFamily="34" charset="-128"/>
                <a:cs typeface="Courier New" panose="02070309020205020404" pitchFamily="49" charset="0"/>
              </a:rPr>
              <a:t>…</a:t>
            </a:r>
          </a:p>
          <a:p>
            <a:r>
              <a:rPr lang="en-US" sz="2400" b="1" kern="0" dirty="0">
                <a:latin typeface="Courier New" panose="02070309020205020404" pitchFamily="49" charset="0"/>
                <a:ea typeface="Arial Unicode MS" pitchFamily="34" charset="-128"/>
                <a:cs typeface="Courier New" panose="02070309020205020404" pitchFamily="49" charset="0"/>
              </a:rPr>
              <a:t>Selector:          component=node-exporter</a:t>
            </a:r>
          </a:p>
          <a:p>
            <a:r>
              <a:rPr lang="en-US" sz="2400" b="1" kern="0" dirty="0">
                <a:latin typeface="Courier New" panose="02070309020205020404" pitchFamily="49" charset="0"/>
                <a:ea typeface="Arial Unicode MS" pitchFamily="34" charset="-128"/>
                <a:cs typeface="Courier New" panose="02070309020205020404" pitchFamily="49" charset="0"/>
              </a:rPr>
              <a:t>Type:              </a:t>
            </a:r>
            <a:r>
              <a:rPr lang="en-US" sz="2400" b="1" kern="0" dirty="0" err="1">
                <a:latin typeface="Courier New" panose="02070309020205020404" pitchFamily="49" charset="0"/>
                <a:ea typeface="Arial Unicode MS" pitchFamily="34" charset="-128"/>
                <a:cs typeface="Courier New" panose="02070309020205020404" pitchFamily="49" charset="0"/>
              </a:rPr>
              <a:t>ClusterIP</a:t>
            </a:r>
            <a:endParaRPr lang="en-US" sz="2400" b="1" kern="0" dirty="0">
              <a:latin typeface="Courier New" panose="02070309020205020404" pitchFamily="49" charset="0"/>
              <a:ea typeface="Arial Unicode MS" pitchFamily="34" charset="-128"/>
              <a:cs typeface="Courier New" panose="02070309020205020404" pitchFamily="49" charset="0"/>
            </a:endParaRPr>
          </a:p>
          <a:p>
            <a:r>
              <a:rPr lang="en-US" sz="2400" b="1" kern="0" dirty="0">
                <a:latin typeface="Courier New" panose="02070309020205020404" pitchFamily="49" charset="0"/>
                <a:ea typeface="Arial Unicode MS" pitchFamily="34" charset="-128"/>
                <a:cs typeface="Courier New" panose="02070309020205020404" pitchFamily="49" charset="0"/>
              </a:rPr>
              <a:t>IP:                None</a:t>
            </a:r>
          </a:p>
          <a:p>
            <a:r>
              <a:rPr lang="en-US" sz="2400" b="1" kern="0" dirty="0">
                <a:latin typeface="Courier New" panose="02070309020205020404" pitchFamily="49" charset="0"/>
                <a:ea typeface="Arial Unicode MS" pitchFamily="34" charset="-128"/>
                <a:cs typeface="Courier New" panose="02070309020205020404" pitchFamily="49" charset="0"/>
              </a:rPr>
              <a:t>Port:              metrics  9100/TCP</a:t>
            </a:r>
          </a:p>
          <a:p>
            <a:r>
              <a:rPr lang="en-US" sz="2400" b="1" kern="0" dirty="0" err="1">
                <a:latin typeface="Courier New" panose="02070309020205020404" pitchFamily="49" charset="0"/>
                <a:ea typeface="Arial Unicode MS" pitchFamily="34" charset="-128"/>
                <a:cs typeface="Courier New" panose="02070309020205020404" pitchFamily="49" charset="0"/>
              </a:rPr>
              <a:t>TargetPort</a:t>
            </a:r>
            <a:r>
              <a:rPr lang="en-US" sz="2400" b="1" kern="0" dirty="0">
                <a:latin typeface="Courier New" panose="02070309020205020404" pitchFamily="49" charset="0"/>
                <a:ea typeface="Arial Unicode MS" pitchFamily="34" charset="-128"/>
                <a:cs typeface="Courier New" panose="02070309020205020404" pitchFamily="49" charset="0"/>
              </a:rPr>
              <a:t>:        9100/TCP</a:t>
            </a:r>
          </a:p>
          <a:p>
            <a:r>
              <a:rPr lang="en-US" sz="2400" b="1" kern="0" dirty="0">
                <a:latin typeface="Courier New" panose="02070309020205020404" pitchFamily="49" charset="0"/>
                <a:ea typeface="Arial Unicode MS" pitchFamily="34" charset="-128"/>
                <a:cs typeface="Courier New" panose="02070309020205020404" pitchFamily="49" charset="0"/>
              </a:rPr>
              <a:t>Endpoints:            10.250.0.2:9100,10.250.0.3:9100,10.250.0.4:9100</a:t>
            </a:r>
          </a:p>
          <a:p>
            <a:r>
              <a:rPr lang="en-US" sz="2400" b="1" kern="0" dirty="0">
                <a:latin typeface="Courier New" panose="02070309020205020404" pitchFamily="49" charset="0"/>
                <a:ea typeface="Arial Unicode MS" pitchFamily="34" charset="-128"/>
                <a:cs typeface="Courier New" panose="02070309020205020404" pitchFamily="49" charset="0"/>
              </a:rPr>
              <a:t>Session Affinity:  None</a:t>
            </a:r>
          </a:p>
          <a:p>
            <a:r>
              <a:rPr lang="en-US" sz="2400" b="1" kern="0" dirty="0">
                <a:latin typeface="Courier New" panose="02070309020205020404" pitchFamily="49" charset="0"/>
                <a:ea typeface="Arial Unicode MS" pitchFamily="34" charset="-128"/>
                <a:cs typeface="Courier New" panose="02070309020205020404" pitchFamily="49" charset="0"/>
              </a:rPr>
              <a:t>Events:            &lt;none&gt;</a:t>
            </a:r>
          </a:p>
        </p:txBody>
      </p:sp>
      <p:sp>
        <p:nvSpPr>
          <p:cNvPr id="5" name="Speech Bubble: Rectangle 4">
            <a:extLst>
              <a:ext uri="{FF2B5EF4-FFF2-40B4-BE49-F238E27FC236}">
                <a16:creationId xmlns:a16="http://schemas.microsoft.com/office/drawing/2014/main" id="{39365804-9B3C-4E0D-AC45-AF4553A32332}"/>
              </a:ext>
            </a:extLst>
          </p:cNvPr>
          <p:cNvSpPr/>
          <p:nvPr/>
        </p:nvSpPr>
        <p:spPr bwMode="gray">
          <a:xfrm>
            <a:off x="9023050" y="1838837"/>
            <a:ext cx="2667427" cy="677425"/>
          </a:xfrm>
          <a:prstGeom prst="wedgeRectCallout">
            <a:avLst>
              <a:gd name="adj1" fmla="val -73263"/>
              <a:gd name="adj2" fmla="val 64322"/>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Correct labels?</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6" name="Speech Bubble: Rectangle 5">
            <a:extLst>
              <a:ext uri="{FF2B5EF4-FFF2-40B4-BE49-F238E27FC236}">
                <a16:creationId xmlns:a16="http://schemas.microsoft.com/office/drawing/2014/main" id="{B6BA9F4F-D22A-42EF-9C65-EBE3C7731785}"/>
              </a:ext>
            </a:extLst>
          </p:cNvPr>
          <p:cNvSpPr/>
          <p:nvPr/>
        </p:nvSpPr>
        <p:spPr bwMode="gray">
          <a:xfrm>
            <a:off x="9023049" y="3268612"/>
            <a:ext cx="2667427" cy="677425"/>
          </a:xfrm>
          <a:prstGeom prst="wedgeRectCallout">
            <a:avLst>
              <a:gd name="adj1" fmla="val -73263"/>
              <a:gd name="adj2" fmla="val 64322"/>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Correct target port of pods? </a:t>
            </a:r>
          </a:p>
        </p:txBody>
      </p:sp>
      <p:sp>
        <p:nvSpPr>
          <p:cNvPr id="7" name="Speech Bubble: Rectangle 6">
            <a:extLst>
              <a:ext uri="{FF2B5EF4-FFF2-40B4-BE49-F238E27FC236}">
                <a16:creationId xmlns:a16="http://schemas.microsoft.com/office/drawing/2014/main" id="{A18D8DEB-83CF-4D76-BC6D-2B1E52C31FBC}"/>
              </a:ext>
            </a:extLst>
          </p:cNvPr>
          <p:cNvSpPr/>
          <p:nvPr/>
        </p:nvSpPr>
        <p:spPr bwMode="gray">
          <a:xfrm>
            <a:off x="9023049" y="5229520"/>
            <a:ext cx="2667427" cy="677425"/>
          </a:xfrm>
          <a:prstGeom prst="wedgeRectCallout">
            <a:avLst>
              <a:gd name="adj1" fmla="val -75990"/>
              <a:gd name="adj2" fmla="val -55321"/>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Are any pods available?</a:t>
            </a:r>
          </a:p>
        </p:txBody>
      </p:sp>
    </p:spTree>
    <p:extLst>
      <p:ext uri="{BB962C8B-B14F-4D97-AF65-F5344CB8AC3E}">
        <p14:creationId xmlns:p14="http://schemas.microsoft.com/office/powerpoint/2010/main" val="19792879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Demo</a:t>
            </a:r>
          </a:p>
        </p:txBody>
      </p:sp>
      <p:pic>
        <p:nvPicPr>
          <p:cNvPr id="5" name="Picture 4">
            <a:extLst>
              <a:ext uri="{FF2B5EF4-FFF2-40B4-BE49-F238E27FC236}">
                <a16:creationId xmlns:a16="http://schemas.microsoft.com/office/drawing/2014/main" id="{3327DF72-1C72-47A2-BCB2-5F8600E1482D}"/>
              </a:ext>
            </a:extLst>
          </p:cNvPr>
          <p:cNvPicPr>
            <a:picLocks noChangeAspect="1"/>
          </p:cNvPicPr>
          <p:nvPr/>
        </p:nvPicPr>
        <p:blipFill>
          <a:blip r:embed="rId3"/>
          <a:stretch>
            <a:fillRect/>
          </a:stretch>
        </p:blipFill>
        <p:spPr>
          <a:xfrm>
            <a:off x="3645157" y="976918"/>
            <a:ext cx="4904163" cy="4904163"/>
          </a:xfrm>
          <a:prstGeom prst="rect">
            <a:avLst/>
          </a:prstGeom>
        </p:spPr>
      </p:pic>
    </p:spTree>
    <p:extLst>
      <p:ext uri="{BB962C8B-B14F-4D97-AF65-F5344CB8AC3E}">
        <p14:creationId xmlns:p14="http://schemas.microsoft.com/office/powerpoint/2010/main" val="1570119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cSld>
  <p:clrMapOvr>
    <a:masterClrMapping/>
  </p:clrMapOvr>
  <p:transition spd="med"/>
</p:sld>
</file>

<file path=ppt/theme/theme1.xml><?xml version="1.0" encoding="utf-8"?>
<a:theme xmlns:a="http://schemas.openxmlformats.org/drawingml/2006/main" name="SAP_2017_16x9_black">
  <a:themeElements>
    <a:clrScheme name="SAP_colors_2017">
      <a:dk1>
        <a:srgbClr val="000000"/>
      </a:dk1>
      <a:lt1>
        <a:srgbClr val="FFFFFF"/>
      </a:lt1>
      <a:dk2>
        <a:srgbClr val="CCCCCC"/>
      </a:dk2>
      <a:lt2>
        <a:srgbClr val="999999"/>
      </a:lt2>
      <a:accent1>
        <a:srgbClr val="F0AB00"/>
      </a:accent1>
      <a:accent2>
        <a:srgbClr val="666666"/>
      </a:accent2>
      <a:accent3>
        <a:srgbClr val="008FD3"/>
      </a:accent3>
      <a:accent4>
        <a:srgbClr val="4FB81C"/>
      </a:accent4>
      <a:accent5>
        <a:srgbClr val="E35500"/>
      </a:accent5>
      <a:accent6>
        <a:srgbClr val="970A82"/>
      </a:accent6>
      <a:hlink>
        <a:srgbClr val="008FD3"/>
      </a:hlink>
      <a:folHlink>
        <a:srgbClr val="008FD3"/>
      </a:folHlink>
    </a:clrScheme>
    <a:fontScheme name="SAP Fonts">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6350" algn="ctr">
          <a:no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1800" b="0" i="0" u="none" strike="noStrike" kern="0" cap="none" spc="0" normalizeH="0" baseline="0" noProof="0" dirty="0" err="1" smtClean="0">
            <a:ln>
              <a:noFill/>
            </a:ln>
            <a:effectLst/>
            <a:uLnTx/>
            <a:uFillTx/>
            <a:ea typeface="Arial Unicode MS" pitchFamily="34" charset="-128"/>
            <a:cs typeface="Arial Unicode MS" pitchFamily="34" charset="-128"/>
          </a:defRPr>
        </a:defPPr>
      </a:lstStyle>
    </a:spDef>
    <a:lnDef>
      <a:spPr>
        <a:ln w="9525">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fontAlgn="base">
          <a:spcBef>
            <a:spcPct val="50000"/>
          </a:spcBef>
          <a:spcAft>
            <a:spcPct val="0"/>
          </a:spcAft>
          <a:buClr>
            <a:srgbClr val="F0AB00"/>
          </a:buClr>
          <a:buSzPct val="80000"/>
          <a:defRPr sz="1800" kern="0" dirty="0" err="1" smtClean="0">
            <a:ea typeface="Arial Unicode MS" pitchFamily="34" charset="-128"/>
            <a:cs typeface="Arial Unicode MS" pitchFamily="34" charset="-128"/>
          </a:defRPr>
        </a:defPPr>
      </a:lstStyle>
    </a:txDef>
  </a:objectDefaults>
  <a:extraClrSchemeLst/>
  <a:extLst>
    <a:ext uri="{05A4C25C-085E-4340-85A3-A5531E510DB2}">
      <thm15:themeFamily xmlns:thm15="http://schemas.microsoft.com/office/thememl/2012/main" name="SAP_2017_16x9_black.potx" id="{9488014F-4BF2-4B73-9741-6D40B78C18AF}" vid="{315AB80D-2AE3-4555-B7D1-B9C512524916}"/>
    </a:ext>
  </a:extLst>
</a:theme>
</file>

<file path=ppt/theme/theme2.xml><?xml version="1.0" encoding="utf-8"?>
<a:theme xmlns:a="http://schemas.openxmlformats.org/drawingml/2006/main" name="Office Theme">
  <a:themeElements>
    <a:clrScheme name="SAP_Colors2011_1.1">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SAP_Colors2011">
      <a:dk1>
        <a:srgbClr val="000000"/>
      </a:dk1>
      <a:lt1>
        <a:srgbClr val="FFFFFF"/>
      </a:lt1>
      <a:dk2>
        <a:srgbClr val="00AFE3"/>
      </a:dk2>
      <a:lt2>
        <a:srgbClr val="CCCCCC"/>
      </a:lt2>
      <a:accent1>
        <a:srgbClr val="FDB913"/>
      </a:accent1>
      <a:accent2>
        <a:srgbClr val="626366"/>
      </a:accent2>
      <a:accent3>
        <a:srgbClr val="0082C9"/>
      </a:accent3>
      <a:accent4>
        <a:srgbClr val="4BBE44"/>
      </a:accent4>
      <a:accent5>
        <a:srgbClr val="B1D249"/>
      </a:accent5>
      <a:accent6>
        <a:srgbClr val="80298F"/>
      </a:accent6>
      <a:hlink>
        <a:srgbClr val="04357B"/>
      </a:hlink>
      <a:folHlink>
        <a:srgbClr val="999999"/>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1167</Words>
  <Application>Microsoft Office PowerPoint</Application>
  <PresentationFormat>Custom</PresentationFormat>
  <Paragraphs>118</Paragraphs>
  <Slides>11</Slides>
  <Notes>11</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bebas_neuebold</vt:lpstr>
      <vt:lpstr>Courier New</vt:lpstr>
      <vt:lpstr>Symbol</vt:lpstr>
      <vt:lpstr>Wingdings</vt:lpstr>
      <vt:lpstr>Wingdings</vt:lpstr>
      <vt:lpstr>SAP_2017_16x9_black</vt:lpstr>
      <vt:lpstr>PowerPoint Presentation</vt:lpstr>
      <vt:lpstr>PowerPoint Presentation</vt:lpstr>
      <vt:lpstr>What kind of errors did you face, so far?</vt:lpstr>
      <vt:lpstr>PowerPoint Presentation</vt:lpstr>
      <vt:lpstr>Pod failure - where to look for information</vt:lpstr>
      <vt:lpstr>Pod failure - where to look for information</vt:lpstr>
      <vt:lpstr>Demo</vt:lpstr>
      <vt:lpstr>Pod failure - where to look for information</vt:lpstr>
      <vt:lpstr>Issues with services</vt:lpstr>
      <vt:lpstr>Demo</vt:lpstr>
      <vt:lpstr>PowerPoint Presentation</vt:lpstr>
    </vt:vector>
  </TitlesOfParts>
  <Company>SAP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SAP PPT Template</dc:title>
  <dc:creator>SAP SE</dc:creator>
  <cp:keywords>2017/16:9/black</cp:keywords>
  <cp:lastModifiedBy>Buchner, Thomas</cp:lastModifiedBy>
  <cp:revision>611</cp:revision>
  <dcterms:created xsi:type="dcterms:W3CDTF">2015-10-14T11:21:43Z</dcterms:created>
  <dcterms:modified xsi:type="dcterms:W3CDTF">2021-04-23T08:47:56Z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1101452479</vt:i4>
  </property>
  <property fmtid="{D5CDD505-2E9C-101B-9397-08002B2CF9AE}" pid="3" name="_NewReviewCycle">
    <vt:lpwstr/>
  </property>
  <property fmtid="{D5CDD505-2E9C-101B-9397-08002B2CF9AE}" pid="4" name="_EmailSubject">
    <vt:lpwstr>SAP - PPT Exploration (Updated)</vt:lpwstr>
  </property>
  <property fmtid="{D5CDD505-2E9C-101B-9397-08002B2CF9AE}" pid="5" name="_AuthorEmail">
    <vt:lpwstr>heidi.bitz@sap.com</vt:lpwstr>
  </property>
  <property fmtid="{D5CDD505-2E9C-101B-9397-08002B2CF9AE}" pid="6" name="_AuthorEmailDisplayName">
    <vt:lpwstr>Bitz, Heidi</vt:lpwstr>
  </property>
  <property fmtid="{D5CDD505-2E9C-101B-9397-08002B2CF9AE}" pid="7" name="_PreviousAdHocReviewCycleID">
    <vt:i4>1357826825</vt:i4>
  </property>
</Properties>
</file>