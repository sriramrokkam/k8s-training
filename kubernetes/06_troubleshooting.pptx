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14"/>
  </p:notesMasterIdLst>
  <p:handoutMasterIdLst>
    <p:handoutMasterId r:id="rId15"/>
  </p:handoutMasterIdLst>
  <p:sldIdLst>
    <p:sldId id="433" r:id="rId2"/>
    <p:sldId id="448" r:id="rId3"/>
    <p:sldId id="454" r:id="rId4"/>
    <p:sldId id="453" r:id="rId5"/>
    <p:sldId id="455" r:id="rId6"/>
    <p:sldId id="457" r:id="rId7"/>
    <p:sldId id="461" r:id="rId8"/>
    <p:sldId id="459" r:id="rId9"/>
    <p:sldId id="458" r:id="rId10"/>
    <p:sldId id="456" r:id="rId11"/>
    <p:sldId id="460" r:id="rId12"/>
    <p:sldId id="265" r:id="rId13"/>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52757" autoAdjust="0"/>
  </p:normalViewPr>
  <p:slideViewPr>
    <p:cSldViewPr snapToGrid="0" showGuides="1">
      <p:cViewPr varScale="1">
        <p:scale>
          <a:sx n="58" d="100"/>
          <a:sy n="58" d="100"/>
        </p:scale>
        <p:origin x="1782" y="39"/>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200" d="100"/>
        <a:sy n="200" d="100"/>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Pretty much as with software operations, in the game exploding kittens, you want to be the last one standing despite all the obstacles thrown into your way. This slide deck is about troubleshooting pods and services.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3634104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this interactive and ask participants first!</a:t>
            </a:r>
          </a:p>
          <a:p>
            <a:endParaRPr lang="en-US" dirty="0"/>
          </a:p>
          <a:p>
            <a:r>
              <a:rPr lang="en-US" dirty="0"/>
              <a:t>There are lots of different errors and way more reasons for a pod to terminate.</a:t>
            </a:r>
          </a:p>
          <a:p>
            <a:r>
              <a:rPr lang="en-US" dirty="0" err="1"/>
              <a:t>CrashLoopBackOff</a:t>
            </a:r>
            <a:r>
              <a:rPr lang="en-US" dirty="0"/>
              <a:t>: container has been started multiple times and almost immediately exited with exit-code != 0. K8s will stop trying now.</a:t>
            </a:r>
          </a:p>
          <a:p>
            <a:r>
              <a:rPr lang="en-US" dirty="0" err="1"/>
              <a:t>ErrImagePull</a:t>
            </a:r>
            <a:r>
              <a:rPr lang="en-US" dirty="0"/>
              <a:t>: failed to pull docker image from specified registry/repo</a:t>
            </a:r>
          </a:p>
          <a:p>
            <a:r>
              <a:rPr lang="en-US" dirty="0" err="1"/>
              <a:t>ImagePullBackOff</a:t>
            </a:r>
            <a:r>
              <a:rPr lang="en-US" dirty="0"/>
              <a:t>: many </a:t>
            </a:r>
            <a:r>
              <a:rPr lang="en-US" dirty="0" err="1"/>
              <a:t>ErrImagePull</a:t>
            </a:r>
            <a:r>
              <a:rPr lang="en-US" dirty="0"/>
              <a:t> =&gt; K8s will stop trying now</a:t>
            </a:r>
          </a:p>
          <a:p>
            <a:r>
              <a:rPr lang="en-US" dirty="0"/>
              <a:t>Pending: pod not yet created (and no resources to do so)</a:t>
            </a:r>
          </a:p>
          <a:p>
            <a:r>
              <a:rPr lang="en-US" dirty="0" err="1"/>
              <a:t>ContainerCreating</a:t>
            </a:r>
            <a:r>
              <a:rPr lang="en-US" dirty="0"/>
              <a:t>: trying to create the container, but something is not yet available (like a mount point/volume)</a:t>
            </a:r>
          </a:p>
          <a:p>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6681506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face an error there are a few thing you can always check. Debugging relevant information is stored in the logs of a pod but also hidden in the events associated with the resource your currently looking at.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1873132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case something does not work as expected:</a:t>
            </a:r>
          </a:p>
          <a:p>
            <a:pPr marL="342900" indent="-342900">
              <a:buAutoNum type="arabicParenR"/>
            </a:pPr>
            <a:r>
              <a:rPr lang="en-US" dirty="0"/>
              <a:t>Check, if the resource is available (</a:t>
            </a:r>
            <a:r>
              <a:rPr lang="en-US" dirty="0" err="1"/>
              <a:t>kubectl</a:t>
            </a:r>
            <a:r>
              <a:rPr lang="en-US" dirty="0"/>
              <a:t> get pod)</a:t>
            </a:r>
          </a:p>
          <a:p>
            <a:pPr marL="342900" indent="-342900">
              <a:buAutoNum type="arabicParenR"/>
            </a:pPr>
            <a:r>
              <a:rPr lang="en-US" dirty="0"/>
              <a:t>Check, if the status indicates an error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240961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case something does not work as expected:</a:t>
            </a:r>
          </a:p>
          <a:p>
            <a:pPr marL="342900" indent="-342900">
              <a:buAutoNum type="arabicParenR"/>
            </a:pPr>
            <a:r>
              <a:rPr lang="en-US" dirty="0"/>
              <a:t>In case the pod was started, the might be logs -&gt; use “</a:t>
            </a:r>
            <a:r>
              <a:rPr lang="en-US" dirty="0" err="1"/>
              <a:t>kubectl</a:t>
            </a:r>
            <a:r>
              <a:rPr lang="en-US" dirty="0"/>
              <a:t> get logs &lt;pod name&gt;” to look into it or add the –previous flag to access older logs</a:t>
            </a:r>
          </a:p>
          <a:p>
            <a:pPr marL="342900" indent="-342900">
              <a:buAutoNum type="arabicParenR"/>
            </a:pPr>
            <a:r>
              <a:rPr lang="en-US" dirty="0"/>
              <a:t>If the error is with the application and not the container, exec into the container an look around</a:t>
            </a:r>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983037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vehicles may help if a Pod must be debugged that contains containers with no shell (like </a:t>
            </a:r>
            <a:r>
              <a:rPr lang="en-US" dirty="0" err="1"/>
              <a:t>distroless</a:t>
            </a:r>
            <a:r>
              <a:rPr lang="en-US" dirty="0"/>
              <a:t> images) or other debugging tools (such as </a:t>
            </a:r>
            <a:r>
              <a:rPr lang="en-US" dirty="0" err="1"/>
              <a:t>nslookup</a:t>
            </a:r>
            <a:r>
              <a:rPr lang="en-US" dirty="0"/>
              <a:t>, ping </a:t>
            </a:r>
            <a:r>
              <a:rPr lang="en-US"/>
              <a:t>or debuggers)</a:t>
            </a:r>
            <a:endParaRPr lang="en-US" dirty="0"/>
          </a:p>
          <a:p>
            <a:endParaRPr lang="en-US" dirty="0"/>
          </a:p>
          <a:p>
            <a:r>
              <a:rPr lang="en-US" dirty="0"/>
              <a:t>Ephemeral Containers</a:t>
            </a:r>
          </a:p>
          <a:p>
            <a:pPr marL="285750" indent="-285750">
              <a:buFontTx/>
              <a:buChar char="-"/>
            </a:pPr>
            <a:r>
              <a:rPr lang="en-US" dirty="0"/>
              <a:t>Allow you to add a container to a running Pod and connect to it</a:t>
            </a:r>
          </a:p>
          <a:p>
            <a:pPr marL="285750" indent="-285750">
              <a:buFontTx/>
              <a:buChar char="-"/>
            </a:pPr>
            <a:r>
              <a:rPr lang="en-US" dirty="0"/>
              <a:t>Enables to debug the Pod, e.g. connectivity</a:t>
            </a:r>
          </a:p>
          <a:p>
            <a:pPr marL="285750" indent="-285750">
              <a:buFontTx/>
              <a:buChar char="-"/>
            </a:pPr>
            <a:r>
              <a:rPr lang="en-US" dirty="0"/>
              <a:t>Can share the process namespace of another container in the Pod so you can even attach a debugger to a running process</a:t>
            </a:r>
          </a:p>
          <a:p>
            <a:pPr marL="285750" indent="-285750">
              <a:buFontTx/>
              <a:buChar char="-"/>
            </a:pPr>
            <a:r>
              <a:rPr lang="en-US" dirty="0"/>
              <a:t>Cannot see the filesystem of other containers in the Pod</a:t>
            </a:r>
          </a:p>
          <a:p>
            <a:pPr marL="285750" indent="-285750">
              <a:buFontTx/>
              <a:buChar char="-"/>
            </a:pPr>
            <a:endParaRPr lang="en-US" dirty="0"/>
          </a:p>
          <a:p>
            <a:pPr marL="0" indent="0">
              <a:buFontTx/>
              <a:buNone/>
            </a:pPr>
            <a:r>
              <a:rPr lang="en-US" dirty="0"/>
              <a:t>Copying of Pods for debugging</a:t>
            </a:r>
          </a:p>
          <a:p>
            <a:pPr marL="285750" indent="-285750">
              <a:buFontTx/>
              <a:buChar char="-"/>
            </a:pPr>
            <a:r>
              <a:rPr lang="en-US" dirty="0"/>
              <a:t>Creates a duplicate of an existing Pod</a:t>
            </a:r>
          </a:p>
          <a:p>
            <a:pPr marL="285750" indent="-285750">
              <a:buFontTx/>
              <a:buChar char="-"/>
            </a:pPr>
            <a:r>
              <a:rPr lang="en-US" dirty="0"/>
              <a:t>Adds a debugging container to it which can share the process namespace with the other container in the Pod</a:t>
            </a:r>
          </a:p>
          <a:p>
            <a:pPr marL="285750" indent="-285750">
              <a:buFontTx/>
              <a:buChar char="-"/>
            </a:pPr>
            <a:endParaRPr lang="en-US" dirty="0"/>
          </a:p>
          <a:p>
            <a:pPr marL="0" indent="0">
              <a:buFontTx/>
              <a:buNone/>
            </a:pPr>
            <a:r>
              <a:rPr lang="en-US" dirty="0"/>
              <a:t>https://kubernetes.io/docs/tasks/debug-application-cluster/debug-running-pod/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1242961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Use the </a:t>
            </a:r>
            <a:r>
              <a:rPr lang="en-US" baseline="0" dirty="0" err="1"/>
              <a:t>crashloop</a:t>
            </a:r>
            <a:r>
              <a:rPr lang="en-US" baseline="0" dirty="0"/>
              <a:t> and </a:t>
            </a:r>
            <a:r>
              <a:rPr lang="en-US" baseline="0" dirty="0" err="1"/>
              <a:t>app_failure</a:t>
            </a:r>
            <a:r>
              <a:rPr lang="en-US" baseline="0" dirty="0"/>
              <a:t> demos </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err="1"/>
              <a:t>Crashloop</a:t>
            </a:r>
            <a:r>
              <a:rPr lang="en-US" baseline="0" dirty="0"/>
              <a:t>:</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a:t>
            </a:r>
            <a:r>
              <a:rPr lang="en-US" baseline="0" dirty="0" err="1"/>
              <a:t>yaml</a:t>
            </a:r>
            <a:r>
              <a:rPr lang="en-US" baseline="0" dirty="0"/>
              <a:t> file</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Run the pod and show the restart counter &amp; error message with </a:t>
            </a:r>
            <a:r>
              <a:rPr lang="en-US" baseline="0" dirty="0" err="1"/>
              <a:t>kubectl</a:t>
            </a:r>
            <a:r>
              <a:rPr lang="en-US" baseline="0" dirty="0"/>
              <a:t> get pods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logs of the pod </a:t>
            </a:r>
            <a:r>
              <a:rPr lang="en-US" baseline="0" dirty="0">
                <a:sym typeface="Wingdings" panose="05000000000000000000" pitchFamily="2" charset="2"/>
              </a:rPr>
              <a:t> expected output: /bin/</a:t>
            </a:r>
            <a:r>
              <a:rPr lang="en-US" baseline="0" dirty="0" err="1">
                <a:sym typeface="Wingdings" panose="05000000000000000000" pitchFamily="2" charset="2"/>
              </a:rPr>
              <a:t>sh</a:t>
            </a:r>
            <a:r>
              <a:rPr lang="en-US" baseline="0" dirty="0">
                <a:sym typeface="Wingdings" panose="05000000000000000000" pitchFamily="2" charset="2"/>
              </a:rPr>
              <a:t>: no-such-</a:t>
            </a:r>
            <a:r>
              <a:rPr lang="en-US" baseline="0" dirty="0" err="1">
                <a:sym typeface="Wingdings" panose="05000000000000000000" pitchFamily="2" charset="2"/>
              </a:rPr>
              <a:t>cmd</a:t>
            </a:r>
            <a:r>
              <a:rPr lang="en-US" baseline="0" dirty="0">
                <a:sym typeface="Wingdings" panose="05000000000000000000" pitchFamily="2" charset="2"/>
              </a:rPr>
              <a:t>: not found</a:t>
            </a: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App failure:</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a:t>
            </a:r>
            <a:r>
              <a:rPr lang="en-US" baseline="0" dirty="0" err="1"/>
              <a:t>yaml</a:t>
            </a:r>
            <a:r>
              <a:rPr lang="en-US" baseline="0" dirty="0"/>
              <a:t> file</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Start the pod and show it is running</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Use port forward to get to the index.html page (</a:t>
            </a:r>
            <a:r>
              <a:rPr lang="en-US" baseline="0" dirty="0" err="1"/>
              <a:t>kubectl</a:t>
            </a:r>
            <a:r>
              <a:rPr lang="en-US" baseline="0" dirty="0"/>
              <a:t> port-forward app-failure 8080:80)</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error message with </a:t>
            </a:r>
            <a:r>
              <a:rPr lang="en-US" baseline="0" dirty="0" err="1"/>
              <a:t>kubectl</a:t>
            </a:r>
            <a:r>
              <a:rPr lang="en-US" baseline="0" dirty="0"/>
              <a:t> logs … &amp; exec into the pod. Show the directory without the index.html file</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Explanation: upon start with a default configuration </a:t>
            </a:r>
            <a:r>
              <a:rPr lang="en-US" baseline="0" dirty="0" err="1"/>
              <a:t>nginx</a:t>
            </a:r>
            <a:r>
              <a:rPr lang="en-US" baseline="0" dirty="0"/>
              <a:t> looks at a /</a:t>
            </a:r>
            <a:r>
              <a:rPr lang="en-US" baseline="0" dirty="0" err="1"/>
              <a:t>usr</a:t>
            </a:r>
            <a:r>
              <a:rPr lang="en-US" baseline="0" dirty="0"/>
              <a:t>/share/</a:t>
            </a:r>
            <a:r>
              <a:rPr lang="en-US" baseline="0" dirty="0" err="1"/>
              <a:t>nginx</a:t>
            </a:r>
            <a:r>
              <a:rPr lang="en-US" baseline="0" dirty="0"/>
              <a:t>/html for an index.html file. If this file is not found, </a:t>
            </a:r>
            <a:r>
              <a:rPr lang="en-US" baseline="0" dirty="0" err="1"/>
              <a:t>nginx</a:t>
            </a:r>
            <a:r>
              <a:rPr lang="en-US" baseline="0" dirty="0"/>
              <a:t> attempts a “list directory” action, which is also </a:t>
            </a:r>
            <a:r>
              <a:rPr lang="en-US" b="1" baseline="0" dirty="0"/>
              <a:t>forbidden </a:t>
            </a:r>
            <a:r>
              <a:rPr lang="en-US" b="0" baseline="0" dirty="0"/>
              <a:t>in the default configuration.</a:t>
            </a:r>
            <a:endParaRPr lang="en-US" b="1" baseline="0" dirty="0"/>
          </a:p>
          <a:p>
            <a:pPr marL="0" marR="0" lvl="0" indent="0" algn="l" defTabSz="1088776"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baseline="0" dirty="0"/>
              <a:t>These 2 strategies can be used for application debugging. Usually issues are not connected to the cluster itself.</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32770233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case something does not work as expected:</a:t>
            </a:r>
          </a:p>
          <a:p>
            <a:pPr marL="342900" indent="-342900">
              <a:buAutoNum type="arabicParenR"/>
            </a:pPr>
            <a:r>
              <a:rPr lang="en-US" dirty="0"/>
              <a:t>In case the pod was not started, use “</a:t>
            </a:r>
            <a:r>
              <a:rPr lang="en-US" dirty="0" err="1"/>
              <a:t>kubectl</a:t>
            </a:r>
            <a:r>
              <a:rPr lang="en-US" dirty="0"/>
              <a:t> describe pod &lt;name&gt;” to look at events. They usually contain a hint about what went wrong</a:t>
            </a:r>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6668654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various reasons why a service may not be working properly. </a:t>
            </a:r>
            <a:r>
              <a:rPr lang="en-US" dirty="0" err="1"/>
              <a:t>Kube-dns</a:t>
            </a:r>
            <a:r>
              <a:rPr lang="en-US" dirty="0"/>
              <a:t> &amp; </a:t>
            </a:r>
            <a:r>
              <a:rPr lang="en-US" dirty="0" err="1"/>
              <a:t>kube</a:t>
            </a:r>
            <a:r>
              <a:rPr lang="en-US" dirty="0"/>
              <a:t>-proxy might have issues but most likely the issues during a training are user-specific.</a:t>
            </a:r>
          </a:p>
          <a:p>
            <a:r>
              <a:rPr lang="en-US" dirty="0"/>
              <a:t>So here are a few ideas how to debug a service based on the “describe command”</a:t>
            </a:r>
          </a:p>
          <a:p>
            <a:endParaRPr lang="en-US" dirty="0"/>
          </a:p>
          <a:p>
            <a:pPr marL="342900" indent="-342900">
              <a:buAutoNum type="arabicParenR"/>
            </a:pPr>
            <a:r>
              <a:rPr lang="en-US" dirty="0"/>
              <a:t>Are you using the correct set of labels (</a:t>
            </a:r>
            <a:r>
              <a:rPr lang="en-US" dirty="0" err="1"/>
              <a:t>key:value</a:t>
            </a:r>
            <a:r>
              <a:rPr lang="en-US" dirty="0"/>
              <a:t> pairs) to select pods that should be managed by the service?</a:t>
            </a:r>
          </a:p>
          <a:p>
            <a:pPr marL="180000" lvl="1" indent="0">
              <a:buNone/>
            </a:pPr>
            <a:r>
              <a:rPr lang="en-US" dirty="0"/>
              <a:t>    Test with “</a:t>
            </a:r>
            <a:r>
              <a:rPr lang="en-US" dirty="0" err="1"/>
              <a:t>kubectl</a:t>
            </a:r>
            <a:r>
              <a:rPr lang="en-US" dirty="0"/>
              <a:t> get pods –l &lt;key&gt;=&lt;value&gt;” as described in the selector of the service.</a:t>
            </a:r>
          </a:p>
          <a:p>
            <a:pPr marL="342900" indent="-342900">
              <a:buAutoNum type="arabicParenR"/>
            </a:pPr>
            <a:r>
              <a:rPr lang="en-US" dirty="0"/>
              <a:t>Are you targeting the correct port? The target port is the port specified in the pod spec.</a:t>
            </a:r>
          </a:p>
          <a:p>
            <a:pPr marL="342900" indent="-342900">
              <a:buAutoNum type="arabicParenR"/>
            </a:pPr>
            <a:r>
              <a:rPr lang="en-US" dirty="0"/>
              <a:t>Are there any pods available? The “Endpoints” part of the description lists all the IP addresses of the pods identified by the label. Run the query with from step 1 with “-o wide” and check for the IP addresses. If there are no endpoints listed, either the label/selector part is wrong or there are simply no pods (e.g. because someone deleted the deployment)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12107003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marR="0" lvl="0" indent="-28575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This demo is about services and how they relate to endpoints.</a:t>
            </a:r>
          </a:p>
          <a:p>
            <a:pPr marL="285750" marR="0" lvl="0" indent="-28575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endParaRPr lang="en-US" baseline="0" dirty="0"/>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Start by deploying 06c_service_issues.yaml</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sym typeface="Wingdings" panose="05000000000000000000" pitchFamily="2" charset="2"/>
              </a:rPr>
              <a:t>Get the public IP of the service and open it in a browser</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sym typeface="Wingdings" panose="05000000000000000000" pitchFamily="2" charset="2"/>
              </a:rPr>
              <a:t>The answer should be something like “this site can’t be reached”</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Show the service with describe </a:t>
            </a:r>
            <a:r>
              <a:rPr lang="en-US" baseline="0" dirty="0">
                <a:sym typeface="Wingdings" panose="05000000000000000000" pitchFamily="2" charset="2"/>
              </a:rPr>
              <a:t> highlight the empty “endpoints” list</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Scale the deployment up to 3 and reload the page to display the welcome text</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Again, describe the service and show the endpoints list</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Next, run the selection query of the service manually: </a:t>
            </a:r>
            <a:r>
              <a:rPr lang="en-US" baseline="0" dirty="0" err="1"/>
              <a:t>kubectl</a:t>
            </a:r>
            <a:r>
              <a:rPr lang="en-US" baseline="0" dirty="0"/>
              <a:t> get pods -l tier=web-frontend -o wide</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The IP addresses of the pods and the service endpoints should match</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endParaRPr lang="en-US" baseline="0" dirty="0"/>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1" baseline="0" dirty="0"/>
              <a:t>10 most common reasons why k8s deployments fail</a:t>
            </a:r>
          </a:p>
          <a:p>
            <a:pPr marL="522900" marR="0" lvl="1"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dirty="0"/>
              <a:t>https://kukulinski.com/10-most-common-reasons-kubernetes-deployments-fail-part-1/</a:t>
            </a:r>
          </a:p>
          <a:p>
            <a:pPr marL="522900" marR="0" lvl="1"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r>
              <a:rPr lang="en-US" baseline="0"/>
              <a:t>https://kukulinski.com/10-most-common-reasons-kubernetes-deployments-fail-part-2/</a:t>
            </a:r>
          </a:p>
          <a:p>
            <a:pPr marL="342900" marR="0" lvl="0" indent="-342900" algn="l" defTabSz="1088776" rtl="0" eaLnBrk="1" fontAlgn="auto" latinLnBrk="0" hangingPunct="1">
              <a:lnSpc>
                <a:spcPct val="100000"/>
              </a:lnSpc>
              <a:spcBef>
                <a:spcPts val="0"/>
              </a:spcBef>
              <a:spcAft>
                <a:spcPts val="0"/>
              </a:spcAft>
              <a:buClrTx/>
              <a:buSzTx/>
              <a:buFont typeface="Symbol" panose="05050102010706020507" pitchFamily="18" charset="2"/>
              <a:buChar char="-"/>
              <a:tabLst/>
              <a:defRPr/>
            </a:pPr>
            <a:endParaRPr lang="en-US" baseline="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8532547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12</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 Id="rId4" Type="http://schemas.openxmlformats.org/officeDocument/2006/relationships/hyperlink" Target="https://explodingkittens.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hyperlink" Target="https://explodingkittens.com/"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hyperlink" Target="https://kubernetes.io/docs/tasks/debug-application-cluster/debug-service/"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Troubleshooting</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3"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7BE114E3-7B32-4D16-B735-5A18C44B9E67}"/>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xploding Kittens Card Samples">
            <a:extLst>
              <a:ext uri="{FF2B5EF4-FFF2-40B4-BE49-F238E27FC236}">
                <a16:creationId xmlns:a16="http://schemas.microsoft.com/office/drawing/2014/main" id="{41E36E21-2989-468D-866D-CC6F8A7B7F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9194" y="1620186"/>
            <a:ext cx="6796090" cy="3783157"/>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C9003B2F-0C3E-44F2-A72D-BC2F99AFBD8A}"/>
              </a:ext>
            </a:extLst>
          </p:cNvPr>
          <p:cNvSpPr/>
          <p:nvPr/>
        </p:nvSpPr>
        <p:spPr>
          <a:xfrm>
            <a:off x="4270457" y="5403343"/>
            <a:ext cx="3653564" cy="415498"/>
          </a:xfrm>
          <a:prstGeom prst="rect">
            <a:avLst/>
          </a:prstGeom>
        </p:spPr>
        <p:txBody>
          <a:bodyPr wrap="none">
            <a:spAutoFit/>
          </a:bodyPr>
          <a:lstStyle/>
          <a:p>
            <a:r>
              <a:rPr lang="en-US" dirty="0">
                <a:hlinkClick r:id="rId4"/>
              </a:rPr>
              <a:t>https://explodingkittens.com/</a:t>
            </a:r>
            <a:r>
              <a:rPr lang="en-US" dirty="0"/>
              <a:t> </a:t>
            </a:r>
          </a:p>
        </p:txBody>
      </p:sp>
      <p:sp>
        <p:nvSpPr>
          <p:cNvPr id="9" name="Rectangle 8">
            <a:extLst>
              <a:ext uri="{FF2B5EF4-FFF2-40B4-BE49-F238E27FC236}">
                <a16:creationId xmlns:a16="http://schemas.microsoft.com/office/drawing/2014/main" id="{DDE0B217-148D-472E-9C3F-CC3C8C86949F}"/>
              </a:ext>
            </a:extLst>
          </p:cNvPr>
          <p:cNvSpPr/>
          <p:nvPr/>
        </p:nvSpPr>
        <p:spPr>
          <a:xfrm>
            <a:off x="1322264" y="934577"/>
            <a:ext cx="9549949" cy="738664"/>
          </a:xfrm>
          <a:prstGeom prst="rect">
            <a:avLst/>
          </a:prstGeom>
        </p:spPr>
        <p:txBody>
          <a:bodyPr wrap="square">
            <a:spAutoFit/>
          </a:bodyPr>
          <a:lstStyle/>
          <a:p>
            <a:pPr algn="ctr"/>
            <a:r>
              <a:rPr lang="en-US" b="1" cap="all" dirty="0">
                <a:solidFill>
                  <a:sysClr val="windowText" lastClr="000000"/>
                </a:solidFill>
                <a:latin typeface="bebas_neuebold"/>
              </a:rPr>
              <a:t>IF YOU DRAW AN</a:t>
            </a:r>
            <a:r>
              <a:rPr lang="en-US" b="1" cap="all" dirty="0">
                <a:solidFill>
                  <a:srgbClr val="E0E0E0"/>
                </a:solidFill>
                <a:latin typeface="bebas_neuebold"/>
              </a:rPr>
              <a:t> </a:t>
            </a:r>
            <a:r>
              <a:rPr lang="en-US" b="1" strike="sngStrike" cap="all" dirty="0">
                <a:solidFill>
                  <a:srgbClr val="F7931E"/>
                </a:solidFill>
                <a:latin typeface="bebas_neuebold"/>
              </a:rPr>
              <a:t>CRASHING POD</a:t>
            </a:r>
            <a:r>
              <a:rPr lang="en-US" b="1" cap="all" dirty="0">
                <a:solidFill>
                  <a:srgbClr val="F7931E"/>
                </a:solidFill>
                <a:latin typeface="bebas_neuebold"/>
              </a:rPr>
              <a:t> EXPLODING Kitten</a:t>
            </a:r>
            <a:r>
              <a:rPr lang="en-US" b="1" cap="all" dirty="0">
                <a:solidFill>
                  <a:sysClr val="windowText" lastClr="000000"/>
                </a:solidFill>
                <a:latin typeface="bebas_neuebold"/>
              </a:rPr>
              <a:t> CARD, YOU EXPLODE. </a:t>
            </a:r>
            <a:br>
              <a:rPr lang="en-US" b="1" dirty="0">
                <a:solidFill>
                  <a:sysClr val="windowText" lastClr="000000"/>
                </a:solidFill>
              </a:rPr>
            </a:br>
            <a:r>
              <a:rPr lang="en-US" b="1" cap="all" dirty="0">
                <a:solidFill>
                  <a:sysClr val="windowText" lastClr="000000"/>
                </a:solidFill>
                <a:latin typeface="bebas_neuebold"/>
              </a:rPr>
              <a:t>WHEN YOU EXPLODE, YOU DIE AND YOU'RE OUT OF THE GAME.</a:t>
            </a:r>
            <a:endParaRPr lang="en-US" b="1" dirty="0">
              <a:solidFill>
                <a:sysClr val="windowText" lastClr="000000"/>
              </a:solidFill>
            </a:endParaRPr>
          </a:p>
        </p:txBody>
      </p:sp>
    </p:spTree>
    <p:extLst>
      <p:ext uri="{BB962C8B-B14F-4D97-AF65-F5344CB8AC3E}">
        <p14:creationId xmlns:p14="http://schemas.microsoft.com/office/powerpoint/2010/main" val="4247211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AFD51-0501-414C-9813-64B6BEA9742F}"/>
              </a:ext>
            </a:extLst>
          </p:cNvPr>
          <p:cNvSpPr>
            <a:spLocks noGrp="1"/>
          </p:cNvSpPr>
          <p:nvPr>
            <p:ph type="title"/>
          </p:nvPr>
        </p:nvSpPr>
        <p:spPr/>
        <p:txBody>
          <a:bodyPr/>
          <a:lstStyle/>
          <a:p>
            <a:r>
              <a:rPr lang="en-US" dirty="0"/>
              <a:t>What kind of errors did you face, so far?</a:t>
            </a:r>
          </a:p>
        </p:txBody>
      </p:sp>
      <p:sp>
        <p:nvSpPr>
          <p:cNvPr id="5" name="TextBox 4">
            <a:extLst>
              <a:ext uri="{FF2B5EF4-FFF2-40B4-BE49-F238E27FC236}">
                <a16:creationId xmlns:a16="http://schemas.microsoft.com/office/drawing/2014/main" id="{90C7B479-A10B-408F-84B3-CEFFB79BA40B}"/>
              </a:ext>
            </a:extLst>
          </p:cNvPr>
          <p:cNvSpPr txBox="1"/>
          <p:nvPr/>
        </p:nvSpPr>
        <p:spPr>
          <a:xfrm>
            <a:off x="633845" y="1953491"/>
            <a:ext cx="3480954" cy="369332"/>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400" b="1" kern="0" dirty="0" err="1">
                <a:latin typeface="Courier New" panose="02070309020205020404" pitchFamily="49" charset="0"/>
                <a:ea typeface="Arial Unicode MS" pitchFamily="34" charset="-128"/>
                <a:cs typeface="Courier New" panose="02070309020205020404" pitchFamily="49" charset="0"/>
              </a:rPr>
              <a:t>CrashLoopBackOff</a:t>
            </a:r>
            <a:endParaRPr lang="en-US" sz="2400" b="1" kern="0" dirty="0">
              <a:latin typeface="Courier New" panose="02070309020205020404" pitchFamily="49" charset="0"/>
              <a:ea typeface="Arial Unicode MS" pitchFamily="34" charset="-128"/>
              <a:cs typeface="Courier New" panose="02070309020205020404" pitchFamily="49" charset="0"/>
            </a:endParaRPr>
          </a:p>
        </p:txBody>
      </p:sp>
      <p:sp>
        <p:nvSpPr>
          <p:cNvPr id="6" name="TextBox 5">
            <a:extLst>
              <a:ext uri="{FF2B5EF4-FFF2-40B4-BE49-F238E27FC236}">
                <a16:creationId xmlns:a16="http://schemas.microsoft.com/office/drawing/2014/main" id="{5F23ACF7-98E1-4399-8483-53136B0F7896}"/>
              </a:ext>
            </a:extLst>
          </p:cNvPr>
          <p:cNvSpPr txBox="1"/>
          <p:nvPr/>
        </p:nvSpPr>
        <p:spPr>
          <a:xfrm>
            <a:off x="633845" y="4291855"/>
            <a:ext cx="3480954" cy="369332"/>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400" b="1" kern="0" dirty="0" err="1">
                <a:latin typeface="Courier New" panose="02070309020205020404" pitchFamily="49" charset="0"/>
                <a:ea typeface="Arial Unicode MS" pitchFamily="34" charset="-128"/>
                <a:cs typeface="Courier New" panose="02070309020205020404" pitchFamily="49" charset="0"/>
              </a:rPr>
              <a:t>ImagePullBackOff</a:t>
            </a:r>
            <a:endParaRPr lang="en-US" sz="2400" b="1" kern="0" dirty="0">
              <a:latin typeface="Courier New" panose="02070309020205020404" pitchFamily="49" charset="0"/>
              <a:ea typeface="Arial Unicode MS" pitchFamily="34" charset="-128"/>
              <a:cs typeface="Courier New" panose="02070309020205020404" pitchFamily="49" charset="0"/>
            </a:endParaRPr>
          </a:p>
        </p:txBody>
      </p:sp>
      <p:sp>
        <p:nvSpPr>
          <p:cNvPr id="7" name="TextBox 6">
            <a:extLst>
              <a:ext uri="{FF2B5EF4-FFF2-40B4-BE49-F238E27FC236}">
                <a16:creationId xmlns:a16="http://schemas.microsoft.com/office/drawing/2014/main" id="{562BA37A-41B1-4005-8B5B-24CE9BDE83F0}"/>
              </a:ext>
            </a:extLst>
          </p:cNvPr>
          <p:cNvSpPr txBox="1"/>
          <p:nvPr/>
        </p:nvSpPr>
        <p:spPr>
          <a:xfrm>
            <a:off x="2143990" y="3218316"/>
            <a:ext cx="3480954" cy="369332"/>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400" b="1" kern="0" dirty="0" err="1">
                <a:latin typeface="Courier New" panose="02070309020205020404" pitchFamily="49" charset="0"/>
                <a:ea typeface="Arial Unicode MS" pitchFamily="34" charset="-128"/>
                <a:cs typeface="Courier New" panose="02070309020205020404" pitchFamily="49" charset="0"/>
              </a:rPr>
              <a:t>ErrImagePull</a:t>
            </a:r>
            <a:endParaRPr lang="en-US" sz="2400" b="1" kern="0" dirty="0">
              <a:latin typeface="Courier New" panose="02070309020205020404" pitchFamily="49" charset="0"/>
              <a:ea typeface="Arial Unicode MS" pitchFamily="34" charset="-128"/>
              <a:cs typeface="Courier New" panose="02070309020205020404" pitchFamily="49" charset="0"/>
            </a:endParaRPr>
          </a:p>
        </p:txBody>
      </p:sp>
      <p:sp>
        <p:nvSpPr>
          <p:cNvPr id="9" name="TextBox 8">
            <a:extLst>
              <a:ext uri="{FF2B5EF4-FFF2-40B4-BE49-F238E27FC236}">
                <a16:creationId xmlns:a16="http://schemas.microsoft.com/office/drawing/2014/main" id="{5FA01FAC-F82A-4F58-8DB8-0740B6B79449}"/>
              </a:ext>
            </a:extLst>
          </p:cNvPr>
          <p:cNvSpPr txBox="1"/>
          <p:nvPr/>
        </p:nvSpPr>
        <p:spPr>
          <a:xfrm>
            <a:off x="5511758" y="4291855"/>
            <a:ext cx="4369995" cy="369332"/>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400" b="1" kern="0" dirty="0" err="1">
                <a:latin typeface="Courier New" panose="02070309020205020404" pitchFamily="49" charset="0"/>
                <a:ea typeface="Arial Unicode MS" pitchFamily="34" charset="-128"/>
                <a:cs typeface="Courier New" panose="02070309020205020404" pitchFamily="49" charset="0"/>
              </a:rPr>
              <a:t>ContainerCreating</a:t>
            </a:r>
            <a:r>
              <a:rPr lang="en-US" sz="2400" b="1" kern="0" dirty="0">
                <a:latin typeface="Courier New" panose="02070309020205020404" pitchFamily="49" charset="0"/>
                <a:ea typeface="Arial Unicode MS" pitchFamily="34" charset="-128"/>
                <a:cs typeface="Courier New" panose="02070309020205020404" pitchFamily="49" charset="0"/>
              </a:rPr>
              <a:t> … … …</a:t>
            </a:r>
          </a:p>
        </p:txBody>
      </p:sp>
      <p:sp>
        <p:nvSpPr>
          <p:cNvPr id="10" name="TextBox 9">
            <a:extLst>
              <a:ext uri="{FF2B5EF4-FFF2-40B4-BE49-F238E27FC236}">
                <a16:creationId xmlns:a16="http://schemas.microsoft.com/office/drawing/2014/main" id="{A4273D05-CF38-4F91-82D0-147742AFFB57}"/>
              </a:ext>
            </a:extLst>
          </p:cNvPr>
          <p:cNvSpPr txBox="1"/>
          <p:nvPr/>
        </p:nvSpPr>
        <p:spPr>
          <a:xfrm>
            <a:off x="6370366" y="2973583"/>
            <a:ext cx="4369995" cy="369332"/>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400" b="1" kern="0" dirty="0">
                <a:latin typeface="Courier New" panose="02070309020205020404" pitchFamily="49" charset="0"/>
                <a:ea typeface="Arial Unicode MS" pitchFamily="34" charset="-128"/>
                <a:cs typeface="Courier New" panose="02070309020205020404" pitchFamily="49" charset="0"/>
              </a:rPr>
              <a:t>Pending … … …</a:t>
            </a:r>
          </a:p>
        </p:txBody>
      </p:sp>
    </p:spTree>
    <p:extLst>
      <p:ext uri="{BB962C8B-B14F-4D97-AF65-F5344CB8AC3E}">
        <p14:creationId xmlns:p14="http://schemas.microsoft.com/office/powerpoint/2010/main" val="1870991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Exploding Kittens Defuse Card Samples">
            <a:extLst>
              <a:ext uri="{FF2B5EF4-FFF2-40B4-BE49-F238E27FC236}">
                <a16:creationId xmlns:a16="http://schemas.microsoft.com/office/drawing/2014/main" id="{D8B1A174-1777-4449-87EE-97EE158817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99194" y="1744877"/>
            <a:ext cx="6782004" cy="373010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03364167-6039-4C29-B332-D6192243B50B}"/>
              </a:ext>
            </a:extLst>
          </p:cNvPr>
          <p:cNvSpPr/>
          <p:nvPr/>
        </p:nvSpPr>
        <p:spPr>
          <a:xfrm>
            <a:off x="4270457" y="5528034"/>
            <a:ext cx="3653564" cy="415498"/>
          </a:xfrm>
          <a:prstGeom prst="rect">
            <a:avLst/>
          </a:prstGeom>
        </p:spPr>
        <p:txBody>
          <a:bodyPr wrap="none">
            <a:spAutoFit/>
          </a:bodyPr>
          <a:lstStyle/>
          <a:p>
            <a:r>
              <a:rPr lang="en-US" dirty="0">
                <a:hlinkClick r:id="rId4"/>
              </a:rPr>
              <a:t>https://explodingkittens.com/</a:t>
            </a:r>
            <a:r>
              <a:rPr lang="en-US" dirty="0"/>
              <a:t> </a:t>
            </a:r>
          </a:p>
        </p:txBody>
      </p:sp>
      <p:sp>
        <p:nvSpPr>
          <p:cNvPr id="3" name="Rectangle 2">
            <a:extLst>
              <a:ext uri="{FF2B5EF4-FFF2-40B4-BE49-F238E27FC236}">
                <a16:creationId xmlns:a16="http://schemas.microsoft.com/office/drawing/2014/main" id="{4AE97B7D-C306-4F1C-A233-724DABD3AE5D}"/>
              </a:ext>
            </a:extLst>
          </p:cNvPr>
          <p:cNvSpPr/>
          <p:nvPr/>
        </p:nvSpPr>
        <p:spPr>
          <a:xfrm>
            <a:off x="601363" y="1006213"/>
            <a:ext cx="10824518" cy="738664"/>
          </a:xfrm>
          <a:prstGeom prst="rect">
            <a:avLst/>
          </a:prstGeom>
        </p:spPr>
        <p:txBody>
          <a:bodyPr wrap="square">
            <a:spAutoFit/>
          </a:bodyPr>
          <a:lstStyle/>
          <a:p>
            <a:pPr algn="ctr"/>
            <a:r>
              <a:rPr lang="en-US" b="1" cap="all" dirty="0">
                <a:latin typeface="bebas_neuebold"/>
              </a:rPr>
              <a:t>YOU PLAY </a:t>
            </a:r>
            <a:r>
              <a:rPr lang="en-US" b="1" strike="sngStrike" cap="all" dirty="0">
                <a:latin typeface="bebas_neuebold"/>
              </a:rPr>
              <a:t>YOUR </a:t>
            </a:r>
            <a:r>
              <a:rPr lang="en-US" b="1" strike="sngStrike" cap="all" dirty="0">
                <a:solidFill>
                  <a:srgbClr val="8CC63F"/>
                </a:solidFill>
                <a:latin typeface="bebas_neuebold"/>
              </a:rPr>
              <a:t>KNOWLEDGE</a:t>
            </a:r>
            <a:r>
              <a:rPr lang="en-US" b="1" cap="all" dirty="0">
                <a:latin typeface="bebas_neuebold"/>
              </a:rPr>
              <a:t> A</a:t>
            </a:r>
            <a:r>
              <a:rPr lang="en-US" b="1" cap="all" dirty="0">
                <a:solidFill>
                  <a:srgbClr val="E0E0E0"/>
                </a:solidFill>
                <a:latin typeface="bebas_neuebold"/>
              </a:rPr>
              <a:t> </a:t>
            </a:r>
            <a:r>
              <a:rPr lang="en-US" b="1" cap="all" dirty="0">
                <a:solidFill>
                  <a:srgbClr val="8CC63F"/>
                </a:solidFill>
                <a:latin typeface="bebas_neuebold"/>
              </a:rPr>
              <a:t>DEFUSE</a:t>
            </a:r>
            <a:r>
              <a:rPr lang="en-US" b="1" cap="all" dirty="0">
                <a:solidFill>
                  <a:srgbClr val="E0E0E0"/>
                </a:solidFill>
                <a:latin typeface="bebas_neuebold"/>
              </a:rPr>
              <a:t> </a:t>
            </a:r>
            <a:r>
              <a:rPr lang="en-US" b="1" cap="all" dirty="0">
                <a:latin typeface="bebas_neuebold"/>
              </a:rPr>
              <a:t>CARD, WHICH WILL STOP THE KITTEN FROM EXPLODING USING THINGS LIKE LASER POINTERS, KITTEN YOGA, AND CATNIP SANDWICHES.</a:t>
            </a:r>
            <a:endParaRPr lang="en-US" b="1" i="0" cap="all" dirty="0">
              <a:effectLst/>
              <a:latin typeface="bebas_neuebold"/>
            </a:endParaRPr>
          </a:p>
        </p:txBody>
      </p:sp>
    </p:spTree>
    <p:extLst>
      <p:ext uri="{BB962C8B-B14F-4D97-AF65-F5344CB8AC3E}">
        <p14:creationId xmlns:p14="http://schemas.microsoft.com/office/powerpoint/2010/main" val="2524059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6985-8F3C-4F8E-A840-866A7297AAB1}"/>
              </a:ext>
            </a:extLst>
          </p:cNvPr>
          <p:cNvSpPr>
            <a:spLocks noGrp="1"/>
          </p:cNvSpPr>
          <p:nvPr>
            <p:ph type="title"/>
          </p:nvPr>
        </p:nvSpPr>
        <p:spPr/>
        <p:txBody>
          <a:bodyPr/>
          <a:lstStyle/>
          <a:p>
            <a:r>
              <a:rPr lang="en-US" dirty="0"/>
              <a:t>Pod failure - where to look for information</a:t>
            </a:r>
          </a:p>
        </p:txBody>
      </p:sp>
      <p:sp>
        <p:nvSpPr>
          <p:cNvPr id="5" name="Rectangle 4">
            <a:extLst>
              <a:ext uri="{FF2B5EF4-FFF2-40B4-BE49-F238E27FC236}">
                <a16:creationId xmlns:a16="http://schemas.microsoft.com/office/drawing/2014/main" id="{B334D4B4-EC7C-4477-9B76-8973D4039366}"/>
              </a:ext>
            </a:extLst>
          </p:cNvPr>
          <p:cNvSpPr/>
          <p:nvPr/>
        </p:nvSpPr>
        <p:spPr>
          <a:xfrm>
            <a:off x="504001" y="1985638"/>
            <a:ext cx="11268901" cy="1200329"/>
          </a:xfrm>
          <a:prstGeom prst="rect">
            <a:avLst/>
          </a:prstGeom>
        </p:spPr>
        <p:txBody>
          <a:bodyPr wrap="square">
            <a:spAutoFit/>
          </a:bodyPr>
          <a:lstStyle/>
          <a:p>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get pods</a:t>
            </a:r>
          </a:p>
          <a:p>
            <a:r>
              <a:rPr lang="en-US" sz="2400" b="1" kern="0" dirty="0">
                <a:latin typeface="Courier New" panose="02070309020205020404" pitchFamily="49" charset="0"/>
                <a:ea typeface="Arial Unicode MS" pitchFamily="34" charset="-128"/>
                <a:cs typeface="Courier New" panose="02070309020205020404" pitchFamily="49" charset="0"/>
              </a:rPr>
              <a:t> NAME    READY       STATUS           RESTARTS   AGE  </a:t>
            </a:r>
          </a:p>
          <a:p>
            <a:r>
              <a:rPr lang="en-US" sz="2400" b="1" kern="0" dirty="0">
                <a:latin typeface="Courier New" panose="02070309020205020404" pitchFamily="49" charset="0"/>
                <a:ea typeface="Arial Unicode MS" pitchFamily="34" charset="-128"/>
                <a:cs typeface="Courier New" panose="02070309020205020404" pitchFamily="49" charset="0"/>
              </a:rPr>
              <a:t> </a:t>
            </a:r>
            <a:r>
              <a:rPr lang="en-US" sz="2400" b="1" kern="0" dirty="0" err="1">
                <a:latin typeface="Courier New" panose="02070309020205020404" pitchFamily="49" charset="0"/>
                <a:ea typeface="Arial Unicode MS" pitchFamily="34" charset="-128"/>
                <a:cs typeface="Courier New" panose="02070309020205020404" pitchFamily="49" charset="0"/>
              </a:rPr>
              <a:t>nginx</a:t>
            </a:r>
            <a:r>
              <a:rPr lang="en-US" sz="2400" b="1" kern="0" dirty="0">
                <a:latin typeface="Courier New" panose="02070309020205020404" pitchFamily="49" charset="0"/>
                <a:ea typeface="Arial Unicode MS" pitchFamily="34" charset="-128"/>
                <a:cs typeface="Courier New" panose="02070309020205020404" pitchFamily="49" charset="0"/>
              </a:rPr>
              <a:t>    0/1    </a:t>
            </a:r>
            <a:r>
              <a:rPr lang="en-US" sz="2400" b="1" kern="0" dirty="0" err="1">
                <a:latin typeface="Courier New" panose="02070309020205020404" pitchFamily="49" charset="0"/>
                <a:ea typeface="Arial Unicode MS" pitchFamily="34" charset="-128"/>
                <a:cs typeface="Courier New" panose="02070309020205020404" pitchFamily="49" charset="0"/>
              </a:rPr>
              <a:t>CrashLoopBackOff</a:t>
            </a:r>
            <a:r>
              <a:rPr lang="en-US" sz="2400" b="1" kern="0" dirty="0">
                <a:latin typeface="Courier New" panose="02070309020205020404" pitchFamily="49" charset="0"/>
                <a:ea typeface="Arial Unicode MS" pitchFamily="34" charset="-128"/>
                <a:cs typeface="Courier New" panose="02070309020205020404" pitchFamily="49" charset="0"/>
              </a:rPr>
              <a:t>        5        5s</a:t>
            </a:r>
          </a:p>
        </p:txBody>
      </p:sp>
      <p:sp>
        <p:nvSpPr>
          <p:cNvPr id="9" name="Speech Bubble: Rectangle 8">
            <a:extLst>
              <a:ext uri="{FF2B5EF4-FFF2-40B4-BE49-F238E27FC236}">
                <a16:creationId xmlns:a16="http://schemas.microsoft.com/office/drawing/2014/main" id="{17359BAA-C164-4F1C-8EF2-E911311D333A}"/>
              </a:ext>
            </a:extLst>
          </p:cNvPr>
          <p:cNvSpPr/>
          <p:nvPr/>
        </p:nvSpPr>
        <p:spPr bwMode="gray">
          <a:xfrm>
            <a:off x="504001" y="4249528"/>
            <a:ext cx="2667427" cy="677425"/>
          </a:xfrm>
          <a:prstGeom prst="wedgeRectCallout">
            <a:avLst>
              <a:gd name="adj1" fmla="val 32694"/>
              <a:gd name="adj2" fmla="val -20103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Is any container in the pod running?</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Speech Bubble: Rectangle 9">
            <a:extLst>
              <a:ext uri="{FF2B5EF4-FFF2-40B4-BE49-F238E27FC236}">
                <a16:creationId xmlns:a16="http://schemas.microsoft.com/office/drawing/2014/main" id="{D7DB12F8-84B8-4049-837D-85259C73B2BA}"/>
              </a:ext>
            </a:extLst>
          </p:cNvPr>
          <p:cNvSpPr/>
          <p:nvPr/>
        </p:nvSpPr>
        <p:spPr bwMode="gray">
          <a:xfrm>
            <a:off x="3860753" y="4249528"/>
            <a:ext cx="2667427" cy="677425"/>
          </a:xfrm>
          <a:prstGeom prst="wedgeRectCallout">
            <a:avLst>
              <a:gd name="adj1" fmla="val 14775"/>
              <a:gd name="adj2" fmla="val -20564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What is the pod’s status?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0F4F038E-DCCC-48FB-9FCC-B421350335D2}"/>
              </a:ext>
            </a:extLst>
          </p:cNvPr>
          <p:cNvSpPr/>
          <p:nvPr/>
        </p:nvSpPr>
        <p:spPr bwMode="gray">
          <a:xfrm>
            <a:off x="7217506" y="4251189"/>
            <a:ext cx="2667427" cy="677425"/>
          </a:xfrm>
          <a:prstGeom prst="wedgeRectCallout">
            <a:avLst>
              <a:gd name="adj1" fmla="val 10490"/>
              <a:gd name="adj2" fmla="val -202573"/>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Where there any (recent) restarts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652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6985-8F3C-4F8E-A840-866A7297AAB1}"/>
              </a:ext>
            </a:extLst>
          </p:cNvPr>
          <p:cNvSpPr>
            <a:spLocks noGrp="1"/>
          </p:cNvSpPr>
          <p:nvPr>
            <p:ph type="title"/>
          </p:nvPr>
        </p:nvSpPr>
        <p:spPr/>
        <p:txBody>
          <a:bodyPr/>
          <a:lstStyle/>
          <a:p>
            <a:r>
              <a:rPr lang="en-US" dirty="0"/>
              <a:t>Pod failure - where to look for information</a:t>
            </a:r>
          </a:p>
        </p:txBody>
      </p:sp>
      <p:sp>
        <p:nvSpPr>
          <p:cNvPr id="3" name="TextBox 2">
            <a:extLst>
              <a:ext uri="{FF2B5EF4-FFF2-40B4-BE49-F238E27FC236}">
                <a16:creationId xmlns:a16="http://schemas.microsoft.com/office/drawing/2014/main" id="{CDA4960A-C3A7-4291-ACBE-5CC735D7640F}"/>
              </a:ext>
            </a:extLst>
          </p:cNvPr>
          <p:cNvSpPr txBox="1"/>
          <p:nvPr/>
        </p:nvSpPr>
        <p:spPr>
          <a:xfrm>
            <a:off x="504001" y="1544252"/>
            <a:ext cx="8203581"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logs [--previous] &lt;pod name&gt;</a:t>
            </a:r>
          </a:p>
        </p:txBody>
      </p:sp>
      <p:sp>
        <p:nvSpPr>
          <p:cNvPr id="9" name="Speech Bubble: Rectangle 8">
            <a:extLst>
              <a:ext uri="{FF2B5EF4-FFF2-40B4-BE49-F238E27FC236}">
                <a16:creationId xmlns:a16="http://schemas.microsoft.com/office/drawing/2014/main" id="{24B68F1A-191A-4DAB-8767-E74884DAAADE}"/>
              </a:ext>
            </a:extLst>
          </p:cNvPr>
          <p:cNvSpPr/>
          <p:nvPr/>
        </p:nvSpPr>
        <p:spPr bwMode="gray">
          <a:xfrm>
            <a:off x="3028993" y="2645183"/>
            <a:ext cx="5023962" cy="977097"/>
          </a:xfrm>
          <a:prstGeom prst="wedgeRectCallout">
            <a:avLst>
              <a:gd name="adj1" fmla="val -48176"/>
              <a:gd name="adj2" fmla="val -11308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If the container ran, there might be logs available – also from the previous container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TextBox 9">
            <a:extLst>
              <a:ext uri="{FF2B5EF4-FFF2-40B4-BE49-F238E27FC236}">
                <a16:creationId xmlns:a16="http://schemas.microsoft.com/office/drawing/2014/main" id="{431597A8-0A79-49E9-90E0-E616041139D4}"/>
              </a:ext>
            </a:extLst>
          </p:cNvPr>
          <p:cNvSpPr txBox="1"/>
          <p:nvPr/>
        </p:nvSpPr>
        <p:spPr>
          <a:xfrm>
            <a:off x="504001" y="4145737"/>
            <a:ext cx="7642473"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exec –</a:t>
            </a: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ti</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&lt;pod name&gt; -- /bin/bash</a:t>
            </a:r>
          </a:p>
        </p:txBody>
      </p:sp>
      <p:sp>
        <p:nvSpPr>
          <p:cNvPr id="11" name="Speech Bubble: Rectangle 10">
            <a:extLst>
              <a:ext uri="{FF2B5EF4-FFF2-40B4-BE49-F238E27FC236}">
                <a16:creationId xmlns:a16="http://schemas.microsoft.com/office/drawing/2014/main" id="{3C43FA7C-ED1E-4C21-9BB4-440FE4791F4B}"/>
              </a:ext>
            </a:extLst>
          </p:cNvPr>
          <p:cNvSpPr/>
          <p:nvPr/>
        </p:nvSpPr>
        <p:spPr bwMode="gray">
          <a:xfrm>
            <a:off x="3028993" y="5038526"/>
            <a:ext cx="5023962" cy="1049835"/>
          </a:xfrm>
          <a:prstGeom prst="wedgeRectCallout">
            <a:avLst>
              <a:gd name="adj1" fmla="val -45073"/>
              <a:gd name="adj2" fmla="val -99223"/>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If the container is still running, exec into the pod and debug it from within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95953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6985-8F3C-4F8E-A840-866A7297AAB1}"/>
              </a:ext>
            </a:extLst>
          </p:cNvPr>
          <p:cNvSpPr>
            <a:spLocks noGrp="1"/>
          </p:cNvSpPr>
          <p:nvPr>
            <p:ph type="title"/>
          </p:nvPr>
        </p:nvSpPr>
        <p:spPr/>
        <p:txBody>
          <a:bodyPr/>
          <a:lstStyle/>
          <a:p>
            <a:r>
              <a:rPr lang="en-US" dirty="0"/>
              <a:t>Debugging an undebuggable Pod</a:t>
            </a:r>
          </a:p>
        </p:txBody>
      </p:sp>
      <p:sp>
        <p:nvSpPr>
          <p:cNvPr id="3" name="TextBox 2">
            <a:extLst>
              <a:ext uri="{FF2B5EF4-FFF2-40B4-BE49-F238E27FC236}">
                <a16:creationId xmlns:a16="http://schemas.microsoft.com/office/drawing/2014/main" id="{CDA4960A-C3A7-4291-ACBE-5CC735D7640F}"/>
              </a:ext>
            </a:extLst>
          </p:cNvPr>
          <p:cNvSpPr txBox="1"/>
          <p:nvPr/>
        </p:nvSpPr>
        <p:spPr>
          <a:xfrm>
            <a:off x="504001" y="1544252"/>
            <a:ext cx="10650031" cy="738664"/>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debug -it &lt;pod name&gt; --image=</a:t>
            </a: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busybox</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a:t>
            </a:r>
            <a:b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b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a:t>
            </a:r>
            <a:r>
              <a:rPr lang="en-US" sz="2400" b="1" kern="0" dirty="0">
                <a:solidFill>
                  <a:schemeClr val="accent5">
                    <a:lumMod val="75000"/>
                  </a:schemeClr>
                </a:solidFill>
                <a:latin typeface="Courier New" panose="02070309020205020404" pitchFamily="49" charset="0"/>
                <a:ea typeface="Arial Unicode MS" pitchFamily="34" charset="-128"/>
                <a:cs typeface="Courier New" panose="02070309020205020404" pitchFamily="49" charset="0"/>
              </a:rPr>
              <a:t>--target=&lt;container name&gt;</a:t>
            </a:r>
          </a:p>
        </p:txBody>
      </p:sp>
      <p:sp>
        <p:nvSpPr>
          <p:cNvPr id="9" name="Speech Bubble: Rectangle 8">
            <a:extLst>
              <a:ext uri="{FF2B5EF4-FFF2-40B4-BE49-F238E27FC236}">
                <a16:creationId xmlns:a16="http://schemas.microsoft.com/office/drawing/2014/main" id="{24B68F1A-191A-4DAB-8767-E74884DAAADE}"/>
              </a:ext>
            </a:extLst>
          </p:cNvPr>
          <p:cNvSpPr/>
          <p:nvPr/>
        </p:nvSpPr>
        <p:spPr bwMode="gray">
          <a:xfrm>
            <a:off x="7422292" y="2418363"/>
            <a:ext cx="3909323" cy="977097"/>
          </a:xfrm>
          <a:prstGeom prst="wedgeRectCallout">
            <a:avLst>
              <a:gd name="adj1" fmla="val -33988"/>
              <a:gd name="adj2" fmla="val -9368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Start an ephemeral container in a Pod and connects to its console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TextBox 9">
            <a:extLst>
              <a:ext uri="{FF2B5EF4-FFF2-40B4-BE49-F238E27FC236}">
                <a16:creationId xmlns:a16="http://schemas.microsoft.com/office/drawing/2014/main" id="{431597A8-0A79-49E9-90E0-E616041139D4}"/>
              </a:ext>
            </a:extLst>
          </p:cNvPr>
          <p:cNvSpPr txBox="1"/>
          <p:nvPr/>
        </p:nvSpPr>
        <p:spPr>
          <a:xfrm>
            <a:off x="504001" y="4145737"/>
            <a:ext cx="11186476" cy="738664"/>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debug &lt;pod name&gt; -it --image=ubuntu </a:t>
            </a:r>
            <a:r>
              <a:rPr lang="en-US" sz="2400" b="1" kern="0" dirty="0">
                <a:solidFill>
                  <a:schemeClr val="accent5">
                    <a:lumMod val="75000"/>
                  </a:schemeClr>
                </a:solidFill>
                <a:latin typeface="Courier New" panose="02070309020205020404" pitchFamily="49" charset="0"/>
                <a:ea typeface="Arial Unicode MS" pitchFamily="34" charset="-128"/>
                <a:cs typeface="Courier New" panose="02070309020205020404" pitchFamily="49" charset="0"/>
              </a:rPr>
              <a:t>--share-processes</a:t>
            </a:r>
            <a:b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b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--copy-to=&lt;debug pod name&gt;</a:t>
            </a:r>
          </a:p>
        </p:txBody>
      </p:sp>
      <p:sp>
        <p:nvSpPr>
          <p:cNvPr id="11" name="Speech Bubble: Rectangle 10">
            <a:extLst>
              <a:ext uri="{FF2B5EF4-FFF2-40B4-BE49-F238E27FC236}">
                <a16:creationId xmlns:a16="http://schemas.microsoft.com/office/drawing/2014/main" id="{3C43FA7C-ED1E-4C21-9BB4-440FE4791F4B}"/>
              </a:ext>
            </a:extLst>
          </p:cNvPr>
          <p:cNvSpPr/>
          <p:nvPr/>
        </p:nvSpPr>
        <p:spPr bwMode="gray">
          <a:xfrm>
            <a:off x="3086658" y="5283263"/>
            <a:ext cx="5023962" cy="851528"/>
          </a:xfrm>
          <a:prstGeom prst="wedgeRectCallout">
            <a:avLst>
              <a:gd name="adj1" fmla="val -25561"/>
              <a:gd name="adj2" fmla="val -8870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Create a copy of a Pod and add a container to it for debugging</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Speech Bubble: Rectangle 11">
            <a:extLst>
              <a:ext uri="{FF2B5EF4-FFF2-40B4-BE49-F238E27FC236}">
                <a16:creationId xmlns:a16="http://schemas.microsoft.com/office/drawing/2014/main" id="{BA962CA5-EAB1-4102-A020-FE941EBC16F8}"/>
              </a:ext>
            </a:extLst>
          </p:cNvPr>
          <p:cNvSpPr/>
          <p:nvPr/>
        </p:nvSpPr>
        <p:spPr bwMode="gray">
          <a:xfrm>
            <a:off x="646669" y="2668705"/>
            <a:ext cx="4057135" cy="977097"/>
          </a:xfrm>
          <a:prstGeom prst="wedgeRectCallout">
            <a:avLst>
              <a:gd name="adj1" fmla="val 46571"/>
              <a:gd name="adj2" fmla="val -85258"/>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Ephemeral container connects to process namespace of this container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85465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2783D3B9-080F-4461-B92E-ED091ED04B55}"/>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012707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6985-8F3C-4F8E-A840-866A7297AAB1}"/>
              </a:ext>
            </a:extLst>
          </p:cNvPr>
          <p:cNvSpPr>
            <a:spLocks noGrp="1"/>
          </p:cNvSpPr>
          <p:nvPr>
            <p:ph type="title"/>
          </p:nvPr>
        </p:nvSpPr>
        <p:spPr/>
        <p:txBody>
          <a:bodyPr/>
          <a:lstStyle/>
          <a:p>
            <a:r>
              <a:rPr lang="en-US" dirty="0"/>
              <a:t>Pod failure - where to look for information</a:t>
            </a:r>
          </a:p>
        </p:txBody>
      </p:sp>
      <p:sp>
        <p:nvSpPr>
          <p:cNvPr id="4" name="TextBox 3">
            <a:extLst>
              <a:ext uri="{FF2B5EF4-FFF2-40B4-BE49-F238E27FC236}">
                <a16:creationId xmlns:a16="http://schemas.microsoft.com/office/drawing/2014/main" id="{8030DC8D-B615-4A34-8CD4-6C4439E63297}"/>
              </a:ext>
            </a:extLst>
          </p:cNvPr>
          <p:cNvSpPr txBox="1"/>
          <p:nvPr/>
        </p:nvSpPr>
        <p:spPr>
          <a:xfrm>
            <a:off x="504001" y="1331742"/>
            <a:ext cx="11186476" cy="3277820"/>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describe pod test-pod</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Name:         test-pod</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Namespace:    default</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400" b="1" kern="0" dirty="0" err="1">
                <a:latin typeface="Courier New" panose="02070309020205020404" pitchFamily="49" charset="0"/>
                <a:ea typeface="Arial Unicode MS" pitchFamily="34" charset="-128"/>
                <a:cs typeface="Courier New" panose="02070309020205020404" pitchFamily="49" charset="0"/>
              </a:rPr>
              <a:t>PodScheduled</a:t>
            </a:r>
            <a:r>
              <a:rPr lang="en-US" sz="1400" b="1" kern="0" dirty="0">
                <a:latin typeface="Courier New" panose="02070309020205020404" pitchFamily="49" charset="0"/>
                <a:ea typeface="Arial Unicode MS" pitchFamily="34" charset="-128"/>
                <a:cs typeface="Courier New" panose="02070309020205020404" pitchFamily="49" charset="0"/>
              </a:rPr>
              <a:t>   False</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Events:</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  Type     Reason           Age   From                Message</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  ----     ------           ----  ----                -------</a:t>
            </a:r>
          </a:p>
          <a:p>
            <a:pPr fontAlgn="base">
              <a:spcBef>
                <a:spcPct val="50000"/>
              </a:spcBef>
              <a:spcAft>
                <a:spcPct val="0"/>
              </a:spcAft>
              <a:buClr>
                <a:srgbClr val="F0AB00"/>
              </a:buClr>
              <a:buSzPct val="80000"/>
            </a:pPr>
            <a:r>
              <a:rPr lang="en-US" sz="1400" b="1" kern="0" dirty="0">
                <a:latin typeface="Courier New" panose="02070309020205020404" pitchFamily="49" charset="0"/>
                <a:ea typeface="Arial Unicode MS" pitchFamily="34" charset="-128"/>
                <a:cs typeface="Courier New" panose="02070309020205020404" pitchFamily="49" charset="0"/>
              </a:rPr>
              <a:t> Warning  </a:t>
            </a:r>
            <a:r>
              <a:rPr lang="en-US" sz="1400" b="1" kern="0" dirty="0" err="1">
                <a:latin typeface="Courier New" panose="02070309020205020404" pitchFamily="49" charset="0"/>
                <a:ea typeface="Arial Unicode MS" pitchFamily="34" charset="-128"/>
                <a:cs typeface="Courier New" panose="02070309020205020404" pitchFamily="49" charset="0"/>
              </a:rPr>
              <a:t>FailedScheduling</a:t>
            </a:r>
            <a:r>
              <a:rPr lang="en-US" sz="1400" b="1" kern="0" dirty="0">
                <a:latin typeface="Courier New" panose="02070309020205020404" pitchFamily="49" charset="0"/>
                <a:ea typeface="Arial Unicode MS" pitchFamily="34" charset="-128"/>
                <a:cs typeface="Courier New" panose="02070309020205020404" pitchFamily="49" charset="0"/>
              </a:rPr>
              <a:t>  2s    default-scheduler   </a:t>
            </a:r>
            <a:r>
              <a:rPr lang="en-US" sz="1400" b="1" kern="0" dirty="0" err="1">
                <a:latin typeface="Courier New" panose="02070309020205020404" pitchFamily="49" charset="0"/>
                <a:ea typeface="Arial Unicode MS" pitchFamily="34" charset="-128"/>
                <a:cs typeface="Courier New" panose="02070309020205020404" pitchFamily="49" charset="0"/>
              </a:rPr>
              <a:t>persistentvolumeclaim</a:t>
            </a:r>
            <a:r>
              <a:rPr lang="en-US" sz="1400" b="1" kern="0" dirty="0">
                <a:latin typeface="Courier New" panose="02070309020205020404" pitchFamily="49" charset="0"/>
                <a:ea typeface="Arial Unicode MS" pitchFamily="34" charset="-128"/>
                <a:cs typeface="Courier New" panose="02070309020205020404" pitchFamily="49" charset="0"/>
              </a:rPr>
              <a:t> "</a:t>
            </a:r>
            <a:r>
              <a:rPr lang="en-US" sz="1400" b="1" kern="0" dirty="0" err="1">
                <a:latin typeface="Courier New" panose="02070309020205020404" pitchFamily="49" charset="0"/>
                <a:ea typeface="Arial Unicode MS" pitchFamily="34" charset="-128"/>
                <a:cs typeface="Courier New" panose="02070309020205020404" pitchFamily="49" charset="0"/>
              </a:rPr>
              <a:t>nginx-pvc</a:t>
            </a:r>
            <a:r>
              <a:rPr lang="en-US" sz="1400" b="1" kern="0" dirty="0">
                <a:latin typeface="Courier New" panose="02070309020205020404" pitchFamily="49" charset="0"/>
                <a:ea typeface="Arial Unicode MS" pitchFamily="34" charset="-128"/>
                <a:cs typeface="Courier New" panose="02070309020205020404" pitchFamily="49" charset="0"/>
              </a:rPr>
              <a:t>" not found</a:t>
            </a:r>
          </a:p>
        </p:txBody>
      </p:sp>
      <p:sp>
        <p:nvSpPr>
          <p:cNvPr id="11" name="Speech Bubble: Rectangle 10">
            <a:extLst>
              <a:ext uri="{FF2B5EF4-FFF2-40B4-BE49-F238E27FC236}">
                <a16:creationId xmlns:a16="http://schemas.microsoft.com/office/drawing/2014/main" id="{185BA364-6F45-4E64-8437-D0790698F164}"/>
              </a:ext>
            </a:extLst>
          </p:cNvPr>
          <p:cNvSpPr/>
          <p:nvPr/>
        </p:nvSpPr>
        <p:spPr bwMode="gray">
          <a:xfrm>
            <a:off x="7408625" y="1899520"/>
            <a:ext cx="3518455" cy="677425"/>
          </a:xfrm>
          <a:prstGeom prst="wedgeRectCallout">
            <a:avLst>
              <a:gd name="adj1" fmla="val -87771"/>
              <a:gd name="adj2" fmla="val 10886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 was not scheduled</a:t>
            </a:r>
          </a:p>
        </p:txBody>
      </p:sp>
      <p:sp>
        <p:nvSpPr>
          <p:cNvPr id="12" name="Speech Bubble: Rectangle 11">
            <a:extLst>
              <a:ext uri="{FF2B5EF4-FFF2-40B4-BE49-F238E27FC236}">
                <a16:creationId xmlns:a16="http://schemas.microsoft.com/office/drawing/2014/main" id="{97679C3A-1F38-4437-85A5-914F8B13C2F3}"/>
              </a:ext>
            </a:extLst>
          </p:cNvPr>
          <p:cNvSpPr/>
          <p:nvPr/>
        </p:nvSpPr>
        <p:spPr bwMode="gray">
          <a:xfrm>
            <a:off x="6832552" y="5500506"/>
            <a:ext cx="3518455" cy="677425"/>
          </a:xfrm>
          <a:prstGeom prst="wedgeRectCallout">
            <a:avLst>
              <a:gd name="adj1" fmla="val -40472"/>
              <a:gd name="adj2" fmla="val -1327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Reason for failure can be found in the events section</a:t>
            </a:r>
          </a:p>
        </p:txBody>
      </p:sp>
    </p:spTree>
    <p:extLst>
      <p:ext uri="{BB962C8B-B14F-4D97-AF65-F5344CB8AC3E}">
        <p14:creationId xmlns:p14="http://schemas.microsoft.com/office/powerpoint/2010/main" val="2933799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CAB707-1225-4D64-A95E-F1193D92F3BE}"/>
              </a:ext>
            </a:extLst>
          </p:cNvPr>
          <p:cNvSpPr>
            <a:spLocks noGrp="1"/>
          </p:cNvSpPr>
          <p:nvPr>
            <p:ph type="title"/>
          </p:nvPr>
        </p:nvSpPr>
        <p:spPr/>
        <p:txBody>
          <a:bodyPr/>
          <a:lstStyle/>
          <a:p>
            <a:r>
              <a:rPr lang="en-US" dirty="0"/>
              <a:t>Issues with services</a:t>
            </a:r>
          </a:p>
        </p:txBody>
      </p:sp>
      <p:sp>
        <p:nvSpPr>
          <p:cNvPr id="3" name="Rectangle 2">
            <a:extLst>
              <a:ext uri="{FF2B5EF4-FFF2-40B4-BE49-F238E27FC236}">
                <a16:creationId xmlns:a16="http://schemas.microsoft.com/office/drawing/2014/main" id="{B6791FF6-F4CE-4E9F-BD65-77201830485B}"/>
              </a:ext>
            </a:extLst>
          </p:cNvPr>
          <p:cNvSpPr/>
          <p:nvPr/>
        </p:nvSpPr>
        <p:spPr>
          <a:xfrm>
            <a:off x="504001" y="6021077"/>
            <a:ext cx="9606354" cy="415498"/>
          </a:xfrm>
          <a:prstGeom prst="rect">
            <a:avLst/>
          </a:prstGeom>
        </p:spPr>
        <p:txBody>
          <a:bodyPr wrap="square">
            <a:spAutoFit/>
          </a:bodyPr>
          <a:lstStyle/>
          <a:p>
            <a:r>
              <a:rPr lang="en-US" dirty="0">
                <a:hlinkClick r:id="rId3"/>
              </a:rPr>
              <a:t>https://kubernetes.io/docs/tasks/debug-application-cluster/debug-service/</a:t>
            </a:r>
            <a:r>
              <a:rPr lang="en-US" dirty="0"/>
              <a:t> </a:t>
            </a:r>
          </a:p>
        </p:txBody>
      </p:sp>
      <p:sp>
        <p:nvSpPr>
          <p:cNvPr id="4" name="Rectangle 3">
            <a:extLst>
              <a:ext uri="{FF2B5EF4-FFF2-40B4-BE49-F238E27FC236}">
                <a16:creationId xmlns:a16="http://schemas.microsoft.com/office/drawing/2014/main" id="{8EA39D1E-A943-46DB-91C6-E6352F757421}"/>
              </a:ext>
            </a:extLst>
          </p:cNvPr>
          <p:cNvSpPr/>
          <p:nvPr/>
        </p:nvSpPr>
        <p:spPr>
          <a:xfrm>
            <a:off x="504000" y="1345168"/>
            <a:ext cx="9751827" cy="4524315"/>
          </a:xfrm>
          <a:prstGeom prst="rect">
            <a:avLst/>
          </a:prstGeom>
        </p:spPr>
        <p:txBody>
          <a:bodyPr wrap="square">
            <a:spAutoFit/>
          </a:bodyPr>
          <a:lstStyle/>
          <a:p>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kubectl</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 -n </a:t>
            </a:r>
            <a:r>
              <a:rPr lang="en-US" sz="2400" b="1" kern="0" dirty="0" err="1">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kube</a:t>
            </a:r>
            <a:r>
              <a:rPr lang="en-US" sz="2400" b="1" kern="0" dirty="0">
                <a:solidFill>
                  <a:schemeClr val="accent1">
                    <a:lumMod val="75000"/>
                  </a:schemeClr>
                </a:solidFill>
                <a:latin typeface="Courier New" panose="02070309020205020404" pitchFamily="49" charset="0"/>
                <a:ea typeface="Arial Unicode MS" pitchFamily="34" charset="-128"/>
                <a:cs typeface="Courier New" panose="02070309020205020404" pitchFamily="49" charset="0"/>
              </a:rPr>
              <a:t>-system describe svc node-exporter</a:t>
            </a:r>
          </a:p>
          <a:p>
            <a:endParaRPr lang="en-US" sz="2400" b="1" kern="0" dirty="0">
              <a:latin typeface="Courier New" panose="02070309020205020404" pitchFamily="49" charset="0"/>
              <a:ea typeface="Arial Unicode MS" pitchFamily="34" charset="-128"/>
              <a:cs typeface="Courier New" panose="02070309020205020404" pitchFamily="49" charset="0"/>
            </a:endParaRPr>
          </a:p>
          <a:p>
            <a:r>
              <a:rPr lang="en-US" sz="2400" b="1" kern="0" dirty="0">
                <a:latin typeface="Courier New" panose="02070309020205020404" pitchFamily="49" charset="0"/>
                <a:ea typeface="Arial Unicode MS" pitchFamily="34" charset="-128"/>
                <a:cs typeface="Courier New" panose="02070309020205020404" pitchFamily="49" charset="0"/>
              </a:rPr>
              <a:t>…</a:t>
            </a:r>
          </a:p>
          <a:p>
            <a:r>
              <a:rPr lang="en-US" sz="2400" b="1" kern="0" dirty="0">
                <a:latin typeface="Courier New" panose="02070309020205020404" pitchFamily="49" charset="0"/>
                <a:ea typeface="Arial Unicode MS" pitchFamily="34" charset="-128"/>
                <a:cs typeface="Courier New" panose="02070309020205020404" pitchFamily="49" charset="0"/>
              </a:rPr>
              <a:t>Selector:          component=node-exporter</a:t>
            </a:r>
          </a:p>
          <a:p>
            <a:r>
              <a:rPr lang="en-US" sz="2400" b="1" kern="0" dirty="0">
                <a:latin typeface="Courier New" panose="02070309020205020404" pitchFamily="49" charset="0"/>
                <a:ea typeface="Arial Unicode MS" pitchFamily="34" charset="-128"/>
                <a:cs typeface="Courier New" panose="02070309020205020404" pitchFamily="49" charset="0"/>
              </a:rPr>
              <a:t>Type:              </a:t>
            </a:r>
            <a:r>
              <a:rPr lang="en-US" sz="2400" b="1" kern="0" dirty="0" err="1">
                <a:latin typeface="Courier New" panose="02070309020205020404" pitchFamily="49" charset="0"/>
                <a:ea typeface="Arial Unicode MS" pitchFamily="34" charset="-128"/>
                <a:cs typeface="Courier New" panose="02070309020205020404" pitchFamily="49" charset="0"/>
              </a:rPr>
              <a:t>ClusterIP</a:t>
            </a:r>
            <a:endParaRPr lang="en-US" sz="2400" b="1" kern="0" dirty="0">
              <a:latin typeface="Courier New" panose="02070309020205020404" pitchFamily="49" charset="0"/>
              <a:ea typeface="Arial Unicode MS" pitchFamily="34" charset="-128"/>
              <a:cs typeface="Courier New" panose="02070309020205020404" pitchFamily="49" charset="0"/>
            </a:endParaRPr>
          </a:p>
          <a:p>
            <a:r>
              <a:rPr lang="en-US" sz="2400" b="1" kern="0" dirty="0">
                <a:latin typeface="Courier New" panose="02070309020205020404" pitchFamily="49" charset="0"/>
                <a:ea typeface="Arial Unicode MS" pitchFamily="34" charset="-128"/>
                <a:cs typeface="Courier New" panose="02070309020205020404" pitchFamily="49" charset="0"/>
              </a:rPr>
              <a:t>IP:                None</a:t>
            </a:r>
          </a:p>
          <a:p>
            <a:r>
              <a:rPr lang="en-US" sz="2400" b="1" kern="0" dirty="0">
                <a:latin typeface="Courier New" panose="02070309020205020404" pitchFamily="49" charset="0"/>
                <a:ea typeface="Arial Unicode MS" pitchFamily="34" charset="-128"/>
                <a:cs typeface="Courier New" panose="02070309020205020404" pitchFamily="49" charset="0"/>
              </a:rPr>
              <a:t>Port:              metrics  9100/TCP</a:t>
            </a:r>
          </a:p>
          <a:p>
            <a:r>
              <a:rPr lang="en-US" sz="2400" b="1" kern="0" dirty="0" err="1">
                <a:latin typeface="Courier New" panose="02070309020205020404" pitchFamily="49" charset="0"/>
                <a:ea typeface="Arial Unicode MS" pitchFamily="34" charset="-128"/>
                <a:cs typeface="Courier New" panose="02070309020205020404" pitchFamily="49" charset="0"/>
              </a:rPr>
              <a:t>TargetPort</a:t>
            </a:r>
            <a:r>
              <a:rPr lang="en-US" sz="2400" b="1" kern="0" dirty="0">
                <a:latin typeface="Courier New" panose="02070309020205020404" pitchFamily="49" charset="0"/>
                <a:ea typeface="Arial Unicode MS" pitchFamily="34" charset="-128"/>
                <a:cs typeface="Courier New" panose="02070309020205020404" pitchFamily="49" charset="0"/>
              </a:rPr>
              <a:t>:        9100/TCP</a:t>
            </a:r>
          </a:p>
          <a:p>
            <a:r>
              <a:rPr lang="en-US" sz="2400" b="1" kern="0" dirty="0">
                <a:latin typeface="Courier New" panose="02070309020205020404" pitchFamily="49" charset="0"/>
                <a:ea typeface="Arial Unicode MS" pitchFamily="34" charset="-128"/>
                <a:cs typeface="Courier New" panose="02070309020205020404" pitchFamily="49" charset="0"/>
              </a:rPr>
              <a:t>Endpoints:            10.250.0.2:9100,10.250.0.3:9100,10.250.0.4:9100</a:t>
            </a:r>
          </a:p>
          <a:p>
            <a:r>
              <a:rPr lang="en-US" sz="2400" b="1" kern="0" dirty="0">
                <a:latin typeface="Courier New" panose="02070309020205020404" pitchFamily="49" charset="0"/>
                <a:ea typeface="Arial Unicode MS" pitchFamily="34" charset="-128"/>
                <a:cs typeface="Courier New" panose="02070309020205020404" pitchFamily="49" charset="0"/>
              </a:rPr>
              <a:t>Session Affinity:  None</a:t>
            </a:r>
          </a:p>
          <a:p>
            <a:r>
              <a:rPr lang="en-US" sz="2400" b="1" kern="0" dirty="0">
                <a:latin typeface="Courier New" panose="02070309020205020404" pitchFamily="49" charset="0"/>
                <a:ea typeface="Arial Unicode MS" pitchFamily="34" charset="-128"/>
                <a:cs typeface="Courier New" panose="02070309020205020404" pitchFamily="49" charset="0"/>
              </a:rPr>
              <a:t>Events:            &lt;none&gt;</a:t>
            </a:r>
          </a:p>
        </p:txBody>
      </p:sp>
      <p:sp>
        <p:nvSpPr>
          <p:cNvPr id="5" name="Speech Bubble: Rectangle 4">
            <a:extLst>
              <a:ext uri="{FF2B5EF4-FFF2-40B4-BE49-F238E27FC236}">
                <a16:creationId xmlns:a16="http://schemas.microsoft.com/office/drawing/2014/main" id="{39365804-9B3C-4E0D-AC45-AF4553A32332}"/>
              </a:ext>
            </a:extLst>
          </p:cNvPr>
          <p:cNvSpPr/>
          <p:nvPr/>
        </p:nvSpPr>
        <p:spPr bwMode="gray">
          <a:xfrm>
            <a:off x="9023050" y="1838837"/>
            <a:ext cx="2667427" cy="677425"/>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Correct labels?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Speech Bubble: Rectangle 5">
            <a:extLst>
              <a:ext uri="{FF2B5EF4-FFF2-40B4-BE49-F238E27FC236}">
                <a16:creationId xmlns:a16="http://schemas.microsoft.com/office/drawing/2014/main" id="{B6BA9F4F-D22A-42EF-9C65-EBE3C7731785}"/>
              </a:ext>
            </a:extLst>
          </p:cNvPr>
          <p:cNvSpPr/>
          <p:nvPr/>
        </p:nvSpPr>
        <p:spPr bwMode="gray">
          <a:xfrm>
            <a:off x="9023049" y="3268612"/>
            <a:ext cx="2667427" cy="677425"/>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Correct target port of pods? </a:t>
            </a:r>
          </a:p>
        </p:txBody>
      </p:sp>
      <p:sp>
        <p:nvSpPr>
          <p:cNvPr id="7" name="Speech Bubble: Rectangle 6">
            <a:extLst>
              <a:ext uri="{FF2B5EF4-FFF2-40B4-BE49-F238E27FC236}">
                <a16:creationId xmlns:a16="http://schemas.microsoft.com/office/drawing/2014/main" id="{A18D8DEB-83CF-4D76-BC6D-2B1E52C31FBC}"/>
              </a:ext>
            </a:extLst>
          </p:cNvPr>
          <p:cNvSpPr/>
          <p:nvPr/>
        </p:nvSpPr>
        <p:spPr bwMode="gray">
          <a:xfrm>
            <a:off x="9023049" y="5229520"/>
            <a:ext cx="2667427" cy="677425"/>
          </a:xfrm>
          <a:prstGeom prst="wedgeRectCallout">
            <a:avLst>
              <a:gd name="adj1" fmla="val -75990"/>
              <a:gd name="adj2" fmla="val -553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Are any pods available?</a:t>
            </a:r>
          </a:p>
        </p:txBody>
      </p:sp>
    </p:spTree>
    <p:extLst>
      <p:ext uri="{BB962C8B-B14F-4D97-AF65-F5344CB8AC3E}">
        <p14:creationId xmlns:p14="http://schemas.microsoft.com/office/powerpoint/2010/main" val="19792879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3327DF72-1C72-47A2-BCB2-5F8600E1482D}"/>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570119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TotalTime>
  <Words>1396</Words>
  <Application>Microsoft Office PowerPoint</Application>
  <PresentationFormat>Custom</PresentationFormat>
  <Paragraphs>137</Paragraphs>
  <Slides>12</Slides>
  <Notes>12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bebas_neuebold</vt:lpstr>
      <vt:lpstr>Courier New</vt:lpstr>
      <vt:lpstr>Symbol</vt:lpstr>
      <vt:lpstr>Wingdings</vt:lpstr>
      <vt:lpstr>Wingdings</vt:lpstr>
      <vt:lpstr>SAP_2017_16x9_black</vt:lpstr>
      <vt:lpstr>PowerPoint Presentation</vt:lpstr>
      <vt:lpstr>PowerPoint Presentation</vt:lpstr>
      <vt:lpstr>What kind of errors did you face, so far?</vt:lpstr>
      <vt:lpstr>PowerPoint Presentation</vt:lpstr>
      <vt:lpstr>Pod failure - where to look for information</vt:lpstr>
      <vt:lpstr>Pod failure - where to look for information</vt:lpstr>
      <vt:lpstr>Debugging an undebuggable Pod</vt:lpstr>
      <vt:lpstr>Demo</vt:lpstr>
      <vt:lpstr>Pod failure - where to look for information</vt:lpstr>
      <vt:lpstr>Issues with services</vt:lpstr>
      <vt:lpstr>Demo</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623</cp:revision>
  <dcterms:created xsi:type="dcterms:W3CDTF">2015-10-14T11:21:43Z</dcterms:created>
  <dcterms:modified xsi:type="dcterms:W3CDTF">2022-02-03T13:16:08Z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