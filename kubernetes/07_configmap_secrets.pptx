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3" r:id="rId1"/>
  </p:sldMasterIdLst>
  <p:notesMasterIdLst>
    <p:notesMasterId r:id="rId18"/>
  </p:notesMasterIdLst>
  <p:handoutMasterIdLst>
    <p:handoutMasterId r:id="rId19"/>
  </p:handoutMasterIdLst>
  <p:sldIdLst>
    <p:sldId id="433" r:id="rId2"/>
    <p:sldId id="442" r:id="rId3"/>
    <p:sldId id="444" r:id="rId4"/>
    <p:sldId id="953" r:id="rId5"/>
    <p:sldId id="954" r:id="rId6"/>
    <p:sldId id="450" r:id="rId7"/>
    <p:sldId id="461" r:id="rId8"/>
    <p:sldId id="459" r:id="rId9"/>
    <p:sldId id="449" r:id="rId10"/>
    <p:sldId id="452" r:id="rId11"/>
    <p:sldId id="955" r:id="rId12"/>
    <p:sldId id="453" r:id="rId13"/>
    <p:sldId id="956" r:id="rId14"/>
    <p:sldId id="460" r:id="rId15"/>
    <p:sldId id="451" r:id="rId16"/>
    <p:sldId id="265" r:id="rId17"/>
  </p:sldIdLst>
  <p:sldSz cx="12195175" cy="6858000"/>
  <p:notesSz cx="6858000" cy="914400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1" userDrawn="1">
          <p15:clr>
            <a:srgbClr val="A4A3A4"/>
          </p15:clr>
        </p15:guide>
        <p15:guide id="2" orient="horz" pos="1022" userDrawn="1">
          <p15:clr>
            <a:srgbClr val="A4A3A4"/>
          </p15:clr>
        </p15:guide>
        <p15:guide id="3" orient="horz" pos="4004" userDrawn="1">
          <p15:clr>
            <a:srgbClr val="A4A3A4"/>
          </p15:clr>
        </p15:guide>
        <p15:guide id="4" pos="303" userDrawn="1">
          <p15:clr>
            <a:srgbClr val="A4A3A4"/>
          </p15:clr>
        </p15:guide>
        <p15:guide id="5" pos="7356" userDrawn="1">
          <p15:clr>
            <a:srgbClr val="A4A3A4"/>
          </p15:clr>
        </p15:guide>
        <p15:guide id="7" orient="horz" pos="3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F46A7"/>
    <a:srgbClr val="970A82"/>
    <a:srgbClr val="FF3399"/>
    <a:srgbClr val="FF0000"/>
    <a:srgbClr val="FFFFFF"/>
    <a:srgbClr val="FEE3A1"/>
    <a:srgbClr val="FFF1D0"/>
    <a:srgbClr val="FFF8E7"/>
    <a:srgbClr val="FECE59"/>
    <a:srgbClr val="0032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337" autoAdjust="0"/>
    <p:restoredTop sz="73040" autoAdjust="0"/>
  </p:normalViewPr>
  <p:slideViewPr>
    <p:cSldViewPr snapToGrid="0" showGuides="1">
      <p:cViewPr varScale="1">
        <p:scale>
          <a:sx n="161" d="100"/>
          <a:sy n="161" d="100"/>
        </p:scale>
        <p:origin x="3552" y="200"/>
      </p:cViewPr>
      <p:guideLst>
        <p:guide pos="3841"/>
        <p:guide orient="horz" pos="1022"/>
        <p:guide orient="horz" pos="4004"/>
        <p:guide pos="303"/>
        <p:guide pos="7356"/>
        <p:guide orient="horz" pos="300"/>
      </p:guideLst>
    </p:cSldViewPr>
  </p:slideViewPr>
  <p:outlineViewPr>
    <p:cViewPr>
      <p:scale>
        <a:sx n="33" d="100"/>
        <a:sy n="33" d="100"/>
      </p:scale>
      <p:origin x="0" y="-6394"/>
    </p:cViewPr>
  </p:outlineViewPr>
  <p:notesTextViewPr>
    <p:cViewPr>
      <p:scale>
        <a:sx n="200" d="100"/>
        <a:sy n="200" d="100"/>
      </p:scale>
      <p:origin x="0" y="0"/>
    </p:cViewPr>
  </p:notesTextViewPr>
  <p:sorterViewPr>
    <p:cViewPr varScale="1">
      <p:scale>
        <a:sx n="1" d="1"/>
        <a:sy n="1" d="1"/>
      </p:scale>
      <p:origin x="0" y="0"/>
    </p:cViewPr>
  </p:sorterViewPr>
  <p:notesViewPr>
    <p:cSldViewPr snapToGrid="0" showGuides="1">
      <p:cViewPr varScale="1">
        <p:scale>
          <a:sx n="92" d="100"/>
          <a:sy n="92" d="100"/>
        </p:scale>
        <p:origin x="40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000" indent="-180000" algn="l" defTabSz="1088776" rtl="0" eaLnBrk="1" latinLnBrk="0" hangingPunct="1">
      <a:buClr>
        <a:schemeClr val="accent1"/>
      </a:buClr>
      <a:buSzPct val="100000"/>
      <a:buFont typeface="Wingdings" pitchFamily="2" charset="2"/>
      <a:buChar char=""/>
      <a:defRPr sz="1400" kern="1200">
        <a:solidFill>
          <a:schemeClr val="tx1"/>
        </a:solidFill>
        <a:latin typeface="+mn-lt"/>
        <a:ea typeface="+mn-ea"/>
        <a:cs typeface="+mn-cs"/>
      </a:defRPr>
    </a:lvl2pPr>
    <a:lvl3pPr marL="360000" indent="-180000"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1</a:t>
            </a:fld>
            <a:endParaRPr lang="en-US" dirty="0"/>
          </a:p>
        </p:txBody>
      </p:sp>
    </p:spTree>
    <p:extLst>
      <p:ext uri="{BB962C8B-B14F-4D97-AF65-F5344CB8AC3E}">
        <p14:creationId xmlns:p14="http://schemas.microsoft.com/office/powerpoint/2010/main" val="1673942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2</a:t>
            </a:fld>
            <a:endParaRPr lang="en-US" dirty="0"/>
          </a:p>
        </p:txBody>
      </p:sp>
    </p:spTree>
    <p:extLst>
      <p:ext uri="{BB962C8B-B14F-4D97-AF65-F5344CB8AC3E}">
        <p14:creationId xmlns:p14="http://schemas.microsoft.com/office/powerpoint/2010/main" val="561089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Secrets &amp; </a:t>
            </a:r>
            <a:r>
              <a:rPr lang="en-US" dirty="0" err="1"/>
              <a:t>configMaps</a:t>
            </a:r>
            <a:r>
              <a:rPr lang="en-US" dirty="0"/>
              <a:t> are always bound to a namespace. Use the volume API to integrate both into your pods.</a:t>
            </a:r>
          </a:p>
          <a:p>
            <a:r>
              <a:rPr lang="en-US" dirty="0"/>
              <a:t>The data itself will be stored in </a:t>
            </a:r>
            <a:r>
              <a:rPr lang="en-US" dirty="0" err="1"/>
              <a:t>etcd</a:t>
            </a:r>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3</a:t>
            </a:fld>
            <a:endParaRPr lang="en-US" dirty="0"/>
          </a:p>
        </p:txBody>
      </p:sp>
    </p:spTree>
    <p:extLst>
      <p:ext uri="{BB962C8B-B14F-4D97-AF65-F5344CB8AC3E}">
        <p14:creationId xmlns:p14="http://schemas.microsoft.com/office/powerpoint/2010/main" val="2225289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Configmaps</a:t>
            </a:r>
            <a:r>
              <a:rPr lang="en-US" dirty="0"/>
              <a:t> and secret are based on key-value pairs. Allowed values are string or binary data. When using binary data, base64 encoding of the binary is mandatory.</a:t>
            </a:r>
          </a:p>
          <a:p>
            <a:r>
              <a:rPr lang="en-US" dirty="0"/>
              <a:t>In addition, it is possible to have a multiline value assigned to a single key. This way files can be stored &amp; used by applications.</a:t>
            </a:r>
          </a:p>
          <a:p>
            <a:r>
              <a:rPr lang="en-US" dirty="0"/>
              <a:t>The content of both </a:t>
            </a:r>
            <a:r>
              <a:rPr lang="en-US" dirty="0" err="1"/>
              <a:t>configmaps</a:t>
            </a:r>
            <a:r>
              <a:rPr lang="en-US" dirty="0"/>
              <a:t> &amp; secrets can be project to environment variables of a container or mounted to the container file system via the volumes API.</a:t>
            </a:r>
          </a:p>
        </p:txBody>
      </p:sp>
      <p:sp>
        <p:nvSpPr>
          <p:cNvPr id="4" name="Slide Number Placeholder 3"/>
          <p:cNvSpPr>
            <a:spLocks noGrp="1"/>
          </p:cNvSpPr>
          <p:nvPr>
            <p:ph type="sldNum" sz="quarter" idx="5"/>
          </p:nvPr>
        </p:nvSpPr>
        <p:spPr/>
        <p:txBody>
          <a:bodyPr/>
          <a:lstStyle/>
          <a:p>
            <a:fld id="{7D8C2C35-2B8A-446E-BEC0-FD36716C29AC}" type="slidenum">
              <a:rPr lang="de-DE" smtClean="0"/>
              <a:pPr/>
              <a:t>4</a:t>
            </a:fld>
            <a:endParaRPr lang="de-DE" dirty="0"/>
          </a:p>
        </p:txBody>
      </p:sp>
    </p:spTree>
    <p:extLst>
      <p:ext uri="{BB962C8B-B14F-4D97-AF65-F5344CB8AC3E}">
        <p14:creationId xmlns:p14="http://schemas.microsoft.com/office/powerpoint/2010/main" val="1120651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Key-value pairs can be parsed from the command line directly. Supported options are literals, where the key-value pairs are specified directly as well as parsing from files.</a:t>
            </a:r>
          </a:p>
          <a:p>
            <a:r>
              <a:rPr lang="en-US" dirty="0"/>
              <a:t>In addition the </a:t>
            </a:r>
            <a:r>
              <a:rPr lang="en-US" dirty="0" err="1"/>
              <a:t>configmap</a:t>
            </a:r>
            <a:r>
              <a:rPr lang="en-US" dirty="0"/>
              <a:t>/secret object can be described in a </a:t>
            </a:r>
            <a:r>
              <a:rPr lang="en-US" dirty="0" err="1"/>
              <a:t>yaml</a:t>
            </a:r>
            <a:r>
              <a:rPr lang="en-US" dirty="0"/>
              <a:t> file just as any other </a:t>
            </a:r>
            <a:r>
              <a:rPr lang="en-US"/>
              <a:t>Kubernetes resource.</a:t>
            </a:r>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5</a:t>
            </a:fld>
            <a:endParaRPr lang="de-DE" dirty="0"/>
          </a:p>
        </p:txBody>
      </p:sp>
    </p:spTree>
    <p:extLst>
      <p:ext uri="{BB962C8B-B14F-4D97-AF65-F5344CB8AC3E}">
        <p14:creationId xmlns:p14="http://schemas.microsoft.com/office/powerpoint/2010/main" val="24887949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ConfigMaps</a:t>
            </a:r>
            <a:r>
              <a:rPr lang="en-US" dirty="0"/>
              <a:t> can be created via command line either with “from-literal” or based on files. Of course it is also valid to create a </a:t>
            </a:r>
            <a:r>
              <a:rPr lang="en-US" dirty="0" err="1"/>
              <a:t>yaml</a:t>
            </a:r>
            <a:r>
              <a:rPr lang="en-US" dirty="0"/>
              <a:t> file.</a:t>
            </a:r>
          </a:p>
          <a:p>
            <a:endParaRPr lang="en-US" dirty="0"/>
          </a:p>
          <a:p>
            <a:r>
              <a:rPr lang="en-US" dirty="0"/>
              <a:t>It is important to remember, that any data stored in </a:t>
            </a:r>
            <a:r>
              <a:rPr lang="en-US" dirty="0" err="1"/>
              <a:t>configMaps</a:t>
            </a:r>
            <a:r>
              <a:rPr lang="en-US" dirty="0"/>
              <a:t> will be uploaded to </a:t>
            </a:r>
            <a:r>
              <a:rPr lang="en-US" dirty="0" err="1"/>
              <a:t>etcd</a:t>
            </a:r>
            <a:r>
              <a:rPr lang="en-US" dirty="0"/>
              <a:t>, the distributed key value store that persists the cluster’s state. So don’t store large files in </a:t>
            </a:r>
            <a:r>
              <a:rPr lang="en-US" dirty="0" err="1"/>
              <a:t>configMaps</a:t>
            </a:r>
            <a:r>
              <a:rPr lang="en-US" dirty="0"/>
              <a:t>!</a:t>
            </a:r>
          </a:p>
          <a:p>
            <a:endParaRPr lang="en-US" dirty="0"/>
          </a:p>
        </p:txBody>
      </p:sp>
      <p:sp>
        <p:nvSpPr>
          <p:cNvPr id="4" name="Slide Number Placeholder 3"/>
          <p:cNvSpPr>
            <a:spLocks noGrp="1"/>
          </p:cNvSpPr>
          <p:nvPr>
            <p:ph type="sldNum" sz="quarter" idx="10"/>
          </p:nvPr>
        </p:nvSpPr>
        <p:spPr/>
        <p:txBody>
          <a:bodyPr/>
          <a:lstStyle/>
          <a:p>
            <a:fld id="{7D8C2C35-2B8A-446E-BEC0-FD36716C29AC}" type="slidenum">
              <a:rPr lang="en-US" smtClean="0"/>
              <a:pPr/>
              <a:t>6</a:t>
            </a:fld>
            <a:endParaRPr lang="en-US" dirty="0"/>
          </a:p>
        </p:txBody>
      </p:sp>
    </p:spTree>
    <p:extLst>
      <p:ext uri="{BB962C8B-B14F-4D97-AF65-F5344CB8AC3E}">
        <p14:creationId xmlns:p14="http://schemas.microsoft.com/office/powerpoint/2010/main" val="760292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Once the </a:t>
            </a:r>
            <a:r>
              <a:rPr lang="en-US" dirty="0" err="1"/>
              <a:t>configMap</a:t>
            </a:r>
            <a:r>
              <a:rPr lang="en-US" dirty="0"/>
              <a:t> is created it’s content can be </a:t>
            </a:r>
            <a:r>
              <a:rPr lang="en-US" b="1" dirty="0"/>
              <a:t>projected into a pod’s container</a:t>
            </a:r>
            <a:r>
              <a:rPr lang="en-US" dirty="0"/>
              <a:t> as an </a:t>
            </a:r>
            <a:r>
              <a:rPr lang="en-US" b="1" dirty="0"/>
              <a:t>environment variable</a:t>
            </a:r>
            <a:r>
              <a:rPr lang="en-US" dirty="0"/>
              <a:t> or </a:t>
            </a:r>
            <a:r>
              <a:rPr lang="en-US" b="1" dirty="0"/>
              <a:t>mounted as a file</a:t>
            </a:r>
            <a:r>
              <a:rPr lang="en-US" dirty="0"/>
              <a:t>.</a:t>
            </a:r>
          </a:p>
          <a:p>
            <a:r>
              <a:rPr lang="en-US" dirty="0"/>
              <a:t>A </a:t>
            </a:r>
            <a:r>
              <a:rPr lang="en-US" dirty="0" err="1"/>
              <a:t>configMap</a:t>
            </a:r>
            <a:r>
              <a:rPr lang="en-US" dirty="0"/>
              <a:t> can be altered at any time unless its </a:t>
            </a:r>
            <a:r>
              <a:rPr lang="en-US" i="1" dirty="0"/>
              <a:t>immutable</a:t>
            </a:r>
            <a:r>
              <a:rPr lang="en-US" dirty="0"/>
              <a:t> field is set (since K8S 1.21).</a:t>
            </a:r>
          </a:p>
        </p:txBody>
      </p:sp>
      <p:sp>
        <p:nvSpPr>
          <p:cNvPr id="4" name="Slide Number Placeholder 3"/>
          <p:cNvSpPr>
            <a:spLocks noGrp="1"/>
          </p:cNvSpPr>
          <p:nvPr>
            <p:ph type="sldNum" sz="quarter" idx="10"/>
          </p:nvPr>
        </p:nvSpPr>
        <p:spPr/>
        <p:txBody>
          <a:bodyPr/>
          <a:lstStyle/>
          <a:p>
            <a:fld id="{7D8C2C35-2B8A-446E-BEC0-FD36716C29AC}" type="slidenum">
              <a:rPr lang="en-US" smtClean="0"/>
              <a:pPr/>
              <a:t>7</a:t>
            </a:fld>
            <a:endParaRPr lang="en-US" dirty="0"/>
          </a:p>
        </p:txBody>
      </p:sp>
    </p:spTree>
    <p:extLst>
      <p:ext uri="{BB962C8B-B14F-4D97-AF65-F5344CB8AC3E}">
        <p14:creationId xmlns:p14="http://schemas.microsoft.com/office/powerpoint/2010/main" val="1304870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a:t>
            </a:r>
            <a:r>
              <a:rPr lang="en-US" dirty="0" err="1"/>
              <a:t>configmap</a:t>
            </a:r>
            <a:r>
              <a:rPr lang="en-US" dirty="0"/>
              <a:t> example: </a:t>
            </a:r>
          </a:p>
          <a:p>
            <a:r>
              <a:rPr lang="en-US" dirty="0" err="1"/>
              <a:t>kubectl</a:t>
            </a:r>
            <a:r>
              <a:rPr lang="en-US" dirty="0"/>
              <a:t> create </a:t>
            </a:r>
            <a:r>
              <a:rPr lang="en-US" dirty="0" err="1"/>
              <a:t>configmap</a:t>
            </a:r>
            <a:r>
              <a:rPr lang="en-US" dirty="0"/>
              <a:t> test-config --from-literal=</a:t>
            </a:r>
            <a:r>
              <a:rPr lang="en-US" dirty="0" err="1"/>
              <a:t>test.type</a:t>
            </a:r>
            <a:r>
              <a:rPr lang="en-US" dirty="0"/>
              <a:t>=unit --from-literal=</a:t>
            </a:r>
            <a:r>
              <a:rPr lang="en-US" dirty="0" err="1"/>
              <a:t>test.exec</a:t>
            </a:r>
            <a:r>
              <a:rPr lang="en-US" dirty="0"/>
              <a:t>=always</a:t>
            </a:r>
          </a:p>
          <a:p>
            <a:endParaRPr lang="en-US" dirty="0"/>
          </a:p>
          <a:p>
            <a:r>
              <a:rPr lang="en-US" dirty="0"/>
              <a:t>Show the </a:t>
            </a:r>
            <a:r>
              <a:rPr lang="en-US" b="1" dirty="0"/>
              <a:t>07b_pod_with_configmap.yaml</a:t>
            </a:r>
            <a:r>
              <a:rPr lang="en-US" dirty="0"/>
              <a:t> =&gt; you can include all values from a </a:t>
            </a:r>
            <a:r>
              <a:rPr lang="en-US" dirty="0" err="1"/>
              <a:t>configmap</a:t>
            </a:r>
            <a:r>
              <a:rPr lang="en-US" dirty="0"/>
              <a:t> or reference to specific keys. It is also possible to reference multiple </a:t>
            </a:r>
            <a:r>
              <a:rPr lang="en-US" dirty="0" err="1"/>
              <a:t>configMaps</a:t>
            </a:r>
            <a:r>
              <a:rPr lang="en-US" dirty="0"/>
              <a:t>. When deploying it to the cluster it will start &amp; go to status “completed” very quickly. Use “</a:t>
            </a:r>
            <a:r>
              <a:rPr lang="en-US" dirty="0" err="1"/>
              <a:t>kubectl</a:t>
            </a:r>
            <a:r>
              <a:rPr lang="en-US" dirty="0"/>
              <a:t> get </a:t>
            </a:r>
            <a:r>
              <a:rPr lang="en-US"/>
              <a:t>pod -o </a:t>
            </a:r>
            <a:r>
              <a:rPr lang="en-US" dirty="0"/>
              <a:t>wide” to display also terminated/completed pods. Use “</a:t>
            </a:r>
            <a:r>
              <a:rPr lang="en-US" dirty="0" err="1"/>
              <a:t>kubectl</a:t>
            </a:r>
            <a:r>
              <a:rPr lang="en-US" dirty="0"/>
              <a:t> logs test-</a:t>
            </a:r>
            <a:r>
              <a:rPr lang="en-US" dirty="0" err="1"/>
              <a:t>configmap</a:t>
            </a:r>
            <a:r>
              <a:rPr lang="en-US" dirty="0"/>
              <a:t>” to view the environment sent to </a:t>
            </a:r>
            <a:r>
              <a:rPr lang="en-US" dirty="0" err="1"/>
              <a:t>stdout</a:t>
            </a:r>
            <a:r>
              <a:rPr lang="en-US" dirty="0"/>
              <a:t>.</a:t>
            </a:r>
          </a:p>
          <a:p>
            <a:endParaRPr lang="en-US" dirty="0"/>
          </a:p>
          <a:p>
            <a:r>
              <a:rPr lang="en-US" dirty="0"/>
              <a:t>Instead of mapping the </a:t>
            </a:r>
            <a:r>
              <a:rPr lang="en-US" dirty="0" err="1"/>
              <a:t>configMap</a:t>
            </a:r>
            <a:r>
              <a:rPr lang="en-US" dirty="0"/>
              <a:t> content to environment variables, it is also possible to mount them as files to a directory. This will be part of the exercise.</a:t>
            </a:r>
          </a:p>
          <a:p>
            <a:pPr marL="0" marR="0" lvl="0" indent="0" algn="l" defTabSz="1088776" rtl="0" eaLnBrk="1" fontAlgn="auto" latinLnBrk="0" hangingPunct="1">
              <a:lnSpc>
                <a:spcPct val="100000"/>
              </a:lnSpc>
              <a:spcBef>
                <a:spcPts val="0"/>
              </a:spcBef>
              <a:spcAft>
                <a:spcPts val="0"/>
              </a:spcAft>
              <a:buClrTx/>
              <a:buSzTx/>
              <a:buFontTx/>
              <a:buNone/>
              <a:tabLst/>
              <a:defRPr/>
            </a:pPr>
            <a:endParaRPr lang="en-US" baseline="0" dirty="0"/>
          </a:p>
        </p:txBody>
      </p:sp>
      <p:sp>
        <p:nvSpPr>
          <p:cNvPr id="4" name="Slide Number Placeholder 3"/>
          <p:cNvSpPr>
            <a:spLocks noGrp="1"/>
          </p:cNvSpPr>
          <p:nvPr>
            <p:ph type="sldNum" sz="quarter" idx="10"/>
          </p:nvPr>
        </p:nvSpPr>
        <p:spPr/>
        <p:txBody>
          <a:bodyPr/>
          <a:lstStyle/>
          <a:p>
            <a:fld id="{7D8C2C35-2B8A-446E-BEC0-FD36716C29AC}" type="slidenum">
              <a:rPr lang="de-DE" smtClean="0"/>
              <a:pPr/>
              <a:t>8</a:t>
            </a:fld>
            <a:endParaRPr lang="de-DE" dirty="0"/>
          </a:p>
        </p:txBody>
      </p:sp>
    </p:spTree>
    <p:extLst>
      <p:ext uri="{BB962C8B-B14F-4D97-AF65-F5344CB8AC3E}">
        <p14:creationId xmlns:p14="http://schemas.microsoft.com/office/powerpoint/2010/main" val="679986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3 different types of secrets</a:t>
            </a:r>
          </a:p>
          <a:p>
            <a:pPr marL="285750" indent="-285750">
              <a:buFontTx/>
              <a:buChar char="-"/>
            </a:pPr>
            <a:r>
              <a:rPr lang="en-US" b="1" dirty="0"/>
              <a:t>generic</a:t>
            </a:r>
            <a:r>
              <a:rPr lang="en-US" dirty="0"/>
              <a:t>: to store credentials like passwords. Include as </a:t>
            </a:r>
            <a:r>
              <a:rPr lang="en-US" b="1" dirty="0" err="1"/>
              <a:t>env</a:t>
            </a:r>
            <a:r>
              <a:rPr lang="en-US" b="1" dirty="0"/>
              <a:t> variables</a:t>
            </a:r>
            <a:r>
              <a:rPr lang="en-US" dirty="0"/>
              <a:t> or </a:t>
            </a:r>
            <a:r>
              <a:rPr lang="en-US" b="1" dirty="0"/>
              <a:t>mount files</a:t>
            </a:r>
          </a:p>
          <a:p>
            <a:pPr marL="285750" indent="-285750">
              <a:buFontTx/>
              <a:buChar char="-"/>
            </a:pPr>
            <a:r>
              <a:rPr lang="en-US" dirty="0"/>
              <a:t>TLS: store certificates to setup TLS e.g. with a webserver</a:t>
            </a:r>
          </a:p>
          <a:p>
            <a:pPr marL="285750" indent="-285750">
              <a:buFontTx/>
              <a:buChar char="-"/>
            </a:pPr>
            <a:r>
              <a:rPr lang="en-US" b="1" dirty="0"/>
              <a:t>Docker-registry</a:t>
            </a:r>
            <a:r>
              <a:rPr lang="en-US" dirty="0"/>
              <a:t>: Contains credentials to authenticate pulls from protected registry like the docker store or a private registry. Assign the secret as </a:t>
            </a:r>
            <a:r>
              <a:rPr lang="en-US" b="1" dirty="0"/>
              <a:t>“</a:t>
            </a:r>
            <a:r>
              <a:rPr lang="en-US" b="1" dirty="0" err="1"/>
              <a:t>imagePullSecret</a:t>
            </a:r>
            <a:r>
              <a:rPr lang="en-US" b="1" dirty="0"/>
              <a:t>” </a:t>
            </a:r>
            <a:r>
              <a:rPr lang="en-US" dirty="0"/>
              <a:t>to a pod, to use the credentials for image pulling for this pod. </a:t>
            </a:r>
          </a:p>
        </p:txBody>
      </p:sp>
      <p:sp>
        <p:nvSpPr>
          <p:cNvPr id="4" name="Slide Number Placeholder 3"/>
          <p:cNvSpPr>
            <a:spLocks noGrp="1"/>
          </p:cNvSpPr>
          <p:nvPr>
            <p:ph type="sldNum" sz="quarter" idx="10"/>
          </p:nvPr>
        </p:nvSpPr>
        <p:spPr/>
        <p:txBody>
          <a:bodyPr/>
          <a:lstStyle/>
          <a:p>
            <a:fld id="{7D8C2C35-2B8A-446E-BEC0-FD36716C29AC}" type="slidenum">
              <a:rPr lang="en-US" smtClean="0"/>
              <a:pPr/>
              <a:t>9</a:t>
            </a:fld>
            <a:endParaRPr lang="en-US" dirty="0"/>
          </a:p>
        </p:txBody>
      </p:sp>
    </p:spTree>
    <p:extLst>
      <p:ext uri="{BB962C8B-B14F-4D97-AF65-F5344CB8AC3E}">
        <p14:creationId xmlns:p14="http://schemas.microsoft.com/office/powerpoint/2010/main" val="1151262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Secrets can be created based on files or values from literals. The data gets base64 encoded and as long as you view the resource via </a:t>
            </a:r>
            <a:r>
              <a:rPr lang="en-US" dirty="0" err="1"/>
              <a:t>kubectl</a:t>
            </a:r>
            <a:r>
              <a:rPr lang="en-US" dirty="0"/>
              <a:t>, it stays this way. To view the data take the string, print it to </a:t>
            </a:r>
            <a:r>
              <a:rPr lang="en-US" dirty="0" err="1"/>
              <a:t>stdout</a:t>
            </a:r>
            <a:r>
              <a:rPr lang="en-US" dirty="0"/>
              <a:t> and pipe it into base64 -d.</a:t>
            </a:r>
          </a:p>
          <a:p>
            <a:r>
              <a:rPr lang="en-US" dirty="0"/>
              <a:t>Example: echo U2VjcmV0NGV2ZXIK | base64 -d</a:t>
            </a:r>
          </a:p>
        </p:txBody>
      </p:sp>
      <p:sp>
        <p:nvSpPr>
          <p:cNvPr id="4" name="Slide Number Placeholder 3"/>
          <p:cNvSpPr>
            <a:spLocks noGrp="1"/>
          </p:cNvSpPr>
          <p:nvPr>
            <p:ph type="sldNum" sz="quarter" idx="10"/>
          </p:nvPr>
        </p:nvSpPr>
        <p:spPr/>
        <p:txBody>
          <a:bodyPr/>
          <a:lstStyle/>
          <a:p>
            <a:fld id="{7D8C2C35-2B8A-446E-BEC0-FD36716C29AC}" type="slidenum">
              <a:rPr lang="en-US" smtClean="0"/>
              <a:pPr/>
              <a:t>10</a:t>
            </a:fld>
            <a:endParaRPr lang="en-US" dirty="0"/>
          </a:p>
        </p:txBody>
      </p:sp>
    </p:spTree>
    <p:extLst>
      <p:ext uri="{BB962C8B-B14F-4D97-AF65-F5344CB8AC3E}">
        <p14:creationId xmlns:p14="http://schemas.microsoft.com/office/powerpoint/2010/main" val="20657368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dirty="0"/>
              <a:t>To rebuild the demo use the </a:t>
            </a:r>
            <a:r>
              <a:rPr lang="en-US" b="1" dirty="0"/>
              <a:t>07d_demo_pod_with_secret.yaml</a:t>
            </a:r>
            <a:r>
              <a:rPr lang="en-US" dirty="0"/>
              <a:t> and </a:t>
            </a:r>
            <a:r>
              <a:rPr lang="en-US" b="1" dirty="0"/>
              <a:t>07c_demo_secret.yaml</a:t>
            </a:r>
            <a:r>
              <a:rPr lang="en-US" dirty="0"/>
              <a:t> from ./</a:t>
            </a:r>
            <a:r>
              <a:rPr lang="en-US" dirty="0" err="1"/>
              <a:t>kubernetes</a:t>
            </a:r>
            <a:r>
              <a:rPr lang="en-US" dirty="0"/>
              <a:t>/demo. It contains the secret &amp; a pod mounting the secret.</a:t>
            </a:r>
          </a:p>
          <a:p>
            <a:endParaRPr lang="en-US" dirty="0"/>
          </a:p>
        </p:txBody>
      </p:sp>
      <p:sp>
        <p:nvSpPr>
          <p:cNvPr id="4" name="Slide Number Placeholder 3"/>
          <p:cNvSpPr>
            <a:spLocks noGrp="1"/>
          </p:cNvSpPr>
          <p:nvPr>
            <p:ph type="sldNum" sz="quarter" idx="5"/>
          </p:nvPr>
        </p:nvSpPr>
        <p:spPr/>
        <p:txBody>
          <a:bodyPr/>
          <a:lstStyle/>
          <a:p>
            <a:fld id="{7D8C2C35-2B8A-446E-BEC0-FD36716C29AC}" type="slidenum">
              <a:rPr lang="de-DE" smtClean="0"/>
              <a:pPr/>
              <a:t>11</a:t>
            </a:fld>
            <a:endParaRPr lang="de-DE" dirty="0"/>
          </a:p>
        </p:txBody>
      </p:sp>
    </p:spTree>
    <p:extLst>
      <p:ext uri="{BB962C8B-B14F-4D97-AF65-F5344CB8AC3E}">
        <p14:creationId xmlns:p14="http://schemas.microsoft.com/office/powerpoint/2010/main" val="42877887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secret like any other volume and bind it to the pod. When mounted into the filesystem the content/values are decoded and available in plain text. So be careful what you do. Eventually you want to set (</a:t>
            </a:r>
            <a:r>
              <a:rPr lang="en-US" dirty="0" err="1"/>
              <a:t>linux</a:t>
            </a:r>
            <a:r>
              <a:rPr lang="en-US" dirty="0"/>
              <a:t>) permissions for the files (like 400 so only the owner is allowed to read it).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12</a:t>
            </a:fld>
            <a:endParaRPr lang="de-DE" dirty="0"/>
          </a:p>
        </p:txBody>
      </p:sp>
    </p:spTree>
    <p:extLst>
      <p:ext uri="{BB962C8B-B14F-4D97-AF65-F5344CB8AC3E}">
        <p14:creationId xmlns:p14="http://schemas.microsoft.com/office/powerpoint/2010/main" val="42064518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baseline="0" dirty="0"/>
              <a:t>Create a secret from the command line or use the </a:t>
            </a:r>
            <a:r>
              <a:rPr lang="en-US" baseline="0" dirty="0" err="1"/>
              <a:t>yaml</a:t>
            </a:r>
            <a:endParaRPr lang="en-US" baseline="0" dirty="0"/>
          </a:p>
          <a:p>
            <a:pPr marL="0" marR="0" lvl="0" indent="0" algn="l" defTabSz="1088776" rtl="0" eaLnBrk="1" fontAlgn="auto" latinLnBrk="0" hangingPunct="1">
              <a:lnSpc>
                <a:spcPct val="100000"/>
              </a:lnSpc>
              <a:spcBef>
                <a:spcPts val="0"/>
              </a:spcBef>
              <a:spcAft>
                <a:spcPts val="0"/>
              </a:spcAft>
              <a:buClrTx/>
              <a:buSzTx/>
              <a:buFontTx/>
              <a:buNone/>
              <a:tabLst/>
              <a:defRPr/>
            </a:pPr>
            <a:endParaRPr lang="en-US" baseline="0" dirty="0"/>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echo admin &gt; username.txt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echo Secret4ever &gt; password.txt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err="1"/>
              <a:t>kubectl</a:t>
            </a:r>
            <a:r>
              <a:rPr lang="en-US" baseline="0" dirty="0"/>
              <a:t> create secret generic admin-access --from-file=./username.txt --from-file=./password.txt</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Print the secret in </a:t>
            </a:r>
            <a:r>
              <a:rPr lang="en-US" baseline="0" dirty="0" err="1"/>
              <a:t>yaml</a:t>
            </a:r>
            <a:r>
              <a:rPr lang="en-US" baseline="0" dirty="0"/>
              <a:t> format and send the value for password to base64 -decode:  echo U2VjcmV0NGV2ZXIK | base64 -d</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Schedule the demo pod for secrets (make sure the secret name matches) and query the logs</a:t>
            </a:r>
          </a:p>
          <a:p>
            <a:pPr marL="285750" marR="0" lvl="0" indent="-285750" algn="l" defTabSz="1088776" rtl="0" eaLnBrk="1" fontAlgn="auto" latinLnBrk="0" hangingPunct="1">
              <a:lnSpc>
                <a:spcPct val="100000"/>
              </a:lnSpc>
              <a:spcBef>
                <a:spcPts val="0"/>
              </a:spcBef>
              <a:spcAft>
                <a:spcPts val="0"/>
              </a:spcAft>
              <a:buClrTx/>
              <a:buSzTx/>
              <a:buFontTx/>
              <a:buChar char="-"/>
              <a:tabLst/>
              <a:defRPr/>
            </a:pPr>
            <a:r>
              <a:rPr lang="en-US" baseline="0" dirty="0"/>
              <a:t>=&gt; highlight that the values are accessible in clear text within the pod context</a:t>
            </a:r>
          </a:p>
        </p:txBody>
      </p:sp>
      <p:sp>
        <p:nvSpPr>
          <p:cNvPr id="4" name="Slide Number Placeholder 3"/>
          <p:cNvSpPr>
            <a:spLocks noGrp="1"/>
          </p:cNvSpPr>
          <p:nvPr>
            <p:ph type="sldNum" sz="quarter" idx="10"/>
          </p:nvPr>
        </p:nvSpPr>
        <p:spPr/>
        <p:txBody>
          <a:bodyPr/>
          <a:lstStyle/>
          <a:p>
            <a:fld id="{7D8C2C35-2B8A-446E-BEC0-FD36716C29AC}" type="slidenum">
              <a:rPr lang="de-DE" smtClean="0"/>
              <a:pPr/>
              <a:t>14</a:t>
            </a:fld>
            <a:endParaRPr lang="de-DE" dirty="0"/>
          </a:p>
        </p:txBody>
      </p:sp>
    </p:spTree>
    <p:extLst>
      <p:ext uri="{BB962C8B-B14F-4D97-AF65-F5344CB8AC3E}">
        <p14:creationId xmlns:p14="http://schemas.microsoft.com/office/powerpoint/2010/main" val="1289078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en-US" smtClean="0"/>
              <a:pPr/>
              <a:t>16</a:t>
            </a:fld>
            <a:endParaRPr lang="en-US" dirty="0"/>
          </a:p>
        </p:txBody>
      </p:sp>
      <p:sp>
        <p:nvSpPr>
          <p:cNvPr id="6" name="Slide Image Placeholder 5"/>
          <p:cNvSpPr>
            <a:spLocks noGrp="1" noRot="1" noChangeAspect="1"/>
          </p:cNvSpPr>
          <p:nvPr>
            <p:ph type="sldImg"/>
          </p:nvPr>
        </p:nvSpPr>
        <p:spPr>
          <a:xfrm>
            <a:off x="547688" y="612775"/>
            <a:ext cx="5762625" cy="3241675"/>
          </a:xfrm>
        </p:spPr>
      </p:sp>
      <p:sp>
        <p:nvSpPr>
          <p:cNvPr id="7" name="Notes Placeholder 6"/>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544264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hyperlink" Target="http://global.sap.com/corporate-en/legal/copyright/index.epx" TargetMode="External"/><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www.sap.com/corporate-de/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image">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solidFill>
            <a:schemeClr val="tx2">
              <a:alpha val="70000"/>
            </a:schemeClr>
          </a:solidFill>
        </p:spPr>
        <p:txBody>
          <a:bodyPr tIns="504000"/>
          <a:lstStyle>
            <a:lvl1pPr algn="ctr">
              <a:defRPr sz="1600">
                <a:solidFill>
                  <a:schemeClr val="tx1"/>
                </a:solidFill>
              </a:defRPr>
            </a:lvl1pPr>
          </a:lstStyle>
          <a:p>
            <a:r>
              <a:rPr lang="en-US" dirty="0"/>
              <a:t>Click to insert title image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grpSp>
        <p:nvGrpSpPr>
          <p:cNvPr id="2" name="Group 1"/>
          <p:cNvGrpSpPr/>
          <p:nvPr userDrawn="1"/>
        </p:nvGrpSpPr>
        <p:grpSpPr>
          <a:xfrm>
            <a:off x="9171173" y="0"/>
            <a:ext cx="3024002" cy="3430006"/>
            <a:chOff x="9171173" y="0"/>
            <a:chExt cx="3024002" cy="3430006"/>
          </a:xfrm>
        </p:grpSpPr>
        <p:sp>
          <p:nvSpPr>
            <p:cNvPr id="17" name="Rectangle 16"/>
            <p:cNvSpPr/>
            <p:nvPr userDrawn="1"/>
          </p:nvSpPr>
          <p:spPr bwMode="gray">
            <a:xfrm>
              <a:off x="11187175" y="0"/>
              <a:ext cx="1008000" cy="3430006"/>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3430006"/>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3430006"/>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24527176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illustration scene art">
    <p:spTree>
      <p:nvGrpSpPr>
        <p:cNvPr id="1" name=""/>
        <p:cNvGrpSpPr/>
        <p:nvPr/>
      </p:nvGrpSpPr>
      <p:grpSpPr>
        <a:xfrm>
          <a:off x="0" y="0"/>
          <a:ext cx="0" cy="0"/>
          <a:chOff x="0" y="0"/>
          <a:chExt cx="0" cy="0"/>
        </a:xfrm>
      </p:grpSpPr>
      <p:sp>
        <p:nvSpPr>
          <p:cNvPr id="5" name="Cover Image Placeholder"/>
          <p:cNvSpPr>
            <a:spLocks noGrp="1"/>
          </p:cNvSpPr>
          <p:nvPr>
            <p:ph type="pic" sz="quarter" idx="12" hasCustomPrompt="1"/>
          </p:nvPr>
        </p:nvSpPr>
        <p:spPr>
          <a:xfrm>
            <a:off x="1" y="0"/>
            <a:ext cx="12195175" cy="3430006"/>
          </a:xfrm>
          <a:noFill/>
        </p:spPr>
        <p:txBody>
          <a:bodyPr tIns="504000"/>
          <a:lstStyle>
            <a:lvl1pPr algn="ctr">
              <a:defRPr sz="1600">
                <a:solidFill>
                  <a:schemeClr val="tx1"/>
                </a:solidFill>
              </a:defRPr>
            </a:lvl1pPr>
          </a:lstStyle>
          <a:p>
            <a:r>
              <a:rPr lang="en-US" dirty="0"/>
              <a:t>Click to insert illustration scene art</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13" name="Classification"/>
          <p:cNvSpPr txBox="1"/>
          <p:nvPr userDrawn="1"/>
        </p:nvSpPr>
        <p:spPr>
          <a:xfrm>
            <a:off x="288000" y="5769666"/>
            <a:ext cx="4204855" cy="138499"/>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19" name="Speaker"/>
          <p:cNvSpPr>
            <a:spLocks noGrp="1"/>
          </p:cNvSpPr>
          <p:nvPr userDrawn="1">
            <p:ph type="subTitle" idx="1" hasCustomPrompt="1"/>
          </p:nvPr>
        </p:nvSpPr>
        <p:spPr bwMode="gray">
          <a:xfrm>
            <a:off x="288000" y="5130489"/>
            <a:ext cx="1090080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20" name="Presentation Title"/>
          <p:cNvSpPr>
            <a:spLocks noGrp="1"/>
          </p:cNvSpPr>
          <p:nvPr userDrawn="1">
            <p:ph type="body" sz="quarter" idx="14" hasCustomPrompt="1"/>
          </p:nvPr>
        </p:nvSpPr>
        <p:spPr>
          <a:xfrm>
            <a:off x="288000" y="4024430"/>
            <a:ext cx="10899174" cy="997196"/>
          </a:xfrm>
        </p:spPr>
        <p:txBody>
          <a:bodyPr wrap="square">
            <a:spAutoFit/>
          </a:bodyPr>
          <a:lstStyle>
            <a:lvl1pPr>
              <a:lnSpc>
                <a:spcPct val="90000"/>
              </a:lnSpc>
              <a:spcBef>
                <a:spcPts val="0"/>
              </a:spcBef>
              <a:defRPr sz="3600" b="1" baseline="0"/>
            </a:lvl1pPr>
          </a:lstStyle>
          <a:p>
            <a:pPr lvl="0"/>
            <a:r>
              <a:rPr lang="en-US" dirty="0"/>
              <a:t>Presentation Title </a:t>
            </a:r>
            <a:br>
              <a:rPr lang="en-US" dirty="0"/>
            </a:br>
            <a:r>
              <a:rPr lang="en-US" dirty="0"/>
              <a:t>Goes Here and Here.</a:t>
            </a:r>
          </a:p>
        </p:txBody>
      </p:sp>
    </p:spTree>
    <p:extLst>
      <p:ext uri="{BB962C8B-B14F-4D97-AF65-F5344CB8AC3E}">
        <p14:creationId xmlns:p14="http://schemas.microsoft.com/office/powerpoint/2010/main" val="30188748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black">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0" y="4268503"/>
            <a:ext cx="8595171"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0" y="2706317"/>
            <a:ext cx="8595171"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grpSp>
        <p:nvGrpSpPr>
          <p:cNvPr id="2" name="Group 1"/>
          <p:cNvGrpSpPr/>
          <p:nvPr userDrawn="1"/>
        </p:nvGrpSpPr>
        <p:grpSpPr>
          <a:xfrm>
            <a:off x="9171173" y="0"/>
            <a:ext cx="3024002" cy="6858000"/>
            <a:chOff x="9171173" y="0"/>
            <a:chExt cx="3024002" cy="6855990"/>
          </a:xfrm>
        </p:grpSpPr>
        <p:sp>
          <p:nvSpPr>
            <p:cNvPr id="17" name="Rectangle 16"/>
            <p:cNvSpPr/>
            <p:nvPr userDrawn="1"/>
          </p:nvSpPr>
          <p:spPr bwMode="gray">
            <a:xfrm>
              <a:off x="11187175" y="0"/>
              <a:ext cx="1008000" cy="6855990"/>
            </a:xfrm>
            <a:prstGeom prst="rect">
              <a:avLst/>
            </a:prstGeom>
            <a:solidFill>
              <a:schemeClr val="accent1"/>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179174" y="0"/>
              <a:ext cx="1008000" cy="685599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2" name="Rectangle 21"/>
            <p:cNvSpPr/>
            <p:nvPr userDrawn="1"/>
          </p:nvSpPr>
          <p:spPr bwMode="gray">
            <a:xfrm>
              <a:off x="9171173" y="0"/>
              <a:ext cx="1008000" cy="685599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Tree>
    <p:extLst>
      <p:ext uri="{BB962C8B-B14F-4D97-AF65-F5344CB8AC3E}">
        <p14:creationId xmlns:p14="http://schemas.microsoft.com/office/powerpoint/2010/main" val="19824106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pictogram">
    <p:spTree>
      <p:nvGrpSpPr>
        <p:cNvPr id="1" name=""/>
        <p:cNvGrpSpPr/>
        <p:nvPr/>
      </p:nvGrpSpPr>
      <p:grpSpPr>
        <a:xfrm>
          <a:off x="0" y="0"/>
          <a:ext cx="0" cy="0"/>
          <a:chOff x="0" y="0"/>
          <a:chExt cx="0" cy="0"/>
        </a:xfrm>
      </p:grpSpPr>
      <p:sp>
        <p:nvSpPr>
          <p:cNvPr id="24" name="Classification"/>
          <p:cNvSpPr txBox="1"/>
          <p:nvPr userDrawn="1"/>
        </p:nvSpPr>
        <p:spPr>
          <a:xfrm>
            <a:off x="288000" y="5093865"/>
            <a:ext cx="4204855" cy="153852"/>
          </a:xfrm>
          <a:prstGeom prst="rect">
            <a:avLst/>
          </a:prstGeom>
        </p:spPr>
        <p:txBody>
          <a:bodyPr vert="horz" lIns="0" tIns="0" rIns="0" bIns="0" rtlCol="0">
            <a:noAutofit/>
          </a:bodyPr>
          <a:lstStyle>
            <a:lvl1pPr lvl="0" indent="0">
              <a:spcBef>
                <a:spcPts val="0"/>
              </a:spcBef>
              <a:buClr>
                <a:schemeClr val="accent1"/>
              </a:buClr>
              <a:buSzPct val="80000"/>
              <a:buFontTx/>
              <a:buNone/>
              <a:defRPr sz="1000" b="0">
                <a:latin typeface="+mn-lt"/>
              </a:defRPr>
            </a:lvl1pPr>
            <a:lvl2pPr marL="180000" indent="-180000">
              <a:spcBef>
                <a:spcPts val="600"/>
              </a:spcBef>
              <a:buClr>
                <a:schemeClr val="accent1"/>
              </a:buClr>
              <a:buFont typeface="Wingdings" pitchFamily="2" charset="2"/>
              <a:buChar char="§"/>
              <a:defRPr sz="1800">
                <a:latin typeface="+mn-lt"/>
              </a:defRPr>
            </a:lvl2pPr>
            <a:lvl3pPr marL="360000" indent="-180000">
              <a:spcBef>
                <a:spcPts val="300"/>
              </a:spcBef>
              <a:buClr>
                <a:schemeClr val="tx1"/>
              </a:buClr>
              <a:buSzPct val="100000"/>
              <a:buFont typeface="Arial" panose="020B0604020202020204" pitchFamily="34" charset="0"/>
              <a:buChar char="–"/>
              <a:defRPr lang="en-US" sz="1800" noProof="0" dirty="0" smtClean="0">
                <a:latin typeface="+mn-lt"/>
              </a:defRPr>
            </a:lvl3pPr>
            <a:lvl4pPr marL="540000" indent="-180000">
              <a:spcBef>
                <a:spcPts val="300"/>
              </a:spcBef>
              <a:buClr>
                <a:schemeClr val="tx1"/>
              </a:buClr>
              <a:buSzPct val="120000"/>
              <a:buFont typeface="Arial" pitchFamily="34" charset="0"/>
              <a:buChar char="▫"/>
              <a:defRPr sz="1600">
                <a:latin typeface="+mn-lt"/>
              </a:defRPr>
            </a:lvl4pPr>
            <a:lvl5pPr marL="720000" indent="-180000">
              <a:spcBef>
                <a:spcPts val="100"/>
              </a:spcBef>
              <a:buClr>
                <a:schemeClr val="tx1"/>
              </a:buClr>
              <a:buSzPct val="100000"/>
              <a:buFont typeface="Symbol" panose="05050102010706020507" pitchFamily="18" charset="2"/>
              <a:buChar char="-"/>
              <a:defRPr sz="1400" baseline="0">
                <a:latin typeface="+mn-lt"/>
              </a:defRPr>
            </a:lvl5pPr>
            <a:lvl6pPr marL="2994134" indent="-272194">
              <a:spcBef>
                <a:spcPct val="20000"/>
              </a:spcBef>
              <a:buFont typeface="Arial" pitchFamily="34" charset="0"/>
              <a:buChar char="•"/>
              <a:defRPr sz="2400"/>
            </a:lvl6pPr>
            <a:lvl7pPr marL="3538522" indent="-272194">
              <a:spcBef>
                <a:spcPct val="20000"/>
              </a:spcBef>
              <a:buFont typeface="Arial" pitchFamily="34" charset="0"/>
              <a:buChar char="•"/>
              <a:defRPr sz="2400"/>
            </a:lvl7pPr>
            <a:lvl8pPr marL="4082910" indent="-272194">
              <a:spcBef>
                <a:spcPct val="20000"/>
              </a:spcBef>
              <a:buFont typeface="Arial" pitchFamily="34" charset="0"/>
              <a:buChar char="•"/>
              <a:defRPr sz="2400"/>
            </a:lvl8pPr>
            <a:lvl9pPr marL="4627298" indent="-272194">
              <a:spcBef>
                <a:spcPct val="20000"/>
              </a:spcBef>
              <a:buFont typeface="Arial" pitchFamily="34" charset="0"/>
              <a:buChar char="•"/>
              <a:defRPr sz="2400"/>
            </a:lvl9pPr>
          </a:lstStyle>
          <a:p>
            <a:pPr lvl="0" algn="l"/>
            <a:r>
              <a:rPr lang="en-US" sz="900" b="0" dirty="0"/>
              <a:t>INTERNAL</a:t>
            </a:r>
          </a:p>
        </p:txBody>
      </p:sp>
      <p:sp>
        <p:nvSpPr>
          <p:cNvPr id="6" name="Speaker"/>
          <p:cNvSpPr>
            <a:spLocks noGrp="1"/>
          </p:cNvSpPr>
          <p:nvPr userDrawn="1">
            <p:ph type="subTitle" idx="1" hasCustomPrompt="1"/>
          </p:nvPr>
        </p:nvSpPr>
        <p:spPr bwMode="gray">
          <a:xfrm>
            <a:off x="288001" y="4268503"/>
            <a:ext cx="6373430" cy="430887"/>
          </a:xfrm>
        </p:spPr>
        <p:txBody>
          <a:bodyPr wrap="square" anchor="t" anchorCtr="0">
            <a:noAutofit/>
          </a:bodyPr>
          <a:lstStyle>
            <a:lvl1pPr marL="0" marR="0" indent="0" algn="l" defTabSz="1088558" rtl="0" eaLnBrk="1" fontAlgn="auto" latinLnBrk="0" hangingPunct="1">
              <a:lnSpc>
                <a:spcPct val="100000"/>
              </a:lnSpc>
              <a:spcBef>
                <a:spcPts val="0"/>
              </a:spcBef>
              <a:spcAft>
                <a:spcPts val="0"/>
              </a:spcAft>
              <a:buClr>
                <a:schemeClr val="accent1"/>
              </a:buClr>
              <a:buSzPct val="80000"/>
              <a:buFontTx/>
              <a:buNone/>
              <a:tabLst/>
              <a:defRPr sz="1400" b="0" baseline="0">
                <a:solidFill>
                  <a:schemeClr val="tx1"/>
                </a:solidFill>
              </a:defRPr>
            </a:lvl1pPr>
            <a:lvl2pPr marL="544279" indent="0" algn="ctr">
              <a:buNone/>
              <a:defRPr>
                <a:solidFill>
                  <a:schemeClr val="tx1">
                    <a:tint val="75000"/>
                  </a:schemeClr>
                </a:solidFill>
              </a:defRPr>
            </a:lvl2pPr>
            <a:lvl3pPr marL="1088558" indent="0" algn="ctr">
              <a:buNone/>
              <a:defRPr>
                <a:solidFill>
                  <a:schemeClr val="tx1">
                    <a:tint val="75000"/>
                  </a:schemeClr>
                </a:solidFill>
              </a:defRPr>
            </a:lvl3pPr>
            <a:lvl4pPr marL="1632837" indent="0" algn="ctr">
              <a:buNone/>
              <a:defRPr>
                <a:solidFill>
                  <a:schemeClr val="tx1">
                    <a:tint val="75000"/>
                  </a:schemeClr>
                </a:solidFill>
              </a:defRPr>
            </a:lvl4pPr>
            <a:lvl5pPr marL="2177116" indent="0" algn="ctr">
              <a:buNone/>
              <a:defRPr>
                <a:solidFill>
                  <a:schemeClr val="tx1">
                    <a:tint val="75000"/>
                  </a:schemeClr>
                </a:solidFill>
              </a:defRPr>
            </a:lvl5pPr>
            <a:lvl6pPr marL="2721396" indent="0" algn="ctr">
              <a:buNone/>
              <a:defRPr>
                <a:solidFill>
                  <a:schemeClr val="tx1">
                    <a:tint val="75000"/>
                  </a:schemeClr>
                </a:solidFill>
              </a:defRPr>
            </a:lvl6pPr>
            <a:lvl7pPr marL="3265675" indent="0" algn="ctr">
              <a:buNone/>
              <a:defRPr>
                <a:solidFill>
                  <a:schemeClr val="tx1">
                    <a:tint val="75000"/>
                  </a:schemeClr>
                </a:solidFill>
              </a:defRPr>
            </a:lvl7pPr>
            <a:lvl8pPr marL="3809954" indent="0" algn="ctr">
              <a:buNone/>
              <a:defRPr>
                <a:solidFill>
                  <a:schemeClr val="tx1">
                    <a:tint val="75000"/>
                  </a:schemeClr>
                </a:solidFill>
              </a:defRPr>
            </a:lvl8pPr>
            <a:lvl9pPr marL="4354233" indent="0" algn="ctr">
              <a:buNone/>
              <a:defRPr>
                <a:solidFill>
                  <a:schemeClr val="tx1">
                    <a:tint val="75000"/>
                  </a:schemeClr>
                </a:solidFill>
              </a:defRPr>
            </a:lvl9pPr>
          </a:lstStyle>
          <a:p>
            <a:r>
              <a:rPr lang="en-US" dirty="0"/>
              <a:t>Speaker’s Name, SAP</a:t>
            </a:r>
          </a:p>
          <a:p>
            <a:pPr marL="0" marR="0" lvl="0" indent="0" algn="l" defTabSz="1088558" rtl="0" eaLnBrk="1" fontAlgn="auto" latinLnBrk="0" hangingPunct="1">
              <a:lnSpc>
                <a:spcPct val="100000"/>
              </a:lnSpc>
              <a:spcBef>
                <a:spcPts val="0"/>
              </a:spcBef>
              <a:spcAft>
                <a:spcPts val="0"/>
              </a:spcAft>
              <a:buClr>
                <a:schemeClr val="accent1"/>
              </a:buClr>
              <a:buSzPct val="80000"/>
              <a:buFontTx/>
              <a:buNone/>
              <a:tabLst/>
              <a:defRPr/>
            </a:pPr>
            <a:r>
              <a:rPr lang="en-US" dirty="0"/>
              <a:t>Month 00, 2017</a:t>
            </a:r>
          </a:p>
        </p:txBody>
      </p:sp>
      <p:sp>
        <p:nvSpPr>
          <p:cNvPr id="10" name="Presentation Title"/>
          <p:cNvSpPr>
            <a:spLocks noGrp="1"/>
          </p:cNvSpPr>
          <p:nvPr>
            <p:ph type="body" sz="quarter" idx="14" hasCustomPrompt="1"/>
          </p:nvPr>
        </p:nvSpPr>
        <p:spPr>
          <a:xfrm>
            <a:off x="288001" y="2706317"/>
            <a:ext cx="6373430" cy="997196"/>
          </a:xfrm>
        </p:spPr>
        <p:txBody>
          <a:bodyPr wrap="square">
            <a:noAutofit/>
          </a:bodyPr>
          <a:lstStyle>
            <a:lvl1pPr>
              <a:lnSpc>
                <a:spcPct val="90000"/>
              </a:lnSpc>
              <a:spcBef>
                <a:spcPts val="0"/>
              </a:spcBef>
              <a:defRPr sz="3600" b="1" baseline="0"/>
            </a:lvl1pPr>
          </a:lstStyle>
          <a:p>
            <a:pPr lvl="0"/>
            <a:r>
              <a:rPr lang="en-US" dirty="0"/>
              <a:t>Title Goes Here </a:t>
            </a:r>
            <a:br>
              <a:rPr lang="en-US" dirty="0"/>
            </a:br>
            <a:r>
              <a:rPr lang="en-US" dirty="0"/>
              <a:t>and Here and Here.</a:t>
            </a:r>
          </a:p>
        </p:txBody>
      </p:sp>
      <p:pic>
        <p:nvPicPr>
          <p:cNvPr id="15"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8000" y="6217668"/>
            <a:ext cx="1578462" cy="360000"/>
          </a:xfrm>
          <a:prstGeom prst="rect">
            <a:avLst/>
          </a:prstGeom>
        </p:spPr>
      </p:pic>
      <p:sp>
        <p:nvSpPr>
          <p:cNvPr id="7" name="Picture Placeholder 6"/>
          <p:cNvSpPr>
            <a:spLocks noGrp="1"/>
          </p:cNvSpPr>
          <p:nvPr>
            <p:ph type="pic" sz="quarter" idx="16"/>
          </p:nvPr>
        </p:nvSpPr>
        <p:spPr>
          <a:xfrm>
            <a:off x="6954855" y="963000"/>
            <a:ext cx="4932000" cy="4932000"/>
          </a:xfrm>
        </p:spPr>
        <p:txBody>
          <a:bodyPr/>
          <a:lstStyle/>
          <a:p>
            <a:endParaRPr lang="en-US" dirty="0"/>
          </a:p>
        </p:txBody>
      </p:sp>
    </p:spTree>
    <p:extLst>
      <p:ext uri="{BB962C8B-B14F-4D97-AF65-F5344CB8AC3E}">
        <p14:creationId xmlns:p14="http://schemas.microsoft.com/office/powerpoint/2010/main" val="30480462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Agenda items placeholder"/>
          <p:cNvSpPr>
            <a:spLocks noGrp="1"/>
          </p:cNvSpPr>
          <p:nvPr>
            <p:ph type="body" sz="quarter" idx="10" hasCustomPrompt="1"/>
          </p:nvPr>
        </p:nvSpPr>
        <p:spPr>
          <a:xfrm>
            <a:off x="504000" y="1620000"/>
            <a:ext cx="11185200" cy="4230000"/>
          </a:xfrm>
        </p:spPr>
        <p:txBody>
          <a:bodyPr>
            <a:noAutofit/>
          </a:bodyPr>
          <a:lstStyle>
            <a:lvl1pPr marL="0" marR="0" indent="0" algn="l" defTabSz="1088558" rtl="0" eaLnBrk="1" fontAlgn="auto" latinLnBrk="0" hangingPunct="1">
              <a:lnSpc>
                <a:spcPct val="100000"/>
              </a:lnSpc>
              <a:spcBef>
                <a:spcPts val="3000"/>
              </a:spcBef>
              <a:spcAft>
                <a:spcPts val="0"/>
              </a:spcAft>
              <a:buClr>
                <a:schemeClr val="accent1"/>
              </a:buClr>
              <a:buSzPct val="80000"/>
              <a:buFontTx/>
              <a:buNone/>
              <a:tabLst/>
              <a:defRPr sz="2000" b="0"/>
            </a:lvl1pPr>
            <a:lvl2pPr marL="179964" marR="0" indent="-179964" algn="l" defTabSz="1088558" rtl="0" eaLnBrk="1" fontAlgn="auto" latinLnBrk="0" hangingPunct="1">
              <a:lnSpc>
                <a:spcPct val="100000"/>
              </a:lnSpc>
              <a:spcBef>
                <a:spcPts val="600"/>
              </a:spcBef>
              <a:spcAft>
                <a:spcPts val="0"/>
              </a:spcAft>
              <a:buClr>
                <a:schemeClr val="accent1"/>
              </a:buClr>
              <a:buSzPct val="100000"/>
              <a:buFont typeface="Wingdings" panose="05000000000000000000" pitchFamily="2" charset="2"/>
              <a:buChar char="§"/>
              <a:tabLst/>
              <a:defRPr sz="1800"/>
            </a:lvl2pPr>
            <a:lvl3pPr marL="359928" marR="0" indent="-179352" algn="l" defTabSz="1088558" rtl="0" eaLnBrk="1" fontAlgn="auto" latinLnBrk="0" hangingPunct="1">
              <a:lnSpc>
                <a:spcPct val="100000"/>
              </a:lnSpc>
              <a:spcBef>
                <a:spcPts val="400"/>
              </a:spcBef>
              <a:spcAft>
                <a:spcPts val="0"/>
              </a:spcAft>
              <a:buClr>
                <a:schemeClr val="tx1"/>
              </a:buClr>
              <a:buSzPct val="100000"/>
              <a:buFont typeface="Arial" pitchFamily="34" charset="0"/>
              <a:buChar char="–"/>
              <a:tabLst/>
              <a:defRPr sz="1800" baseline="0"/>
            </a:lvl3pPr>
            <a:lvl4pPr marL="539892" marR="0" indent="-179964" algn="l" defTabSz="1088558" rtl="0" eaLnBrk="1" fontAlgn="auto" latinLnBrk="0" hangingPunct="1">
              <a:lnSpc>
                <a:spcPct val="100000"/>
              </a:lnSpc>
              <a:spcBef>
                <a:spcPts val="250"/>
              </a:spcBef>
              <a:spcAft>
                <a:spcPts val="0"/>
              </a:spcAft>
              <a:buClr>
                <a:schemeClr val="tx1"/>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p:txBody>
      </p:sp>
      <p:sp>
        <p:nvSpPr>
          <p:cNvPr id="3" name="Agenda title"/>
          <p:cNvSpPr>
            <a:spLocks noGrp="1"/>
          </p:cNvSpPr>
          <p:nvPr>
            <p:ph type="title" hasCustomPrompt="1"/>
          </p:nvPr>
        </p:nvSpPr>
        <p:spPr/>
        <p:txBody>
          <a:bodyPr/>
          <a:lstStyle>
            <a:lvl1pPr>
              <a:defRPr/>
            </a:lvl1pPr>
          </a:lstStyle>
          <a:p>
            <a:r>
              <a:rPr lang="en-US" dirty="0"/>
              <a:t>Agenda</a:t>
            </a:r>
          </a:p>
        </p:txBody>
      </p:sp>
    </p:spTree>
    <p:extLst>
      <p:ext uri="{BB962C8B-B14F-4D97-AF65-F5344CB8AC3E}">
        <p14:creationId xmlns:p14="http://schemas.microsoft.com/office/powerpoint/2010/main" val="1859360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gray">
          <a:xfrm>
            <a:off x="504000" y="3090446"/>
            <a:ext cx="11185200" cy="677108"/>
          </a:xfrm>
        </p:spPr>
        <p:txBody>
          <a:bodyPr anchor="ctr"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410952787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with image">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dirty="0"/>
              <a:t>Placeholder for image and illustration scene art</a:t>
            </a:r>
          </a:p>
        </p:txBody>
      </p:sp>
      <p:sp>
        <p:nvSpPr>
          <p:cNvPr id="2" name="Divider text"/>
          <p:cNvSpPr>
            <a:spLocks noGrp="1"/>
          </p:cNvSpPr>
          <p:nvPr>
            <p:ph type="ctrTitle" hasCustomPrompt="1"/>
          </p:nvPr>
        </p:nvSpPr>
        <p:spPr bwMode="gray">
          <a:xfrm>
            <a:off x="504000" y="1375046"/>
            <a:ext cx="11185200" cy="677108"/>
          </a:xfrm>
        </p:spPr>
        <p:txBody>
          <a:bodyPr anchor="t" anchorCtr="0">
            <a:noAutofit/>
          </a:bodyPr>
          <a:lstStyle>
            <a:lvl1pPr>
              <a:defRPr sz="4400">
                <a:solidFill>
                  <a:schemeClr val="tx1"/>
                </a:solidFill>
                <a:latin typeface="+mj-lt"/>
              </a:defRPr>
            </a:lvl1pPr>
          </a:lstStyle>
          <a:p>
            <a:r>
              <a:rPr lang="en-US" dirty="0"/>
              <a:t>Divider page</a:t>
            </a:r>
          </a:p>
        </p:txBody>
      </p:sp>
    </p:spTree>
    <p:extLst>
      <p:ext uri="{BB962C8B-B14F-4D97-AF65-F5344CB8AC3E}">
        <p14:creationId xmlns:p14="http://schemas.microsoft.com/office/powerpoint/2010/main" val="100898527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466743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3999" y="1620000"/>
            <a:ext cx="11186477"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1293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4" name="Text placeholder - column 2"/>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 column 1"/>
          <p:cNvSpPr>
            <a:spLocks noGrp="1"/>
          </p:cNvSpPr>
          <p:nvPr>
            <p:ph type="body" sz="quarter" idx="11" hasCustomPrompt="1"/>
          </p:nvPr>
        </p:nvSpPr>
        <p:spPr>
          <a:xfrm>
            <a:off x="6362477"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2630481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 column 2"/>
          <p:cNvSpPr>
            <a:spLocks noGrp="1"/>
          </p:cNvSpPr>
          <p:nvPr>
            <p:ph type="body" sz="quarter" idx="12" hasCustomPrompt="1"/>
          </p:nvPr>
        </p:nvSpPr>
        <p:spPr>
          <a:xfrm>
            <a:off x="4315238"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 column 1"/>
          <p:cNvSpPr>
            <a:spLocks noGrp="1"/>
          </p:cNvSpPr>
          <p:nvPr>
            <p:ph type="body" sz="quarter" idx="10" hasCustomPrompt="1"/>
          </p:nvPr>
        </p:nvSpPr>
        <p:spPr>
          <a:xfrm>
            <a:off x="504000" y="1620000"/>
            <a:ext cx="3564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8664163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6362477" y="4770000"/>
            <a:ext cx="5328000" cy="108000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6362477" y="1620000"/>
            <a:ext cx="5328000" cy="2631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504941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8299277"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8299277"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4401639" y="4354921"/>
            <a:ext cx="3391200" cy="1495079"/>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4401639" y="1620000"/>
            <a:ext cx="3391200" cy="2232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727667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
        <p:nvSpPr>
          <p:cNvPr id="3" name="Text placeholder - column 2"/>
          <p:cNvSpPr>
            <a:spLocks noGrp="1"/>
          </p:cNvSpPr>
          <p:nvPr>
            <p:ph type="body" sz="quarter" idx="10" hasCustomPrompt="1"/>
          </p:nvPr>
        </p:nvSpPr>
        <p:spPr>
          <a:xfrm>
            <a:off x="504000" y="3878220"/>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5" name="Picture Placeholder 4"/>
          <p:cNvSpPr>
            <a:spLocks noGrp="1"/>
          </p:cNvSpPr>
          <p:nvPr>
            <p:ph type="pic" sz="quarter" idx="12" hasCustomPrompt="1"/>
          </p:nvPr>
        </p:nvSpPr>
        <p:spPr bwMode="gray">
          <a:xfrm>
            <a:off x="504000"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7" name="Text placeholder - column 2"/>
          <p:cNvSpPr>
            <a:spLocks noGrp="1"/>
          </p:cNvSpPr>
          <p:nvPr>
            <p:ph type="body" sz="quarter" idx="13" hasCustomPrompt="1"/>
          </p:nvPr>
        </p:nvSpPr>
        <p:spPr>
          <a:xfrm>
            <a:off x="9274877"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8" name="Picture Placeholder 4"/>
          <p:cNvSpPr>
            <a:spLocks noGrp="1"/>
          </p:cNvSpPr>
          <p:nvPr>
            <p:ph type="pic" sz="quarter" idx="14" hasCustomPrompt="1"/>
          </p:nvPr>
        </p:nvSpPr>
        <p:spPr bwMode="gray">
          <a:xfrm>
            <a:off x="9274877"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9" name="Text placeholder - column 2"/>
          <p:cNvSpPr>
            <a:spLocks noGrp="1"/>
          </p:cNvSpPr>
          <p:nvPr>
            <p:ph type="body" sz="quarter" idx="15" hasCustomPrompt="1"/>
          </p:nvPr>
        </p:nvSpPr>
        <p:spPr>
          <a:xfrm>
            <a:off x="3427626"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0" name="Picture Placeholder 4"/>
          <p:cNvSpPr>
            <a:spLocks noGrp="1"/>
          </p:cNvSpPr>
          <p:nvPr>
            <p:ph type="pic" sz="quarter" idx="16" hasCustomPrompt="1"/>
          </p:nvPr>
        </p:nvSpPr>
        <p:spPr bwMode="gray">
          <a:xfrm>
            <a:off x="3427626"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13" name="Text placeholder - column 2"/>
          <p:cNvSpPr>
            <a:spLocks noGrp="1"/>
          </p:cNvSpPr>
          <p:nvPr>
            <p:ph type="body" sz="quarter" idx="17" hasCustomPrompt="1"/>
          </p:nvPr>
        </p:nvSpPr>
        <p:spPr>
          <a:xfrm>
            <a:off x="6351252" y="3878221"/>
            <a:ext cx="2415600" cy="1971780"/>
          </a:xfrm>
        </p:spPr>
        <p:txBody>
          <a:bodyPr/>
          <a:lstStyle>
            <a:lvl1pPr>
              <a:spcBef>
                <a:spcPts val="600"/>
              </a:spcBef>
              <a:defRPr sz="1800"/>
            </a:lvl1pPr>
            <a:lvl2pPr>
              <a:defRPr sz="1600"/>
            </a:lvl2pPr>
            <a:lvl3pPr>
              <a:defRPr sz="1400"/>
            </a:lvl3pPr>
          </a:lstStyle>
          <a:p>
            <a:pPr lvl="0"/>
            <a:r>
              <a:rPr lang="en-US" noProof="0" dirty="0"/>
              <a:t>First level</a:t>
            </a:r>
          </a:p>
          <a:p>
            <a:pPr lvl="1"/>
            <a:r>
              <a:rPr lang="en-US" dirty="0"/>
              <a:t>Second level</a:t>
            </a:r>
          </a:p>
          <a:p>
            <a:pPr lvl="2"/>
            <a:r>
              <a:rPr lang="en-US" dirty="0"/>
              <a:t>Third level</a:t>
            </a:r>
          </a:p>
        </p:txBody>
      </p:sp>
      <p:sp>
        <p:nvSpPr>
          <p:cNvPr id="14" name="Picture Placeholder 4"/>
          <p:cNvSpPr>
            <a:spLocks noGrp="1"/>
          </p:cNvSpPr>
          <p:nvPr>
            <p:ph type="pic" sz="quarter" idx="18" hasCustomPrompt="1"/>
          </p:nvPr>
        </p:nvSpPr>
        <p:spPr bwMode="gray">
          <a:xfrm>
            <a:off x="6351252" y="1620000"/>
            <a:ext cx="2415600" cy="1728000"/>
          </a:xfrm>
          <a:solidFill>
            <a:schemeClr val="tx2">
              <a:alpha val="70000"/>
            </a:schemeClr>
          </a:solid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26805944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5" name="Quote placeholder"/>
          <p:cNvSpPr>
            <a:spLocks noGrp="1"/>
          </p:cNvSpPr>
          <p:nvPr>
            <p:ph type="body" sz="quarter" idx="10" hasCustomPrompt="1"/>
          </p:nvPr>
        </p:nvSpPr>
        <p:spPr>
          <a:xfrm>
            <a:off x="504000" y="1800000"/>
            <a:ext cx="11185200" cy="3285032"/>
          </a:xfrm>
        </p:spPr>
        <p:txBody>
          <a:bodyPr/>
          <a:lstStyle>
            <a:lvl1pPr marL="395921" indent="-395921">
              <a:lnSpc>
                <a:spcPct val="90000"/>
              </a:lnSpc>
              <a:spcBef>
                <a:spcPts val="600"/>
              </a:spcBef>
              <a:defRPr sz="5999" b="1"/>
            </a:lvl1pPr>
            <a:lvl2pPr marL="395921" indent="0">
              <a:buNone/>
              <a:defRPr sz="1200"/>
            </a:lvl2pPr>
          </a:lstStyle>
          <a:p>
            <a:pPr lvl="0"/>
            <a:r>
              <a:rPr lang="en-US" noProof="0" dirty="0"/>
              <a:t>“Quote goes here </a:t>
            </a:r>
            <a:br>
              <a:rPr lang="en-US" noProof="0" dirty="0"/>
            </a:br>
            <a:r>
              <a:rPr lang="en-US" noProof="0" dirty="0"/>
              <a:t>and here.”</a:t>
            </a:r>
          </a:p>
          <a:p>
            <a:pPr lvl="1"/>
            <a:r>
              <a:rPr lang="en-US" noProof="0" dirty="0"/>
              <a:t>Source</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grpSp>
        <p:nvGrpSpPr>
          <p:cNvPr id="3" name="Group 2"/>
          <p:cNvGrpSpPr/>
          <p:nvPr userDrawn="1"/>
        </p:nvGrpSpPr>
        <p:grpSpPr>
          <a:xfrm>
            <a:off x="0" y="0"/>
            <a:ext cx="12195175" cy="251942"/>
            <a:chOff x="0" y="0"/>
            <a:chExt cx="12195175" cy="251942"/>
          </a:xfrm>
        </p:grpSpPr>
        <p:sp>
          <p:nvSpPr>
            <p:cNvPr id="9" name="Rectangle 8"/>
            <p:cNvSpPr/>
            <p:nvPr userDrawn="1"/>
          </p:nvSpPr>
          <p:spPr bwMode="gray">
            <a:xfrm>
              <a:off x="0" y="0"/>
              <a:ext cx="12195175" cy="251942"/>
            </a:xfrm>
            <a:prstGeom prst="rect">
              <a:avLst/>
            </a:prstGeom>
            <a:solidFill>
              <a:schemeClr val="bg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4" name="Secondary Motion Band"/>
            <p:cNvGrpSpPr/>
            <p:nvPr userDrawn="1"/>
          </p:nvGrpSpPr>
          <p:grpSpPr>
            <a:xfrm>
              <a:off x="10682127" y="0"/>
              <a:ext cx="1513048" cy="251942"/>
              <a:chOff x="10682127" y="0"/>
              <a:chExt cx="1513048" cy="252000"/>
            </a:xfrm>
          </p:grpSpPr>
          <p:sp>
            <p:nvSpPr>
              <p:cNvPr id="6" name="Rectangle 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Rectangle 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grpSp>
    </p:spTree>
    <p:extLst>
      <p:ext uri="{BB962C8B-B14F-4D97-AF65-F5344CB8AC3E}">
        <p14:creationId xmlns:p14="http://schemas.microsoft.com/office/powerpoint/2010/main" val="9327859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with image 1">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8127175" y="252000"/>
            <a:ext cx="4068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709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709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34250202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text with image 2">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6111175" y="252000"/>
            <a:ext cx="6084000"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
        <p:nvSpPr>
          <p:cNvPr id="7" name="Text Placeholder 6"/>
          <p:cNvSpPr>
            <a:spLocks noGrp="1"/>
          </p:cNvSpPr>
          <p:nvPr>
            <p:ph type="body" sz="quarter" idx="11" hasCustomPrompt="1"/>
          </p:nvPr>
        </p:nvSpPr>
        <p:spPr bwMode="gray">
          <a:xfrm>
            <a:off x="503999" y="1620000"/>
            <a:ext cx="5112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p:cNvSpPr>
            <a:spLocks noGrp="1"/>
          </p:cNvSpPr>
          <p:nvPr>
            <p:ph type="title" hasCustomPrompt="1"/>
          </p:nvPr>
        </p:nvSpPr>
        <p:spPr>
          <a:xfrm>
            <a:off x="504001" y="504000"/>
            <a:ext cx="5112000"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5527877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ith motion band">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252000"/>
            <a:ext cx="12195175" cy="6606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19010498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4"/>
          <p:cNvSpPr>
            <a:spLocks noGrp="1"/>
          </p:cNvSpPr>
          <p:nvPr>
            <p:ph type="pic" sz="quarter" idx="10" hasCustomPrompt="1"/>
          </p:nvPr>
        </p:nvSpPr>
        <p:spPr bwMode="gray">
          <a:xfrm>
            <a:off x="1" y="0"/>
            <a:ext cx="12195175" cy="6858000"/>
          </a:xfrm>
          <a:solidFill>
            <a:schemeClr val="tx2">
              <a:alpha val="70000"/>
            </a:schemeClr>
          </a:solid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image</a:t>
            </a:r>
          </a:p>
        </p:txBody>
      </p:sp>
    </p:spTree>
    <p:extLst>
      <p:ext uri="{BB962C8B-B14F-4D97-AF65-F5344CB8AC3E}">
        <p14:creationId xmlns:p14="http://schemas.microsoft.com/office/powerpoint/2010/main" val="41397911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4"/>
          <p:cNvSpPr>
            <a:spLocks noGrp="1"/>
          </p:cNvSpPr>
          <p:nvPr>
            <p:ph type="pic" sz="quarter" idx="13" hasCustomPrompt="1"/>
          </p:nvPr>
        </p:nvSpPr>
        <p:spPr bwMode="gray">
          <a:xfrm>
            <a:off x="6362477" y="1601628"/>
            <a:ext cx="5328000" cy="4230000"/>
          </a:xfrm>
          <a:solidFill>
            <a:schemeClr val="tx2">
              <a:alpha val="70000"/>
            </a:schemeClr>
          </a:solid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kern="1200" dirty="0">
                <a:solidFill>
                  <a:schemeClr val="tx1"/>
                </a:solidFill>
                <a:latin typeface="+mn-lt"/>
                <a:ea typeface="+mn-ea"/>
                <a:cs typeface="+mn-cs"/>
              </a:defRPr>
            </a:lvl1pPr>
          </a:lstStyle>
          <a:p>
            <a:r>
              <a:rPr lang="en-US" dirty="0"/>
              <a:t>Click icon to add screenshot</a:t>
            </a:r>
          </a:p>
        </p:txBody>
      </p:sp>
      <p:sp>
        <p:nvSpPr>
          <p:cNvPr id="4" name="Text Placeholder 3"/>
          <p:cNvSpPr>
            <a:spLocks noGrp="1"/>
          </p:cNvSpPr>
          <p:nvPr>
            <p:ph type="body" sz="quarter" idx="10" hasCustomPrompt="1"/>
          </p:nvPr>
        </p:nvSpPr>
        <p:spPr>
          <a:xfrm>
            <a:off x="504000" y="1620000"/>
            <a:ext cx="5328000" cy="4230000"/>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Title 2"/>
          <p:cNvSpPr>
            <a:spLocks noGrp="1"/>
          </p:cNvSpPr>
          <p:nvPr>
            <p:ph type="title" hasCustomPrompt="1"/>
          </p:nvPr>
        </p:nvSpPr>
        <p:spPr>
          <a:xfrm>
            <a:off x="504001" y="504000"/>
            <a:ext cx="11186476" cy="369332"/>
          </a:xfrm>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hasCustomPrompt="1"/>
          </p:nvPr>
        </p:nvSpPr>
        <p:spPr>
          <a:xfrm>
            <a:off x="504000" y="1620000"/>
            <a:ext cx="11185200" cy="4230000"/>
          </a:xfrm>
          <a:solidFill>
            <a:schemeClr val="tx2">
              <a:alpha val="70000"/>
            </a:schemeClr>
          </a:solidFill>
        </p:spPr>
        <p:txBody>
          <a:bodyPr tIns="1368000"/>
          <a:lstStyle>
            <a:lvl1pPr algn="ctr">
              <a:defRPr sz="1400" b="0"/>
            </a:lvl1pPr>
          </a:lstStyle>
          <a:p>
            <a:pPr lvl="0"/>
            <a:r>
              <a:rPr lang="en-US" dirty="0"/>
              <a:t>Click to add content</a:t>
            </a:r>
          </a:p>
        </p:txBody>
      </p:sp>
      <p:sp>
        <p:nvSpPr>
          <p:cNvPr id="2" name="Title 1"/>
          <p:cNvSpPr>
            <a:spLocks noGrp="1"/>
          </p:cNvSpPr>
          <p:nvPr>
            <p:ph type="title" hasCustomPrompt="1"/>
          </p:nvPr>
        </p:nvSpPr>
        <p:spPr/>
        <p:txBody>
          <a:bodyPr/>
          <a:lstStyle/>
          <a:p>
            <a:r>
              <a:rPr lang="en-US" noProof="0" dirty="0"/>
              <a:t>Insert page title (sentence case)</a:t>
            </a:r>
            <a:endParaRPr lang="en-US" dirty="0"/>
          </a:p>
        </p:txBody>
      </p:sp>
    </p:spTree>
    <p:extLst>
      <p:ext uri="{BB962C8B-B14F-4D97-AF65-F5344CB8AC3E}">
        <p14:creationId xmlns:p14="http://schemas.microsoft.com/office/powerpoint/2010/main" val="41860987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Blank with motion band">
    <p:spTree>
      <p:nvGrpSpPr>
        <p:cNvPr id="1" name=""/>
        <p:cNvGrpSpPr/>
        <p:nvPr/>
      </p:nvGrpSpPr>
      <p:grpSpPr>
        <a:xfrm>
          <a:off x="0" y="0"/>
          <a:ext cx="0" cy="0"/>
          <a:chOff x="0" y="0"/>
          <a:chExt cx="0" cy="0"/>
        </a:xfrm>
      </p:grpSpPr>
      <p:sp>
        <p:nvSpPr>
          <p:cNvPr id="7" name="Rectangle 6"/>
          <p:cNvSpPr/>
          <p:nvPr userDrawn="1"/>
        </p:nvSpPr>
        <p:spPr bwMode="gray">
          <a:xfrm>
            <a:off x="236220" y="1142735"/>
            <a:ext cx="11795760" cy="220929"/>
          </a:xfrm>
          <a:prstGeom prst="rect">
            <a:avLst/>
          </a:prstGeom>
          <a:solidFill>
            <a:schemeClr val="bg1"/>
          </a:solidFill>
          <a:ln w="6350" algn="ctr">
            <a:noFill/>
            <a:miter lim="800000"/>
            <a:headEnd/>
            <a:tailEnd/>
          </a:ln>
        </p:spPr>
        <p:txBody>
          <a:bodyPr lIns="89979" tIns="71983" rIns="89979" bIns="71983" rtlCol="0" anchor="ctr"/>
          <a:lstStyle/>
          <a:p>
            <a:pPr marR="0" algn="ctr" defTabSz="914217"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33792483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Thank you and contact information">
    <p:spTree>
      <p:nvGrpSpPr>
        <p:cNvPr id="1" name=""/>
        <p:cNvGrpSpPr/>
        <p:nvPr/>
      </p:nvGrpSpPr>
      <p:grpSpPr>
        <a:xfrm>
          <a:off x="0" y="0"/>
          <a:ext cx="0" cy="0"/>
          <a:chOff x="0" y="0"/>
          <a:chExt cx="0" cy="0"/>
        </a:xfrm>
      </p:grpSpPr>
      <p:sp>
        <p:nvSpPr>
          <p:cNvPr id="93" name="Contact information"/>
          <p:cNvSpPr>
            <a:spLocks noGrp="1"/>
          </p:cNvSpPr>
          <p:nvPr>
            <p:ph type="body" sz="quarter" idx="10" hasCustomPrompt="1"/>
          </p:nvPr>
        </p:nvSpPr>
        <p:spPr>
          <a:xfrm>
            <a:off x="504000" y="2905487"/>
            <a:ext cx="5328000" cy="2501010"/>
          </a:xfrm>
        </p:spPr>
        <p:txBody>
          <a:bodyPr anchor="t" anchorCtr="0">
            <a:noAutofit/>
          </a:bodyPr>
          <a:lstStyle>
            <a:lvl1pPr>
              <a:spcBef>
                <a:spcPts val="0"/>
              </a:spcBef>
              <a:spcAft>
                <a:spcPts val="1200"/>
              </a:spcAft>
              <a:defRPr sz="1600" b="0"/>
            </a:lvl1pPr>
            <a:lvl2pPr marL="0" indent="0">
              <a:spcBef>
                <a:spcPts val="0"/>
              </a:spcBef>
              <a:buNone/>
              <a:defRPr sz="1600" b="0"/>
            </a:lvl2pPr>
          </a:lstStyle>
          <a:p>
            <a:r>
              <a:rPr lang="en-US" dirty="0"/>
              <a:t>Contact information:</a:t>
            </a:r>
          </a:p>
          <a:p>
            <a:pPr lvl="1"/>
            <a:r>
              <a:rPr lang="en-US" dirty="0"/>
              <a:t>F name L name</a:t>
            </a:r>
          </a:p>
          <a:p>
            <a:pPr lvl="1"/>
            <a:r>
              <a:rPr lang="en-US" dirty="0"/>
              <a:t>Title</a:t>
            </a:r>
          </a:p>
          <a:p>
            <a:pPr lvl="1"/>
            <a:r>
              <a:rPr lang="en-US" dirty="0"/>
              <a:t>Address</a:t>
            </a:r>
          </a:p>
          <a:p>
            <a:pPr lvl="1"/>
            <a:r>
              <a:rPr lang="en-US" dirty="0"/>
              <a:t>Phone number</a:t>
            </a:r>
          </a:p>
        </p:txBody>
      </p:sp>
      <p:sp>
        <p:nvSpPr>
          <p:cNvPr id="2" name="Thank you"/>
          <p:cNvSpPr>
            <a:spLocks noGrp="1"/>
          </p:cNvSpPr>
          <p:nvPr>
            <p:ph type="ctrTitle" hasCustomPrompt="1"/>
          </p:nvPr>
        </p:nvSpPr>
        <p:spPr bwMode="gray">
          <a:xfrm>
            <a:off x="504000" y="1467009"/>
            <a:ext cx="5328000" cy="923116"/>
          </a:xfrm>
        </p:spPr>
        <p:txBody>
          <a:bodyPr anchor="t" anchorCtr="0">
            <a:noAutofit/>
          </a:bodyPr>
          <a:lstStyle>
            <a:lvl1pPr>
              <a:defRPr sz="5500">
                <a:solidFill>
                  <a:schemeClr val="accent1"/>
                </a:solidFill>
                <a:latin typeface="+mj-lt"/>
              </a:defRPr>
            </a:lvl1pPr>
          </a:lstStyle>
          <a:p>
            <a:r>
              <a:rPr lang="en-US" dirty="0"/>
              <a:t>Thank you.</a:t>
            </a:r>
          </a:p>
        </p:txBody>
      </p:sp>
      <p:pic>
        <p:nvPicPr>
          <p:cNvPr id="10" name="SAP 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04000" y="5994000"/>
            <a:ext cx="1578462" cy="360000"/>
          </a:xfrm>
          <a:prstGeom prst="rect">
            <a:avLst/>
          </a:prstGeom>
        </p:spPr>
      </p:pic>
    </p:spTree>
    <p:extLst>
      <p:ext uri="{BB962C8B-B14F-4D97-AF65-F5344CB8AC3E}">
        <p14:creationId xmlns:p14="http://schemas.microsoft.com/office/powerpoint/2010/main" val="78109031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pyright">
    <p:spTree>
      <p:nvGrpSpPr>
        <p:cNvPr id="1" name=""/>
        <p:cNvGrpSpPr/>
        <p:nvPr/>
      </p:nvGrpSpPr>
      <p:grpSpPr>
        <a:xfrm>
          <a:off x="0" y="0"/>
          <a:ext cx="0" cy="0"/>
          <a:chOff x="0" y="0"/>
          <a:chExt cx="0" cy="0"/>
        </a:xfrm>
      </p:grpSpPr>
      <p:sp>
        <p:nvSpPr>
          <p:cNvPr id="4" name="TextBox 3"/>
          <p:cNvSpPr txBox="1"/>
          <p:nvPr/>
        </p:nvSpPr>
        <p:spPr bwMode="gray">
          <a:xfrm>
            <a:off x="503999" y="1620000"/>
            <a:ext cx="11185200" cy="3153980"/>
          </a:xfrm>
          <a:prstGeom prst="rect">
            <a:avLst/>
          </a:prstGeom>
          <a:noFill/>
        </p:spPr>
        <p:txBody>
          <a:bodyPr wrap="square" lIns="0" tIns="0" rIns="0" bIns="0" rtlCol="0">
            <a:spAutoFit/>
          </a:bodyPr>
          <a:lstStyle/>
          <a:p>
            <a:pPr>
              <a:spcBef>
                <a:spcPts val="1200"/>
              </a:spcBef>
            </a:pPr>
            <a:r>
              <a:rPr lang="en-US" sz="1100" kern="1200" dirty="0">
                <a:solidFill>
                  <a:schemeClr val="tx1"/>
                </a:solidFill>
                <a:latin typeface="Arial"/>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1200"/>
              </a:spcBef>
            </a:pPr>
            <a:r>
              <a:rPr lang="en-US" sz="1100" kern="1200" dirty="0">
                <a:solidFill>
                  <a:schemeClr val="tx1"/>
                </a:solidFill>
                <a:latin typeface="Arial"/>
                <a:ea typeface="Arial Unicode MS" panose="020B0604020202020204" pitchFamily="34" charset="-128"/>
                <a:cs typeface="+mn-cs"/>
              </a:rPr>
              <a:t>The information contained herein may be changed without prior notice. Some software products marketed by SAP SE and its distributors contain proprietary software components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of other software vendors. National product specifications may vary.</a:t>
            </a:r>
          </a:p>
          <a:p>
            <a:pPr>
              <a:spcBef>
                <a:spcPts val="1200"/>
              </a:spcBef>
            </a:pPr>
            <a:r>
              <a:rPr lang="en-US" sz="1100" kern="1200" dirty="0">
                <a:solidFill>
                  <a:schemeClr val="tx1"/>
                </a:solidFill>
                <a:latin typeface="Arial"/>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set forth in the express warranty statements accompanying such products and services, if any. Nothing herein should be construed as constituting an additional warranty. </a:t>
            </a:r>
          </a:p>
          <a:p>
            <a:pPr>
              <a:spcBef>
                <a:spcPts val="1200"/>
              </a:spcBef>
            </a:pPr>
            <a:r>
              <a:rPr lang="en-US" sz="1100" kern="1200" dirty="0">
                <a:solidFill>
                  <a:schemeClr val="tx1"/>
                </a:solidFill>
                <a:latin typeface="Arial"/>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1200"/>
              </a:spcBef>
            </a:pPr>
            <a:r>
              <a:rPr lang="en-US" sz="1100" kern="1200" dirty="0">
                <a:solidFill>
                  <a:schemeClr val="tx1"/>
                </a:solidFill>
                <a:latin typeface="Arial"/>
                <a:ea typeface="Arial Unicode MS" panose="020B0604020202020204" pitchFamily="34" charset="-128"/>
                <a:cs typeface="+mn-cs"/>
              </a:rPr>
              <a:t>SAP and other SAP products and services mentioned herein as well as their respective logos are trademarks or registered trademarks of SAP SE (or an SAP affiliate company)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in Germany and other countries. All other product and service names mentioned are the trademarks of their respective companies. </a:t>
            </a:r>
            <a:br>
              <a:rPr lang="en-US" sz="1100" kern="1200" dirty="0">
                <a:solidFill>
                  <a:schemeClr val="tx1"/>
                </a:solidFill>
                <a:latin typeface="Arial"/>
                <a:ea typeface="Arial Unicode MS" panose="020B0604020202020204" pitchFamily="34" charset="-128"/>
                <a:cs typeface="+mn-cs"/>
              </a:rPr>
            </a:br>
            <a:r>
              <a:rPr lang="en-US" sz="1100" kern="1200" dirty="0">
                <a:solidFill>
                  <a:schemeClr val="tx1"/>
                </a:solidFill>
                <a:latin typeface="Arial"/>
                <a:ea typeface="Arial Unicode MS" panose="020B0604020202020204" pitchFamily="34" charset="-128"/>
                <a:cs typeface="+mn-cs"/>
              </a:rPr>
              <a:t>See </a:t>
            </a:r>
            <a:r>
              <a:rPr lang="en-US" sz="1100" kern="1200" dirty="0">
                <a:solidFill>
                  <a:schemeClr val="tx2"/>
                </a:solidFill>
                <a:latin typeface="Arial"/>
                <a:ea typeface="Arial Unicode MS" panose="020B0604020202020204" pitchFamily="34" charset="-128"/>
                <a:cs typeface="+mn-cs"/>
                <a:hlinkClick r:id="rId2"/>
              </a:rPr>
              <a:t>http://global.sap.com/corporate-en/legal/copyright/index.epx</a:t>
            </a:r>
            <a:r>
              <a:rPr lang="en-US" sz="1100" kern="1200" dirty="0">
                <a:solidFill>
                  <a:schemeClr val="tx2"/>
                </a:solidFill>
                <a:latin typeface="Arial"/>
                <a:ea typeface="Arial Unicode MS" panose="020B0604020202020204" pitchFamily="34" charset="-128"/>
                <a:cs typeface="+mn-cs"/>
              </a:rPr>
              <a:t> </a:t>
            </a:r>
            <a:r>
              <a:rPr lang="en-US" sz="1100" kern="1200" dirty="0">
                <a:solidFill>
                  <a:schemeClr val="tx1"/>
                </a:solidFill>
                <a:latin typeface="Arial"/>
                <a:ea typeface="Arial Unicode MS" panose="020B0604020202020204" pitchFamily="34" charset="-128"/>
                <a:cs typeface="+mn-cs"/>
              </a:rPr>
              <a:t>for additional trademark information and notices.</a:t>
            </a:r>
          </a:p>
        </p:txBody>
      </p:sp>
      <p:sp>
        <p:nvSpPr>
          <p:cNvPr id="5" name="TextBox 4"/>
          <p:cNvSpPr txBox="1"/>
          <p:nvPr userDrawn="1"/>
        </p:nvSpPr>
        <p:spPr bwMode="gray">
          <a:xfrm>
            <a:off x="504000" y="719834"/>
            <a:ext cx="9540674"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or an SAP affiliate company. All rights reserved.</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4519251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pyright german">
    <p:spTree>
      <p:nvGrpSpPr>
        <p:cNvPr id="1" name=""/>
        <p:cNvGrpSpPr/>
        <p:nvPr/>
      </p:nvGrpSpPr>
      <p:grpSpPr>
        <a:xfrm>
          <a:off x="0" y="0"/>
          <a:ext cx="0" cy="0"/>
          <a:chOff x="0" y="0"/>
          <a:chExt cx="0" cy="0"/>
        </a:xfrm>
      </p:grpSpPr>
      <p:sp>
        <p:nvSpPr>
          <p:cNvPr id="4" name="TextBox 3"/>
          <p:cNvSpPr txBox="1"/>
          <p:nvPr userDrawn="1"/>
        </p:nvSpPr>
        <p:spPr bwMode="gray">
          <a:xfrm>
            <a:off x="504000" y="1620000"/>
            <a:ext cx="11185200" cy="3830931"/>
          </a:xfrm>
          <a:prstGeom prst="rect">
            <a:avLst/>
          </a:prstGeom>
          <a:noFill/>
        </p:spPr>
        <p:txBody>
          <a:bodyPr wrap="square" lIns="0" tIns="0" rIns="0" bIns="0" rtlCol="0">
            <a:spAutoFit/>
          </a:bodyPr>
          <a:lstStyle/>
          <a:p>
            <a:pPr>
              <a:spcBef>
                <a:spcPts val="1200"/>
              </a:spcBef>
            </a:pPr>
            <a:r>
              <a:rPr lang="en-US" sz="1100" kern="1200" noProof="0" dirty="0" err="1">
                <a:solidFill>
                  <a:schemeClr val="tx1"/>
                </a:solidFill>
                <a:effectLst/>
                <a:latin typeface="Arial"/>
                <a:ea typeface="+mn-ea"/>
                <a:cs typeface="+mn-cs"/>
              </a:rPr>
              <a:t>Weitergabe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Vervielfältigung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Teilen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daraus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welchem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Zweck</a:t>
            </a:r>
            <a:r>
              <a:rPr lang="en-US" sz="1100" kern="1200" noProof="0" dirty="0">
                <a:solidFill>
                  <a:schemeClr val="tx1"/>
                </a:solidFill>
                <a:effectLst/>
                <a:latin typeface="Arial"/>
                <a:ea typeface="+mn-ea"/>
                <a:cs typeface="+mn-cs"/>
              </a:rPr>
              <a:t> und in </a:t>
            </a:r>
            <a:r>
              <a:rPr lang="en-US" sz="1100" kern="1200" noProof="0" dirty="0" err="1">
                <a:solidFill>
                  <a:schemeClr val="tx1"/>
                </a:solidFill>
                <a:effectLst/>
                <a:latin typeface="Arial"/>
                <a:ea typeface="+mn-ea"/>
                <a:cs typeface="+mn-cs"/>
              </a:rPr>
              <a:t>welcher</a:t>
            </a:r>
            <a:r>
              <a:rPr lang="en-US" sz="1100" kern="1200" noProof="0" dirty="0">
                <a:solidFill>
                  <a:schemeClr val="tx1"/>
                </a:solidFill>
                <a:effectLst/>
                <a:latin typeface="Arial"/>
                <a:ea typeface="+mn-ea"/>
                <a:cs typeface="+mn-cs"/>
              </a:rPr>
              <a:t> Form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immer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ausdrückliche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schriftliche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Genehmigung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gestattet</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vorherige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Ankündigung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von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Vertriebsfirmen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angebotenen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Softwarekomponenten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Softwarehersteller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länderspezifische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aufweisen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Die </a:t>
            </a:r>
            <a:r>
              <a:rPr lang="en-US" sz="1100" kern="1200" noProof="0" dirty="0" err="1">
                <a:solidFill>
                  <a:schemeClr val="tx1"/>
                </a:solidFill>
                <a:effectLst/>
                <a:latin typeface="Arial"/>
                <a:ea typeface="+mn-ea"/>
                <a:cs typeface="+mn-cs"/>
              </a:rPr>
              <a:t>vorliegenden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bereitgestellt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ausschließlich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Informationszwecken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keinerlei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Haftung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Gewährleistung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Fehler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Unvollständigkeiten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steht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lediglich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für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nach</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Maßgabe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a:t>
            </a:r>
            <a:r>
              <a:rPr lang="en-US" sz="1100" kern="1200" noProof="0" dirty="0">
                <a:solidFill>
                  <a:schemeClr val="tx1"/>
                </a:solidFill>
                <a:effectLst/>
                <a:latin typeface="Arial"/>
                <a:ea typeface="+mn-ea"/>
                <a:cs typeface="+mn-cs"/>
              </a:rPr>
              <a:t>, die in der </a:t>
            </a:r>
            <a:r>
              <a:rPr lang="en-US" sz="1100" kern="1200" noProof="0" dirty="0" err="1">
                <a:solidFill>
                  <a:schemeClr val="tx1"/>
                </a:solidFill>
                <a:effectLst/>
                <a:latin typeface="Arial"/>
                <a:ea typeface="+mn-ea"/>
                <a:cs typeface="+mn-cs"/>
              </a:rPr>
              <a:t>Vereinbarung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ausdrücklich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geregelt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ist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Garantie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interpretieren</a:t>
            </a:r>
            <a:r>
              <a:rPr lang="en-US" sz="1100" kern="1200" noProof="0" dirty="0">
                <a:solidFill>
                  <a:schemeClr val="tx1"/>
                </a:solidFill>
                <a:effectLst/>
                <a:latin typeface="Arial"/>
                <a:ea typeface="+mn-ea"/>
                <a:cs typeface="+mn-cs"/>
              </a:rPr>
              <a:t>. </a:t>
            </a:r>
          </a:p>
          <a:p>
            <a:pPr>
              <a:spcBef>
                <a:spcPts val="1200"/>
              </a:spcBef>
            </a:pPr>
            <a:r>
              <a:rPr lang="en-US" sz="1100" kern="1200" noProof="0" dirty="0" err="1">
                <a:solidFill>
                  <a:schemeClr val="tx1"/>
                </a:solidFill>
                <a:effectLst/>
                <a:latin typeface="Arial"/>
                <a:ea typeface="+mn-ea"/>
                <a:cs typeface="+mn-cs"/>
              </a:rPr>
              <a:t>Insbesondere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die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keiner</a:t>
            </a:r>
            <a:r>
              <a:rPr lang="en-US" sz="1100" kern="1200" noProof="0" dirty="0">
                <a:solidFill>
                  <a:schemeClr val="tx1"/>
                </a:solidFill>
                <a:effectLst/>
                <a:latin typeface="Arial"/>
                <a:ea typeface="+mn-ea"/>
                <a:cs typeface="+mn-cs"/>
              </a:rPr>
              <a:t> Weise </a:t>
            </a:r>
            <a:r>
              <a:rPr lang="en-US" sz="1100" kern="1200" noProof="0" dirty="0" err="1">
                <a:solidFill>
                  <a:schemeClr val="tx1"/>
                </a:solidFill>
                <a:effectLst/>
                <a:latin typeface="Arial"/>
                <a:ea typeface="+mn-ea"/>
                <a:cs typeface="+mn-cs"/>
              </a:rPr>
              <a:t>verpflichtet</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dargestellte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Geschäftsabläufe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verfolgen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hierin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wiedergegebene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entwickeln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veröffentlichen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zugehörige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Präsentation</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Strategie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etwaige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künftige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Entwicklungen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Plattformen</a:t>
            </a:r>
            <a:r>
              <a:rPr lang="en-US" sz="1100" kern="1200" noProof="0" dirty="0">
                <a:solidFill>
                  <a:schemeClr val="tx1"/>
                </a:solidFill>
                <a:effectLst/>
                <a:latin typeface="Arial"/>
                <a:ea typeface="+mn-ea"/>
                <a:cs typeface="+mn-cs"/>
              </a:rPr>
              <a:t>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von der SAP SE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ihren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jederzeit</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ohne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Angabe</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Gründen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unangekündigt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geändert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werden</a:t>
            </a:r>
            <a:r>
              <a:rPr lang="en-US" sz="1100" kern="1200" noProof="0" dirty="0">
                <a:solidFill>
                  <a:schemeClr val="tx1"/>
                </a:solidFill>
                <a:effectLst/>
                <a:latin typeface="Arial"/>
                <a:ea typeface="+mn-ea"/>
                <a:cs typeface="+mn-cs"/>
              </a:rPr>
              <a:t>. Die in </a:t>
            </a:r>
            <a:r>
              <a:rPr lang="en-US" sz="1100" kern="1200" noProof="0" dirty="0" err="1">
                <a:solidFill>
                  <a:schemeClr val="tx1"/>
                </a:solidFill>
                <a:effectLst/>
                <a:latin typeface="Arial"/>
                <a:ea typeface="+mn-ea"/>
                <a:cs typeface="+mn-cs"/>
              </a:rPr>
              <a:t>dieser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Publikation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enthaltenen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stellen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Zusage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Versprechen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keine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rechtliche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Verpflichtung</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Lieferung</a:t>
            </a:r>
            <a:r>
              <a:rPr lang="en-US" sz="1100" kern="1200" noProof="0" dirty="0">
                <a:solidFill>
                  <a:schemeClr val="tx1"/>
                </a:solidFill>
                <a:effectLst/>
                <a:latin typeface="Arial"/>
                <a:ea typeface="+mn-ea"/>
                <a:cs typeface="+mn-cs"/>
              </a:rPr>
              <a:t> von Material, Code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Funktionen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dar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Sämtliche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unterliegen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unterschiedlichen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Risiken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Unsicherheiten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durch</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tatsächlichen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Ergebnisse</a:t>
            </a:r>
            <a:r>
              <a:rPr lang="en-US" sz="1100" kern="1200" noProof="0" dirty="0">
                <a:solidFill>
                  <a:schemeClr val="tx1"/>
                </a:solidFill>
                <a:effectLst/>
                <a:latin typeface="Arial"/>
                <a:ea typeface="+mn-ea"/>
                <a:cs typeface="+mn-cs"/>
              </a:rPr>
              <a:t> von den </a:t>
            </a:r>
            <a:r>
              <a:rPr lang="en-US" sz="1100" kern="1200" noProof="0" dirty="0" err="1">
                <a:solidFill>
                  <a:schemeClr val="tx1"/>
                </a:solidFill>
                <a:effectLst/>
                <a:latin typeface="Arial"/>
                <a:ea typeface="+mn-ea"/>
                <a:cs typeface="+mn-cs"/>
              </a:rPr>
              <a:t>Erwartungen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abweichen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können</a:t>
            </a:r>
            <a:r>
              <a:rPr lang="en-US" sz="1100" kern="1200" noProof="0" dirty="0">
                <a:solidFill>
                  <a:schemeClr val="tx1"/>
                </a:solidFill>
                <a:effectLst/>
                <a:latin typeface="Arial"/>
                <a:ea typeface="+mn-ea"/>
                <a:cs typeface="+mn-cs"/>
              </a:rPr>
              <a:t>. Dem </a:t>
            </a:r>
            <a:r>
              <a:rPr lang="en-US" sz="1100" kern="1200" noProof="0" dirty="0" err="1">
                <a:solidFill>
                  <a:schemeClr val="tx1"/>
                </a:solidFill>
                <a:effectLst/>
                <a:latin typeface="Arial"/>
                <a:ea typeface="+mn-ea"/>
                <a:cs typeface="+mn-cs"/>
              </a:rPr>
              <a:t>Leser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wird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empfohlen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diesen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vorausschauenden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Aussagen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kein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übertriebenes</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Vertrauen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schenken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sich</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bei</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Kaufentscheidungen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nicht</a:t>
            </a:r>
            <a:r>
              <a:rPr lang="en-US" sz="1100" kern="1200" noProof="0" dirty="0">
                <a:solidFill>
                  <a:schemeClr val="tx1"/>
                </a:solidFill>
                <a:effectLst/>
                <a:latin typeface="Arial"/>
                <a:ea typeface="+mn-ea"/>
                <a:cs typeface="+mn-cs"/>
              </a:rPr>
              <a:t> auf </a:t>
            </a:r>
            <a:r>
              <a:rPr lang="en-US" sz="1100" kern="1200" noProof="0" dirty="0" err="1">
                <a:solidFill>
                  <a:schemeClr val="tx1"/>
                </a:solidFill>
                <a:effectLst/>
                <a:latin typeface="Arial"/>
                <a:ea typeface="+mn-ea"/>
                <a:cs typeface="+mn-cs"/>
              </a:rPr>
              <a:t>sie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stützen</a:t>
            </a:r>
            <a:r>
              <a:rPr lang="en-US" sz="1100" kern="1200" noProof="0" dirty="0">
                <a:solidFill>
                  <a:schemeClr val="tx1"/>
                </a:solidFill>
                <a:effectLst/>
                <a:latin typeface="Arial"/>
                <a:ea typeface="+mn-ea"/>
                <a:cs typeface="+mn-cs"/>
              </a:rPr>
              <a:t>.</a:t>
            </a:r>
          </a:p>
          <a:p>
            <a:pPr>
              <a:spcBef>
                <a:spcPts val="1200"/>
              </a:spcBef>
            </a:pPr>
            <a:r>
              <a:rPr lang="en-US" sz="1100" kern="1200" noProof="0" dirty="0">
                <a:solidFill>
                  <a:schemeClr val="tx1"/>
                </a:solidFill>
                <a:effectLst/>
                <a:latin typeface="Arial"/>
                <a:ea typeface="+mn-ea"/>
                <a:cs typeface="+mn-cs"/>
              </a:rPr>
              <a:t>SAP und </a:t>
            </a:r>
            <a:r>
              <a:rPr lang="en-US" sz="1100" kern="1200" noProof="0" dirty="0" err="1">
                <a:solidFill>
                  <a:schemeClr val="tx1"/>
                </a:solidFill>
                <a:effectLst/>
                <a:latin typeface="Arial"/>
                <a:ea typeface="+mn-ea"/>
                <a:cs typeface="+mn-cs"/>
              </a:rPr>
              <a:t>andere</a:t>
            </a:r>
            <a:r>
              <a:rPr lang="en-US" sz="1100" kern="1200" noProof="0" dirty="0">
                <a:solidFill>
                  <a:schemeClr val="tx1"/>
                </a:solidFill>
                <a:effectLst/>
                <a:latin typeface="Arial"/>
                <a:ea typeface="+mn-ea"/>
                <a:cs typeface="+mn-cs"/>
              </a:rPr>
              <a:t> in </a:t>
            </a:r>
            <a:r>
              <a:rPr lang="en-US" sz="1100" kern="1200" noProof="0" dirty="0" err="1">
                <a:solidFill>
                  <a:schemeClr val="tx1"/>
                </a:solidFill>
                <a:effectLst/>
                <a:latin typeface="Arial"/>
                <a:ea typeface="+mn-ea"/>
                <a:cs typeface="+mn-cs"/>
              </a:rPr>
              <a:t>diesem</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Dokument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erwähnte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Produkte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von SAP </a:t>
            </a:r>
            <a:r>
              <a:rPr lang="en-US" sz="1100" kern="1200" noProof="0" dirty="0" err="1">
                <a:solidFill>
                  <a:schemeClr val="tx1"/>
                </a:solidFill>
                <a:effectLst/>
                <a:latin typeface="Arial"/>
                <a:ea typeface="+mn-ea"/>
                <a:cs typeface="+mn-cs"/>
              </a:rPr>
              <a:t>sowie</a:t>
            </a:r>
            <a:r>
              <a:rPr lang="en-US" sz="1100" kern="1200" noProof="0" dirty="0">
                <a:solidFill>
                  <a:schemeClr val="tx1"/>
                </a:solidFill>
                <a:effectLst/>
                <a:latin typeface="Arial"/>
                <a:ea typeface="+mn-ea"/>
                <a:cs typeface="+mn-cs"/>
              </a:rPr>
              <a:t> die </a:t>
            </a:r>
            <a:r>
              <a:rPr lang="en-US" sz="1100" kern="1200" noProof="0" dirty="0" err="1">
                <a:solidFill>
                  <a:schemeClr val="tx1"/>
                </a:solidFill>
                <a:effectLst/>
                <a:latin typeface="Arial"/>
                <a:ea typeface="+mn-ea"/>
                <a:cs typeface="+mn-cs"/>
              </a:rPr>
              <a:t>dazugehörigen</a:t>
            </a:r>
            <a:r>
              <a:rPr lang="en-US" sz="1100" kern="1200" noProof="0" dirty="0">
                <a:solidFill>
                  <a:schemeClr val="tx1"/>
                </a:solidFill>
                <a:effectLst/>
                <a:latin typeface="Arial"/>
                <a:ea typeface="+mn-ea"/>
                <a:cs typeface="+mn-cs"/>
              </a:rPr>
              <a:t> Logos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eingetragene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SAP SE </a:t>
            </a:r>
            <a:br>
              <a:rPr lang="en-US" sz="1100" kern="1200" noProof="0" dirty="0">
                <a:solidFill>
                  <a:schemeClr val="tx1"/>
                </a:solidFill>
                <a:effectLst/>
                <a:latin typeface="Arial"/>
                <a:ea typeface="+mn-ea"/>
                <a:cs typeface="+mn-cs"/>
              </a:rPr>
            </a:br>
            <a:r>
              <a:rPr lang="en-US" sz="1100" kern="1200" noProof="0" dirty="0">
                <a:solidFill>
                  <a:schemeClr val="tx1"/>
                </a:solidFill>
                <a:effectLst/>
                <a:latin typeface="Arial"/>
                <a:ea typeface="+mn-ea"/>
                <a:cs typeface="+mn-cs"/>
              </a:rPr>
              <a:t>(</a:t>
            </a:r>
            <a:r>
              <a:rPr lang="en-US" sz="1100" kern="1200" noProof="0" dirty="0" err="1">
                <a:solidFill>
                  <a:schemeClr val="tx1"/>
                </a:solidFill>
                <a:effectLst/>
                <a:latin typeface="Arial"/>
                <a:ea typeface="+mn-ea"/>
                <a:cs typeface="+mn-cs"/>
              </a:rPr>
              <a:t>oder</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einem</a:t>
            </a:r>
            <a:r>
              <a:rPr lang="en-US" sz="1100" kern="1200" noProof="0" dirty="0">
                <a:solidFill>
                  <a:schemeClr val="tx1"/>
                </a:solidFill>
                <a:effectLst/>
                <a:latin typeface="Arial"/>
                <a:ea typeface="+mn-ea"/>
                <a:cs typeface="+mn-cs"/>
              </a:rPr>
              <a:t> SAP-</a:t>
            </a:r>
            <a:r>
              <a:rPr lang="en-US" sz="1100" kern="1200" noProof="0" dirty="0" err="1">
                <a:solidFill>
                  <a:schemeClr val="tx1"/>
                </a:solidFill>
                <a:effectLst/>
                <a:latin typeface="Arial"/>
                <a:ea typeface="+mn-ea"/>
                <a:cs typeface="+mn-cs"/>
              </a:rPr>
              <a:t>Konzernunternehmen</a:t>
            </a:r>
            <a:r>
              <a:rPr lang="en-US" sz="1100" kern="1200" noProof="0" dirty="0">
                <a:solidFill>
                  <a:schemeClr val="tx1"/>
                </a:solidFill>
                <a:effectLst/>
                <a:latin typeface="Arial"/>
                <a:ea typeface="+mn-ea"/>
                <a:cs typeface="+mn-cs"/>
              </a:rPr>
              <a:t>) in Deutschland und </a:t>
            </a:r>
            <a:r>
              <a:rPr lang="en-US" sz="1100" kern="1200" noProof="0" dirty="0" err="1">
                <a:solidFill>
                  <a:schemeClr val="tx1"/>
                </a:solidFill>
                <a:effectLst/>
                <a:latin typeface="Arial"/>
                <a:ea typeface="+mn-ea"/>
                <a:cs typeface="+mn-cs"/>
              </a:rPr>
              <a:t>verschiedenen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Ländern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weltweit</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Alle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anderen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Namen</a:t>
            </a:r>
            <a:r>
              <a:rPr lang="en-US" sz="1100" kern="1200" noProof="0" dirty="0">
                <a:solidFill>
                  <a:schemeClr val="tx1"/>
                </a:solidFill>
                <a:effectLst/>
                <a:latin typeface="Arial"/>
                <a:ea typeface="+mn-ea"/>
                <a:cs typeface="+mn-cs"/>
              </a:rPr>
              <a:t> von </a:t>
            </a:r>
            <a:r>
              <a:rPr lang="en-US" sz="1100" kern="1200" noProof="0" dirty="0" err="1">
                <a:solidFill>
                  <a:schemeClr val="tx1"/>
                </a:solidFill>
                <a:effectLst/>
                <a:latin typeface="Arial"/>
                <a:ea typeface="+mn-ea"/>
                <a:cs typeface="+mn-cs"/>
              </a:rPr>
              <a:t>Produkten</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Dienstleistungen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sind</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Marken</a:t>
            </a:r>
            <a:r>
              <a:rPr lang="en-US" sz="1100" kern="1200" noProof="0" dirty="0">
                <a:solidFill>
                  <a:schemeClr val="tx1"/>
                </a:solidFill>
                <a:effectLst/>
                <a:latin typeface="Arial"/>
                <a:ea typeface="+mn-ea"/>
                <a:cs typeface="+mn-cs"/>
              </a:rPr>
              <a:t> der </a:t>
            </a:r>
            <a:r>
              <a:rPr lang="en-US" sz="1100" kern="1200" noProof="0" dirty="0" err="1">
                <a:solidFill>
                  <a:schemeClr val="tx1"/>
                </a:solidFill>
                <a:effectLst/>
                <a:latin typeface="Arial"/>
                <a:ea typeface="+mn-ea"/>
                <a:cs typeface="+mn-cs"/>
              </a:rPr>
              <a:t>jeweiligen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Firmen</a:t>
            </a:r>
            <a:r>
              <a:rPr lang="en-US" sz="1100" kern="1200" noProof="0" dirty="0">
                <a:solidFill>
                  <a:schemeClr val="tx1"/>
                </a:solidFill>
                <a:effectLst/>
                <a:latin typeface="Arial"/>
                <a:ea typeface="+mn-ea"/>
                <a:cs typeface="+mn-cs"/>
              </a:rPr>
              <a:t>. </a:t>
            </a:r>
            <a:br>
              <a:rPr lang="en-US" sz="1100" kern="1200" noProof="0" dirty="0">
                <a:solidFill>
                  <a:schemeClr val="tx1"/>
                </a:solidFill>
                <a:effectLst/>
                <a:latin typeface="Arial"/>
                <a:ea typeface="+mn-ea"/>
                <a:cs typeface="+mn-cs"/>
              </a:rPr>
            </a:br>
            <a:r>
              <a:rPr lang="en-US" sz="1100" kern="1200" noProof="0" dirty="0" err="1">
                <a:solidFill>
                  <a:schemeClr val="tx1"/>
                </a:solidFill>
                <a:effectLst/>
                <a:latin typeface="Arial"/>
                <a:ea typeface="+mn-ea"/>
                <a:cs typeface="+mn-cs"/>
              </a:rPr>
              <a:t>Zusätzliche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Informationen</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zur</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Marke</a:t>
            </a:r>
            <a:r>
              <a:rPr lang="en-US" sz="1100" kern="1200" noProof="0" dirty="0">
                <a:solidFill>
                  <a:schemeClr val="tx1"/>
                </a:solidFill>
                <a:effectLst/>
                <a:latin typeface="Arial"/>
                <a:ea typeface="+mn-ea"/>
                <a:cs typeface="+mn-cs"/>
              </a:rPr>
              <a:t> und </a:t>
            </a:r>
            <a:r>
              <a:rPr lang="en-US" sz="1100" kern="1200" noProof="0" dirty="0" err="1">
                <a:solidFill>
                  <a:schemeClr val="tx1"/>
                </a:solidFill>
                <a:effectLst/>
                <a:latin typeface="Arial"/>
                <a:ea typeface="+mn-ea"/>
                <a:cs typeface="+mn-cs"/>
              </a:rPr>
              <a:t>Vermerke</a:t>
            </a:r>
            <a:r>
              <a:rPr lang="en-US" sz="1100" kern="1200" noProof="0" dirty="0">
                <a:solidFill>
                  <a:schemeClr val="tx1"/>
                </a:solidFill>
                <a:effectLst/>
                <a:latin typeface="Arial"/>
                <a:ea typeface="+mn-ea"/>
                <a:cs typeface="+mn-cs"/>
              </a:rPr>
              <a:t> </a:t>
            </a:r>
            <a:r>
              <a:rPr lang="en-US" sz="1100" kern="1200" noProof="0" dirty="0" err="1">
                <a:solidFill>
                  <a:schemeClr val="tx1"/>
                </a:solidFill>
                <a:effectLst/>
                <a:latin typeface="Arial"/>
                <a:ea typeface="+mn-ea"/>
                <a:cs typeface="+mn-cs"/>
              </a:rPr>
              <a:t>finden</a:t>
            </a:r>
            <a:r>
              <a:rPr lang="en-US" sz="1100" kern="1200" noProof="0" dirty="0">
                <a:solidFill>
                  <a:schemeClr val="tx1"/>
                </a:solidFill>
                <a:effectLst/>
                <a:latin typeface="Arial"/>
                <a:ea typeface="+mn-ea"/>
                <a:cs typeface="+mn-cs"/>
              </a:rPr>
              <a:t> Sie auf der </a:t>
            </a:r>
            <a:r>
              <a:rPr lang="en-US" sz="1100" kern="1200" noProof="0" dirty="0" err="1">
                <a:solidFill>
                  <a:schemeClr val="tx1"/>
                </a:solidFill>
                <a:effectLst/>
                <a:latin typeface="Arial"/>
                <a:ea typeface="+mn-ea"/>
                <a:cs typeface="+mn-cs"/>
              </a:rPr>
              <a:t>Seite</a:t>
            </a:r>
            <a:r>
              <a:rPr lang="en-US" sz="1100" kern="1200" noProof="0" dirty="0">
                <a:solidFill>
                  <a:schemeClr val="tx1"/>
                </a:solidFill>
                <a:effectLst/>
                <a:latin typeface="Arial"/>
                <a:ea typeface="+mn-ea"/>
                <a:cs typeface="+mn-cs"/>
              </a:rPr>
              <a:t> </a:t>
            </a:r>
            <a:r>
              <a:rPr lang="en-US" sz="1100" kern="1200" noProof="0" dirty="0">
                <a:solidFill>
                  <a:schemeClr val="tx1"/>
                </a:solidFill>
                <a:effectLst/>
                <a:latin typeface="Arial"/>
                <a:ea typeface="+mn-ea"/>
                <a:cs typeface="+mn-cs"/>
                <a:hlinkClick r:id="rId2"/>
              </a:rPr>
              <a:t>http://www.sap.com/corporate-de/legal/copyright/index.epx</a:t>
            </a:r>
            <a:endParaRPr lang="en-US" sz="1100" kern="1200" noProof="0" dirty="0">
              <a:solidFill>
                <a:schemeClr val="tx1"/>
              </a:solidFill>
              <a:effectLst/>
              <a:latin typeface="Arial"/>
              <a:ea typeface="+mn-ea"/>
              <a:cs typeface="+mn-cs"/>
            </a:endParaRPr>
          </a:p>
        </p:txBody>
      </p:sp>
      <p:sp>
        <p:nvSpPr>
          <p:cNvPr id="5" name="TextBox 4"/>
          <p:cNvSpPr txBox="1"/>
          <p:nvPr userDrawn="1"/>
        </p:nvSpPr>
        <p:spPr bwMode="gray">
          <a:xfrm>
            <a:off x="504000" y="719834"/>
            <a:ext cx="11185200" cy="369246"/>
          </a:xfrm>
          <a:prstGeom prst="rect">
            <a:avLst/>
          </a:prstGeom>
        </p:spPr>
        <p:txBody>
          <a:bodyPr vert="horz" wrap="square" lIns="0" tIns="0" rIns="0" bIns="0" rtlCol="0" anchor="t" anchorCtr="0">
            <a:spAutoFit/>
          </a:bodyPr>
          <a:lstStyle>
            <a:lvl1pPr>
              <a:spcBef>
                <a:spcPct val="0"/>
              </a:spcBef>
              <a:buNone/>
              <a:defRPr sz="2400" b="1" baseline="0">
                <a:latin typeface="+mj-lt"/>
                <a:ea typeface="+mj-ea"/>
                <a:cs typeface="+mj-cs"/>
              </a:defRPr>
            </a:lvl1pPr>
          </a:lstStyle>
          <a:p>
            <a:pPr lvl="0"/>
            <a:r>
              <a:rPr lang="en-US" sz="2400" b="0" noProof="0" dirty="0"/>
              <a:t>© 2017 SAP SE </a:t>
            </a:r>
            <a:r>
              <a:rPr lang="en-US" sz="2400" b="0" noProof="0" dirty="0" err="1"/>
              <a:t>oder</a:t>
            </a:r>
            <a:r>
              <a:rPr lang="en-US" sz="2400" b="0" noProof="0" dirty="0"/>
              <a:t> </a:t>
            </a:r>
            <a:r>
              <a:rPr lang="en-US" sz="2400" b="0" noProof="0" dirty="0" err="1"/>
              <a:t>ein</a:t>
            </a:r>
            <a:r>
              <a:rPr lang="en-US" sz="2400" b="0" noProof="0" dirty="0"/>
              <a:t> SAP-</a:t>
            </a:r>
            <a:r>
              <a:rPr lang="en-US" sz="2400" b="0" noProof="0" dirty="0" err="1"/>
              <a:t>Konzernunternehmen</a:t>
            </a:r>
            <a:r>
              <a:rPr lang="en-US" sz="2400" b="0" noProof="0" dirty="0"/>
              <a:t>. </a:t>
            </a:r>
            <a:r>
              <a:rPr lang="en-US" sz="2400" b="0" noProof="0" dirty="0" err="1"/>
              <a:t>Alle</a:t>
            </a:r>
            <a:r>
              <a:rPr lang="en-US" sz="2400" b="0" noProof="0" dirty="0"/>
              <a:t> </a:t>
            </a:r>
            <a:r>
              <a:rPr lang="en-US" sz="2400" b="0" noProof="0" dirty="0" err="1"/>
              <a:t>Rechte</a:t>
            </a:r>
            <a:r>
              <a:rPr lang="en-US" sz="2400" b="0" noProof="0" dirty="0"/>
              <a:t> </a:t>
            </a:r>
            <a:r>
              <a:rPr lang="en-US" sz="2400" b="0" noProof="0" dirty="0" err="1"/>
              <a:t>vorbehalten</a:t>
            </a:r>
            <a:r>
              <a:rPr lang="en-US" sz="2400" b="0" noProof="0" dirty="0"/>
              <a:t>.</a:t>
            </a:r>
          </a:p>
        </p:txBody>
      </p:sp>
      <p:grpSp>
        <p:nvGrpSpPr>
          <p:cNvPr id="6" name="Secondary Motion Band"/>
          <p:cNvGrpSpPr/>
          <p:nvPr userDrawn="1"/>
        </p:nvGrpSpPr>
        <p:grpSpPr>
          <a:xfrm>
            <a:off x="10682127" y="0"/>
            <a:ext cx="1513048" cy="251942"/>
            <a:chOff x="10682127" y="0"/>
            <a:chExt cx="1513048" cy="252000"/>
          </a:xfrm>
        </p:grpSpPr>
        <p:sp>
          <p:nvSpPr>
            <p:cNvPr id="7" name="Rectangle 6"/>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Rectangle 7"/>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9" name="Rectangle 8"/>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19118627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9413" y="6536751"/>
            <a:ext cx="141064"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noProof="0" smtClean="0"/>
              <a:pPr marL="0" lvl="0" indent="0" algn="r">
                <a:buNone/>
              </a:pPr>
              <a:t>‹Nr.›</a:t>
            </a:fld>
            <a:endParaRPr lang="en-US" sz="900" noProof="0" dirty="0"/>
          </a:p>
        </p:txBody>
      </p:sp>
      <p:sp>
        <p:nvSpPr>
          <p:cNvPr id="11" name="Classification"/>
          <p:cNvSpPr txBox="1"/>
          <p:nvPr userDrawn="1"/>
        </p:nvSpPr>
        <p:spPr bwMode="black">
          <a:xfrm>
            <a:off x="2814655" y="6559834"/>
            <a:ext cx="381515" cy="92333"/>
          </a:xfrm>
          <a:prstGeom prst="rect">
            <a:avLst/>
          </a:prstGeom>
          <a:noFill/>
        </p:spPr>
        <p:txBody>
          <a:bodyPr wrap="none" lIns="0" tIns="0" rIns="0" bIns="0" rtlCol="0">
            <a:spAutoFit/>
          </a:bodyPr>
          <a:lstStyle/>
          <a:p>
            <a:pPr marL="0" marR="0" indent="0" algn="l" defTabSz="1088558" rtl="0" eaLnBrk="1" fontAlgn="auto" latinLnBrk="0" hangingPunct="1">
              <a:lnSpc>
                <a:spcPct val="100000"/>
              </a:lnSpc>
              <a:spcBef>
                <a:spcPts val="0"/>
              </a:spcBef>
              <a:spcAft>
                <a:spcPts val="0"/>
              </a:spcAft>
              <a:buClr>
                <a:schemeClr val="tx1"/>
              </a:buClr>
              <a:buSzTx/>
              <a:buFont typeface="Arial" pitchFamily="34" charset="0"/>
              <a:buNone/>
              <a:tabLst/>
              <a:defRPr/>
            </a:pPr>
            <a:r>
              <a:rPr kumimoji="0" lang="en-US" sz="600" b="0" i="0" u="none" kern="0" baseline="0">
                <a:solidFill>
                  <a:schemeClr val="tx1"/>
                </a:solidFill>
                <a:latin typeface="Arial"/>
                <a:ea typeface="Arial Unicode MS"/>
                <a:cs typeface="Arial Unicode MS" pitchFamily="34" charset="-128"/>
                <a:sym typeface="Arial"/>
              </a:rPr>
              <a:t>INTERNAL</a:t>
            </a:r>
            <a:endParaRPr kumimoji="0" lang="en-US" sz="600" b="0" i="0" u="none" kern="0" baseline="0" dirty="0">
              <a:solidFill>
                <a:schemeClr val="tx1"/>
              </a:solidFill>
              <a:latin typeface="Arial"/>
              <a:ea typeface="Arial Unicode MS"/>
              <a:cs typeface="Arial Unicode MS" pitchFamily="34" charset="-128"/>
              <a:sym typeface="Arial"/>
            </a:endParaRPr>
          </a:p>
        </p:txBody>
      </p:sp>
      <p:sp>
        <p:nvSpPr>
          <p:cNvPr id="10" name="Copyright"/>
          <p:cNvSpPr txBox="1"/>
          <p:nvPr userDrawn="1"/>
        </p:nvSpPr>
        <p:spPr bwMode="black">
          <a:xfrm>
            <a:off x="504001" y="6559834"/>
            <a:ext cx="2269679" cy="92333"/>
          </a:xfrm>
          <a:prstGeom prst="rect">
            <a:avLst/>
          </a:prstGeom>
          <a:noFill/>
        </p:spPr>
        <p:txBody>
          <a:bodyPr wrap="square" lIns="0" tIns="0" rIns="0" bIns="0" rtlCol="0">
            <a:spAutoFit/>
          </a:bodyPr>
          <a:lstStyle/>
          <a:p>
            <a:pPr marL="84121" marR="0" indent="-84121" algn="l" defTabSz="1088558"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dirty="0">
                <a:solidFill>
                  <a:schemeClr val="tx1"/>
                </a:solidFill>
              </a:rPr>
              <a:t>2017 SAP SE or an SAP affiliate company. All rights reserved.  </a:t>
            </a:r>
            <a:r>
              <a:rPr kumimoji="0" lang="en-US" sz="600" b="0" i="0" u="none" kern="0" baseline="0" dirty="0">
                <a:solidFill>
                  <a:schemeClr val="tx1"/>
                </a:solidFill>
                <a:latin typeface="Arial"/>
                <a:ea typeface="Arial Unicode MS"/>
                <a:cs typeface="Arial Unicode MS" pitchFamily="34" charset="-128"/>
                <a:sym typeface="Arial"/>
              </a:rPr>
              <a:t>ǀ</a:t>
            </a:r>
          </a:p>
        </p:txBody>
      </p:sp>
      <p:sp>
        <p:nvSpPr>
          <p:cNvPr id="3" name="Text Placeholder 2"/>
          <p:cNvSpPr>
            <a:spLocks noGrp="1"/>
          </p:cNvSpPr>
          <p:nvPr userDrawn="1">
            <p:ph type="body" idx="1"/>
          </p:nvPr>
        </p:nvSpPr>
        <p:spPr bwMode="gray">
          <a:xfrm>
            <a:off x="504001" y="1620000"/>
            <a:ext cx="11186476" cy="4230235"/>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p:cNvSpPr>
            <a:spLocks noGrp="1"/>
          </p:cNvSpPr>
          <p:nvPr userDrawn="1">
            <p:ph type="title"/>
          </p:nvPr>
        </p:nvSpPr>
        <p:spPr bwMode="gray">
          <a:xfrm>
            <a:off x="504001" y="504000"/>
            <a:ext cx="11186476" cy="369332"/>
          </a:xfrm>
          <a:prstGeom prst="rect">
            <a:avLst/>
          </a:prstGeom>
        </p:spPr>
        <p:txBody>
          <a:bodyPr vert="horz" wrap="square" lIns="0" tIns="0" rIns="0" bIns="0" rtlCol="0" anchor="t" anchorCtr="0">
            <a:spAutoFit/>
          </a:bodyPr>
          <a:lstStyle/>
          <a:p>
            <a:r>
              <a:rPr lang="en-US" noProof="0" dirty="0"/>
              <a:t>Insert page title (sentence case)</a:t>
            </a:r>
          </a:p>
        </p:txBody>
      </p:sp>
      <p:grpSp>
        <p:nvGrpSpPr>
          <p:cNvPr id="9" name="Secondary Motion Band"/>
          <p:cNvGrpSpPr/>
          <p:nvPr userDrawn="1"/>
        </p:nvGrpSpPr>
        <p:grpSpPr>
          <a:xfrm>
            <a:off x="10682127" y="0"/>
            <a:ext cx="1513048" cy="251942"/>
            <a:chOff x="10682127" y="0"/>
            <a:chExt cx="1513048" cy="252000"/>
          </a:xfrm>
        </p:grpSpPr>
        <p:sp>
          <p:nvSpPr>
            <p:cNvPr id="16" name="Rectangle 15"/>
            <p:cNvSpPr/>
            <p:nvPr userDrawn="1"/>
          </p:nvSpPr>
          <p:spPr bwMode="gray">
            <a:xfrm>
              <a:off x="11691175" y="0"/>
              <a:ext cx="504000" cy="252000"/>
            </a:xfrm>
            <a:prstGeom prst="rect">
              <a:avLst/>
            </a:prstGeom>
            <a:solidFill>
              <a:schemeClr val="accent1"/>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Rectangle 16"/>
            <p:cNvSpPr/>
            <p:nvPr userDrawn="1"/>
          </p:nvSpPr>
          <p:spPr bwMode="gray">
            <a:xfrm>
              <a:off x="11186476" y="0"/>
              <a:ext cx="504000" cy="252000"/>
            </a:xfrm>
            <a:prstGeom prst="rect">
              <a:avLst/>
            </a:prstGeom>
            <a:solidFill>
              <a:schemeClr val="accent1">
                <a:alpha val="7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Rectangle 17"/>
            <p:cNvSpPr/>
            <p:nvPr userDrawn="1"/>
          </p:nvSpPr>
          <p:spPr bwMode="gray">
            <a:xfrm>
              <a:off x="10682127" y="0"/>
              <a:ext cx="504000" cy="252000"/>
            </a:xfrm>
            <a:prstGeom prst="rect">
              <a:avLst/>
            </a:prstGeom>
            <a:solidFill>
              <a:schemeClr val="accent1">
                <a:alpha val="40000"/>
              </a:schemeClr>
            </a:solidFill>
            <a:ln w="6350" algn="ctr">
              <a:noFill/>
              <a:miter lim="800000"/>
              <a:headEnd/>
              <a:tailEnd/>
            </a:ln>
          </p:spPr>
          <p:txBody>
            <a:bodyPr lIns="90000" tIns="72000" rIns="90000" bIns="72000" rtlCol="0" anchor="ctr"/>
            <a:lstStyle/>
            <a:p>
              <a:pPr marR="0" lvl="0" algn="ctr" defTabSz="914217" fontAlgn="base">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gr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2" r:id="rId1"/>
    <p:sldLayoutId id="2147483776" r:id="rId2"/>
    <p:sldLayoutId id="2147483773" r:id="rId3"/>
    <p:sldLayoutId id="2147483775" r:id="rId4"/>
    <p:sldLayoutId id="2147483741" r:id="rId5"/>
    <p:sldLayoutId id="2147483765" r:id="rId6"/>
    <p:sldLayoutId id="2147483767" r:id="rId7"/>
    <p:sldLayoutId id="2147483743" r:id="rId8"/>
    <p:sldLayoutId id="2147483774" r:id="rId9"/>
    <p:sldLayoutId id="2147483745" r:id="rId10"/>
    <p:sldLayoutId id="2147483760" r:id="rId11"/>
    <p:sldLayoutId id="2147483768" r:id="rId12"/>
    <p:sldLayoutId id="2147483769" r:id="rId13"/>
    <p:sldLayoutId id="2147483770" r:id="rId14"/>
    <p:sldLayoutId id="2147483744" r:id="rId15"/>
    <p:sldLayoutId id="2147483757" r:id="rId16"/>
    <p:sldLayoutId id="2147483748" r:id="rId17"/>
    <p:sldLayoutId id="2147483762" r:id="rId18"/>
    <p:sldLayoutId id="2147483771" r:id="rId19"/>
    <p:sldLayoutId id="2147483763" r:id="rId20"/>
    <p:sldLayoutId id="2147483751" r:id="rId21"/>
    <p:sldLayoutId id="2147483753" r:id="rId22"/>
    <p:sldLayoutId id="2147483756" r:id="rId23"/>
    <p:sldLayoutId id="2147483740" r:id="rId24"/>
    <p:sldLayoutId id="2147483754" r:id="rId25"/>
    <p:sldLayoutId id="2147483755" r:id="rId26"/>
  </p:sldLayoutIdLst>
  <p:hf hdr="0" ftr="0" dt="0"/>
  <p:txStyles>
    <p:titleStyle>
      <a:lvl1pPr algn="l" defTabSz="1088558" rtl="0" eaLnBrk="1" latinLnBrk="0" hangingPunct="1">
        <a:spcBef>
          <a:spcPct val="0"/>
        </a:spcBef>
        <a:buNone/>
        <a:defRPr sz="2400" b="1" kern="1200" baseline="0">
          <a:solidFill>
            <a:schemeClr val="tx1"/>
          </a:solidFill>
          <a:latin typeface="+mj-lt"/>
          <a:ea typeface="+mj-ea"/>
          <a:cs typeface="+mj-cs"/>
        </a:defRPr>
      </a:lvl1pPr>
    </p:titleStyle>
    <p:bodyStyle>
      <a:lvl1pPr marL="0" indent="0" algn="l" defTabSz="1088558" rtl="0" eaLnBrk="1" latinLnBrk="0" hangingPunct="1">
        <a:spcBef>
          <a:spcPts val="1800"/>
        </a:spcBef>
        <a:buClr>
          <a:schemeClr val="accent1"/>
        </a:buClr>
        <a:buSzPct val="80000"/>
        <a:buFontTx/>
        <a:buNone/>
        <a:defRPr sz="20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kubernetes.io/docs/concepts/configuration/secre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hyperlink" Target="https://kubernetes.io/docs/tasks/configure-pod-container/configure-pod-configmap/"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4"/>
          </p:nvPr>
        </p:nvSpPr>
        <p:spPr/>
        <p:txBody>
          <a:bodyPr/>
          <a:lstStyle/>
          <a:p>
            <a:r>
              <a:rPr lang="en-US" dirty="0"/>
              <a:t>Kubernetes</a:t>
            </a:r>
            <a:br>
              <a:rPr lang="en-US" dirty="0"/>
            </a:br>
            <a:r>
              <a:rPr lang="en-US" dirty="0" err="1">
                <a:solidFill>
                  <a:schemeClr val="accent1"/>
                </a:solidFill>
              </a:rPr>
              <a:t>ConfigMaps</a:t>
            </a:r>
            <a:r>
              <a:rPr lang="en-US" dirty="0">
                <a:solidFill>
                  <a:schemeClr val="accent1"/>
                </a:solidFill>
              </a:rPr>
              <a:t> and Secrets</a:t>
            </a:r>
          </a:p>
        </p:txBody>
      </p:sp>
      <p:pic>
        <p:nvPicPr>
          <p:cNvPr id="6" name="Illustration" descr="Example of an illustration" title="Illustration for title slide">
            <a:extLst>
              <a:ext uri="{FF2B5EF4-FFF2-40B4-BE49-F238E27FC236}">
                <a16:creationId xmlns:a16="http://schemas.microsoft.com/office/drawing/2014/main" id="{F183C21C-0C42-4CC1-A067-7B1027C3919B}"/>
              </a:ext>
            </a:extLst>
          </p:cNvPr>
          <p:cNvPicPr>
            <a:picLocks noGrp="1" noChangeAspect="1"/>
          </p:cNvPicPr>
          <p:nvPr>
            <p:ph type="pic" sz="quarter" idx="12"/>
          </p:nvPr>
        </p:nvPicPr>
        <p:blipFill>
          <a:blip r:embed="rId3"/>
          <a:srcRect t="3112" b="3112"/>
          <a:stretch>
            <a:fillRect/>
          </a:stretch>
        </p:blipFill>
        <p:spPr bwMode="gray">
          <a:xfrm>
            <a:off x="0" y="0"/>
            <a:ext cx="12195174" cy="3430006"/>
          </a:xfrm>
        </p:spPr>
      </p:pic>
    </p:spTree>
    <p:extLst>
      <p:ext uri="{BB962C8B-B14F-4D97-AF65-F5344CB8AC3E}">
        <p14:creationId xmlns:p14="http://schemas.microsoft.com/office/powerpoint/2010/main" val="1819205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bwMode="gray">
          <a:xfrm>
            <a:off x="1790701" y="2831427"/>
            <a:ext cx="3078480" cy="2964180"/>
          </a:xfrm>
          <a:prstGeom prst="rect">
            <a:avLst/>
          </a:prstGeom>
          <a:solidFill>
            <a:schemeClr val="accent1">
              <a:lumMod val="40000"/>
              <a:lumOff val="60000"/>
            </a:schemeClr>
          </a:solidFill>
          <a:ln>
            <a:headEnd/>
            <a:tailEnd/>
          </a:ln>
        </p:spPr>
        <p:style>
          <a:lnRef idx="1">
            <a:schemeClr val="accent1"/>
          </a:lnRef>
          <a:fillRef idx="2">
            <a:schemeClr val="accent1"/>
          </a:fillRef>
          <a:effectRef idx="1">
            <a:schemeClr val="accent1"/>
          </a:effectRef>
          <a:fontRef idx="minor">
            <a:schemeClr val="dk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dirty="0">
                <a:ea typeface="Arial Unicode MS" pitchFamily="34" charset="-128"/>
                <a:cs typeface="Arial Unicode MS" pitchFamily="34" charset="-128"/>
              </a:rPr>
              <a:t>Docker Hub</a:t>
            </a:r>
            <a:endParaRPr kumimoji="0" lang="en-US"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2" name="Title 1"/>
          <p:cNvSpPr>
            <a:spLocks noGrp="1"/>
          </p:cNvSpPr>
          <p:nvPr>
            <p:ph type="title"/>
          </p:nvPr>
        </p:nvSpPr>
        <p:spPr/>
        <p:txBody>
          <a:bodyPr/>
          <a:lstStyle/>
          <a:p>
            <a:r>
              <a:rPr lang="en-US" dirty="0"/>
              <a:t>What‘s the issue? </a:t>
            </a:r>
          </a:p>
        </p:txBody>
      </p:sp>
      <p:sp>
        <p:nvSpPr>
          <p:cNvPr id="8" name="Rectangle 7"/>
          <p:cNvSpPr/>
          <p:nvPr/>
        </p:nvSpPr>
        <p:spPr>
          <a:xfrm>
            <a:off x="504000" y="1223190"/>
            <a:ext cx="10590719" cy="1061829"/>
          </a:xfrm>
          <a:prstGeom prst="rect">
            <a:avLst/>
          </a:prstGeom>
        </p:spPr>
        <p:txBody>
          <a:bodyPr wrap="square">
            <a:spAutoFit/>
          </a:bodyPr>
          <a:lstStyle/>
          <a:p>
            <a:pPr marL="342900" indent="-342900">
              <a:buFont typeface="Wingdings" panose="05000000000000000000" pitchFamily="2" charset="2"/>
              <a:buChar char="§"/>
            </a:pPr>
            <a:r>
              <a:rPr lang="en-US" dirty="0"/>
              <a:t>How to supply credentials for an application running </a:t>
            </a:r>
            <a:r>
              <a:rPr lang="en-US"/>
              <a:t>in Kubernetes</a:t>
            </a:r>
            <a:r>
              <a:rPr lang="en-US" dirty="0"/>
              <a:t>?</a:t>
            </a:r>
          </a:p>
          <a:p>
            <a:pPr marL="342900" indent="-342900">
              <a:buFont typeface="Wingdings" panose="05000000000000000000" pitchFamily="2" charset="2"/>
              <a:buChar char="§"/>
            </a:pPr>
            <a:r>
              <a:rPr lang="en-US" dirty="0"/>
              <a:t>Avoid to store confidential data in images that may become publicly available</a:t>
            </a:r>
          </a:p>
          <a:p>
            <a:pPr marL="342900" indent="-342900">
              <a:buFont typeface="Wingdings" panose="05000000000000000000" pitchFamily="2" charset="2"/>
              <a:buChar char="§"/>
            </a:pPr>
            <a:r>
              <a:rPr lang="en-US" dirty="0"/>
              <a:t>Adapt configuration to various runtime environments / how keep the image generic?</a:t>
            </a:r>
          </a:p>
        </p:txBody>
      </p:sp>
      <p:sp>
        <p:nvSpPr>
          <p:cNvPr id="4" name="Rectangle 3"/>
          <p:cNvSpPr/>
          <p:nvPr/>
        </p:nvSpPr>
        <p:spPr bwMode="gray">
          <a:xfrm>
            <a:off x="7406639" y="2652357"/>
            <a:ext cx="2392681" cy="1661160"/>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dirty="0">
                <a:solidFill>
                  <a:schemeClr val="tx1"/>
                </a:solidFill>
                <a:ea typeface="Arial Unicode MS" pitchFamily="34" charset="-128"/>
                <a:cs typeface="Arial Unicode MS" pitchFamily="34" charset="-128"/>
              </a:rPr>
              <a:t>Cluster A</a:t>
            </a:r>
            <a:endParaRPr kumimoji="0" lang="en-US" sz="1600" b="1" i="0" u="none" strike="noStrike" kern="0" cap="none" spc="0" normalizeH="0" baseline="0" noProof="0" dirty="0">
              <a:ln>
                <a:noFill/>
              </a:ln>
              <a:solidFill>
                <a:schemeClr val="tx1"/>
              </a:solidFill>
              <a:effectLst/>
              <a:uLnTx/>
              <a:uFillTx/>
              <a:ea typeface="Arial Unicode MS" pitchFamily="34" charset="-128"/>
              <a:cs typeface="Arial Unicode MS" pitchFamily="34" charset="-128"/>
            </a:endParaRPr>
          </a:p>
        </p:txBody>
      </p:sp>
      <p:sp>
        <p:nvSpPr>
          <p:cNvPr id="7" name="Rectangle 6"/>
          <p:cNvSpPr/>
          <p:nvPr/>
        </p:nvSpPr>
        <p:spPr bwMode="gray">
          <a:xfrm>
            <a:off x="2597559" y="3735388"/>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err="1">
                <a:ea typeface="Arial Unicode MS" pitchFamily="34" charset="-128"/>
                <a:cs typeface="Arial Unicode MS" pitchFamily="34" charset="-128"/>
              </a:rPr>
              <a:t>Imag</a:t>
            </a:r>
            <a:r>
              <a:rPr lang="en-US" sz="1800" kern="0" dirty="0">
                <a:ea typeface="Arial Unicode MS" pitchFamily="34" charset="-128"/>
                <a:cs typeface="Arial Unicode MS" pitchFamily="34" charset="-128"/>
              </a:rPr>
              <a:t>e A</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2" name="Rectangle 11"/>
          <p:cNvSpPr/>
          <p:nvPr/>
        </p:nvSpPr>
        <p:spPr bwMode="gray">
          <a:xfrm>
            <a:off x="8072194" y="3092592"/>
            <a:ext cx="1062486"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err="1">
                <a:ea typeface="Arial Unicode MS" pitchFamily="34" charset="-128"/>
                <a:cs typeface="Arial Unicode MS" pitchFamily="34" charset="-128"/>
              </a:rPr>
              <a:t>Imag</a:t>
            </a:r>
            <a:r>
              <a:rPr lang="en-US" sz="1800" kern="0" dirty="0">
                <a:ea typeface="Arial Unicode MS" pitchFamily="34" charset="-128"/>
                <a:cs typeface="Arial Unicode MS" pitchFamily="34" charset="-128"/>
              </a:rPr>
              <a:t>e A</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Rectangle 12"/>
          <p:cNvSpPr/>
          <p:nvPr/>
        </p:nvSpPr>
        <p:spPr bwMode="gray">
          <a:xfrm>
            <a:off x="7406639" y="4587837"/>
            <a:ext cx="2392681" cy="1661160"/>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dirty="0">
                <a:solidFill>
                  <a:schemeClr val="tx1"/>
                </a:solidFill>
                <a:ea typeface="Arial Unicode MS" pitchFamily="34" charset="-128"/>
                <a:cs typeface="Arial Unicode MS" pitchFamily="34" charset="-128"/>
              </a:rPr>
              <a:t>Cluster B</a:t>
            </a:r>
            <a:endParaRPr kumimoji="0" lang="en-US" sz="1600" b="1" i="0" u="none" strike="noStrike" kern="0" cap="none" spc="0" normalizeH="0" baseline="0" noProof="0" dirty="0">
              <a:ln>
                <a:noFill/>
              </a:ln>
              <a:solidFill>
                <a:schemeClr val="tx1"/>
              </a:solidFill>
              <a:effectLst/>
              <a:uLnTx/>
              <a:uFillTx/>
              <a:ea typeface="Arial Unicode MS" pitchFamily="34" charset="-128"/>
              <a:cs typeface="Arial Unicode MS" pitchFamily="34" charset="-128"/>
            </a:endParaRPr>
          </a:p>
        </p:txBody>
      </p:sp>
      <p:sp>
        <p:nvSpPr>
          <p:cNvPr id="14" name="Rectangle 13"/>
          <p:cNvSpPr/>
          <p:nvPr/>
        </p:nvSpPr>
        <p:spPr bwMode="gray">
          <a:xfrm>
            <a:off x="8072194" y="5028072"/>
            <a:ext cx="1062486" cy="806724"/>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noProof="0" dirty="0" err="1">
                <a:ea typeface="Arial Unicode MS" pitchFamily="34" charset="-128"/>
                <a:cs typeface="Arial Unicode MS" pitchFamily="34" charset="-128"/>
              </a:rPr>
              <a:t>Imag</a:t>
            </a:r>
            <a:r>
              <a:rPr lang="en-US" sz="1800" kern="0" dirty="0">
                <a:ea typeface="Arial Unicode MS" pitchFamily="34" charset="-128"/>
                <a:cs typeface="Arial Unicode MS" pitchFamily="34" charset="-128"/>
              </a:rPr>
              <a:t>e A</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Straight Arrow Connector 15"/>
          <p:cNvCxnSpPr>
            <a:stCxn id="15" idx="3"/>
            <a:endCxn id="4" idx="1"/>
          </p:cNvCxnSpPr>
          <p:nvPr/>
        </p:nvCxnSpPr>
        <p:spPr>
          <a:xfrm flipV="1">
            <a:off x="4869181" y="3482937"/>
            <a:ext cx="2537458" cy="830580"/>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5" idx="3"/>
            <a:endCxn id="13" idx="1"/>
          </p:cNvCxnSpPr>
          <p:nvPr/>
        </p:nvCxnSpPr>
        <p:spPr>
          <a:xfrm>
            <a:off x="4869181" y="4313517"/>
            <a:ext cx="2537458" cy="1104900"/>
          </a:xfrm>
          <a:prstGeom prst="straightConnector1">
            <a:avLst/>
          </a:prstGeom>
          <a:ln w="38100">
            <a:solidFill>
              <a:schemeClr val="tx2">
                <a:lumMod val="60000"/>
                <a:lumOff val="4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41918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E4B7E6-BA8F-4D83-A33A-B966AA469590}"/>
              </a:ext>
            </a:extLst>
          </p:cNvPr>
          <p:cNvSpPr/>
          <p:nvPr/>
        </p:nvSpPr>
        <p:spPr bwMode="gray">
          <a:xfrm>
            <a:off x="7344798" y="3133218"/>
            <a:ext cx="2846895" cy="3412503"/>
          </a:xfrm>
          <a:prstGeom prst="rect">
            <a:avLst/>
          </a:prstGeom>
          <a:ln w="57150">
            <a:solidFill>
              <a:schemeClr val="accent5">
                <a:lumMod val="60000"/>
                <a:lumOff val="4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err="1">
                <a:ea typeface="Arial Unicode MS" pitchFamily="34" charset="-128"/>
                <a:cs typeface="Arial Unicode MS" pitchFamily="34" charset="-128"/>
              </a:rPr>
              <a:t>etcd</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5" name="Title 4"/>
          <p:cNvSpPr>
            <a:spLocks noGrp="1"/>
          </p:cNvSpPr>
          <p:nvPr>
            <p:ph type="title"/>
          </p:nvPr>
        </p:nvSpPr>
        <p:spPr/>
        <p:txBody>
          <a:bodyPr/>
          <a:lstStyle/>
          <a:p>
            <a:r>
              <a:rPr lang="en-US" dirty="0"/>
              <a:t>How to solve it?</a:t>
            </a:r>
          </a:p>
        </p:txBody>
      </p:sp>
      <p:sp>
        <p:nvSpPr>
          <p:cNvPr id="3" name="Rectangle 2"/>
          <p:cNvSpPr/>
          <p:nvPr/>
        </p:nvSpPr>
        <p:spPr bwMode="gray">
          <a:xfrm>
            <a:off x="2748121" y="3734737"/>
            <a:ext cx="3370739" cy="2162539"/>
          </a:xfrm>
          <a:prstGeom prst="rect">
            <a:avLst/>
          </a:prstGeom>
          <a:solidFill>
            <a:schemeClr val="tx2"/>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noProof="0" dirty="0">
                <a:solidFill>
                  <a:schemeClr val="tx1"/>
                </a:solidFill>
                <a:ea typeface="Arial Unicode MS" pitchFamily="34" charset="-128"/>
                <a:cs typeface="Arial Unicode MS" pitchFamily="34" charset="-128"/>
              </a:rPr>
              <a:t>Pod-A</a:t>
            </a:r>
            <a:endParaRPr kumimoji="0" lang="en-US" sz="1600" b="1" i="0" u="none" strike="noStrike" kern="0" cap="none" spc="0" normalizeH="0" baseline="0" noProof="0" dirty="0">
              <a:ln>
                <a:noFill/>
              </a:ln>
              <a:solidFill>
                <a:schemeClr val="tx1"/>
              </a:solidFill>
              <a:effectLst/>
              <a:uLnTx/>
              <a:uFillTx/>
              <a:ea typeface="Arial Unicode MS" pitchFamily="34" charset="-128"/>
              <a:cs typeface="Arial Unicode MS" pitchFamily="34" charset="-128"/>
            </a:endParaRPr>
          </a:p>
        </p:txBody>
      </p:sp>
      <p:sp>
        <p:nvSpPr>
          <p:cNvPr id="4" name="Rectangle 3"/>
          <p:cNvSpPr/>
          <p:nvPr/>
        </p:nvSpPr>
        <p:spPr bwMode="gray">
          <a:xfrm>
            <a:off x="2295057" y="3575073"/>
            <a:ext cx="1645920" cy="365760"/>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IP: 10.10.10.1</a:t>
            </a:r>
          </a:p>
        </p:txBody>
      </p:sp>
      <p:sp>
        <p:nvSpPr>
          <p:cNvPr id="6" name="Cylinder 5"/>
          <p:cNvSpPr/>
          <p:nvPr/>
        </p:nvSpPr>
        <p:spPr bwMode="gray">
          <a:xfrm>
            <a:off x="8057213" y="3642360"/>
            <a:ext cx="1422067" cy="104152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secret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3615714" y="4261341"/>
            <a:ext cx="1627931" cy="1156258"/>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c</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ontainer</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err="1">
                <a:ea typeface="Arial Unicode MS" pitchFamily="34" charset="-128"/>
                <a:cs typeface="Arial Unicode MS" pitchFamily="34" charset="-128"/>
              </a:rPr>
              <a:t>nginx</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8" name="Connector: Elbow 7"/>
          <p:cNvCxnSpPr>
            <a:cxnSpLocks/>
            <a:stCxn id="7" idx="3"/>
            <a:endCxn id="6" idx="2"/>
          </p:cNvCxnSpPr>
          <p:nvPr/>
        </p:nvCxnSpPr>
        <p:spPr>
          <a:xfrm flipV="1">
            <a:off x="5243645" y="4163120"/>
            <a:ext cx="2813568" cy="676350"/>
          </a:xfrm>
          <a:prstGeom prst="bentConnector3">
            <a:avLst>
              <a:gd name="adj1" fmla="val 50000"/>
            </a:avLst>
          </a:prstGeom>
          <a:ln w="57150">
            <a:solidFill>
              <a:schemeClr val="accent5">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04000" y="1223190"/>
            <a:ext cx="11106753" cy="1384995"/>
          </a:xfrm>
          <a:prstGeom prst="rect">
            <a:avLst/>
          </a:prstGeom>
        </p:spPr>
        <p:txBody>
          <a:bodyPr wrap="square">
            <a:spAutoFit/>
          </a:bodyPr>
          <a:lstStyle/>
          <a:p>
            <a:pPr marL="342900" indent="-342900">
              <a:buFont typeface="Wingdings" panose="05000000000000000000" pitchFamily="2" charset="2"/>
              <a:buChar char="§"/>
            </a:pPr>
            <a:r>
              <a:rPr lang="en-US" dirty="0"/>
              <a:t>Separate configuration &amp; credentials from the application</a:t>
            </a:r>
          </a:p>
          <a:p>
            <a:pPr marL="342900" indent="-342900">
              <a:buFont typeface="Wingdings" panose="05000000000000000000" pitchFamily="2" charset="2"/>
              <a:buChar char="§"/>
            </a:pPr>
            <a:r>
              <a:rPr lang="en-US" dirty="0"/>
              <a:t>Store information in specific data objects in </a:t>
            </a:r>
            <a:r>
              <a:rPr lang="en-US" dirty="0" err="1"/>
              <a:t>etcd</a:t>
            </a:r>
            <a:endParaRPr lang="en-US" dirty="0"/>
          </a:p>
          <a:p>
            <a:pPr marL="887288" lvl="1" indent="-342900">
              <a:buFont typeface="Wingdings" panose="05000000000000000000" pitchFamily="2" charset="2"/>
              <a:buChar char="§"/>
            </a:pPr>
            <a:r>
              <a:rPr lang="en-US" dirty="0">
                <a:hlinkClick r:id="rId3"/>
              </a:rPr>
              <a:t>https://kubernetes.io/docs/concepts/configuration/secret</a:t>
            </a:r>
            <a:endParaRPr lang="en-US" dirty="0"/>
          </a:p>
          <a:p>
            <a:pPr marL="887288" lvl="1" indent="-342900">
              <a:buFont typeface="Wingdings" panose="05000000000000000000" pitchFamily="2" charset="2"/>
              <a:buChar char="§"/>
            </a:pPr>
            <a:r>
              <a:rPr lang="en-US" dirty="0">
                <a:hlinkClick r:id="rId4"/>
              </a:rPr>
              <a:t>https://kubernetes.io/docs/tasks/configure-pod-container/configure-pod-configmap/</a:t>
            </a:r>
            <a:r>
              <a:rPr lang="en-US" dirty="0"/>
              <a:t> </a:t>
            </a:r>
          </a:p>
        </p:txBody>
      </p:sp>
      <p:sp>
        <p:nvSpPr>
          <p:cNvPr id="15" name="Cylinder 14"/>
          <p:cNvSpPr/>
          <p:nvPr/>
        </p:nvSpPr>
        <p:spPr bwMode="gray">
          <a:xfrm>
            <a:off x="8057212" y="5034517"/>
            <a:ext cx="1422067" cy="104152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err="1">
                <a:ea typeface="Arial Unicode MS" pitchFamily="34" charset="-128"/>
                <a:cs typeface="Arial Unicode MS" pitchFamily="34" charset="-128"/>
              </a:rPr>
              <a:t>configMap</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cxnSp>
        <p:nvCxnSpPr>
          <p:cNvPr id="16" name="Connector: Elbow 15"/>
          <p:cNvCxnSpPr>
            <a:cxnSpLocks/>
            <a:stCxn id="7" idx="3"/>
            <a:endCxn id="15" idx="2"/>
          </p:cNvCxnSpPr>
          <p:nvPr/>
        </p:nvCxnSpPr>
        <p:spPr>
          <a:xfrm>
            <a:off x="5243645" y="4839470"/>
            <a:ext cx="2813567" cy="715807"/>
          </a:xfrm>
          <a:prstGeom prst="bentConnector3">
            <a:avLst>
              <a:gd name="adj1" fmla="val 50000"/>
            </a:avLst>
          </a:prstGeom>
          <a:ln w="57150">
            <a:solidFill>
              <a:schemeClr val="accent5">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0105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3B40B-27F8-41C5-8B49-CFF950DBFD13}"/>
              </a:ext>
            </a:extLst>
          </p:cNvPr>
          <p:cNvSpPr>
            <a:spLocks noGrp="1"/>
          </p:cNvSpPr>
          <p:nvPr>
            <p:ph type="title"/>
          </p:nvPr>
        </p:nvSpPr>
        <p:spPr/>
        <p:txBody>
          <a:bodyPr/>
          <a:lstStyle/>
          <a:p>
            <a:r>
              <a:rPr lang="en-US" dirty="0"/>
              <a:t>What data can </a:t>
            </a:r>
            <a:r>
              <a:rPr lang="en-US" dirty="0" err="1"/>
              <a:t>configmaps</a:t>
            </a:r>
            <a:r>
              <a:rPr lang="en-US" dirty="0"/>
              <a:t> &amp; secrets store?</a:t>
            </a:r>
          </a:p>
        </p:txBody>
      </p:sp>
      <p:sp>
        <p:nvSpPr>
          <p:cNvPr id="3" name="Rectangle 2">
            <a:extLst>
              <a:ext uri="{FF2B5EF4-FFF2-40B4-BE49-F238E27FC236}">
                <a16:creationId xmlns:a16="http://schemas.microsoft.com/office/drawing/2014/main" id="{41681AF8-C8D6-4957-8B5B-0A91C0364934}"/>
              </a:ext>
            </a:extLst>
          </p:cNvPr>
          <p:cNvSpPr/>
          <p:nvPr/>
        </p:nvSpPr>
        <p:spPr bwMode="gray">
          <a:xfrm>
            <a:off x="504001" y="1722748"/>
            <a:ext cx="2846895" cy="3412503"/>
          </a:xfrm>
          <a:prstGeom prst="rect">
            <a:avLst/>
          </a:prstGeom>
          <a:ln w="57150">
            <a:solidFill>
              <a:schemeClr val="accent5">
                <a:lumMod val="60000"/>
                <a:lumOff val="4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err="1">
                <a:ea typeface="Arial Unicode MS" pitchFamily="34" charset="-128"/>
                <a:cs typeface="Arial Unicode MS" pitchFamily="34" charset="-128"/>
              </a:rPr>
              <a:t>etcd</a:t>
            </a: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 name="Cylinder 3">
            <a:extLst>
              <a:ext uri="{FF2B5EF4-FFF2-40B4-BE49-F238E27FC236}">
                <a16:creationId xmlns:a16="http://schemas.microsoft.com/office/drawing/2014/main" id="{1B6A9060-B1E1-43A2-8D22-B9F4F8DFAD6D}"/>
              </a:ext>
            </a:extLst>
          </p:cNvPr>
          <p:cNvSpPr/>
          <p:nvPr/>
        </p:nvSpPr>
        <p:spPr bwMode="gray">
          <a:xfrm>
            <a:off x="1216416" y="2231890"/>
            <a:ext cx="1422067" cy="104152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secret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5" name="Cylinder 4">
            <a:extLst>
              <a:ext uri="{FF2B5EF4-FFF2-40B4-BE49-F238E27FC236}">
                <a16:creationId xmlns:a16="http://schemas.microsoft.com/office/drawing/2014/main" id="{0D712679-146A-45A8-8B72-F9C9BB592844}"/>
              </a:ext>
            </a:extLst>
          </p:cNvPr>
          <p:cNvSpPr/>
          <p:nvPr/>
        </p:nvSpPr>
        <p:spPr bwMode="gray">
          <a:xfrm>
            <a:off x="1216415" y="3624047"/>
            <a:ext cx="1422067" cy="104152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err="1">
                <a:ea typeface="Arial Unicode MS" pitchFamily="34" charset="-128"/>
                <a:cs typeface="Arial Unicode MS" pitchFamily="34" charset="-128"/>
              </a:rPr>
              <a:t>configMap</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Speech Bubble: Rectangle 5">
            <a:extLst>
              <a:ext uri="{FF2B5EF4-FFF2-40B4-BE49-F238E27FC236}">
                <a16:creationId xmlns:a16="http://schemas.microsoft.com/office/drawing/2014/main" id="{93F7768C-BE9F-4BBD-8FDD-E13C2A608B3A}"/>
              </a:ext>
            </a:extLst>
          </p:cNvPr>
          <p:cNvSpPr/>
          <p:nvPr/>
        </p:nvSpPr>
        <p:spPr bwMode="gray">
          <a:xfrm>
            <a:off x="3979798" y="5599155"/>
            <a:ext cx="3627633" cy="754845"/>
          </a:xfrm>
          <a:prstGeom prst="wedgeRectCallout">
            <a:avLst>
              <a:gd name="adj1" fmla="val -56201"/>
              <a:gd name="adj2" fmla="val -147347"/>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Size limit of 1MB imposed by </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etcd</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Rectangle 7">
            <a:extLst>
              <a:ext uri="{FF2B5EF4-FFF2-40B4-BE49-F238E27FC236}">
                <a16:creationId xmlns:a16="http://schemas.microsoft.com/office/drawing/2014/main" id="{5C47261F-11B0-40F4-A17A-9DC9B2A135E4}"/>
              </a:ext>
            </a:extLst>
          </p:cNvPr>
          <p:cNvSpPr/>
          <p:nvPr/>
        </p:nvSpPr>
        <p:spPr>
          <a:xfrm>
            <a:off x="3979798" y="1722748"/>
            <a:ext cx="6096000" cy="3000821"/>
          </a:xfrm>
          <a:prstGeom prst="rect">
            <a:avLst/>
          </a:prstGeom>
        </p:spPr>
        <p:txBody>
          <a:bodyPr>
            <a:spAutoFit/>
          </a:bodyPr>
          <a:lstStyle/>
          <a:p>
            <a:r>
              <a:rPr lang="en-US" dirty="0" err="1">
                <a:solidFill>
                  <a:srgbClr val="800000"/>
                </a:solidFill>
                <a:latin typeface="Consolas" panose="020B0609020204030204" pitchFamily="49" charset="0"/>
              </a:rPr>
              <a:t>stringData</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key</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value</a:t>
            </a:r>
            <a:endParaRPr lang="en-US" dirty="0">
              <a:solidFill>
                <a:srgbClr val="000000"/>
              </a:solidFill>
              <a:latin typeface="Consolas" panose="020B0609020204030204" pitchFamily="49" charset="0"/>
            </a:endParaRPr>
          </a:p>
          <a:p>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key</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a:t>
            </a:r>
            <a:r>
              <a:rPr lang="en-US" dirty="0">
                <a:solidFill>
                  <a:srgbClr val="CD3131"/>
                </a:solidFill>
                <a:latin typeface="Consolas" panose="020B0609020204030204" pitchFamily="49" charset="0"/>
              </a:rPr>
              <a:t> </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    multiline</a:t>
            </a:r>
            <a:endParaRPr lang="en-US" dirty="0">
              <a:solidFill>
                <a:srgbClr val="000000"/>
              </a:solidFill>
              <a:latin typeface="Consolas" panose="020B0609020204030204" pitchFamily="49" charset="0"/>
            </a:endParaRPr>
          </a:p>
          <a:p>
            <a:r>
              <a:rPr lang="en-US" dirty="0">
                <a:solidFill>
                  <a:srgbClr val="0000FF"/>
                </a:solidFill>
                <a:latin typeface="Consolas" panose="020B0609020204030204" pitchFamily="49" charset="0"/>
              </a:rPr>
              <a:t>    value</a:t>
            </a:r>
            <a:endParaRPr lang="en-US" dirty="0">
              <a:solidFill>
                <a:srgbClr val="000000"/>
              </a:solidFill>
              <a:latin typeface="Consolas" panose="020B0609020204030204" pitchFamily="49" charset="0"/>
            </a:endParaRPr>
          </a:p>
          <a:p>
            <a:br>
              <a:rPr lang="en-US" dirty="0">
                <a:solidFill>
                  <a:srgbClr val="000000"/>
                </a:solidFill>
                <a:latin typeface="Consolas" panose="020B0609020204030204" pitchFamily="49" charset="0"/>
              </a:rPr>
            </a:br>
            <a:r>
              <a:rPr lang="en-US" dirty="0" err="1">
                <a:solidFill>
                  <a:srgbClr val="800000"/>
                </a:solidFill>
                <a:latin typeface="Consolas" panose="020B0609020204030204" pitchFamily="49" charset="0"/>
              </a:rPr>
              <a:t>binaryData</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800000"/>
                </a:solidFill>
                <a:latin typeface="Consolas" panose="020B0609020204030204" pitchFamily="49" charset="0"/>
              </a:rPr>
              <a:t>key</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base64-encoded-value</a:t>
            </a:r>
            <a:endParaRPr lang="en-US"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972329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3FC5A-9EC3-428E-A4DC-2E599200A2D4}"/>
              </a:ext>
            </a:extLst>
          </p:cNvPr>
          <p:cNvSpPr>
            <a:spLocks noGrp="1"/>
          </p:cNvSpPr>
          <p:nvPr>
            <p:ph type="title"/>
          </p:nvPr>
        </p:nvSpPr>
        <p:spPr/>
        <p:txBody>
          <a:bodyPr/>
          <a:lstStyle/>
          <a:p>
            <a:r>
              <a:rPr lang="en-US" dirty="0"/>
              <a:t>How to create </a:t>
            </a:r>
            <a:r>
              <a:rPr lang="en-US" dirty="0" err="1"/>
              <a:t>configmaps</a:t>
            </a:r>
            <a:r>
              <a:rPr lang="en-US" dirty="0"/>
              <a:t> &amp; secrets</a:t>
            </a:r>
          </a:p>
        </p:txBody>
      </p:sp>
      <p:sp>
        <p:nvSpPr>
          <p:cNvPr id="3" name="Rectangle 2">
            <a:extLst>
              <a:ext uri="{FF2B5EF4-FFF2-40B4-BE49-F238E27FC236}">
                <a16:creationId xmlns:a16="http://schemas.microsoft.com/office/drawing/2014/main" id="{2A1DFF86-AF54-4F6B-8423-4EA8C7031A7A}"/>
              </a:ext>
            </a:extLst>
          </p:cNvPr>
          <p:cNvSpPr/>
          <p:nvPr/>
        </p:nvSpPr>
        <p:spPr>
          <a:xfrm>
            <a:off x="504001" y="1467865"/>
            <a:ext cx="8545731" cy="2031325"/>
          </a:xfrm>
          <a:prstGeom prst="rect">
            <a:avLst/>
          </a:prstGeom>
        </p:spPr>
        <p:txBody>
          <a:bodyPr wrap="square">
            <a:spAutoFit/>
          </a:bodyPr>
          <a:lstStyle/>
          <a:p>
            <a:r>
              <a:rPr lang="en-US" dirty="0" err="1">
                <a:latin typeface="Consolas" panose="020B0609020204030204" pitchFamily="49" charset="0"/>
              </a:rPr>
              <a:t>kubectl</a:t>
            </a:r>
            <a:r>
              <a:rPr lang="en-US" dirty="0">
                <a:latin typeface="Consolas" panose="020B0609020204030204" pitchFamily="49" charset="0"/>
              </a:rPr>
              <a:t> create [</a:t>
            </a:r>
            <a:r>
              <a:rPr lang="en-US" dirty="0" err="1">
                <a:latin typeface="Consolas" panose="020B0609020204030204" pitchFamily="49" charset="0"/>
              </a:rPr>
              <a:t>configmap</a:t>
            </a:r>
            <a:r>
              <a:rPr lang="en-US" dirty="0">
                <a:latin typeface="Consolas" panose="020B0609020204030204" pitchFamily="49" charset="0"/>
              </a:rPr>
              <a:t> | secret &lt;type&gt; ] &lt;name&gt;</a:t>
            </a:r>
          </a:p>
          <a:p>
            <a:r>
              <a:rPr lang="en-US" dirty="0">
                <a:latin typeface="Consolas" panose="020B0609020204030204" pitchFamily="49" charset="0"/>
              </a:rPr>
              <a:t>	--from-file &lt;filename&gt;</a:t>
            </a:r>
          </a:p>
          <a:p>
            <a:r>
              <a:rPr lang="en-US" dirty="0">
                <a:latin typeface="Consolas" panose="020B0609020204030204" pitchFamily="49" charset="0"/>
              </a:rPr>
              <a:t>	--from-literal &lt;key=value&gt;</a:t>
            </a:r>
          </a:p>
          <a:p>
            <a:endParaRPr lang="en-US" dirty="0">
              <a:latin typeface="Consolas" panose="020B0609020204030204" pitchFamily="49" charset="0"/>
            </a:endParaRPr>
          </a:p>
          <a:p>
            <a:r>
              <a:rPr lang="en-US" dirty="0" err="1">
                <a:latin typeface="Consolas" panose="020B0609020204030204" pitchFamily="49" charset="0"/>
              </a:rPr>
              <a:t>kubectl</a:t>
            </a:r>
            <a:r>
              <a:rPr lang="en-US" dirty="0">
                <a:latin typeface="Consolas" panose="020B0609020204030204" pitchFamily="49" charset="0"/>
              </a:rPr>
              <a:t> apply –f </a:t>
            </a:r>
            <a:r>
              <a:rPr lang="en-US" dirty="0" err="1">
                <a:latin typeface="Consolas" panose="020B0609020204030204" pitchFamily="49" charset="0"/>
              </a:rPr>
              <a:t>resource.yaml</a:t>
            </a:r>
            <a:endParaRPr lang="en-US" dirty="0">
              <a:latin typeface="Consolas" panose="020B0609020204030204" pitchFamily="49" charset="0"/>
            </a:endParaRPr>
          </a:p>
          <a:p>
            <a:endParaRPr lang="en-US" dirty="0">
              <a:latin typeface="Consolas" panose="020B0609020204030204" pitchFamily="49" charset="0"/>
            </a:endParaRPr>
          </a:p>
        </p:txBody>
      </p:sp>
      <p:pic>
        <p:nvPicPr>
          <p:cNvPr id="5" name="Graphic 4" descr="Warning">
            <a:extLst>
              <a:ext uri="{FF2B5EF4-FFF2-40B4-BE49-F238E27FC236}">
                <a16:creationId xmlns:a16="http://schemas.microsoft.com/office/drawing/2014/main" id="{B5D9AEA8-258F-4477-857D-7250B4C513E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001" y="4093723"/>
            <a:ext cx="914400" cy="914400"/>
          </a:xfrm>
          <a:prstGeom prst="rect">
            <a:avLst/>
          </a:prstGeom>
        </p:spPr>
      </p:pic>
      <p:sp>
        <p:nvSpPr>
          <p:cNvPr id="6" name="TextBox 5">
            <a:extLst>
              <a:ext uri="{FF2B5EF4-FFF2-40B4-BE49-F238E27FC236}">
                <a16:creationId xmlns:a16="http://schemas.microsoft.com/office/drawing/2014/main" id="{2D57A0CD-A803-44DC-9870-3D8FA57659E7}"/>
              </a:ext>
            </a:extLst>
          </p:cNvPr>
          <p:cNvSpPr txBox="1"/>
          <p:nvPr/>
        </p:nvSpPr>
        <p:spPr>
          <a:xfrm>
            <a:off x="1574276" y="4181591"/>
            <a:ext cx="10303498" cy="738664"/>
          </a:xfrm>
          <a:prstGeom prst="rect">
            <a:avLst/>
          </a:prstGeom>
        </p:spPr>
        <p:txBody>
          <a:bodyPr wrap="square">
            <a:spAutoFit/>
          </a:bodyPr>
          <a:lstStyle>
            <a:defPPr>
              <a:defRPr lang="de-DE"/>
            </a:defPPr>
            <a:lvl1pPr marL="342900" indent="-342900">
              <a:buFont typeface="Wingdings" panose="05000000000000000000" pitchFamily="2" charset="2"/>
              <a:buChar char="§"/>
            </a:lvl1pPr>
          </a:lstStyle>
          <a:p>
            <a:r>
              <a:rPr lang="en-US" dirty="0"/>
              <a:t>Secrets store their data (string &amp; binary) by default base64 encoded</a:t>
            </a:r>
          </a:p>
          <a:p>
            <a:r>
              <a:rPr lang="en-US" dirty="0" err="1"/>
              <a:t>Configmaps</a:t>
            </a:r>
            <a:r>
              <a:rPr lang="en-US" dirty="0"/>
              <a:t> store only binary data base64 encoded</a:t>
            </a:r>
          </a:p>
        </p:txBody>
      </p:sp>
    </p:spTree>
    <p:extLst>
      <p:ext uri="{BB962C8B-B14F-4D97-AF65-F5344CB8AC3E}">
        <p14:creationId xmlns:p14="http://schemas.microsoft.com/office/powerpoint/2010/main" val="3853770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ConfigMaps</a:t>
            </a:r>
            <a:r>
              <a:rPr lang="en-US" dirty="0"/>
              <a:t> Example</a:t>
            </a:r>
          </a:p>
        </p:txBody>
      </p:sp>
      <p:sp>
        <p:nvSpPr>
          <p:cNvPr id="4" name="Rectangle 3"/>
          <p:cNvSpPr/>
          <p:nvPr/>
        </p:nvSpPr>
        <p:spPr>
          <a:xfrm>
            <a:off x="504000" y="1090210"/>
            <a:ext cx="8685720" cy="1061829"/>
          </a:xfrm>
          <a:prstGeom prst="rect">
            <a:avLst/>
          </a:prstGeom>
        </p:spPr>
        <p:txBody>
          <a:bodyPr wrap="square">
            <a:spAutoFit/>
          </a:bodyPr>
          <a:lstStyle/>
          <a:p>
            <a:pPr marL="342900" indent="-342900">
              <a:buFont typeface="Wingdings" panose="05000000000000000000" pitchFamily="2" charset="2"/>
              <a:buChar char="§"/>
            </a:pPr>
            <a:r>
              <a:rPr lang="en-US" dirty="0"/>
              <a:t>Store structured data as </a:t>
            </a:r>
            <a:r>
              <a:rPr lang="en-US" dirty="0" err="1"/>
              <a:t>key:value</a:t>
            </a:r>
            <a:r>
              <a:rPr lang="en-US" dirty="0"/>
              <a:t> pairs in </a:t>
            </a:r>
            <a:r>
              <a:rPr lang="en-US" dirty="0" err="1"/>
              <a:t>etcd</a:t>
            </a:r>
            <a:endParaRPr lang="en-US" dirty="0"/>
          </a:p>
          <a:p>
            <a:pPr marL="342900" indent="-342900">
              <a:buFont typeface="Wingdings" panose="05000000000000000000" pitchFamily="2" charset="2"/>
              <a:buChar char="§"/>
            </a:pPr>
            <a:r>
              <a:rPr lang="en-US" dirty="0" err="1"/>
              <a:t>ConfigMaps</a:t>
            </a:r>
            <a:r>
              <a:rPr lang="en-US" dirty="0"/>
              <a:t> can have multiple </a:t>
            </a:r>
            <a:r>
              <a:rPr lang="en-US" dirty="0" err="1"/>
              <a:t>key:value</a:t>
            </a:r>
            <a:r>
              <a:rPr lang="en-US" dirty="0"/>
              <a:t> pairs referenced as “data”</a:t>
            </a:r>
          </a:p>
          <a:p>
            <a:pPr marL="342900" indent="-342900">
              <a:buFont typeface="Wingdings" panose="05000000000000000000" pitchFamily="2" charset="2"/>
              <a:buChar char="§"/>
            </a:pPr>
            <a:r>
              <a:rPr lang="en-US" dirty="0"/>
              <a:t>It is possible to store multi-line strings as values</a:t>
            </a:r>
          </a:p>
        </p:txBody>
      </p:sp>
      <p:sp>
        <p:nvSpPr>
          <p:cNvPr id="7" name="Rectangle 6">
            <a:extLst>
              <a:ext uri="{FF2B5EF4-FFF2-40B4-BE49-F238E27FC236}">
                <a16:creationId xmlns:a16="http://schemas.microsoft.com/office/drawing/2014/main" id="{C8555189-3D2E-4752-B3FD-3EC73ACEA3AA}"/>
              </a:ext>
            </a:extLst>
          </p:cNvPr>
          <p:cNvSpPr/>
          <p:nvPr/>
        </p:nvSpPr>
        <p:spPr>
          <a:xfrm>
            <a:off x="504000" y="2896356"/>
            <a:ext cx="6127423" cy="2031325"/>
          </a:xfrm>
          <a:prstGeom prst="rect">
            <a:avLst/>
          </a:prstGeom>
          <a:solidFill>
            <a:schemeClr val="bg1">
              <a:lumMod val="95000"/>
            </a:schemeClr>
          </a:solidFill>
        </p:spPr>
        <p:txBody>
          <a:bodyPr wrap="square">
            <a:spAutoFit/>
          </a:bodyPr>
          <a:lstStyle/>
          <a:p>
            <a:r>
              <a:rPr lang="en-US" sz="1800" dirty="0" err="1">
                <a:latin typeface="Courier New" panose="02070309020205020404" pitchFamily="49" charset="0"/>
                <a:cs typeface="Courier New" panose="02070309020205020404" pitchFamily="49" charset="0"/>
              </a:rPr>
              <a:t>kubectl</a:t>
            </a:r>
            <a:r>
              <a:rPr lang="en-US" sz="1800" dirty="0">
                <a:latin typeface="Courier New" panose="02070309020205020404" pitchFamily="49" charset="0"/>
                <a:cs typeface="Courier New" panose="02070309020205020404" pitchFamily="49" charset="0"/>
              </a:rPr>
              <a:t> create </a:t>
            </a:r>
            <a:r>
              <a:rPr lang="en-US" sz="1800" dirty="0" err="1">
                <a:latin typeface="Courier New" panose="02070309020205020404" pitchFamily="49" charset="0"/>
                <a:cs typeface="Courier New" panose="02070309020205020404" pitchFamily="49" charset="0"/>
              </a:rPr>
              <a:t>configmap</a:t>
            </a:r>
            <a:r>
              <a:rPr lang="en-US" sz="1800" dirty="0">
                <a:latin typeface="Courier New" panose="02070309020205020404" pitchFamily="49" charset="0"/>
                <a:cs typeface="Courier New" panose="02070309020205020404" pitchFamily="49" charset="0"/>
              </a:rPr>
              <a:t> test-config</a:t>
            </a:r>
          </a:p>
          <a:p>
            <a:r>
              <a:rPr lang="en-US" sz="1800" dirty="0">
                <a:latin typeface="Courier New" panose="02070309020205020404" pitchFamily="49" charset="0"/>
                <a:cs typeface="Courier New" panose="02070309020205020404" pitchFamily="49" charset="0"/>
              </a:rPr>
              <a:t>	</a:t>
            </a:r>
            <a:r>
              <a:rPr lang="en-US" sz="1800" dirty="0">
                <a:highlight>
                  <a:srgbClr val="FFFF00"/>
                </a:highlight>
                <a:latin typeface="Courier New" panose="02070309020205020404" pitchFamily="49" charset="0"/>
                <a:cs typeface="Courier New" panose="02070309020205020404" pitchFamily="49" charset="0"/>
              </a:rPr>
              <a:t>--from-literal</a:t>
            </a:r>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test.type</a:t>
            </a:r>
            <a:r>
              <a:rPr lang="en-US" sz="1800" dirty="0">
                <a:latin typeface="Courier New" panose="02070309020205020404" pitchFamily="49" charset="0"/>
                <a:cs typeface="Courier New" panose="02070309020205020404" pitchFamily="49" charset="0"/>
              </a:rPr>
              <a:t>=unit </a:t>
            </a:r>
          </a:p>
          <a:p>
            <a:r>
              <a:rPr lang="en-US" sz="1800" dirty="0">
                <a:latin typeface="Courier New" panose="02070309020205020404" pitchFamily="49" charset="0"/>
                <a:cs typeface="Courier New" panose="02070309020205020404" pitchFamily="49" charset="0"/>
              </a:rPr>
              <a:t>	</a:t>
            </a:r>
            <a:r>
              <a:rPr lang="en-US" sz="1800" dirty="0">
                <a:highlight>
                  <a:srgbClr val="FFFF00"/>
                </a:highlight>
                <a:latin typeface="Courier New" panose="02070309020205020404" pitchFamily="49" charset="0"/>
                <a:cs typeface="Courier New" panose="02070309020205020404" pitchFamily="49" charset="0"/>
              </a:rPr>
              <a:t>--from-literal</a:t>
            </a:r>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test.exec</a:t>
            </a:r>
            <a:r>
              <a:rPr lang="en-US" sz="1800" dirty="0">
                <a:latin typeface="Courier New" panose="02070309020205020404" pitchFamily="49" charset="0"/>
                <a:cs typeface="Courier New" panose="02070309020205020404" pitchFamily="49" charset="0"/>
              </a:rPr>
              <a:t>=always</a:t>
            </a:r>
          </a:p>
          <a:p>
            <a:endParaRPr lang="en-US" sz="1800" dirty="0">
              <a:latin typeface="Courier New" panose="02070309020205020404" pitchFamily="49" charset="0"/>
              <a:cs typeface="Courier New" panose="02070309020205020404" pitchFamily="49" charset="0"/>
            </a:endParaRPr>
          </a:p>
          <a:p>
            <a:r>
              <a:rPr lang="en-US" sz="1800" dirty="0" err="1">
                <a:latin typeface="Courier New" panose="02070309020205020404" pitchFamily="49" charset="0"/>
                <a:cs typeface="Courier New" panose="02070309020205020404" pitchFamily="49" charset="0"/>
              </a:rPr>
              <a:t>kubectl</a:t>
            </a:r>
            <a:r>
              <a:rPr lang="en-US" sz="1800" dirty="0">
                <a:latin typeface="Courier New" panose="02070309020205020404" pitchFamily="49" charset="0"/>
                <a:cs typeface="Courier New" panose="02070309020205020404" pitchFamily="49" charset="0"/>
              </a:rPr>
              <a:t> create </a:t>
            </a:r>
            <a:r>
              <a:rPr lang="en-US" sz="1800" dirty="0" err="1">
                <a:latin typeface="Courier New" panose="02070309020205020404" pitchFamily="49" charset="0"/>
                <a:cs typeface="Courier New" panose="02070309020205020404" pitchFamily="49" charset="0"/>
              </a:rPr>
              <a:t>configmap</a:t>
            </a:r>
            <a:r>
              <a:rPr lang="en-US" sz="1800" dirty="0">
                <a:latin typeface="Courier New" panose="02070309020205020404" pitchFamily="49" charset="0"/>
                <a:cs typeface="Courier New" panose="02070309020205020404" pitchFamily="49" charset="0"/>
              </a:rPr>
              <a:t> run-config </a:t>
            </a:r>
          </a:p>
          <a:p>
            <a:r>
              <a:rPr lang="en-US" sz="1800" dirty="0">
                <a:latin typeface="Courier New" panose="02070309020205020404" pitchFamily="49" charset="0"/>
                <a:cs typeface="Courier New" panose="02070309020205020404" pitchFamily="49" charset="0"/>
              </a:rPr>
              <a:t>	</a:t>
            </a:r>
            <a:r>
              <a:rPr lang="en-US" sz="1800" dirty="0">
                <a:highlight>
                  <a:srgbClr val="FFFF00"/>
                </a:highlight>
                <a:latin typeface="Courier New" panose="02070309020205020404" pitchFamily="49" charset="0"/>
                <a:cs typeface="Courier New" panose="02070309020205020404" pitchFamily="49" charset="0"/>
              </a:rPr>
              <a:t>--from-file</a:t>
            </a:r>
            <a:r>
              <a:rPr lang="en-US" sz="1800" dirty="0">
                <a:latin typeface="Courier New" panose="02070309020205020404" pitchFamily="49" charset="0"/>
                <a:cs typeface="Courier New" panose="02070309020205020404" pitchFamily="49" charset="0"/>
              </a:rPr>
              <a:t>=</a:t>
            </a:r>
            <a:r>
              <a:rPr lang="en-US" sz="1800" dirty="0" err="1">
                <a:latin typeface="Courier New" panose="02070309020205020404" pitchFamily="49" charset="0"/>
                <a:cs typeface="Courier New" panose="02070309020205020404" pitchFamily="49" charset="0"/>
              </a:rPr>
              <a:t>config.json</a:t>
            </a:r>
            <a:endParaRPr lang="en-US" sz="1800" dirty="0">
              <a:latin typeface="Courier New" panose="02070309020205020404" pitchFamily="49" charset="0"/>
              <a:cs typeface="Courier New" panose="02070309020205020404" pitchFamily="49" charset="0"/>
            </a:endParaRPr>
          </a:p>
          <a:p>
            <a:endParaRPr lang="en-US" sz="1800" dirty="0">
              <a:latin typeface="Courier New" panose="02070309020205020404" pitchFamily="49" charset="0"/>
              <a:cs typeface="Courier New" panose="02070309020205020404" pitchFamily="49" charset="0"/>
            </a:endParaRPr>
          </a:p>
        </p:txBody>
      </p:sp>
      <p:sp>
        <p:nvSpPr>
          <p:cNvPr id="14" name="Speech Bubble: Rectangle 13">
            <a:extLst>
              <a:ext uri="{FF2B5EF4-FFF2-40B4-BE49-F238E27FC236}">
                <a16:creationId xmlns:a16="http://schemas.microsoft.com/office/drawing/2014/main" id="{999315DF-DEA7-4C76-9292-07ECE2F98B92}"/>
              </a:ext>
            </a:extLst>
          </p:cNvPr>
          <p:cNvSpPr/>
          <p:nvPr/>
        </p:nvSpPr>
        <p:spPr bwMode="gray">
          <a:xfrm>
            <a:off x="7561984" y="2896356"/>
            <a:ext cx="1809548" cy="907202"/>
          </a:xfrm>
          <a:prstGeom prst="wedgeRectCallout">
            <a:avLst>
              <a:gd name="adj1" fmla="val -125328"/>
              <a:gd name="adj2" fmla="val -98"/>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Parse content from command line</a:t>
            </a:r>
          </a:p>
        </p:txBody>
      </p:sp>
      <p:sp>
        <p:nvSpPr>
          <p:cNvPr id="15" name="Speech Bubble: Rectangle 14">
            <a:extLst>
              <a:ext uri="{FF2B5EF4-FFF2-40B4-BE49-F238E27FC236}">
                <a16:creationId xmlns:a16="http://schemas.microsoft.com/office/drawing/2014/main" id="{0C0844C7-9EB3-48B7-A641-C3C4B1F4F2F5}"/>
              </a:ext>
            </a:extLst>
          </p:cNvPr>
          <p:cNvSpPr/>
          <p:nvPr/>
        </p:nvSpPr>
        <p:spPr bwMode="gray">
          <a:xfrm>
            <a:off x="7561984" y="4224709"/>
            <a:ext cx="1809548" cy="907202"/>
          </a:xfrm>
          <a:prstGeom prst="wedgeRectCallout">
            <a:avLst>
              <a:gd name="adj1" fmla="val -125328"/>
              <a:gd name="adj2" fmla="val -98"/>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Parse content from file</a:t>
            </a:r>
          </a:p>
        </p:txBody>
      </p:sp>
    </p:spTree>
    <p:extLst>
      <p:ext uri="{BB962C8B-B14F-4D97-AF65-F5344CB8AC3E}">
        <p14:creationId xmlns:p14="http://schemas.microsoft.com/office/powerpoint/2010/main" val="1966867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ConfigMaps</a:t>
            </a:r>
            <a:r>
              <a:rPr lang="en-US" dirty="0"/>
              <a:t> usage in container environment</a:t>
            </a:r>
          </a:p>
        </p:txBody>
      </p:sp>
      <p:sp>
        <p:nvSpPr>
          <p:cNvPr id="4" name="Rectangle 3"/>
          <p:cNvSpPr/>
          <p:nvPr/>
        </p:nvSpPr>
        <p:spPr>
          <a:xfrm>
            <a:off x="504000" y="1090210"/>
            <a:ext cx="8685720" cy="1061829"/>
          </a:xfrm>
          <a:prstGeom prst="rect">
            <a:avLst/>
          </a:prstGeom>
        </p:spPr>
        <p:txBody>
          <a:bodyPr wrap="square">
            <a:spAutoFit/>
          </a:bodyPr>
          <a:lstStyle/>
          <a:p>
            <a:pPr marL="342900" indent="-342900">
              <a:buFont typeface="Wingdings" panose="05000000000000000000" pitchFamily="2" charset="2"/>
              <a:buChar char="§"/>
            </a:pPr>
            <a:r>
              <a:rPr lang="en-US" dirty="0" err="1"/>
              <a:t>ConfigMap</a:t>
            </a:r>
            <a:r>
              <a:rPr lang="en-US" dirty="0"/>
              <a:t> data can be projected to</a:t>
            </a:r>
          </a:p>
          <a:p>
            <a:pPr marL="887288" lvl="1" indent="-342900">
              <a:buFont typeface="Wingdings" panose="05000000000000000000" pitchFamily="2" charset="2"/>
              <a:buChar char="§"/>
            </a:pPr>
            <a:r>
              <a:rPr lang="en-US" dirty="0"/>
              <a:t>The container’s file system</a:t>
            </a:r>
          </a:p>
          <a:p>
            <a:pPr marL="887288" lvl="1" indent="-342900">
              <a:buFont typeface="Wingdings" panose="05000000000000000000" pitchFamily="2" charset="2"/>
              <a:buChar char="§"/>
            </a:pPr>
            <a:r>
              <a:rPr lang="en-US" dirty="0"/>
              <a:t>The container’s environment variables</a:t>
            </a:r>
          </a:p>
        </p:txBody>
      </p:sp>
      <p:pic>
        <p:nvPicPr>
          <p:cNvPr id="6" name="Picture 5">
            <a:extLst>
              <a:ext uri="{FF2B5EF4-FFF2-40B4-BE49-F238E27FC236}">
                <a16:creationId xmlns:a16="http://schemas.microsoft.com/office/drawing/2014/main" id="{53CB9007-501B-4225-B53A-E73A46AE7B7F}"/>
              </a:ext>
            </a:extLst>
          </p:cNvPr>
          <p:cNvPicPr>
            <a:picLocks noChangeAspect="1"/>
          </p:cNvPicPr>
          <p:nvPr/>
        </p:nvPicPr>
        <p:blipFill>
          <a:blip r:embed="rId3"/>
          <a:stretch>
            <a:fillRect/>
          </a:stretch>
        </p:blipFill>
        <p:spPr>
          <a:xfrm>
            <a:off x="6564182" y="1451731"/>
            <a:ext cx="4270688" cy="4902269"/>
          </a:xfrm>
          <a:prstGeom prst="rect">
            <a:avLst/>
          </a:prstGeom>
          <a:ln>
            <a:solidFill>
              <a:schemeClr val="tx1"/>
            </a:solidFill>
          </a:ln>
        </p:spPr>
      </p:pic>
      <p:cxnSp>
        <p:nvCxnSpPr>
          <p:cNvPr id="8" name="Straight Arrow Connector 7">
            <a:extLst>
              <a:ext uri="{FF2B5EF4-FFF2-40B4-BE49-F238E27FC236}">
                <a16:creationId xmlns:a16="http://schemas.microsoft.com/office/drawing/2014/main" id="{BC0FC983-12CF-4F41-BB7D-FD46FA165FEC}"/>
              </a:ext>
            </a:extLst>
          </p:cNvPr>
          <p:cNvCxnSpPr>
            <a:cxnSpLocks/>
          </p:cNvCxnSpPr>
          <p:nvPr/>
        </p:nvCxnSpPr>
        <p:spPr>
          <a:xfrm>
            <a:off x="4155318" y="4355184"/>
            <a:ext cx="3329564" cy="274948"/>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4B93FEC4-22BA-4525-ACF6-49CAEE480001}"/>
              </a:ext>
            </a:extLst>
          </p:cNvPr>
          <p:cNvCxnSpPr>
            <a:cxnSpLocks/>
          </p:cNvCxnSpPr>
          <p:nvPr/>
        </p:nvCxnSpPr>
        <p:spPr>
          <a:xfrm>
            <a:off x="4155318" y="4630132"/>
            <a:ext cx="3329564" cy="1025950"/>
          </a:xfrm>
          <a:prstGeom prst="straightConnector1">
            <a:avLst/>
          </a:prstGeom>
          <a:ln w="38100">
            <a:solidFill>
              <a:schemeClr val="tx1"/>
            </a:solidFill>
            <a:headEnd type="none" w="med" len="med"/>
            <a:tailEnd type="triangl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F1C0771A-C371-4743-B83A-89A4D7E565A7}"/>
              </a:ext>
            </a:extLst>
          </p:cNvPr>
          <p:cNvPicPr>
            <a:picLocks noChangeAspect="1"/>
          </p:cNvPicPr>
          <p:nvPr/>
        </p:nvPicPr>
        <p:blipFill>
          <a:blip r:embed="rId4"/>
          <a:stretch>
            <a:fillRect/>
          </a:stretch>
        </p:blipFill>
        <p:spPr>
          <a:xfrm>
            <a:off x="1968670" y="2948223"/>
            <a:ext cx="2186648" cy="1967982"/>
          </a:xfrm>
          <a:prstGeom prst="rect">
            <a:avLst/>
          </a:prstGeom>
          <a:ln>
            <a:solidFill>
              <a:schemeClr val="tx1"/>
            </a:solidFill>
          </a:ln>
        </p:spPr>
      </p:pic>
    </p:spTree>
    <p:extLst>
      <p:ext uri="{BB962C8B-B14F-4D97-AF65-F5344CB8AC3E}">
        <p14:creationId xmlns:p14="http://schemas.microsoft.com/office/powerpoint/2010/main" val="152019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724A9FBC-F97B-4E72-9810-550B0CD9B929}"/>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30127070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Secrets</a:t>
            </a:r>
          </a:p>
        </p:txBody>
      </p:sp>
      <p:sp>
        <p:nvSpPr>
          <p:cNvPr id="3" name="Rectangle 2"/>
          <p:cNvSpPr/>
          <p:nvPr/>
        </p:nvSpPr>
        <p:spPr>
          <a:xfrm>
            <a:off x="503999" y="1136103"/>
            <a:ext cx="11186477" cy="1384995"/>
          </a:xfrm>
          <a:prstGeom prst="rect">
            <a:avLst/>
          </a:prstGeom>
        </p:spPr>
        <p:txBody>
          <a:bodyPr wrap="square">
            <a:spAutoFit/>
          </a:bodyPr>
          <a:lstStyle/>
          <a:p>
            <a:pPr marL="342900" indent="-342900">
              <a:buFont typeface="Wingdings" panose="05000000000000000000" pitchFamily="2" charset="2"/>
              <a:buChar char="§"/>
            </a:pPr>
            <a:r>
              <a:rPr lang="en-US" dirty="0"/>
              <a:t>Stores data base64 encoded</a:t>
            </a:r>
          </a:p>
          <a:p>
            <a:pPr marL="342900" indent="-342900">
              <a:buFont typeface="Wingdings" panose="05000000000000000000" pitchFamily="2" charset="2"/>
              <a:buChar char="§"/>
            </a:pPr>
            <a:r>
              <a:rPr lang="en-US" dirty="0"/>
              <a:t>Can contain several </a:t>
            </a:r>
            <a:r>
              <a:rPr lang="en-US" dirty="0" err="1"/>
              <a:t>key:value</a:t>
            </a:r>
            <a:r>
              <a:rPr lang="en-US" dirty="0"/>
              <a:t> pairs or files in data section</a:t>
            </a:r>
          </a:p>
          <a:p>
            <a:pPr marL="342900" indent="-342900">
              <a:buFont typeface="Wingdings" panose="05000000000000000000" pitchFamily="2" charset="2"/>
              <a:buChar char="§"/>
            </a:pPr>
            <a:r>
              <a:rPr lang="en-US" dirty="0"/>
              <a:t>Can be read by anyone in namespace with watch/list ability</a:t>
            </a:r>
          </a:p>
          <a:p>
            <a:pPr marL="342900" indent="-342900">
              <a:buFont typeface="Wingdings" panose="05000000000000000000" pitchFamily="2" charset="2"/>
              <a:buChar char="§"/>
            </a:pPr>
            <a:r>
              <a:rPr lang="en-US" dirty="0"/>
              <a:t>Risk: API server / </a:t>
            </a:r>
            <a:r>
              <a:rPr lang="en-US" dirty="0" err="1"/>
              <a:t>etcd</a:t>
            </a:r>
            <a:r>
              <a:rPr lang="en-US" dirty="0"/>
              <a:t> potentially store information in plaintext</a:t>
            </a:r>
          </a:p>
        </p:txBody>
      </p:sp>
      <p:sp>
        <p:nvSpPr>
          <p:cNvPr id="6" name="Cylinder 5">
            <a:extLst>
              <a:ext uri="{FF2B5EF4-FFF2-40B4-BE49-F238E27FC236}">
                <a16:creationId xmlns:a16="http://schemas.microsoft.com/office/drawing/2014/main" id="{8294FB23-16CF-4FCA-926E-9EAC91920FAE}"/>
              </a:ext>
            </a:extLst>
          </p:cNvPr>
          <p:cNvSpPr/>
          <p:nvPr/>
        </p:nvSpPr>
        <p:spPr bwMode="gray">
          <a:xfrm>
            <a:off x="5742336" y="4258173"/>
            <a:ext cx="1422067" cy="104152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TLS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Cylinder 6">
            <a:extLst>
              <a:ext uri="{FF2B5EF4-FFF2-40B4-BE49-F238E27FC236}">
                <a16:creationId xmlns:a16="http://schemas.microsoft.com/office/drawing/2014/main" id="{4B75FA72-07CA-4510-8061-3E39324D27E0}"/>
              </a:ext>
            </a:extLst>
          </p:cNvPr>
          <p:cNvSpPr/>
          <p:nvPr/>
        </p:nvSpPr>
        <p:spPr bwMode="gray">
          <a:xfrm>
            <a:off x="5742337" y="5554192"/>
            <a:ext cx="1422067" cy="104152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docker registry</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Cylinder 7">
            <a:extLst>
              <a:ext uri="{FF2B5EF4-FFF2-40B4-BE49-F238E27FC236}">
                <a16:creationId xmlns:a16="http://schemas.microsoft.com/office/drawing/2014/main" id="{048893B6-9C1E-43C0-9C96-950FA005000B}"/>
              </a:ext>
            </a:extLst>
          </p:cNvPr>
          <p:cNvSpPr/>
          <p:nvPr/>
        </p:nvSpPr>
        <p:spPr bwMode="gray">
          <a:xfrm>
            <a:off x="5742338" y="2962154"/>
            <a:ext cx="1422067" cy="1041520"/>
          </a:xfrm>
          <a:prstGeom prst="can">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generic</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Rectangle 8">
            <a:extLst>
              <a:ext uri="{FF2B5EF4-FFF2-40B4-BE49-F238E27FC236}">
                <a16:creationId xmlns:a16="http://schemas.microsoft.com/office/drawing/2014/main" id="{41E95D78-488A-4CCE-BA8C-7C2B88649B17}"/>
              </a:ext>
            </a:extLst>
          </p:cNvPr>
          <p:cNvSpPr/>
          <p:nvPr/>
        </p:nvSpPr>
        <p:spPr bwMode="gray">
          <a:xfrm>
            <a:off x="928945" y="3694669"/>
            <a:ext cx="3370739" cy="2162539"/>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lang="en-US" sz="1600" b="1" kern="0" noProof="0" dirty="0">
                <a:ea typeface="Arial Unicode MS" pitchFamily="34" charset="-128"/>
                <a:cs typeface="Arial Unicode MS" pitchFamily="34" charset="-128"/>
              </a:rPr>
              <a:t>Pod-A</a:t>
            </a:r>
            <a:endParaRPr kumimoji="0" lang="en-US" sz="1600" b="1"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1" name="Rectangle 10">
            <a:extLst>
              <a:ext uri="{FF2B5EF4-FFF2-40B4-BE49-F238E27FC236}">
                <a16:creationId xmlns:a16="http://schemas.microsoft.com/office/drawing/2014/main" id="{637BA9B8-06AE-4B9A-83E3-A4BAB35F098B}"/>
              </a:ext>
            </a:extLst>
          </p:cNvPr>
          <p:cNvSpPr/>
          <p:nvPr/>
        </p:nvSpPr>
        <p:spPr bwMode="gray">
          <a:xfrm>
            <a:off x="1583086" y="4082610"/>
            <a:ext cx="2062456" cy="138665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Container</a:t>
            </a:r>
          </a:p>
        </p:txBody>
      </p:sp>
      <p:cxnSp>
        <p:nvCxnSpPr>
          <p:cNvPr id="12" name="Connector: Elbow 11">
            <a:extLst>
              <a:ext uri="{FF2B5EF4-FFF2-40B4-BE49-F238E27FC236}">
                <a16:creationId xmlns:a16="http://schemas.microsoft.com/office/drawing/2014/main" id="{030B253B-D0F3-4FA5-B725-AE3A8661C898}"/>
              </a:ext>
            </a:extLst>
          </p:cNvPr>
          <p:cNvCxnSpPr>
            <a:cxnSpLocks/>
            <a:stCxn id="9" idx="3"/>
            <a:endCxn id="8" idx="2"/>
          </p:cNvCxnSpPr>
          <p:nvPr/>
        </p:nvCxnSpPr>
        <p:spPr>
          <a:xfrm flipV="1">
            <a:off x="4299684" y="3482914"/>
            <a:ext cx="1442654" cy="1293025"/>
          </a:xfrm>
          <a:prstGeom prst="bentConnector3">
            <a:avLst>
              <a:gd name="adj1" fmla="val 50000"/>
            </a:avLst>
          </a:prstGeom>
          <a:ln w="57150">
            <a:solidFill>
              <a:schemeClr val="accent5">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9B1D3D82-741E-4B4A-B29F-674E8540F651}"/>
              </a:ext>
            </a:extLst>
          </p:cNvPr>
          <p:cNvCxnSpPr>
            <a:cxnSpLocks/>
            <a:stCxn id="9" idx="3"/>
            <a:endCxn id="6" idx="2"/>
          </p:cNvCxnSpPr>
          <p:nvPr/>
        </p:nvCxnSpPr>
        <p:spPr>
          <a:xfrm>
            <a:off x="4299684" y="4775939"/>
            <a:ext cx="1442652" cy="2994"/>
          </a:xfrm>
          <a:prstGeom prst="bentConnector3">
            <a:avLst>
              <a:gd name="adj1" fmla="val 50000"/>
            </a:avLst>
          </a:prstGeom>
          <a:ln w="57150">
            <a:solidFill>
              <a:schemeClr val="accent5">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C035E278-18F3-4C0E-BCA8-05E8E12EC069}"/>
              </a:ext>
            </a:extLst>
          </p:cNvPr>
          <p:cNvCxnSpPr>
            <a:cxnSpLocks/>
            <a:stCxn id="9" idx="3"/>
            <a:endCxn id="7" idx="2"/>
          </p:cNvCxnSpPr>
          <p:nvPr/>
        </p:nvCxnSpPr>
        <p:spPr>
          <a:xfrm>
            <a:off x="4299684" y="4775939"/>
            <a:ext cx="1442653" cy="1299013"/>
          </a:xfrm>
          <a:prstGeom prst="bentConnector3">
            <a:avLst>
              <a:gd name="adj1" fmla="val 50000"/>
            </a:avLst>
          </a:prstGeom>
          <a:ln w="57150">
            <a:solidFill>
              <a:schemeClr val="accent5">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Speech Bubble: Rectangle 21">
            <a:extLst>
              <a:ext uri="{FF2B5EF4-FFF2-40B4-BE49-F238E27FC236}">
                <a16:creationId xmlns:a16="http://schemas.microsoft.com/office/drawing/2014/main" id="{B9594814-70E4-4643-9097-9694A9368728}"/>
              </a:ext>
            </a:extLst>
          </p:cNvPr>
          <p:cNvSpPr/>
          <p:nvPr/>
        </p:nvSpPr>
        <p:spPr bwMode="gray">
          <a:xfrm>
            <a:off x="8768615" y="2936034"/>
            <a:ext cx="1809548" cy="907202"/>
          </a:xfrm>
          <a:prstGeom prst="wedgeRectCallout">
            <a:avLst>
              <a:gd name="adj1" fmla="val -125328"/>
              <a:gd name="adj2" fmla="val -98"/>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Use to store credentials</a:t>
            </a:r>
          </a:p>
        </p:txBody>
      </p:sp>
      <p:sp>
        <p:nvSpPr>
          <p:cNvPr id="23" name="Speech Bubble: Rectangle 22">
            <a:extLst>
              <a:ext uri="{FF2B5EF4-FFF2-40B4-BE49-F238E27FC236}">
                <a16:creationId xmlns:a16="http://schemas.microsoft.com/office/drawing/2014/main" id="{E738E071-E968-4282-B026-ED0EDDDA645F}"/>
              </a:ext>
            </a:extLst>
          </p:cNvPr>
          <p:cNvSpPr/>
          <p:nvPr/>
        </p:nvSpPr>
        <p:spPr bwMode="gray">
          <a:xfrm>
            <a:off x="8768615" y="4258172"/>
            <a:ext cx="1809548" cy="907202"/>
          </a:xfrm>
          <a:prstGeom prst="wedgeRectCallout">
            <a:avLst>
              <a:gd name="adj1" fmla="val -125328"/>
              <a:gd name="adj2" fmla="val -98"/>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Use to store certificates</a:t>
            </a:r>
          </a:p>
        </p:txBody>
      </p:sp>
      <p:sp>
        <p:nvSpPr>
          <p:cNvPr id="24" name="Speech Bubble: Rectangle 23">
            <a:extLst>
              <a:ext uri="{FF2B5EF4-FFF2-40B4-BE49-F238E27FC236}">
                <a16:creationId xmlns:a16="http://schemas.microsoft.com/office/drawing/2014/main" id="{93CC1797-AAE7-4AC9-8788-CFE549EA58B3}"/>
              </a:ext>
            </a:extLst>
          </p:cNvPr>
          <p:cNvSpPr/>
          <p:nvPr/>
        </p:nvSpPr>
        <p:spPr bwMode="gray">
          <a:xfrm>
            <a:off x="8768614" y="5580309"/>
            <a:ext cx="1809549" cy="1099623"/>
          </a:xfrm>
          <a:prstGeom prst="wedgeRectCallout">
            <a:avLst>
              <a:gd name="adj1" fmla="val -125328"/>
              <a:gd name="adj2" fmla="val -98"/>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Use to store credentials to a docker registry</a:t>
            </a:r>
          </a:p>
        </p:txBody>
      </p:sp>
    </p:spTree>
    <p:extLst>
      <p:ext uri="{BB962C8B-B14F-4D97-AF65-F5344CB8AC3E}">
        <p14:creationId xmlns:p14="http://schemas.microsoft.com/office/powerpoint/2010/main" val="2422484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F65AEF3-22EB-4678-AC24-A22819BDD53A}"/>
              </a:ext>
            </a:extLst>
          </p:cNvPr>
          <p:cNvSpPr/>
          <p:nvPr/>
        </p:nvSpPr>
        <p:spPr>
          <a:xfrm>
            <a:off x="504001" y="984485"/>
            <a:ext cx="11186476" cy="5370701"/>
          </a:xfrm>
          <a:prstGeom prst="rect">
            <a:avLst/>
          </a:prstGeom>
          <a:solidFill>
            <a:schemeClr val="bg1">
              <a:lumMod val="95000"/>
            </a:schemeClr>
          </a:solidFill>
        </p:spPr>
        <p:txBody>
          <a:bodyPr wrap="square">
            <a:spAutoFit/>
          </a:bodyPr>
          <a:lstStyle/>
          <a:p>
            <a:r>
              <a:rPr lang="en-US" sz="1600" dirty="0">
                <a:latin typeface="Courier New" panose="02070309020205020404" pitchFamily="49" charset="0"/>
                <a:cs typeface="Courier New" panose="02070309020205020404" pitchFamily="49" charset="0"/>
              </a:rPr>
              <a:t>$: echo admin &gt; username.txt</a:t>
            </a:r>
          </a:p>
          <a:p>
            <a:r>
              <a:rPr lang="en-US" sz="1600" dirty="0">
                <a:latin typeface="Courier New" panose="02070309020205020404" pitchFamily="49" charset="0"/>
                <a:cs typeface="Courier New" panose="02070309020205020404" pitchFamily="49" charset="0"/>
              </a:rPr>
              <a:t>$: cat username.txt</a:t>
            </a:r>
          </a:p>
          <a:p>
            <a:r>
              <a:rPr lang="en-US" sz="1600" dirty="0">
                <a:latin typeface="Courier New" panose="02070309020205020404" pitchFamily="49" charset="0"/>
                <a:cs typeface="Courier New" panose="02070309020205020404" pitchFamily="49" charset="0"/>
              </a:rPr>
              <a:t>admin</a:t>
            </a:r>
          </a:p>
          <a:p>
            <a:endParaRPr lang="en-US" sz="8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echo Secret4ever &gt; password.txt</a:t>
            </a:r>
          </a:p>
          <a:p>
            <a:r>
              <a:rPr lang="en-US" sz="1600" dirty="0">
                <a:latin typeface="Courier New" panose="02070309020205020404" pitchFamily="49" charset="0"/>
                <a:cs typeface="Courier New" panose="02070309020205020404" pitchFamily="49" charset="0"/>
              </a:rPr>
              <a:t>$: cat password.txt</a:t>
            </a:r>
          </a:p>
          <a:p>
            <a:r>
              <a:rPr lang="en-US" sz="1600" dirty="0">
                <a:latin typeface="Courier New" panose="02070309020205020404" pitchFamily="49" charset="0"/>
                <a:cs typeface="Courier New" panose="02070309020205020404" pitchFamily="49" charset="0"/>
              </a:rPr>
              <a:t>Secret4ever</a:t>
            </a:r>
          </a:p>
          <a:p>
            <a:endParaRPr lang="en-US" sz="8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kubectl</a:t>
            </a:r>
            <a:r>
              <a:rPr lang="en-US" sz="1600" dirty="0">
                <a:latin typeface="Courier New" panose="02070309020205020404" pitchFamily="49" charset="0"/>
                <a:cs typeface="Courier New" panose="02070309020205020404" pitchFamily="49" charset="0"/>
              </a:rPr>
              <a:t> create secret generic admin-access \ </a:t>
            </a:r>
          </a:p>
          <a:p>
            <a:r>
              <a:rPr lang="en-US" sz="1600" dirty="0">
                <a:latin typeface="Courier New" panose="02070309020205020404" pitchFamily="49" charset="0"/>
                <a:cs typeface="Courier New" panose="02070309020205020404" pitchFamily="49" charset="0"/>
              </a:rPr>
              <a:t>	</a:t>
            </a:r>
            <a:r>
              <a:rPr lang="en-US" sz="1600" dirty="0">
                <a:highlight>
                  <a:srgbClr val="FFFF00"/>
                </a:highlight>
                <a:latin typeface="Courier New" panose="02070309020205020404" pitchFamily="49" charset="0"/>
                <a:cs typeface="Courier New" panose="02070309020205020404" pitchFamily="49" charset="0"/>
              </a:rPr>
              <a:t>--from-file=./username.txt</a:t>
            </a:r>
            <a:r>
              <a:rPr lang="en-US" sz="1600" dirty="0">
                <a:latin typeface="Courier New" panose="02070309020205020404" pitchFamily="49" charset="0"/>
                <a:cs typeface="Courier New" panose="02070309020205020404" pitchFamily="49" charset="0"/>
              </a:rPr>
              <a:t> \</a:t>
            </a:r>
            <a:r>
              <a:rPr lang="en-US" sz="1600" dirty="0">
                <a:highlight>
                  <a:srgbClr val="FFFF00"/>
                </a:highlight>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a:t>
            </a:r>
            <a:r>
              <a:rPr lang="en-US" sz="1600" dirty="0">
                <a:highlight>
                  <a:srgbClr val="FFFF00"/>
                </a:highlight>
                <a:latin typeface="Courier New" panose="02070309020205020404" pitchFamily="49" charset="0"/>
                <a:cs typeface="Courier New" panose="02070309020205020404" pitchFamily="49" charset="0"/>
              </a:rPr>
              <a:t>--from-file=./password.txt</a:t>
            </a:r>
          </a:p>
          <a:p>
            <a:r>
              <a:rPr lang="en-US" sz="1600" dirty="0">
                <a:latin typeface="Courier New" panose="02070309020205020404" pitchFamily="49" charset="0"/>
                <a:cs typeface="Courier New" panose="02070309020205020404" pitchFamily="49" charset="0"/>
              </a:rPr>
              <a:t>secret "admin-access" created</a:t>
            </a:r>
          </a:p>
          <a:p>
            <a:endParaRPr lang="en-US" sz="700" dirty="0">
              <a:latin typeface="Courier New" panose="02070309020205020404" pitchFamily="49" charset="0"/>
              <a:cs typeface="Courier New" panose="02070309020205020404" pitchFamily="49" charset="0"/>
            </a:endParaRP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kubectl</a:t>
            </a:r>
            <a:r>
              <a:rPr lang="en-US" sz="1600" dirty="0">
                <a:latin typeface="Courier New" panose="02070309020205020404" pitchFamily="49" charset="0"/>
                <a:cs typeface="Courier New" panose="02070309020205020404" pitchFamily="49" charset="0"/>
              </a:rPr>
              <a:t> get secret admin-access -o </a:t>
            </a:r>
            <a:r>
              <a:rPr lang="en-US" sz="1600" dirty="0" err="1">
                <a:latin typeface="Courier New" panose="02070309020205020404" pitchFamily="49" charset="0"/>
                <a:cs typeface="Courier New" panose="02070309020205020404" pitchFamily="49" charset="0"/>
              </a:rPr>
              <a:t>yaml</a:t>
            </a:r>
            <a:endParaRPr lang="en-US" sz="1600" dirty="0">
              <a:latin typeface="Courier New" panose="02070309020205020404" pitchFamily="49" charset="0"/>
              <a:cs typeface="Courier New" panose="02070309020205020404" pitchFamily="49" charset="0"/>
            </a:endParaRPr>
          </a:p>
          <a:p>
            <a:r>
              <a:rPr lang="en-US" sz="1600" dirty="0" err="1">
                <a:latin typeface="Courier New" panose="02070309020205020404" pitchFamily="49" charset="0"/>
                <a:cs typeface="Courier New" panose="02070309020205020404" pitchFamily="49" charset="0"/>
              </a:rPr>
              <a:t>apiVersion</a:t>
            </a:r>
            <a:r>
              <a:rPr lang="en-US" sz="1600" dirty="0">
                <a:latin typeface="Courier New" panose="02070309020205020404" pitchFamily="49" charset="0"/>
                <a:cs typeface="Courier New" panose="02070309020205020404" pitchFamily="49" charset="0"/>
              </a:rPr>
              <a:t>: v1</a:t>
            </a:r>
          </a:p>
          <a:p>
            <a:r>
              <a:rPr lang="en-US" sz="1600" dirty="0">
                <a:latin typeface="Courier New" panose="02070309020205020404" pitchFamily="49" charset="0"/>
                <a:cs typeface="Courier New" panose="02070309020205020404" pitchFamily="49" charset="0"/>
              </a:rPr>
              <a:t>data:</a:t>
            </a:r>
          </a:p>
          <a:p>
            <a:r>
              <a:rPr lang="en-US" sz="1600" dirty="0">
                <a:latin typeface="Courier New" panose="02070309020205020404" pitchFamily="49" charset="0"/>
                <a:cs typeface="Courier New" panose="02070309020205020404" pitchFamily="49" charset="0"/>
              </a:rPr>
              <a:t>  </a:t>
            </a:r>
            <a:r>
              <a:rPr lang="en-US" sz="1600" dirty="0">
                <a:highlight>
                  <a:srgbClr val="FFFF00"/>
                </a:highlight>
                <a:latin typeface="Courier New" panose="02070309020205020404" pitchFamily="49" charset="0"/>
                <a:cs typeface="Courier New" panose="02070309020205020404" pitchFamily="49" charset="0"/>
              </a:rPr>
              <a:t>password.txt: U2VjcmV0NGV2ZXIK</a:t>
            </a:r>
          </a:p>
          <a:p>
            <a:r>
              <a:rPr lang="en-US" sz="1600" dirty="0">
                <a:latin typeface="Courier New" panose="02070309020205020404" pitchFamily="49" charset="0"/>
                <a:cs typeface="Courier New" panose="02070309020205020404" pitchFamily="49" charset="0"/>
              </a:rPr>
              <a:t>  </a:t>
            </a:r>
            <a:r>
              <a:rPr lang="en-US" sz="1600" dirty="0">
                <a:highlight>
                  <a:srgbClr val="FFFF00"/>
                </a:highlight>
                <a:latin typeface="Courier New" panose="02070309020205020404" pitchFamily="49" charset="0"/>
                <a:cs typeface="Courier New" panose="02070309020205020404" pitchFamily="49" charset="0"/>
              </a:rPr>
              <a:t>username.txt: YWRtaW4K</a:t>
            </a:r>
          </a:p>
          <a:p>
            <a:r>
              <a:rPr lang="en-US" sz="1600" dirty="0">
                <a:latin typeface="Courier New" panose="02070309020205020404" pitchFamily="49" charset="0"/>
                <a:cs typeface="Courier New" panose="02070309020205020404" pitchFamily="49" charset="0"/>
              </a:rPr>
              <a:t>kind: Secret</a:t>
            </a:r>
          </a:p>
          <a:p>
            <a:r>
              <a:rPr lang="en-US" sz="1600" dirty="0">
                <a:latin typeface="Courier New" panose="02070309020205020404" pitchFamily="49" charset="0"/>
                <a:cs typeface="Courier New" panose="02070309020205020404" pitchFamily="49" charset="0"/>
              </a:rPr>
              <a:t>metadata:</a:t>
            </a:r>
          </a:p>
          <a:p>
            <a:r>
              <a:rPr lang="en-US" sz="1600" dirty="0">
                <a:latin typeface="Courier New" panose="02070309020205020404" pitchFamily="49" charset="0"/>
                <a:cs typeface="Courier New" panose="02070309020205020404" pitchFamily="49" charset="0"/>
              </a:rPr>
              <a:t>  name: admin-access</a:t>
            </a:r>
          </a:p>
          <a:p>
            <a:r>
              <a:rPr lang="en-US" sz="1600" dirty="0">
                <a:latin typeface="Courier New" panose="02070309020205020404" pitchFamily="49" charset="0"/>
                <a:cs typeface="Courier New" panose="02070309020205020404" pitchFamily="49" charset="0"/>
              </a:rPr>
              <a:t>  namespace: default</a:t>
            </a:r>
          </a:p>
          <a:p>
            <a:r>
              <a:rPr lang="en-US" sz="1600" dirty="0">
                <a:latin typeface="Courier New" panose="02070309020205020404" pitchFamily="49" charset="0"/>
                <a:cs typeface="Courier New" panose="02070309020205020404" pitchFamily="49" charset="0"/>
              </a:rPr>
              <a:t>type: Opaque</a:t>
            </a:r>
          </a:p>
        </p:txBody>
      </p:sp>
      <p:sp>
        <p:nvSpPr>
          <p:cNvPr id="2" name="Title 1"/>
          <p:cNvSpPr>
            <a:spLocks noGrp="1"/>
          </p:cNvSpPr>
          <p:nvPr>
            <p:ph type="title"/>
          </p:nvPr>
        </p:nvSpPr>
        <p:spPr/>
        <p:txBody>
          <a:bodyPr/>
          <a:lstStyle/>
          <a:p>
            <a:r>
              <a:rPr lang="en-US" dirty="0"/>
              <a:t>Create a secret from the command line</a:t>
            </a:r>
          </a:p>
        </p:txBody>
      </p:sp>
      <p:sp>
        <p:nvSpPr>
          <p:cNvPr id="12" name="Speech Bubble: Rectangle 11">
            <a:extLst>
              <a:ext uri="{FF2B5EF4-FFF2-40B4-BE49-F238E27FC236}">
                <a16:creationId xmlns:a16="http://schemas.microsoft.com/office/drawing/2014/main" id="{8A9DB308-208D-4F12-91C7-B862DAD69F37}"/>
              </a:ext>
            </a:extLst>
          </p:cNvPr>
          <p:cNvSpPr/>
          <p:nvPr/>
        </p:nvSpPr>
        <p:spPr bwMode="gray">
          <a:xfrm>
            <a:off x="6813676" y="736881"/>
            <a:ext cx="1809548" cy="907202"/>
          </a:xfrm>
          <a:prstGeom prst="wedgeRectCallout">
            <a:avLst>
              <a:gd name="adj1" fmla="val -137831"/>
              <a:gd name="adj2" fmla="val 941"/>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Store credentials in a files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3" name="Speech Bubble: Rectangle 12">
            <a:extLst>
              <a:ext uri="{FF2B5EF4-FFF2-40B4-BE49-F238E27FC236}">
                <a16:creationId xmlns:a16="http://schemas.microsoft.com/office/drawing/2014/main" id="{F3F2FDBA-9FBE-4BA2-8141-1A7C24E601B3}"/>
              </a:ext>
            </a:extLst>
          </p:cNvPr>
          <p:cNvSpPr/>
          <p:nvPr/>
        </p:nvSpPr>
        <p:spPr bwMode="gray">
          <a:xfrm>
            <a:off x="7443090" y="2128204"/>
            <a:ext cx="2194560" cy="907202"/>
          </a:xfrm>
          <a:prstGeom prst="wedgeRectCallout">
            <a:avLst>
              <a:gd name="adj1" fmla="val -114586"/>
              <a:gd name="adj2" fmla="val 59371"/>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Upload files to K8s as an object of type secret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4" name="Speech Bubble: Rectangle 13">
            <a:extLst>
              <a:ext uri="{FF2B5EF4-FFF2-40B4-BE49-F238E27FC236}">
                <a16:creationId xmlns:a16="http://schemas.microsoft.com/office/drawing/2014/main" id="{6DA407EF-632C-4834-A7AF-7E5FD731D332}"/>
              </a:ext>
            </a:extLst>
          </p:cNvPr>
          <p:cNvSpPr/>
          <p:nvPr/>
        </p:nvSpPr>
        <p:spPr bwMode="gray">
          <a:xfrm>
            <a:off x="6351847" y="5419913"/>
            <a:ext cx="2433933" cy="1073771"/>
          </a:xfrm>
          <a:prstGeom prst="wedgeRectCallout">
            <a:avLst>
              <a:gd name="adj1" fmla="val -170009"/>
              <a:gd name="adj2" fmla="val -54208"/>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File content became “value” and is base64 encoded data</a:t>
            </a:r>
          </a:p>
        </p:txBody>
      </p:sp>
      <p:sp>
        <p:nvSpPr>
          <p:cNvPr id="10" name="Speech Bubble: Rectangle 9">
            <a:extLst>
              <a:ext uri="{FF2B5EF4-FFF2-40B4-BE49-F238E27FC236}">
                <a16:creationId xmlns:a16="http://schemas.microsoft.com/office/drawing/2014/main" id="{790E666B-FD02-46CD-9ECF-A431D1DC4FEA}"/>
              </a:ext>
            </a:extLst>
          </p:cNvPr>
          <p:cNvSpPr/>
          <p:nvPr/>
        </p:nvSpPr>
        <p:spPr bwMode="gray">
          <a:xfrm>
            <a:off x="6700639" y="4042621"/>
            <a:ext cx="2433932" cy="907202"/>
          </a:xfrm>
          <a:prstGeom prst="wedgeRectCallout">
            <a:avLst>
              <a:gd name="adj1" fmla="val -226920"/>
              <a:gd name="adj2" fmla="val -5370"/>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File name became “key”</a:t>
            </a:r>
          </a:p>
        </p:txBody>
      </p:sp>
    </p:spTree>
    <p:extLst>
      <p:ext uri="{BB962C8B-B14F-4D97-AF65-F5344CB8AC3E}">
        <p14:creationId xmlns:p14="http://schemas.microsoft.com/office/powerpoint/2010/main" val="3680444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A247B-263E-4E4C-BE8A-FB2E8E6C9351}"/>
              </a:ext>
            </a:extLst>
          </p:cNvPr>
          <p:cNvSpPr>
            <a:spLocks noGrp="1"/>
          </p:cNvSpPr>
          <p:nvPr>
            <p:ph type="title"/>
          </p:nvPr>
        </p:nvSpPr>
        <p:spPr/>
        <p:txBody>
          <a:bodyPr/>
          <a:lstStyle/>
          <a:p>
            <a:r>
              <a:rPr lang="en-US" dirty="0"/>
              <a:t>How to create </a:t>
            </a:r>
            <a:r>
              <a:rPr lang="en-US" dirty="0" err="1"/>
              <a:t>yaml</a:t>
            </a:r>
            <a:r>
              <a:rPr lang="en-US" dirty="0"/>
              <a:t> files containing valid secrets</a:t>
            </a:r>
          </a:p>
        </p:txBody>
      </p:sp>
      <p:pic>
        <p:nvPicPr>
          <p:cNvPr id="4" name="Picture 3">
            <a:extLst>
              <a:ext uri="{FF2B5EF4-FFF2-40B4-BE49-F238E27FC236}">
                <a16:creationId xmlns:a16="http://schemas.microsoft.com/office/drawing/2014/main" id="{D4B3E9FA-CD44-47C3-9893-5958F410AB5A}"/>
              </a:ext>
            </a:extLst>
          </p:cNvPr>
          <p:cNvPicPr>
            <a:picLocks noChangeAspect="1"/>
          </p:cNvPicPr>
          <p:nvPr/>
        </p:nvPicPr>
        <p:blipFill>
          <a:blip r:embed="rId3"/>
          <a:stretch>
            <a:fillRect/>
          </a:stretch>
        </p:blipFill>
        <p:spPr>
          <a:xfrm>
            <a:off x="504001" y="1252808"/>
            <a:ext cx="3428571" cy="2066667"/>
          </a:xfrm>
          <a:prstGeom prst="rect">
            <a:avLst/>
          </a:prstGeom>
          <a:ln>
            <a:solidFill>
              <a:schemeClr val="bg2"/>
            </a:solidFill>
          </a:ln>
        </p:spPr>
      </p:pic>
      <p:pic>
        <p:nvPicPr>
          <p:cNvPr id="5" name="Picture 4">
            <a:extLst>
              <a:ext uri="{FF2B5EF4-FFF2-40B4-BE49-F238E27FC236}">
                <a16:creationId xmlns:a16="http://schemas.microsoft.com/office/drawing/2014/main" id="{F9B442A3-5ED9-4D74-8CE9-95954750FA81}"/>
              </a:ext>
            </a:extLst>
          </p:cNvPr>
          <p:cNvPicPr>
            <a:picLocks noChangeAspect="1"/>
          </p:cNvPicPr>
          <p:nvPr/>
        </p:nvPicPr>
        <p:blipFill>
          <a:blip r:embed="rId4"/>
          <a:stretch>
            <a:fillRect/>
          </a:stretch>
        </p:blipFill>
        <p:spPr>
          <a:xfrm>
            <a:off x="4382953" y="1252808"/>
            <a:ext cx="3428571" cy="2066667"/>
          </a:xfrm>
          <a:prstGeom prst="rect">
            <a:avLst/>
          </a:prstGeom>
          <a:ln>
            <a:solidFill>
              <a:schemeClr val="bg2"/>
            </a:solidFill>
          </a:ln>
        </p:spPr>
      </p:pic>
      <p:pic>
        <p:nvPicPr>
          <p:cNvPr id="6" name="Picture 5">
            <a:extLst>
              <a:ext uri="{FF2B5EF4-FFF2-40B4-BE49-F238E27FC236}">
                <a16:creationId xmlns:a16="http://schemas.microsoft.com/office/drawing/2014/main" id="{3D796939-82AC-45A1-BED0-3A0C7315F5FE}"/>
              </a:ext>
            </a:extLst>
          </p:cNvPr>
          <p:cNvPicPr>
            <a:picLocks noChangeAspect="1"/>
          </p:cNvPicPr>
          <p:nvPr/>
        </p:nvPicPr>
        <p:blipFill>
          <a:blip r:embed="rId5"/>
          <a:stretch>
            <a:fillRect/>
          </a:stretch>
        </p:blipFill>
        <p:spPr>
          <a:xfrm>
            <a:off x="8261906" y="1252808"/>
            <a:ext cx="3428571" cy="2285714"/>
          </a:xfrm>
          <a:prstGeom prst="rect">
            <a:avLst/>
          </a:prstGeom>
          <a:ln>
            <a:solidFill>
              <a:schemeClr val="bg2"/>
            </a:solidFill>
          </a:ln>
        </p:spPr>
      </p:pic>
      <p:sp>
        <p:nvSpPr>
          <p:cNvPr id="7" name="Speech Bubble: Rectangle 6">
            <a:extLst>
              <a:ext uri="{FF2B5EF4-FFF2-40B4-BE49-F238E27FC236}">
                <a16:creationId xmlns:a16="http://schemas.microsoft.com/office/drawing/2014/main" id="{3B848FA9-07A4-4AFC-AC7F-658AB2F8557D}"/>
              </a:ext>
            </a:extLst>
          </p:cNvPr>
          <p:cNvSpPr/>
          <p:nvPr/>
        </p:nvSpPr>
        <p:spPr bwMode="gray">
          <a:xfrm>
            <a:off x="9142901" y="4892145"/>
            <a:ext cx="2547576" cy="1291839"/>
          </a:xfrm>
          <a:prstGeom prst="wedgeRectCallout">
            <a:avLst>
              <a:gd name="adj1" fmla="val -47700"/>
              <a:gd name="adj2" fmla="val -150990"/>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Multiline value to a single key</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Speech Bubble: Rectangle 7">
            <a:extLst>
              <a:ext uri="{FF2B5EF4-FFF2-40B4-BE49-F238E27FC236}">
                <a16:creationId xmlns:a16="http://schemas.microsoft.com/office/drawing/2014/main" id="{BCC01BEE-0664-40EA-9FCB-AC42110DC8B0}"/>
              </a:ext>
            </a:extLst>
          </p:cNvPr>
          <p:cNvSpPr/>
          <p:nvPr/>
        </p:nvSpPr>
        <p:spPr bwMode="gray">
          <a:xfrm>
            <a:off x="5008952" y="4882351"/>
            <a:ext cx="2802572" cy="1291839"/>
          </a:xfrm>
          <a:prstGeom prst="wedgeRectCallout">
            <a:avLst>
              <a:gd name="adj1" fmla="val -46220"/>
              <a:gd name="adj2" fmla="val -159017"/>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stringData</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allows to write plain</a:t>
            </a:r>
            <a:r>
              <a:rPr lang="en-US" sz="1800" kern="0" dirty="0">
                <a:ea typeface="Arial Unicode MS" pitchFamily="34" charset="-128"/>
                <a:cs typeface="Arial Unicode MS" pitchFamily="34" charset="-128"/>
              </a:rPr>
              <a:t>-text values into </a:t>
            </a:r>
            <a:r>
              <a:rPr lang="en-US" sz="1800" kern="0" dirty="0" err="1">
                <a:ea typeface="Arial Unicode MS" pitchFamily="34" charset="-128"/>
                <a:cs typeface="Arial Unicode MS" pitchFamily="34" charset="-128"/>
              </a:rPr>
              <a:t>yaml</a:t>
            </a:r>
            <a:r>
              <a:rPr lang="en-US" sz="1800" kern="0" dirty="0">
                <a:ea typeface="Arial Unicode MS" pitchFamily="34" charset="-128"/>
                <a:cs typeface="Arial Unicode MS" pitchFamily="34" charset="-128"/>
              </a:rPr>
              <a:t> files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Speech Bubble: Rectangle 9">
            <a:extLst>
              <a:ext uri="{FF2B5EF4-FFF2-40B4-BE49-F238E27FC236}">
                <a16:creationId xmlns:a16="http://schemas.microsoft.com/office/drawing/2014/main" id="{803115A7-4FAB-4DCF-9FBE-2D19EDC514B9}"/>
              </a:ext>
            </a:extLst>
          </p:cNvPr>
          <p:cNvSpPr/>
          <p:nvPr/>
        </p:nvSpPr>
        <p:spPr bwMode="gray">
          <a:xfrm>
            <a:off x="1130000" y="4882350"/>
            <a:ext cx="2802572" cy="1291839"/>
          </a:xfrm>
          <a:prstGeom prst="wedgeRectCallout">
            <a:avLst>
              <a:gd name="adj1" fmla="val -46220"/>
              <a:gd name="adj2" fmla="val -159017"/>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“data” requires base64 encoding of </a:t>
            </a:r>
            <a:r>
              <a:rPr lang="en-US" sz="1800" kern="0" dirty="0">
                <a:ea typeface="Arial Unicode MS" pitchFamily="34" charset="-128"/>
                <a:cs typeface="Arial Unicode MS" pitchFamily="34" charset="-128"/>
              </a:rPr>
              <a:t>all values no matter if binary or not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7385050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DBC4D7C-2474-46D0-A287-F50AAB027841}"/>
              </a:ext>
            </a:extLst>
          </p:cNvPr>
          <p:cNvSpPr/>
          <p:nvPr/>
        </p:nvSpPr>
        <p:spPr>
          <a:xfrm>
            <a:off x="504001" y="5517975"/>
            <a:ext cx="8237406" cy="830997"/>
          </a:xfrm>
          <a:prstGeom prst="rect">
            <a:avLst/>
          </a:prstGeom>
          <a:solidFill>
            <a:schemeClr val="bg1">
              <a:lumMod val="95000"/>
            </a:schemeClr>
          </a:solidFill>
        </p:spPr>
        <p:txBody>
          <a:bodyPr wrap="square">
            <a:spAutoFit/>
          </a:bodyPr>
          <a:lstStyle/>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kubectl</a:t>
            </a:r>
            <a:r>
              <a:rPr lang="en-US" sz="1600" dirty="0">
                <a:latin typeface="Courier New" panose="02070309020205020404" pitchFamily="49" charset="0"/>
                <a:cs typeface="Courier New" panose="02070309020205020404" pitchFamily="49" charset="0"/>
              </a:rPr>
              <a:t> logs secret-pod</a:t>
            </a:r>
          </a:p>
          <a:p>
            <a:r>
              <a:rPr lang="en-US" sz="1600" dirty="0">
                <a:highlight>
                  <a:srgbClr val="FFFF00"/>
                </a:highlight>
                <a:latin typeface="Courier New" panose="02070309020205020404" pitchFamily="49" charset="0"/>
                <a:cs typeface="Courier New" panose="02070309020205020404" pitchFamily="49" charset="0"/>
              </a:rPr>
              <a:t>admin</a:t>
            </a:r>
          </a:p>
          <a:p>
            <a:r>
              <a:rPr lang="en-US" sz="1600" dirty="0">
                <a:highlight>
                  <a:srgbClr val="FFFF00"/>
                </a:highlight>
                <a:latin typeface="Courier New" panose="02070309020205020404" pitchFamily="49" charset="0"/>
                <a:cs typeface="Courier New" panose="02070309020205020404" pitchFamily="49" charset="0"/>
              </a:rPr>
              <a:t>Secret4ever</a:t>
            </a:r>
          </a:p>
        </p:txBody>
      </p:sp>
      <p:pic>
        <p:nvPicPr>
          <p:cNvPr id="11" name="Picture 10">
            <a:extLst>
              <a:ext uri="{FF2B5EF4-FFF2-40B4-BE49-F238E27FC236}">
                <a16:creationId xmlns:a16="http://schemas.microsoft.com/office/drawing/2014/main" id="{F10E615A-C296-4288-A406-CA3E1B7B3E77}"/>
              </a:ext>
            </a:extLst>
          </p:cNvPr>
          <p:cNvPicPr>
            <a:picLocks noChangeAspect="1"/>
          </p:cNvPicPr>
          <p:nvPr/>
        </p:nvPicPr>
        <p:blipFill>
          <a:blip r:embed="rId3"/>
          <a:stretch>
            <a:fillRect/>
          </a:stretch>
        </p:blipFill>
        <p:spPr>
          <a:xfrm>
            <a:off x="504001" y="1117664"/>
            <a:ext cx="8237406" cy="4274468"/>
          </a:xfrm>
          <a:prstGeom prst="rect">
            <a:avLst/>
          </a:prstGeom>
          <a:ln>
            <a:solidFill>
              <a:schemeClr val="tx1"/>
            </a:solidFill>
          </a:ln>
        </p:spPr>
      </p:pic>
      <p:sp>
        <p:nvSpPr>
          <p:cNvPr id="2" name="Title 1">
            <a:extLst>
              <a:ext uri="{FF2B5EF4-FFF2-40B4-BE49-F238E27FC236}">
                <a16:creationId xmlns:a16="http://schemas.microsoft.com/office/drawing/2014/main" id="{A4570E81-20A4-4880-8D70-C6B7387E5C47}"/>
              </a:ext>
            </a:extLst>
          </p:cNvPr>
          <p:cNvSpPr>
            <a:spLocks noGrp="1"/>
          </p:cNvSpPr>
          <p:nvPr>
            <p:ph type="title"/>
          </p:nvPr>
        </p:nvSpPr>
        <p:spPr/>
        <p:txBody>
          <a:bodyPr/>
          <a:lstStyle/>
          <a:p>
            <a:r>
              <a:rPr lang="en-US" dirty="0"/>
              <a:t>Use a secret in a pod</a:t>
            </a:r>
          </a:p>
        </p:txBody>
      </p:sp>
      <p:sp>
        <p:nvSpPr>
          <p:cNvPr id="5" name="Speech Bubble: Rectangle 4">
            <a:extLst>
              <a:ext uri="{FF2B5EF4-FFF2-40B4-BE49-F238E27FC236}">
                <a16:creationId xmlns:a16="http://schemas.microsoft.com/office/drawing/2014/main" id="{A169D62D-E85D-4218-8F74-C5F7A757066C}"/>
              </a:ext>
            </a:extLst>
          </p:cNvPr>
          <p:cNvSpPr/>
          <p:nvPr/>
        </p:nvSpPr>
        <p:spPr bwMode="gray">
          <a:xfrm>
            <a:off x="7702642" y="2118388"/>
            <a:ext cx="2707609" cy="1127848"/>
          </a:xfrm>
          <a:prstGeom prst="wedgeRectCallout">
            <a:avLst>
              <a:gd name="adj1" fmla="val -174166"/>
              <a:gd name="adj2" fmla="val 69184"/>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Specify default access permissions</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Speech Bubble: Rectangle 5">
            <a:extLst>
              <a:ext uri="{FF2B5EF4-FFF2-40B4-BE49-F238E27FC236}">
                <a16:creationId xmlns:a16="http://schemas.microsoft.com/office/drawing/2014/main" id="{1E82EF67-D8A0-400E-A711-F57A368C4505}"/>
              </a:ext>
            </a:extLst>
          </p:cNvPr>
          <p:cNvSpPr/>
          <p:nvPr/>
        </p:nvSpPr>
        <p:spPr bwMode="gray">
          <a:xfrm>
            <a:off x="5864148" y="748332"/>
            <a:ext cx="2707609" cy="1127848"/>
          </a:xfrm>
          <a:prstGeom prst="wedgeRectCallout">
            <a:avLst>
              <a:gd name="adj1" fmla="val -139734"/>
              <a:gd name="adj2" fmla="val 133357"/>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Assign the secret to the pod like a regular volume</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Speech Bubble: Rectangle 6">
            <a:extLst>
              <a:ext uri="{FF2B5EF4-FFF2-40B4-BE49-F238E27FC236}">
                <a16:creationId xmlns:a16="http://schemas.microsoft.com/office/drawing/2014/main" id="{23B5BFDA-1E6E-483A-A490-EAB0AE41FAB4}"/>
              </a:ext>
            </a:extLst>
          </p:cNvPr>
          <p:cNvSpPr/>
          <p:nvPr/>
        </p:nvSpPr>
        <p:spPr bwMode="gray">
          <a:xfrm>
            <a:off x="9056446" y="4075424"/>
            <a:ext cx="2707609" cy="1127848"/>
          </a:xfrm>
          <a:prstGeom prst="wedgeRectCallout">
            <a:avLst>
              <a:gd name="adj1" fmla="val -92183"/>
              <a:gd name="adj2" fmla="val 29302"/>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Project the secret’s content to the container file system &amp; access it</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8" name="Speech Bubble: Rectangle 7">
            <a:extLst>
              <a:ext uri="{FF2B5EF4-FFF2-40B4-BE49-F238E27FC236}">
                <a16:creationId xmlns:a16="http://schemas.microsoft.com/office/drawing/2014/main" id="{887616F9-C8E5-4A60-9264-C79136F79C41}"/>
              </a:ext>
            </a:extLst>
          </p:cNvPr>
          <p:cNvSpPr/>
          <p:nvPr/>
        </p:nvSpPr>
        <p:spPr bwMode="gray">
          <a:xfrm>
            <a:off x="8786724" y="5517975"/>
            <a:ext cx="2707609" cy="1127848"/>
          </a:xfrm>
          <a:prstGeom prst="wedgeRectCallout">
            <a:avLst>
              <a:gd name="adj1" fmla="val -164867"/>
              <a:gd name="adj2" fmla="val -13730"/>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The </a:t>
            </a:r>
            <a:r>
              <a:rPr lang="en-US" sz="1800" kern="0" dirty="0">
                <a:ea typeface="Arial Unicode MS" pitchFamily="34" charset="-128"/>
                <a:cs typeface="Arial Unicode MS" pitchFamily="34" charset="-128"/>
              </a:rPr>
              <a:t>secret’s content is no longer decoded</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724776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2C6FC6B-98B2-E2E7-1C66-A3B1051C47B0}"/>
              </a:ext>
            </a:extLst>
          </p:cNvPr>
          <p:cNvSpPr>
            <a:spLocks noGrp="1"/>
          </p:cNvSpPr>
          <p:nvPr>
            <p:ph type="title"/>
          </p:nvPr>
        </p:nvSpPr>
        <p:spPr>
          <a:xfrm>
            <a:off x="504001" y="504000"/>
            <a:ext cx="11186476" cy="276999"/>
          </a:xfrm>
        </p:spPr>
        <p:txBody>
          <a:bodyPr/>
          <a:lstStyle/>
          <a:p>
            <a:r>
              <a:rPr lang="de-DE" sz="1800" dirty="0" err="1"/>
              <a:t>How</a:t>
            </a:r>
            <a:r>
              <a:rPr lang="de-DE" sz="1800" dirty="0"/>
              <a:t> Secrets </a:t>
            </a:r>
            <a:r>
              <a:rPr lang="de-DE" sz="1800" dirty="0" err="1"/>
              <a:t>are</a:t>
            </a:r>
            <a:r>
              <a:rPr lang="de-DE" sz="1800" dirty="0"/>
              <a:t> </a:t>
            </a:r>
            <a:r>
              <a:rPr lang="de-DE" sz="1800" dirty="0" err="1"/>
              <a:t>stored</a:t>
            </a:r>
            <a:r>
              <a:rPr lang="de-DE" sz="1800" dirty="0"/>
              <a:t> (aka </a:t>
            </a:r>
            <a:r>
              <a:rPr lang="de-DE" sz="1800" dirty="0" err="1"/>
              <a:t>encryption</a:t>
            </a:r>
            <a:r>
              <a:rPr lang="de-DE" sz="1800" dirty="0"/>
              <a:t> at </a:t>
            </a:r>
            <a:r>
              <a:rPr lang="de-DE" sz="1800" dirty="0" err="1"/>
              <a:t>rest</a:t>
            </a:r>
            <a:r>
              <a:rPr lang="de-DE" sz="1800" dirty="0"/>
              <a:t>)</a:t>
            </a:r>
          </a:p>
        </p:txBody>
      </p:sp>
      <p:sp>
        <p:nvSpPr>
          <p:cNvPr id="4" name="Textfeld 3">
            <a:extLst>
              <a:ext uri="{FF2B5EF4-FFF2-40B4-BE49-F238E27FC236}">
                <a16:creationId xmlns:a16="http://schemas.microsoft.com/office/drawing/2014/main" id="{00BFF45C-459A-BBD6-FF06-57AE89923CE9}"/>
              </a:ext>
            </a:extLst>
          </p:cNvPr>
          <p:cNvSpPr txBox="1"/>
          <p:nvPr/>
        </p:nvSpPr>
        <p:spPr>
          <a:xfrm>
            <a:off x="504000" y="3755199"/>
            <a:ext cx="8385557" cy="2862322"/>
          </a:xfrm>
          <a:prstGeom prst="rect">
            <a:avLst/>
          </a:prstGeom>
          <a:noFill/>
        </p:spPr>
        <p:txBody>
          <a:bodyPr wrap="square">
            <a:spAutoFit/>
          </a:bodyPr>
          <a:lstStyle/>
          <a:p>
            <a:r>
              <a:rPr lang="de-DE" sz="1800" dirty="0" err="1">
                <a:latin typeface="Consolas" panose="020B0609020204030204" pitchFamily="49" charset="0"/>
              </a:rPr>
              <a:t>apiVersion</a:t>
            </a:r>
            <a:r>
              <a:rPr lang="de-DE" sz="1800" dirty="0">
                <a:latin typeface="Consolas" panose="020B0609020204030204" pitchFamily="49" charset="0"/>
              </a:rPr>
              <a:t>: apiserver.config.k8s.io/v1</a:t>
            </a:r>
          </a:p>
          <a:p>
            <a:r>
              <a:rPr lang="de-DE" sz="1800" dirty="0" err="1">
                <a:latin typeface="Consolas" panose="020B0609020204030204" pitchFamily="49" charset="0"/>
              </a:rPr>
              <a:t>kind</a:t>
            </a:r>
            <a:r>
              <a:rPr lang="de-DE" sz="1800" dirty="0">
                <a:latin typeface="Consolas" panose="020B0609020204030204" pitchFamily="49" charset="0"/>
              </a:rPr>
              <a:t>: </a:t>
            </a:r>
            <a:r>
              <a:rPr lang="de-DE" sz="1800" dirty="0" err="1">
                <a:latin typeface="Consolas" panose="020B0609020204030204" pitchFamily="49" charset="0"/>
              </a:rPr>
              <a:t>EncryptionConfiguration</a:t>
            </a:r>
            <a:endParaRPr lang="de-DE" sz="1800" dirty="0">
              <a:latin typeface="Consolas" panose="020B0609020204030204" pitchFamily="49" charset="0"/>
            </a:endParaRPr>
          </a:p>
          <a:p>
            <a:r>
              <a:rPr lang="de-DE" sz="1800" dirty="0" err="1">
                <a:latin typeface="Consolas" panose="020B0609020204030204" pitchFamily="49" charset="0"/>
              </a:rPr>
              <a:t>resources</a:t>
            </a:r>
            <a:r>
              <a:rPr lang="de-DE" sz="1800" dirty="0">
                <a:latin typeface="Consolas" panose="020B0609020204030204" pitchFamily="49" charset="0"/>
              </a:rPr>
              <a:t>:</a:t>
            </a:r>
          </a:p>
          <a:p>
            <a:r>
              <a:rPr lang="de-DE" sz="1800" dirty="0">
                <a:latin typeface="Consolas" panose="020B0609020204030204" pitchFamily="49" charset="0"/>
              </a:rPr>
              <a:t>- </a:t>
            </a:r>
            <a:r>
              <a:rPr lang="de-DE" sz="1800" dirty="0" err="1">
                <a:latin typeface="Consolas" panose="020B0609020204030204" pitchFamily="49" charset="0"/>
              </a:rPr>
              <a:t>providers</a:t>
            </a:r>
            <a:r>
              <a:rPr lang="de-DE" sz="1800" dirty="0">
                <a:latin typeface="Consolas" panose="020B0609020204030204" pitchFamily="49" charset="0"/>
              </a:rPr>
              <a:t>:</a:t>
            </a:r>
          </a:p>
          <a:p>
            <a:r>
              <a:rPr lang="de-DE" sz="1800" dirty="0">
                <a:latin typeface="Consolas" panose="020B0609020204030204" pitchFamily="49" charset="0"/>
              </a:rPr>
              <a:t>  - </a:t>
            </a:r>
            <a:r>
              <a:rPr lang="de-DE" sz="1800" dirty="0" err="1">
                <a:latin typeface="Consolas" panose="020B0609020204030204" pitchFamily="49" charset="0"/>
              </a:rPr>
              <a:t>aescbc</a:t>
            </a:r>
            <a:r>
              <a:rPr lang="de-DE" sz="1800" dirty="0">
                <a:latin typeface="Consolas" panose="020B0609020204030204" pitchFamily="49" charset="0"/>
              </a:rPr>
              <a:t>:</a:t>
            </a:r>
          </a:p>
          <a:p>
            <a:r>
              <a:rPr lang="de-DE" sz="1800" dirty="0">
                <a:latin typeface="Consolas" panose="020B0609020204030204" pitchFamily="49" charset="0"/>
              </a:rPr>
              <a:t>      </a:t>
            </a:r>
            <a:r>
              <a:rPr lang="de-DE" sz="1800" dirty="0" err="1">
                <a:latin typeface="Consolas" panose="020B0609020204030204" pitchFamily="49" charset="0"/>
              </a:rPr>
              <a:t>keys</a:t>
            </a:r>
            <a:r>
              <a:rPr lang="de-DE" sz="1800" dirty="0">
                <a:latin typeface="Consolas" panose="020B0609020204030204" pitchFamily="49" charset="0"/>
              </a:rPr>
              <a:t>:</a:t>
            </a:r>
          </a:p>
          <a:p>
            <a:r>
              <a:rPr lang="de-DE" sz="1800" dirty="0">
                <a:latin typeface="Consolas" panose="020B0609020204030204" pitchFamily="49" charset="0"/>
              </a:rPr>
              <a:t>      - </a:t>
            </a:r>
            <a:r>
              <a:rPr lang="de-DE" sz="1800" dirty="0" err="1">
                <a:latin typeface="Consolas" panose="020B0609020204030204" pitchFamily="49" charset="0"/>
              </a:rPr>
              <a:t>name</a:t>
            </a:r>
            <a:r>
              <a:rPr lang="de-DE" sz="1800" dirty="0">
                <a:latin typeface="Consolas" panose="020B0609020204030204" pitchFamily="49" charset="0"/>
              </a:rPr>
              <a:t>: key1667980486</a:t>
            </a:r>
          </a:p>
          <a:p>
            <a:r>
              <a:rPr lang="de-DE" sz="1800" dirty="0">
                <a:latin typeface="Consolas" panose="020B0609020204030204" pitchFamily="49" charset="0"/>
              </a:rPr>
              <a:t>        </a:t>
            </a:r>
            <a:r>
              <a:rPr lang="de-DE" sz="1800" dirty="0" err="1">
                <a:latin typeface="Consolas" panose="020B0609020204030204" pitchFamily="49" charset="0"/>
              </a:rPr>
              <a:t>secret</a:t>
            </a:r>
            <a:r>
              <a:rPr lang="de-DE" sz="1800" dirty="0">
                <a:latin typeface="Consolas" panose="020B0609020204030204" pitchFamily="49" charset="0"/>
              </a:rPr>
              <a:t>: 7jXsAxb58R5yIpjrxICiVaSQBzLVyz2M</a:t>
            </a:r>
          </a:p>
          <a:p>
            <a:r>
              <a:rPr lang="de-DE" sz="1800" dirty="0">
                <a:highlight>
                  <a:srgbClr val="FFFF00"/>
                </a:highlight>
                <a:latin typeface="Consolas" panose="020B0609020204030204" pitchFamily="49" charset="0"/>
              </a:rPr>
              <a:t>  </a:t>
            </a:r>
            <a:r>
              <a:rPr lang="de-DE" sz="1800" dirty="0" err="1">
                <a:highlight>
                  <a:srgbClr val="FFFF00"/>
                </a:highlight>
                <a:latin typeface="Consolas" panose="020B0609020204030204" pitchFamily="49" charset="0"/>
              </a:rPr>
              <a:t>resources</a:t>
            </a:r>
            <a:r>
              <a:rPr lang="de-DE" sz="1800" dirty="0">
                <a:highlight>
                  <a:srgbClr val="FFFF00"/>
                </a:highlight>
                <a:latin typeface="Consolas" panose="020B0609020204030204" pitchFamily="49" charset="0"/>
              </a:rPr>
              <a:t>:</a:t>
            </a:r>
          </a:p>
          <a:p>
            <a:r>
              <a:rPr lang="de-DE" sz="1800" dirty="0">
                <a:highlight>
                  <a:srgbClr val="FFFF00"/>
                </a:highlight>
                <a:latin typeface="Consolas" panose="020B0609020204030204" pitchFamily="49" charset="0"/>
              </a:rPr>
              <a:t>  - </a:t>
            </a:r>
            <a:r>
              <a:rPr lang="de-DE" sz="1800" dirty="0" err="1">
                <a:highlight>
                  <a:srgbClr val="FFFF00"/>
                </a:highlight>
                <a:latin typeface="Consolas" panose="020B0609020204030204" pitchFamily="49" charset="0"/>
              </a:rPr>
              <a:t>secrets</a:t>
            </a:r>
            <a:endParaRPr lang="de-DE" sz="1800" dirty="0">
              <a:highlight>
                <a:srgbClr val="FFFF00"/>
              </a:highlight>
              <a:latin typeface="Consolas" panose="020B0609020204030204" pitchFamily="49" charset="0"/>
            </a:endParaRPr>
          </a:p>
        </p:txBody>
      </p:sp>
      <p:pic>
        <p:nvPicPr>
          <p:cNvPr id="7" name="Grafik 6" descr="Ein Bild, das Text enthält.&#10;&#10;Automatisch generierte Beschreibung">
            <a:extLst>
              <a:ext uri="{FF2B5EF4-FFF2-40B4-BE49-F238E27FC236}">
                <a16:creationId xmlns:a16="http://schemas.microsoft.com/office/drawing/2014/main" id="{6024D77A-CE0B-A641-0732-23CCD95D8F8D}"/>
              </a:ext>
            </a:extLst>
          </p:cNvPr>
          <p:cNvPicPr>
            <a:picLocks noChangeAspect="1"/>
          </p:cNvPicPr>
          <p:nvPr/>
        </p:nvPicPr>
        <p:blipFill>
          <a:blip r:embed="rId2"/>
          <a:stretch>
            <a:fillRect/>
          </a:stretch>
        </p:blipFill>
        <p:spPr>
          <a:xfrm>
            <a:off x="504000" y="1075526"/>
            <a:ext cx="11330574" cy="2624015"/>
          </a:xfrm>
          <a:prstGeom prst="rect">
            <a:avLst/>
          </a:prstGeom>
        </p:spPr>
      </p:pic>
      <p:sp>
        <p:nvSpPr>
          <p:cNvPr id="8" name="Speech Bubble: Rectangle 5">
            <a:extLst>
              <a:ext uri="{FF2B5EF4-FFF2-40B4-BE49-F238E27FC236}">
                <a16:creationId xmlns:a16="http://schemas.microsoft.com/office/drawing/2014/main" id="{8188788F-17FC-08E2-6FC4-BC3ACA649E7F}"/>
              </a:ext>
            </a:extLst>
          </p:cNvPr>
          <p:cNvSpPr/>
          <p:nvPr/>
        </p:nvSpPr>
        <p:spPr bwMode="gray">
          <a:xfrm>
            <a:off x="8750471" y="4391230"/>
            <a:ext cx="2707609" cy="1127848"/>
          </a:xfrm>
          <a:prstGeom prst="wedgeRectCallout">
            <a:avLst>
              <a:gd name="adj1" fmla="val -116828"/>
              <a:gd name="adj2" fmla="val 46643"/>
            </a:avLst>
          </a:prstGeom>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en-US" sz="1800" kern="0" dirty="0">
                <a:ea typeface="Arial Unicode MS" pitchFamily="34" charset="-128"/>
                <a:cs typeface="Arial Unicode MS" pitchFamily="34" charset="-128"/>
              </a:rPr>
              <a:t>ETCD configuration can specify, which resources should be encrypted</a:t>
            </a:r>
            <a:endParaRPr kumimoji="0" lang="en-US" sz="1800" b="0" i="0" u="none" strike="noStrike" kern="0" cap="none" spc="0" normalizeH="0" baseline="0" noProof="0" dirty="0">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17067379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Demo</a:t>
            </a:r>
          </a:p>
        </p:txBody>
      </p:sp>
      <p:pic>
        <p:nvPicPr>
          <p:cNvPr id="5" name="Picture 4">
            <a:extLst>
              <a:ext uri="{FF2B5EF4-FFF2-40B4-BE49-F238E27FC236}">
                <a16:creationId xmlns:a16="http://schemas.microsoft.com/office/drawing/2014/main" id="{9C62A5CB-238A-4F85-B51C-08527F45B6A7}"/>
              </a:ext>
            </a:extLst>
          </p:cNvPr>
          <p:cNvPicPr>
            <a:picLocks noChangeAspect="1"/>
          </p:cNvPicPr>
          <p:nvPr/>
        </p:nvPicPr>
        <p:blipFill>
          <a:blip r:embed="rId3"/>
          <a:stretch>
            <a:fillRect/>
          </a:stretch>
        </p:blipFill>
        <p:spPr>
          <a:xfrm>
            <a:off x="3645157" y="976918"/>
            <a:ext cx="4904163" cy="4904163"/>
          </a:xfrm>
          <a:prstGeom prst="rect">
            <a:avLst/>
          </a:prstGeom>
        </p:spPr>
      </p:pic>
    </p:spTree>
    <p:extLst>
      <p:ext uri="{BB962C8B-B14F-4D97-AF65-F5344CB8AC3E}">
        <p14:creationId xmlns:p14="http://schemas.microsoft.com/office/powerpoint/2010/main" val="2946468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Desired target state – exercise #06</a:t>
            </a:r>
          </a:p>
        </p:txBody>
      </p:sp>
      <p:grpSp>
        <p:nvGrpSpPr>
          <p:cNvPr id="13" name="Group 12"/>
          <p:cNvGrpSpPr/>
          <p:nvPr/>
        </p:nvGrpSpPr>
        <p:grpSpPr>
          <a:xfrm>
            <a:off x="2674620" y="3124200"/>
            <a:ext cx="6187440" cy="1752600"/>
            <a:chOff x="2697480" y="2743200"/>
            <a:chExt cx="6187440" cy="2034540"/>
          </a:xfrm>
        </p:grpSpPr>
        <p:sp>
          <p:nvSpPr>
            <p:cNvPr id="12" name="Rectangle: Rounded Corners 11"/>
            <p:cNvSpPr/>
            <p:nvPr/>
          </p:nvSpPr>
          <p:spPr bwMode="gray">
            <a:xfrm>
              <a:off x="2697480" y="2743200"/>
              <a:ext cx="6187440" cy="2034540"/>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4" name="Rectangle 3"/>
            <p:cNvSpPr/>
            <p:nvPr/>
          </p:nvSpPr>
          <p:spPr bwMode="gray">
            <a:xfrm>
              <a:off x="2989653"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6" name="Rectangle 5"/>
            <p:cNvSpPr/>
            <p:nvPr/>
          </p:nvSpPr>
          <p:spPr bwMode="gray">
            <a:xfrm>
              <a:off x="6855115"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7" name="Rectangle 6"/>
            <p:cNvSpPr/>
            <p:nvPr/>
          </p:nvSpPr>
          <p:spPr bwMode="gray">
            <a:xfrm>
              <a:off x="4922384" y="3164976"/>
              <a:ext cx="1627931" cy="1156258"/>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nginx</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grpSp>
        <p:nvGrpSpPr>
          <p:cNvPr id="15" name="Group 14"/>
          <p:cNvGrpSpPr/>
          <p:nvPr/>
        </p:nvGrpSpPr>
        <p:grpSpPr>
          <a:xfrm>
            <a:off x="3482340" y="5191896"/>
            <a:ext cx="4572000" cy="1363980"/>
            <a:chOff x="3421380" y="5067300"/>
            <a:chExt cx="4572000" cy="1363980"/>
          </a:xfrm>
        </p:grpSpPr>
        <p:sp>
          <p:nvSpPr>
            <p:cNvPr id="14" name="Rectangle: Rounded Corners 13"/>
            <p:cNvSpPr/>
            <p:nvPr/>
          </p:nvSpPr>
          <p:spPr bwMode="gray">
            <a:xfrm>
              <a:off x="3421380" y="5067300"/>
              <a:ext cx="4572000" cy="1363980"/>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8" name="Cylinder 7"/>
            <p:cNvSpPr/>
            <p:nvPr/>
          </p:nvSpPr>
          <p:spPr bwMode="gray">
            <a:xfrm>
              <a:off x="3946888" y="5248563"/>
              <a:ext cx="998220" cy="1004248"/>
            </a:xfrm>
            <a:prstGeom prst="can">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custom</a:t>
              </a:r>
              <a:r>
                <a:rPr lang="de-DE" sz="1800" kern="0" dirty="0">
                  <a:ea typeface="Arial Unicode MS" pitchFamily="34" charset="-128"/>
                  <a:cs typeface="Arial Unicode MS" pitchFamily="34" charset="-128"/>
                </a:rPr>
                <a:t> </a:t>
              </a: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content</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9" name="Cylinder 8"/>
            <p:cNvSpPr/>
            <p:nvPr/>
          </p:nvSpPr>
          <p:spPr bwMode="gray">
            <a:xfrm>
              <a:off x="5214379" y="5248563"/>
              <a:ext cx="998220" cy="1004248"/>
            </a:xfrm>
            <a:prstGeom prst="can">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de-DE" sz="1800" b="0" i="0" u="none" strike="noStrike" kern="0" cap="none" spc="0" normalizeH="0" baseline="0" noProof="0" dirty="0" err="1">
                  <a:ln>
                    <a:noFill/>
                  </a:ln>
                  <a:effectLst/>
                  <a:uLnTx/>
                  <a:uFillTx/>
                  <a:ea typeface="Arial Unicode MS" pitchFamily="34" charset="-128"/>
                  <a:cs typeface="Arial Unicode MS" pitchFamily="34" charset="-128"/>
                </a:rPr>
                <a:t>config</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sp>
          <p:nvSpPr>
            <p:cNvPr id="10" name="Cylinder 9"/>
            <p:cNvSpPr/>
            <p:nvPr/>
          </p:nvSpPr>
          <p:spPr bwMode="gray">
            <a:xfrm>
              <a:off x="6481870" y="5248563"/>
              <a:ext cx="998220" cy="1004248"/>
            </a:xfrm>
            <a:prstGeom prst="can">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tls</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certs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6" name="Arrow: Up-Down 15"/>
          <p:cNvSpPr/>
          <p:nvPr/>
        </p:nvSpPr>
        <p:spPr bwMode="gray">
          <a:xfrm>
            <a:off x="5657231" y="4702919"/>
            <a:ext cx="222219" cy="635300"/>
          </a:xfrm>
          <a:prstGeom prst="upDownArrow">
            <a:avLst/>
          </a:prstGeom>
          <a:solidFill>
            <a:schemeClr val="accent4"/>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7" name="Cloud 16"/>
          <p:cNvSpPr/>
          <p:nvPr/>
        </p:nvSpPr>
        <p:spPr bwMode="gray">
          <a:xfrm>
            <a:off x="4077318" y="1007399"/>
            <a:ext cx="3382042" cy="807791"/>
          </a:xfrm>
          <a:prstGeom prst="cloud">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grpSp>
        <p:nvGrpSpPr>
          <p:cNvPr id="27" name="Group 26"/>
          <p:cNvGrpSpPr/>
          <p:nvPr/>
        </p:nvGrpSpPr>
        <p:grpSpPr>
          <a:xfrm>
            <a:off x="4165925" y="2129720"/>
            <a:ext cx="3204830" cy="681069"/>
            <a:chOff x="2697480" y="2743200"/>
            <a:chExt cx="6187440" cy="2034540"/>
          </a:xfrm>
        </p:grpSpPr>
        <p:sp>
          <p:nvSpPr>
            <p:cNvPr id="28" name="Rectangle: Rounded Corners 27"/>
            <p:cNvSpPr/>
            <p:nvPr/>
          </p:nvSpPr>
          <p:spPr bwMode="gray">
            <a:xfrm>
              <a:off x="2697480" y="2743200"/>
              <a:ext cx="6187440" cy="2034540"/>
            </a:xfrm>
            <a:prstGeom prst="round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9" name="Rectangle 28"/>
            <p:cNvSpPr/>
            <p:nvPr/>
          </p:nvSpPr>
          <p:spPr bwMode="gray">
            <a:xfrm>
              <a:off x="3493771" y="3130180"/>
              <a:ext cx="4594857" cy="1156257"/>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lang="de-DE" sz="1800" kern="0" dirty="0" err="1">
                  <a:ea typeface="Arial Unicode MS" pitchFamily="34" charset="-128"/>
                  <a:cs typeface="Arial Unicode MS" pitchFamily="34" charset="-128"/>
                </a:rPr>
                <a:t>service</a:t>
              </a:r>
              <a:r>
                <a:rPr lang="de-DE" sz="1800" kern="0" dirty="0">
                  <a:ea typeface="Arial Unicode MS" pitchFamily="34" charset="-128"/>
                  <a:cs typeface="Arial Unicode MS" pitchFamily="34" charset="-128"/>
                </a:rPr>
                <a:t> http / https</a:t>
              </a:r>
              <a:endParaRPr kumimoji="0" lang="de-DE" sz="1800" b="0" i="0" u="none" strike="noStrike" kern="0" cap="none" spc="0" normalizeH="0" baseline="0" noProof="0" dirty="0">
                <a:ln>
                  <a:noFill/>
                </a:ln>
                <a:effectLst/>
                <a:uLnTx/>
                <a:uFillTx/>
                <a:ea typeface="Arial Unicode MS" pitchFamily="34" charset="-128"/>
                <a:cs typeface="Arial Unicode MS" pitchFamily="34" charset="-128"/>
              </a:endParaRPr>
            </a:p>
          </p:txBody>
        </p:sp>
      </p:grpSp>
      <p:sp>
        <p:nvSpPr>
          <p:cNvPr id="18" name="Arrow: Up-Down 17"/>
          <p:cNvSpPr/>
          <p:nvPr/>
        </p:nvSpPr>
        <p:spPr bwMode="gray">
          <a:xfrm>
            <a:off x="5657231" y="2669184"/>
            <a:ext cx="222219" cy="686436"/>
          </a:xfrm>
          <a:prstGeom prst="upDownArrow">
            <a:avLst/>
          </a:prstGeom>
          <a:solidFill>
            <a:schemeClr val="accent4"/>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32" name="Arrow: Up-Down 31"/>
          <p:cNvSpPr/>
          <p:nvPr/>
        </p:nvSpPr>
        <p:spPr bwMode="gray">
          <a:xfrm>
            <a:off x="5657230" y="1585837"/>
            <a:ext cx="222219" cy="686436"/>
          </a:xfrm>
          <a:prstGeom prst="upDownArrow">
            <a:avLst/>
          </a:prstGeom>
          <a:solidFill>
            <a:schemeClr val="accent4"/>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0" name="Speech Bubble: Rectangle 19">
            <a:extLst>
              <a:ext uri="{FF2B5EF4-FFF2-40B4-BE49-F238E27FC236}">
                <a16:creationId xmlns:a16="http://schemas.microsoft.com/office/drawing/2014/main" id="{7711302D-71E3-4BB4-867C-5D0045EC3D9E}"/>
              </a:ext>
            </a:extLst>
          </p:cNvPr>
          <p:cNvSpPr/>
          <p:nvPr/>
        </p:nvSpPr>
        <p:spPr bwMode="gray">
          <a:xfrm>
            <a:off x="8579848" y="5163329"/>
            <a:ext cx="2535294" cy="915844"/>
          </a:xfrm>
          <a:prstGeom prst="wedgeRectCallout">
            <a:avLst>
              <a:gd name="adj1" fmla="val -81283"/>
              <a:gd name="adj2" fmla="val 3308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create configuration and </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tls</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secrets</a:t>
            </a:r>
          </a:p>
        </p:txBody>
      </p:sp>
      <p:sp>
        <p:nvSpPr>
          <p:cNvPr id="21" name="Speech Bubble: Rectangle 20">
            <a:extLst>
              <a:ext uri="{FF2B5EF4-FFF2-40B4-BE49-F238E27FC236}">
                <a16:creationId xmlns:a16="http://schemas.microsoft.com/office/drawing/2014/main" id="{01EC3AB0-762F-43E8-A188-7C403E7BE6B7}"/>
              </a:ext>
            </a:extLst>
          </p:cNvPr>
          <p:cNvSpPr/>
          <p:nvPr/>
        </p:nvSpPr>
        <p:spPr bwMode="gray">
          <a:xfrm>
            <a:off x="8345749" y="1213876"/>
            <a:ext cx="2535294" cy="915844"/>
          </a:xfrm>
          <a:prstGeom prst="wedgeRectCallout">
            <a:avLst>
              <a:gd name="adj1" fmla="val -81283"/>
              <a:gd name="adj2" fmla="val 3308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Expose </a:t>
            </a:r>
            <a:r>
              <a:rPr kumimoji="0" lang="en-US" sz="1800" b="0" i="0" u="none" strike="noStrike" kern="0" cap="none" spc="0" normalizeH="0" baseline="0" noProof="0" dirty="0" err="1">
                <a:ln>
                  <a:noFill/>
                </a:ln>
                <a:effectLst/>
                <a:uLnTx/>
                <a:uFillTx/>
                <a:ea typeface="Arial Unicode MS" pitchFamily="34" charset="-128"/>
                <a:cs typeface="Arial Unicode MS" pitchFamily="34" charset="-128"/>
              </a:rPr>
              <a:t>nginx</a:t>
            </a:r>
            <a:r>
              <a:rPr kumimoji="0" lang="en-US" sz="1800" b="0" i="0" u="none" strike="noStrike" kern="0" cap="none" spc="0" normalizeH="0" baseline="0" noProof="0" dirty="0">
                <a:ln>
                  <a:noFill/>
                </a:ln>
                <a:effectLst/>
                <a:uLnTx/>
                <a:uFillTx/>
                <a:ea typeface="Arial Unicode MS" pitchFamily="34" charset="-128"/>
                <a:cs typeface="Arial Unicode MS" pitchFamily="34" charset="-128"/>
              </a:rPr>
              <a:t> via https</a:t>
            </a:r>
          </a:p>
        </p:txBody>
      </p:sp>
      <p:sp>
        <p:nvSpPr>
          <p:cNvPr id="22" name="Speech Bubble: Rectangle 21">
            <a:extLst>
              <a:ext uri="{FF2B5EF4-FFF2-40B4-BE49-F238E27FC236}">
                <a16:creationId xmlns:a16="http://schemas.microsoft.com/office/drawing/2014/main" id="{D90A8276-8E9C-4CEF-94B2-EDE9A4CACF9C}"/>
              </a:ext>
            </a:extLst>
          </p:cNvPr>
          <p:cNvSpPr/>
          <p:nvPr/>
        </p:nvSpPr>
        <p:spPr bwMode="gray">
          <a:xfrm>
            <a:off x="9228382" y="3355620"/>
            <a:ext cx="2535294" cy="915844"/>
          </a:xfrm>
          <a:prstGeom prst="wedgeRectCallout">
            <a:avLst>
              <a:gd name="adj1" fmla="val -81283"/>
              <a:gd name="adj2" fmla="val 33089"/>
            </a:avLst>
          </a:prstGeom>
          <a:ln>
            <a:headEnd/>
            <a:tailEnd/>
          </a:ln>
        </p:spPr>
        <p:style>
          <a:lnRef idx="2">
            <a:schemeClr val="accent5"/>
          </a:lnRef>
          <a:fillRef idx="1">
            <a:schemeClr val="lt1"/>
          </a:fillRef>
          <a:effectRef idx="0">
            <a:schemeClr val="accent5"/>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800" b="0" i="0" u="none" strike="noStrike" kern="0" cap="none" spc="0" normalizeH="0" baseline="0" noProof="0" dirty="0">
                <a:ln>
                  <a:noFill/>
                </a:ln>
                <a:effectLst/>
                <a:uLnTx/>
                <a:uFillTx/>
                <a:ea typeface="Arial Unicode MS" pitchFamily="34" charset="-128"/>
                <a:cs typeface="Arial Unicode MS" pitchFamily="34" charset="-128"/>
              </a:rPr>
              <a:t>Add usage of configuration &amp; secrets to the deployment</a:t>
            </a:r>
          </a:p>
        </p:txBody>
      </p:sp>
    </p:spTree>
    <p:extLst>
      <p:ext uri="{BB962C8B-B14F-4D97-AF65-F5344CB8AC3E}">
        <p14:creationId xmlns:p14="http://schemas.microsoft.com/office/powerpoint/2010/main" val="4085581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Sld>
  <p:clrMapOvr>
    <a:masterClrMapping/>
  </p:clrMapOvr>
  <p:transition spd="med"/>
</p:sld>
</file>

<file path=ppt/theme/theme1.xml><?xml version="1.0" encoding="utf-8"?>
<a:theme xmlns:a="http://schemas.openxmlformats.org/drawingml/2006/main" name="SAP_2017_16x9_black">
  <a:themeElements>
    <a:clrScheme name="SAP_colors_2017">
      <a:dk1>
        <a:srgbClr val="000000"/>
      </a:dk1>
      <a:lt1>
        <a:srgbClr val="FFFFFF"/>
      </a:lt1>
      <a:dk2>
        <a:srgbClr val="CCCCCC"/>
      </a:dk2>
      <a:lt2>
        <a:srgbClr val="999999"/>
      </a:lt2>
      <a:accent1>
        <a:srgbClr val="F0AB00"/>
      </a:accent1>
      <a:accent2>
        <a:srgbClr val="666666"/>
      </a:accent2>
      <a:accent3>
        <a:srgbClr val="008FD3"/>
      </a:accent3>
      <a:accent4>
        <a:srgbClr val="4FB81C"/>
      </a:accent4>
      <a:accent5>
        <a:srgbClr val="E35500"/>
      </a:accent5>
      <a:accent6>
        <a:srgbClr val="970A82"/>
      </a:accent6>
      <a:hlink>
        <a:srgbClr val="008FD3"/>
      </a:hlink>
      <a:folHlink>
        <a:srgbClr val="008FD3"/>
      </a:folHlink>
    </a:clrScheme>
    <a:fontScheme name="SAP Fonts">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9525">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ct val="500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7_16x9_black.potx" id="{9488014F-4BF2-4B73-9741-6D40B78C18AF}" vid="{315AB80D-2AE3-4555-B7D1-B9C51252491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1457</Words>
  <Application>Microsoft Macintosh PowerPoint</Application>
  <PresentationFormat>Benutzerdefiniert</PresentationFormat>
  <Paragraphs>186</Paragraphs>
  <Slides>16</Slides>
  <Notes>14</Notes>
  <HiddenSlides>1</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16</vt:i4>
      </vt:variant>
    </vt:vector>
  </HeadingPairs>
  <TitlesOfParts>
    <vt:vector size="23" baseType="lpstr">
      <vt:lpstr>Arial</vt:lpstr>
      <vt:lpstr>Consolas</vt:lpstr>
      <vt:lpstr>Courier New</vt:lpstr>
      <vt:lpstr>Symbol</vt:lpstr>
      <vt:lpstr>Wingdings</vt:lpstr>
      <vt:lpstr>Wingdings</vt:lpstr>
      <vt:lpstr>SAP_2017_16x9_black</vt:lpstr>
      <vt:lpstr>PowerPoint-Präsentation</vt:lpstr>
      <vt:lpstr>What‘s the issue? </vt:lpstr>
      <vt:lpstr>How to solve it?</vt:lpstr>
      <vt:lpstr>What data can configmaps &amp; secrets store?</vt:lpstr>
      <vt:lpstr>How to create configmaps &amp; secrets</vt:lpstr>
      <vt:lpstr>ConfigMaps Example</vt:lpstr>
      <vt:lpstr>ConfigMaps usage in container environment</vt:lpstr>
      <vt:lpstr>Demo</vt:lpstr>
      <vt:lpstr>Secrets</vt:lpstr>
      <vt:lpstr>Create a secret from the command line</vt:lpstr>
      <vt:lpstr>How to create yaml files containing valid secrets</vt:lpstr>
      <vt:lpstr>Use a secret in a pod</vt:lpstr>
      <vt:lpstr>How Secrets are stored (aka encryption at rest)</vt:lpstr>
      <vt:lpstr>Demo</vt:lpstr>
      <vt:lpstr>Desired target state – exercise #06</vt:lpstr>
      <vt:lpstr>PowerPoint-Präsentation</vt:lpstr>
    </vt:vector>
  </TitlesOfParts>
  <Company>SAP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PPT Template</dc:title>
  <dc:creator>SAP SE</dc:creator>
  <cp:keywords>2017/16:9/black</cp:keywords>
  <cp:lastModifiedBy>Kahl, Hendrik</cp:lastModifiedBy>
  <cp:revision>576</cp:revision>
  <dcterms:created xsi:type="dcterms:W3CDTF">2015-10-14T11:21:43Z</dcterms:created>
  <dcterms:modified xsi:type="dcterms:W3CDTF">2022-11-18T15:05:38Z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AuthorEmail">
    <vt:lpwstr>heidi.bitz@sap.com</vt:lpwstr>
  </property>
  <property fmtid="{D5CDD505-2E9C-101B-9397-08002B2CF9AE}" pid="6" name="_AuthorEmailDisplayName">
    <vt:lpwstr>Bitz, Heidi</vt:lpwstr>
  </property>
  <property fmtid="{D5CDD505-2E9C-101B-9397-08002B2CF9AE}" pid="7" name="_PreviousAdHocReviewCycleID">
    <vt:i4>1357826825</vt:i4>
  </property>
</Properties>
</file>