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1"/>
  </p:sldMasterIdLst>
  <p:notesMasterIdLst>
    <p:notesMasterId r:id="rId20"/>
  </p:notesMasterIdLst>
  <p:handoutMasterIdLst>
    <p:handoutMasterId r:id="rId21"/>
  </p:handoutMasterIdLst>
  <p:sldIdLst>
    <p:sldId id="433" r:id="rId2"/>
    <p:sldId id="447" r:id="rId3"/>
    <p:sldId id="454" r:id="rId4"/>
    <p:sldId id="463" r:id="rId5"/>
    <p:sldId id="448" r:id="rId6"/>
    <p:sldId id="455" r:id="rId7"/>
    <p:sldId id="449" r:id="rId8"/>
    <p:sldId id="464" r:id="rId9"/>
    <p:sldId id="460" r:id="rId10"/>
    <p:sldId id="456" r:id="rId11"/>
    <p:sldId id="457" r:id="rId12"/>
    <p:sldId id="461" r:id="rId13"/>
    <p:sldId id="458" r:id="rId14"/>
    <p:sldId id="459" r:id="rId15"/>
    <p:sldId id="462" r:id="rId16"/>
    <p:sldId id="450" r:id="rId17"/>
    <p:sldId id="451" r:id="rId18"/>
    <p:sldId id="265" r:id="rId19"/>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4FB81C"/>
    <a:srgbClr val="0F46A7"/>
    <a:srgbClr val="970A82"/>
    <a:srgbClr val="FF3399"/>
    <a:srgbClr val="FF0000"/>
    <a:srgbClr val="FFFFFF"/>
    <a:srgbClr val="FEE3A1"/>
    <a:srgbClr val="FFF1D0"/>
    <a:srgbClr val="FFF8E7"/>
    <a:srgbClr val="FECE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40" autoAdjust="0"/>
    <p:restoredTop sz="70175" autoAdjust="0"/>
  </p:normalViewPr>
  <p:slideViewPr>
    <p:cSldViewPr snapToGrid="0" showGuides="1">
      <p:cViewPr varScale="1">
        <p:scale>
          <a:sx n="114" d="100"/>
          <a:sy n="114" d="100"/>
        </p:scale>
        <p:origin x="2610" y="96"/>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200" d="100"/>
        <a:sy n="200" d="100"/>
      </p:scale>
      <p:origin x="0" y="0"/>
    </p:cViewPr>
  </p:notesTextViewPr>
  <p:sorterViewPr>
    <p:cViewPr varScale="1">
      <p:scale>
        <a:sx n="1" d="1"/>
        <a:sy n="1" d="1"/>
      </p:scale>
      <p:origin x="0" y="0"/>
    </p:cViewPr>
  </p:sorterViewPr>
  <p:notesViewPr>
    <p:cSldViewPr snapToGrid="0" showGuides="1">
      <p:cViewPr varScale="1">
        <p:scale>
          <a:sx n="92" d="100"/>
          <a:sy n="92" d="100"/>
        </p:scale>
        <p:origin x="40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a:t>
            </a:fld>
            <a:endParaRPr lang="en-US" dirty="0"/>
          </a:p>
        </p:txBody>
      </p:sp>
    </p:spTree>
    <p:extLst>
      <p:ext uri="{BB962C8B-B14F-4D97-AF65-F5344CB8AC3E}">
        <p14:creationId xmlns:p14="http://schemas.microsoft.com/office/powerpoint/2010/main" val="1673942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Tx/>
              <a:buNone/>
            </a:pPr>
            <a:r>
              <a:rPr lang="en-US" dirty="0"/>
              <a:t>What we’ve learned so far:</a:t>
            </a:r>
          </a:p>
          <a:p>
            <a:pPr marL="0" indent="0">
              <a:buFontTx/>
              <a:buNone/>
            </a:pPr>
            <a:r>
              <a:rPr lang="en-US" dirty="0"/>
              <a:t>To expose a service to the outside world (outside of cluster scoped DNS/IP range), we can use </a:t>
            </a:r>
            <a:r>
              <a:rPr lang="en-US" dirty="0" err="1"/>
              <a:t>NodePorts</a:t>
            </a:r>
            <a:r>
              <a:rPr lang="en-US" dirty="0"/>
              <a:t> or </a:t>
            </a:r>
            <a:r>
              <a:rPr lang="en-US" dirty="0" err="1"/>
              <a:t>LoadBalancer</a:t>
            </a:r>
            <a:r>
              <a:rPr lang="en-US" dirty="0"/>
              <a:t> / External IP services. </a:t>
            </a:r>
          </a:p>
          <a:p>
            <a:pPr marL="0" indent="0">
              <a:buFontTx/>
              <a:buNone/>
            </a:pPr>
            <a:r>
              <a:rPr lang="en-US" dirty="0"/>
              <a:t>The </a:t>
            </a:r>
            <a:r>
              <a:rPr lang="en-US" dirty="0" err="1"/>
              <a:t>NodePorts</a:t>
            </a:r>
            <a:r>
              <a:rPr lang="en-US" dirty="0"/>
              <a:t> are straight forward as they re-use the cluster nodes to get externally available endpoints.</a:t>
            </a:r>
          </a:p>
          <a:p>
            <a:pPr marL="0" indent="0">
              <a:buFontTx/>
              <a:buNone/>
            </a:pPr>
            <a:r>
              <a:rPr lang="en-US" dirty="0"/>
              <a:t>The </a:t>
            </a:r>
            <a:r>
              <a:rPr lang="en-US" dirty="0" err="1"/>
              <a:t>LoadBalancer</a:t>
            </a:r>
            <a:r>
              <a:rPr lang="en-US" dirty="0"/>
              <a:t> type of service however requires a 3</a:t>
            </a:r>
            <a:r>
              <a:rPr lang="en-US" baseline="30000" dirty="0"/>
              <a:t>rd</a:t>
            </a:r>
            <a:r>
              <a:rPr lang="en-US" dirty="0"/>
              <a:t> party entity, which assigns it a public IP address and sets up forwarding rules etc. </a:t>
            </a:r>
          </a:p>
          <a:p>
            <a:pPr marL="0" indent="0">
              <a:buFontTx/>
              <a:buNone/>
            </a:pPr>
            <a:r>
              <a:rPr lang="en-US" dirty="0"/>
              <a:t>The problem here is most likely the availability of such a 3</a:t>
            </a:r>
            <a:r>
              <a:rPr lang="en-US" baseline="30000" dirty="0"/>
              <a:t>rd</a:t>
            </a:r>
            <a:r>
              <a:rPr lang="en-US" dirty="0"/>
              <a:t> party entity that is able to provision IP addresses. It is also possible to assign a previously acquired external IP address manually to a service, but that doesn’t scale well nor is it properly automated.</a:t>
            </a:r>
          </a:p>
          <a:p>
            <a:pPr marL="0" indent="0">
              <a:buFontTx/>
              <a:buNone/>
            </a:pPr>
            <a:r>
              <a:rPr lang="en-US" dirty="0"/>
              <a:t>Additionally, the external endpoints we know, only serve exactly one type of backend. You can have multiple ports in a service, but they all point to the same backend type determined by label selectors. Managing two different applications with one service is not possible (in a reliable way).</a:t>
            </a:r>
          </a:p>
          <a:p>
            <a:pPr marL="0" indent="0">
              <a:buFontTx/>
              <a:buNone/>
            </a:pPr>
            <a:r>
              <a:rPr lang="en-US" dirty="0"/>
              <a:t>Ingress resources address most of the issues.</a:t>
            </a:r>
          </a:p>
          <a:p>
            <a:pPr marL="0" indent="0">
              <a:buFontTx/>
              <a:buNone/>
            </a:pPr>
            <a:endParaRPr lang="en-US" dirty="0"/>
          </a:p>
          <a:p>
            <a:pPr marL="0" indent="0">
              <a:buFontTx/>
              <a:buNone/>
            </a:pP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2</a:t>
            </a:fld>
            <a:endParaRPr lang="en-US" dirty="0"/>
          </a:p>
        </p:txBody>
      </p:sp>
    </p:spTree>
    <p:extLst>
      <p:ext uri="{BB962C8B-B14F-4D97-AF65-F5344CB8AC3E}">
        <p14:creationId xmlns:p14="http://schemas.microsoft.com/office/powerpoint/2010/main" val="40477944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Tx/>
              <a:buNone/>
            </a:pPr>
            <a:r>
              <a:rPr lang="en-US" dirty="0"/>
              <a:t>A service can only serve one backend. Complex applications may need more than one backend. With Ingress resources, several backends can be exposed via a single </a:t>
            </a:r>
            <a:r>
              <a:rPr lang="en-US" dirty="0" err="1"/>
              <a:t>entrypoint</a:t>
            </a:r>
            <a:endParaRPr lang="en-US" dirty="0"/>
          </a:p>
          <a:p>
            <a:pPr marL="465750" lvl="1" indent="-285750">
              <a:buFontTx/>
              <a:buChar char="-"/>
            </a:pPr>
            <a:r>
              <a:rPr lang="en-US" dirty="0"/>
              <a:t>Allows to create a network entity on top of services to expose applications</a:t>
            </a:r>
          </a:p>
          <a:p>
            <a:pPr marL="465750" lvl="1" indent="-285750">
              <a:buFontTx/>
              <a:buChar char="-"/>
            </a:pPr>
            <a:r>
              <a:rPr lang="en-US" dirty="0"/>
              <a:t>Expose applications via a URL and a shared “</a:t>
            </a:r>
            <a:r>
              <a:rPr lang="en-US" dirty="0" err="1"/>
              <a:t>loadbalancer</a:t>
            </a:r>
            <a:r>
              <a:rPr lang="en-US" dirty="0"/>
              <a:t>” IP</a:t>
            </a:r>
          </a:p>
          <a:p>
            <a:pPr marL="465750" lvl="1" indent="-285750">
              <a:buFontTx/>
              <a:buChar char="-"/>
            </a:pPr>
            <a:r>
              <a:rPr lang="en-US" dirty="0"/>
              <a:t>Requires an “ingress-controller” inside the cluster </a:t>
            </a:r>
          </a:p>
          <a:p>
            <a:pPr marL="465750" lvl="1" indent="-285750">
              <a:buFontTx/>
              <a:buChar char="-"/>
            </a:pPr>
            <a:r>
              <a:rPr lang="en-US" dirty="0"/>
              <a:t>https://kubernetes.io/docs/concepts/services-networking/ingress/</a:t>
            </a:r>
          </a:p>
        </p:txBody>
      </p:sp>
      <p:sp>
        <p:nvSpPr>
          <p:cNvPr id="4" name="Slide Number Placeholder 3"/>
          <p:cNvSpPr>
            <a:spLocks noGrp="1"/>
          </p:cNvSpPr>
          <p:nvPr>
            <p:ph type="sldNum" sz="quarter" idx="10"/>
          </p:nvPr>
        </p:nvSpPr>
        <p:spPr/>
        <p:txBody>
          <a:bodyPr/>
          <a:lstStyle/>
          <a:p>
            <a:fld id="{7D8C2C35-2B8A-446E-BEC0-FD36716C29AC}" type="slidenum">
              <a:rPr lang="en-US" smtClean="0"/>
              <a:pPr/>
              <a:t>3</a:t>
            </a:fld>
            <a:endParaRPr lang="en-US" dirty="0"/>
          </a:p>
        </p:txBody>
      </p:sp>
    </p:spTree>
    <p:extLst>
      <p:ext uri="{BB962C8B-B14F-4D97-AF65-F5344CB8AC3E}">
        <p14:creationId xmlns:p14="http://schemas.microsoft.com/office/powerpoint/2010/main" val="2368136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routing construct consists of several building blocks: </a:t>
            </a:r>
          </a:p>
          <a:p>
            <a:pPr marL="285750" indent="-285750">
              <a:buFontTx/>
              <a:buChar char="-"/>
            </a:pPr>
            <a:r>
              <a:rPr lang="en-US" dirty="0"/>
              <a:t>In part-0000 namespace there are pods &amp; a </a:t>
            </a:r>
            <a:r>
              <a:rPr lang="en-US" dirty="0" err="1"/>
              <a:t>clusterIP</a:t>
            </a:r>
            <a:r>
              <a:rPr lang="en-US" dirty="0"/>
              <a:t> service, which can be used to access the pods cluster-internally</a:t>
            </a:r>
          </a:p>
          <a:p>
            <a:pPr marL="285750" indent="-285750">
              <a:buFontTx/>
              <a:buChar char="-"/>
            </a:pPr>
            <a:r>
              <a:rPr lang="en-US" dirty="0"/>
              <a:t>In </a:t>
            </a:r>
            <a:r>
              <a:rPr lang="en-US" dirty="0" err="1"/>
              <a:t>kube</a:t>
            </a:r>
            <a:r>
              <a:rPr lang="en-US" dirty="0"/>
              <a:t>-system namespace a component called “ingress-controller” runs. This component is exposed via </a:t>
            </a:r>
            <a:r>
              <a:rPr lang="en-US" dirty="0" err="1"/>
              <a:t>loadbalancer</a:t>
            </a:r>
            <a:r>
              <a:rPr lang="en-US" dirty="0"/>
              <a:t> service. The IP of this service is registered to a wildcard domain / top level domain.</a:t>
            </a:r>
          </a:p>
          <a:p>
            <a:pPr marL="285750" indent="-285750">
              <a:buFontTx/>
              <a:buChar char="-"/>
            </a:pPr>
            <a:r>
              <a:rPr lang="en-US" dirty="0"/>
              <a:t>In </a:t>
            </a:r>
            <a:r>
              <a:rPr lang="en-US" dirty="0" err="1"/>
              <a:t>kube</a:t>
            </a:r>
            <a:r>
              <a:rPr lang="en-US" dirty="0"/>
              <a:t>-system namespace a 2</a:t>
            </a:r>
            <a:r>
              <a:rPr lang="en-US" baseline="30000" dirty="0"/>
              <a:t>nd</a:t>
            </a:r>
            <a:r>
              <a:rPr lang="en-US" dirty="0"/>
              <a:t> component called “ingress-backend” is running.</a:t>
            </a:r>
          </a:p>
          <a:p>
            <a:pPr marL="285750" indent="-285750">
              <a:buFontTx/>
              <a:buChar char="-"/>
            </a:pPr>
            <a:r>
              <a:rPr lang="en-US" dirty="0"/>
              <a:t>In part-0000 the user deploys a routing description (ingress resource; regular k8s API object). This routing description is specific to the wildcard domain registered with the </a:t>
            </a:r>
            <a:r>
              <a:rPr lang="en-US" dirty="0" err="1"/>
              <a:t>loadbalancer</a:t>
            </a:r>
            <a:r>
              <a:rPr lang="en-US" dirty="0"/>
              <a:t> service.</a:t>
            </a:r>
          </a:p>
          <a:p>
            <a:pPr marL="285750" indent="-285750">
              <a:buFontTx/>
              <a:buChar char="-"/>
            </a:pPr>
            <a:r>
              <a:rPr lang="en-US" dirty="0"/>
              <a:t>The ingress-backend picks up the rules from this and all other namespaces and updates the server config of the ingress-controller</a:t>
            </a:r>
          </a:p>
          <a:p>
            <a:pPr marL="285750" indent="-285750">
              <a:buFontTx/>
              <a:buChar char="-"/>
            </a:pPr>
            <a:r>
              <a:rPr lang="en-US" dirty="0"/>
              <a:t>Now all traffic going in to *.ingress.com will be sent to the ingress-controller, evaluated and forwarded according to routing rules defined in the ingress resources.</a:t>
            </a:r>
          </a:p>
        </p:txBody>
      </p:sp>
      <p:sp>
        <p:nvSpPr>
          <p:cNvPr id="4" name="Slide Number Placeholder 3"/>
          <p:cNvSpPr>
            <a:spLocks noGrp="1"/>
          </p:cNvSpPr>
          <p:nvPr>
            <p:ph type="sldNum" sz="quarter" idx="5"/>
          </p:nvPr>
        </p:nvSpPr>
        <p:spPr/>
        <p:txBody>
          <a:bodyPr/>
          <a:lstStyle/>
          <a:p>
            <a:fld id="{7D8C2C35-2B8A-446E-BEC0-FD36716C29AC}" type="slidenum">
              <a:rPr lang="de-DE" smtClean="0"/>
              <a:pPr/>
              <a:t>4</a:t>
            </a:fld>
            <a:endParaRPr lang="de-DE" dirty="0"/>
          </a:p>
        </p:txBody>
      </p:sp>
    </p:spTree>
    <p:extLst>
      <p:ext uri="{BB962C8B-B14F-4D97-AF65-F5344CB8AC3E}">
        <p14:creationId xmlns:p14="http://schemas.microsoft.com/office/powerpoint/2010/main" val="2426339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ingress controller needs to be present in the respective cluster. It is configured to watch for new ingress objects being posted to the k8s </a:t>
            </a:r>
            <a:r>
              <a:rPr lang="en-US" dirty="0" err="1"/>
              <a:t>api</a:t>
            </a:r>
            <a:r>
              <a:rPr lang="en-US" dirty="0"/>
              <a:t> server. </a:t>
            </a:r>
          </a:p>
          <a:p>
            <a:r>
              <a:rPr lang="en-US" dirty="0"/>
              <a:t>Once an ingress resource is created, the controller will try to enforce the desired state. That can include the setup of URL &amp; corresponding routing info etc.</a:t>
            </a:r>
          </a:p>
          <a:p>
            <a:r>
              <a:rPr lang="en-US" dirty="0"/>
              <a:t>Most common ingress controller is the “</a:t>
            </a:r>
            <a:r>
              <a:rPr lang="en-US" dirty="0" err="1"/>
              <a:t>nginx</a:t>
            </a:r>
            <a:r>
              <a:rPr lang="en-US" dirty="0"/>
              <a:t> ingress controller”</a:t>
            </a:r>
          </a:p>
        </p:txBody>
      </p:sp>
      <p:sp>
        <p:nvSpPr>
          <p:cNvPr id="4" name="Slide Number Placeholder 3"/>
          <p:cNvSpPr>
            <a:spLocks noGrp="1"/>
          </p:cNvSpPr>
          <p:nvPr>
            <p:ph type="sldNum" sz="quarter" idx="10"/>
          </p:nvPr>
        </p:nvSpPr>
        <p:spPr/>
        <p:txBody>
          <a:bodyPr/>
          <a:lstStyle/>
          <a:p>
            <a:fld id="{7D8C2C35-2B8A-446E-BEC0-FD36716C29AC}" type="slidenum">
              <a:rPr lang="de-DE" smtClean="0"/>
              <a:pPr/>
              <a:t>5</a:t>
            </a:fld>
            <a:endParaRPr lang="de-DE" dirty="0"/>
          </a:p>
        </p:txBody>
      </p:sp>
    </p:spTree>
    <p:extLst>
      <p:ext uri="{BB962C8B-B14F-4D97-AF65-F5344CB8AC3E}">
        <p14:creationId xmlns:p14="http://schemas.microsoft.com/office/powerpoint/2010/main" val="24054053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easiest way of using an Ingress is as an entry point to a single service with one to multiple pods. The ingress is created for a dedicated URL (assuming the controller is in control of the domain). Users can use the URL specified with the Ingress resource to access the service &amp; associated backend pods.</a:t>
            </a:r>
          </a:p>
          <a:p>
            <a:r>
              <a:rPr lang="en-US" dirty="0"/>
              <a:t>You can add TLS termination at the Ingress endpoint by specifying a TLS secret with the corresponding hostname as subject or alternative subject.</a:t>
            </a:r>
          </a:p>
          <a:p>
            <a:r>
              <a:rPr lang="en-US" dirty="0"/>
              <a:t>From the services perspective everything works as usual. A port and a target port are specified and base on labels and selectors the traffic is routed.</a:t>
            </a:r>
          </a:p>
        </p:txBody>
      </p:sp>
      <p:sp>
        <p:nvSpPr>
          <p:cNvPr id="4" name="Slide Number Placeholder 3"/>
          <p:cNvSpPr>
            <a:spLocks noGrp="1"/>
          </p:cNvSpPr>
          <p:nvPr>
            <p:ph type="sldNum" sz="quarter" idx="10"/>
          </p:nvPr>
        </p:nvSpPr>
        <p:spPr/>
        <p:txBody>
          <a:bodyPr/>
          <a:lstStyle/>
          <a:p>
            <a:fld id="{7D8C2C35-2B8A-446E-BEC0-FD36716C29AC}" type="slidenum">
              <a:rPr lang="de-DE" smtClean="0"/>
              <a:pPr/>
              <a:t>6</a:t>
            </a:fld>
            <a:endParaRPr lang="de-DE" dirty="0"/>
          </a:p>
        </p:txBody>
      </p:sp>
    </p:spTree>
    <p:extLst>
      <p:ext uri="{BB962C8B-B14F-4D97-AF65-F5344CB8AC3E}">
        <p14:creationId xmlns:p14="http://schemas.microsoft.com/office/powerpoint/2010/main" val="2984051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spec, there is a section about rules &amp; TLS. </a:t>
            </a:r>
          </a:p>
          <a:p>
            <a:r>
              <a:rPr lang="en-US" dirty="0"/>
              <a:t>Rules define forwarding of incoming traffic to backends.</a:t>
            </a:r>
          </a:p>
          <a:p>
            <a:endParaRPr lang="en-US" dirty="0"/>
          </a:p>
          <a:p>
            <a:r>
              <a:rPr lang="en-US" dirty="0"/>
              <a:t>In this case traffic is send to a service. The path “/” in combination with </a:t>
            </a:r>
            <a:r>
              <a:rPr lang="en-US" dirty="0" err="1"/>
              <a:t>pathType</a:t>
            </a:r>
            <a:r>
              <a:rPr lang="en-US" dirty="0"/>
              <a:t>: Prefix matches all paths. For more details about routing, check this link:</a:t>
            </a:r>
          </a:p>
          <a:p>
            <a:r>
              <a:rPr lang="en-US" dirty="0"/>
              <a:t>https://kubernetes.io/docs/concepts/services-networking/ingress/#path-types</a:t>
            </a:r>
          </a:p>
        </p:txBody>
      </p:sp>
      <p:sp>
        <p:nvSpPr>
          <p:cNvPr id="4" name="Slide Number Placeholder 3"/>
          <p:cNvSpPr>
            <a:spLocks noGrp="1"/>
          </p:cNvSpPr>
          <p:nvPr>
            <p:ph type="sldNum" sz="quarter" idx="10"/>
          </p:nvPr>
        </p:nvSpPr>
        <p:spPr/>
        <p:txBody>
          <a:bodyPr/>
          <a:lstStyle/>
          <a:p>
            <a:fld id="{7D8C2C35-2B8A-446E-BEC0-FD36716C29AC}" type="slidenum">
              <a:rPr lang="de-DE" smtClean="0"/>
              <a:pPr/>
              <a:t>7</a:t>
            </a:fld>
            <a:endParaRPr lang="de-DE" dirty="0"/>
          </a:p>
        </p:txBody>
      </p:sp>
    </p:spTree>
    <p:extLst>
      <p:ext uri="{BB962C8B-B14F-4D97-AF65-F5344CB8AC3E}">
        <p14:creationId xmlns:p14="http://schemas.microsoft.com/office/powerpoint/2010/main" val="39190121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8</a:t>
            </a:fld>
            <a:endParaRPr lang="de-DE" dirty="0"/>
          </a:p>
        </p:txBody>
      </p:sp>
    </p:spTree>
    <p:extLst>
      <p:ext uri="{BB962C8B-B14F-4D97-AF65-F5344CB8AC3E}">
        <p14:creationId xmlns:p14="http://schemas.microsoft.com/office/powerpoint/2010/main" val="1587051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Go to the admin folder in the repo and run the create_ingress_tls.sh script</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Create a secret with the generated files as suggested by the script</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Use the 09_tls_ingress.yaml to create a deployment, service and corresponding ingress resource</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Show the deployment &amp; service</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Show the ingress with the host &amp; </a:t>
            </a:r>
            <a:r>
              <a:rPr lang="en-US" baseline="0" dirty="0" err="1"/>
              <a:t>tls</a:t>
            </a:r>
            <a:r>
              <a:rPr lang="en-US" baseline="0" dirty="0"/>
              <a:t> section. Highlight that the </a:t>
            </a:r>
            <a:r>
              <a:rPr lang="en-US" baseline="0" dirty="0" err="1"/>
              <a:t>nginx</a:t>
            </a:r>
            <a:r>
              <a:rPr lang="en-US" baseline="0" dirty="0"/>
              <a:t> itself is not configured for https but the connection terminates at the ingress endpoint.</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err="1"/>
              <a:t>Kubectl</a:t>
            </a:r>
            <a:r>
              <a:rPr lang="en-US" baseline="0" dirty="0"/>
              <a:t> describe ingress &lt;ingress-name&gt; -&gt; show the events for this ingress and point to the cert-manager events to provision the secret</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Open the URL in a browser, show the certificate – it should be issued by let’s encrypt. </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Go to the </a:t>
            </a:r>
            <a:r>
              <a:rPr lang="en-US" baseline="0" dirty="0" err="1"/>
              <a:t>yaml</a:t>
            </a:r>
            <a:r>
              <a:rPr lang="en-US" baseline="0" dirty="0"/>
              <a:t> file of the deployment and show the </a:t>
            </a:r>
            <a:r>
              <a:rPr lang="en-US" baseline="0" dirty="0" err="1"/>
              <a:t>init</a:t>
            </a:r>
            <a:r>
              <a:rPr lang="en-US" baseline="0" dirty="0"/>
              <a:t> container that runs upon pod start.</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Highlight that it writes some text to an </a:t>
            </a:r>
            <a:r>
              <a:rPr lang="en-US" baseline="0" dirty="0" err="1"/>
              <a:t>emptyDir</a:t>
            </a:r>
            <a:r>
              <a:rPr lang="en-US" baseline="0" dirty="0"/>
              <a:t> volume which is then mounted into the </a:t>
            </a:r>
            <a:r>
              <a:rPr lang="en-US" baseline="0" dirty="0" err="1"/>
              <a:t>nginx</a:t>
            </a:r>
            <a:r>
              <a:rPr lang="en-US" baseline="0" dirty="0"/>
              <a:t> container.</a:t>
            </a:r>
          </a:p>
          <a:p>
            <a:pPr marL="0" marR="0" lvl="0" indent="0" algn="l" defTabSz="1088776"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1088776" rtl="0" eaLnBrk="1" fontAlgn="auto" latinLnBrk="0" hangingPunct="1">
              <a:lnSpc>
                <a:spcPct val="100000"/>
              </a:lnSpc>
              <a:spcBef>
                <a:spcPts val="0"/>
              </a:spcBef>
              <a:spcAft>
                <a:spcPts val="0"/>
              </a:spcAft>
              <a:buClrTx/>
              <a:buSzTx/>
              <a:buFontTx/>
              <a:buNone/>
              <a:tabLst/>
              <a:defRPr/>
            </a:pPr>
            <a:r>
              <a:rPr lang="en-US" baseline="0" dirty="0"/>
              <a:t>Cert manager </a:t>
            </a:r>
            <a:r>
              <a:rPr lang="en-US" baseline="0"/>
              <a:t>tutorial: </a:t>
            </a:r>
            <a:r>
              <a:rPr lang="de-DE" sz="1400" b="0" u="sng" kern="1200">
                <a:solidFill>
                  <a:schemeClr val="tx1"/>
                </a:solidFill>
                <a:effectLst/>
                <a:latin typeface="+mn-lt"/>
                <a:ea typeface="+mn-ea"/>
                <a:cs typeface="+mn-cs"/>
              </a:rPr>
              <a:t>https://gardener.cloud/050-tutorials/content/howto/x509_certificates/</a:t>
            </a:r>
            <a:endParaRPr lang="de-DE" sz="1400" b="0" kern="1200">
              <a:solidFill>
                <a:schemeClr val="tx1"/>
              </a:solidFill>
              <a:effectLst/>
              <a:latin typeface="+mn-lt"/>
              <a:ea typeface="+mn-ea"/>
              <a:cs typeface="+mn-cs"/>
            </a:endParaRPr>
          </a:p>
          <a:p>
            <a:pPr marL="0" marR="0" lvl="0" indent="0" algn="l" defTabSz="1088776"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9</a:t>
            </a:fld>
            <a:endParaRPr lang="de-DE" dirty="0"/>
          </a:p>
        </p:txBody>
      </p:sp>
    </p:spTree>
    <p:extLst>
      <p:ext uri="{BB962C8B-B14F-4D97-AF65-F5344CB8AC3E}">
        <p14:creationId xmlns:p14="http://schemas.microsoft.com/office/powerpoint/2010/main" val="679445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possible to mesh up multiple services within one Ingress endpoint and differentiate via URL paths. A user trying to access green needs to use https://app.ingress.com/my</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10</a:t>
            </a:fld>
            <a:endParaRPr lang="de-DE" dirty="0"/>
          </a:p>
        </p:txBody>
      </p:sp>
    </p:spTree>
    <p:extLst>
      <p:ext uri="{BB962C8B-B14F-4D97-AF65-F5344CB8AC3E}">
        <p14:creationId xmlns:p14="http://schemas.microsoft.com/office/powerpoint/2010/main" val="4009850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spec, there is a section about rules &amp; TLS. </a:t>
            </a:r>
          </a:p>
          <a:p>
            <a:r>
              <a:rPr lang="en-US" dirty="0"/>
              <a:t>Rules define forwarding of incoming traffic to services.</a:t>
            </a:r>
          </a:p>
          <a:p>
            <a:endParaRPr lang="en-US" dirty="0"/>
          </a:p>
          <a:p>
            <a:r>
              <a:rPr lang="en-US" dirty="0"/>
              <a:t>With v0.22 the re-write annotation has been changed. Now it requires capture groups, if you want to pass on any substrings within the URI. Everything not captured will be dropped. In the example above every substring following “/my” and “/your” will be forwarded to the backend.</a:t>
            </a:r>
          </a:p>
          <a:p>
            <a:endParaRPr lang="en-US" dirty="0"/>
          </a:p>
          <a:p>
            <a:r>
              <a:rPr lang="en-US" dirty="0"/>
              <a:t>For details, see: </a:t>
            </a:r>
          </a:p>
          <a:p>
            <a:r>
              <a:rPr lang="en-US" dirty="0"/>
              <a:t>https://github.com/kubernetes/ingress-nginx/releases/tag/nginx-0.22.0</a:t>
            </a:r>
          </a:p>
          <a:p>
            <a:r>
              <a:rPr lang="en-US" dirty="0"/>
              <a:t>https://kubernetes.github.io/ingress-nginx/examples/rewrite/#rewrite-target</a:t>
            </a:r>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11</a:t>
            </a:fld>
            <a:endParaRPr lang="de-DE" dirty="0"/>
          </a:p>
        </p:txBody>
      </p:sp>
    </p:spTree>
    <p:extLst>
      <p:ext uri="{BB962C8B-B14F-4D97-AF65-F5344CB8AC3E}">
        <p14:creationId xmlns:p14="http://schemas.microsoft.com/office/powerpoint/2010/main" val="28437937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Use the 09_fanout_and_virtual_host_ingress.yaml to create a deployment, service and corresponding ingress resources</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Note, that this file contains not only the fanout demo but based on the same 2 deployments &amp; services also the virtual host demo.</a:t>
            </a:r>
          </a:p>
          <a:p>
            <a:pPr marL="285750" marR="0" lvl="0" indent="-285750" algn="l" defTabSz="1088776" rtl="0" eaLnBrk="1" fontAlgn="auto" latinLnBrk="0" hangingPunct="1">
              <a:lnSpc>
                <a:spcPct val="100000"/>
              </a:lnSpc>
              <a:spcBef>
                <a:spcPts val="0"/>
              </a:spcBef>
              <a:spcAft>
                <a:spcPts val="0"/>
              </a:spcAft>
              <a:buClrTx/>
              <a:buSzTx/>
              <a:buFontTx/>
              <a:buChar char="-"/>
              <a:tabLst/>
              <a:defRPr/>
            </a:pPr>
            <a:endParaRPr lang="en-US" baseline="0" dirty="0"/>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Show the deployments &amp; services</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Show the fanout ingress</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Highlight the rewrite-target annotation and its importance.</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Without this annotation the traffic would be forwarded to my-</a:t>
            </a:r>
            <a:r>
              <a:rPr lang="en-US" baseline="0" dirty="0" err="1"/>
              <a:t>nginx</a:t>
            </a:r>
            <a:r>
              <a:rPr lang="en-US" baseline="0" dirty="0"/>
              <a:t>-service/</a:t>
            </a:r>
            <a:r>
              <a:rPr lang="en-US" baseline="0" dirty="0" err="1"/>
              <a:t>mynginx</a:t>
            </a:r>
            <a:r>
              <a:rPr lang="en-US" baseline="0" dirty="0"/>
              <a:t> or your-</a:t>
            </a:r>
            <a:r>
              <a:rPr lang="en-US" baseline="0" dirty="0" err="1"/>
              <a:t>nginx</a:t>
            </a:r>
            <a:r>
              <a:rPr lang="en-US" baseline="0" dirty="0"/>
              <a:t>-service/</a:t>
            </a:r>
            <a:r>
              <a:rPr lang="en-US" baseline="0" dirty="0" err="1"/>
              <a:t>yournginx</a:t>
            </a:r>
            <a:r>
              <a:rPr lang="en-US" baseline="0" dirty="0"/>
              <a:t>. Obviously none of the services is aware of this path, so you would get an error instead of your index.html.</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Open the URL in a browser and show the different endpoints based on their path</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12</a:t>
            </a:fld>
            <a:endParaRPr lang="de-DE" dirty="0"/>
          </a:p>
        </p:txBody>
      </p:sp>
    </p:spTree>
    <p:extLst>
      <p:ext uri="{BB962C8B-B14F-4D97-AF65-F5344CB8AC3E}">
        <p14:creationId xmlns:p14="http://schemas.microsoft.com/office/powerpoint/2010/main" val="15160699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a:t>
            </a:r>
            <a:r>
              <a:rPr lang="en-US" baseline="30000" dirty="0"/>
              <a:t>rd</a:t>
            </a:r>
            <a:r>
              <a:rPr lang="en-US" dirty="0"/>
              <a:t> option to make services available is to have several URLs managed by one Ingress resource. The IP also here, the IP endpoint remains stable. </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13</a:t>
            </a:fld>
            <a:endParaRPr lang="de-DE" dirty="0"/>
          </a:p>
        </p:txBody>
      </p:sp>
    </p:spTree>
    <p:extLst>
      <p:ext uri="{BB962C8B-B14F-4D97-AF65-F5344CB8AC3E}">
        <p14:creationId xmlns:p14="http://schemas.microsoft.com/office/powerpoint/2010/main" val="29509488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spec, there is a section about rules &amp; TLS. </a:t>
            </a:r>
          </a:p>
          <a:p>
            <a:r>
              <a:rPr lang="en-US" dirty="0"/>
              <a:t>Rules define forwarding of incoming traffic to services.</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14</a:t>
            </a:fld>
            <a:endParaRPr lang="de-DE" dirty="0"/>
          </a:p>
        </p:txBody>
      </p:sp>
    </p:spTree>
    <p:extLst>
      <p:ext uri="{BB962C8B-B14F-4D97-AF65-F5344CB8AC3E}">
        <p14:creationId xmlns:p14="http://schemas.microsoft.com/office/powerpoint/2010/main" val="41516551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Use the 09_fanout_and_virtual_host_ingress.yaml to create a deployment, service and corresponding ingress resources</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Note, that this file contains not only the fanout demo but based on the same 2 deployments &amp; services also the virtual host demo.</a:t>
            </a:r>
          </a:p>
          <a:p>
            <a:pPr marL="285750" marR="0" lvl="0" indent="-285750" algn="l" defTabSz="1088776" rtl="0" eaLnBrk="1" fontAlgn="auto" latinLnBrk="0" hangingPunct="1">
              <a:lnSpc>
                <a:spcPct val="100000"/>
              </a:lnSpc>
              <a:spcBef>
                <a:spcPts val="0"/>
              </a:spcBef>
              <a:spcAft>
                <a:spcPts val="0"/>
              </a:spcAft>
              <a:buClrTx/>
              <a:buSzTx/>
              <a:buFontTx/>
              <a:buChar char="-"/>
              <a:tabLst/>
              <a:defRPr/>
            </a:pPr>
            <a:endParaRPr lang="en-US" baseline="0" dirty="0"/>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Show the deployments &amp; services</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Show the virtual hosts ingress</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Highlight the rewrite-target annotation and its importance.</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Without this annotation the traffic would be forwarded to my-</a:t>
            </a:r>
            <a:r>
              <a:rPr lang="en-US" baseline="0" dirty="0" err="1"/>
              <a:t>nginx</a:t>
            </a:r>
            <a:r>
              <a:rPr lang="en-US" baseline="0" dirty="0"/>
              <a:t>-service/</a:t>
            </a:r>
            <a:r>
              <a:rPr lang="en-US" baseline="0" dirty="0" err="1"/>
              <a:t>mynginx</a:t>
            </a:r>
            <a:r>
              <a:rPr lang="en-US" baseline="0" dirty="0"/>
              <a:t> or your-</a:t>
            </a:r>
            <a:r>
              <a:rPr lang="en-US" baseline="0" dirty="0" err="1"/>
              <a:t>nginx</a:t>
            </a:r>
            <a:r>
              <a:rPr lang="en-US" baseline="0" dirty="0"/>
              <a:t>-service/</a:t>
            </a:r>
            <a:r>
              <a:rPr lang="en-US" baseline="0" dirty="0" err="1"/>
              <a:t>yournginx</a:t>
            </a:r>
            <a:r>
              <a:rPr lang="en-US" baseline="0" dirty="0"/>
              <a:t>. Obviously none of the services is aware of this path, so you would get an error instead of your index.html.</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Open the URL in a browser and show the different endpoints based on their URL</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15</a:t>
            </a:fld>
            <a:endParaRPr lang="de-DE" dirty="0"/>
          </a:p>
        </p:txBody>
      </p:sp>
    </p:spTree>
    <p:extLst>
      <p:ext uri="{BB962C8B-B14F-4D97-AF65-F5344CB8AC3E}">
        <p14:creationId xmlns:p14="http://schemas.microsoft.com/office/powerpoint/2010/main" val="21385883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Gardener allows to deploy an ingress controller as a managed addon. It is not possible / allowed to change its configuration, but a great starting point.</a:t>
            </a:r>
          </a:p>
          <a:p>
            <a:endParaRPr lang="en-US" dirty="0"/>
          </a:p>
          <a:p>
            <a:r>
              <a:rPr lang="en-US" dirty="0"/>
              <a:t>The dashboard will also display the ingress’ domain. Give it a try and lookup the address it is pointing to and compare it to the </a:t>
            </a:r>
            <a:r>
              <a:rPr lang="en-US" dirty="0" err="1"/>
              <a:t>LoadBalancer</a:t>
            </a:r>
            <a:r>
              <a:rPr lang="en-US" dirty="0"/>
              <a:t> IP in </a:t>
            </a:r>
            <a:r>
              <a:rPr lang="en-US" dirty="0" err="1"/>
              <a:t>kube</a:t>
            </a:r>
            <a:r>
              <a:rPr lang="en-US"/>
              <a:t>-system namespace</a:t>
            </a: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16</a:t>
            </a:fld>
            <a:endParaRPr lang="de-DE" dirty="0"/>
          </a:p>
        </p:txBody>
      </p:sp>
    </p:spTree>
    <p:extLst>
      <p:ext uri="{BB962C8B-B14F-4D97-AF65-F5344CB8AC3E}">
        <p14:creationId xmlns:p14="http://schemas.microsoft.com/office/powerpoint/2010/main" val="2003310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en-US" smtClean="0"/>
              <a:pPr/>
              <a:t>18</a:t>
            </a:fld>
            <a:endParaRPr lang="en-US"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 scene art</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30188748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black">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7" name="Picture Placeholder 6"/>
          <p:cNvSpPr>
            <a:spLocks noGrp="1"/>
          </p:cNvSpPr>
          <p:nvPr>
            <p:ph type="pic" sz="quarter" idx="16"/>
          </p:nvPr>
        </p:nvSpPr>
        <p:spPr>
          <a:xfrm>
            <a:off x="6954855" y="963000"/>
            <a:ext cx="4932000" cy="4932000"/>
          </a:xfrm>
        </p:spPr>
        <p:txBody>
          <a:bodyPr/>
          <a:lstStyle/>
          <a:p>
            <a:endParaRPr lang="en-US" dirty="0"/>
          </a:p>
        </p:txBody>
      </p:sp>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200"/>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grpSp>
        <p:nvGrpSpPr>
          <p:cNvPr id="3" name="Group 2"/>
          <p:cNvGrpSpPr/>
          <p:nvPr userDrawn="1"/>
        </p:nvGrpSpPr>
        <p:grpSpPr>
          <a:xfrm>
            <a:off x="0" y="0"/>
            <a:ext cx="12195175" cy="251942"/>
            <a:chOff x="0" y="0"/>
            <a:chExt cx="12195175" cy="251942"/>
          </a:xfrm>
        </p:grpSpPr>
        <p:sp>
          <p:nvSpPr>
            <p:cNvPr id="9" name="Rectangle 8"/>
            <p:cNvSpPr/>
            <p:nvPr userDrawn="1"/>
          </p:nvSpPr>
          <p:spPr bwMode="gray">
            <a:xfrm>
              <a:off x="0" y="0"/>
              <a:ext cx="12195175" cy="251942"/>
            </a:xfrm>
            <a:prstGeom prst="rect">
              <a:avLst/>
            </a:prstGeom>
            <a:solidFill>
              <a:schemeClr val="bg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4" name="Secondary Motion Band"/>
            <p:cNvGrpSpPr/>
            <p:nvPr userDrawn="1"/>
          </p:nvGrpSpPr>
          <p:grpSpPr>
            <a:xfrm>
              <a:off x="10682127" y="0"/>
              <a:ext cx="1513048" cy="251942"/>
              <a:chOff x="10682127" y="0"/>
              <a:chExt cx="1513048" cy="252000"/>
            </a:xfrm>
          </p:grpSpPr>
          <p:sp>
            <p:nvSpPr>
              <p:cNvPr id="6" name="Rectangle 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Rectangle 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you.</a:t>
            </a:r>
          </a:p>
        </p:txBody>
      </p:sp>
      <p:pic>
        <p:nvPicPr>
          <p:cNvPr id="10"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en-US" sz="1100" kern="1200" noProof="0" dirty="0" err="1">
                <a:solidFill>
                  <a:schemeClr val="tx1"/>
                </a:solidFill>
                <a:effectLst/>
                <a:latin typeface="Arial"/>
                <a:ea typeface="+mn-ea"/>
                <a:cs typeface="+mn-cs"/>
              </a:rPr>
              <a:t>Weitergabe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Vervielfältigung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Teilen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daraus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welchem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Zweck</a:t>
            </a:r>
            <a:r>
              <a:rPr lang="en-US" sz="1100" kern="1200" noProof="0" dirty="0">
                <a:solidFill>
                  <a:schemeClr val="tx1"/>
                </a:solidFill>
                <a:effectLst/>
                <a:latin typeface="Arial"/>
                <a:ea typeface="+mn-ea"/>
                <a:cs typeface="+mn-cs"/>
              </a:rPr>
              <a:t> und in </a:t>
            </a:r>
            <a:r>
              <a:rPr lang="en-US" sz="1100" kern="1200" noProof="0" dirty="0" err="1">
                <a:solidFill>
                  <a:schemeClr val="tx1"/>
                </a:solidFill>
                <a:effectLst/>
                <a:latin typeface="Arial"/>
                <a:ea typeface="+mn-ea"/>
                <a:cs typeface="+mn-cs"/>
              </a:rPr>
              <a:t>welcher</a:t>
            </a:r>
            <a:r>
              <a:rPr lang="en-US" sz="1100" kern="1200" noProof="0" dirty="0">
                <a:solidFill>
                  <a:schemeClr val="tx1"/>
                </a:solidFill>
                <a:effectLst/>
                <a:latin typeface="Arial"/>
                <a:ea typeface="+mn-ea"/>
                <a:cs typeface="+mn-cs"/>
              </a:rPr>
              <a:t> Form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immer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ausdrückliche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schriftliche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Genehmigung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gestattet</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vorherige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Ankündigung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von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Vertriebsfirmen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angebotenen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Softwarekomponenten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Softwarehersteller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länderspezifische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aufweisen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Die </a:t>
            </a:r>
            <a:r>
              <a:rPr lang="en-US" sz="1100" kern="1200" noProof="0" dirty="0" err="1">
                <a:solidFill>
                  <a:schemeClr val="tx1"/>
                </a:solidFill>
                <a:effectLst/>
                <a:latin typeface="Arial"/>
                <a:ea typeface="+mn-ea"/>
                <a:cs typeface="+mn-cs"/>
              </a:rPr>
              <a:t>vorliegenden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bereitgestellt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ausschließlich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Informationszwecken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keinerlei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Haftung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Gewährleistung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Fehler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Unvollständigkeiten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lediglich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nach</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Maßgabe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die in der </a:t>
            </a:r>
            <a:r>
              <a:rPr lang="en-US" sz="1100" kern="1200" noProof="0" dirty="0" err="1">
                <a:solidFill>
                  <a:schemeClr val="tx1"/>
                </a:solidFill>
                <a:effectLst/>
                <a:latin typeface="Arial"/>
                <a:ea typeface="+mn-ea"/>
                <a:cs typeface="+mn-cs"/>
              </a:rPr>
              <a:t>Vereinbarung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ausdrücklich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geregelt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Garantie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interpretieren</a:t>
            </a:r>
            <a:r>
              <a:rPr lang="en-US" sz="1100" kern="1200" noProof="0" dirty="0">
                <a:solidFill>
                  <a:schemeClr val="tx1"/>
                </a:solidFill>
                <a:effectLst/>
                <a:latin typeface="Arial"/>
                <a:ea typeface="+mn-ea"/>
                <a:cs typeface="+mn-cs"/>
              </a:rPr>
              <a:t>. </a:t>
            </a:r>
          </a:p>
          <a:p>
            <a:pPr>
              <a:spcBef>
                <a:spcPts val="1200"/>
              </a:spcBef>
            </a:pPr>
            <a:r>
              <a:rPr lang="en-US" sz="1100" kern="1200" noProof="0" dirty="0" err="1">
                <a:solidFill>
                  <a:schemeClr val="tx1"/>
                </a:solidFill>
                <a:effectLst/>
                <a:latin typeface="Arial"/>
                <a:ea typeface="+mn-ea"/>
                <a:cs typeface="+mn-cs"/>
              </a:rPr>
              <a:t>Insbesondere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keiner</a:t>
            </a:r>
            <a:r>
              <a:rPr lang="en-US" sz="1100" kern="1200" noProof="0" dirty="0">
                <a:solidFill>
                  <a:schemeClr val="tx1"/>
                </a:solidFill>
                <a:effectLst/>
                <a:latin typeface="Arial"/>
                <a:ea typeface="+mn-ea"/>
                <a:cs typeface="+mn-cs"/>
              </a:rPr>
              <a:t> Weise </a:t>
            </a:r>
            <a:r>
              <a:rPr lang="en-US" sz="1100" kern="1200" noProof="0" dirty="0" err="1">
                <a:solidFill>
                  <a:schemeClr val="tx1"/>
                </a:solidFill>
                <a:effectLst/>
                <a:latin typeface="Arial"/>
                <a:ea typeface="+mn-ea"/>
                <a:cs typeface="+mn-cs"/>
              </a:rPr>
              <a:t>verpflichtet</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dargestellte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Geschäftsabläufe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verfolgen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wiedergegebene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entwickeln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veröffentlichen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Strategie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etwaige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künftige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Entwicklungen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Plattformen</a:t>
            </a:r>
            <a:r>
              <a:rPr lang="en-US" sz="1100" kern="1200" noProof="0" dirty="0">
                <a:solidFill>
                  <a:schemeClr val="tx1"/>
                </a:solidFill>
                <a:effectLst/>
                <a:latin typeface="Arial"/>
                <a:ea typeface="+mn-ea"/>
                <a:cs typeface="+mn-cs"/>
              </a:rPr>
              <a:t>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jederzeit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Angabe</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Gründen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unangekündigt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stellen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Zusage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Versprechen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rechtliche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Verpflichtung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Lieferung</a:t>
            </a:r>
            <a:r>
              <a:rPr lang="en-US" sz="1100" kern="1200" noProof="0" dirty="0">
                <a:solidFill>
                  <a:schemeClr val="tx1"/>
                </a:solidFill>
                <a:effectLst/>
                <a:latin typeface="Arial"/>
                <a:ea typeface="+mn-ea"/>
                <a:cs typeface="+mn-cs"/>
              </a:rPr>
              <a:t> von Material, Code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Sämtliche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unterliegen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Risiken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Unsicherheiten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tatsächlichen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Ergebnisse</a:t>
            </a:r>
            <a:r>
              <a:rPr lang="en-US" sz="1100" kern="1200" noProof="0" dirty="0">
                <a:solidFill>
                  <a:schemeClr val="tx1"/>
                </a:solidFill>
                <a:effectLst/>
                <a:latin typeface="Arial"/>
                <a:ea typeface="+mn-ea"/>
                <a:cs typeface="+mn-cs"/>
              </a:rPr>
              <a:t> von den </a:t>
            </a:r>
            <a:r>
              <a:rPr lang="en-US" sz="1100" kern="1200" noProof="0" dirty="0" err="1">
                <a:solidFill>
                  <a:schemeClr val="tx1"/>
                </a:solidFill>
                <a:effectLst/>
                <a:latin typeface="Arial"/>
                <a:ea typeface="+mn-ea"/>
                <a:cs typeface="+mn-cs"/>
              </a:rPr>
              <a:t>Erwartungen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abweichen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Dem </a:t>
            </a:r>
            <a:r>
              <a:rPr lang="en-US" sz="1100" kern="1200" noProof="0" dirty="0" err="1">
                <a:solidFill>
                  <a:schemeClr val="tx1"/>
                </a:solidFill>
                <a:effectLst/>
                <a:latin typeface="Arial"/>
                <a:ea typeface="+mn-ea"/>
                <a:cs typeface="+mn-cs"/>
              </a:rPr>
              <a:t>Leser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wird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empfohlen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übertriebenes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Vertrauen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schenken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sich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Kaufentscheidungen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auf </a:t>
            </a:r>
            <a:r>
              <a:rPr lang="en-US" sz="1100" kern="1200" noProof="0" dirty="0" err="1">
                <a:solidFill>
                  <a:schemeClr val="tx1"/>
                </a:solidFill>
                <a:effectLst/>
                <a:latin typeface="Arial"/>
                <a:ea typeface="+mn-ea"/>
                <a:cs typeface="+mn-cs"/>
              </a:rPr>
              <a:t>sie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stützen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SAP und </a:t>
            </a:r>
            <a:r>
              <a:rPr lang="en-US" sz="1100" kern="1200" noProof="0" dirty="0" err="1">
                <a:solidFill>
                  <a:schemeClr val="tx1"/>
                </a:solidFill>
                <a:effectLst/>
                <a:latin typeface="Arial"/>
                <a:ea typeface="+mn-ea"/>
                <a:cs typeface="+mn-cs"/>
              </a:rPr>
              <a:t>andere</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Dokument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erwähnte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von SAP </a:t>
            </a:r>
            <a:r>
              <a:rPr lang="en-US" sz="1100" kern="1200" noProof="0" dirty="0" err="1">
                <a:solidFill>
                  <a:schemeClr val="tx1"/>
                </a:solidFill>
                <a:effectLst/>
                <a:latin typeface="Arial"/>
                <a:ea typeface="+mn-ea"/>
                <a:cs typeface="+mn-cs"/>
              </a:rPr>
              <a:t>sowie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dazugehörigen</a:t>
            </a:r>
            <a:r>
              <a:rPr lang="en-US" sz="1100" kern="1200" noProof="0" dirty="0">
                <a:solidFill>
                  <a:schemeClr val="tx1"/>
                </a:solidFill>
                <a:effectLst/>
                <a:latin typeface="Arial"/>
                <a:ea typeface="+mn-ea"/>
                <a:cs typeface="+mn-cs"/>
              </a:rPr>
              <a:t> Logos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eingetragene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SAP SE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Deutschland und </a:t>
            </a:r>
            <a:r>
              <a:rPr lang="en-US" sz="1100" kern="1200" noProof="0" dirty="0" err="1">
                <a:solidFill>
                  <a:schemeClr val="tx1"/>
                </a:solidFill>
                <a:effectLst/>
                <a:latin typeface="Arial"/>
                <a:ea typeface="+mn-ea"/>
                <a:cs typeface="+mn-cs"/>
              </a:rPr>
              <a:t>verschiedenen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weltweit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Alle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Namen</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Produkten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Firmen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Vermerke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finden</a:t>
            </a:r>
            <a:r>
              <a:rPr lang="en-US" sz="1100" kern="1200" noProof="0" dirty="0">
                <a:solidFill>
                  <a:schemeClr val="tx1"/>
                </a:solidFill>
                <a:effectLst/>
                <a:latin typeface="Arial"/>
                <a:ea typeface="+mn-ea"/>
                <a:cs typeface="+mn-cs"/>
              </a:rPr>
              <a:t> Sie auf der </a:t>
            </a:r>
            <a:r>
              <a:rPr lang="en-US" sz="1100" kern="1200" noProof="0" dirty="0" err="1">
                <a:solidFill>
                  <a:schemeClr val="tx1"/>
                </a:solidFill>
                <a:effectLst/>
                <a:latin typeface="Arial"/>
                <a:ea typeface="+mn-ea"/>
                <a:cs typeface="+mn-cs"/>
              </a:rPr>
              <a:t>Seite</a:t>
            </a:r>
            <a:r>
              <a:rPr lang="en-US" sz="1100" kern="1200" noProof="0" dirty="0">
                <a:solidFill>
                  <a:schemeClr val="tx1"/>
                </a:solidFill>
                <a:effectLst/>
                <a:latin typeface="Arial"/>
                <a:ea typeface="+mn-ea"/>
                <a:cs typeface="+mn-cs"/>
              </a:rPr>
              <a:t> </a:t>
            </a:r>
            <a:r>
              <a:rPr lang="en-US" sz="1100" kern="1200" noProof="0" dirty="0">
                <a:solidFill>
                  <a:schemeClr val="tx1"/>
                </a:solidFill>
                <a:effectLst/>
                <a:latin typeface="Arial"/>
                <a:ea typeface="+mn-ea"/>
                <a:cs typeface="+mn-cs"/>
                <a:hlinkClick r:id="rId2"/>
              </a:rPr>
              <a:t>http://www.sap.com/corporate-de/legal/copyright/index.epx</a:t>
            </a:r>
            <a:endParaRPr lang="en-US"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a:t>
            </a:r>
            <a:r>
              <a:rPr lang="en-US" sz="2400" b="0" noProof="0" dirty="0" err="1"/>
              <a:t>oder</a:t>
            </a:r>
            <a:r>
              <a:rPr lang="en-US" sz="2400" b="0" noProof="0" dirty="0"/>
              <a:t> </a:t>
            </a:r>
            <a:r>
              <a:rPr lang="en-US" sz="2400" b="0" noProof="0" dirty="0" err="1"/>
              <a:t>ein</a:t>
            </a:r>
            <a:r>
              <a:rPr lang="en-US" sz="2400" b="0" noProof="0" dirty="0"/>
              <a:t> SAP-</a:t>
            </a:r>
            <a:r>
              <a:rPr lang="en-US" sz="2400" b="0" noProof="0" dirty="0" err="1"/>
              <a:t>Konzernunternehmen</a:t>
            </a:r>
            <a:r>
              <a:rPr lang="en-US" sz="2400" b="0" noProof="0" dirty="0"/>
              <a:t>. </a:t>
            </a:r>
            <a:r>
              <a:rPr lang="en-US" sz="2400" b="0" noProof="0" dirty="0" err="1"/>
              <a:t>Alle</a:t>
            </a:r>
            <a:r>
              <a:rPr lang="en-US" sz="2400" b="0" noProof="0" dirty="0"/>
              <a:t> </a:t>
            </a:r>
            <a:r>
              <a:rPr lang="en-US" sz="2400" b="0" noProof="0" dirty="0" err="1"/>
              <a:t>Rechte</a:t>
            </a:r>
            <a:r>
              <a:rPr lang="en-US" sz="2400" b="0" noProof="0" dirty="0"/>
              <a:t> </a:t>
            </a:r>
            <a:r>
              <a:rPr lang="en-US" sz="2400" b="0" noProof="0" dirty="0" err="1"/>
              <a:t>vorbehalten</a:t>
            </a:r>
            <a:r>
              <a:rPr lang="en-US" sz="2400" b="0" noProof="0" dirty="0"/>
              <a:t>.</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1911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9" name="Secondary Motion Band"/>
          <p:cNvGrpSpPr/>
          <p:nvPr userDrawn="1"/>
        </p:nvGrpSpPr>
        <p:grpSpPr>
          <a:xfrm>
            <a:off x="10682127" y="0"/>
            <a:ext cx="1513048" cy="251942"/>
            <a:chOff x="10682127" y="0"/>
            <a:chExt cx="1513048" cy="252000"/>
          </a:xfrm>
        </p:grpSpPr>
        <p:sp>
          <p:nvSpPr>
            <p:cNvPr id="16" name="Rectangle 1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Rectangle 1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hyperlink" Target="https://app.ingress.com/"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hyperlink" Target="https://kubernetes.io/docs/concepts/services-networking/ingress/"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hyperlink" Target="https://github.com/kubernetes/ingress-nginx"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koopa.ondemand.com/" TargetMode="External"/><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hyperlink" Target="https://myapp.com/" TargetMode="External"/><Relationship Id="rId5" Type="http://schemas.openxmlformats.org/officeDocument/2006/relationships/image" Target="../media/image5.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hyperlink" Target="https://koopa.ondemand.com/green" TargetMode="External"/><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hyperlink" Target="https://koopa.ondemand.com/red"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green.koopa/" TargetMode="External"/><Relationship Id="rId7" Type="http://schemas.openxmlformats.org/officeDocument/2006/relationships/hyperlink" Target="https://your-app.ingress.com/" TargetMode="External"/><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hyperlink" Target="https://red.koopa/" TargetMode="External"/><Relationship Id="rId11" Type="http://schemas.openxmlformats.org/officeDocument/2006/relationships/image" Target="../media/image14.png"/><Relationship Id="rId5" Type="http://schemas.openxmlformats.org/officeDocument/2006/relationships/hyperlink" Target="https://my-app.ingress.com/" TargetMode="External"/><Relationship Id="rId10" Type="http://schemas.openxmlformats.org/officeDocument/2006/relationships/image" Target="../media/image10.png"/><Relationship Id="rId4" Type="http://schemas.openxmlformats.org/officeDocument/2006/relationships/hyperlink" Target="https://koopa.ondemand.com/green" TargetMode="External"/><Relationship Id="rId9" Type="http://schemas.openxmlformats.org/officeDocument/2006/relationships/image" Target="../media/image5.sv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4"/>
          </p:nvPr>
        </p:nvSpPr>
        <p:spPr/>
        <p:txBody>
          <a:bodyPr/>
          <a:lstStyle/>
          <a:p>
            <a:r>
              <a:rPr lang="en-US" dirty="0"/>
              <a:t>Kubernetes</a:t>
            </a:r>
            <a:br>
              <a:rPr lang="en-US" dirty="0"/>
            </a:br>
            <a:r>
              <a:rPr lang="en-US" dirty="0">
                <a:solidFill>
                  <a:schemeClr val="accent1"/>
                </a:solidFill>
              </a:rPr>
              <a:t>Ingress</a:t>
            </a:r>
          </a:p>
        </p:txBody>
      </p:sp>
      <p:pic>
        <p:nvPicPr>
          <p:cNvPr id="4" name="Picture 3" descr="cid:image003.png@01D31CC6.A08B1C50">
            <a:extLst>
              <a:ext uri="{FF2B5EF4-FFF2-40B4-BE49-F238E27FC236}">
                <a16:creationId xmlns:a16="http://schemas.microsoft.com/office/drawing/2014/main" id="{CE860390-F50F-48A8-AA1A-AE0217946F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713" y="5721975"/>
            <a:ext cx="1414463" cy="113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llustration" descr="Example of an illustration" title="Illustration for title slide">
            <a:extLst>
              <a:ext uri="{FF2B5EF4-FFF2-40B4-BE49-F238E27FC236}">
                <a16:creationId xmlns:a16="http://schemas.microsoft.com/office/drawing/2014/main" id="{B8785616-86FC-433F-9007-5FF7AE199DDA}"/>
              </a:ext>
            </a:extLst>
          </p:cNvPr>
          <p:cNvPicPr>
            <a:picLocks noGrp="1" noChangeAspect="1"/>
          </p:cNvPicPr>
          <p:nvPr>
            <p:ph type="pic" sz="quarter" idx="12"/>
          </p:nvPr>
        </p:nvPicPr>
        <p:blipFill>
          <a:blip r:embed="rId4"/>
          <a:srcRect t="3112" b="3112"/>
          <a:stretch>
            <a:fillRect/>
          </a:stretch>
        </p:blipFill>
        <p:spPr bwMode="gray">
          <a:xfrm>
            <a:off x="0" y="0"/>
            <a:ext cx="12195174" cy="3430006"/>
          </a:xfrm>
        </p:spPr>
      </p:pic>
    </p:spTree>
    <p:extLst>
      <p:ext uri="{BB962C8B-B14F-4D97-AF65-F5344CB8AC3E}">
        <p14:creationId xmlns:p14="http://schemas.microsoft.com/office/powerpoint/2010/main" val="1819205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Rounded Corners 43">
            <a:extLst>
              <a:ext uri="{FF2B5EF4-FFF2-40B4-BE49-F238E27FC236}">
                <a16:creationId xmlns:a16="http://schemas.microsoft.com/office/drawing/2014/main" id="{D6DA6055-EC38-448D-B478-8D739D039765}"/>
              </a:ext>
            </a:extLst>
          </p:cNvPr>
          <p:cNvSpPr/>
          <p:nvPr/>
        </p:nvSpPr>
        <p:spPr bwMode="gray">
          <a:xfrm>
            <a:off x="6505954" y="1116734"/>
            <a:ext cx="4750309" cy="5312663"/>
          </a:xfrm>
          <a:prstGeom prst="round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Inside K8s</a:t>
            </a:r>
          </a:p>
        </p:txBody>
      </p:sp>
      <p:grpSp>
        <p:nvGrpSpPr>
          <p:cNvPr id="80" name="Group 79">
            <a:extLst>
              <a:ext uri="{FF2B5EF4-FFF2-40B4-BE49-F238E27FC236}">
                <a16:creationId xmlns:a16="http://schemas.microsoft.com/office/drawing/2014/main" id="{CCB7FACF-55FF-4899-AB3A-6E7E405D2D74}"/>
              </a:ext>
            </a:extLst>
          </p:cNvPr>
          <p:cNvGrpSpPr/>
          <p:nvPr/>
        </p:nvGrpSpPr>
        <p:grpSpPr>
          <a:xfrm>
            <a:off x="2626790" y="1581407"/>
            <a:ext cx="8138821" cy="1330022"/>
            <a:chOff x="2472688" y="1810847"/>
            <a:chExt cx="8138821" cy="1330022"/>
          </a:xfrm>
        </p:grpSpPr>
        <p:sp>
          <p:nvSpPr>
            <p:cNvPr id="81" name="Rectangle 80">
              <a:extLst>
                <a:ext uri="{FF2B5EF4-FFF2-40B4-BE49-F238E27FC236}">
                  <a16:creationId xmlns:a16="http://schemas.microsoft.com/office/drawing/2014/main" id="{B872A7B9-6472-47E8-A845-08A06456627D}"/>
                </a:ext>
              </a:extLst>
            </p:cNvPr>
            <p:cNvSpPr/>
            <p:nvPr/>
          </p:nvSpPr>
          <p:spPr bwMode="gray">
            <a:xfrm>
              <a:off x="7345171" y="2035174"/>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Service</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82" name="Rectangle 81">
              <a:extLst>
                <a:ext uri="{FF2B5EF4-FFF2-40B4-BE49-F238E27FC236}">
                  <a16:creationId xmlns:a16="http://schemas.microsoft.com/office/drawing/2014/main" id="{E9E4DEC3-439D-4F8F-82AE-A7AA66A36CC0}"/>
                </a:ext>
              </a:extLst>
            </p:cNvPr>
            <p:cNvSpPr/>
            <p:nvPr/>
          </p:nvSpPr>
          <p:spPr bwMode="gray">
            <a:xfrm>
              <a:off x="9494011" y="2035174"/>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kern="0" dirty="0" err="1">
                  <a:ea typeface="Arial Unicode MS" pitchFamily="34" charset="-128"/>
                  <a:cs typeface="Arial Unicode MS" pitchFamily="34" charset="-128"/>
                </a:rPr>
                <a:t>Pod</a:t>
              </a:r>
              <a:endParaRPr lang="de-DE" sz="1800" kern="0" dirty="0">
                <a:ea typeface="Arial Unicode MS" pitchFamily="34" charset="-128"/>
                <a:cs typeface="Arial Unicode MS" pitchFamily="34" charset="-128"/>
              </a:endParaRPr>
            </a:p>
          </p:txBody>
        </p:sp>
        <p:sp>
          <p:nvSpPr>
            <p:cNvPr id="83" name="Rectangle 82">
              <a:extLst>
                <a:ext uri="{FF2B5EF4-FFF2-40B4-BE49-F238E27FC236}">
                  <a16:creationId xmlns:a16="http://schemas.microsoft.com/office/drawing/2014/main" id="{F4CCB5AB-FA05-4E97-B0E4-E23A65211FB3}"/>
                </a:ext>
              </a:extLst>
            </p:cNvPr>
            <p:cNvSpPr/>
            <p:nvPr/>
          </p:nvSpPr>
          <p:spPr bwMode="gray">
            <a:xfrm>
              <a:off x="4507218" y="1810847"/>
              <a:ext cx="1383518" cy="124461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Load Balancer</a:t>
              </a:r>
            </a:p>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External IP</a:t>
              </a:r>
            </a:p>
          </p:txBody>
        </p:sp>
        <p:cxnSp>
          <p:nvCxnSpPr>
            <p:cNvPr id="84" name="Straight Connector 83">
              <a:extLst>
                <a:ext uri="{FF2B5EF4-FFF2-40B4-BE49-F238E27FC236}">
                  <a16:creationId xmlns:a16="http://schemas.microsoft.com/office/drawing/2014/main" id="{435B7A9A-0EA0-4C3D-AB8B-3478331F9CD4}"/>
                </a:ext>
              </a:extLst>
            </p:cNvPr>
            <p:cNvCxnSpPr>
              <a:stCxn id="83" idx="3"/>
              <a:endCxn id="81" idx="1"/>
            </p:cNvCxnSpPr>
            <p:nvPr/>
          </p:nvCxnSpPr>
          <p:spPr>
            <a:xfrm>
              <a:off x="5890736" y="2433152"/>
              <a:ext cx="1454435" cy="0"/>
            </a:xfrm>
            <a:prstGeom prst="line">
              <a:avLst/>
            </a:prstGeom>
            <a:ln w="57150">
              <a:solidFill>
                <a:schemeClr val="accent1">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ABF1036-7D68-4265-8FC3-823B2BEBE3C9}"/>
                </a:ext>
              </a:extLst>
            </p:cNvPr>
            <p:cNvCxnSpPr>
              <a:stCxn id="81" idx="3"/>
              <a:endCxn id="82" idx="1"/>
            </p:cNvCxnSpPr>
            <p:nvPr/>
          </p:nvCxnSpPr>
          <p:spPr>
            <a:xfrm>
              <a:off x="8462669" y="2433152"/>
              <a:ext cx="1031342" cy="0"/>
            </a:xfrm>
            <a:prstGeom prst="line">
              <a:avLst/>
            </a:prstGeom>
            <a:ln w="57150">
              <a:solidFill>
                <a:schemeClr val="accent1">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AF23E36E-80AF-46A7-9A88-2E989072B000}"/>
                </a:ext>
              </a:extLst>
            </p:cNvPr>
            <p:cNvCxnSpPr>
              <a:endCxn id="83" idx="1"/>
            </p:cNvCxnSpPr>
            <p:nvPr/>
          </p:nvCxnSpPr>
          <p:spPr>
            <a:xfrm rot="5400000" flipH="1" flipV="1">
              <a:off x="3136095" y="1769746"/>
              <a:ext cx="707716" cy="2034529"/>
            </a:xfrm>
            <a:prstGeom prst="bentConnector2">
              <a:avLst/>
            </a:prstGeom>
            <a:ln w="57150">
              <a:solidFill>
                <a:schemeClr val="accent1">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9" name="Group 78">
            <a:extLst>
              <a:ext uri="{FF2B5EF4-FFF2-40B4-BE49-F238E27FC236}">
                <a16:creationId xmlns:a16="http://schemas.microsoft.com/office/drawing/2014/main" id="{D05B8BDC-8BA6-4C5A-939B-0837BD145FC9}"/>
              </a:ext>
            </a:extLst>
          </p:cNvPr>
          <p:cNvGrpSpPr/>
          <p:nvPr/>
        </p:nvGrpSpPr>
        <p:grpSpPr>
          <a:xfrm>
            <a:off x="2472688" y="1810847"/>
            <a:ext cx="8138821" cy="1330022"/>
            <a:chOff x="2472688" y="1810847"/>
            <a:chExt cx="8138821" cy="1330022"/>
          </a:xfrm>
        </p:grpSpPr>
        <p:sp>
          <p:nvSpPr>
            <p:cNvPr id="72" name="Rectangle 71">
              <a:extLst>
                <a:ext uri="{FF2B5EF4-FFF2-40B4-BE49-F238E27FC236}">
                  <a16:creationId xmlns:a16="http://schemas.microsoft.com/office/drawing/2014/main" id="{D04B0081-C890-4962-A789-9D3F79C5528A}"/>
                </a:ext>
              </a:extLst>
            </p:cNvPr>
            <p:cNvSpPr/>
            <p:nvPr/>
          </p:nvSpPr>
          <p:spPr bwMode="gray">
            <a:xfrm>
              <a:off x="7345171" y="2035174"/>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Service</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3" name="Rectangle 72">
              <a:extLst>
                <a:ext uri="{FF2B5EF4-FFF2-40B4-BE49-F238E27FC236}">
                  <a16:creationId xmlns:a16="http://schemas.microsoft.com/office/drawing/2014/main" id="{ECC8076E-81CB-4232-A483-E155493C2483}"/>
                </a:ext>
              </a:extLst>
            </p:cNvPr>
            <p:cNvSpPr/>
            <p:nvPr/>
          </p:nvSpPr>
          <p:spPr bwMode="gray">
            <a:xfrm>
              <a:off x="9494011" y="2035174"/>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kern="0" dirty="0" err="1">
                  <a:ea typeface="Arial Unicode MS" pitchFamily="34" charset="-128"/>
                  <a:cs typeface="Arial Unicode MS" pitchFamily="34" charset="-128"/>
                </a:rPr>
                <a:t>Pod</a:t>
              </a:r>
              <a:endParaRPr lang="de-DE" sz="1800" kern="0" dirty="0">
                <a:ea typeface="Arial Unicode MS" pitchFamily="34" charset="-128"/>
                <a:cs typeface="Arial Unicode MS" pitchFamily="34" charset="-128"/>
              </a:endParaRPr>
            </a:p>
          </p:txBody>
        </p:sp>
        <p:sp>
          <p:nvSpPr>
            <p:cNvPr id="74" name="Rectangle 73">
              <a:extLst>
                <a:ext uri="{FF2B5EF4-FFF2-40B4-BE49-F238E27FC236}">
                  <a16:creationId xmlns:a16="http://schemas.microsoft.com/office/drawing/2014/main" id="{D9BD380E-BF9F-41BA-B209-2020C9602261}"/>
                </a:ext>
              </a:extLst>
            </p:cNvPr>
            <p:cNvSpPr/>
            <p:nvPr/>
          </p:nvSpPr>
          <p:spPr bwMode="gray">
            <a:xfrm>
              <a:off x="4507218" y="1810847"/>
              <a:ext cx="1383518" cy="124461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Load Balancer</a:t>
              </a:r>
            </a:p>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External IP</a:t>
              </a:r>
            </a:p>
          </p:txBody>
        </p:sp>
        <p:cxnSp>
          <p:nvCxnSpPr>
            <p:cNvPr id="75" name="Straight Connector 74">
              <a:extLst>
                <a:ext uri="{FF2B5EF4-FFF2-40B4-BE49-F238E27FC236}">
                  <a16:creationId xmlns:a16="http://schemas.microsoft.com/office/drawing/2014/main" id="{DD488E71-428A-4E3B-8A76-13E00902E957}"/>
                </a:ext>
              </a:extLst>
            </p:cNvPr>
            <p:cNvCxnSpPr>
              <a:stCxn id="74" idx="3"/>
              <a:endCxn id="72" idx="1"/>
            </p:cNvCxnSpPr>
            <p:nvPr/>
          </p:nvCxnSpPr>
          <p:spPr>
            <a:xfrm>
              <a:off x="5890736" y="2433152"/>
              <a:ext cx="1454435" cy="0"/>
            </a:xfrm>
            <a:prstGeom prst="line">
              <a:avLst/>
            </a:prstGeom>
            <a:ln w="57150">
              <a:solidFill>
                <a:schemeClr val="accent1">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1BD941D8-F366-4ABD-A059-E10C063F7401}"/>
                </a:ext>
              </a:extLst>
            </p:cNvPr>
            <p:cNvCxnSpPr>
              <a:stCxn id="72" idx="3"/>
              <a:endCxn id="73" idx="1"/>
            </p:cNvCxnSpPr>
            <p:nvPr/>
          </p:nvCxnSpPr>
          <p:spPr>
            <a:xfrm>
              <a:off x="8462669" y="2433152"/>
              <a:ext cx="1031342" cy="0"/>
            </a:xfrm>
            <a:prstGeom prst="line">
              <a:avLst/>
            </a:prstGeom>
            <a:ln w="57150">
              <a:solidFill>
                <a:schemeClr val="accent1">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Connector: Elbow 76">
              <a:extLst>
                <a:ext uri="{FF2B5EF4-FFF2-40B4-BE49-F238E27FC236}">
                  <a16:creationId xmlns:a16="http://schemas.microsoft.com/office/drawing/2014/main" id="{8A20B284-EA41-4D29-A0CE-AFFDD7A802F3}"/>
                </a:ext>
              </a:extLst>
            </p:cNvPr>
            <p:cNvCxnSpPr>
              <a:endCxn id="74" idx="1"/>
            </p:cNvCxnSpPr>
            <p:nvPr/>
          </p:nvCxnSpPr>
          <p:spPr>
            <a:xfrm rot="5400000" flipH="1" flipV="1">
              <a:off x="3136095" y="1769746"/>
              <a:ext cx="707716" cy="2034529"/>
            </a:xfrm>
            <a:prstGeom prst="bentConnector2">
              <a:avLst/>
            </a:prstGeom>
            <a:ln w="57150">
              <a:solidFill>
                <a:schemeClr val="accent1">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504001" y="504000"/>
            <a:ext cx="11186476" cy="369332"/>
          </a:xfrm>
        </p:spPr>
        <p:txBody>
          <a:bodyPr/>
          <a:lstStyle/>
          <a:p>
            <a:r>
              <a:rPr lang="en-US" dirty="0"/>
              <a:t>External availability of services – how did it work, so far?</a:t>
            </a:r>
          </a:p>
        </p:txBody>
      </p:sp>
      <p:grpSp>
        <p:nvGrpSpPr>
          <p:cNvPr id="36" name="Group 35">
            <a:extLst>
              <a:ext uri="{FF2B5EF4-FFF2-40B4-BE49-F238E27FC236}">
                <a16:creationId xmlns:a16="http://schemas.microsoft.com/office/drawing/2014/main" id="{26737AF4-8E80-488C-ADBE-61B888C87DA6}"/>
              </a:ext>
            </a:extLst>
          </p:cNvPr>
          <p:cNvGrpSpPr/>
          <p:nvPr/>
        </p:nvGrpSpPr>
        <p:grpSpPr>
          <a:xfrm>
            <a:off x="1122252" y="3219863"/>
            <a:ext cx="2249770" cy="1106406"/>
            <a:chOff x="1122252" y="3219863"/>
            <a:chExt cx="2249770" cy="1106406"/>
          </a:xfrm>
        </p:grpSpPr>
        <p:sp>
          <p:nvSpPr>
            <p:cNvPr id="5" name="Cloud 4">
              <a:extLst>
                <a:ext uri="{FF2B5EF4-FFF2-40B4-BE49-F238E27FC236}">
                  <a16:creationId xmlns:a16="http://schemas.microsoft.com/office/drawing/2014/main" id="{86C18CD3-FEC3-4AB2-A3D0-B15AF3E5D53C}"/>
                </a:ext>
              </a:extLst>
            </p:cNvPr>
            <p:cNvSpPr/>
            <p:nvPr/>
          </p:nvSpPr>
          <p:spPr bwMode="gray">
            <a:xfrm>
              <a:off x="1122252" y="3219863"/>
              <a:ext cx="2249770" cy="1106406"/>
            </a:xfrm>
            <a:prstGeom prst="cloud">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6" name="Graphic 5" descr="User">
              <a:extLst>
                <a:ext uri="{FF2B5EF4-FFF2-40B4-BE49-F238E27FC236}">
                  <a16:creationId xmlns:a16="http://schemas.microsoft.com/office/drawing/2014/main" id="{DA6C5DDC-F885-4EFC-B0D7-3E2FD8AB45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89937" y="3335277"/>
              <a:ext cx="914400" cy="914400"/>
            </a:xfrm>
            <a:prstGeom prst="rect">
              <a:avLst/>
            </a:prstGeom>
          </p:spPr>
        </p:pic>
      </p:grpSp>
      <p:sp>
        <p:nvSpPr>
          <p:cNvPr id="9" name="Rectangle 8">
            <a:extLst>
              <a:ext uri="{FF2B5EF4-FFF2-40B4-BE49-F238E27FC236}">
                <a16:creationId xmlns:a16="http://schemas.microsoft.com/office/drawing/2014/main" id="{83520B93-D941-4FBA-9B69-226561E4D3F7}"/>
              </a:ext>
            </a:extLst>
          </p:cNvPr>
          <p:cNvSpPr/>
          <p:nvPr/>
        </p:nvSpPr>
        <p:spPr bwMode="gray">
          <a:xfrm>
            <a:off x="7119619" y="4652809"/>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Service </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2" name="Rectangle 11">
            <a:extLst>
              <a:ext uri="{FF2B5EF4-FFF2-40B4-BE49-F238E27FC236}">
                <a16:creationId xmlns:a16="http://schemas.microsoft.com/office/drawing/2014/main" id="{321F9AF8-EB5C-4541-AF5D-BD60755C3623}"/>
              </a:ext>
            </a:extLst>
          </p:cNvPr>
          <p:cNvSpPr/>
          <p:nvPr/>
        </p:nvSpPr>
        <p:spPr bwMode="gray">
          <a:xfrm>
            <a:off x="9268459" y="4160115"/>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kern="0" dirty="0" err="1">
                <a:ea typeface="Arial Unicode MS" pitchFamily="34" charset="-128"/>
                <a:cs typeface="Arial Unicode MS" pitchFamily="34" charset="-128"/>
              </a:rPr>
              <a:t>Pod</a:t>
            </a:r>
            <a:endParaRPr lang="de-DE" sz="1800" kern="0" dirty="0">
              <a:ea typeface="Arial Unicode MS" pitchFamily="34" charset="-128"/>
              <a:cs typeface="Arial Unicode MS" pitchFamily="34" charset="-128"/>
            </a:endParaRPr>
          </a:p>
        </p:txBody>
      </p:sp>
      <p:sp>
        <p:nvSpPr>
          <p:cNvPr id="24" name="Rectangle 23">
            <a:extLst>
              <a:ext uri="{FF2B5EF4-FFF2-40B4-BE49-F238E27FC236}">
                <a16:creationId xmlns:a16="http://schemas.microsoft.com/office/drawing/2014/main" id="{108B3D00-9507-46B3-B091-EA21F59BEAC0}"/>
              </a:ext>
            </a:extLst>
          </p:cNvPr>
          <p:cNvSpPr/>
          <p:nvPr/>
        </p:nvSpPr>
        <p:spPr bwMode="gray">
          <a:xfrm>
            <a:off x="9268459" y="5142227"/>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kern="0" dirty="0" err="1">
                <a:ea typeface="Arial Unicode MS" pitchFamily="34" charset="-128"/>
                <a:cs typeface="Arial Unicode MS" pitchFamily="34" charset="-128"/>
              </a:rPr>
              <a:t>Pod</a:t>
            </a:r>
            <a:endParaRPr lang="de-DE" sz="1800" kern="0" dirty="0">
              <a:ea typeface="Arial Unicode MS" pitchFamily="34" charset="-128"/>
              <a:cs typeface="Arial Unicode MS" pitchFamily="34" charset="-128"/>
            </a:endParaRPr>
          </a:p>
        </p:txBody>
      </p:sp>
      <p:sp>
        <p:nvSpPr>
          <p:cNvPr id="26" name="Rectangle 25">
            <a:extLst>
              <a:ext uri="{FF2B5EF4-FFF2-40B4-BE49-F238E27FC236}">
                <a16:creationId xmlns:a16="http://schemas.microsoft.com/office/drawing/2014/main" id="{B297753D-598F-49E9-B587-881970CAA76E}"/>
              </a:ext>
            </a:extLst>
          </p:cNvPr>
          <p:cNvSpPr/>
          <p:nvPr/>
        </p:nvSpPr>
        <p:spPr bwMode="gray">
          <a:xfrm>
            <a:off x="7119619" y="2177429"/>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Service</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7" name="Rectangle 26">
            <a:extLst>
              <a:ext uri="{FF2B5EF4-FFF2-40B4-BE49-F238E27FC236}">
                <a16:creationId xmlns:a16="http://schemas.microsoft.com/office/drawing/2014/main" id="{6A71F545-8377-4698-8C14-02DB765487A2}"/>
              </a:ext>
            </a:extLst>
          </p:cNvPr>
          <p:cNvSpPr/>
          <p:nvPr/>
        </p:nvSpPr>
        <p:spPr bwMode="gray">
          <a:xfrm>
            <a:off x="9268459" y="2177429"/>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kern="0" dirty="0" err="1">
                <a:ea typeface="Arial Unicode MS" pitchFamily="34" charset="-128"/>
                <a:cs typeface="Arial Unicode MS" pitchFamily="34" charset="-128"/>
              </a:rPr>
              <a:t>Pod</a:t>
            </a:r>
            <a:endParaRPr lang="de-DE" sz="1800" kern="0" dirty="0">
              <a:ea typeface="Arial Unicode MS" pitchFamily="34" charset="-128"/>
              <a:cs typeface="Arial Unicode MS" pitchFamily="34" charset="-128"/>
            </a:endParaRPr>
          </a:p>
        </p:txBody>
      </p:sp>
      <p:sp>
        <p:nvSpPr>
          <p:cNvPr id="42" name="Rectangle 41">
            <a:extLst>
              <a:ext uri="{FF2B5EF4-FFF2-40B4-BE49-F238E27FC236}">
                <a16:creationId xmlns:a16="http://schemas.microsoft.com/office/drawing/2014/main" id="{38404984-85BF-4911-BF64-0F515ABA423F}"/>
              </a:ext>
            </a:extLst>
          </p:cNvPr>
          <p:cNvSpPr/>
          <p:nvPr/>
        </p:nvSpPr>
        <p:spPr bwMode="gray">
          <a:xfrm>
            <a:off x="4281666" y="1953102"/>
            <a:ext cx="1383518" cy="124461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Load Balancer</a:t>
            </a:r>
          </a:p>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External IP</a:t>
            </a:r>
          </a:p>
        </p:txBody>
      </p:sp>
      <p:grpSp>
        <p:nvGrpSpPr>
          <p:cNvPr id="69" name="Group 68">
            <a:extLst>
              <a:ext uri="{FF2B5EF4-FFF2-40B4-BE49-F238E27FC236}">
                <a16:creationId xmlns:a16="http://schemas.microsoft.com/office/drawing/2014/main" id="{02C0A454-A0C4-467E-AE06-4E8E4EA3AFCE}"/>
              </a:ext>
            </a:extLst>
          </p:cNvPr>
          <p:cNvGrpSpPr/>
          <p:nvPr/>
        </p:nvGrpSpPr>
        <p:grpSpPr>
          <a:xfrm>
            <a:off x="3685032" y="4160115"/>
            <a:ext cx="2587752" cy="1778068"/>
            <a:chOff x="3685032" y="4160115"/>
            <a:chExt cx="2587752" cy="1778068"/>
          </a:xfrm>
        </p:grpSpPr>
        <p:sp>
          <p:nvSpPr>
            <p:cNvPr id="38" name="Cube 37">
              <a:extLst>
                <a:ext uri="{FF2B5EF4-FFF2-40B4-BE49-F238E27FC236}">
                  <a16:creationId xmlns:a16="http://schemas.microsoft.com/office/drawing/2014/main" id="{FF1E85D4-DDFD-4566-8653-FC55C3FB2591}"/>
                </a:ext>
              </a:extLst>
            </p:cNvPr>
            <p:cNvSpPr/>
            <p:nvPr/>
          </p:nvSpPr>
          <p:spPr bwMode="gray">
            <a:xfrm>
              <a:off x="3881017" y="4616244"/>
              <a:ext cx="706862" cy="1216557"/>
            </a:xfrm>
            <a:prstGeom prst="cube">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No</a:t>
              </a:r>
            </a:p>
          </p:txBody>
        </p:sp>
        <p:sp>
          <p:nvSpPr>
            <p:cNvPr id="47" name="Cube 46">
              <a:extLst>
                <a:ext uri="{FF2B5EF4-FFF2-40B4-BE49-F238E27FC236}">
                  <a16:creationId xmlns:a16="http://schemas.microsoft.com/office/drawing/2014/main" id="{3B9A866B-3DF5-4F2B-8082-5CA826424253}"/>
                </a:ext>
              </a:extLst>
            </p:cNvPr>
            <p:cNvSpPr/>
            <p:nvPr/>
          </p:nvSpPr>
          <p:spPr bwMode="gray">
            <a:xfrm>
              <a:off x="4619994" y="4616243"/>
              <a:ext cx="706862" cy="1216557"/>
            </a:xfrm>
            <a:prstGeom prst="cube">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de</a:t>
              </a:r>
            </a:p>
          </p:txBody>
        </p:sp>
        <p:sp>
          <p:nvSpPr>
            <p:cNvPr id="48" name="Cube 47">
              <a:extLst>
                <a:ext uri="{FF2B5EF4-FFF2-40B4-BE49-F238E27FC236}">
                  <a16:creationId xmlns:a16="http://schemas.microsoft.com/office/drawing/2014/main" id="{7DB848E1-FE89-49B5-83AA-8E69CBE5F9D5}"/>
                </a:ext>
              </a:extLst>
            </p:cNvPr>
            <p:cNvSpPr/>
            <p:nvPr/>
          </p:nvSpPr>
          <p:spPr bwMode="gray">
            <a:xfrm>
              <a:off x="5358971" y="4616242"/>
              <a:ext cx="706862" cy="1216557"/>
            </a:xfrm>
            <a:prstGeom prst="cube">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s</a:t>
              </a:r>
            </a:p>
          </p:txBody>
        </p:sp>
        <p:sp>
          <p:nvSpPr>
            <p:cNvPr id="39" name="Rectangle: Rounded Corners 38">
              <a:extLst>
                <a:ext uri="{FF2B5EF4-FFF2-40B4-BE49-F238E27FC236}">
                  <a16:creationId xmlns:a16="http://schemas.microsoft.com/office/drawing/2014/main" id="{977131CD-E0E0-4962-88C7-E3B4B07A7A05}"/>
                </a:ext>
              </a:extLst>
            </p:cNvPr>
            <p:cNvSpPr/>
            <p:nvPr/>
          </p:nvSpPr>
          <p:spPr bwMode="gray">
            <a:xfrm>
              <a:off x="3685032" y="4160115"/>
              <a:ext cx="2587752" cy="1778068"/>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solidFill>
                    <a:schemeClr val="tx1"/>
                  </a:solidFill>
                  <a:effectLst/>
                  <a:uLnTx/>
                  <a:uFillTx/>
                  <a:ea typeface="Arial Unicode MS" pitchFamily="34" charset="-128"/>
                  <a:cs typeface="Arial Unicode MS" pitchFamily="34" charset="-128"/>
                </a:rPr>
                <a:t>NodePort:30123</a:t>
              </a:r>
            </a:p>
          </p:txBody>
        </p:sp>
      </p:grpSp>
      <p:cxnSp>
        <p:nvCxnSpPr>
          <p:cNvPr id="43" name="Straight Connector 42">
            <a:extLst>
              <a:ext uri="{FF2B5EF4-FFF2-40B4-BE49-F238E27FC236}">
                <a16:creationId xmlns:a16="http://schemas.microsoft.com/office/drawing/2014/main" id="{50D424CF-512A-48EF-BA23-F6E284F9E701}"/>
              </a:ext>
            </a:extLst>
          </p:cNvPr>
          <p:cNvCxnSpPr>
            <a:stCxn id="42" idx="3"/>
            <a:endCxn id="26" idx="1"/>
          </p:cNvCxnSpPr>
          <p:nvPr/>
        </p:nvCxnSpPr>
        <p:spPr>
          <a:xfrm>
            <a:off x="5665184" y="2575407"/>
            <a:ext cx="1454435" cy="0"/>
          </a:xfrm>
          <a:prstGeom prst="line">
            <a:avLst/>
          </a:prstGeom>
          <a:ln w="57150">
            <a:solidFill>
              <a:schemeClr val="accent1">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5574331-91EC-4379-A7A6-B15CAB64753F}"/>
              </a:ext>
            </a:extLst>
          </p:cNvPr>
          <p:cNvCxnSpPr>
            <a:stCxn id="26" idx="3"/>
            <a:endCxn id="27" idx="1"/>
          </p:cNvCxnSpPr>
          <p:nvPr/>
        </p:nvCxnSpPr>
        <p:spPr>
          <a:xfrm>
            <a:off x="8237117" y="2575407"/>
            <a:ext cx="1031342" cy="0"/>
          </a:xfrm>
          <a:prstGeom prst="line">
            <a:avLst/>
          </a:prstGeom>
          <a:ln w="57150">
            <a:solidFill>
              <a:schemeClr val="accent1">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33F85CA-14A2-46B1-9EE4-0B080E2809A2}"/>
              </a:ext>
            </a:extLst>
          </p:cNvPr>
          <p:cNvCxnSpPr>
            <a:stCxn id="39" idx="3"/>
            <a:endCxn id="9" idx="1"/>
          </p:cNvCxnSpPr>
          <p:nvPr/>
        </p:nvCxnSpPr>
        <p:spPr>
          <a:xfrm>
            <a:off x="6272784" y="5049149"/>
            <a:ext cx="846835" cy="1638"/>
          </a:xfrm>
          <a:prstGeom prst="line">
            <a:avLst/>
          </a:prstGeom>
          <a:ln w="57150">
            <a:solidFill>
              <a:schemeClr val="accent1">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162AD229-62A9-4214-8515-9F7C84DD5FBF}"/>
              </a:ext>
            </a:extLst>
          </p:cNvPr>
          <p:cNvCxnSpPr>
            <a:stCxn id="5" idx="3"/>
            <a:endCxn id="42" idx="1"/>
          </p:cNvCxnSpPr>
          <p:nvPr/>
        </p:nvCxnSpPr>
        <p:spPr>
          <a:xfrm rot="5400000" flipH="1" flipV="1">
            <a:off x="2910543" y="1912001"/>
            <a:ext cx="707716" cy="2034529"/>
          </a:xfrm>
          <a:prstGeom prst="bentConnector2">
            <a:avLst/>
          </a:prstGeom>
          <a:ln w="57150">
            <a:solidFill>
              <a:schemeClr val="accent1">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59CC14F1-91E2-43DD-A70F-F2A5FADEBB3F}"/>
              </a:ext>
            </a:extLst>
          </p:cNvPr>
          <p:cNvCxnSpPr>
            <a:cxnSpLocks/>
            <a:stCxn id="5" idx="1"/>
            <a:endCxn id="39" idx="1"/>
          </p:cNvCxnSpPr>
          <p:nvPr/>
        </p:nvCxnSpPr>
        <p:spPr>
          <a:xfrm rot="16200000" flipH="1">
            <a:off x="2604055" y="3968172"/>
            <a:ext cx="724058" cy="1437895"/>
          </a:xfrm>
          <a:prstGeom prst="bentConnector2">
            <a:avLst/>
          </a:prstGeom>
          <a:ln w="57150">
            <a:solidFill>
              <a:schemeClr val="accent1">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FC48856D-5E59-433A-A68A-C3D1DCD61312}"/>
              </a:ext>
            </a:extLst>
          </p:cNvPr>
          <p:cNvCxnSpPr>
            <a:cxnSpLocks/>
            <a:stCxn id="9" idx="3"/>
            <a:endCxn id="12" idx="1"/>
          </p:cNvCxnSpPr>
          <p:nvPr/>
        </p:nvCxnSpPr>
        <p:spPr>
          <a:xfrm flipV="1">
            <a:off x="8237117" y="4558093"/>
            <a:ext cx="1031342" cy="492694"/>
          </a:xfrm>
          <a:prstGeom prst="bentConnector3">
            <a:avLst/>
          </a:prstGeom>
          <a:ln w="57150">
            <a:solidFill>
              <a:schemeClr val="accent1">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661177A2-67E9-4F27-954D-DAA5B3F0D1ED}"/>
              </a:ext>
            </a:extLst>
          </p:cNvPr>
          <p:cNvCxnSpPr>
            <a:cxnSpLocks/>
            <a:stCxn id="9" idx="3"/>
            <a:endCxn id="24" idx="1"/>
          </p:cNvCxnSpPr>
          <p:nvPr/>
        </p:nvCxnSpPr>
        <p:spPr>
          <a:xfrm>
            <a:off x="8237117" y="5050787"/>
            <a:ext cx="1031342" cy="489418"/>
          </a:xfrm>
          <a:prstGeom prst="bentConnector3">
            <a:avLst/>
          </a:prstGeom>
          <a:ln w="57150">
            <a:solidFill>
              <a:schemeClr val="accent1">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71" name="Graphic 70" descr="Help">
            <a:extLst>
              <a:ext uri="{FF2B5EF4-FFF2-40B4-BE49-F238E27FC236}">
                <a16:creationId xmlns:a16="http://schemas.microsoft.com/office/drawing/2014/main" id="{43EA6F34-93AB-46D6-9EEC-6AA8C8E5E7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12456" y="3219863"/>
            <a:ext cx="914400" cy="914400"/>
          </a:xfrm>
          <a:prstGeom prst="rect">
            <a:avLst/>
          </a:prstGeom>
        </p:spPr>
      </p:pic>
    </p:spTree>
    <p:extLst>
      <p:ext uri="{BB962C8B-B14F-4D97-AF65-F5344CB8AC3E}">
        <p14:creationId xmlns:p14="http://schemas.microsoft.com/office/powerpoint/2010/main" val="2487390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1"/>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69"/>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61"/>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42"/>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43"/>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5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9"/>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Ingress</a:t>
            </a:r>
          </a:p>
        </p:txBody>
      </p:sp>
      <p:sp>
        <p:nvSpPr>
          <p:cNvPr id="5" name="Cloud 4">
            <a:extLst>
              <a:ext uri="{FF2B5EF4-FFF2-40B4-BE49-F238E27FC236}">
                <a16:creationId xmlns:a16="http://schemas.microsoft.com/office/drawing/2014/main" id="{86C18CD3-FEC3-4AB2-A3D0-B15AF3E5D53C}"/>
              </a:ext>
            </a:extLst>
          </p:cNvPr>
          <p:cNvSpPr/>
          <p:nvPr/>
        </p:nvSpPr>
        <p:spPr bwMode="gray">
          <a:xfrm>
            <a:off x="1670892" y="1071023"/>
            <a:ext cx="2249770" cy="1106406"/>
          </a:xfrm>
          <a:prstGeom prst="cloud">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6" name="Graphic 5" descr="User">
            <a:extLst>
              <a:ext uri="{FF2B5EF4-FFF2-40B4-BE49-F238E27FC236}">
                <a16:creationId xmlns:a16="http://schemas.microsoft.com/office/drawing/2014/main" id="{DA6C5DDC-F885-4EFC-B0D7-3E2FD8AB45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38577" y="1186437"/>
            <a:ext cx="914400" cy="914400"/>
          </a:xfrm>
          <a:prstGeom prst="rect">
            <a:avLst/>
          </a:prstGeom>
        </p:spPr>
      </p:pic>
      <p:sp>
        <p:nvSpPr>
          <p:cNvPr id="8" name="Rectangle: Rounded Corners 7">
            <a:extLst>
              <a:ext uri="{FF2B5EF4-FFF2-40B4-BE49-F238E27FC236}">
                <a16:creationId xmlns:a16="http://schemas.microsoft.com/office/drawing/2014/main" id="{55CAF12A-8E4C-4904-8AB7-2519FD0C8DA2}"/>
              </a:ext>
            </a:extLst>
          </p:cNvPr>
          <p:cNvSpPr/>
          <p:nvPr/>
        </p:nvSpPr>
        <p:spPr bwMode="gray">
          <a:xfrm>
            <a:off x="672083" y="4087368"/>
            <a:ext cx="4247388" cy="2313432"/>
          </a:xfrm>
          <a:prstGeom prst="round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a:extLst>
              <a:ext uri="{FF2B5EF4-FFF2-40B4-BE49-F238E27FC236}">
                <a16:creationId xmlns:a16="http://schemas.microsoft.com/office/drawing/2014/main" id="{83520B93-D941-4FBA-9B69-226561E4D3F7}"/>
              </a:ext>
            </a:extLst>
          </p:cNvPr>
          <p:cNvSpPr/>
          <p:nvPr/>
        </p:nvSpPr>
        <p:spPr bwMode="gray">
          <a:xfrm>
            <a:off x="2235951" y="3983009"/>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Service B</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2" name="Rectangle 11">
            <a:extLst>
              <a:ext uri="{FF2B5EF4-FFF2-40B4-BE49-F238E27FC236}">
                <a16:creationId xmlns:a16="http://schemas.microsoft.com/office/drawing/2014/main" id="{321F9AF8-EB5C-4541-AF5D-BD60755C3623}"/>
              </a:ext>
            </a:extLst>
          </p:cNvPr>
          <p:cNvSpPr/>
          <p:nvPr/>
        </p:nvSpPr>
        <p:spPr bwMode="gray">
          <a:xfrm>
            <a:off x="2235951" y="5485567"/>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kern="0" dirty="0" err="1">
                <a:ea typeface="Arial Unicode MS" pitchFamily="34" charset="-128"/>
                <a:cs typeface="Arial Unicode MS" pitchFamily="34" charset="-128"/>
              </a:rPr>
              <a:t>Pod</a:t>
            </a:r>
            <a:r>
              <a:rPr lang="de-DE" sz="1800" kern="0" dirty="0">
                <a:ea typeface="Arial Unicode MS" pitchFamily="34" charset="-128"/>
                <a:cs typeface="Arial Unicode MS" pitchFamily="34" charset="-128"/>
              </a:rPr>
              <a:t> B</a:t>
            </a:r>
          </a:p>
        </p:txBody>
      </p:sp>
      <p:sp>
        <p:nvSpPr>
          <p:cNvPr id="13" name="Arrow: Up-Down 12">
            <a:extLst>
              <a:ext uri="{FF2B5EF4-FFF2-40B4-BE49-F238E27FC236}">
                <a16:creationId xmlns:a16="http://schemas.microsoft.com/office/drawing/2014/main" id="{1B4CD31C-3759-4D4A-B600-8532CDEA4EDD}"/>
              </a:ext>
            </a:extLst>
          </p:cNvPr>
          <p:cNvSpPr/>
          <p:nvPr/>
        </p:nvSpPr>
        <p:spPr bwMode="gray">
          <a:xfrm>
            <a:off x="2683590" y="4883324"/>
            <a:ext cx="222219" cy="499798"/>
          </a:xfrm>
          <a:prstGeom prst="upDownArrow">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endParaRPr lang="en-US" sz="1800" kern="0" dirty="0" err="1">
              <a:solidFill>
                <a:schemeClr val="dk1"/>
              </a:solidFill>
              <a:latin typeface="+mn-lt"/>
              <a:ea typeface="Arial Unicode MS" pitchFamily="34" charset="-128"/>
            </a:endParaRPr>
          </a:p>
        </p:txBody>
      </p:sp>
      <p:sp>
        <p:nvSpPr>
          <p:cNvPr id="3" name="TextBox 2">
            <a:extLst>
              <a:ext uri="{FF2B5EF4-FFF2-40B4-BE49-F238E27FC236}">
                <a16:creationId xmlns:a16="http://schemas.microsoft.com/office/drawing/2014/main" id="{058C2B25-5148-4097-B08F-BC319F42DBA9}"/>
              </a:ext>
            </a:extLst>
          </p:cNvPr>
          <p:cNvSpPr txBox="1"/>
          <p:nvPr/>
        </p:nvSpPr>
        <p:spPr>
          <a:xfrm>
            <a:off x="5440680" y="1505137"/>
            <a:ext cx="6089904" cy="4708981"/>
          </a:xfrm>
          <a:prstGeom prst="rect">
            <a:avLst/>
          </a:prstGeom>
          <a:noFill/>
        </p:spPr>
        <p:txBody>
          <a:bodyPr wrap="square" lIns="0" tIns="0" rIns="0" bIns="0" rtlCol="0">
            <a:spAutoFit/>
          </a:bodyPr>
          <a:lstStyle/>
          <a:p>
            <a:pPr marL="285750"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Services target networking on L4</a:t>
            </a:r>
          </a:p>
          <a:p>
            <a:pPr marL="285750"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Ingress are a L7 construct</a:t>
            </a:r>
          </a:p>
          <a:p>
            <a:pPr marL="285750"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Services can only expose one backend</a:t>
            </a:r>
          </a:p>
          <a:p>
            <a:pPr marL="285750"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More backends involved, imply more services needed</a:t>
            </a:r>
          </a:p>
          <a:p>
            <a:pPr marL="285750"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Exposing several applications to the internet, requires multiple services </a:t>
            </a:r>
            <a:r>
              <a:rPr lang="en-US" sz="1800" kern="0" dirty="0">
                <a:ea typeface="Arial Unicode MS" pitchFamily="34" charset="-128"/>
                <a:cs typeface="Arial Unicode MS" pitchFamily="34" charset="-128"/>
                <a:sym typeface="Wingdings" panose="05000000000000000000" pitchFamily="2" charset="2"/>
              </a:rPr>
              <a:t> multiple IP endpoints</a:t>
            </a:r>
          </a:p>
          <a:p>
            <a:pPr marL="285750"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sym typeface="Wingdings" panose="05000000000000000000" pitchFamily="2" charset="2"/>
              </a:rPr>
              <a:t>Ingress resources can help:</a:t>
            </a:r>
          </a:p>
          <a:p>
            <a:pPr marL="830138" lvl="1"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Bundle services into one endpoint</a:t>
            </a:r>
          </a:p>
          <a:p>
            <a:pPr marL="830138" lvl="1"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Make application available via a URL</a:t>
            </a:r>
          </a:p>
          <a:p>
            <a:pPr marL="830138" lvl="1"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TLS support</a:t>
            </a:r>
          </a:p>
          <a:p>
            <a:pPr marL="830138" lvl="1"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a:t>
            </a:r>
          </a:p>
          <a:p>
            <a:pPr fontAlgn="base">
              <a:spcBef>
                <a:spcPct val="50000"/>
              </a:spcBef>
              <a:spcAft>
                <a:spcPct val="0"/>
              </a:spcAft>
              <a:buClr>
                <a:srgbClr val="F0AB00"/>
              </a:buClr>
              <a:buSzPct val="80000"/>
            </a:pPr>
            <a:endParaRPr lang="en-US" sz="1800" kern="0" dirty="0">
              <a:ea typeface="Arial Unicode MS" pitchFamily="34" charset="-128"/>
              <a:cs typeface="Arial Unicode MS" pitchFamily="34" charset="-128"/>
            </a:endParaRPr>
          </a:p>
        </p:txBody>
      </p:sp>
      <p:sp>
        <p:nvSpPr>
          <p:cNvPr id="23" name="Rectangle 22">
            <a:extLst>
              <a:ext uri="{FF2B5EF4-FFF2-40B4-BE49-F238E27FC236}">
                <a16:creationId xmlns:a16="http://schemas.microsoft.com/office/drawing/2014/main" id="{26B650A8-747C-4231-8E56-A7A8429D5D46}"/>
              </a:ext>
            </a:extLst>
          </p:cNvPr>
          <p:cNvSpPr/>
          <p:nvPr/>
        </p:nvSpPr>
        <p:spPr bwMode="gray">
          <a:xfrm>
            <a:off x="3519830" y="3983009"/>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Service C</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4" name="Rectangle 23">
            <a:extLst>
              <a:ext uri="{FF2B5EF4-FFF2-40B4-BE49-F238E27FC236}">
                <a16:creationId xmlns:a16="http://schemas.microsoft.com/office/drawing/2014/main" id="{108B3D00-9507-46B3-B091-EA21F59BEAC0}"/>
              </a:ext>
            </a:extLst>
          </p:cNvPr>
          <p:cNvSpPr/>
          <p:nvPr/>
        </p:nvSpPr>
        <p:spPr bwMode="gray">
          <a:xfrm>
            <a:off x="3519830" y="5485567"/>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kern="0" dirty="0" err="1">
                <a:ea typeface="Arial Unicode MS" pitchFamily="34" charset="-128"/>
                <a:cs typeface="Arial Unicode MS" pitchFamily="34" charset="-128"/>
              </a:rPr>
              <a:t>Pod</a:t>
            </a:r>
            <a:r>
              <a:rPr lang="de-DE" sz="1800" kern="0" dirty="0">
                <a:ea typeface="Arial Unicode MS" pitchFamily="34" charset="-128"/>
                <a:cs typeface="Arial Unicode MS" pitchFamily="34" charset="-128"/>
              </a:rPr>
              <a:t> C</a:t>
            </a:r>
          </a:p>
        </p:txBody>
      </p:sp>
      <p:sp>
        <p:nvSpPr>
          <p:cNvPr id="25" name="Arrow: Up-Down 24">
            <a:extLst>
              <a:ext uri="{FF2B5EF4-FFF2-40B4-BE49-F238E27FC236}">
                <a16:creationId xmlns:a16="http://schemas.microsoft.com/office/drawing/2014/main" id="{8E606807-0692-40DE-AEC1-77E26B80E55A}"/>
              </a:ext>
            </a:extLst>
          </p:cNvPr>
          <p:cNvSpPr/>
          <p:nvPr/>
        </p:nvSpPr>
        <p:spPr bwMode="gray">
          <a:xfrm>
            <a:off x="3967469" y="4883324"/>
            <a:ext cx="222219" cy="499798"/>
          </a:xfrm>
          <a:prstGeom prst="upDownArrow">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endParaRPr lang="en-US" sz="1800" kern="0" dirty="0" err="1">
              <a:solidFill>
                <a:schemeClr val="dk1"/>
              </a:solidFill>
              <a:latin typeface="+mn-lt"/>
              <a:ea typeface="Arial Unicode MS" pitchFamily="34" charset="-128"/>
            </a:endParaRPr>
          </a:p>
        </p:txBody>
      </p:sp>
      <p:sp>
        <p:nvSpPr>
          <p:cNvPr id="26" name="Rectangle 25">
            <a:extLst>
              <a:ext uri="{FF2B5EF4-FFF2-40B4-BE49-F238E27FC236}">
                <a16:creationId xmlns:a16="http://schemas.microsoft.com/office/drawing/2014/main" id="{B297753D-598F-49E9-B587-881970CAA76E}"/>
              </a:ext>
            </a:extLst>
          </p:cNvPr>
          <p:cNvSpPr/>
          <p:nvPr/>
        </p:nvSpPr>
        <p:spPr bwMode="gray">
          <a:xfrm>
            <a:off x="947419" y="3983009"/>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Service </a:t>
            </a:r>
            <a:r>
              <a:rPr kumimoji="0" lang="de-DE" sz="1800" b="0" i="0" u="none" strike="noStrike" kern="0" cap="none" spc="0" normalizeH="0" baseline="0" noProof="0" dirty="0">
                <a:ln>
                  <a:noFill/>
                </a:ln>
                <a:effectLst/>
                <a:uLnTx/>
                <a:uFillTx/>
                <a:ea typeface="Arial Unicode MS" pitchFamily="34" charset="-128"/>
                <a:cs typeface="Arial Unicode MS" pitchFamily="34" charset="-128"/>
              </a:rPr>
              <a:t>A</a:t>
            </a:r>
          </a:p>
        </p:txBody>
      </p:sp>
      <p:sp>
        <p:nvSpPr>
          <p:cNvPr id="27" name="Rectangle 26">
            <a:extLst>
              <a:ext uri="{FF2B5EF4-FFF2-40B4-BE49-F238E27FC236}">
                <a16:creationId xmlns:a16="http://schemas.microsoft.com/office/drawing/2014/main" id="{6A71F545-8377-4698-8C14-02DB765487A2}"/>
              </a:ext>
            </a:extLst>
          </p:cNvPr>
          <p:cNvSpPr/>
          <p:nvPr/>
        </p:nvSpPr>
        <p:spPr bwMode="gray">
          <a:xfrm>
            <a:off x="947419" y="5485567"/>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kern="0" dirty="0" err="1">
                <a:ea typeface="Arial Unicode MS" pitchFamily="34" charset="-128"/>
                <a:cs typeface="Arial Unicode MS" pitchFamily="34" charset="-128"/>
              </a:rPr>
              <a:t>Pod</a:t>
            </a:r>
            <a:r>
              <a:rPr lang="de-DE" sz="1800" kern="0" dirty="0">
                <a:ea typeface="Arial Unicode MS" pitchFamily="34" charset="-128"/>
                <a:cs typeface="Arial Unicode MS" pitchFamily="34" charset="-128"/>
              </a:rPr>
              <a:t>  A</a:t>
            </a:r>
          </a:p>
        </p:txBody>
      </p:sp>
      <p:sp>
        <p:nvSpPr>
          <p:cNvPr id="28" name="Arrow: Up-Down 27">
            <a:extLst>
              <a:ext uri="{FF2B5EF4-FFF2-40B4-BE49-F238E27FC236}">
                <a16:creationId xmlns:a16="http://schemas.microsoft.com/office/drawing/2014/main" id="{F280E156-F426-4D0F-94AD-73EBDFBAC714}"/>
              </a:ext>
            </a:extLst>
          </p:cNvPr>
          <p:cNvSpPr/>
          <p:nvPr/>
        </p:nvSpPr>
        <p:spPr bwMode="gray">
          <a:xfrm>
            <a:off x="1395058" y="4883324"/>
            <a:ext cx="222219" cy="499798"/>
          </a:xfrm>
          <a:prstGeom prst="upDownArrow">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endParaRPr lang="en-US" sz="1800" kern="0" dirty="0" err="1">
              <a:solidFill>
                <a:schemeClr val="dk1"/>
              </a:solidFill>
              <a:latin typeface="+mn-lt"/>
              <a:ea typeface="Arial Unicode MS" pitchFamily="34" charset="-128"/>
            </a:endParaRPr>
          </a:p>
        </p:txBody>
      </p:sp>
      <p:cxnSp>
        <p:nvCxnSpPr>
          <p:cNvPr id="33" name="Connector: Elbow 32">
            <a:extLst>
              <a:ext uri="{FF2B5EF4-FFF2-40B4-BE49-F238E27FC236}">
                <a16:creationId xmlns:a16="http://schemas.microsoft.com/office/drawing/2014/main" id="{365830F7-498D-484C-B6F1-AFA185FB2B54}"/>
              </a:ext>
            </a:extLst>
          </p:cNvPr>
          <p:cNvCxnSpPr>
            <a:stCxn id="31" idx="3"/>
            <a:endCxn id="23" idx="0"/>
          </p:cNvCxnSpPr>
          <p:nvPr/>
        </p:nvCxnSpPr>
        <p:spPr>
          <a:xfrm>
            <a:off x="3356224" y="3076890"/>
            <a:ext cx="722355" cy="906119"/>
          </a:xfrm>
          <a:prstGeom prst="bentConnector2">
            <a:avLst/>
          </a:prstGeom>
          <a:ln w="7620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C18A7C28-4621-4D14-9F4E-51857BD309B0}"/>
              </a:ext>
            </a:extLst>
          </p:cNvPr>
          <p:cNvCxnSpPr>
            <a:cxnSpLocks/>
            <a:stCxn id="31" idx="1"/>
            <a:endCxn id="26" idx="0"/>
          </p:cNvCxnSpPr>
          <p:nvPr/>
        </p:nvCxnSpPr>
        <p:spPr>
          <a:xfrm rot="10800000" flipV="1">
            <a:off x="1506168" y="3076889"/>
            <a:ext cx="732558" cy="906119"/>
          </a:xfrm>
          <a:prstGeom prst="bentConnector2">
            <a:avLst/>
          </a:prstGeom>
          <a:ln w="7620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26081031-8F05-4C29-AA28-1DAB71720A5D}"/>
              </a:ext>
            </a:extLst>
          </p:cNvPr>
          <p:cNvCxnSpPr>
            <a:cxnSpLocks/>
            <a:stCxn id="31" idx="2"/>
            <a:endCxn id="9" idx="0"/>
          </p:cNvCxnSpPr>
          <p:nvPr/>
        </p:nvCxnSpPr>
        <p:spPr>
          <a:xfrm rot="5400000">
            <a:off x="2542018" y="3727551"/>
            <a:ext cx="508141" cy="2775"/>
          </a:xfrm>
          <a:prstGeom prst="bentConnector3">
            <a:avLst>
              <a:gd name="adj1" fmla="val 50000"/>
            </a:avLst>
          </a:prstGeom>
          <a:ln w="7620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E38BEC87-9BCA-4B7B-A34F-2151B0C14F9C}"/>
              </a:ext>
            </a:extLst>
          </p:cNvPr>
          <p:cNvCxnSpPr>
            <a:cxnSpLocks/>
            <a:stCxn id="5" idx="1"/>
            <a:endCxn id="31" idx="0"/>
          </p:cNvCxnSpPr>
          <p:nvPr/>
        </p:nvCxnSpPr>
        <p:spPr>
          <a:xfrm rot="16200000" flipH="1">
            <a:off x="2545296" y="2426732"/>
            <a:ext cx="502661" cy="1698"/>
          </a:xfrm>
          <a:prstGeom prst="bentConnector3">
            <a:avLst>
              <a:gd name="adj1" fmla="val 50000"/>
            </a:avLst>
          </a:prstGeom>
          <a:ln w="7620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540002C8-3BCA-48FE-BCF2-AA805E0CD7F8}"/>
              </a:ext>
            </a:extLst>
          </p:cNvPr>
          <p:cNvCxnSpPr>
            <a:cxnSpLocks/>
            <a:stCxn id="5" idx="1"/>
            <a:endCxn id="26" idx="0"/>
          </p:cNvCxnSpPr>
          <p:nvPr/>
        </p:nvCxnSpPr>
        <p:spPr>
          <a:xfrm rot="5400000">
            <a:off x="1247594" y="2434826"/>
            <a:ext cx="1806758" cy="1289609"/>
          </a:xfrm>
          <a:prstGeom prst="bentConnector3">
            <a:avLst>
              <a:gd name="adj1" fmla="val 50000"/>
            </a:avLst>
          </a:prstGeom>
          <a:ln w="7620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8873F378-DBB7-4D27-B1C8-39F47EA994EB}"/>
              </a:ext>
            </a:extLst>
          </p:cNvPr>
          <p:cNvCxnSpPr>
            <a:cxnSpLocks/>
            <a:stCxn id="5" idx="1"/>
            <a:endCxn id="9" idx="0"/>
          </p:cNvCxnSpPr>
          <p:nvPr/>
        </p:nvCxnSpPr>
        <p:spPr>
          <a:xfrm rot="5400000">
            <a:off x="1891860" y="3079092"/>
            <a:ext cx="1806758" cy="1077"/>
          </a:xfrm>
          <a:prstGeom prst="bentConnector3">
            <a:avLst>
              <a:gd name="adj1" fmla="val 50000"/>
            </a:avLst>
          </a:prstGeom>
          <a:ln w="7620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5" name="Connector: Elbow 54">
            <a:extLst>
              <a:ext uri="{FF2B5EF4-FFF2-40B4-BE49-F238E27FC236}">
                <a16:creationId xmlns:a16="http://schemas.microsoft.com/office/drawing/2014/main" id="{3A449524-D60C-4E2E-83D4-264E839A61DE}"/>
              </a:ext>
            </a:extLst>
          </p:cNvPr>
          <p:cNvCxnSpPr>
            <a:cxnSpLocks/>
            <a:stCxn id="5" idx="1"/>
            <a:endCxn id="23" idx="0"/>
          </p:cNvCxnSpPr>
          <p:nvPr/>
        </p:nvCxnSpPr>
        <p:spPr>
          <a:xfrm rot="16200000" flipH="1">
            <a:off x="2533799" y="2438229"/>
            <a:ext cx="1806758" cy="1282802"/>
          </a:xfrm>
          <a:prstGeom prst="bentConnector3">
            <a:avLst>
              <a:gd name="adj1" fmla="val 50000"/>
            </a:avLst>
          </a:prstGeom>
          <a:ln w="7620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C36A22C6-9124-4F34-BDE1-DF0D696880E1}"/>
              </a:ext>
            </a:extLst>
          </p:cNvPr>
          <p:cNvSpPr/>
          <p:nvPr/>
        </p:nvSpPr>
        <p:spPr bwMode="gray">
          <a:xfrm>
            <a:off x="2238726" y="2678912"/>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Ingress</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668128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Rounded Corners 40">
            <a:extLst>
              <a:ext uri="{FF2B5EF4-FFF2-40B4-BE49-F238E27FC236}">
                <a16:creationId xmlns:a16="http://schemas.microsoft.com/office/drawing/2014/main" id="{26B00B56-663D-40AE-B5A1-E2879A98E83E}"/>
              </a:ext>
            </a:extLst>
          </p:cNvPr>
          <p:cNvSpPr/>
          <p:nvPr/>
        </p:nvSpPr>
        <p:spPr bwMode="gray">
          <a:xfrm>
            <a:off x="2948686" y="1208105"/>
            <a:ext cx="9082355" cy="4750906"/>
          </a:xfrm>
          <a:prstGeom prst="round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err="1">
                <a:ln>
                  <a:noFill/>
                </a:ln>
                <a:effectLst/>
                <a:uLnTx/>
                <a:uFillTx/>
                <a:ea typeface="Arial Unicode MS" pitchFamily="34" charset="-128"/>
                <a:cs typeface="Arial Unicode MS" pitchFamily="34" charset="-128"/>
              </a:rPr>
              <a:t>kubernetes</a:t>
            </a:r>
            <a:r>
              <a:rPr lang="en-US" sz="1800" b="1" kern="0" dirty="0">
                <a:ea typeface="Arial Unicode MS" pitchFamily="34" charset="-128"/>
                <a:cs typeface="Arial Unicode MS" pitchFamily="34" charset="-128"/>
              </a:rPr>
              <a:t> internal network</a:t>
            </a:r>
            <a:endParaRPr kumimoji="0" lang="en-US" sz="18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5" name="Rectangle: Rounded Corners 14">
            <a:extLst>
              <a:ext uri="{FF2B5EF4-FFF2-40B4-BE49-F238E27FC236}">
                <a16:creationId xmlns:a16="http://schemas.microsoft.com/office/drawing/2014/main" id="{9A1D9EC9-1EBD-46CA-B0ED-978CB0DAE2A3}"/>
              </a:ext>
            </a:extLst>
          </p:cNvPr>
          <p:cNvSpPr/>
          <p:nvPr/>
        </p:nvSpPr>
        <p:spPr bwMode="gray">
          <a:xfrm>
            <a:off x="7597517" y="1893013"/>
            <a:ext cx="4092960" cy="3901612"/>
          </a:xfrm>
          <a:prstGeom prst="round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namespace: part-0000</a:t>
            </a:r>
            <a:endParaRPr kumimoji="0" lang="en-US" sz="18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 name="Title 1">
            <a:extLst>
              <a:ext uri="{FF2B5EF4-FFF2-40B4-BE49-F238E27FC236}">
                <a16:creationId xmlns:a16="http://schemas.microsoft.com/office/drawing/2014/main" id="{7073C2CB-D306-4B39-B905-FEF684ECD5D6}"/>
              </a:ext>
            </a:extLst>
          </p:cNvPr>
          <p:cNvSpPr>
            <a:spLocks noGrp="1"/>
          </p:cNvSpPr>
          <p:nvPr>
            <p:ph type="title"/>
          </p:nvPr>
        </p:nvSpPr>
        <p:spPr/>
        <p:txBody>
          <a:bodyPr/>
          <a:lstStyle/>
          <a:p>
            <a:r>
              <a:rPr lang="en-US" dirty="0"/>
              <a:t>How does it work?</a:t>
            </a:r>
          </a:p>
        </p:txBody>
      </p:sp>
      <p:sp>
        <p:nvSpPr>
          <p:cNvPr id="10" name="Rectangle 9">
            <a:extLst>
              <a:ext uri="{FF2B5EF4-FFF2-40B4-BE49-F238E27FC236}">
                <a16:creationId xmlns:a16="http://schemas.microsoft.com/office/drawing/2014/main" id="{E88C9445-9706-4262-83C3-2A6ED4EE52A1}"/>
              </a:ext>
            </a:extLst>
          </p:cNvPr>
          <p:cNvSpPr/>
          <p:nvPr/>
        </p:nvSpPr>
        <p:spPr bwMode="gray">
          <a:xfrm>
            <a:off x="7857158" y="3091179"/>
            <a:ext cx="1222647" cy="795956"/>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dirty="0" err="1">
                <a:ea typeface="Arial Unicode MS" pitchFamily="34" charset="-128"/>
                <a:cs typeface="Arial Unicode MS" pitchFamily="34" charset="-128"/>
              </a:rPr>
              <a:t>ClusterIP</a:t>
            </a:r>
            <a:r>
              <a:rPr lang="de-DE" sz="1800" b="1" kern="0" dirty="0">
                <a:ea typeface="Arial Unicode MS" pitchFamily="34" charset="-128"/>
                <a:cs typeface="Arial Unicode MS" pitchFamily="34" charset="-128"/>
              </a:rPr>
              <a:t> Service</a:t>
            </a:r>
          </a:p>
        </p:txBody>
      </p:sp>
      <p:sp>
        <p:nvSpPr>
          <p:cNvPr id="11" name="Rectangle 10">
            <a:extLst>
              <a:ext uri="{FF2B5EF4-FFF2-40B4-BE49-F238E27FC236}">
                <a16:creationId xmlns:a16="http://schemas.microsoft.com/office/drawing/2014/main" id="{3CFB9957-97EE-4CDE-A8B1-520618B7E77F}"/>
              </a:ext>
            </a:extLst>
          </p:cNvPr>
          <p:cNvSpPr/>
          <p:nvPr/>
        </p:nvSpPr>
        <p:spPr bwMode="gray">
          <a:xfrm>
            <a:off x="10208188" y="2539966"/>
            <a:ext cx="1222647"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b="1" kern="0" dirty="0" err="1">
                <a:ea typeface="Arial Unicode MS" pitchFamily="34" charset="-128"/>
                <a:cs typeface="Arial Unicode MS" pitchFamily="34" charset="-128"/>
              </a:rPr>
              <a:t>Pod</a:t>
            </a:r>
            <a:endParaRPr lang="de-DE" sz="1800" b="1" kern="0" dirty="0">
              <a:ea typeface="Arial Unicode MS" pitchFamily="34" charset="-128"/>
              <a:cs typeface="Arial Unicode MS" pitchFamily="34" charset="-128"/>
            </a:endParaRPr>
          </a:p>
        </p:txBody>
      </p:sp>
      <p:sp>
        <p:nvSpPr>
          <p:cNvPr id="12" name="Rectangle 11">
            <a:extLst>
              <a:ext uri="{FF2B5EF4-FFF2-40B4-BE49-F238E27FC236}">
                <a16:creationId xmlns:a16="http://schemas.microsoft.com/office/drawing/2014/main" id="{9D827E62-DB83-40D2-9D58-56EFE71ABAFA}"/>
              </a:ext>
            </a:extLst>
          </p:cNvPr>
          <p:cNvSpPr/>
          <p:nvPr/>
        </p:nvSpPr>
        <p:spPr bwMode="gray">
          <a:xfrm>
            <a:off x="10208188" y="3522078"/>
            <a:ext cx="1222647"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b="1" kern="0" dirty="0" err="1">
                <a:ea typeface="Arial Unicode MS" pitchFamily="34" charset="-128"/>
                <a:cs typeface="Arial Unicode MS" pitchFamily="34" charset="-128"/>
              </a:rPr>
              <a:t>Pod</a:t>
            </a:r>
            <a:endParaRPr lang="de-DE" sz="1800" b="1" kern="0" dirty="0">
              <a:ea typeface="Arial Unicode MS" pitchFamily="34" charset="-128"/>
              <a:cs typeface="Arial Unicode MS" pitchFamily="34" charset="-128"/>
            </a:endParaRPr>
          </a:p>
        </p:txBody>
      </p:sp>
      <p:cxnSp>
        <p:nvCxnSpPr>
          <p:cNvPr id="13" name="Connector: Elbow 12">
            <a:extLst>
              <a:ext uri="{FF2B5EF4-FFF2-40B4-BE49-F238E27FC236}">
                <a16:creationId xmlns:a16="http://schemas.microsoft.com/office/drawing/2014/main" id="{57C26E21-BB2B-4663-A9C7-8DF9EC75E7A3}"/>
              </a:ext>
            </a:extLst>
          </p:cNvPr>
          <p:cNvCxnSpPr>
            <a:cxnSpLocks/>
            <a:stCxn id="10" idx="3"/>
            <a:endCxn id="11" idx="1"/>
          </p:cNvCxnSpPr>
          <p:nvPr/>
        </p:nvCxnSpPr>
        <p:spPr>
          <a:xfrm flipV="1">
            <a:off x="9079805" y="2937944"/>
            <a:ext cx="1128383" cy="551213"/>
          </a:xfrm>
          <a:prstGeom prst="bentConnector3">
            <a:avLst/>
          </a:prstGeom>
          <a:ln w="57150">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D336F964-D7B5-4DAC-A34C-F9A82EFD4176}"/>
              </a:ext>
            </a:extLst>
          </p:cNvPr>
          <p:cNvCxnSpPr>
            <a:cxnSpLocks/>
            <a:stCxn id="10" idx="3"/>
            <a:endCxn id="12" idx="1"/>
          </p:cNvCxnSpPr>
          <p:nvPr/>
        </p:nvCxnSpPr>
        <p:spPr>
          <a:xfrm>
            <a:off x="9079805" y="3489157"/>
            <a:ext cx="1128383" cy="430899"/>
          </a:xfrm>
          <a:prstGeom prst="bentConnector3">
            <a:avLst/>
          </a:prstGeom>
          <a:ln w="57150">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6231DD58-B049-4DA3-98AD-06E8F134860F}"/>
              </a:ext>
            </a:extLst>
          </p:cNvPr>
          <p:cNvSpPr/>
          <p:nvPr/>
        </p:nvSpPr>
        <p:spPr bwMode="gray">
          <a:xfrm>
            <a:off x="3357109" y="1893012"/>
            <a:ext cx="3522377" cy="3901612"/>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namespace: </a:t>
            </a:r>
            <a:r>
              <a:rPr lang="en-US" sz="1800" b="1" kern="0" dirty="0" err="1">
                <a:ea typeface="Arial Unicode MS" pitchFamily="34" charset="-128"/>
                <a:cs typeface="Arial Unicode MS" pitchFamily="34" charset="-128"/>
              </a:rPr>
              <a:t>kube</a:t>
            </a:r>
            <a:r>
              <a:rPr lang="en-US" sz="1800" b="1" kern="0" dirty="0">
                <a:ea typeface="Arial Unicode MS" pitchFamily="34" charset="-128"/>
                <a:cs typeface="Arial Unicode MS" pitchFamily="34" charset="-128"/>
              </a:rPr>
              <a:t>-system</a:t>
            </a:r>
            <a:endParaRPr kumimoji="0" lang="en-US" sz="18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a:extLst>
              <a:ext uri="{FF2B5EF4-FFF2-40B4-BE49-F238E27FC236}">
                <a16:creationId xmlns:a16="http://schemas.microsoft.com/office/drawing/2014/main" id="{021572A9-6976-4081-B145-7278775BF274}"/>
              </a:ext>
            </a:extLst>
          </p:cNvPr>
          <p:cNvSpPr/>
          <p:nvPr/>
        </p:nvSpPr>
        <p:spPr bwMode="gray">
          <a:xfrm>
            <a:off x="2276077" y="3091179"/>
            <a:ext cx="1870188" cy="795956"/>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dirty="0" err="1">
                <a:ea typeface="Arial Unicode MS" pitchFamily="34" charset="-128"/>
                <a:cs typeface="Arial Unicode MS" pitchFamily="34" charset="-128"/>
              </a:rPr>
              <a:t>LoadBalancer</a:t>
            </a:r>
            <a:r>
              <a:rPr lang="de-DE" sz="1800" b="1" kern="0" dirty="0">
                <a:ea typeface="Arial Unicode MS" pitchFamily="34" charset="-128"/>
                <a:cs typeface="Arial Unicode MS" pitchFamily="34" charset="-128"/>
              </a:rPr>
              <a:t> Service</a:t>
            </a:r>
          </a:p>
        </p:txBody>
      </p:sp>
      <p:sp>
        <p:nvSpPr>
          <p:cNvPr id="19" name="Rectangle 18">
            <a:extLst>
              <a:ext uri="{FF2B5EF4-FFF2-40B4-BE49-F238E27FC236}">
                <a16:creationId xmlns:a16="http://schemas.microsoft.com/office/drawing/2014/main" id="{1F4902FD-5842-4B59-BAE8-175F6C77D5BD}"/>
              </a:ext>
            </a:extLst>
          </p:cNvPr>
          <p:cNvSpPr/>
          <p:nvPr/>
        </p:nvSpPr>
        <p:spPr bwMode="gray">
          <a:xfrm>
            <a:off x="4884806" y="3032660"/>
            <a:ext cx="1567408" cy="912994"/>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b="1" kern="0" dirty="0">
                <a:ea typeface="Arial Unicode MS" pitchFamily="34" charset="-128"/>
                <a:cs typeface="Arial Unicode MS" pitchFamily="34" charset="-128"/>
              </a:rPr>
              <a:t>Ingress Controlle</a:t>
            </a:r>
            <a:r>
              <a:rPr lang="de-DE" sz="1800" kern="0" dirty="0">
                <a:ea typeface="Arial Unicode MS" pitchFamily="34" charset="-128"/>
                <a:cs typeface="Arial Unicode MS" pitchFamily="34" charset="-128"/>
              </a:rPr>
              <a:t>r</a:t>
            </a:r>
          </a:p>
        </p:txBody>
      </p:sp>
      <p:pic>
        <p:nvPicPr>
          <p:cNvPr id="29" name="Graphic 28" descr="Document">
            <a:extLst>
              <a:ext uri="{FF2B5EF4-FFF2-40B4-BE49-F238E27FC236}">
                <a16:creationId xmlns:a16="http://schemas.microsoft.com/office/drawing/2014/main" id="{91BC4884-401A-40D3-A07B-72E5820CB01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13611" y="4392861"/>
            <a:ext cx="949274" cy="949274"/>
          </a:xfrm>
          <a:prstGeom prst="rect">
            <a:avLst/>
          </a:prstGeom>
        </p:spPr>
      </p:pic>
      <p:sp>
        <p:nvSpPr>
          <p:cNvPr id="30" name="Rectangle 29">
            <a:extLst>
              <a:ext uri="{FF2B5EF4-FFF2-40B4-BE49-F238E27FC236}">
                <a16:creationId xmlns:a16="http://schemas.microsoft.com/office/drawing/2014/main" id="{9C7EC393-EAC6-4D4C-A63C-7D3EE5945207}"/>
              </a:ext>
            </a:extLst>
          </p:cNvPr>
          <p:cNvSpPr/>
          <p:nvPr/>
        </p:nvSpPr>
        <p:spPr>
          <a:xfrm>
            <a:off x="8039861" y="5236161"/>
            <a:ext cx="1096775" cy="400110"/>
          </a:xfrm>
          <a:prstGeom prst="rect">
            <a:avLst/>
          </a:prstGeom>
        </p:spPr>
        <p:txBody>
          <a:bodyPr wrap="none">
            <a:spAutoFit/>
          </a:bodyPr>
          <a:lstStyle/>
          <a:p>
            <a:r>
              <a:rPr lang="en-US" sz="2000" b="1" dirty="0"/>
              <a:t>Ingress</a:t>
            </a:r>
          </a:p>
        </p:txBody>
      </p:sp>
      <p:sp>
        <p:nvSpPr>
          <p:cNvPr id="31" name="Rectangle 30">
            <a:extLst>
              <a:ext uri="{FF2B5EF4-FFF2-40B4-BE49-F238E27FC236}">
                <a16:creationId xmlns:a16="http://schemas.microsoft.com/office/drawing/2014/main" id="{251DAEA0-6088-4363-91D0-61B27629D20A}"/>
              </a:ext>
            </a:extLst>
          </p:cNvPr>
          <p:cNvSpPr/>
          <p:nvPr/>
        </p:nvSpPr>
        <p:spPr bwMode="gray">
          <a:xfrm>
            <a:off x="4884806" y="4410164"/>
            <a:ext cx="1567408" cy="912994"/>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b="1" kern="0" dirty="0">
                <a:ea typeface="Arial Unicode MS" pitchFamily="34" charset="-128"/>
                <a:cs typeface="Arial Unicode MS" pitchFamily="34" charset="-128"/>
              </a:rPr>
              <a:t>Ingress Backend</a:t>
            </a:r>
          </a:p>
        </p:txBody>
      </p:sp>
      <p:grpSp>
        <p:nvGrpSpPr>
          <p:cNvPr id="38" name="Group 37">
            <a:extLst>
              <a:ext uri="{FF2B5EF4-FFF2-40B4-BE49-F238E27FC236}">
                <a16:creationId xmlns:a16="http://schemas.microsoft.com/office/drawing/2014/main" id="{0132434E-2832-4EDA-A3FB-9F567C37A600}"/>
              </a:ext>
            </a:extLst>
          </p:cNvPr>
          <p:cNvGrpSpPr/>
          <p:nvPr/>
        </p:nvGrpSpPr>
        <p:grpSpPr>
          <a:xfrm>
            <a:off x="389308" y="1692841"/>
            <a:ext cx="2249770" cy="1106406"/>
            <a:chOff x="1122252" y="3219863"/>
            <a:chExt cx="2249770" cy="1106406"/>
          </a:xfrm>
        </p:grpSpPr>
        <p:sp>
          <p:nvSpPr>
            <p:cNvPr id="39" name="Cloud 38">
              <a:extLst>
                <a:ext uri="{FF2B5EF4-FFF2-40B4-BE49-F238E27FC236}">
                  <a16:creationId xmlns:a16="http://schemas.microsoft.com/office/drawing/2014/main" id="{3C10E259-D9F3-4770-9A41-6C5DF9C4DC1E}"/>
                </a:ext>
              </a:extLst>
            </p:cNvPr>
            <p:cNvSpPr/>
            <p:nvPr/>
          </p:nvSpPr>
          <p:spPr bwMode="gray">
            <a:xfrm>
              <a:off x="1122252" y="3219863"/>
              <a:ext cx="2249770" cy="1106406"/>
            </a:xfrm>
            <a:prstGeom prst="cloud">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40" name="Graphic 39" descr="User">
              <a:extLst>
                <a:ext uri="{FF2B5EF4-FFF2-40B4-BE49-F238E27FC236}">
                  <a16:creationId xmlns:a16="http://schemas.microsoft.com/office/drawing/2014/main" id="{BE1C7252-16D0-4CFC-BDDF-CCC7479882C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89937" y="3335277"/>
              <a:ext cx="914400" cy="914400"/>
            </a:xfrm>
            <a:prstGeom prst="rect">
              <a:avLst/>
            </a:prstGeom>
          </p:spPr>
        </p:pic>
      </p:grpSp>
      <p:cxnSp>
        <p:nvCxnSpPr>
          <p:cNvPr id="42" name="Connector: Elbow 41">
            <a:extLst>
              <a:ext uri="{FF2B5EF4-FFF2-40B4-BE49-F238E27FC236}">
                <a16:creationId xmlns:a16="http://schemas.microsoft.com/office/drawing/2014/main" id="{B9A0A99E-6624-475B-BBC7-BE1A6C23B42C}"/>
              </a:ext>
            </a:extLst>
          </p:cNvPr>
          <p:cNvCxnSpPr>
            <a:cxnSpLocks/>
            <a:stCxn id="39" idx="1"/>
            <a:endCxn id="18" idx="1"/>
          </p:cNvCxnSpPr>
          <p:nvPr/>
        </p:nvCxnSpPr>
        <p:spPr>
          <a:xfrm rot="16200000" flipH="1">
            <a:off x="1549591" y="2762671"/>
            <a:ext cx="691088" cy="761884"/>
          </a:xfrm>
          <a:prstGeom prst="bentConnector2">
            <a:avLst/>
          </a:prstGeom>
          <a:ln w="57150">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052CF1A-EF4E-4426-9C36-3ACB823F1DC3}"/>
              </a:ext>
            </a:extLst>
          </p:cNvPr>
          <p:cNvCxnSpPr>
            <a:stCxn id="18" idx="3"/>
            <a:endCxn id="19" idx="1"/>
          </p:cNvCxnSpPr>
          <p:nvPr/>
        </p:nvCxnSpPr>
        <p:spPr>
          <a:xfrm>
            <a:off x="4146265" y="3489157"/>
            <a:ext cx="738541" cy="0"/>
          </a:xfrm>
          <a:prstGeom prst="line">
            <a:avLst/>
          </a:prstGeom>
          <a:ln w="57150">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805A0E4-E458-4109-A529-5E6395D587A0}"/>
              </a:ext>
            </a:extLst>
          </p:cNvPr>
          <p:cNvCxnSpPr>
            <a:stCxn id="19" idx="3"/>
            <a:endCxn id="10" idx="1"/>
          </p:cNvCxnSpPr>
          <p:nvPr/>
        </p:nvCxnSpPr>
        <p:spPr>
          <a:xfrm>
            <a:off x="6452214" y="3489157"/>
            <a:ext cx="1404944" cy="0"/>
          </a:xfrm>
          <a:prstGeom prst="line">
            <a:avLst/>
          </a:prstGeom>
          <a:ln w="57150">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4C3E2339-A29C-43AB-AF53-6364372A14BD}"/>
              </a:ext>
            </a:extLst>
          </p:cNvPr>
          <p:cNvCxnSpPr>
            <a:stCxn id="19" idx="2"/>
            <a:endCxn id="31" idx="0"/>
          </p:cNvCxnSpPr>
          <p:nvPr/>
        </p:nvCxnSpPr>
        <p:spPr>
          <a:xfrm>
            <a:off x="5668510" y="3945654"/>
            <a:ext cx="0" cy="464510"/>
          </a:xfrm>
          <a:prstGeom prst="line">
            <a:avLst/>
          </a:prstGeom>
          <a:ln w="57150">
            <a:solidFill>
              <a:schemeClr val="tx1"/>
            </a:solidFill>
            <a:prstDash val="sys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534E0F4E-A136-4242-8C93-C5836C6796CF}"/>
              </a:ext>
            </a:extLst>
          </p:cNvPr>
          <p:cNvCxnSpPr>
            <a:cxnSpLocks/>
            <a:endCxn id="29" idx="1"/>
          </p:cNvCxnSpPr>
          <p:nvPr/>
        </p:nvCxnSpPr>
        <p:spPr>
          <a:xfrm>
            <a:off x="6442745" y="3951215"/>
            <a:ext cx="1670866" cy="916283"/>
          </a:xfrm>
          <a:prstGeom prst="line">
            <a:avLst/>
          </a:prstGeom>
          <a:ln w="57150">
            <a:solidFill>
              <a:schemeClr val="tx1"/>
            </a:solidFill>
            <a:prstDash val="sys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70" name="Speech Bubble: Rectangle 69">
            <a:extLst>
              <a:ext uri="{FF2B5EF4-FFF2-40B4-BE49-F238E27FC236}">
                <a16:creationId xmlns:a16="http://schemas.microsoft.com/office/drawing/2014/main" id="{289E23CB-40FD-44C8-B9AD-5ED101D48D38}"/>
              </a:ext>
            </a:extLst>
          </p:cNvPr>
          <p:cNvSpPr/>
          <p:nvPr/>
        </p:nvSpPr>
        <p:spPr bwMode="gray">
          <a:xfrm>
            <a:off x="389308" y="4392861"/>
            <a:ext cx="2725361" cy="921007"/>
          </a:xfrm>
          <a:prstGeom prst="wedgeRectCallout">
            <a:avLst>
              <a:gd name="adj1" fmla="val 55139"/>
              <a:gd name="adj2" fmla="val -89213"/>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hlinkClick r:id="rId7"/>
              </a:rPr>
              <a:t>*.ondemand.com</a:t>
            </a:r>
            <a:r>
              <a:rPr lang="de-DE" sz="1800" kern="0" dirty="0">
                <a:ea typeface="Arial Unicode MS" pitchFamily="34" charset="-128"/>
                <a:cs typeface="Arial Unicode MS" pitchFamily="34" charset="-128"/>
              </a:rPr>
              <a:t> </a:t>
            </a:r>
          </a:p>
          <a:p>
            <a:pPr algn="ctr" defTabSz="914400" fontAlgn="base">
              <a:spcBef>
                <a:spcPct val="50000"/>
              </a:spcBef>
              <a:spcAft>
                <a:spcPct val="0"/>
              </a:spcAft>
              <a:buClr>
                <a:srgbClr val="F0AB00"/>
              </a:buClr>
              <a:buSzPct val="80000"/>
            </a:pPr>
            <a:r>
              <a:rPr lang="de-DE" sz="1800" kern="0" dirty="0">
                <a:ea typeface="Arial Unicode MS" pitchFamily="34" charset="-128"/>
                <a:cs typeface="Arial Unicode MS" pitchFamily="34" charset="-128"/>
              </a:rPr>
              <a:t>35.205.166.164</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4031003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19" grpId="0" animBg="1"/>
      <p:bldP spid="30" grpId="0"/>
      <p:bldP spid="31" grpId="0" animBg="1"/>
      <p:bldP spid="7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B3CDB-056B-44F6-87B6-17080C5C4AED}"/>
              </a:ext>
            </a:extLst>
          </p:cNvPr>
          <p:cNvSpPr>
            <a:spLocks noGrp="1"/>
          </p:cNvSpPr>
          <p:nvPr>
            <p:ph type="title"/>
          </p:nvPr>
        </p:nvSpPr>
        <p:spPr/>
        <p:txBody>
          <a:bodyPr/>
          <a:lstStyle/>
          <a:p>
            <a:r>
              <a:rPr lang="en-US" dirty="0"/>
              <a:t>How does it work?</a:t>
            </a:r>
          </a:p>
        </p:txBody>
      </p:sp>
      <p:sp>
        <p:nvSpPr>
          <p:cNvPr id="9" name="Rectangle 8">
            <a:extLst>
              <a:ext uri="{FF2B5EF4-FFF2-40B4-BE49-F238E27FC236}">
                <a16:creationId xmlns:a16="http://schemas.microsoft.com/office/drawing/2014/main" id="{D4F4D76F-517E-4504-AB8A-27650C1F04B8}"/>
              </a:ext>
            </a:extLst>
          </p:cNvPr>
          <p:cNvSpPr/>
          <p:nvPr/>
        </p:nvSpPr>
        <p:spPr bwMode="gray">
          <a:xfrm>
            <a:off x="1635222" y="1673072"/>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Ingress</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0" name="Connector: Elbow 9">
            <a:extLst>
              <a:ext uri="{FF2B5EF4-FFF2-40B4-BE49-F238E27FC236}">
                <a16:creationId xmlns:a16="http://schemas.microsoft.com/office/drawing/2014/main" id="{EF001538-9F89-4EB7-89CF-8FB90A20A490}"/>
              </a:ext>
            </a:extLst>
          </p:cNvPr>
          <p:cNvCxnSpPr>
            <a:stCxn id="9" idx="3"/>
          </p:cNvCxnSpPr>
          <p:nvPr/>
        </p:nvCxnSpPr>
        <p:spPr>
          <a:xfrm>
            <a:off x="2752720" y="2071050"/>
            <a:ext cx="722355" cy="906119"/>
          </a:xfrm>
          <a:prstGeom prst="bentConnector2">
            <a:avLst/>
          </a:prstGeom>
          <a:ln w="7620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BB9289E0-ADB7-432B-8F4F-1A91E0ED03AE}"/>
              </a:ext>
            </a:extLst>
          </p:cNvPr>
          <p:cNvCxnSpPr>
            <a:cxnSpLocks/>
            <a:stCxn id="9" idx="1"/>
          </p:cNvCxnSpPr>
          <p:nvPr/>
        </p:nvCxnSpPr>
        <p:spPr>
          <a:xfrm rot="10800000" flipV="1">
            <a:off x="902664" y="2071049"/>
            <a:ext cx="732558" cy="906119"/>
          </a:xfrm>
          <a:prstGeom prst="bentConnector2">
            <a:avLst/>
          </a:prstGeom>
          <a:ln w="7620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217C87A5-B2C4-46A4-A07F-6E6C01B8ADF7}"/>
              </a:ext>
            </a:extLst>
          </p:cNvPr>
          <p:cNvCxnSpPr>
            <a:cxnSpLocks/>
            <a:stCxn id="9" idx="2"/>
          </p:cNvCxnSpPr>
          <p:nvPr/>
        </p:nvCxnSpPr>
        <p:spPr>
          <a:xfrm rot="5400000">
            <a:off x="1938514" y="2721711"/>
            <a:ext cx="508141" cy="2775"/>
          </a:xfrm>
          <a:prstGeom prst="bentConnector3">
            <a:avLst>
              <a:gd name="adj1" fmla="val 50000"/>
            </a:avLst>
          </a:prstGeom>
          <a:ln w="7620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978C5E3-CB9F-4B15-8881-F51630537662}"/>
              </a:ext>
            </a:extLst>
          </p:cNvPr>
          <p:cNvSpPr txBox="1"/>
          <p:nvPr/>
        </p:nvSpPr>
        <p:spPr>
          <a:xfrm>
            <a:off x="4592572" y="1673072"/>
            <a:ext cx="6791708" cy="4847481"/>
          </a:xfrm>
          <a:prstGeom prst="rect">
            <a:avLst/>
          </a:prstGeom>
          <a:noFill/>
        </p:spPr>
        <p:txBody>
          <a:bodyPr wrap="square" lIns="0" tIns="0" rIns="0" bIns="0" rtlCol="0">
            <a:spAutoFit/>
          </a:bodyPr>
          <a:lstStyle/>
          <a:p>
            <a:pPr marL="285750"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Ingress resource describes the desired state for routing</a:t>
            </a:r>
          </a:p>
          <a:p>
            <a:pPr marL="285750"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Cluster specific “ingress controller” will act as edge router and enforce desired state</a:t>
            </a:r>
          </a:p>
          <a:p>
            <a:pPr marL="830138" lvl="1"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Ingress controller is typically exposed via a </a:t>
            </a:r>
            <a:r>
              <a:rPr lang="en-US" sz="1800" kern="0" dirty="0" err="1">
                <a:ea typeface="Arial Unicode MS" pitchFamily="34" charset="-128"/>
                <a:cs typeface="Arial Unicode MS" pitchFamily="34" charset="-128"/>
              </a:rPr>
              <a:t>LoadBalancer</a:t>
            </a:r>
            <a:r>
              <a:rPr lang="en-US" sz="1800" kern="0" dirty="0">
                <a:ea typeface="Arial Unicode MS" pitchFamily="34" charset="-128"/>
                <a:cs typeface="Arial Unicode MS" pitchFamily="34" charset="-128"/>
              </a:rPr>
              <a:t> service</a:t>
            </a:r>
          </a:p>
          <a:p>
            <a:pPr marL="830138" lvl="1"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Handle traffic according to ingress specifications</a:t>
            </a:r>
          </a:p>
          <a:p>
            <a:pPr marL="830138" lvl="1"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URL mapping</a:t>
            </a:r>
          </a:p>
          <a:p>
            <a:pPr marL="830138" lvl="1"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TLS termination</a:t>
            </a:r>
          </a:p>
          <a:p>
            <a:pPr marL="830138" lvl="1"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a:t>
            </a:r>
          </a:p>
          <a:p>
            <a:pPr marL="285750"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Overhaul in K8s v1.19 with move to from beta to v1 </a:t>
            </a:r>
          </a:p>
          <a:p>
            <a:pPr marL="285750"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hlinkClick r:id="rId3"/>
              </a:rPr>
              <a:t>https://kubernetes.io/docs/concepts/services-networking/ingress/</a:t>
            </a:r>
            <a:r>
              <a:rPr lang="en-US" sz="1800" kern="0" dirty="0">
                <a:ea typeface="Arial Unicode MS" pitchFamily="34" charset="-128"/>
                <a:cs typeface="Arial Unicode MS" pitchFamily="34" charset="-128"/>
              </a:rPr>
              <a:t> </a:t>
            </a:r>
          </a:p>
          <a:p>
            <a:pPr marL="285750" indent="-285750" fontAlgn="base">
              <a:spcBef>
                <a:spcPct val="500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hlinkClick r:id="rId4"/>
              </a:rPr>
              <a:t>https://github.com/kubernetes/ingress-nginx</a:t>
            </a:r>
            <a:r>
              <a:rPr lang="en-US" sz="1800" kern="0" dirty="0">
                <a:ea typeface="Arial Unicode MS" pitchFamily="34" charset="-128"/>
                <a:cs typeface="Arial Unicode MS" pitchFamily="34" charset="-128"/>
              </a:rPr>
              <a:t> </a:t>
            </a:r>
          </a:p>
        </p:txBody>
      </p:sp>
      <p:sp>
        <p:nvSpPr>
          <p:cNvPr id="18" name="Rectangle 17">
            <a:extLst>
              <a:ext uri="{FF2B5EF4-FFF2-40B4-BE49-F238E27FC236}">
                <a16:creationId xmlns:a16="http://schemas.microsoft.com/office/drawing/2014/main" id="{BF6EA818-4619-4E93-8C44-0D8FD84C412B}"/>
              </a:ext>
            </a:extLst>
          </p:cNvPr>
          <p:cNvSpPr/>
          <p:nvPr/>
        </p:nvSpPr>
        <p:spPr bwMode="gray">
          <a:xfrm>
            <a:off x="1224341" y="3666745"/>
            <a:ext cx="1933712" cy="136245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Ingress-controller</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921289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4DF03BB3-7969-41F8-BB01-B24EF0F775A1}"/>
              </a:ext>
            </a:extLst>
          </p:cNvPr>
          <p:cNvSpPr/>
          <p:nvPr/>
        </p:nvSpPr>
        <p:spPr bwMode="gray">
          <a:xfrm>
            <a:off x="5223956" y="1206858"/>
            <a:ext cx="6425500" cy="5093357"/>
          </a:xfrm>
          <a:prstGeom prst="round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Inside K8s</a:t>
            </a:r>
          </a:p>
        </p:txBody>
      </p:sp>
      <p:sp>
        <p:nvSpPr>
          <p:cNvPr id="2" name="Title 1">
            <a:extLst>
              <a:ext uri="{FF2B5EF4-FFF2-40B4-BE49-F238E27FC236}">
                <a16:creationId xmlns:a16="http://schemas.microsoft.com/office/drawing/2014/main" id="{5A81982A-92E0-45C7-BD26-824B847D1E7C}"/>
              </a:ext>
            </a:extLst>
          </p:cNvPr>
          <p:cNvSpPr>
            <a:spLocks noGrp="1"/>
          </p:cNvSpPr>
          <p:nvPr>
            <p:ph type="title"/>
          </p:nvPr>
        </p:nvSpPr>
        <p:spPr/>
        <p:txBody>
          <a:bodyPr/>
          <a:lstStyle/>
          <a:p>
            <a:r>
              <a:rPr lang="en-US" dirty="0"/>
              <a:t>Single service ingress (with TLS)</a:t>
            </a:r>
          </a:p>
        </p:txBody>
      </p:sp>
      <p:grpSp>
        <p:nvGrpSpPr>
          <p:cNvPr id="8" name="Group 7">
            <a:extLst>
              <a:ext uri="{FF2B5EF4-FFF2-40B4-BE49-F238E27FC236}">
                <a16:creationId xmlns:a16="http://schemas.microsoft.com/office/drawing/2014/main" id="{358CDFFD-2085-488C-BBB2-C4A1E71F2454}"/>
              </a:ext>
            </a:extLst>
          </p:cNvPr>
          <p:cNvGrpSpPr/>
          <p:nvPr/>
        </p:nvGrpSpPr>
        <p:grpSpPr>
          <a:xfrm>
            <a:off x="7397496" y="2413611"/>
            <a:ext cx="3573677" cy="1778068"/>
            <a:chOff x="7814563" y="2523339"/>
            <a:chExt cx="3266338" cy="1778068"/>
          </a:xfrm>
        </p:grpSpPr>
        <p:sp>
          <p:nvSpPr>
            <p:cNvPr id="3" name="Rectangle 2">
              <a:extLst>
                <a:ext uri="{FF2B5EF4-FFF2-40B4-BE49-F238E27FC236}">
                  <a16:creationId xmlns:a16="http://schemas.microsoft.com/office/drawing/2014/main" id="{B4457830-39F9-4350-B509-B924BFD1AFE9}"/>
                </a:ext>
              </a:extLst>
            </p:cNvPr>
            <p:cNvSpPr/>
            <p:nvPr/>
          </p:nvSpPr>
          <p:spPr bwMode="gray">
            <a:xfrm>
              <a:off x="7814563" y="3016033"/>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dirty="0">
                  <a:ea typeface="Arial Unicode MS" pitchFamily="34" charset="-128"/>
                  <a:cs typeface="Arial Unicode MS" pitchFamily="34" charset="-128"/>
                </a:rPr>
                <a:t>Service</a:t>
              </a:r>
            </a:p>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Port </a:t>
              </a:r>
              <a:r>
                <a:rPr lang="de-DE" sz="1800" kern="0" dirty="0">
                  <a:ea typeface="Arial Unicode MS" pitchFamily="34" charset="-128"/>
                  <a:cs typeface="Arial Unicode MS" pitchFamily="34" charset="-128"/>
                </a:rPr>
                <a:t>8081</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 name="Rectangle 3">
              <a:extLst>
                <a:ext uri="{FF2B5EF4-FFF2-40B4-BE49-F238E27FC236}">
                  <a16:creationId xmlns:a16="http://schemas.microsoft.com/office/drawing/2014/main" id="{08D608E2-0C6A-4963-B4A7-7686ABF7E70E}"/>
                </a:ext>
              </a:extLst>
            </p:cNvPr>
            <p:cNvSpPr/>
            <p:nvPr/>
          </p:nvSpPr>
          <p:spPr bwMode="gray">
            <a:xfrm>
              <a:off x="9963403" y="2523339"/>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b="1" kern="0" dirty="0" err="1">
                  <a:ea typeface="Arial Unicode MS" pitchFamily="34" charset="-128"/>
                  <a:cs typeface="Arial Unicode MS" pitchFamily="34" charset="-128"/>
                </a:rPr>
                <a:t>Pod</a:t>
              </a:r>
              <a:endParaRPr lang="de-DE" sz="1800" b="1" kern="0" dirty="0">
                <a:ea typeface="Arial Unicode MS" pitchFamily="34" charset="-128"/>
                <a:cs typeface="Arial Unicode MS" pitchFamily="34" charset="-128"/>
              </a:endParaRPr>
            </a:p>
            <a:p>
              <a:pPr algn="ctr" defTabSz="914400" fontAlgn="base">
                <a:spcBef>
                  <a:spcPct val="50000"/>
                </a:spcBef>
                <a:spcAft>
                  <a:spcPct val="0"/>
                </a:spcAft>
                <a:buClr>
                  <a:srgbClr val="F0AB00"/>
                </a:buClr>
                <a:buSzPct val="80000"/>
              </a:pPr>
              <a:r>
                <a:rPr lang="de-DE" sz="1800" kern="0" dirty="0">
                  <a:ea typeface="Arial Unicode MS" pitchFamily="34" charset="-128"/>
                  <a:cs typeface="Arial Unicode MS" pitchFamily="34" charset="-128"/>
                </a:rPr>
                <a:t>Port 80</a:t>
              </a:r>
            </a:p>
          </p:txBody>
        </p:sp>
        <p:sp>
          <p:nvSpPr>
            <p:cNvPr id="5" name="Rectangle 4">
              <a:extLst>
                <a:ext uri="{FF2B5EF4-FFF2-40B4-BE49-F238E27FC236}">
                  <a16:creationId xmlns:a16="http://schemas.microsoft.com/office/drawing/2014/main" id="{0D18E228-9082-4236-885A-0F4636E68086}"/>
                </a:ext>
              </a:extLst>
            </p:cNvPr>
            <p:cNvSpPr/>
            <p:nvPr/>
          </p:nvSpPr>
          <p:spPr bwMode="gray">
            <a:xfrm>
              <a:off x="9963403" y="3505451"/>
              <a:ext cx="1117498" cy="79595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b="1" kern="0" dirty="0" err="1">
                  <a:ea typeface="Arial Unicode MS" pitchFamily="34" charset="-128"/>
                  <a:cs typeface="Arial Unicode MS" pitchFamily="34" charset="-128"/>
                </a:rPr>
                <a:t>Pod</a:t>
              </a:r>
              <a:endParaRPr lang="de-DE" sz="1800" b="1" kern="0" dirty="0">
                <a:ea typeface="Arial Unicode MS" pitchFamily="34" charset="-128"/>
                <a:cs typeface="Arial Unicode MS" pitchFamily="34" charset="-128"/>
              </a:endParaRPr>
            </a:p>
            <a:p>
              <a:pPr algn="ctr" defTabSz="914400" fontAlgn="base">
                <a:spcBef>
                  <a:spcPct val="50000"/>
                </a:spcBef>
                <a:spcAft>
                  <a:spcPct val="0"/>
                </a:spcAft>
                <a:buClr>
                  <a:srgbClr val="F0AB00"/>
                </a:buClr>
                <a:buSzPct val="80000"/>
              </a:pPr>
              <a:r>
                <a:rPr lang="de-DE" sz="1800" kern="0" dirty="0">
                  <a:ea typeface="Arial Unicode MS" pitchFamily="34" charset="-128"/>
                  <a:cs typeface="Arial Unicode MS" pitchFamily="34" charset="-128"/>
                </a:rPr>
                <a:t>Port 80</a:t>
              </a:r>
            </a:p>
          </p:txBody>
        </p:sp>
        <p:cxnSp>
          <p:nvCxnSpPr>
            <p:cNvPr id="6" name="Connector: Elbow 5">
              <a:extLst>
                <a:ext uri="{FF2B5EF4-FFF2-40B4-BE49-F238E27FC236}">
                  <a16:creationId xmlns:a16="http://schemas.microsoft.com/office/drawing/2014/main" id="{B1B508C1-CE67-4683-8539-9ED63738D7AF}"/>
                </a:ext>
              </a:extLst>
            </p:cNvPr>
            <p:cNvCxnSpPr>
              <a:cxnSpLocks/>
              <a:stCxn id="3" idx="3"/>
              <a:endCxn id="4" idx="1"/>
            </p:cNvCxnSpPr>
            <p:nvPr/>
          </p:nvCxnSpPr>
          <p:spPr>
            <a:xfrm flipV="1">
              <a:off x="8932061" y="2921317"/>
              <a:ext cx="1031342" cy="492694"/>
            </a:xfrm>
            <a:prstGeom prst="bentConnector3">
              <a:avLst/>
            </a:prstGeom>
            <a:ln w="57150">
              <a:solidFill>
                <a:schemeClr val="accent1">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nector: Elbow 6">
              <a:extLst>
                <a:ext uri="{FF2B5EF4-FFF2-40B4-BE49-F238E27FC236}">
                  <a16:creationId xmlns:a16="http://schemas.microsoft.com/office/drawing/2014/main" id="{0B8E918E-7337-4DDD-A077-2D130786BAFE}"/>
                </a:ext>
              </a:extLst>
            </p:cNvPr>
            <p:cNvCxnSpPr>
              <a:cxnSpLocks/>
              <a:stCxn id="3" idx="3"/>
              <a:endCxn id="5" idx="1"/>
            </p:cNvCxnSpPr>
            <p:nvPr/>
          </p:nvCxnSpPr>
          <p:spPr>
            <a:xfrm>
              <a:off x="8932061" y="3414011"/>
              <a:ext cx="1031342" cy="489418"/>
            </a:xfrm>
            <a:prstGeom prst="bentConnector3">
              <a:avLst/>
            </a:prstGeom>
            <a:ln w="57150">
              <a:solidFill>
                <a:schemeClr val="accent1">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9" name="Rectangle 8">
            <a:extLst>
              <a:ext uri="{FF2B5EF4-FFF2-40B4-BE49-F238E27FC236}">
                <a16:creationId xmlns:a16="http://schemas.microsoft.com/office/drawing/2014/main" id="{099CA93B-821C-49D8-A92A-02926E93612E}"/>
              </a:ext>
            </a:extLst>
          </p:cNvPr>
          <p:cNvSpPr/>
          <p:nvPr/>
        </p:nvSpPr>
        <p:spPr bwMode="gray">
          <a:xfrm>
            <a:off x="3336454" y="2710452"/>
            <a:ext cx="3216161" cy="1187661"/>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dirty="0">
                <a:ea typeface="Arial Unicode MS" pitchFamily="34" charset="-128"/>
                <a:cs typeface="Arial Unicode MS" pitchFamily="34" charset="-128"/>
              </a:rPr>
              <a:t>Ingress</a:t>
            </a:r>
          </a:p>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hlinkClick r:id="rId3"/>
              </a:rPr>
              <a:t>https://koopa.ondemand.com</a:t>
            </a:r>
            <a:r>
              <a:rPr lang="de-DE" sz="1800" kern="0" dirty="0">
                <a:ea typeface="Arial Unicode MS" pitchFamily="34" charset="-128"/>
                <a:cs typeface="Arial Unicode MS" pitchFamily="34" charset="-128"/>
              </a:rPr>
              <a:t> </a:t>
            </a:r>
          </a:p>
          <a:p>
            <a:pPr algn="ctr" defTabSz="914400" fontAlgn="base">
              <a:spcBef>
                <a:spcPct val="50000"/>
              </a:spcBef>
              <a:spcAft>
                <a:spcPct val="0"/>
              </a:spcAft>
              <a:buClr>
                <a:srgbClr val="F0AB00"/>
              </a:buClr>
              <a:buSzPct val="80000"/>
            </a:pPr>
            <a:r>
              <a:rPr lang="de-DE" sz="1800" kern="0" dirty="0">
                <a:ea typeface="Arial Unicode MS" pitchFamily="34" charset="-128"/>
                <a:cs typeface="Arial Unicode MS" pitchFamily="34" charset="-128"/>
              </a:rPr>
              <a:t>35.205.166.164</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nvGrpSpPr>
          <p:cNvPr id="11" name="Group 10">
            <a:extLst>
              <a:ext uri="{FF2B5EF4-FFF2-40B4-BE49-F238E27FC236}">
                <a16:creationId xmlns:a16="http://schemas.microsoft.com/office/drawing/2014/main" id="{F95913DA-CA66-4D4B-9DE6-B4301A7131DB}"/>
              </a:ext>
            </a:extLst>
          </p:cNvPr>
          <p:cNvGrpSpPr/>
          <p:nvPr/>
        </p:nvGrpSpPr>
        <p:grpSpPr>
          <a:xfrm>
            <a:off x="418999" y="2751079"/>
            <a:ext cx="2249770" cy="1106406"/>
            <a:chOff x="1122252" y="3219863"/>
            <a:chExt cx="2249770" cy="1106406"/>
          </a:xfrm>
        </p:grpSpPr>
        <p:sp>
          <p:nvSpPr>
            <p:cNvPr id="12" name="Cloud 11">
              <a:extLst>
                <a:ext uri="{FF2B5EF4-FFF2-40B4-BE49-F238E27FC236}">
                  <a16:creationId xmlns:a16="http://schemas.microsoft.com/office/drawing/2014/main" id="{1743D8BF-8F3B-443E-ABD5-8A254B403503}"/>
                </a:ext>
              </a:extLst>
            </p:cNvPr>
            <p:cNvSpPr/>
            <p:nvPr/>
          </p:nvSpPr>
          <p:spPr bwMode="gray">
            <a:xfrm>
              <a:off x="1122252" y="3219863"/>
              <a:ext cx="2249770" cy="1106406"/>
            </a:xfrm>
            <a:prstGeom prst="cloud">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13" name="Graphic 12" descr="User">
              <a:extLst>
                <a:ext uri="{FF2B5EF4-FFF2-40B4-BE49-F238E27FC236}">
                  <a16:creationId xmlns:a16="http://schemas.microsoft.com/office/drawing/2014/main" id="{59D580DD-E40F-4993-B360-B0AD4EB046D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9937" y="3335277"/>
              <a:ext cx="914400" cy="914400"/>
            </a:xfrm>
            <a:prstGeom prst="rect">
              <a:avLst/>
            </a:prstGeom>
          </p:spPr>
        </p:pic>
      </p:grpSp>
      <p:cxnSp>
        <p:nvCxnSpPr>
          <p:cNvPr id="16" name="Straight Connector 15">
            <a:extLst>
              <a:ext uri="{FF2B5EF4-FFF2-40B4-BE49-F238E27FC236}">
                <a16:creationId xmlns:a16="http://schemas.microsoft.com/office/drawing/2014/main" id="{A6C9583B-B1A3-4BC2-8995-403831414E7F}"/>
              </a:ext>
            </a:extLst>
          </p:cNvPr>
          <p:cNvCxnSpPr>
            <a:cxnSpLocks/>
            <a:stCxn id="9" idx="3"/>
            <a:endCxn id="3" idx="1"/>
          </p:cNvCxnSpPr>
          <p:nvPr/>
        </p:nvCxnSpPr>
        <p:spPr>
          <a:xfrm>
            <a:off x="6552615" y="3304283"/>
            <a:ext cx="844881" cy="0"/>
          </a:xfrm>
          <a:prstGeom prst="line">
            <a:avLst/>
          </a:prstGeom>
          <a:ln w="57150">
            <a:solidFill>
              <a:schemeClr val="accent1">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Rectangle: Single Corner Snipped 18">
            <a:extLst>
              <a:ext uri="{FF2B5EF4-FFF2-40B4-BE49-F238E27FC236}">
                <a16:creationId xmlns:a16="http://schemas.microsoft.com/office/drawing/2014/main" id="{818EFA0C-91F0-49FF-8101-E64C2958A76B}"/>
              </a:ext>
            </a:extLst>
          </p:cNvPr>
          <p:cNvSpPr/>
          <p:nvPr/>
        </p:nvSpPr>
        <p:spPr bwMode="gray">
          <a:xfrm>
            <a:off x="7326270" y="4286395"/>
            <a:ext cx="1948030" cy="1377144"/>
          </a:xfrm>
          <a:prstGeom prst="snip1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b="1" i="0" u="none" strike="noStrike" kern="0" cap="none" spc="0" normalizeH="0" baseline="0" noProof="0" dirty="0">
                <a:ln>
                  <a:noFill/>
                </a:ln>
                <a:effectLst/>
                <a:uLnTx/>
                <a:uFillTx/>
                <a:ea typeface="Arial Unicode MS" pitchFamily="34" charset="-128"/>
                <a:cs typeface="Arial Unicode MS" pitchFamily="34" charset="-128"/>
              </a:rPr>
              <a:t>TLS secret</a:t>
            </a:r>
          </a:p>
          <a:p>
            <a:pPr marL="285750" marR="0" indent="-285750" defTabSz="914400" eaLnBrk="1" fontAlgn="base" latinLnBrk="0" hangingPunct="1">
              <a:lnSpc>
                <a:spcPct val="100000"/>
              </a:lnSpc>
              <a:spcBef>
                <a:spcPct val="50000"/>
              </a:spcBef>
              <a:spcAft>
                <a:spcPct val="0"/>
              </a:spcAft>
              <a:buClr>
                <a:srgbClr val="F0AB00"/>
              </a:buClr>
              <a:buSzPct val="80000"/>
              <a:buFontTx/>
              <a:buChar char="-"/>
              <a:tabLst/>
            </a:pPr>
            <a:r>
              <a:rPr lang="en-US" sz="1600" kern="0" dirty="0">
                <a:ea typeface="Arial Unicode MS" pitchFamily="34" charset="-128"/>
                <a:cs typeface="Arial Unicode MS" pitchFamily="34" charset="-128"/>
              </a:rPr>
              <a:t>server-</a:t>
            </a:r>
            <a:r>
              <a:rPr lang="en-US" sz="1600" kern="0" dirty="0" err="1">
                <a:ea typeface="Arial Unicode MS" pitchFamily="34" charset="-128"/>
                <a:cs typeface="Arial Unicode MS" pitchFamily="34" charset="-128"/>
              </a:rPr>
              <a:t>key.pem</a:t>
            </a:r>
            <a:endParaRPr lang="en-US" sz="1600" kern="0" dirty="0">
              <a:ea typeface="Arial Unicode MS" pitchFamily="34" charset="-128"/>
              <a:cs typeface="Arial Unicode MS" pitchFamily="34" charset="-128"/>
            </a:endParaRPr>
          </a:p>
          <a:p>
            <a:pPr marL="285750" marR="0" indent="-285750" defTabSz="914400" eaLnBrk="1" fontAlgn="base" latinLnBrk="0" hangingPunct="1">
              <a:lnSpc>
                <a:spcPct val="100000"/>
              </a:lnSpc>
              <a:spcBef>
                <a:spcPct val="50000"/>
              </a:spcBef>
              <a:spcAft>
                <a:spcPct val="0"/>
              </a:spcAft>
              <a:buClr>
                <a:srgbClr val="F0AB00"/>
              </a:buClr>
              <a:buSzPct val="80000"/>
              <a:buFontTx/>
              <a:buChar char="-"/>
              <a:tabLst/>
            </a:pPr>
            <a:r>
              <a:rPr lang="en-US" sz="1600" kern="0" dirty="0" err="1">
                <a:ea typeface="Arial Unicode MS" pitchFamily="34" charset="-128"/>
                <a:cs typeface="Arial Unicode MS" pitchFamily="34" charset="-128"/>
              </a:rPr>
              <a:t>server.pem</a:t>
            </a:r>
            <a:endParaRPr lang="en-US" sz="1600" kern="0" dirty="0">
              <a:ea typeface="Arial Unicode MS" pitchFamily="34" charset="-128"/>
              <a:cs typeface="Arial Unicode MS" pitchFamily="34" charset="-128"/>
            </a:endParaRPr>
          </a:p>
        </p:txBody>
      </p:sp>
      <p:cxnSp>
        <p:nvCxnSpPr>
          <p:cNvPr id="26" name="Connector: Elbow 25">
            <a:extLst>
              <a:ext uri="{FF2B5EF4-FFF2-40B4-BE49-F238E27FC236}">
                <a16:creationId xmlns:a16="http://schemas.microsoft.com/office/drawing/2014/main" id="{0CF8FBF5-5A10-4A9E-9F66-A8EADACE2648}"/>
              </a:ext>
            </a:extLst>
          </p:cNvPr>
          <p:cNvCxnSpPr>
            <a:cxnSpLocks/>
            <a:stCxn id="9" idx="2"/>
            <a:endCxn id="19" idx="2"/>
          </p:cNvCxnSpPr>
          <p:nvPr/>
        </p:nvCxnSpPr>
        <p:spPr>
          <a:xfrm rot="16200000" flipH="1">
            <a:off x="5596975" y="3245672"/>
            <a:ext cx="1076854" cy="2381735"/>
          </a:xfrm>
          <a:prstGeom prst="bentConnector2">
            <a:avLst/>
          </a:prstGeom>
          <a:ln w="57150">
            <a:solidFill>
              <a:schemeClr val="accent1">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3CFC0E6-4B2E-4A4A-8320-32CEDFC1F8AC}"/>
              </a:ext>
            </a:extLst>
          </p:cNvPr>
          <p:cNvCxnSpPr>
            <a:cxnSpLocks/>
            <a:stCxn id="12" idx="0"/>
            <a:endCxn id="9" idx="1"/>
          </p:cNvCxnSpPr>
          <p:nvPr/>
        </p:nvCxnSpPr>
        <p:spPr>
          <a:xfrm>
            <a:off x="2666894" y="3304282"/>
            <a:ext cx="669560" cy="1"/>
          </a:xfrm>
          <a:prstGeom prst="line">
            <a:avLst/>
          </a:prstGeom>
          <a:ln w="571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Speech Bubble: Rectangle 35">
            <a:extLst>
              <a:ext uri="{FF2B5EF4-FFF2-40B4-BE49-F238E27FC236}">
                <a16:creationId xmlns:a16="http://schemas.microsoft.com/office/drawing/2014/main" id="{FBD5E2D3-AE2C-4614-958E-DC66ADC73203}"/>
              </a:ext>
            </a:extLst>
          </p:cNvPr>
          <p:cNvSpPr/>
          <p:nvPr/>
        </p:nvSpPr>
        <p:spPr bwMode="gray">
          <a:xfrm>
            <a:off x="418999" y="4284877"/>
            <a:ext cx="3311728" cy="690090"/>
          </a:xfrm>
          <a:prstGeom prst="wedgeRectCallout">
            <a:avLst>
              <a:gd name="adj1" fmla="val 36283"/>
              <a:gd name="adj2" fmla="val -150677"/>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Users access the backend via </a:t>
            </a:r>
            <a:r>
              <a:rPr kumimoji="0" lang="en-US" sz="1800" b="0" i="0" u="none" strike="noStrike" kern="0" cap="none" spc="0" normalizeH="0" baseline="0" noProof="0" dirty="0">
                <a:ln>
                  <a:noFill/>
                </a:ln>
                <a:effectLst/>
                <a:uLnTx/>
                <a:uFillTx/>
                <a:ea typeface="Arial Unicode MS" pitchFamily="34" charset="-128"/>
                <a:cs typeface="Arial Unicode MS" pitchFamily="34" charset="-128"/>
                <a:hlinkClick r:id="rId6"/>
              </a:rPr>
              <a:t>https://koopa.ondemand.com</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7" name="Speech Bubble: Rectangle 36">
            <a:extLst>
              <a:ext uri="{FF2B5EF4-FFF2-40B4-BE49-F238E27FC236}">
                <a16:creationId xmlns:a16="http://schemas.microsoft.com/office/drawing/2014/main" id="{6F045E66-D48F-4700-81A1-6540EC05A748}"/>
              </a:ext>
            </a:extLst>
          </p:cNvPr>
          <p:cNvSpPr/>
          <p:nvPr/>
        </p:nvSpPr>
        <p:spPr bwMode="gray">
          <a:xfrm>
            <a:off x="2932921" y="5587082"/>
            <a:ext cx="4101737" cy="713133"/>
          </a:xfrm>
          <a:prstGeom prst="wedgeRectCallout">
            <a:avLst>
              <a:gd name="adj1" fmla="val 45113"/>
              <a:gd name="adj2" fmla="val -126002"/>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TLS termination at Ingress endpoint requires a secret with correct subject</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8" name="Speech Bubble: Rectangle 37">
            <a:extLst>
              <a:ext uri="{FF2B5EF4-FFF2-40B4-BE49-F238E27FC236}">
                <a16:creationId xmlns:a16="http://schemas.microsoft.com/office/drawing/2014/main" id="{B26386ED-2643-440C-B8EF-EA2E8A033E36}"/>
              </a:ext>
            </a:extLst>
          </p:cNvPr>
          <p:cNvSpPr/>
          <p:nvPr/>
        </p:nvSpPr>
        <p:spPr bwMode="gray">
          <a:xfrm>
            <a:off x="1709928" y="1141480"/>
            <a:ext cx="3798598" cy="880399"/>
          </a:xfrm>
          <a:prstGeom prst="wedgeRectCallout">
            <a:avLst>
              <a:gd name="adj1" fmla="val 39959"/>
              <a:gd name="adj2" fmla="val 116537"/>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Ingress controller is in charge of </a:t>
            </a:r>
            <a:r>
              <a:rPr lang="en-US" sz="1800" u="sng" kern="0" dirty="0">
                <a:solidFill>
                  <a:schemeClr val="accent3"/>
                </a:solidFill>
                <a:ea typeface="Arial Unicode MS" pitchFamily="34" charset="-128"/>
              </a:rPr>
              <a:t>*.ondemand.com </a:t>
            </a:r>
            <a:r>
              <a:rPr lang="en-US" sz="1800" kern="0" dirty="0">
                <a:ea typeface="Arial Unicode MS" pitchFamily="34" charset="-128"/>
                <a:cs typeface="Arial Unicode MS" pitchFamily="34" charset="-128"/>
              </a:rPr>
              <a:t>domain to register new records </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pic>
        <p:nvPicPr>
          <p:cNvPr id="24" name="Picture 2" descr="https://vignette.wikia.nocookie.net/nintendo/images/8/83/KoopaNSMB.png/revision/latest?cb=20110724132501&amp;path-prefix=en">
            <a:extLst>
              <a:ext uri="{FF2B5EF4-FFF2-40B4-BE49-F238E27FC236}">
                <a16:creationId xmlns:a16="http://schemas.microsoft.com/office/drawing/2014/main" id="{6EF85849-5145-44AF-8DFF-9F1B6F3357A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22822" y="2226304"/>
            <a:ext cx="519950" cy="827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2366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D481D01-45DE-4C3E-9525-2092524BD26A}"/>
              </a:ext>
            </a:extLst>
          </p:cNvPr>
          <p:cNvPicPr>
            <a:picLocks noChangeAspect="1"/>
          </p:cNvPicPr>
          <p:nvPr/>
        </p:nvPicPr>
        <p:blipFill>
          <a:blip r:embed="rId3"/>
          <a:stretch>
            <a:fillRect/>
          </a:stretch>
        </p:blipFill>
        <p:spPr>
          <a:xfrm>
            <a:off x="568532" y="1046940"/>
            <a:ext cx="7285714" cy="5400000"/>
          </a:xfrm>
          <a:prstGeom prst="rect">
            <a:avLst/>
          </a:prstGeom>
          <a:ln>
            <a:solidFill>
              <a:schemeClr val="bg2"/>
            </a:solidFill>
          </a:ln>
        </p:spPr>
      </p:pic>
      <p:sp>
        <p:nvSpPr>
          <p:cNvPr id="2" name="Title 1">
            <a:extLst>
              <a:ext uri="{FF2B5EF4-FFF2-40B4-BE49-F238E27FC236}">
                <a16:creationId xmlns:a16="http://schemas.microsoft.com/office/drawing/2014/main" id="{C4075F74-C4BE-475F-90D1-3AD64BAAF7E0}"/>
              </a:ext>
            </a:extLst>
          </p:cNvPr>
          <p:cNvSpPr>
            <a:spLocks noGrp="1"/>
          </p:cNvSpPr>
          <p:nvPr>
            <p:ph type="title"/>
          </p:nvPr>
        </p:nvSpPr>
        <p:spPr/>
        <p:txBody>
          <a:bodyPr/>
          <a:lstStyle/>
          <a:p>
            <a:r>
              <a:rPr lang="en-US" dirty="0"/>
              <a:t>Ingress resource with TLS</a:t>
            </a:r>
          </a:p>
        </p:txBody>
      </p:sp>
      <p:sp>
        <p:nvSpPr>
          <p:cNvPr id="4" name="Speech Bubble: Rectangle 3">
            <a:extLst>
              <a:ext uri="{FF2B5EF4-FFF2-40B4-BE49-F238E27FC236}">
                <a16:creationId xmlns:a16="http://schemas.microsoft.com/office/drawing/2014/main" id="{91A799BB-963F-47BC-97A7-1EBE8A747FA9}"/>
              </a:ext>
            </a:extLst>
          </p:cNvPr>
          <p:cNvSpPr/>
          <p:nvPr/>
        </p:nvSpPr>
        <p:spPr bwMode="gray">
          <a:xfrm>
            <a:off x="6834494" y="1730281"/>
            <a:ext cx="4101737" cy="677425"/>
          </a:xfrm>
          <a:prstGeom prst="wedgeRectCallout">
            <a:avLst>
              <a:gd name="adj1" fmla="val -73263"/>
              <a:gd name="adj2" fmla="val 64322"/>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spec with rules &amp; managed hosts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8" name="Speech Bubble: Rectangle 7">
            <a:extLst>
              <a:ext uri="{FF2B5EF4-FFF2-40B4-BE49-F238E27FC236}">
                <a16:creationId xmlns:a16="http://schemas.microsoft.com/office/drawing/2014/main" id="{7FCF2D2A-DAC6-4BC8-86F5-EA7212382862}"/>
              </a:ext>
            </a:extLst>
          </p:cNvPr>
          <p:cNvSpPr/>
          <p:nvPr/>
        </p:nvSpPr>
        <p:spPr bwMode="gray">
          <a:xfrm>
            <a:off x="6767861" y="4929955"/>
            <a:ext cx="4101737" cy="677425"/>
          </a:xfrm>
          <a:prstGeom prst="wedgeRectCallout">
            <a:avLst>
              <a:gd name="adj1" fmla="val -70175"/>
              <a:gd name="adj2" fmla="val 54881"/>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support https with the certificates stored in the </a:t>
            </a:r>
            <a:r>
              <a:rPr lang="en-US" sz="1800" kern="0" dirty="0" err="1">
                <a:ea typeface="Arial Unicode MS" pitchFamily="34" charset="-128"/>
                <a:cs typeface="Arial Unicode MS" pitchFamily="34" charset="-128"/>
              </a:rPr>
              <a:t>tls</a:t>
            </a:r>
            <a:r>
              <a:rPr lang="en-US" sz="1800" kern="0" dirty="0">
                <a:ea typeface="Arial Unicode MS" pitchFamily="34" charset="-128"/>
                <a:cs typeface="Arial Unicode MS" pitchFamily="34" charset="-128"/>
              </a:rPr>
              <a:t> secret</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9" name="Speech Bubble: Rectangle 8">
            <a:extLst>
              <a:ext uri="{FF2B5EF4-FFF2-40B4-BE49-F238E27FC236}">
                <a16:creationId xmlns:a16="http://schemas.microsoft.com/office/drawing/2014/main" id="{A8ED7711-1E5D-4141-B4DD-1183A1F6AF37}"/>
              </a:ext>
            </a:extLst>
          </p:cNvPr>
          <p:cNvSpPr/>
          <p:nvPr/>
        </p:nvSpPr>
        <p:spPr bwMode="gray">
          <a:xfrm>
            <a:off x="6834494" y="3942081"/>
            <a:ext cx="4101737" cy="677425"/>
          </a:xfrm>
          <a:prstGeom prst="wedgeRectCallout">
            <a:avLst>
              <a:gd name="adj1" fmla="val -74587"/>
              <a:gd name="adj2" fmla="val 34920"/>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Traffic is forwarded to service </a:t>
            </a:r>
            <a:r>
              <a:rPr lang="en-US" sz="1800" b="1" kern="0" dirty="0">
                <a:ea typeface="Arial Unicode MS" pitchFamily="34" charset="-128"/>
                <a:cs typeface="Arial Unicode MS" pitchFamily="34" charset="-128"/>
              </a:rPr>
              <a:t>simple-</a:t>
            </a:r>
            <a:r>
              <a:rPr lang="en-US" sz="1800" b="1" kern="0" dirty="0" err="1">
                <a:ea typeface="Arial Unicode MS" pitchFamily="34" charset="-128"/>
                <a:cs typeface="Arial Unicode MS" pitchFamily="34" charset="-128"/>
              </a:rPr>
              <a:t>nginx</a:t>
            </a:r>
            <a:r>
              <a:rPr lang="en-US" sz="1800" b="1" kern="0" dirty="0">
                <a:ea typeface="Arial Unicode MS" pitchFamily="34" charset="-128"/>
                <a:cs typeface="Arial Unicode MS" pitchFamily="34" charset="-128"/>
              </a:rPr>
              <a:t>-service </a:t>
            </a:r>
            <a:r>
              <a:rPr lang="en-US" sz="1800" kern="0" dirty="0">
                <a:ea typeface="Arial Unicode MS" pitchFamily="34" charset="-128"/>
                <a:cs typeface="Arial Unicode MS" pitchFamily="34" charset="-128"/>
              </a:rPr>
              <a:t>on port 80</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4132245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F13419-2B50-487D-9A91-8EB6AB90360B}"/>
              </a:ext>
            </a:extLst>
          </p:cNvPr>
          <p:cNvSpPr>
            <a:spLocks noGrp="1"/>
          </p:cNvSpPr>
          <p:nvPr>
            <p:ph type="title"/>
          </p:nvPr>
        </p:nvSpPr>
        <p:spPr/>
        <p:txBody>
          <a:bodyPr/>
          <a:lstStyle/>
          <a:p>
            <a:r>
              <a:rPr lang="en-US" dirty="0"/>
              <a:t>Default Backend</a:t>
            </a:r>
          </a:p>
        </p:txBody>
      </p:sp>
      <p:pic>
        <p:nvPicPr>
          <p:cNvPr id="4" name="Picture 3">
            <a:extLst>
              <a:ext uri="{FF2B5EF4-FFF2-40B4-BE49-F238E27FC236}">
                <a16:creationId xmlns:a16="http://schemas.microsoft.com/office/drawing/2014/main" id="{30AF77B6-15E8-465D-8DDE-0B70C8DE1DBB}"/>
              </a:ext>
            </a:extLst>
          </p:cNvPr>
          <p:cNvPicPr>
            <a:picLocks noChangeAspect="1"/>
          </p:cNvPicPr>
          <p:nvPr/>
        </p:nvPicPr>
        <p:blipFill>
          <a:blip r:embed="rId3"/>
          <a:stretch>
            <a:fillRect/>
          </a:stretch>
        </p:blipFill>
        <p:spPr>
          <a:xfrm>
            <a:off x="504000" y="1143926"/>
            <a:ext cx="4074244" cy="1792222"/>
          </a:xfrm>
          <a:prstGeom prst="rect">
            <a:avLst/>
          </a:prstGeom>
          <a:ln>
            <a:solidFill>
              <a:schemeClr val="bg2"/>
            </a:solidFill>
          </a:ln>
        </p:spPr>
      </p:pic>
      <p:sp>
        <p:nvSpPr>
          <p:cNvPr id="5" name="Speech Bubble: Rectangle 4">
            <a:extLst>
              <a:ext uri="{FF2B5EF4-FFF2-40B4-BE49-F238E27FC236}">
                <a16:creationId xmlns:a16="http://schemas.microsoft.com/office/drawing/2014/main" id="{E5B940EF-67AD-47D1-8007-AFA0233841AD}"/>
              </a:ext>
            </a:extLst>
          </p:cNvPr>
          <p:cNvSpPr/>
          <p:nvPr/>
        </p:nvSpPr>
        <p:spPr bwMode="gray">
          <a:xfrm>
            <a:off x="5014083" y="4080072"/>
            <a:ext cx="6676394" cy="677425"/>
          </a:xfrm>
          <a:prstGeom prst="wedgeRectCallout">
            <a:avLst>
              <a:gd name="adj1" fmla="val -57431"/>
              <a:gd name="adj2" fmla="val -194496"/>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Specify a default backend for this ingress – result is similar to an ingress with only one rule</a:t>
            </a:r>
          </a:p>
        </p:txBody>
      </p:sp>
    </p:spTree>
    <p:extLst>
      <p:ext uri="{BB962C8B-B14F-4D97-AF65-F5344CB8AC3E}">
        <p14:creationId xmlns:p14="http://schemas.microsoft.com/office/powerpoint/2010/main" val="3959222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Demo</a:t>
            </a:r>
          </a:p>
        </p:txBody>
      </p:sp>
      <p:pic>
        <p:nvPicPr>
          <p:cNvPr id="5" name="Picture 4">
            <a:extLst>
              <a:ext uri="{FF2B5EF4-FFF2-40B4-BE49-F238E27FC236}">
                <a16:creationId xmlns:a16="http://schemas.microsoft.com/office/drawing/2014/main" id="{F768F002-8198-451C-9A6B-073D302E09B2}"/>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2946468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4DF03BB3-7969-41F8-BB01-B24EF0F775A1}"/>
              </a:ext>
            </a:extLst>
          </p:cNvPr>
          <p:cNvSpPr/>
          <p:nvPr/>
        </p:nvSpPr>
        <p:spPr bwMode="gray">
          <a:xfrm>
            <a:off x="5270643" y="1206858"/>
            <a:ext cx="6378813" cy="5093357"/>
          </a:xfrm>
          <a:prstGeom prst="round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Inside K8s</a:t>
            </a:r>
          </a:p>
        </p:txBody>
      </p:sp>
      <p:sp>
        <p:nvSpPr>
          <p:cNvPr id="2" name="Title 1">
            <a:extLst>
              <a:ext uri="{FF2B5EF4-FFF2-40B4-BE49-F238E27FC236}">
                <a16:creationId xmlns:a16="http://schemas.microsoft.com/office/drawing/2014/main" id="{5A81982A-92E0-45C7-BD26-824B847D1E7C}"/>
              </a:ext>
            </a:extLst>
          </p:cNvPr>
          <p:cNvSpPr>
            <a:spLocks noGrp="1"/>
          </p:cNvSpPr>
          <p:nvPr>
            <p:ph type="title"/>
          </p:nvPr>
        </p:nvSpPr>
        <p:spPr/>
        <p:txBody>
          <a:bodyPr/>
          <a:lstStyle/>
          <a:p>
            <a:r>
              <a:rPr lang="en-US" dirty="0"/>
              <a:t>Fanout</a:t>
            </a:r>
          </a:p>
        </p:txBody>
      </p:sp>
      <p:grpSp>
        <p:nvGrpSpPr>
          <p:cNvPr id="8" name="Group 7">
            <a:extLst>
              <a:ext uri="{FF2B5EF4-FFF2-40B4-BE49-F238E27FC236}">
                <a16:creationId xmlns:a16="http://schemas.microsoft.com/office/drawing/2014/main" id="{358CDFFD-2085-488C-BBB2-C4A1E71F2454}"/>
              </a:ext>
            </a:extLst>
          </p:cNvPr>
          <p:cNvGrpSpPr/>
          <p:nvPr/>
        </p:nvGrpSpPr>
        <p:grpSpPr>
          <a:xfrm>
            <a:off x="7772400" y="2171876"/>
            <a:ext cx="3573677" cy="1778068"/>
            <a:chOff x="7814563" y="2523339"/>
            <a:chExt cx="3266338" cy="1778068"/>
          </a:xfrm>
        </p:grpSpPr>
        <p:sp>
          <p:nvSpPr>
            <p:cNvPr id="3" name="Rectangle 2">
              <a:extLst>
                <a:ext uri="{FF2B5EF4-FFF2-40B4-BE49-F238E27FC236}">
                  <a16:creationId xmlns:a16="http://schemas.microsoft.com/office/drawing/2014/main" id="{B4457830-39F9-4350-B509-B924BFD1AFE9}"/>
                </a:ext>
              </a:extLst>
            </p:cNvPr>
            <p:cNvSpPr/>
            <p:nvPr/>
          </p:nvSpPr>
          <p:spPr bwMode="gray">
            <a:xfrm>
              <a:off x="7814563" y="3016033"/>
              <a:ext cx="1117498" cy="795956"/>
            </a:xfrm>
            <a:prstGeom prst="rect">
              <a:avLst/>
            </a:prstGeom>
            <a:solidFill>
              <a:schemeClr val="accent4">
                <a:lumMod val="60000"/>
                <a:lumOff val="40000"/>
              </a:schemeClr>
            </a:solidFill>
            <a:ln>
              <a:solidFill>
                <a:schemeClr val="accent4">
                  <a:lumMod val="60000"/>
                  <a:lumOff val="40000"/>
                </a:schemeClr>
              </a:solidFill>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dirty="0">
                  <a:ea typeface="Arial Unicode MS" pitchFamily="34" charset="-128"/>
                  <a:cs typeface="Arial Unicode MS" pitchFamily="34" charset="-128"/>
                </a:rPr>
                <a:t>Service</a:t>
              </a:r>
            </a:p>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Port </a:t>
              </a:r>
              <a:r>
                <a:rPr lang="de-DE" sz="1800" kern="0" dirty="0">
                  <a:ea typeface="Arial Unicode MS" pitchFamily="34" charset="-128"/>
                  <a:cs typeface="Arial Unicode MS" pitchFamily="34" charset="-128"/>
                </a:rPr>
                <a:t>8081</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 name="Rectangle 3">
              <a:extLst>
                <a:ext uri="{FF2B5EF4-FFF2-40B4-BE49-F238E27FC236}">
                  <a16:creationId xmlns:a16="http://schemas.microsoft.com/office/drawing/2014/main" id="{08D608E2-0C6A-4963-B4A7-7686ABF7E70E}"/>
                </a:ext>
              </a:extLst>
            </p:cNvPr>
            <p:cNvSpPr/>
            <p:nvPr/>
          </p:nvSpPr>
          <p:spPr bwMode="gray">
            <a:xfrm>
              <a:off x="9963403" y="2523339"/>
              <a:ext cx="1117498" cy="795956"/>
            </a:xfrm>
            <a:prstGeom prst="rect">
              <a:avLst/>
            </a:prstGeom>
            <a:solidFill>
              <a:schemeClr val="accent4">
                <a:lumMod val="60000"/>
                <a:lumOff val="40000"/>
              </a:schemeClr>
            </a:solidFill>
            <a:ln>
              <a:solidFill>
                <a:schemeClr val="accent4">
                  <a:lumMod val="60000"/>
                  <a:lumOff val="40000"/>
                </a:schemeClr>
              </a:solidFill>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b="1" kern="0" dirty="0" err="1">
                  <a:ea typeface="Arial Unicode MS" pitchFamily="34" charset="-128"/>
                  <a:cs typeface="Arial Unicode MS" pitchFamily="34" charset="-128"/>
                </a:rPr>
                <a:t>Pod</a:t>
              </a:r>
              <a:endParaRPr lang="de-DE" sz="1800" b="1" kern="0" dirty="0">
                <a:ea typeface="Arial Unicode MS" pitchFamily="34" charset="-128"/>
                <a:cs typeface="Arial Unicode MS" pitchFamily="34" charset="-128"/>
              </a:endParaRPr>
            </a:p>
            <a:p>
              <a:pPr algn="ctr" defTabSz="914400" fontAlgn="base">
                <a:spcBef>
                  <a:spcPct val="50000"/>
                </a:spcBef>
                <a:spcAft>
                  <a:spcPct val="0"/>
                </a:spcAft>
                <a:buClr>
                  <a:srgbClr val="F0AB00"/>
                </a:buClr>
                <a:buSzPct val="80000"/>
              </a:pPr>
              <a:r>
                <a:rPr lang="de-DE" sz="1800" kern="0" dirty="0">
                  <a:ea typeface="Arial Unicode MS" pitchFamily="34" charset="-128"/>
                  <a:cs typeface="Arial Unicode MS" pitchFamily="34" charset="-128"/>
                </a:rPr>
                <a:t>Port 80</a:t>
              </a:r>
            </a:p>
          </p:txBody>
        </p:sp>
        <p:sp>
          <p:nvSpPr>
            <p:cNvPr id="5" name="Rectangle 4">
              <a:extLst>
                <a:ext uri="{FF2B5EF4-FFF2-40B4-BE49-F238E27FC236}">
                  <a16:creationId xmlns:a16="http://schemas.microsoft.com/office/drawing/2014/main" id="{0D18E228-9082-4236-885A-0F4636E68086}"/>
                </a:ext>
              </a:extLst>
            </p:cNvPr>
            <p:cNvSpPr/>
            <p:nvPr/>
          </p:nvSpPr>
          <p:spPr bwMode="gray">
            <a:xfrm>
              <a:off x="9963403" y="3505451"/>
              <a:ext cx="1117498" cy="795956"/>
            </a:xfrm>
            <a:prstGeom prst="rect">
              <a:avLst/>
            </a:prstGeom>
            <a:solidFill>
              <a:schemeClr val="accent4">
                <a:lumMod val="60000"/>
                <a:lumOff val="40000"/>
              </a:schemeClr>
            </a:solidFill>
            <a:ln>
              <a:solidFill>
                <a:schemeClr val="accent4">
                  <a:lumMod val="60000"/>
                  <a:lumOff val="40000"/>
                </a:schemeClr>
              </a:solidFill>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b="1" kern="0" dirty="0" err="1">
                  <a:ea typeface="Arial Unicode MS" pitchFamily="34" charset="-128"/>
                  <a:cs typeface="Arial Unicode MS" pitchFamily="34" charset="-128"/>
                </a:rPr>
                <a:t>Pod</a:t>
              </a:r>
              <a:endParaRPr lang="de-DE" sz="1800" b="1" kern="0" dirty="0">
                <a:ea typeface="Arial Unicode MS" pitchFamily="34" charset="-128"/>
                <a:cs typeface="Arial Unicode MS" pitchFamily="34" charset="-128"/>
              </a:endParaRPr>
            </a:p>
            <a:p>
              <a:pPr algn="ctr" defTabSz="914400" fontAlgn="base">
                <a:spcBef>
                  <a:spcPct val="50000"/>
                </a:spcBef>
                <a:spcAft>
                  <a:spcPct val="0"/>
                </a:spcAft>
                <a:buClr>
                  <a:srgbClr val="F0AB00"/>
                </a:buClr>
                <a:buSzPct val="80000"/>
              </a:pPr>
              <a:r>
                <a:rPr lang="de-DE" sz="1800" kern="0" dirty="0">
                  <a:ea typeface="Arial Unicode MS" pitchFamily="34" charset="-128"/>
                  <a:cs typeface="Arial Unicode MS" pitchFamily="34" charset="-128"/>
                </a:rPr>
                <a:t>Port 80</a:t>
              </a:r>
            </a:p>
          </p:txBody>
        </p:sp>
        <p:cxnSp>
          <p:nvCxnSpPr>
            <p:cNvPr id="6" name="Connector: Elbow 5">
              <a:extLst>
                <a:ext uri="{FF2B5EF4-FFF2-40B4-BE49-F238E27FC236}">
                  <a16:creationId xmlns:a16="http://schemas.microsoft.com/office/drawing/2014/main" id="{B1B508C1-CE67-4683-8539-9ED63738D7AF}"/>
                </a:ext>
              </a:extLst>
            </p:cNvPr>
            <p:cNvCxnSpPr>
              <a:cxnSpLocks/>
              <a:stCxn id="3" idx="3"/>
              <a:endCxn id="4" idx="1"/>
            </p:cNvCxnSpPr>
            <p:nvPr/>
          </p:nvCxnSpPr>
          <p:spPr>
            <a:xfrm flipV="1">
              <a:off x="8932061" y="2921317"/>
              <a:ext cx="1031342" cy="492694"/>
            </a:xfrm>
            <a:prstGeom prst="bentConnector3">
              <a:avLst/>
            </a:prstGeom>
            <a:ln w="571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nector: Elbow 6">
              <a:extLst>
                <a:ext uri="{FF2B5EF4-FFF2-40B4-BE49-F238E27FC236}">
                  <a16:creationId xmlns:a16="http://schemas.microsoft.com/office/drawing/2014/main" id="{0B8E918E-7337-4DDD-A077-2D130786BAFE}"/>
                </a:ext>
              </a:extLst>
            </p:cNvPr>
            <p:cNvCxnSpPr>
              <a:cxnSpLocks/>
              <a:stCxn id="3" idx="3"/>
              <a:endCxn id="5" idx="1"/>
            </p:cNvCxnSpPr>
            <p:nvPr/>
          </p:nvCxnSpPr>
          <p:spPr>
            <a:xfrm>
              <a:off x="8932061" y="3414011"/>
              <a:ext cx="1031342" cy="489418"/>
            </a:xfrm>
            <a:prstGeom prst="bentConnector3">
              <a:avLst/>
            </a:prstGeom>
            <a:ln w="571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9" name="Rectangle 8">
            <a:extLst>
              <a:ext uri="{FF2B5EF4-FFF2-40B4-BE49-F238E27FC236}">
                <a16:creationId xmlns:a16="http://schemas.microsoft.com/office/drawing/2014/main" id="{099CA93B-821C-49D8-A92A-02926E93612E}"/>
              </a:ext>
            </a:extLst>
          </p:cNvPr>
          <p:cNvSpPr/>
          <p:nvPr/>
        </p:nvSpPr>
        <p:spPr bwMode="gray">
          <a:xfrm>
            <a:off x="3200128" y="2322576"/>
            <a:ext cx="4052013" cy="1982018"/>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dirty="0">
                <a:ea typeface="Arial Unicode MS" pitchFamily="34" charset="-128"/>
                <a:cs typeface="Arial Unicode MS" pitchFamily="34" charset="-128"/>
              </a:rPr>
              <a:t>Ingress</a:t>
            </a:r>
          </a:p>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hlinkClick r:id="rId3"/>
              </a:rPr>
              <a:t>https://koopa.ondemand.com/</a:t>
            </a:r>
            <a:r>
              <a:rPr lang="de-DE" sz="1800" b="1" kern="0" dirty="0">
                <a:ea typeface="Arial Unicode MS" pitchFamily="34" charset="-128"/>
                <a:cs typeface="Arial Unicode MS" pitchFamily="34" charset="-128"/>
                <a:hlinkClick r:id="rId3"/>
              </a:rPr>
              <a:t>green</a:t>
            </a:r>
            <a:r>
              <a:rPr lang="de-DE" sz="800" b="1" kern="0" dirty="0">
                <a:ea typeface="Arial Unicode MS" pitchFamily="34" charset="-128"/>
                <a:cs typeface="Arial Unicode MS" pitchFamily="34" charset="-128"/>
              </a:rPr>
              <a:t> </a:t>
            </a:r>
          </a:p>
          <a:p>
            <a:pPr algn="ctr" defTabSz="914400" fontAlgn="base">
              <a:spcBef>
                <a:spcPct val="50000"/>
              </a:spcBef>
              <a:spcAft>
                <a:spcPct val="0"/>
              </a:spcAft>
              <a:buClr>
                <a:srgbClr val="F0AB00"/>
              </a:buClr>
              <a:buSzPct val="80000"/>
            </a:pPr>
            <a:r>
              <a:rPr lang="de-DE" sz="1800" kern="0" dirty="0">
                <a:ea typeface="Arial Unicode MS" pitchFamily="34" charset="-128"/>
                <a:cs typeface="Arial Unicode MS" pitchFamily="34" charset="-128"/>
                <a:hlinkClick r:id="rId4"/>
              </a:rPr>
              <a:t>https://koopa.ondemand.com/</a:t>
            </a:r>
            <a:r>
              <a:rPr lang="de-DE" sz="1800" b="1" kern="0" dirty="0">
                <a:ea typeface="Arial Unicode MS" pitchFamily="34" charset="-128"/>
                <a:cs typeface="Arial Unicode MS" pitchFamily="34" charset="-128"/>
                <a:hlinkClick r:id="rId4"/>
              </a:rPr>
              <a:t>red</a:t>
            </a:r>
            <a:r>
              <a:rPr lang="de-DE" sz="1800" kern="0" dirty="0">
                <a:ea typeface="Arial Unicode MS" pitchFamily="34" charset="-128"/>
                <a:cs typeface="Arial Unicode MS" pitchFamily="34" charset="-128"/>
              </a:rPr>
              <a:t>  </a:t>
            </a:r>
          </a:p>
          <a:p>
            <a:pPr algn="ctr" defTabSz="914400" fontAlgn="base">
              <a:spcBef>
                <a:spcPct val="50000"/>
              </a:spcBef>
              <a:spcAft>
                <a:spcPct val="0"/>
              </a:spcAft>
              <a:buClr>
                <a:srgbClr val="F0AB00"/>
              </a:buClr>
              <a:buSzPct val="80000"/>
            </a:pPr>
            <a:r>
              <a:rPr lang="de-DE" sz="1800" kern="0" dirty="0">
                <a:ea typeface="Arial Unicode MS" pitchFamily="34" charset="-128"/>
                <a:cs typeface="Arial Unicode MS" pitchFamily="34" charset="-128"/>
              </a:rPr>
              <a:t>35.205.166.164</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2" name="Cloud 11">
            <a:extLst>
              <a:ext uri="{FF2B5EF4-FFF2-40B4-BE49-F238E27FC236}">
                <a16:creationId xmlns:a16="http://schemas.microsoft.com/office/drawing/2014/main" id="{1743D8BF-8F3B-443E-ABD5-8A254B403503}"/>
              </a:ext>
            </a:extLst>
          </p:cNvPr>
          <p:cNvSpPr/>
          <p:nvPr/>
        </p:nvSpPr>
        <p:spPr bwMode="gray">
          <a:xfrm>
            <a:off x="320690" y="2760382"/>
            <a:ext cx="2249770" cy="1106406"/>
          </a:xfrm>
          <a:prstGeom prst="cloud">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13" name="Graphic 12" descr="User">
            <a:extLst>
              <a:ext uri="{FF2B5EF4-FFF2-40B4-BE49-F238E27FC236}">
                <a16:creationId xmlns:a16="http://schemas.microsoft.com/office/drawing/2014/main" id="{59D580DD-E40F-4993-B360-B0AD4EB046D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6764" y="2787861"/>
            <a:ext cx="914400" cy="914400"/>
          </a:xfrm>
          <a:prstGeom prst="rect">
            <a:avLst/>
          </a:prstGeom>
        </p:spPr>
      </p:pic>
      <p:cxnSp>
        <p:nvCxnSpPr>
          <p:cNvPr id="33" name="Straight Connector 32">
            <a:extLst>
              <a:ext uri="{FF2B5EF4-FFF2-40B4-BE49-F238E27FC236}">
                <a16:creationId xmlns:a16="http://schemas.microsoft.com/office/drawing/2014/main" id="{93CFC0E6-4B2E-4A4A-8320-32CEDFC1F8AC}"/>
              </a:ext>
            </a:extLst>
          </p:cNvPr>
          <p:cNvCxnSpPr>
            <a:cxnSpLocks/>
          </p:cNvCxnSpPr>
          <p:nvPr/>
        </p:nvCxnSpPr>
        <p:spPr>
          <a:xfrm>
            <a:off x="1818290" y="3181110"/>
            <a:ext cx="1381838" cy="6351"/>
          </a:xfrm>
          <a:prstGeom prst="line">
            <a:avLst/>
          </a:prstGeom>
          <a:ln w="57150">
            <a:solidFill>
              <a:schemeClr val="accent4">
                <a:lumMod val="60000"/>
                <a:lumOff val="4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D9E39F9B-D558-4B40-B770-65B1E36C58AE}"/>
              </a:ext>
            </a:extLst>
          </p:cNvPr>
          <p:cNvGrpSpPr/>
          <p:nvPr/>
        </p:nvGrpSpPr>
        <p:grpSpPr>
          <a:xfrm>
            <a:off x="7772400" y="4304593"/>
            <a:ext cx="3573677" cy="1778068"/>
            <a:chOff x="7814563" y="2523339"/>
            <a:chExt cx="3266338" cy="1778068"/>
          </a:xfrm>
        </p:grpSpPr>
        <p:sp>
          <p:nvSpPr>
            <p:cNvPr id="46" name="Rectangle 45">
              <a:extLst>
                <a:ext uri="{FF2B5EF4-FFF2-40B4-BE49-F238E27FC236}">
                  <a16:creationId xmlns:a16="http://schemas.microsoft.com/office/drawing/2014/main" id="{CEEAF3AB-2B14-422E-BE74-A813BE5ADFF9}"/>
                </a:ext>
              </a:extLst>
            </p:cNvPr>
            <p:cNvSpPr/>
            <p:nvPr/>
          </p:nvSpPr>
          <p:spPr bwMode="gray">
            <a:xfrm>
              <a:off x="7814563" y="3016033"/>
              <a:ext cx="1117498" cy="795956"/>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dirty="0">
                  <a:ea typeface="Arial Unicode MS" pitchFamily="34" charset="-128"/>
                  <a:cs typeface="Arial Unicode MS" pitchFamily="34" charset="-128"/>
                </a:rPr>
                <a:t>Service</a:t>
              </a:r>
            </a:p>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Port </a:t>
              </a:r>
              <a:r>
                <a:rPr lang="de-DE" sz="1800" kern="0" dirty="0">
                  <a:ea typeface="Arial Unicode MS" pitchFamily="34" charset="-128"/>
                  <a:cs typeface="Arial Unicode MS" pitchFamily="34" charset="-128"/>
                </a:rPr>
                <a:t>8081</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7" name="Rectangle 46">
              <a:extLst>
                <a:ext uri="{FF2B5EF4-FFF2-40B4-BE49-F238E27FC236}">
                  <a16:creationId xmlns:a16="http://schemas.microsoft.com/office/drawing/2014/main" id="{4E86DE12-4246-4DA8-BEB6-AACA302A24EC}"/>
                </a:ext>
              </a:extLst>
            </p:cNvPr>
            <p:cNvSpPr/>
            <p:nvPr/>
          </p:nvSpPr>
          <p:spPr bwMode="gray">
            <a:xfrm>
              <a:off x="9963403" y="2523339"/>
              <a:ext cx="1117498" cy="795956"/>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b="1" kern="0" dirty="0" err="1">
                  <a:ea typeface="Arial Unicode MS" pitchFamily="34" charset="-128"/>
                  <a:cs typeface="Arial Unicode MS" pitchFamily="34" charset="-128"/>
                </a:rPr>
                <a:t>Pod</a:t>
              </a:r>
              <a:endParaRPr lang="de-DE" sz="1800" b="1" kern="0" dirty="0">
                <a:ea typeface="Arial Unicode MS" pitchFamily="34" charset="-128"/>
                <a:cs typeface="Arial Unicode MS" pitchFamily="34" charset="-128"/>
              </a:endParaRPr>
            </a:p>
            <a:p>
              <a:pPr algn="ctr" defTabSz="914400" fontAlgn="base">
                <a:spcBef>
                  <a:spcPct val="50000"/>
                </a:spcBef>
                <a:spcAft>
                  <a:spcPct val="0"/>
                </a:spcAft>
                <a:buClr>
                  <a:srgbClr val="F0AB00"/>
                </a:buClr>
                <a:buSzPct val="80000"/>
              </a:pPr>
              <a:r>
                <a:rPr lang="de-DE" sz="1800" kern="0" dirty="0">
                  <a:ea typeface="Arial Unicode MS" pitchFamily="34" charset="-128"/>
                  <a:cs typeface="Arial Unicode MS" pitchFamily="34" charset="-128"/>
                </a:rPr>
                <a:t>Port 80</a:t>
              </a:r>
            </a:p>
          </p:txBody>
        </p:sp>
        <p:sp>
          <p:nvSpPr>
            <p:cNvPr id="48" name="Rectangle 47">
              <a:extLst>
                <a:ext uri="{FF2B5EF4-FFF2-40B4-BE49-F238E27FC236}">
                  <a16:creationId xmlns:a16="http://schemas.microsoft.com/office/drawing/2014/main" id="{4122934F-5543-403B-8578-B738A0FA9A96}"/>
                </a:ext>
              </a:extLst>
            </p:cNvPr>
            <p:cNvSpPr/>
            <p:nvPr/>
          </p:nvSpPr>
          <p:spPr bwMode="gray">
            <a:xfrm>
              <a:off x="9963403" y="3505451"/>
              <a:ext cx="1117498" cy="795956"/>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b="1" kern="0" dirty="0" err="1">
                  <a:ea typeface="Arial Unicode MS" pitchFamily="34" charset="-128"/>
                  <a:cs typeface="Arial Unicode MS" pitchFamily="34" charset="-128"/>
                </a:rPr>
                <a:t>Pod</a:t>
              </a:r>
              <a:endParaRPr lang="de-DE" sz="1800" b="1" kern="0" dirty="0">
                <a:ea typeface="Arial Unicode MS" pitchFamily="34" charset="-128"/>
                <a:cs typeface="Arial Unicode MS" pitchFamily="34" charset="-128"/>
              </a:endParaRPr>
            </a:p>
            <a:p>
              <a:pPr algn="ctr" defTabSz="914400" fontAlgn="base">
                <a:spcBef>
                  <a:spcPct val="50000"/>
                </a:spcBef>
                <a:spcAft>
                  <a:spcPct val="0"/>
                </a:spcAft>
                <a:buClr>
                  <a:srgbClr val="F0AB00"/>
                </a:buClr>
                <a:buSzPct val="80000"/>
              </a:pPr>
              <a:r>
                <a:rPr lang="de-DE" sz="1800" kern="0" dirty="0">
                  <a:ea typeface="Arial Unicode MS" pitchFamily="34" charset="-128"/>
                  <a:cs typeface="Arial Unicode MS" pitchFamily="34" charset="-128"/>
                </a:rPr>
                <a:t>Port 80</a:t>
              </a:r>
            </a:p>
          </p:txBody>
        </p:sp>
        <p:cxnSp>
          <p:nvCxnSpPr>
            <p:cNvPr id="49" name="Connector: Elbow 48">
              <a:extLst>
                <a:ext uri="{FF2B5EF4-FFF2-40B4-BE49-F238E27FC236}">
                  <a16:creationId xmlns:a16="http://schemas.microsoft.com/office/drawing/2014/main" id="{B359FC99-1C4A-4619-A466-64CCFC7A7B3A}"/>
                </a:ext>
              </a:extLst>
            </p:cNvPr>
            <p:cNvCxnSpPr>
              <a:cxnSpLocks/>
              <a:stCxn id="46" idx="3"/>
              <a:endCxn id="47" idx="1"/>
            </p:cNvCxnSpPr>
            <p:nvPr/>
          </p:nvCxnSpPr>
          <p:spPr>
            <a:xfrm flipV="1">
              <a:off x="8932061" y="2921317"/>
              <a:ext cx="1031342" cy="492694"/>
            </a:xfrm>
            <a:prstGeom prst="bentConnector3">
              <a:avLst/>
            </a:prstGeom>
            <a:ln w="38100">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cxnSp>
        <p:cxnSp>
          <p:nvCxnSpPr>
            <p:cNvPr id="50" name="Connector: Elbow 49">
              <a:extLst>
                <a:ext uri="{FF2B5EF4-FFF2-40B4-BE49-F238E27FC236}">
                  <a16:creationId xmlns:a16="http://schemas.microsoft.com/office/drawing/2014/main" id="{E03C267F-AC82-4CAE-92DE-678DD4DF9F43}"/>
                </a:ext>
              </a:extLst>
            </p:cNvPr>
            <p:cNvCxnSpPr>
              <a:cxnSpLocks/>
              <a:stCxn id="46" idx="3"/>
              <a:endCxn id="48" idx="1"/>
            </p:cNvCxnSpPr>
            <p:nvPr/>
          </p:nvCxnSpPr>
          <p:spPr>
            <a:xfrm>
              <a:off x="8932061" y="3414011"/>
              <a:ext cx="1031342" cy="489418"/>
            </a:xfrm>
            <a:prstGeom prst="bentConnector3">
              <a:avLst/>
            </a:prstGeom>
            <a:ln w="38100">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cxnSp>
      </p:grpSp>
      <p:cxnSp>
        <p:nvCxnSpPr>
          <p:cNvPr id="56" name="Straight Connector 55">
            <a:extLst>
              <a:ext uri="{FF2B5EF4-FFF2-40B4-BE49-F238E27FC236}">
                <a16:creationId xmlns:a16="http://schemas.microsoft.com/office/drawing/2014/main" id="{0353F190-1BB4-4019-BD52-08E340747687}"/>
              </a:ext>
            </a:extLst>
          </p:cNvPr>
          <p:cNvCxnSpPr>
            <a:cxnSpLocks/>
          </p:cNvCxnSpPr>
          <p:nvPr/>
        </p:nvCxnSpPr>
        <p:spPr>
          <a:xfrm>
            <a:off x="1818290" y="3387160"/>
            <a:ext cx="1381838" cy="0"/>
          </a:xfrm>
          <a:prstGeom prst="line">
            <a:avLst/>
          </a:prstGeom>
          <a:ln w="57150">
            <a:solidFill>
              <a:schemeClr val="accent5"/>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1" name="Speech Bubble: Rectangle 60">
            <a:extLst>
              <a:ext uri="{FF2B5EF4-FFF2-40B4-BE49-F238E27FC236}">
                <a16:creationId xmlns:a16="http://schemas.microsoft.com/office/drawing/2014/main" id="{56360F17-096E-4C95-841B-4E6B27202A13}"/>
              </a:ext>
            </a:extLst>
          </p:cNvPr>
          <p:cNvSpPr/>
          <p:nvPr/>
        </p:nvSpPr>
        <p:spPr bwMode="gray">
          <a:xfrm>
            <a:off x="849098" y="5204116"/>
            <a:ext cx="3649701" cy="1014983"/>
          </a:xfrm>
          <a:prstGeom prst="wedgeRectCallout">
            <a:avLst>
              <a:gd name="adj1" fmla="val 26705"/>
              <a:gd name="adj2" fmla="val -16284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Users access different backends via different suffixes: </a:t>
            </a:r>
            <a:r>
              <a:rPr kumimoji="0" lang="en-US" sz="1800" b="1" i="0" u="sng" strike="noStrike" kern="0" cap="none" spc="0" normalizeH="0" baseline="0" noProof="0" dirty="0">
                <a:ln>
                  <a:noFill/>
                </a:ln>
                <a:solidFill>
                  <a:schemeClr val="accent3"/>
                </a:solidFill>
                <a:effectLst/>
                <a:uLnTx/>
                <a:uFillTx/>
                <a:ea typeface="Arial Unicode MS" pitchFamily="34" charset="-128"/>
                <a:cs typeface="Arial Unicode MS" pitchFamily="34" charset="-128"/>
              </a:rPr>
              <a:t>/green </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or </a:t>
            </a:r>
            <a:r>
              <a:rPr lang="en-US" sz="1800" b="1" u="sng" kern="0" dirty="0">
                <a:solidFill>
                  <a:schemeClr val="accent3"/>
                </a:solidFill>
                <a:ea typeface="Arial Unicode MS" pitchFamily="34" charset="-128"/>
              </a:rPr>
              <a:t>/red</a:t>
            </a:r>
          </a:p>
        </p:txBody>
      </p:sp>
      <p:cxnSp>
        <p:nvCxnSpPr>
          <p:cNvPr id="69" name="Connector: Elbow 68">
            <a:extLst>
              <a:ext uri="{FF2B5EF4-FFF2-40B4-BE49-F238E27FC236}">
                <a16:creationId xmlns:a16="http://schemas.microsoft.com/office/drawing/2014/main" id="{DE6C42AB-2708-4B3C-A9D4-CACA17320CE4}"/>
              </a:ext>
            </a:extLst>
          </p:cNvPr>
          <p:cNvCxnSpPr>
            <a:cxnSpLocks/>
            <a:stCxn id="3" idx="1"/>
          </p:cNvCxnSpPr>
          <p:nvPr/>
        </p:nvCxnSpPr>
        <p:spPr>
          <a:xfrm rot="10800000" flipV="1">
            <a:off x="7275708" y="3062547"/>
            <a:ext cx="496693" cy="244709"/>
          </a:xfrm>
          <a:prstGeom prst="bentConnector3">
            <a:avLst>
              <a:gd name="adj1" fmla="val 50000"/>
            </a:avLst>
          </a:prstGeom>
          <a:ln w="571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0F105FA0-FC20-48F8-8370-34E3EEB66099}"/>
              </a:ext>
            </a:extLst>
          </p:cNvPr>
          <p:cNvCxnSpPr>
            <a:cxnSpLocks/>
            <a:stCxn id="9" idx="3"/>
            <a:endCxn id="46" idx="1"/>
          </p:cNvCxnSpPr>
          <p:nvPr/>
        </p:nvCxnSpPr>
        <p:spPr>
          <a:xfrm>
            <a:off x="7252141" y="3313585"/>
            <a:ext cx="520259" cy="1881680"/>
          </a:xfrm>
          <a:prstGeom prst="bentConnector3">
            <a:avLst>
              <a:gd name="adj1" fmla="val 21717"/>
            </a:avLst>
          </a:prstGeom>
          <a:ln w="38100">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cxnSp>
      <p:pic>
        <p:nvPicPr>
          <p:cNvPr id="63" name="Picture 2" descr="https://vignette.wikia.nocookie.net/nintendo/images/8/83/KoopaNSMB.png/revision/latest?cb=20110724132501&amp;path-prefix=en">
            <a:extLst>
              <a:ext uri="{FF2B5EF4-FFF2-40B4-BE49-F238E27FC236}">
                <a16:creationId xmlns:a16="http://schemas.microsoft.com/office/drawing/2014/main" id="{146A0740-6CF7-4453-940E-E529058DAC5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01051" y="1908914"/>
            <a:ext cx="519950" cy="827324"/>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10" descr="Image result for nintendo koopa troopa">
            <a:extLst>
              <a:ext uri="{FF2B5EF4-FFF2-40B4-BE49-F238E27FC236}">
                <a16:creationId xmlns:a16="http://schemas.microsoft.com/office/drawing/2014/main" id="{B849C9E0-9AB3-481D-88A2-9845E445CE6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41385" y="3825518"/>
            <a:ext cx="647257" cy="826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7258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9CF8EB-5A73-4D1C-A62A-5CBB4238B215}"/>
              </a:ext>
            </a:extLst>
          </p:cNvPr>
          <p:cNvPicPr>
            <a:picLocks noChangeAspect="1"/>
          </p:cNvPicPr>
          <p:nvPr/>
        </p:nvPicPr>
        <p:blipFill>
          <a:blip r:embed="rId3"/>
          <a:stretch>
            <a:fillRect/>
          </a:stretch>
        </p:blipFill>
        <p:spPr>
          <a:xfrm>
            <a:off x="498818" y="1021235"/>
            <a:ext cx="6061373" cy="5443422"/>
          </a:xfrm>
          <a:prstGeom prst="rect">
            <a:avLst/>
          </a:prstGeom>
          <a:ln>
            <a:solidFill>
              <a:schemeClr val="bg2"/>
            </a:solidFill>
          </a:ln>
        </p:spPr>
      </p:pic>
      <p:sp>
        <p:nvSpPr>
          <p:cNvPr id="2" name="Title 1">
            <a:extLst>
              <a:ext uri="{FF2B5EF4-FFF2-40B4-BE49-F238E27FC236}">
                <a16:creationId xmlns:a16="http://schemas.microsoft.com/office/drawing/2014/main" id="{C4075F74-C4BE-475F-90D1-3AD64BAAF7E0}"/>
              </a:ext>
            </a:extLst>
          </p:cNvPr>
          <p:cNvSpPr>
            <a:spLocks noGrp="1"/>
          </p:cNvSpPr>
          <p:nvPr>
            <p:ph type="title"/>
          </p:nvPr>
        </p:nvSpPr>
        <p:spPr/>
        <p:txBody>
          <a:bodyPr/>
          <a:lstStyle/>
          <a:p>
            <a:r>
              <a:rPr lang="en-US" dirty="0"/>
              <a:t>Ingress resource with fanout</a:t>
            </a:r>
          </a:p>
        </p:txBody>
      </p:sp>
      <p:sp>
        <p:nvSpPr>
          <p:cNvPr id="4" name="Speech Bubble: Rectangle 3">
            <a:extLst>
              <a:ext uri="{FF2B5EF4-FFF2-40B4-BE49-F238E27FC236}">
                <a16:creationId xmlns:a16="http://schemas.microsoft.com/office/drawing/2014/main" id="{91A799BB-963F-47BC-97A7-1EBE8A747FA9}"/>
              </a:ext>
            </a:extLst>
          </p:cNvPr>
          <p:cNvSpPr/>
          <p:nvPr/>
        </p:nvSpPr>
        <p:spPr bwMode="gray">
          <a:xfrm>
            <a:off x="7184753" y="2312413"/>
            <a:ext cx="3678160" cy="677425"/>
          </a:xfrm>
          <a:prstGeom prst="wedgeRectCallout">
            <a:avLst>
              <a:gd name="adj1" fmla="val -84814"/>
              <a:gd name="adj2" fmla="val -1164"/>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spec with rules &amp; managed host</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Speech Bubble: Rectangle 5">
            <a:extLst>
              <a:ext uri="{FF2B5EF4-FFF2-40B4-BE49-F238E27FC236}">
                <a16:creationId xmlns:a16="http://schemas.microsoft.com/office/drawing/2014/main" id="{2A2CFC32-B275-495E-8ED6-11D7A98B67A4}"/>
              </a:ext>
            </a:extLst>
          </p:cNvPr>
          <p:cNvSpPr/>
          <p:nvPr/>
        </p:nvSpPr>
        <p:spPr bwMode="gray">
          <a:xfrm>
            <a:off x="7184753" y="3742946"/>
            <a:ext cx="4505724" cy="677425"/>
          </a:xfrm>
          <a:prstGeom prst="wedgeRectCallout">
            <a:avLst>
              <a:gd name="adj1" fmla="val -77899"/>
              <a:gd name="adj2" fmla="val 18944"/>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Traffic to /</a:t>
            </a:r>
            <a:r>
              <a:rPr lang="en-US" sz="1800" b="1" kern="0" dirty="0">
                <a:ea typeface="Arial Unicode MS" pitchFamily="34" charset="-128"/>
                <a:cs typeface="Arial Unicode MS" pitchFamily="34" charset="-128"/>
              </a:rPr>
              <a:t>my </a:t>
            </a:r>
            <a:r>
              <a:rPr lang="en-US" sz="1800" kern="0" dirty="0">
                <a:ea typeface="Arial Unicode MS" pitchFamily="34" charset="-128"/>
                <a:cs typeface="Arial Unicode MS" pitchFamily="34" charset="-128"/>
              </a:rPr>
              <a:t>is forwarded to service </a:t>
            </a:r>
            <a:r>
              <a:rPr lang="en-US" sz="1800" b="1" kern="0" dirty="0" err="1">
                <a:ea typeface="Arial Unicode MS" pitchFamily="34" charset="-128"/>
                <a:cs typeface="Arial Unicode MS" pitchFamily="34" charset="-128"/>
              </a:rPr>
              <a:t>mynginx</a:t>
            </a:r>
            <a:r>
              <a:rPr lang="en-US" sz="1800" b="1" kern="0" dirty="0">
                <a:ea typeface="Arial Unicode MS" pitchFamily="34" charset="-128"/>
                <a:cs typeface="Arial Unicode MS" pitchFamily="34" charset="-128"/>
              </a:rPr>
              <a:t>-service </a:t>
            </a:r>
            <a:r>
              <a:rPr lang="en-US" sz="1800" kern="0" dirty="0">
                <a:ea typeface="Arial Unicode MS" pitchFamily="34" charset="-128"/>
                <a:cs typeface="Arial Unicode MS" pitchFamily="34" charset="-128"/>
              </a:rPr>
              <a:t>on </a:t>
            </a:r>
            <a:r>
              <a:rPr lang="en-US" sz="1800" b="1" kern="0" dirty="0">
                <a:ea typeface="Arial Unicode MS" pitchFamily="34" charset="-128"/>
                <a:cs typeface="Arial Unicode MS" pitchFamily="34" charset="-128"/>
              </a:rPr>
              <a:t>named port http</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Speech Bubble: Rectangle 6">
            <a:extLst>
              <a:ext uri="{FF2B5EF4-FFF2-40B4-BE49-F238E27FC236}">
                <a16:creationId xmlns:a16="http://schemas.microsoft.com/office/drawing/2014/main" id="{D3252AD2-8613-4747-BF6B-F602CCDD2B12}"/>
              </a:ext>
            </a:extLst>
          </p:cNvPr>
          <p:cNvSpPr/>
          <p:nvPr/>
        </p:nvSpPr>
        <p:spPr bwMode="gray">
          <a:xfrm>
            <a:off x="7184753" y="5601602"/>
            <a:ext cx="4505724" cy="677425"/>
          </a:xfrm>
          <a:prstGeom prst="wedgeRectCallout">
            <a:avLst>
              <a:gd name="adj1" fmla="val -77051"/>
              <a:gd name="adj2" fmla="val 3127"/>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Traffic to /</a:t>
            </a:r>
            <a:r>
              <a:rPr lang="en-US" sz="1800" b="1" kern="0" dirty="0">
                <a:ea typeface="Arial Unicode MS" pitchFamily="34" charset="-128"/>
                <a:cs typeface="Arial Unicode MS" pitchFamily="34" charset="-128"/>
              </a:rPr>
              <a:t>your </a:t>
            </a:r>
            <a:r>
              <a:rPr lang="en-US" sz="1800" kern="0" dirty="0">
                <a:ea typeface="Arial Unicode MS" pitchFamily="34" charset="-128"/>
                <a:cs typeface="Arial Unicode MS" pitchFamily="34" charset="-128"/>
              </a:rPr>
              <a:t>is forwarded to service </a:t>
            </a:r>
            <a:r>
              <a:rPr lang="en-US" sz="1800" b="1" kern="0" dirty="0" err="1">
                <a:ea typeface="Arial Unicode MS" pitchFamily="34" charset="-128"/>
                <a:cs typeface="Arial Unicode MS" pitchFamily="34" charset="-128"/>
              </a:rPr>
              <a:t>yournginx</a:t>
            </a:r>
            <a:r>
              <a:rPr lang="en-US" sz="1800" b="1" kern="0" dirty="0">
                <a:ea typeface="Arial Unicode MS" pitchFamily="34" charset="-128"/>
                <a:cs typeface="Arial Unicode MS" pitchFamily="34" charset="-128"/>
              </a:rPr>
              <a:t>-service</a:t>
            </a:r>
            <a:r>
              <a:rPr lang="en-US" sz="1800" kern="0" dirty="0">
                <a:ea typeface="Arial Unicode MS" pitchFamily="34" charset="-128"/>
                <a:cs typeface="Arial Unicode MS" pitchFamily="34" charset="-128"/>
              </a:rPr>
              <a:t> on </a:t>
            </a:r>
            <a:r>
              <a:rPr lang="en-US" sz="1800" b="1" kern="0" dirty="0">
                <a:ea typeface="Arial Unicode MS" pitchFamily="34" charset="-128"/>
                <a:cs typeface="Arial Unicode MS" pitchFamily="34" charset="-128"/>
              </a:rPr>
              <a:t>named port http</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9" name="Speech Bubble: Rectangle 8">
            <a:extLst>
              <a:ext uri="{FF2B5EF4-FFF2-40B4-BE49-F238E27FC236}">
                <a16:creationId xmlns:a16="http://schemas.microsoft.com/office/drawing/2014/main" id="{7B87B546-ECB0-49D7-A71D-665AC122632A}"/>
              </a:ext>
            </a:extLst>
          </p:cNvPr>
          <p:cNvSpPr/>
          <p:nvPr/>
        </p:nvSpPr>
        <p:spPr bwMode="gray">
          <a:xfrm>
            <a:off x="7184753" y="1256398"/>
            <a:ext cx="4505724" cy="677425"/>
          </a:xfrm>
          <a:prstGeom prst="wedgeRectCallout">
            <a:avLst>
              <a:gd name="adj1" fmla="val -73263"/>
              <a:gd name="adj2" fmla="val 64322"/>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Annotation is required to route traffic to </a:t>
            </a:r>
            <a:r>
              <a:rPr lang="en-US" sz="1800" b="1" kern="0" dirty="0">
                <a:ea typeface="Arial Unicode MS" pitchFamily="34" charset="-128"/>
                <a:cs typeface="Arial Unicode MS" pitchFamily="34" charset="-128"/>
              </a:rPr>
              <a:t>/index.html </a:t>
            </a:r>
            <a:r>
              <a:rPr lang="en-US" sz="1800" kern="0" dirty="0">
                <a:ea typeface="Arial Unicode MS" pitchFamily="34" charset="-128"/>
                <a:cs typeface="Arial Unicode MS" pitchFamily="34" charset="-128"/>
              </a:rPr>
              <a:t>and not </a:t>
            </a:r>
            <a:r>
              <a:rPr lang="en-US" sz="1800" b="1" kern="0" dirty="0">
                <a:ea typeface="Arial Unicode MS" pitchFamily="34" charset="-128"/>
                <a:cs typeface="Arial Unicode MS" pitchFamily="34" charset="-128"/>
              </a:rPr>
              <a:t>/my/index.html</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073656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Demo</a:t>
            </a:r>
          </a:p>
        </p:txBody>
      </p:sp>
      <p:pic>
        <p:nvPicPr>
          <p:cNvPr id="5" name="Picture 4">
            <a:extLst>
              <a:ext uri="{FF2B5EF4-FFF2-40B4-BE49-F238E27FC236}">
                <a16:creationId xmlns:a16="http://schemas.microsoft.com/office/drawing/2014/main" id="{FBD4474D-4162-4FAE-8FB4-778255A25FE4}"/>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994324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4DF03BB3-7969-41F8-BB01-B24EF0F775A1}"/>
              </a:ext>
            </a:extLst>
          </p:cNvPr>
          <p:cNvSpPr/>
          <p:nvPr/>
        </p:nvSpPr>
        <p:spPr bwMode="gray">
          <a:xfrm>
            <a:off x="5301466" y="1206858"/>
            <a:ext cx="6347990" cy="5093357"/>
          </a:xfrm>
          <a:prstGeom prst="round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Inside K8s</a:t>
            </a:r>
          </a:p>
        </p:txBody>
      </p:sp>
      <p:sp>
        <p:nvSpPr>
          <p:cNvPr id="2" name="Title 1">
            <a:extLst>
              <a:ext uri="{FF2B5EF4-FFF2-40B4-BE49-F238E27FC236}">
                <a16:creationId xmlns:a16="http://schemas.microsoft.com/office/drawing/2014/main" id="{5A81982A-92E0-45C7-BD26-824B847D1E7C}"/>
              </a:ext>
            </a:extLst>
          </p:cNvPr>
          <p:cNvSpPr>
            <a:spLocks noGrp="1"/>
          </p:cNvSpPr>
          <p:nvPr>
            <p:ph type="title"/>
          </p:nvPr>
        </p:nvSpPr>
        <p:spPr/>
        <p:txBody>
          <a:bodyPr/>
          <a:lstStyle/>
          <a:p>
            <a:r>
              <a:rPr lang="en-US" dirty="0"/>
              <a:t>Name based virtual hosting</a:t>
            </a:r>
          </a:p>
        </p:txBody>
      </p:sp>
      <p:grpSp>
        <p:nvGrpSpPr>
          <p:cNvPr id="8" name="Group 7">
            <a:extLst>
              <a:ext uri="{FF2B5EF4-FFF2-40B4-BE49-F238E27FC236}">
                <a16:creationId xmlns:a16="http://schemas.microsoft.com/office/drawing/2014/main" id="{358CDFFD-2085-488C-BBB2-C4A1E71F2454}"/>
              </a:ext>
            </a:extLst>
          </p:cNvPr>
          <p:cNvGrpSpPr/>
          <p:nvPr/>
        </p:nvGrpSpPr>
        <p:grpSpPr>
          <a:xfrm>
            <a:off x="7772400" y="2035240"/>
            <a:ext cx="3573677" cy="1778068"/>
            <a:chOff x="7814563" y="2523339"/>
            <a:chExt cx="3266338" cy="1778068"/>
          </a:xfrm>
        </p:grpSpPr>
        <p:sp>
          <p:nvSpPr>
            <p:cNvPr id="3" name="Rectangle 2">
              <a:extLst>
                <a:ext uri="{FF2B5EF4-FFF2-40B4-BE49-F238E27FC236}">
                  <a16:creationId xmlns:a16="http://schemas.microsoft.com/office/drawing/2014/main" id="{B4457830-39F9-4350-B509-B924BFD1AFE9}"/>
                </a:ext>
              </a:extLst>
            </p:cNvPr>
            <p:cNvSpPr/>
            <p:nvPr/>
          </p:nvSpPr>
          <p:spPr bwMode="gray">
            <a:xfrm>
              <a:off x="7814563" y="3016033"/>
              <a:ext cx="1117498" cy="795956"/>
            </a:xfrm>
            <a:prstGeom prst="rect">
              <a:avLst/>
            </a:prstGeom>
            <a:solidFill>
              <a:schemeClr val="accent4">
                <a:lumMod val="60000"/>
                <a:lumOff val="40000"/>
              </a:schemeClr>
            </a:solidFill>
            <a:ln>
              <a:solidFill>
                <a:schemeClr val="accent4">
                  <a:lumMod val="60000"/>
                  <a:lumOff val="40000"/>
                </a:schemeClr>
              </a:solidFill>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dirty="0">
                  <a:ea typeface="Arial Unicode MS" pitchFamily="34" charset="-128"/>
                  <a:cs typeface="Arial Unicode MS" pitchFamily="34" charset="-128"/>
                </a:rPr>
                <a:t>Service</a:t>
              </a:r>
            </a:p>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Port </a:t>
              </a:r>
              <a:r>
                <a:rPr lang="de-DE" sz="1800" kern="0" dirty="0">
                  <a:ea typeface="Arial Unicode MS" pitchFamily="34" charset="-128"/>
                  <a:cs typeface="Arial Unicode MS" pitchFamily="34" charset="-128"/>
                </a:rPr>
                <a:t>8081</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 name="Rectangle 3">
              <a:extLst>
                <a:ext uri="{FF2B5EF4-FFF2-40B4-BE49-F238E27FC236}">
                  <a16:creationId xmlns:a16="http://schemas.microsoft.com/office/drawing/2014/main" id="{08D608E2-0C6A-4963-B4A7-7686ABF7E70E}"/>
                </a:ext>
              </a:extLst>
            </p:cNvPr>
            <p:cNvSpPr/>
            <p:nvPr/>
          </p:nvSpPr>
          <p:spPr bwMode="gray">
            <a:xfrm>
              <a:off x="9963403" y="2523339"/>
              <a:ext cx="1117498" cy="795956"/>
            </a:xfrm>
            <a:prstGeom prst="rect">
              <a:avLst/>
            </a:prstGeom>
            <a:solidFill>
              <a:schemeClr val="accent4">
                <a:lumMod val="60000"/>
                <a:lumOff val="40000"/>
              </a:schemeClr>
            </a:solidFill>
            <a:ln>
              <a:solidFill>
                <a:schemeClr val="accent4">
                  <a:lumMod val="60000"/>
                  <a:lumOff val="40000"/>
                </a:schemeClr>
              </a:solidFill>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b="1" kern="0" dirty="0" err="1">
                  <a:ea typeface="Arial Unicode MS" pitchFamily="34" charset="-128"/>
                  <a:cs typeface="Arial Unicode MS" pitchFamily="34" charset="-128"/>
                </a:rPr>
                <a:t>Pod</a:t>
              </a:r>
              <a:endParaRPr lang="de-DE" sz="1800" b="1" kern="0" dirty="0">
                <a:ea typeface="Arial Unicode MS" pitchFamily="34" charset="-128"/>
                <a:cs typeface="Arial Unicode MS" pitchFamily="34" charset="-128"/>
              </a:endParaRPr>
            </a:p>
            <a:p>
              <a:pPr algn="ctr" defTabSz="914400" fontAlgn="base">
                <a:spcBef>
                  <a:spcPct val="50000"/>
                </a:spcBef>
                <a:spcAft>
                  <a:spcPct val="0"/>
                </a:spcAft>
                <a:buClr>
                  <a:srgbClr val="F0AB00"/>
                </a:buClr>
                <a:buSzPct val="80000"/>
              </a:pPr>
              <a:r>
                <a:rPr lang="de-DE" sz="1800" kern="0" dirty="0">
                  <a:ea typeface="Arial Unicode MS" pitchFamily="34" charset="-128"/>
                  <a:cs typeface="Arial Unicode MS" pitchFamily="34" charset="-128"/>
                </a:rPr>
                <a:t>Port 80</a:t>
              </a:r>
            </a:p>
          </p:txBody>
        </p:sp>
        <p:sp>
          <p:nvSpPr>
            <p:cNvPr id="5" name="Rectangle 4">
              <a:extLst>
                <a:ext uri="{FF2B5EF4-FFF2-40B4-BE49-F238E27FC236}">
                  <a16:creationId xmlns:a16="http://schemas.microsoft.com/office/drawing/2014/main" id="{0D18E228-9082-4236-885A-0F4636E68086}"/>
                </a:ext>
              </a:extLst>
            </p:cNvPr>
            <p:cNvSpPr/>
            <p:nvPr/>
          </p:nvSpPr>
          <p:spPr bwMode="gray">
            <a:xfrm>
              <a:off x="9963403" y="3505451"/>
              <a:ext cx="1117498" cy="795956"/>
            </a:xfrm>
            <a:prstGeom prst="rect">
              <a:avLst/>
            </a:prstGeom>
            <a:solidFill>
              <a:schemeClr val="accent4">
                <a:lumMod val="60000"/>
                <a:lumOff val="40000"/>
              </a:schemeClr>
            </a:solidFill>
            <a:ln>
              <a:solidFill>
                <a:schemeClr val="accent4">
                  <a:lumMod val="60000"/>
                  <a:lumOff val="40000"/>
                </a:schemeClr>
              </a:solidFill>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b="1" kern="0" dirty="0" err="1">
                  <a:ea typeface="Arial Unicode MS" pitchFamily="34" charset="-128"/>
                  <a:cs typeface="Arial Unicode MS" pitchFamily="34" charset="-128"/>
                </a:rPr>
                <a:t>Pod</a:t>
              </a:r>
              <a:endParaRPr lang="de-DE" sz="1800" b="1" kern="0" dirty="0">
                <a:ea typeface="Arial Unicode MS" pitchFamily="34" charset="-128"/>
                <a:cs typeface="Arial Unicode MS" pitchFamily="34" charset="-128"/>
              </a:endParaRPr>
            </a:p>
            <a:p>
              <a:pPr algn="ctr" defTabSz="914400" fontAlgn="base">
                <a:spcBef>
                  <a:spcPct val="50000"/>
                </a:spcBef>
                <a:spcAft>
                  <a:spcPct val="0"/>
                </a:spcAft>
                <a:buClr>
                  <a:srgbClr val="F0AB00"/>
                </a:buClr>
                <a:buSzPct val="80000"/>
              </a:pPr>
              <a:r>
                <a:rPr lang="de-DE" sz="1800" kern="0" dirty="0">
                  <a:ea typeface="Arial Unicode MS" pitchFamily="34" charset="-128"/>
                  <a:cs typeface="Arial Unicode MS" pitchFamily="34" charset="-128"/>
                </a:rPr>
                <a:t>Port 80</a:t>
              </a:r>
            </a:p>
          </p:txBody>
        </p:sp>
        <p:cxnSp>
          <p:nvCxnSpPr>
            <p:cNvPr id="6" name="Connector: Elbow 5">
              <a:extLst>
                <a:ext uri="{FF2B5EF4-FFF2-40B4-BE49-F238E27FC236}">
                  <a16:creationId xmlns:a16="http://schemas.microsoft.com/office/drawing/2014/main" id="{B1B508C1-CE67-4683-8539-9ED63738D7AF}"/>
                </a:ext>
              </a:extLst>
            </p:cNvPr>
            <p:cNvCxnSpPr>
              <a:cxnSpLocks/>
              <a:stCxn id="3" idx="3"/>
              <a:endCxn id="4" idx="1"/>
            </p:cNvCxnSpPr>
            <p:nvPr/>
          </p:nvCxnSpPr>
          <p:spPr>
            <a:xfrm flipV="1">
              <a:off x="8932061" y="2921317"/>
              <a:ext cx="1031342" cy="492694"/>
            </a:xfrm>
            <a:prstGeom prst="bentConnector3">
              <a:avLst/>
            </a:prstGeom>
            <a:ln w="571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nector: Elbow 6">
              <a:extLst>
                <a:ext uri="{FF2B5EF4-FFF2-40B4-BE49-F238E27FC236}">
                  <a16:creationId xmlns:a16="http://schemas.microsoft.com/office/drawing/2014/main" id="{0B8E918E-7337-4DDD-A077-2D130786BAFE}"/>
                </a:ext>
              </a:extLst>
            </p:cNvPr>
            <p:cNvCxnSpPr>
              <a:cxnSpLocks/>
              <a:stCxn id="3" idx="3"/>
              <a:endCxn id="5" idx="1"/>
            </p:cNvCxnSpPr>
            <p:nvPr/>
          </p:nvCxnSpPr>
          <p:spPr>
            <a:xfrm>
              <a:off x="8932061" y="3414011"/>
              <a:ext cx="1031342" cy="489418"/>
            </a:xfrm>
            <a:prstGeom prst="bentConnector3">
              <a:avLst/>
            </a:prstGeom>
            <a:ln w="571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9" name="Rectangle 8">
            <a:extLst>
              <a:ext uri="{FF2B5EF4-FFF2-40B4-BE49-F238E27FC236}">
                <a16:creationId xmlns:a16="http://schemas.microsoft.com/office/drawing/2014/main" id="{099CA93B-821C-49D8-A92A-02926E93612E}"/>
              </a:ext>
            </a:extLst>
          </p:cNvPr>
          <p:cNvSpPr/>
          <p:nvPr/>
        </p:nvSpPr>
        <p:spPr bwMode="gray">
          <a:xfrm>
            <a:off x="3017662" y="2322576"/>
            <a:ext cx="4028467" cy="1982018"/>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dirty="0">
                <a:ea typeface="Arial Unicode MS" pitchFamily="34" charset="-128"/>
                <a:cs typeface="Arial Unicode MS" pitchFamily="34" charset="-128"/>
              </a:rPr>
              <a:t>Ingress</a:t>
            </a:r>
          </a:p>
          <a:p>
            <a:pPr algn="ctr" defTabSz="914400" fontAlgn="base">
              <a:spcBef>
                <a:spcPct val="50000"/>
              </a:spcBef>
              <a:spcAft>
                <a:spcPct val="0"/>
              </a:spcAft>
              <a:buClr>
                <a:srgbClr val="F0AB00"/>
              </a:buClr>
              <a:buSzPct val="80000"/>
            </a:pPr>
            <a:r>
              <a:rPr lang="de-DE" sz="1800" kern="0" dirty="0">
                <a:ea typeface="Arial Unicode MS" pitchFamily="34" charset="-128"/>
                <a:cs typeface="Arial Unicode MS" pitchFamily="34" charset="-128"/>
                <a:hlinkClick r:id="rId3"/>
              </a:rPr>
              <a:t>https://</a:t>
            </a:r>
            <a:r>
              <a:rPr lang="de-DE" sz="1800" b="1" kern="0" dirty="0">
                <a:ea typeface="Arial Unicode MS" pitchFamily="34" charset="-128"/>
                <a:cs typeface="Arial Unicode MS" pitchFamily="34" charset="-128"/>
                <a:hlinkClick r:id="rId3"/>
              </a:rPr>
              <a:t>green</a:t>
            </a:r>
            <a:r>
              <a:rPr lang="de-DE" sz="1800" kern="0" dirty="0">
                <a:ea typeface="Arial Unicode MS" pitchFamily="34" charset="-128"/>
                <a:cs typeface="Arial Unicode MS" pitchFamily="34" charset="-128"/>
                <a:hlinkClick r:id="rId3"/>
              </a:rPr>
              <a:t>.koopa</a:t>
            </a:r>
            <a:r>
              <a:rPr lang="de-DE" sz="1800" kern="0" dirty="0">
                <a:ea typeface="Arial Unicode MS" pitchFamily="34" charset="-128"/>
                <a:cs typeface="Arial Unicode MS" pitchFamily="34" charset="-128"/>
                <a:hlinkClick r:id="rId4"/>
              </a:rPr>
              <a:t>.ondemand</a:t>
            </a:r>
            <a:r>
              <a:rPr lang="de-DE" sz="1800" kern="0" dirty="0">
                <a:ea typeface="Arial Unicode MS" pitchFamily="34" charset="-128"/>
                <a:cs typeface="Arial Unicode MS" pitchFamily="34" charset="-128"/>
                <a:hlinkClick r:id="rId5"/>
              </a:rPr>
              <a:t>. </a:t>
            </a:r>
            <a:r>
              <a:rPr lang="de-DE" sz="1800" kern="0" dirty="0" err="1">
                <a:ea typeface="Arial Unicode MS" pitchFamily="34" charset="-128"/>
                <a:cs typeface="Arial Unicode MS" pitchFamily="34" charset="-128"/>
                <a:hlinkClick r:id="rId5"/>
              </a:rPr>
              <a:t>com</a:t>
            </a:r>
            <a:endParaRPr lang="de-DE" sz="1800" kern="0" dirty="0">
              <a:ea typeface="Arial Unicode MS" pitchFamily="34" charset="-128"/>
              <a:cs typeface="Arial Unicode MS" pitchFamily="34" charset="-128"/>
            </a:endParaRPr>
          </a:p>
          <a:p>
            <a:pPr marR="0" algn="ctr" defTabSz="914400" eaLnBrk="1" fontAlgn="base" latinLnBrk="0" hangingPunct="1">
              <a:lnSpc>
                <a:spcPct val="100000"/>
              </a:lnSpc>
              <a:spcBef>
                <a:spcPct val="50000"/>
              </a:spcBef>
              <a:spcAft>
                <a:spcPct val="0"/>
              </a:spcAft>
              <a:buClr>
                <a:srgbClr val="F0AB00"/>
              </a:buClr>
              <a:buSzPct val="80000"/>
              <a:tabLst/>
            </a:pPr>
            <a:r>
              <a:rPr lang="de-DE" sz="600" kern="0" dirty="0">
                <a:ea typeface="Arial Unicode MS" pitchFamily="34" charset="-128"/>
                <a:cs typeface="Arial Unicode MS" pitchFamily="34" charset="-128"/>
              </a:rPr>
              <a:t> </a:t>
            </a:r>
            <a:endParaRPr lang="de-DE" sz="100" kern="0" dirty="0">
              <a:ea typeface="Arial Unicode MS" pitchFamily="34" charset="-128"/>
              <a:cs typeface="Arial Unicode MS" pitchFamily="34" charset="-128"/>
            </a:endParaRPr>
          </a:p>
          <a:p>
            <a:pPr algn="ctr" defTabSz="914400" fontAlgn="base">
              <a:spcBef>
                <a:spcPct val="50000"/>
              </a:spcBef>
              <a:spcAft>
                <a:spcPct val="0"/>
              </a:spcAft>
              <a:buClr>
                <a:srgbClr val="F0AB00"/>
              </a:buClr>
              <a:buSzPct val="80000"/>
            </a:pPr>
            <a:r>
              <a:rPr lang="de-DE" sz="1800" kern="0" dirty="0">
                <a:ea typeface="Arial Unicode MS" pitchFamily="34" charset="-128"/>
                <a:cs typeface="Arial Unicode MS" pitchFamily="34" charset="-128"/>
                <a:hlinkClick r:id="rId6"/>
              </a:rPr>
              <a:t>https://</a:t>
            </a:r>
            <a:r>
              <a:rPr lang="de-DE" sz="1800" b="1" kern="0" dirty="0">
                <a:ea typeface="Arial Unicode MS" pitchFamily="34" charset="-128"/>
                <a:cs typeface="Arial Unicode MS" pitchFamily="34" charset="-128"/>
                <a:hlinkClick r:id="rId6"/>
              </a:rPr>
              <a:t>red</a:t>
            </a:r>
            <a:r>
              <a:rPr lang="de-DE" sz="1800" kern="0" dirty="0">
                <a:ea typeface="Arial Unicode MS" pitchFamily="34" charset="-128"/>
                <a:cs typeface="Arial Unicode MS" pitchFamily="34" charset="-128"/>
                <a:hlinkClick r:id="rId6"/>
              </a:rPr>
              <a:t>.koopa</a:t>
            </a:r>
            <a:r>
              <a:rPr lang="de-DE" sz="1800" kern="0" dirty="0">
                <a:ea typeface="Arial Unicode MS" pitchFamily="34" charset="-128"/>
                <a:cs typeface="Arial Unicode MS" pitchFamily="34" charset="-128"/>
                <a:hlinkClick r:id="rId4"/>
              </a:rPr>
              <a:t>.ondemand</a:t>
            </a:r>
            <a:r>
              <a:rPr lang="de-DE" sz="1800" kern="0" dirty="0">
                <a:ea typeface="Arial Unicode MS" pitchFamily="34" charset="-128"/>
                <a:cs typeface="Arial Unicode MS" pitchFamily="34" charset="-128"/>
                <a:hlinkClick r:id="rId7"/>
              </a:rPr>
              <a:t>.com/</a:t>
            </a:r>
            <a:r>
              <a:rPr lang="de-DE" sz="1800" kern="0" dirty="0">
                <a:ea typeface="Arial Unicode MS" pitchFamily="34" charset="-128"/>
                <a:cs typeface="Arial Unicode MS" pitchFamily="34" charset="-128"/>
              </a:rPr>
              <a:t>   </a:t>
            </a:r>
          </a:p>
          <a:p>
            <a:pPr algn="ctr" defTabSz="914400" fontAlgn="base">
              <a:spcBef>
                <a:spcPct val="50000"/>
              </a:spcBef>
              <a:spcAft>
                <a:spcPct val="0"/>
              </a:spcAft>
              <a:buClr>
                <a:srgbClr val="F0AB00"/>
              </a:buClr>
              <a:buSzPct val="80000"/>
            </a:pPr>
            <a:r>
              <a:rPr lang="de-DE" sz="1800" kern="0" dirty="0">
                <a:ea typeface="Arial Unicode MS" pitchFamily="34" charset="-128"/>
                <a:cs typeface="Arial Unicode MS" pitchFamily="34" charset="-128"/>
              </a:rPr>
              <a:t>35.205.166.164</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nvGrpSpPr>
          <p:cNvPr id="11" name="Group 10">
            <a:extLst>
              <a:ext uri="{FF2B5EF4-FFF2-40B4-BE49-F238E27FC236}">
                <a16:creationId xmlns:a16="http://schemas.microsoft.com/office/drawing/2014/main" id="{F95913DA-CA66-4D4B-9DE6-B4301A7131DB}"/>
              </a:ext>
            </a:extLst>
          </p:cNvPr>
          <p:cNvGrpSpPr/>
          <p:nvPr/>
        </p:nvGrpSpPr>
        <p:grpSpPr>
          <a:xfrm>
            <a:off x="320690" y="2760382"/>
            <a:ext cx="2249770" cy="1106406"/>
            <a:chOff x="1122252" y="3219863"/>
            <a:chExt cx="2249770" cy="1106406"/>
          </a:xfrm>
        </p:grpSpPr>
        <p:sp>
          <p:nvSpPr>
            <p:cNvPr id="12" name="Cloud 11">
              <a:extLst>
                <a:ext uri="{FF2B5EF4-FFF2-40B4-BE49-F238E27FC236}">
                  <a16:creationId xmlns:a16="http://schemas.microsoft.com/office/drawing/2014/main" id="{1743D8BF-8F3B-443E-ABD5-8A254B403503}"/>
                </a:ext>
              </a:extLst>
            </p:cNvPr>
            <p:cNvSpPr/>
            <p:nvPr/>
          </p:nvSpPr>
          <p:spPr bwMode="gray">
            <a:xfrm>
              <a:off x="1122252" y="3219863"/>
              <a:ext cx="2249770" cy="1106406"/>
            </a:xfrm>
            <a:prstGeom prst="cloud">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13" name="Graphic 12" descr="User">
              <a:extLst>
                <a:ext uri="{FF2B5EF4-FFF2-40B4-BE49-F238E27FC236}">
                  <a16:creationId xmlns:a16="http://schemas.microsoft.com/office/drawing/2014/main" id="{59D580DD-E40F-4993-B360-B0AD4EB046D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789937" y="3335277"/>
              <a:ext cx="914400" cy="914400"/>
            </a:xfrm>
            <a:prstGeom prst="rect">
              <a:avLst/>
            </a:prstGeom>
          </p:spPr>
        </p:pic>
      </p:grpSp>
      <p:grpSp>
        <p:nvGrpSpPr>
          <p:cNvPr id="45" name="Group 44">
            <a:extLst>
              <a:ext uri="{FF2B5EF4-FFF2-40B4-BE49-F238E27FC236}">
                <a16:creationId xmlns:a16="http://schemas.microsoft.com/office/drawing/2014/main" id="{D9E39F9B-D558-4B40-B770-65B1E36C58AE}"/>
              </a:ext>
            </a:extLst>
          </p:cNvPr>
          <p:cNvGrpSpPr/>
          <p:nvPr/>
        </p:nvGrpSpPr>
        <p:grpSpPr>
          <a:xfrm>
            <a:off x="7772400" y="4304593"/>
            <a:ext cx="3573677" cy="1778068"/>
            <a:chOff x="7814563" y="2523339"/>
            <a:chExt cx="3266338" cy="1778068"/>
          </a:xfrm>
        </p:grpSpPr>
        <p:sp>
          <p:nvSpPr>
            <p:cNvPr id="46" name="Rectangle 45">
              <a:extLst>
                <a:ext uri="{FF2B5EF4-FFF2-40B4-BE49-F238E27FC236}">
                  <a16:creationId xmlns:a16="http://schemas.microsoft.com/office/drawing/2014/main" id="{CEEAF3AB-2B14-422E-BE74-A813BE5ADFF9}"/>
                </a:ext>
              </a:extLst>
            </p:cNvPr>
            <p:cNvSpPr/>
            <p:nvPr/>
          </p:nvSpPr>
          <p:spPr bwMode="gray">
            <a:xfrm>
              <a:off x="7814563" y="3016033"/>
              <a:ext cx="1117498" cy="795956"/>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dirty="0">
                  <a:ea typeface="Arial Unicode MS" pitchFamily="34" charset="-128"/>
                  <a:cs typeface="Arial Unicode MS" pitchFamily="34" charset="-128"/>
                </a:rPr>
                <a:t>Service</a:t>
              </a:r>
            </a:p>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Port </a:t>
              </a:r>
              <a:r>
                <a:rPr lang="de-DE" sz="1800" kern="0" dirty="0">
                  <a:ea typeface="Arial Unicode MS" pitchFamily="34" charset="-128"/>
                  <a:cs typeface="Arial Unicode MS" pitchFamily="34" charset="-128"/>
                </a:rPr>
                <a:t>8081</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7" name="Rectangle 46">
              <a:extLst>
                <a:ext uri="{FF2B5EF4-FFF2-40B4-BE49-F238E27FC236}">
                  <a16:creationId xmlns:a16="http://schemas.microsoft.com/office/drawing/2014/main" id="{4E86DE12-4246-4DA8-BEB6-AACA302A24EC}"/>
                </a:ext>
              </a:extLst>
            </p:cNvPr>
            <p:cNvSpPr/>
            <p:nvPr/>
          </p:nvSpPr>
          <p:spPr bwMode="gray">
            <a:xfrm>
              <a:off x="9963403" y="2523339"/>
              <a:ext cx="1117498" cy="795956"/>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b="1" kern="0" dirty="0" err="1">
                  <a:ea typeface="Arial Unicode MS" pitchFamily="34" charset="-128"/>
                  <a:cs typeface="Arial Unicode MS" pitchFamily="34" charset="-128"/>
                </a:rPr>
                <a:t>Pod</a:t>
              </a:r>
              <a:endParaRPr lang="de-DE" sz="1800" b="1" kern="0" dirty="0">
                <a:ea typeface="Arial Unicode MS" pitchFamily="34" charset="-128"/>
                <a:cs typeface="Arial Unicode MS" pitchFamily="34" charset="-128"/>
              </a:endParaRPr>
            </a:p>
            <a:p>
              <a:pPr algn="ctr" defTabSz="914400" fontAlgn="base">
                <a:spcBef>
                  <a:spcPct val="50000"/>
                </a:spcBef>
                <a:spcAft>
                  <a:spcPct val="0"/>
                </a:spcAft>
                <a:buClr>
                  <a:srgbClr val="F0AB00"/>
                </a:buClr>
                <a:buSzPct val="80000"/>
              </a:pPr>
              <a:r>
                <a:rPr lang="de-DE" sz="1800" kern="0" dirty="0">
                  <a:ea typeface="Arial Unicode MS" pitchFamily="34" charset="-128"/>
                  <a:cs typeface="Arial Unicode MS" pitchFamily="34" charset="-128"/>
                </a:rPr>
                <a:t>Port 80</a:t>
              </a:r>
            </a:p>
          </p:txBody>
        </p:sp>
        <p:sp>
          <p:nvSpPr>
            <p:cNvPr id="48" name="Rectangle 47">
              <a:extLst>
                <a:ext uri="{FF2B5EF4-FFF2-40B4-BE49-F238E27FC236}">
                  <a16:creationId xmlns:a16="http://schemas.microsoft.com/office/drawing/2014/main" id="{4122934F-5543-403B-8578-B738A0FA9A96}"/>
                </a:ext>
              </a:extLst>
            </p:cNvPr>
            <p:cNvSpPr/>
            <p:nvPr/>
          </p:nvSpPr>
          <p:spPr bwMode="gray">
            <a:xfrm>
              <a:off x="9963403" y="3505451"/>
              <a:ext cx="1117498" cy="795956"/>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b="1" kern="0" dirty="0" err="1">
                  <a:ea typeface="Arial Unicode MS" pitchFamily="34" charset="-128"/>
                  <a:cs typeface="Arial Unicode MS" pitchFamily="34" charset="-128"/>
                </a:rPr>
                <a:t>Pod</a:t>
              </a:r>
              <a:endParaRPr lang="de-DE" sz="1800" b="1" kern="0" dirty="0">
                <a:ea typeface="Arial Unicode MS" pitchFamily="34" charset="-128"/>
                <a:cs typeface="Arial Unicode MS" pitchFamily="34" charset="-128"/>
              </a:endParaRPr>
            </a:p>
            <a:p>
              <a:pPr algn="ctr" defTabSz="914400" fontAlgn="base">
                <a:spcBef>
                  <a:spcPct val="50000"/>
                </a:spcBef>
                <a:spcAft>
                  <a:spcPct val="0"/>
                </a:spcAft>
                <a:buClr>
                  <a:srgbClr val="F0AB00"/>
                </a:buClr>
                <a:buSzPct val="80000"/>
              </a:pPr>
              <a:r>
                <a:rPr lang="de-DE" sz="1800" kern="0" dirty="0">
                  <a:ea typeface="Arial Unicode MS" pitchFamily="34" charset="-128"/>
                  <a:cs typeface="Arial Unicode MS" pitchFamily="34" charset="-128"/>
                </a:rPr>
                <a:t>Port 80</a:t>
              </a:r>
            </a:p>
          </p:txBody>
        </p:sp>
        <p:cxnSp>
          <p:nvCxnSpPr>
            <p:cNvPr id="49" name="Connector: Elbow 48">
              <a:extLst>
                <a:ext uri="{FF2B5EF4-FFF2-40B4-BE49-F238E27FC236}">
                  <a16:creationId xmlns:a16="http://schemas.microsoft.com/office/drawing/2014/main" id="{B359FC99-1C4A-4619-A466-64CCFC7A7B3A}"/>
                </a:ext>
              </a:extLst>
            </p:cNvPr>
            <p:cNvCxnSpPr>
              <a:cxnSpLocks/>
              <a:stCxn id="46" idx="3"/>
              <a:endCxn id="47" idx="1"/>
            </p:cNvCxnSpPr>
            <p:nvPr/>
          </p:nvCxnSpPr>
          <p:spPr>
            <a:xfrm flipV="1">
              <a:off x="8932061" y="2921317"/>
              <a:ext cx="1031342" cy="492694"/>
            </a:xfrm>
            <a:prstGeom prst="bentConnector3">
              <a:avLst/>
            </a:prstGeom>
            <a:ln w="57150">
              <a:solidFill>
                <a:schemeClr val="accent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E03C267F-AC82-4CAE-92DE-678DD4DF9F43}"/>
                </a:ext>
              </a:extLst>
            </p:cNvPr>
            <p:cNvCxnSpPr>
              <a:cxnSpLocks/>
              <a:stCxn id="46" idx="3"/>
              <a:endCxn id="48" idx="1"/>
            </p:cNvCxnSpPr>
            <p:nvPr/>
          </p:nvCxnSpPr>
          <p:spPr>
            <a:xfrm>
              <a:off x="8932061" y="3414011"/>
              <a:ext cx="1031342" cy="489418"/>
            </a:xfrm>
            <a:prstGeom prst="bentConnector3">
              <a:avLst/>
            </a:prstGeom>
            <a:ln w="57150">
              <a:solidFill>
                <a:schemeClr val="accent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7" name="Speech Bubble: Rectangle 26">
            <a:extLst>
              <a:ext uri="{FF2B5EF4-FFF2-40B4-BE49-F238E27FC236}">
                <a16:creationId xmlns:a16="http://schemas.microsoft.com/office/drawing/2014/main" id="{0F236CB7-CA6B-4794-9712-59C6B683A49E}"/>
              </a:ext>
            </a:extLst>
          </p:cNvPr>
          <p:cNvSpPr/>
          <p:nvPr/>
        </p:nvSpPr>
        <p:spPr bwMode="gray">
          <a:xfrm>
            <a:off x="1311434" y="4905624"/>
            <a:ext cx="3158101" cy="1029376"/>
          </a:xfrm>
          <a:prstGeom prst="wedgeRectCallout">
            <a:avLst>
              <a:gd name="adj1" fmla="val 28485"/>
              <a:gd name="adj2" fmla="val -127060"/>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Users access different backends via different URLs</a:t>
            </a:r>
            <a:endParaRPr lang="de-DE" sz="1800" kern="0" dirty="0">
              <a:ea typeface="Arial Unicode MS" pitchFamily="34" charset="-128"/>
              <a:cs typeface="Arial Unicode MS" pitchFamily="34" charset="-128"/>
            </a:endParaRPr>
          </a:p>
        </p:txBody>
      </p:sp>
      <p:cxnSp>
        <p:nvCxnSpPr>
          <p:cNvPr id="31" name="Connector: Elbow 30">
            <a:extLst>
              <a:ext uri="{FF2B5EF4-FFF2-40B4-BE49-F238E27FC236}">
                <a16:creationId xmlns:a16="http://schemas.microsoft.com/office/drawing/2014/main" id="{2739D898-ED70-45A5-9A26-67B71EB89EDC}"/>
              </a:ext>
            </a:extLst>
          </p:cNvPr>
          <p:cNvCxnSpPr>
            <a:cxnSpLocks/>
            <a:stCxn id="3" idx="1"/>
            <a:endCxn id="9" idx="3"/>
          </p:cNvCxnSpPr>
          <p:nvPr/>
        </p:nvCxnSpPr>
        <p:spPr>
          <a:xfrm rot="10800000" flipV="1">
            <a:off x="7046130" y="2925911"/>
            <a:ext cx="726271" cy="387673"/>
          </a:xfrm>
          <a:prstGeom prst="bentConnector3">
            <a:avLst>
              <a:gd name="adj1" fmla="val 50000"/>
            </a:avLst>
          </a:prstGeom>
          <a:ln w="571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5833B92F-ADAE-4A4E-A047-675855703C65}"/>
              </a:ext>
            </a:extLst>
          </p:cNvPr>
          <p:cNvCxnSpPr>
            <a:cxnSpLocks/>
            <a:stCxn id="9" idx="3"/>
            <a:endCxn id="46" idx="1"/>
          </p:cNvCxnSpPr>
          <p:nvPr/>
        </p:nvCxnSpPr>
        <p:spPr>
          <a:xfrm>
            <a:off x="7046129" y="3313585"/>
            <a:ext cx="726271" cy="1881680"/>
          </a:xfrm>
          <a:prstGeom prst="bentConnector3">
            <a:avLst>
              <a:gd name="adj1" fmla="val 31187"/>
            </a:avLst>
          </a:prstGeom>
          <a:ln w="57150">
            <a:solidFill>
              <a:schemeClr val="accent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E9DFA2F-7A4A-4782-A513-725870D0DBDD}"/>
              </a:ext>
            </a:extLst>
          </p:cNvPr>
          <p:cNvCxnSpPr>
            <a:cxnSpLocks/>
          </p:cNvCxnSpPr>
          <p:nvPr/>
        </p:nvCxnSpPr>
        <p:spPr>
          <a:xfrm>
            <a:off x="1818290" y="3181110"/>
            <a:ext cx="1381838" cy="6351"/>
          </a:xfrm>
          <a:prstGeom prst="line">
            <a:avLst/>
          </a:prstGeom>
          <a:ln w="57150">
            <a:solidFill>
              <a:schemeClr val="accent4">
                <a:lumMod val="60000"/>
                <a:lumOff val="4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987A769-5BC6-4117-AA69-3AA10279F8EE}"/>
              </a:ext>
            </a:extLst>
          </p:cNvPr>
          <p:cNvCxnSpPr>
            <a:cxnSpLocks/>
          </p:cNvCxnSpPr>
          <p:nvPr/>
        </p:nvCxnSpPr>
        <p:spPr>
          <a:xfrm>
            <a:off x="1818290" y="3387160"/>
            <a:ext cx="1381838" cy="0"/>
          </a:xfrm>
          <a:prstGeom prst="line">
            <a:avLst/>
          </a:prstGeom>
          <a:ln w="57150">
            <a:solidFill>
              <a:schemeClr val="accent5"/>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9" name="Picture 2" descr="https://vignette.wikia.nocookie.net/nintendo/images/8/83/KoopaNSMB.png/revision/latest?cb=20110724132501&amp;path-prefix=en">
            <a:extLst>
              <a:ext uri="{FF2B5EF4-FFF2-40B4-BE49-F238E27FC236}">
                <a16:creationId xmlns:a16="http://schemas.microsoft.com/office/drawing/2014/main" id="{B93ACE34-1BD3-4E5E-9128-8FFAA75BD94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41660" y="1908914"/>
            <a:ext cx="519950" cy="827324"/>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Image result for nintendo koopa troopa">
            <a:extLst>
              <a:ext uri="{FF2B5EF4-FFF2-40B4-BE49-F238E27FC236}">
                <a16:creationId xmlns:a16="http://schemas.microsoft.com/office/drawing/2014/main" id="{D64EE48D-C506-49B6-B5E5-9A4CCEEABC4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81994" y="3825518"/>
            <a:ext cx="647257" cy="826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4828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75F74-C4BE-475F-90D1-3AD64BAAF7E0}"/>
              </a:ext>
            </a:extLst>
          </p:cNvPr>
          <p:cNvSpPr>
            <a:spLocks noGrp="1"/>
          </p:cNvSpPr>
          <p:nvPr>
            <p:ph type="title"/>
          </p:nvPr>
        </p:nvSpPr>
        <p:spPr/>
        <p:txBody>
          <a:bodyPr/>
          <a:lstStyle/>
          <a:p>
            <a:r>
              <a:rPr lang="en-US" dirty="0"/>
              <a:t>Ingress resource with name based virtual hosting </a:t>
            </a:r>
          </a:p>
        </p:txBody>
      </p:sp>
      <p:sp>
        <p:nvSpPr>
          <p:cNvPr id="4" name="Speech Bubble: Rectangle 3">
            <a:extLst>
              <a:ext uri="{FF2B5EF4-FFF2-40B4-BE49-F238E27FC236}">
                <a16:creationId xmlns:a16="http://schemas.microsoft.com/office/drawing/2014/main" id="{91A799BB-963F-47BC-97A7-1EBE8A747FA9}"/>
              </a:ext>
            </a:extLst>
          </p:cNvPr>
          <p:cNvSpPr/>
          <p:nvPr/>
        </p:nvSpPr>
        <p:spPr bwMode="gray">
          <a:xfrm>
            <a:off x="7169290" y="1824471"/>
            <a:ext cx="4101737" cy="677425"/>
          </a:xfrm>
          <a:prstGeom prst="wedgeRectCallout">
            <a:avLst>
              <a:gd name="adj1" fmla="val -73263"/>
              <a:gd name="adj2" fmla="val 64322"/>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1</a:t>
            </a:r>
            <a:r>
              <a:rPr lang="en-US" sz="1800" kern="0" baseline="30000" dirty="0">
                <a:ea typeface="Arial Unicode MS" pitchFamily="34" charset="-128"/>
                <a:cs typeface="Arial Unicode MS" pitchFamily="34" charset="-128"/>
              </a:rPr>
              <a:t>st</a:t>
            </a:r>
            <a:r>
              <a:rPr lang="en-US" sz="1800" kern="0" dirty="0">
                <a:ea typeface="Arial Unicode MS" pitchFamily="34" charset="-128"/>
                <a:cs typeface="Arial Unicode MS" pitchFamily="34" charset="-128"/>
              </a:rPr>
              <a:t> host &amp; forwarding rules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9" name="Speech Bubble: Rectangle 8">
            <a:extLst>
              <a:ext uri="{FF2B5EF4-FFF2-40B4-BE49-F238E27FC236}">
                <a16:creationId xmlns:a16="http://schemas.microsoft.com/office/drawing/2014/main" id="{18E2A6A0-B4B2-4B47-A153-B2DA1805994B}"/>
              </a:ext>
            </a:extLst>
          </p:cNvPr>
          <p:cNvSpPr/>
          <p:nvPr/>
        </p:nvSpPr>
        <p:spPr bwMode="gray">
          <a:xfrm>
            <a:off x="7169291" y="3670319"/>
            <a:ext cx="4101737" cy="677425"/>
          </a:xfrm>
          <a:prstGeom prst="wedgeRectCallout">
            <a:avLst>
              <a:gd name="adj1" fmla="val -73263"/>
              <a:gd name="adj2" fmla="val 64322"/>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2</a:t>
            </a:r>
            <a:r>
              <a:rPr lang="en-US" sz="1800" kern="0" baseline="30000" dirty="0">
                <a:ea typeface="Arial Unicode MS" pitchFamily="34" charset="-128"/>
                <a:cs typeface="Arial Unicode MS" pitchFamily="34" charset="-128"/>
              </a:rPr>
              <a:t>nd</a:t>
            </a:r>
            <a:r>
              <a:rPr lang="en-US" sz="1800" kern="0" dirty="0">
                <a:ea typeface="Arial Unicode MS" pitchFamily="34" charset="-128"/>
                <a:cs typeface="Arial Unicode MS" pitchFamily="34" charset="-128"/>
              </a:rPr>
              <a:t> host &amp; forwarding rules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pic>
        <p:nvPicPr>
          <p:cNvPr id="5" name="Picture 4">
            <a:extLst>
              <a:ext uri="{FF2B5EF4-FFF2-40B4-BE49-F238E27FC236}">
                <a16:creationId xmlns:a16="http://schemas.microsoft.com/office/drawing/2014/main" id="{6BECE4E1-C8FD-4270-947D-714C20FBEDE2}"/>
              </a:ext>
            </a:extLst>
          </p:cNvPr>
          <p:cNvPicPr>
            <a:picLocks noChangeAspect="1"/>
          </p:cNvPicPr>
          <p:nvPr/>
        </p:nvPicPr>
        <p:blipFill>
          <a:blip r:embed="rId3"/>
          <a:stretch>
            <a:fillRect/>
          </a:stretch>
        </p:blipFill>
        <p:spPr>
          <a:xfrm>
            <a:off x="504001" y="1040040"/>
            <a:ext cx="5502516" cy="5390396"/>
          </a:xfrm>
          <a:prstGeom prst="rect">
            <a:avLst/>
          </a:prstGeom>
          <a:ln>
            <a:solidFill>
              <a:schemeClr val="bg2"/>
            </a:solidFill>
          </a:ln>
        </p:spPr>
      </p:pic>
    </p:spTree>
    <p:extLst>
      <p:ext uri="{BB962C8B-B14F-4D97-AF65-F5344CB8AC3E}">
        <p14:creationId xmlns:p14="http://schemas.microsoft.com/office/powerpoint/2010/main" val="1747902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Demo</a:t>
            </a:r>
          </a:p>
        </p:txBody>
      </p:sp>
      <p:pic>
        <p:nvPicPr>
          <p:cNvPr id="5" name="Picture 4">
            <a:extLst>
              <a:ext uri="{FF2B5EF4-FFF2-40B4-BE49-F238E27FC236}">
                <a16:creationId xmlns:a16="http://schemas.microsoft.com/office/drawing/2014/main" id="{85D2E49F-0CFC-4461-931C-ABDD3F259991}"/>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1750448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A854BC9-3DE1-41ED-81DD-E001D42FFF87}"/>
              </a:ext>
            </a:extLst>
          </p:cNvPr>
          <p:cNvPicPr>
            <a:picLocks noChangeAspect="1"/>
          </p:cNvPicPr>
          <p:nvPr/>
        </p:nvPicPr>
        <p:blipFill>
          <a:blip r:embed="rId3"/>
          <a:stretch>
            <a:fillRect/>
          </a:stretch>
        </p:blipFill>
        <p:spPr>
          <a:xfrm>
            <a:off x="504001" y="4081518"/>
            <a:ext cx="8800000" cy="2209524"/>
          </a:xfrm>
          <a:prstGeom prst="rect">
            <a:avLst/>
          </a:prstGeom>
          <a:ln>
            <a:solidFill>
              <a:schemeClr val="bg2"/>
            </a:solidFill>
          </a:ln>
        </p:spPr>
      </p:pic>
      <p:sp>
        <p:nvSpPr>
          <p:cNvPr id="2" name="Title 1">
            <a:extLst>
              <a:ext uri="{FF2B5EF4-FFF2-40B4-BE49-F238E27FC236}">
                <a16:creationId xmlns:a16="http://schemas.microsoft.com/office/drawing/2014/main" id="{3FE6AFD4-2B19-463E-80AC-0CFF9441C6DD}"/>
              </a:ext>
            </a:extLst>
          </p:cNvPr>
          <p:cNvSpPr>
            <a:spLocks noGrp="1"/>
          </p:cNvSpPr>
          <p:nvPr>
            <p:ph type="title"/>
          </p:nvPr>
        </p:nvSpPr>
        <p:spPr/>
        <p:txBody>
          <a:bodyPr/>
          <a:lstStyle/>
          <a:p>
            <a:r>
              <a:rPr lang="en-US" dirty="0"/>
              <a:t>Ingress on Gardener</a:t>
            </a:r>
          </a:p>
        </p:txBody>
      </p:sp>
      <p:pic>
        <p:nvPicPr>
          <p:cNvPr id="4" name="Picture 3">
            <a:extLst>
              <a:ext uri="{FF2B5EF4-FFF2-40B4-BE49-F238E27FC236}">
                <a16:creationId xmlns:a16="http://schemas.microsoft.com/office/drawing/2014/main" id="{CE945C15-B1AB-4337-B3FC-B7EF2C6E7BD0}"/>
              </a:ext>
            </a:extLst>
          </p:cNvPr>
          <p:cNvPicPr>
            <a:picLocks noChangeAspect="1"/>
          </p:cNvPicPr>
          <p:nvPr/>
        </p:nvPicPr>
        <p:blipFill>
          <a:blip r:embed="rId4"/>
          <a:stretch>
            <a:fillRect/>
          </a:stretch>
        </p:blipFill>
        <p:spPr>
          <a:xfrm>
            <a:off x="504001" y="1340298"/>
            <a:ext cx="8247619" cy="1123810"/>
          </a:xfrm>
          <a:prstGeom prst="rect">
            <a:avLst/>
          </a:prstGeom>
          <a:ln>
            <a:solidFill>
              <a:schemeClr val="bg2"/>
            </a:solidFill>
          </a:ln>
        </p:spPr>
      </p:pic>
      <p:pic>
        <p:nvPicPr>
          <p:cNvPr id="6" name="Picture 5">
            <a:extLst>
              <a:ext uri="{FF2B5EF4-FFF2-40B4-BE49-F238E27FC236}">
                <a16:creationId xmlns:a16="http://schemas.microsoft.com/office/drawing/2014/main" id="{25B9AA87-1572-47C4-9278-DB997F1B338D}"/>
              </a:ext>
            </a:extLst>
          </p:cNvPr>
          <p:cNvPicPr>
            <a:picLocks noChangeAspect="1"/>
          </p:cNvPicPr>
          <p:nvPr/>
        </p:nvPicPr>
        <p:blipFill>
          <a:blip r:embed="rId5"/>
          <a:stretch>
            <a:fillRect/>
          </a:stretch>
        </p:blipFill>
        <p:spPr>
          <a:xfrm>
            <a:off x="504001" y="3076619"/>
            <a:ext cx="5047619" cy="704762"/>
          </a:xfrm>
          <a:prstGeom prst="rect">
            <a:avLst/>
          </a:prstGeom>
          <a:ln>
            <a:solidFill>
              <a:schemeClr val="bg2"/>
            </a:solidFill>
          </a:ln>
        </p:spPr>
      </p:pic>
      <p:sp>
        <p:nvSpPr>
          <p:cNvPr id="7" name="Speech Bubble: Rectangle 6">
            <a:extLst>
              <a:ext uri="{FF2B5EF4-FFF2-40B4-BE49-F238E27FC236}">
                <a16:creationId xmlns:a16="http://schemas.microsoft.com/office/drawing/2014/main" id="{9F07FF1E-0A50-4CCD-B516-0BE884026A6C}"/>
              </a:ext>
            </a:extLst>
          </p:cNvPr>
          <p:cNvSpPr/>
          <p:nvPr/>
        </p:nvSpPr>
        <p:spPr bwMode="gray">
          <a:xfrm>
            <a:off x="7588740" y="2791582"/>
            <a:ext cx="4101737" cy="677425"/>
          </a:xfrm>
          <a:prstGeom prst="wedgeRectCallout">
            <a:avLst>
              <a:gd name="adj1" fmla="val -40130"/>
              <a:gd name="adj2" fmla="val -102857"/>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Nginx ingress is available as an addon to Gardener</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8" name="Speech Bubble: Rectangle 7">
            <a:extLst>
              <a:ext uri="{FF2B5EF4-FFF2-40B4-BE49-F238E27FC236}">
                <a16:creationId xmlns:a16="http://schemas.microsoft.com/office/drawing/2014/main" id="{A9828D4C-8360-40B0-92B3-928A2F07DEE0}"/>
              </a:ext>
            </a:extLst>
          </p:cNvPr>
          <p:cNvSpPr/>
          <p:nvPr/>
        </p:nvSpPr>
        <p:spPr bwMode="gray">
          <a:xfrm>
            <a:off x="6893698" y="4231357"/>
            <a:ext cx="4101737" cy="677425"/>
          </a:xfrm>
          <a:prstGeom prst="wedgeRectCallout">
            <a:avLst>
              <a:gd name="adj1" fmla="val -65900"/>
              <a:gd name="adj2" fmla="val -133816"/>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Gardener allocates a wildcard domain for the </a:t>
            </a:r>
            <a:r>
              <a:rPr lang="en-US" sz="1800" kern="0" dirty="0" err="1">
                <a:ea typeface="Arial Unicode MS" pitchFamily="34" charset="-128"/>
                <a:cs typeface="Arial Unicode MS" pitchFamily="34" charset="-128"/>
              </a:rPr>
              <a:t>LoadBalancer</a:t>
            </a:r>
            <a:r>
              <a:rPr lang="en-US" sz="1800" kern="0" dirty="0">
                <a:ea typeface="Arial Unicode MS" pitchFamily="34" charset="-128"/>
                <a:cs typeface="Arial Unicode MS" pitchFamily="34" charset="-128"/>
              </a:rPr>
              <a:t> Service</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018095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537704A5-AD6E-495C-B693-CDB27091B4A6}"/>
              </a:ext>
            </a:extLst>
          </p:cNvPr>
          <p:cNvGrpSpPr/>
          <p:nvPr/>
        </p:nvGrpSpPr>
        <p:grpSpPr>
          <a:xfrm>
            <a:off x="4037687" y="2058632"/>
            <a:ext cx="3204830" cy="681069"/>
            <a:chOff x="2697480" y="2743200"/>
            <a:chExt cx="6187440" cy="2034540"/>
          </a:xfrm>
        </p:grpSpPr>
        <p:sp>
          <p:nvSpPr>
            <p:cNvPr id="24" name="Rectangle: Rounded Corners 23">
              <a:extLst>
                <a:ext uri="{FF2B5EF4-FFF2-40B4-BE49-F238E27FC236}">
                  <a16:creationId xmlns:a16="http://schemas.microsoft.com/office/drawing/2014/main" id="{05E8C5E2-5BB4-4FAC-900B-2C83D651B2FB}"/>
                </a:ext>
              </a:extLst>
            </p:cNvPr>
            <p:cNvSpPr/>
            <p:nvPr/>
          </p:nvSpPr>
          <p:spPr bwMode="gray">
            <a:xfrm>
              <a:off x="2697480" y="2743200"/>
              <a:ext cx="6187440" cy="2034540"/>
            </a:xfrm>
            <a:prstGeom prst="round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5" name="Rectangle 24">
              <a:extLst>
                <a:ext uri="{FF2B5EF4-FFF2-40B4-BE49-F238E27FC236}">
                  <a16:creationId xmlns:a16="http://schemas.microsoft.com/office/drawing/2014/main" id="{0BFD41BC-CBE2-408D-87EB-E611A2C832FD}"/>
                </a:ext>
              </a:extLst>
            </p:cNvPr>
            <p:cNvSpPr/>
            <p:nvPr/>
          </p:nvSpPr>
          <p:spPr bwMode="gray">
            <a:xfrm>
              <a:off x="3493771" y="3130180"/>
              <a:ext cx="4594857" cy="1156257"/>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ingress</a:t>
              </a:r>
              <a:r>
                <a:rPr lang="de-DE" sz="1800" kern="0" dirty="0">
                  <a:ea typeface="Arial Unicode MS" pitchFamily="34" charset="-128"/>
                  <a:cs typeface="Arial Unicode MS" pitchFamily="34" charset="-128"/>
                </a:rPr>
                <a:t> https</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sp>
        <p:nvSpPr>
          <p:cNvPr id="3" name="Title 2"/>
          <p:cNvSpPr>
            <a:spLocks noGrp="1"/>
          </p:cNvSpPr>
          <p:nvPr>
            <p:ph type="title"/>
          </p:nvPr>
        </p:nvSpPr>
        <p:spPr/>
        <p:txBody>
          <a:bodyPr/>
          <a:lstStyle/>
          <a:p>
            <a:r>
              <a:rPr lang="en-US" dirty="0"/>
              <a:t>Desired target state – exercise #07</a:t>
            </a:r>
          </a:p>
        </p:txBody>
      </p:sp>
      <p:grpSp>
        <p:nvGrpSpPr>
          <p:cNvPr id="13" name="Group 12"/>
          <p:cNvGrpSpPr/>
          <p:nvPr/>
        </p:nvGrpSpPr>
        <p:grpSpPr>
          <a:xfrm>
            <a:off x="3290150" y="3946055"/>
            <a:ext cx="4784740" cy="1063258"/>
            <a:chOff x="2697480" y="2743200"/>
            <a:chExt cx="6187440" cy="2034540"/>
          </a:xfrm>
        </p:grpSpPr>
        <p:sp>
          <p:nvSpPr>
            <p:cNvPr id="12" name="Rectangle: Rounded Corners 11"/>
            <p:cNvSpPr/>
            <p:nvPr/>
          </p:nvSpPr>
          <p:spPr bwMode="gray">
            <a:xfrm>
              <a:off x="2697480" y="2743200"/>
              <a:ext cx="6187440" cy="2034540"/>
            </a:xfrm>
            <a:prstGeom prst="round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 name="Rectangle 3"/>
            <p:cNvSpPr/>
            <p:nvPr/>
          </p:nvSpPr>
          <p:spPr bwMode="gray">
            <a:xfrm>
              <a:off x="2989653" y="3164976"/>
              <a:ext cx="1627931" cy="1156258"/>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Rectangle 5"/>
            <p:cNvSpPr/>
            <p:nvPr/>
          </p:nvSpPr>
          <p:spPr bwMode="gray">
            <a:xfrm>
              <a:off x="6855115" y="3164976"/>
              <a:ext cx="1627931" cy="1156258"/>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Rectangle 6"/>
            <p:cNvSpPr/>
            <p:nvPr/>
          </p:nvSpPr>
          <p:spPr bwMode="gray">
            <a:xfrm>
              <a:off x="4922384" y="3164976"/>
              <a:ext cx="1627931" cy="1156258"/>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grpSp>
        <p:nvGrpSpPr>
          <p:cNvPr id="11" name="Group 10">
            <a:extLst>
              <a:ext uri="{FF2B5EF4-FFF2-40B4-BE49-F238E27FC236}">
                <a16:creationId xmlns:a16="http://schemas.microsoft.com/office/drawing/2014/main" id="{EFA92259-685E-4269-8B4A-1237D4E8A830}"/>
              </a:ext>
            </a:extLst>
          </p:cNvPr>
          <p:cNvGrpSpPr/>
          <p:nvPr/>
        </p:nvGrpSpPr>
        <p:grpSpPr>
          <a:xfrm>
            <a:off x="4093382" y="5272162"/>
            <a:ext cx="3178276" cy="1331355"/>
            <a:chOff x="3482340" y="5191896"/>
            <a:chExt cx="3349915" cy="1363980"/>
          </a:xfrm>
        </p:grpSpPr>
        <p:sp>
          <p:nvSpPr>
            <p:cNvPr id="14" name="Rectangle: Rounded Corners 13"/>
            <p:cNvSpPr/>
            <p:nvPr/>
          </p:nvSpPr>
          <p:spPr bwMode="gray">
            <a:xfrm>
              <a:off x="3482340" y="5191896"/>
              <a:ext cx="3349915" cy="1363980"/>
            </a:xfrm>
            <a:prstGeom prst="round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Cylinder 7"/>
            <p:cNvSpPr/>
            <p:nvPr/>
          </p:nvSpPr>
          <p:spPr bwMode="gray">
            <a:xfrm>
              <a:off x="4007848" y="5373159"/>
              <a:ext cx="998220" cy="1004248"/>
            </a:xfrm>
            <a:prstGeom prst="can">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custom</a:t>
              </a:r>
              <a:r>
                <a:rPr lang="de-DE" sz="1800" kern="0" dirty="0">
                  <a:ea typeface="Arial Unicode MS" pitchFamily="34" charset="-128"/>
                  <a:cs typeface="Arial Unicode MS" pitchFamily="34" charset="-128"/>
                </a:rPr>
                <a:t> </a:t>
              </a: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content</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9" name="Cylinder 8"/>
            <p:cNvSpPr/>
            <p:nvPr/>
          </p:nvSpPr>
          <p:spPr bwMode="gray">
            <a:xfrm>
              <a:off x="5275339" y="5373159"/>
              <a:ext cx="998220" cy="1004248"/>
            </a:xfrm>
            <a:prstGeom prst="can">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config</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sp>
        <p:nvSpPr>
          <p:cNvPr id="17" name="Cloud 16"/>
          <p:cNvSpPr/>
          <p:nvPr/>
        </p:nvSpPr>
        <p:spPr bwMode="gray">
          <a:xfrm>
            <a:off x="3991499" y="997717"/>
            <a:ext cx="3382042" cy="807791"/>
          </a:xfrm>
          <a:prstGeom prst="cloud">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27" name="Group 26"/>
          <p:cNvGrpSpPr/>
          <p:nvPr/>
        </p:nvGrpSpPr>
        <p:grpSpPr>
          <a:xfrm>
            <a:off x="4037687" y="3000658"/>
            <a:ext cx="3204830" cy="681069"/>
            <a:chOff x="2697480" y="2743200"/>
            <a:chExt cx="6187440" cy="2034540"/>
          </a:xfrm>
        </p:grpSpPr>
        <p:sp>
          <p:nvSpPr>
            <p:cNvPr id="28" name="Rectangle: Rounded Corners 27"/>
            <p:cNvSpPr/>
            <p:nvPr/>
          </p:nvSpPr>
          <p:spPr bwMode="gray">
            <a:xfrm>
              <a:off x="2697480" y="2743200"/>
              <a:ext cx="6187440" cy="2034540"/>
            </a:xfrm>
            <a:prstGeom prst="round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9" name="Rectangle 28"/>
            <p:cNvSpPr/>
            <p:nvPr/>
          </p:nvSpPr>
          <p:spPr bwMode="gray">
            <a:xfrm>
              <a:off x="3493771" y="3130180"/>
              <a:ext cx="4594857" cy="1156257"/>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service</a:t>
              </a:r>
              <a:r>
                <a:rPr lang="de-DE" sz="1800" kern="0" dirty="0">
                  <a:ea typeface="Arial Unicode MS" pitchFamily="34" charset="-128"/>
                  <a:cs typeface="Arial Unicode MS" pitchFamily="34" charset="-128"/>
                </a:rPr>
                <a:t> http</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grpSp>
        <p:nvGrpSpPr>
          <p:cNvPr id="5" name="Group 4">
            <a:extLst>
              <a:ext uri="{FF2B5EF4-FFF2-40B4-BE49-F238E27FC236}">
                <a16:creationId xmlns:a16="http://schemas.microsoft.com/office/drawing/2014/main" id="{F32124D6-E1B9-49E7-B6BA-2A5FF7218FFD}"/>
              </a:ext>
            </a:extLst>
          </p:cNvPr>
          <p:cNvGrpSpPr/>
          <p:nvPr/>
        </p:nvGrpSpPr>
        <p:grpSpPr>
          <a:xfrm>
            <a:off x="7816915" y="5272162"/>
            <a:ext cx="1513115" cy="1363980"/>
            <a:chOff x="146302" y="5125599"/>
            <a:chExt cx="1513115" cy="1363980"/>
          </a:xfrm>
        </p:grpSpPr>
        <p:sp>
          <p:nvSpPr>
            <p:cNvPr id="30" name="Rectangle: Rounded Corners 29">
              <a:extLst>
                <a:ext uri="{FF2B5EF4-FFF2-40B4-BE49-F238E27FC236}">
                  <a16:creationId xmlns:a16="http://schemas.microsoft.com/office/drawing/2014/main" id="{73BB4947-C31D-4339-8ED7-777A1A0AFC07}"/>
                </a:ext>
              </a:extLst>
            </p:cNvPr>
            <p:cNvSpPr/>
            <p:nvPr/>
          </p:nvSpPr>
          <p:spPr bwMode="gray">
            <a:xfrm>
              <a:off x="146302" y="5125599"/>
              <a:ext cx="1513115" cy="1363980"/>
            </a:xfrm>
            <a:prstGeom prst="round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4" name="Cylinder 33">
              <a:extLst>
                <a:ext uri="{FF2B5EF4-FFF2-40B4-BE49-F238E27FC236}">
                  <a16:creationId xmlns:a16="http://schemas.microsoft.com/office/drawing/2014/main" id="{43E6B8DD-2872-4E69-9F28-D6D04BBBF190}"/>
                </a:ext>
              </a:extLst>
            </p:cNvPr>
            <p:cNvSpPr/>
            <p:nvPr/>
          </p:nvSpPr>
          <p:spPr bwMode="gray">
            <a:xfrm>
              <a:off x="436341" y="5305465"/>
              <a:ext cx="933038" cy="1004248"/>
            </a:xfrm>
            <a:prstGeom prst="can">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tls</a:t>
              </a:r>
              <a:r>
                <a:rPr lang="de-DE" sz="1800" kern="0" dirty="0">
                  <a:ea typeface="Arial Unicode MS" pitchFamily="34" charset="-128"/>
                  <a:cs typeface="Arial Unicode MS" pitchFamily="34" charset="-128"/>
                </a:rPr>
                <a:t> </a:t>
              </a:r>
              <a:r>
                <a:rPr lang="de-DE" sz="1800" kern="0" dirty="0" err="1">
                  <a:ea typeface="Arial Unicode MS" pitchFamily="34" charset="-128"/>
                  <a:cs typeface="Arial Unicode MS" pitchFamily="34" charset="-128"/>
                </a:rPr>
                <a:t>certs</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sp>
        <p:nvSpPr>
          <p:cNvPr id="20" name="Speech Bubble: Rectangle 19">
            <a:extLst>
              <a:ext uri="{FF2B5EF4-FFF2-40B4-BE49-F238E27FC236}">
                <a16:creationId xmlns:a16="http://schemas.microsoft.com/office/drawing/2014/main" id="{7711302D-71E3-4BB4-867C-5D0045EC3D9E}"/>
              </a:ext>
            </a:extLst>
          </p:cNvPr>
          <p:cNvSpPr/>
          <p:nvPr/>
        </p:nvSpPr>
        <p:spPr bwMode="gray">
          <a:xfrm>
            <a:off x="9476592" y="4844778"/>
            <a:ext cx="2535294" cy="915844"/>
          </a:xfrm>
          <a:prstGeom prst="wedgeRectCallout">
            <a:avLst>
              <a:gd name="adj1" fmla="val -81283"/>
              <a:gd name="adj2" fmla="val 3308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tls</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secrets for ingress</a:t>
            </a:r>
          </a:p>
        </p:txBody>
      </p:sp>
      <p:cxnSp>
        <p:nvCxnSpPr>
          <p:cNvPr id="39" name="Connector: Elbow 38">
            <a:extLst>
              <a:ext uri="{FF2B5EF4-FFF2-40B4-BE49-F238E27FC236}">
                <a16:creationId xmlns:a16="http://schemas.microsoft.com/office/drawing/2014/main" id="{4017628C-E063-450D-A08D-0D789468B3A8}"/>
              </a:ext>
            </a:extLst>
          </p:cNvPr>
          <p:cNvCxnSpPr>
            <a:stCxn id="24" idx="3"/>
            <a:endCxn id="30" idx="0"/>
          </p:cNvCxnSpPr>
          <p:nvPr/>
        </p:nvCxnSpPr>
        <p:spPr>
          <a:xfrm>
            <a:off x="7242517" y="2399167"/>
            <a:ext cx="1330956" cy="2872995"/>
          </a:xfrm>
          <a:prstGeom prst="bentConnector2">
            <a:avLst/>
          </a:prstGeom>
          <a:ln w="95250">
            <a:solidFill>
              <a:srgbClr val="4FB81C"/>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2C5DF80D-7E3E-4500-A88C-2AAC46BBD4DD}"/>
              </a:ext>
            </a:extLst>
          </p:cNvPr>
          <p:cNvCxnSpPr/>
          <p:nvPr/>
        </p:nvCxnSpPr>
        <p:spPr>
          <a:xfrm>
            <a:off x="5682520" y="4844778"/>
            <a:ext cx="0" cy="603177"/>
          </a:xfrm>
          <a:prstGeom prst="straightConnector1">
            <a:avLst/>
          </a:prstGeom>
          <a:ln w="95250">
            <a:solidFill>
              <a:srgbClr val="4FB81C"/>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111107B-48C5-42BC-AAB9-676E7426FE40}"/>
              </a:ext>
            </a:extLst>
          </p:cNvPr>
          <p:cNvCxnSpPr/>
          <p:nvPr/>
        </p:nvCxnSpPr>
        <p:spPr>
          <a:xfrm>
            <a:off x="5682520" y="3509728"/>
            <a:ext cx="0" cy="603177"/>
          </a:xfrm>
          <a:prstGeom prst="straightConnector1">
            <a:avLst/>
          </a:prstGeom>
          <a:ln w="95250">
            <a:solidFill>
              <a:srgbClr val="4FB81C"/>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8E447B5A-B629-4DAD-A4A6-6A08B0ADE588}"/>
              </a:ext>
            </a:extLst>
          </p:cNvPr>
          <p:cNvCxnSpPr/>
          <p:nvPr/>
        </p:nvCxnSpPr>
        <p:spPr>
          <a:xfrm>
            <a:off x="5682520" y="2527024"/>
            <a:ext cx="0" cy="603177"/>
          </a:xfrm>
          <a:prstGeom prst="straightConnector1">
            <a:avLst/>
          </a:prstGeom>
          <a:ln w="95250">
            <a:solidFill>
              <a:srgbClr val="4FB81C"/>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0A63C9A3-3BE5-4DCE-8DBD-D76819815FD5}"/>
              </a:ext>
            </a:extLst>
          </p:cNvPr>
          <p:cNvCxnSpPr/>
          <p:nvPr/>
        </p:nvCxnSpPr>
        <p:spPr>
          <a:xfrm>
            <a:off x="5682520" y="1584998"/>
            <a:ext cx="0" cy="603177"/>
          </a:xfrm>
          <a:prstGeom prst="straightConnector1">
            <a:avLst/>
          </a:prstGeom>
          <a:ln w="95250">
            <a:solidFill>
              <a:srgbClr val="4FB81C"/>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Speech Bubble: Rectangle 37">
            <a:extLst>
              <a:ext uri="{FF2B5EF4-FFF2-40B4-BE49-F238E27FC236}">
                <a16:creationId xmlns:a16="http://schemas.microsoft.com/office/drawing/2014/main" id="{4DEE0B1F-605D-4458-A2D3-5CE9DF04AC87}"/>
              </a:ext>
            </a:extLst>
          </p:cNvPr>
          <p:cNvSpPr/>
          <p:nvPr/>
        </p:nvSpPr>
        <p:spPr bwMode="gray">
          <a:xfrm>
            <a:off x="7654962" y="1504376"/>
            <a:ext cx="2535294" cy="915844"/>
          </a:xfrm>
          <a:prstGeom prst="wedgeRectCallout">
            <a:avLst>
              <a:gd name="adj1" fmla="val -81283"/>
              <a:gd name="adj2" fmla="val 3308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Ingress as central entry point to cluster</a:t>
            </a:r>
          </a:p>
        </p:txBody>
      </p:sp>
      <p:sp>
        <p:nvSpPr>
          <p:cNvPr id="66" name="Speech Bubble: Rectangle 65">
            <a:extLst>
              <a:ext uri="{FF2B5EF4-FFF2-40B4-BE49-F238E27FC236}">
                <a16:creationId xmlns:a16="http://schemas.microsoft.com/office/drawing/2014/main" id="{9E7D1D7D-E7F6-4298-82FF-3C26840C53C1}"/>
              </a:ext>
            </a:extLst>
          </p:cNvPr>
          <p:cNvSpPr/>
          <p:nvPr/>
        </p:nvSpPr>
        <p:spPr bwMode="gray">
          <a:xfrm>
            <a:off x="7654962" y="2683300"/>
            <a:ext cx="2535294" cy="915844"/>
          </a:xfrm>
          <a:prstGeom prst="wedgeRectCallout">
            <a:avLst>
              <a:gd name="adj1" fmla="val -81283"/>
              <a:gd name="adj2" fmla="val 3308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ClusterIP</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service for inter cluster com.</a:t>
            </a:r>
          </a:p>
        </p:txBody>
      </p:sp>
    </p:spTree>
    <p:extLst>
      <p:ext uri="{BB962C8B-B14F-4D97-AF65-F5344CB8AC3E}">
        <p14:creationId xmlns:p14="http://schemas.microsoft.com/office/powerpoint/2010/main" val="4085581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black">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black.potx" id="{9488014F-4BF2-4B73-9741-6D40B78C18AF}" vid="{315AB80D-2AE3-4555-B7D1-B9C512524916}"/>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1982</Words>
  <Application>Microsoft Office PowerPoint</Application>
  <PresentationFormat>Custom</PresentationFormat>
  <Paragraphs>243</Paragraphs>
  <Slides>18</Slides>
  <Notes>17</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Courier New</vt:lpstr>
      <vt:lpstr>Symbol</vt:lpstr>
      <vt:lpstr>Wingdings</vt:lpstr>
      <vt:lpstr>Wingdings</vt:lpstr>
      <vt:lpstr>SAP_2017_16x9_black</vt:lpstr>
      <vt:lpstr>PowerPoint Presentation</vt:lpstr>
      <vt:lpstr>External availability of services – how did it work, so far?</vt:lpstr>
      <vt:lpstr>Ingress</vt:lpstr>
      <vt:lpstr>How does it work?</vt:lpstr>
      <vt:lpstr>How does it work?</vt:lpstr>
      <vt:lpstr>Single service ingress (with TLS)</vt:lpstr>
      <vt:lpstr>Ingress resource with TLS</vt:lpstr>
      <vt:lpstr>Default Backend</vt:lpstr>
      <vt:lpstr>Demo</vt:lpstr>
      <vt:lpstr>Fanout</vt:lpstr>
      <vt:lpstr>Ingress resource with fanout</vt:lpstr>
      <vt:lpstr>Demo</vt:lpstr>
      <vt:lpstr>Name based virtual hosting</vt:lpstr>
      <vt:lpstr>Ingress resource with name based virtual hosting </vt:lpstr>
      <vt:lpstr>Demo</vt:lpstr>
      <vt:lpstr>Ingress on Gardener</vt:lpstr>
      <vt:lpstr>Desired target state – exercise #07</vt:lpstr>
      <vt:lpstr>PowerPoint Presentation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2017/16:9/black</cp:keywords>
  <cp:lastModifiedBy>Kahl, Hendrik</cp:lastModifiedBy>
  <cp:revision>690</cp:revision>
  <dcterms:created xsi:type="dcterms:W3CDTF">2015-10-14T11:21:43Z</dcterms:created>
  <dcterms:modified xsi:type="dcterms:W3CDTF">2020-10-20T14:30:20Z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_PreviousAdHocReviewCycleID">
    <vt:i4>1357826825</vt:i4>
  </property>
</Properties>
</file>