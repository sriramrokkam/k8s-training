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22"/>
  </p:notesMasterIdLst>
  <p:handoutMasterIdLst>
    <p:handoutMasterId r:id="rId23"/>
  </p:handoutMasterIdLst>
  <p:sldIdLst>
    <p:sldId id="962" r:id="rId2"/>
    <p:sldId id="442" r:id="rId3"/>
    <p:sldId id="946" r:id="rId4"/>
    <p:sldId id="443" r:id="rId5"/>
    <p:sldId id="466" r:id="rId6"/>
    <p:sldId id="964" r:id="rId7"/>
    <p:sldId id="455" r:id="rId8"/>
    <p:sldId id="949" r:id="rId9"/>
    <p:sldId id="451" r:id="rId10"/>
    <p:sldId id="452" r:id="rId11"/>
    <p:sldId id="453" r:id="rId12"/>
    <p:sldId id="454" r:id="rId13"/>
    <p:sldId id="963" r:id="rId14"/>
    <p:sldId id="956" r:id="rId15"/>
    <p:sldId id="957" r:id="rId16"/>
    <p:sldId id="438" r:id="rId17"/>
    <p:sldId id="439" r:id="rId18"/>
    <p:sldId id="929" r:id="rId19"/>
    <p:sldId id="930" r:id="rId20"/>
    <p:sldId id="265" r:id="rId21"/>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69116" autoAdjust="0"/>
  </p:normalViewPr>
  <p:slideViewPr>
    <p:cSldViewPr snapToGrid="0" showGuides="1">
      <p:cViewPr varScale="1">
        <p:scale>
          <a:sx n="90" d="100"/>
          <a:sy n="90" d="100"/>
        </p:scale>
        <p:origin x="1770" y="78"/>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a:t>
            </a:fld>
            <a:endParaRPr lang="de-DE" dirty="0"/>
          </a:p>
        </p:txBody>
      </p:sp>
    </p:spTree>
    <p:extLst>
      <p:ext uri="{BB962C8B-B14F-4D97-AF65-F5344CB8AC3E}">
        <p14:creationId xmlns:p14="http://schemas.microsoft.com/office/powerpoint/2010/main" val="1443403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Currently there are two types of users in </a:t>
            </a:r>
            <a:r>
              <a:rPr lang="en-US" dirty="0" err="1"/>
              <a:t>kubernetes</a:t>
            </a:r>
            <a:r>
              <a:rPr lang="en-US" dirty="0"/>
              <a:t> – technical and normal Users. Users are considered to be human (end-)users and you can fine </a:t>
            </a:r>
            <a:r>
              <a:rPr lang="en-US" dirty="0" err="1"/>
              <a:t>granularily</a:t>
            </a:r>
            <a:r>
              <a:rPr lang="en-US" dirty="0"/>
              <a:t> define what each user can. They can also (by default) be cluster admins and have access to everything in the cluster. </a:t>
            </a:r>
          </a:p>
          <a:p>
            <a:endParaRPr lang="en-US" dirty="0"/>
          </a:p>
          <a:p>
            <a:r>
              <a:rPr lang="en-US" dirty="0"/>
              <a:t>The 2</a:t>
            </a:r>
            <a:r>
              <a:rPr lang="en-US" baseline="30000" dirty="0"/>
              <a:t>nd</a:t>
            </a:r>
            <a:r>
              <a:rPr lang="en-US" dirty="0"/>
              <a:t> type of user is a technical user, called “service account”. A service account is bound to a namespace and in every namespace there is “default” service account. Of course it is possible to create further service accounts. </a:t>
            </a:r>
          </a:p>
          <a:p>
            <a:r>
              <a:rPr lang="en-US" dirty="0"/>
              <a:t>Usually a service account holds an access token allowing to communicate with the cluster’s API server. The token itself is a </a:t>
            </a:r>
            <a:r>
              <a:rPr lang="en-US" dirty="0" err="1"/>
              <a:t>kubernetes</a:t>
            </a:r>
            <a:r>
              <a:rPr lang="en-US" dirty="0"/>
              <a:t> secret. Additionally you can assign an image pull secret to the service account (see slide 5 </a:t>
            </a:r>
            <a:r>
              <a:rPr lang="en-US" dirty="0" err="1"/>
              <a:t>ff</a:t>
            </a:r>
            <a:r>
              <a:rPr lang="en-US" dirty="0"/>
              <a:t> for further info).</a:t>
            </a:r>
          </a:p>
          <a:p>
            <a:endParaRPr lang="en-US" dirty="0"/>
          </a:p>
          <a:p>
            <a:r>
              <a:rPr lang="en-US" dirty="0"/>
              <a:t>When scheduling resources like a pod, they always run in the “name” of the service account. This means, the service account’s secrets will be mounted into the pod. Hence a pod is also able to access the API server with the identity of the service account and its valid credentials.</a:t>
            </a:r>
          </a:p>
          <a:p>
            <a:r>
              <a:rPr lang="en-US" dirty="0"/>
              <a:t>If not specified differently, the default service account will be used. </a:t>
            </a:r>
          </a:p>
          <a:p>
            <a:endParaRPr lang="en-US" dirty="0"/>
          </a:p>
          <a:p>
            <a:r>
              <a:rPr lang="en-US" dirty="0"/>
              <a:t>Since a pod can access the API, think about possible consequences. Could it modify the system? To avoid potential security issues, it is recommended to limit the access scope of the service account using RBAC </a:t>
            </a:r>
            <a:r>
              <a:rPr lang="en-US" dirty="0">
                <a:sym typeface="Wingdings" panose="05000000000000000000" pitchFamily="2" charset="2"/>
              </a:rPr>
              <a:t> see next slide</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2</a:t>
            </a:fld>
            <a:endParaRPr lang="en-US" dirty="0"/>
          </a:p>
        </p:txBody>
      </p:sp>
    </p:spTree>
    <p:extLst>
      <p:ext uri="{BB962C8B-B14F-4D97-AF65-F5344CB8AC3E}">
        <p14:creationId xmlns:p14="http://schemas.microsoft.com/office/powerpoint/2010/main" val="561089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tokens to access the API server deserve some extra thoughts. Every service account comes with such a token and by default, all pods mount the token of their respective service account. So basically we allow each and every application running in our cluster to talk to the API server and potentially read secrets or modify objects. </a:t>
            </a:r>
          </a:p>
          <a:p>
            <a:r>
              <a:rPr lang="en-US" dirty="0"/>
              <a:t> </a:t>
            </a:r>
          </a:p>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Though there are some applications that require this access, most of our workloads don’t. Hence it is recommended to switch off this feature and explicitly mount the tokens when needed. The service account object has a field “</a:t>
            </a:r>
            <a:r>
              <a:rPr lang="de-DE" sz="1400" b="0" kern="1200" dirty="0" err="1">
                <a:solidFill>
                  <a:schemeClr val="tx1"/>
                </a:solidFill>
                <a:effectLst/>
                <a:latin typeface="+mn-lt"/>
                <a:ea typeface="+mn-ea"/>
                <a:cs typeface="+mn-cs"/>
              </a:rPr>
              <a:t>automountServiceAccountToken</a:t>
            </a:r>
            <a:r>
              <a:rPr lang="en-US" sz="1400" b="0" kern="1200" dirty="0">
                <a:solidFill>
                  <a:schemeClr val="tx1"/>
                </a:solidFill>
                <a:effectLst/>
                <a:latin typeface="+mn-lt"/>
                <a:ea typeface="+mn-ea"/>
                <a:cs typeface="+mn-cs"/>
              </a:rPr>
              <a:t>” which should be set to false.</a:t>
            </a:r>
            <a:endParaRPr lang="de-DE" sz="14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3148014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limit the access scope of a service account, you can use existing roles or create your own. These roles are bound to the respective service account.</a:t>
            </a:r>
          </a:p>
          <a:p>
            <a:endParaRPr lang="en-US" dirty="0"/>
          </a:p>
          <a:p>
            <a:r>
              <a:rPr lang="en-US" dirty="0"/>
              <a:t>Roles define which resources of which </a:t>
            </a:r>
            <a:r>
              <a:rPr lang="en-US" dirty="0" err="1"/>
              <a:t>api</a:t>
            </a:r>
            <a:r>
              <a:rPr lang="en-US" dirty="0"/>
              <a:t> group are allowed to access with a certain set of actions. The example shown in the screenshot allows the actions “get”, “list” and “watch” for “</a:t>
            </a:r>
            <a:r>
              <a:rPr lang="en-US" dirty="0" err="1"/>
              <a:t>configmaps</a:t>
            </a:r>
            <a:r>
              <a:rPr lang="en-US" dirty="0"/>
              <a:t>”. Everything else would be blocked. </a:t>
            </a:r>
          </a:p>
          <a:p>
            <a:endParaRPr lang="en-US" dirty="0"/>
          </a:p>
          <a:p>
            <a:r>
              <a:rPr lang="en-US" dirty="0"/>
              <a:t>To assign the role to a user, you can create a role binding.</a:t>
            </a:r>
          </a:p>
        </p:txBody>
      </p:sp>
      <p:sp>
        <p:nvSpPr>
          <p:cNvPr id="4" name="Slide Number Placeholder 3"/>
          <p:cNvSpPr>
            <a:spLocks noGrp="1"/>
          </p:cNvSpPr>
          <p:nvPr>
            <p:ph type="sldNum" sz="quarter" idx="10"/>
          </p:nvPr>
        </p:nvSpPr>
        <p:spPr/>
        <p:txBody>
          <a:bodyPr/>
          <a:lstStyle/>
          <a:p>
            <a:fld id="{7D8C2C35-2B8A-446E-BEC0-FD36716C29AC}" type="slidenum">
              <a:rPr lang="en-US" smtClean="0"/>
              <a:pPr/>
              <a:t>4</a:t>
            </a:fld>
            <a:endParaRPr lang="en-US" dirty="0"/>
          </a:p>
        </p:txBody>
      </p:sp>
    </p:spTree>
    <p:extLst>
      <p:ext uri="{BB962C8B-B14F-4D97-AF65-F5344CB8AC3E}">
        <p14:creationId xmlns:p14="http://schemas.microsoft.com/office/powerpoint/2010/main" val="40573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285750" indent="-285750">
              <a:buFontTx/>
              <a:buChar char="-"/>
            </a:pPr>
            <a:r>
              <a:rPr lang="en-US" dirty="0"/>
              <a:t>Show the default service account associate with any namespace (</a:t>
            </a:r>
            <a:r>
              <a:rPr lang="en-US" dirty="0" err="1"/>
              <a:t>kubectl</a:t>
            </a:r>
            <a:r>
              <a:rPr lang="en-US" dirty="0"/>
              <a:t> get </a:t>
            </a:r>
            <a:r>
              <a:rPr lang="en-US" dirty="0" err="1"/>
              <a:t>sa</a:t>
            </a:r>
            <a:r>
              <a:rPr lang="en-US" dirty="0"/>
              <a:t>)</a:t>
            </a:r>
          </a:p>
          <a:p>
            <a:pPr marL="285750" indent="-285750">
              <a:buFontTx/>
              <a:buChar char="-"/>
            </a:pPr>
            <a:r>
              <a:rPr lang="en-US" dirty="0"/>
              <a:t>Show the token that is associated with the service account (</a:t>
            </a:r>
            <a:r>
              <a:rPr lang="en-US" dirty="0" err="1"/>
              <a:t>kubectl</a:t>
            </a:r>
            <a:r>
              <a:rPr lang="en-US" dirty="0"/>
              <a:t> get secret)</a:t>
            </a:r>
          </a:p>
          <a:p>
            <a:pPr marL="285750" indent="-285750">
              <a:buFontTx/>
              <a:buChar char="-"/>
            </a:pPr>
            <a:r>
              <a:rPr lang="en-US" dirty="0"/>
              <a:t>Show the </a:t>
            </a:r>
            <a:r>
              <a:rPr lang="en-US" dirty="0" err="1"/>
              <a:t>clusterrolebinding</a:t>
            </a:r>
            <a:r>
              <a:rPr lang="en-US" dirty="0"/>
              <a:t>, that makes the participants cluster admin (</a:t>
            </a:r>
            <a:r>
              <a:rPr lang="en-US" dirty="0" err="1"/>
              <a:t>kubectl</a:t>
            </a:r>
            <a:r>
              <a:rPr lang="en-US" dirty="0"/>
              <a:t> get </a:t>
            </a:r>
            <a:r>
              <a:rPr lang="en-US" dirty="0" err="1"/>
              <a:t>clusterrolebinding</a:t>
            </a:r>
            <a:r>
              <a:rPr lang="en-US" dirty="0"/>
              <a:t>)</a:t>
            </a:r>
          </a:p>
          <a:p>
            <a:pPr marL="0" indent="0">
              <a:buFontTx/>
              <a:buNone/>
            </a:pPr>
            <a:endParaRPr lang="en-US" dirty="0"/>
          </a:p>
          <a:p>
            <a:pPr marL="285750" indent="-285750">
              <a:buFontTx/>
              <a:buChar char="-"/>
            </a:pPr>
            <a:r>
              <a:rPr lang="en-US" dirty="0"/>
              <a:t>Create a custom role:</a:t>
            </a:r>
          </a:p>
          <a:p>
            <a:pPr marL="465750" marR="0" lvl="1" indent="-285750" algn="l" defTabSz="1088776" rtl="0" eaLnBrk="1" fontAlgn="auto" latinLnBrk="0" hangingPunct="1">
              <a:lnSpc>
                <a:spcPct val="100000"/>
              </a:lnSpc>
              <a:spcBef>
                <a:spcPts val="0"/>
              </a:spcBef>
              <a:spcAft>
                <a:spcPts val="0"/>
              </a:spcAft>
              <a:buClr>
                <a:schemeClr val="accent1"/>
              </a:buClr>
              <a:buSzPct val="100000"/>
              <a:buFontTx/>
              <a:buChar char="-"/>
              <a:tabLst/>
              <a:defRPr/>
            </a:pPr>
            <a:r>
              <a:rPr lang="en-US" dirty="0"/>
              <a:t>In the demo folder, have a look at 11a_rbac.yaml</a:t>
            </a:r>
          </a:p>
          <a:p>
            <a:pPr marL="645750" marR="0" lvl="2" indent="-285750" algn="l" defTabSz="1088776" rtl="0" eaLnBrk="1" fontAlgn="auto" latinLnBrk="0" hangingPunct="1">
              <a:lnSpc>
                <a:spcPct val="100000"/>
              </a:lnSpc>
              <a:spcBef>
                <a:spcPts val="0"/>
              </a:spcBef>
              <a:spcAft>
                <a:spcPts val="0"/>
              </a:spcAft>
              <a:buClr>
                <a:schemeClr val="accent1"/>
              </a:buClr>
              <a:buSzPct val="100000"/>
              <a:buFontTx/>
              <a:buChar char="-"/>
              <a:tabLst/>
              <a:defRPr/>
            </a:pPr>
            <a:r>
              <a:rPr lang="en-US" dirty="0"/>
              <a:t>explain the access to the different API groups &amp; objects within</a:t>
            </a:r>
          </a:p>
          <a:p>
            <a:pPr marL="645750" marR="0" lvl="2" indent="-285750" algn="l" defTabSz="1088776" rtl="0" eaLnBrk="1" fontAlgn="auto" latinLnBrk="0" hangingPunct="1">
              <a:lnSpc>
                <a:spcPct val="100000"/>
              </a:lnSpc>
              <a:spcBef>
                <a:spcPts val="0"/>
              </a:spcBef>
              <a:spcAft>
                <a:spcPts val="0"/>
              </a:spcAft>
              <a:buClr>
                <a:schemeClr val="accent1"/>
              </a:buClr>
              <a:buSzPct val="100000"/>
              <a:buFontTx/>
              <a:buChar char="-"/>
              <a:tabLst/>
              <a:defRPr/>
            </a:pPr>
            <a:r>
              <a:rPr lang="en-US" dirty="0"/>
              <a:t>The role "pod-master" gives you full access to pods, read access to </a:t>
            </a:r>
            <a:r>
              <a:rPr lang="en-US" dirty="0" err="1"/>
              <a:t>configmaps</a:t>
            </a:r>
            <a:r>
              <a:rPr lang="en-US" dirty="0"/>
              <a:t> and no access to anything else</a:t>
            </a:r>
          </a:p>
          <a:p>
            <a:pPr marL="645750" marR="0" lvl="2" indent="-285750" algn="l" defTabSz="1088776" rtl="0" eaLnBrk="1" fontAlgn="auto" latinLnBrk="0" hangingPunct="1">
              <a:lnSpc>
                <a:spcPct val="100000"/>
              </a:lnSpc>
              <a:spcBef>
                <a:spcPts val="0"/>
              </a:spcBef>
              <a:spcAft>
                <a:spcPts val="0"/>
              </a:spcAft>
              <a:buClr>
                <a:schemeClr val="accent1"/>
              </a:buClr>
              <a:buSzPct val="100000"/>
              <a:buFontTx/>
              <a:buChar char="-"/>
              <a:tabLst/>
              <a:defRPr/>
            </a:pPr>
            <a:r>
              <a:rPr lang="en-US" dirty="0"/>
              <a:t>the YAML creates a service account "pod-master"</a:t>
            </a:r>
          </a:p>
          <a:p>
            <a:pPr marL="645750" marR="0" lvl="2" indent="-285750" algn="l" defTabSz="1088776" rtl="0" eaLnBrk="1" fontAlgn="auto" latinLnBrk="0" hangingPunct="1">
              <a:lnSpc>
                <a:spcPct val="100000"/>
              </a:lnSpc>
              <a:spcBef>
                <a:spcPts val="0"/>
              </a:spcBef>
              <a:spcAft>
                <a:spcPts val="0"/>
              </a:spcAft>
              <a:buClr>
                <a:schemeClr val="accent1"/>
              </a:buClr>
              <a:buSzPct val="100000"/>
              <a:buFontTx/>
              <a:buChar char="-"/>
              <a:tabLst/>
              <a:defRPr/>
            </a:pPr>
            <a:r>
              <a:rPr lang="en-US" dirty="0"/>
              <a:t>The role gets bound to the service account by the </a:t>
            </a:r>
            <a:r>
              <a:rPr lang="en-US" dirty="0" err="1"/>
              <a:t>rolebinding</a:t>
            </a:r>
            <a:r>
              <a:rPr lang="en-US" dirty="0"/>
              <a:t> "pod-master"</a:t>
            </a:r>
          </a:p>
          <a:p>
            <a:pPr marL="465750" lvl="1" indent="-285750">
              <a:buFontTx/>
              <a:buChar char="-"/>
            </a:pPr>
            <a:r>
              <a:rPr lang="en-US" dirty="0"/>
              <a:t>Before you switch the </a:t>
            </a:r>
            <a:r>
              <a:rPr lang="en-US" dirty="0" err="1"/>
              <a:t>kubeconfig</a:t>
            </a:r>
            <a:r>
              <a:rPr lang="en-US" dirty="0"/>
              <a:t> context, check, if the secret “admin-access” described in file 07c_demo_secret.yaml is present in your namespace. If not, re-create it (</a:t>
            </a:r>
            <a:r>
              <a:rPr lang="en-US" dirty="0" err="1"/>
              <a:t>kubectl</a:t>
            </a:r>
            <a:r>
              <a:rPr lang="en-US" dirty="0"/>
              <a:t> create –f 07c_demo_secret.yaml)</a:t>
            </a:r>
          </a:p>
          <a:p>
            <a:pPr marL="465750" lvl="1" indent="-285750">
              <a:buFontTx/>
              <a:buChar char="-"/>
            </a:pPr>
            <a:r>
              <a:rPr lang="en-US" dirty="0"/>
              <a:t>In the demo folder, run the script 11b_rbac-demo-shell.sh</a:t>
            </a:r>
          </a:p>
          <a:p>
            <a:pPr marL="645750" lvl="2" indent="-285750">
              <a:buFontTx/>
              <a:buChar char="-"/>
            </a:pPr>
            <a:r>
              <a:rPr lang="en-US" dirty="0"/>
              <a:t>This script will start a new shell with a temporary </a:t>
            </a:r>
            <a:r>
              <a:rPr lang="en-US" dirty="0" err="1"/>
              <a:t>kube.config</a:t>
            </a:r>
            <a:r>
              <a:rPr lang="en-US" dirty="0"/>
              <a:t> that accesses the cluster as service account pod-master</a:t>
            </a:r>
          </a:p>
          <a:p>
            <a:pPr marL="645750" lvl="2" indent="-285750">
              <a:buFontTx/>
              <a:buChar char="-"/>
            </a:pPr>
            <a:r>
              <a:rPr lang="en-US" dirty="0"/>
              <a:t>In this shell, try to get the running pods and the </a:t>
            </a:r>
            <a:r>
              <a:rPr lang="en-US" dirty="0" err="1"/>
              <a:t>configmaps</a:t>
            </a:r>
            <a:endParaRPr lang="en-US" dirty="0"/>
          </a:p>
          <a:p>
            <a:pPr marL="645750" lvl="2" indent="-285750">
              <a:buFontTx/>
              <a:buChar char="-"/>
            </a:pPr>
            <a:r>
              <a:rPr lang="en-US" dirty="0"/>
              <a:t>Try to get the secrets</a:t>
            </a:r>
          </a:p>
          <a:p>
            <a:pPr marL="645750" lvl="2" indent="-285750">
              <a:buFontTx/>
              <a:buChar char="-"/>
            </a:pPr>
            <a:r>
              <a:rPr lang="en-US" dirty="0"/>
              <a:t>Create a pod using the secret “admin-access” with "</a:t>
            </a:r>
            <a:r>
              <a:rPr lang="en-US" dirty="0" err="1"/>
              <a:t>kubectl</a:t>
            </a:r>
            <a:r>
              <a:rPr lang="en-US" dirty="0"/>
              <a:t> create –f 07d_demo_pod_with_secret.yaml" and have a look at its logs to show that secrets are still visible from within the pod although we do not have access to the secrets through the role (potential security leak)</a:t>
            </a:r>
          </a:p>
          <a:p>
            <a:pPr marL="465750" lvl="1" indent="-285750">
              <a:buFontTx/>
              <a:buChar char="-"/>
            </a:pPr>
            <a:endParaRPr lang="en-US" dirty="0"/>
          </a:p>
          <a:p>
            <a:pPr marL="285750" lvl="0" indent="-285750">
              <a:buFontTx/>
              <a:buChar char="-"/>
            </a:pPr>
            <a:r>
              <a:rPr lang="en-US" dirty="0"/>
              <a:t>Use the role binding "pod-master" and use </a:t>
            </a:r>
            <a:r>
              <a:rPr lang="en-US" dirty="0" err="1"/>
              <a:t>kubectl</a:t>
            </a:r>
            <a:r>
              <a:rPr lang="en-US" dirty="0"/>
              <a:t> </a:t>
            </a:r>
            <a:r>
              <a:rPr lang="en-US" dirty="0" err="1"/>
              <a:t>auth</a:t>
            </a:r>
            <a:r>
              <a:rPr lang="en-US" dirty="0"/>
              <a:t> can-</a:t>
            </a:r>
            <a:r>
              <a:rPr lang="en-US" dirty="0" err="1"/>
              <a:t>i</a:t>
            </a:r>
            <a:r>
              <a:rPr lang="en-US" dirty="0"/>
              <a:t> … to demo its function. </a:t>
            </a:r>
          </a:p>
          <a:p>
            <a:pPr marL="465750" lvl="1" indent="-285750">
              <a:buFontTx/>
              <a:buChar char="-"/>
            </a:pPr>
            <a:r>
              <a:rPr lang="en-US" dirty="0" err="1"/>
              <a:t>kubectl</a:t>
            </a:r>
            <a:r>
              <a:rPr lang="en-US" dirty="0"/>
              <a:t> </a:t>
            </a:r>
            <a:r>
              <a:rPr lang="en-US" dirty="0" err="1"/>
              <a:t>auth</a:t>
            </a:r>
            <a:r>
              <a:rPr lang="en-US" dirty="0"/>
              <a:t> can-</a:t>
            </a:r>
            <a:r>
              <a:rPr lang="en-US" dirty="0" err="1"/>
              <a:t>i</a:t>
            </a:r>
            <a:r>
              <a:rPr lang="en-US" dirty="0"/>
              <a:t> get nodes --as </a:t>
            </a:r>
            <a:r>
              <a:rPr lang="en-US" dirty="0" err="1"/>
              <a:t>system:serviceaccount:default:default</a:t>
            </a:r>
            <a:r>
              <a:rPr lang="en-US" dirty="0"/>
              <a:t>  </a:t>
            </a:r>
            <a:r>
              <a:rPr lang="en-US" dirty="0">
                <a:sym typeface="Wingdings" panose="05000000000000000000" pitchFamily="2" charset="2"/>
              </a:rPr>
              <a:t> expected result: no</a:t>
            </a:r>
            <a:endParaRPr lang="en-US" dirty="0"/>
          </a:p>
          <a:p>
            <a:pPr marL="465750" lvl="1" indent="-285750">
              <a:buFontTx/>
              <a:buChar char="-"/>
            </a:pPr>
            <a:r>
              <a:rPr lang="en-US" dirty="0" err="1"/>
              <a:t>kubectl</a:t>
            </a:r>
            <a:r>
              <a:rPr lang="en-US" dirty="0"/>
              <a:t> </a:t>
            </a:r>
            <a:r>
              <a:rPr lang="en-US" dirty="0" err="1"/>
              <a:t>auth</a:t>
            </a:r>
            <a:r>
              <a:rPr lang="en-US" dirty="0"/>
              <a:t> can-</a:t>
            </a:r>
            <a:r>
              <a:rPr lang="en-US" dirty="0" err="1"/>
              <a:t>i</a:t>
            </a:r>
            <a:r>
              <a:rPr lang="en-US" dirty="0"/>
              <a:t> get nodes --as </a:t>
            </a:r>
            <a:r>
              <a:rPr lang="en-US" dirty="0" err="1"/>
              <a:t>system:serviceaccount:part</a:t>
            </a:r>
            <a:r>
              <a:rPr lang="en-US" dirty="0"/>
              <a:t>-&lt;id&gt;:default </a:t>
            </a:r>
            <a:r>
              <a:rPr lang="en-US" dirty="0">
                <a:sym typeface="Wingdings" panose="05000000000000000000" pitchFamily="2" charset="2"/>
              </a:rPr>
              <a:t> expected result: yes (due to the </a:t>
            </a:r>
            <a:r>
              <a:rPr lang="en-US" dirty="0" err="1">
                <a:sym typeface="Wingdings" panose="05000000000000000000" pitchFamily="2" charset="2"/>
              </a:rPr>
              <a:t>clusterrolebinding</a:t>
            </a:r>
            <a:r>
              <a:rPr lang="en-US" dirty="0">
                <a:sym typeface="Wingdings" panose="05000000000000000000" pitchFamily="2" charset="2"/>
              </a:rPr>
              <a:t>)</a:t>
            </a:r>
            <a:endParaRPr lang="en-US" dirty="0"/>
          </a:p>
          <a:p>
            <a:pPr marL="285750" lvl="0" indent="-285750">
              <a:buFontTx/>
              <a:buChar char="-"/>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2560076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imagePullPolicy</a:t>
            </a:r>
            <a:r>
              <a:rPr lang="en-US" dirty="0"/>
              <a:t> specifies for each container, in which cases the image should be downloaded to the node.</a:t>
            </a:r>
          </a:p>
          <a:p>
            <a:endParaRPr lang="en-US" dirty="0"/>
          </a:p>
          <a:p>
            <a:r>
              <a:rPr lang="en-US" dirty="0"/>
              <a:t>Always: </a:t>
            </a:r>
          </a:p>
          <a:p>
            <a:pPr marL="285750" indent="-285750">
              <a:buFontTx/>
              <a:buChar char="-"/>
            </a:pPr>
            <a:r>
              <a:rPr lang="en-US" dirty="0"/>
              <a:t>download each and every time a container is created. </a:t>
            </a:r>
          </a:p>
          <a:p>
            <a:pPr marL="285750" indent="-285750">
              <a:buFontTx/>
              <a:buChar char="-"/>
            </a:pPr>
            <a:r>
              <a:rPr lang="en-US" dirty="0"/>
              <a:t>increases security: there is no local image store that could be modified; in case of image updates with the same version tag there are no inconsistencies</a:t>
            </a:r>
          </a:p>
          <a:p>
            <a:pPr marL="285750" indent="-285750">
              <a:buFontTx/>
              <a:buChar char="-"/>
            </a:pPr>
            <a:r>
              <a:rPr lang="en-US" dirty="0"/>
              <a:t>may have impact on performance / startup time in case of large image size / poor network</a:t>
            </a:r>
          </a:p>
          <a:p>
            <a:pPr marL="0" indent="0">
              <a:buFontTx/>
              <a:buNone/>
            </a:pPr>
            <a:r>
              <a:rPr lang="en-US" dirty="0"/>
              <a:t>Never:</a:t>
            </a:r>
          </a:p>
          <a:p>
            <a:pPr marL="285750" indent="-285750">
              <a:buFontTx/>
              <a:buChar char="-"/>
            </a:pPr>
            <a:r>
              <a:rPr lang="en-US" dirty="0"/>
              <a:t>Requires a local image store on every node</a:t>
            </a:r>
          </a:p>
          <a:p>
            <a:pPr marL="285750" indent="-285750">
              <a:buFontTx/>
              <a:buChar char="-"/>
            </a:pPr>
            <a:r>
              <a:rPr lang="en-US" dirty="0"/>
              <a:t>Hard to maintain</a:t>
            </a:r>
          </a:p>
          <a:p>
            <a:pPr marL="285750" indent="-285750">
              <a:buFontTx/>
              <a:buChar char="-"/>
            </a:pPr>
            <a:r>
              <a:rPr lang="en-US" dirty="0"/>
              <a:t>No dependency to registry at runtime</a:t>
            </a:r>
          </a:p>
          <a:p>
            <a:pPr marL="0" indent="0">
              <a:buFontTx/>
              <a:buNone/>
            </a:pPr>
            <a:r>
              <a:rPr lang="en-US" dirty="0" err="1"/>
              <a:t>IfNotPresent</a:t>
            </a:r>
            <a:r>
              <a:rPr lang="en-US" dirty="0"/>
              <a:t>:</a:t>
            </a:r>
          </a:p>
          <a:p>
            <a:pPr marL="285750" indent="-285750">
              <a:buFontTx/>
              <a:buChar char="-"/>
            </a:pPr>
            <a:r>
              <a:rPr lang="en-US" dirty="0"/>
              <a:t>“Download once”</a:t>
            </a:r>
          </a:p>
          <a:p>
            <a:pPr marL="285750" indent="-285750">
              <a:buFontTx/>
              <a:buChar char="-"/>
            </a:pPr>
            <a:r>
              <a:rPr lang="en-US" dirty="0"/>
              <a:t>May cause issues with outdated images (if version tag is re-used)</a:t>
            </a:r>
          </a:p>
          <a:p>
            <a:pPr marL="285750" indent="-285750">
              <a:buFontTx/>
              <a:buChar char="-"/>
            </a:pPr>
            <a:r>
              <a:rPr lang="en-US"/>
              <a:t>Usually sufficient</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4100732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daemon runs on</a:t>
            </a:r>
            <a:r>
              <a:rPr lang="en-US" baseline="0" dirty="0"/>
              <a:t> each node and has an individual, local image store. So each time a pod is scheduled on a node, the daemon checks, if the image is already present.</a:t>
            </a:r>
          </a:p>
          <a:p>
            <a:r>
              <a:rPr lang="en-US" baseline="0" dirty="0"/>
              <a:t>If not the image has to be pulled (= downloaded).</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1738597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registries</a:t>
            </a:r>
            <a:r>
              <a:rPr lang="en-US" baseline="0" dirty="0"/>
              <a:t> are usually protect by user &amp; password</a:t>
            </a:r>
          </a:p>
          <a:p>
            <a:r>
              <a:rPr lang="en-US" baseline="0" dirty="0" err="1"/>
              <a:t>Adocker</a:t>
            </a:r>
            <a:r>
              <a:rPr lang="en-US" baseline="0" dirty="0"/>
              <a:t> daemon cannot pull images from a protected registry anonymously</a:t>
            </a:r>
          </a:p>
          <a:p>
            <a:r>
              <a:rPr lang="en-US" baseline="0" dirty="0"/>
              <a:t>=&gt; So there is authentication required, similar to a local docker installation, where you run a docker login &lt;registry&gt;</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48417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Pull</a:t>
            </a:r>
            <a:r>
              <a:rPr lang="en-US" baseline="0" dirty="0"/>
              <a:t> Secrets contain the same info as .</a:t>
            </a:r>
            <a:r>
              <a:rPr lang="en-US" baseline="0" dirty="0" err="1"/>
              <a:t>docker</a:t>
            </a:r>
            <a:r>
              <a:rPr lang="en-US" baseline="0" dirty="0"/>
              <a:t>/</a:t>
            </a:r>
            <a:r>
              <a:rPr lang="en-US" baseline="0" dirty="0" err="1"/>
              <a:t>config.json</a:t>
            </a:r>
            <a:r>
              <a:rPr lang="en-US" baseline="0" dirty="0"/>
              <a:t> &amp; works similar to ‘</a:t>
            </a:r>
            <a:r>
              <a:rPr lang="en-US" baseline="0" dirty="0" err="1"/>
              <a:t>docker</a:t>
            </a:r>
            <a:r>
              <a:rPr lang="en-US" baseline="0" dirty="0"/>
              <a:t> login …’</a:t>
            </a:r>
          </a:p>
          <a:p>
            <a:r>
              <a:rPr lang="en-US" baseline="0" dirty="0" err="1"/>
              <a:t>ImagePullSecrets</a:t>
            </a:r>
            <a:r>
              <a:rPr lang="en-US" baseline="0" dirty="0"/>
              <a:t> can be specified as part of the </a:t>
            </a:r>
            <a:r>
              <a:rPr lang="en-US" baseline="0" dirty="0" err="1"/>
              <a:t>PodSpec</a:t>
            </a:r>
            <a:r>
              <a:rPr lang="en-US" baseline="0" dirty="0"/>
              <a:t>: https://kubernetes.io/docs/reference/generated/kubernetes-api/v1.12/#podspec-v1-core</a:t>
            </a:r>
          </a:p>
          <a:p>
            <a:r>
              <a:rPr lang="en-US" baseline="0" dirty="0"/>
              <a:t>Without such a secret, the pod will end in an error state because the image cannot be downloaded</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2752729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Editing every single pod specification is cumbersome and might introduce dependencies you want to avoid. </a:t>
            </a:r>
          </a:p>
          <a:p>
            <a:r>
              <a:rPr lang="en-US" dirty="0"/>
              <a:t>The easier way is to assign</a:t>
            </a:r>
            <a:r>
              <a:rPr lang="en-US" baseline="0" dirty="0"/>
              <a:t> the image pull secret to the default (or any other) service account.</a:t>
            </a:r>
          </a:p>
          <a:p>
            <a:r>
              <a:rPr lang="en-US" baseline="0" dirty="0"/>
              <a:t>As explained earlier, the service account gives its’ identity to the pod. Hence the pod can use the image pull secret implicitly.</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1420862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could an example look like?</a:t>
            </a:r>
          </a:p>
          <a:p>
            <a:r>
              <a:rPr lang="en-US" dirty="0"/>
              <a:t>Imagine, you develop locally and push your ready docker images to the </a:t>
            </a:r>
            <a:r>
              <a:rPr lang="en-US" dirty="0" err="1"/>
              <a:t>artifactory</a:t>
            </a:r>
            <a:r>
              <a:rPr lang="en-US" dirty="0"/>
              <a:t> in DMZ. To do so, you probably use your personal credentials to the registry and the target repository.</a:t>
            </a:r>
          </a:p>
          <a:p>
            <a:endParaRPr lang="en-US" dirty="0"/>
          </a:p>
          <a:p>
            <a:r>
              <a:rPr lang="en-US" dirty="0"/>
              <a:t>To deploy your application to Kubernetes, you write a deployment and specify the image you pushed to </a:t>
            </a:r>
            <a:r>
              <a:rPr lang="en-US" dirty="0" err="1"/>
              <a:t>artifactory</a:t>
            </a:r>
            <a:r>
              <a:rPr lang="en-US" dirty="0"/>
              <a:t>. When posting the deployment to the API server, the pod creation fails as the image cannot be downloaded – permission denied.</a:t>
            </a:r>
          </a:p>
          <a:p>
            <a:r>
              <a:rPr lang="en-US" dirty="0"/>
              <a:t>So next, you create an Image Pull Secret with the credentials of a technical user and attach it to the default service account of your namespace. Now the docker daemons on your nodes can download the image.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88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pod &amp; container spec provide several options to prevent security issues.</a:t>
            </a:r>
          </a:p>
          <a:p>
            <a:endParaRPr lang="en-US" dirty="0"/>
          </a:p>
          <a:p>
            <a:r>
              <a:rPr lang="en-US" dirty="0"/>
              <a:t>Firstly, it is possible to limit the resource consumption of each container. This way it is not possible to consume all the resources of a host.</a:t>
            </a:r>
          </a:p>
          <a:p>
            <a:endParaRPr lang="en-US" dirty="0"/>
          </a:p>
          <a:p>
            <a:r>
              <a:rPr lang="en-US" dirty="0"/>
              <a:t>Secondly, you can specify certain security aspects, such as allowed capabilities, access to the underlying host or the user-IDs which are allowed in the context of the container. This will be part of the next presentation. </a:t>
            </a:r>
          </a:p>
        </p:txBody>
      </p:sp>
      <p:sp>
        <p:nvSpPr>
          <p:cNvPr id="4" name="Slide Number Placeholder 3"/>
          <p:cNvSpPr>
            <a:spLocks noGrp="1"/>
          </p:cNvSpPr>
          <p:nvPr>
            <p:ph type="sldNum" sz="quarter" idx="5"/>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1691859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are specified on container level. </a:t>
            </a:r>
          </a:p>
          <a:p>
            <a:endParaRPr lang="en-US" dirty="0"/>
          </a:p>
          <a:p>
            <a:r>
              <a:rPr lang="en-US" dirty="0"/>
              <a:t>It is a very good practice to specify the limits as well as the “initial” requests for </a:t>
            </a:r>
            <a:r>
              <a:rPr lang="en-US" dirty="0" err="1"/>
              <a:t>cpu</a:t>
            </a:r>
            <a:r>
              <a:rPr lang="en-US" dirty="0"/>
              <a:t> and memory. Request information make scheduling a lot easier.</a:t>
            </a:r>
          </a:p>
          <a:p>
            <a:endParaRPr lang="en-US" dirty="0"/>
          </a:p>
          <a:p>
            <a:r>
              <a:rPr lang="en-US" dirty="0"/>
              <a:t>CPU can be quantified as 1-n CPU (vCPU/</a:t>
            </a:r>
            <a:r>
              <a:rPr lang="en-US" dirty="0" err="1"/>
              <a:t>vCore</a:t>
            </a:r>
            <a:r>
              <a:rPr lang="en-US" dirty="0"/>
              <a:t> for cloud, </a:t>
            </a:r>
            <a:r>
              <a:rPr lang="en-US" dirty="0" err="1"/>
              <a:t>hyperthread</a:t>
            </a:r>
            <a:r>
              <a:rPr lang="en-US" dirty="0"/>
              <a:t> for bare-metal Intel processor) or a fraction of 1. Fractions are specified as in two different notations  0.25 (one quarter of a CPU) or 250m (250 </a:t>
            </a:r>
            <a:r>
              <a:rPr lang="en-US" dirty="0" err="1"/>
              <a:t>millicpu</a:t>
            </a:r>
            <a:r>
              <a:rPr lang="en-US" dirty="0"/>
              <a:t>), but both are understood as the same value.</a:t>
            </a:r>
          </a:p>
          <a:p>
            <a:endParaRPr lang="en-US" dirty="0"/>
          </a:p>
          <a:p>
            <a:r>
              <a:rPr lang="en-US" dirty="0"/>
              <a:t>Memory is measured in bytes. It is possible to express it as integer, abbreviate with </a:t>
            </a:r>
            <a:r>
              <a:rPr lang="de-DE" sz="1400" b="0" i="0" kern="1200" dirty="0">
                <a:solidFill>
                  <a:schemeClr val="tx1"/>
                </a:solidFill>
                <a:effectLst/>
                <a:latin typeface="+mn-lt"/>
                <a:ea typeface="+mn-ea"/>
                <a:cs typeface="+mn-cs"/>
              </a:rPr>
              <a:t>E, P, T, G, M, K </a:t>
            </a:r>
            <a:r>
              <a:rPr lang="de-DE" sz="1400" b="0" i="0" kern="1200" dirty="0" err="1">
                <a:solidFill>
                  <a:schemeClr val="tx1"/>
                </a:solidFill>
                <a:effectLst/>
                <a:latin typeface="+mn-lt"/>
                <a:ea typeface="+mn-ea"/>
                <a:cs typeface="+mn-cs"/>
              </a:rPr>
              <a:t>or</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use</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the</a:t>
            </a:r>
            <a:r>
              <a:rPr lang="de-DE" sz="1400" b="0" i="0" kern="1200" dirty="0">
                <a:solidFill>
                  <a:schemeClr val="tx1"/>
                </a:solidFill>
                <a:effectLst/>
                <a:latin typeface="+mn-lt"/>
                <a:ea typeface="+mn-ea"/>
                <a:cs typeface="+mn-cs"/>
              </a:rPr>
              <a:t> power-</a:t>
            </a:r>
            <a:r>
              <a:rPr lang="de-DE" sz="1400" b="0" i="0" kern="1200" dirty="0" err="1">
                <a:solidFill>
                  <a:schemeClr val="tx1"/>
                </a:solidFill>
                <a:effectLst/>
                <a:latin typeface="+mn-lt"/>
                <a:ea typeface="+mn-ea"/>
                <a:cs typeface="+mn-cs"/>
              </a:rPr>
              <a:t>of</a:t>
            </a:r>
            <a:r>
              <a:rPr lang="de-DE" sz="1400" b="0" i="0" kern="1200" dirty="0">
                <a:solidFill>
                  <a:schemeClr val="tx1"/>
                </a:solidFill>
                <a:effectLst/>
                <a:latin typeface="+mn-lt"/>
                <a:ea typeface="+mn-ea"/>
                <a:cs typeface="+mn-cs"/>
              </a:rPr>
              <a:t>-</a:t>
            </a:r>
            <a:r>
              <a:rPr lang="de-DE" sz="1400" b="0" i="0" kern="1200" dirty="0" err="1">
                <a:solidFill>
                  <a:schemeClr val="tx1"/>
                </a:solidFill>
                <a:effectLst/>
                <a:latin typeface="+mn-lt"/>
                <a:ea typeface="+mn-ea"/>
                <a:cs typeface="+mn-cs"/>
              </a:rPr>
              <a:t>two</a:t>
            </a:r>
            <a:r>
              <a:rPr lang="de-DE" sz="1400" b="0" i="0" kern="1200" dirty="0">
                <a:solidFill>
                  <a:schemeClr val="tx1"/>
                </a:solidFill>
                <a:effectLst/>
                <a:latin typeface="+mn-lt"/>
                <a:ea typeface="+mn-ea"/>
                <a:cs typeface="+mn-cs"/>
              </a:rPr>
              <a:t> </a:t>
            </a:r>
            <a:r>
              <a:rPr lang="de-DE" sz="1400" b="0" i="0" kern="1200" dirty="0" err="1">
                <a:solidFill>
                  <a:schemeClr val="tx1"/>
                </a:solidFill>
                <a:effectLst/>
                <a:latin typeface="+mn-lt"/>
                <a:ea typeface="+mn-ea"/>
                <a:cs typeface="+mn-cs"/>
              </a:rPr>
              <a:t>equivalents</a:t>
            </a:r>
            <a:r>
              <a:rPr lang="de-DE" sz="1400" b="0" i="0" kern="1200" dirty="0">
                <a:solidFill>
                  <a:schemeClr val="tx1"/>
                </a:solidFill>
                <a:effectLst/>
                <a:latin typeface="+mn-lt"/>
                <a:ea typeface="+mn-ea"/>
                <a:cs typeface="+mn-cs"/>
              </a:rPr>
              <a:t> </a:t>
            </a:r>
            <a:r>
              <a:rPr lang="en-US" sz="1400" b="0" i="0" kern="1200" dirty="0" err="1">
                <a:solidFill>
                  <a:schemeClr val="tx1"/>
                </a:solidFill>
                <a:effectLst/>
                <a:latin typeface="+mn-lt"/>
                <a:ea typeface="+mn-ea"/>
                <a:cs typeface="+mn-cs"/>
              </a:rPr>
              <a:t>Ei</a:t>
            </a:r>
            <a:r>
              <a:rPr lang="en-US" sz="1400" b="0" i="0" kern="1200" dirty="0">
                <a:solidFill>
                  <a:schemeClr val="tx1"/>
                </a:solidFill>
                <a:effectLst/>
                <a:latin typeface="+mn-lt"/>
                <a:ea typeface="+mn-ea"/>
                <a:cs typeface="+mn-cs"/>
              </a:rPr>
              <a:t>, Pi, </a:t>
            </a:r>
            <a:r>
              <a:rPr lang="en-US" sz="1400" b="0" i="0" kern="1200" dirty="0" err="1">
                <a:solidFill>
                  <a:schemeClr val="tx1"/>
                </a:solidFill>
                <a:effectLst/>
                <a:latin typeface="+mn-lt"/>
                <a:ea typeface="+mn-ea"/>
                <a:cs typeface="+mn-cs"/>
              </a:rPr>
              <a:t>Ti</a:t>
            </a:r>
            <a:r>
              <a:rPr lang="en-US" sz="1400" b="0" i="0" kern="1200" dirty="0">
                <a:solidFill>
                  <a:schemeClr val="tx1"/>
                </a:solidFill>
                <a:effectLst/>
                <a:latin typeface="+mn-lt"/>
                <a:ea typeface="+mn-ea"/>
                <a:cs typeface="+mn-cs"/>
              </a:rPr>
              <a:t>, Gi, Mi, Ki</a:t>
            </a:r>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3186594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and limits are used to place pods on nodes. Requests do not exceed 100%, but in terms of limits – a node can be overcommitted heavily.</a:t>
            </a:r>
          </a:p>
          <a:p>
            <a:endParaRPr lang="en-US" dirty="0"/>
          </a:p>
          <a:p>
            <a:r>
              <a:rPr lang="en-US" dirty="0"/>
              <a:t>Check `</a:t>
            </a:r>
            <a:r>
              <a:rPr lang="en-US" dirty="0" err="1"/>
              <a:t>kubectl</a:t>
            </a:r>
            <a:r>
              <a:rPr lang="en-US" dirty="0"/>
              <a:t> describe node &lt;node-name` and show the resource section e.g.</a:t>
            </a:r>
          </a:p>
          <a:p>
            <a:endParaRPr lang="en-US" dirty="0"/>
          </a:p>
          <a:p>
            <a:r>
              <a:rPr lang="en-US" dirty="0"/>
              <a:t>Allocated resources:</a:t>
            </a:r>
          </a:p>
          <a:p>
            <a:r>
              <a:rPr lang="en-US" dirty="0"/>
              <a:t>  (Total limits may be over 100 percent, i.e., overcommitted.)</a:t>
            </a:r>
          </a:p>
          <a:p>
            <a:r>
              <a:rPr lang="en-US" dirty="0"/>
              <a:t>  Resource           Requests      Limits</a:t>
            </a:r>
          </a:p>
          <a:p>
            <a:r>
              <a:rPr lang="en-US" dirty="0"/>
              <a:t>  --------           --------      ------</a:t>
            </a:r>
          </a:p>
          <a:p>
            <a:r>
              <a:rPr lang="en-US" dirty="0"/>
              <a:t>  </a:t>
            </a:r>
            <a:r>
              <a:rPr lang="en-US" dirty="0" err="1"/>
              <a:t>cpu</a:t>
            </a:r>
            <a:r>
              <a:rPr lang="en-US" dirty="0"/>
              <a:t>                1915m (99%)   15435m (803%)</a:t>
            </a:r>
          </a:p>
          <a:p>
            <a:r>
              <a:rPr lang="en-US" dirty="0"/>
              <a:t>  memory             2396Mi (39%)  9653Mi (159%)</a:t>
            </a:r>
          </a:p>
          <a:p>
            <a:r>
              <a:rPr lang="en-US" dirty="0"/>
              <a:t>  ephemeral-storage  0 (0%)        0 (0%)</a:t>
            </a:r>
          </a:p>
          <a:p>
            <a:r>
              <a:rPr lang="en-US" dirty="0"/>
              <a:t>  hugepages-1Gi      0 (0%)        0 (0%)</a:t>
            </a:r>
          </a:p>
          <a:p>
            <a:r>
              <a:rPr lang="en-US" dirty="0"/>
              <a:t>  hugepages-2Mi      0 (0%)        0 (0%)</a:t>
            </a:r>
          </a:p>
        </p:txBody>
      </p:sp>
      <p:sp>
        <p:nvSpPr>
          <p:cNvPr id="4" name="Slide Number Placeholder 3"/>
          <p:cNvSpPr>
            <a:spLocks noGrp="1"/>
          </p:cNvSpPr>
          <p:nvPr>
            <p:ph type="sldNum" sz="quarter" idx="5"/>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3710754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request = limit, a pod is scheduled in class guaranteed</a:t>
            </a:r>
          </a:p>
          <a:p>
            <a:r>
              <a:rPr lang="en-US" dirty="0"/>
              <a:t>If there is at least a request or limit, a pod is scheduled in class burstable</a:t>
            </a:r>
          </a:p>
          <a:p>
            <a:r>
              <a:rPr lang="en-US" dirty="0"/>
              <a:t>If nothing is specified, </a:t>
            </a:r>
            <a:r>
              <a:rPr lang="en-US" dirty="0" err="1"/>
              <a:t>qos</a:t>
            </a:r>
            <a:r>
              <a:rPr lang="en-US" dirty="0"/>
              <a:t> class is best effort</a:t>
            </a:r>
          </a:p>
          <a:p>
            <a:endParaRPr lang="en-US" dirty="0"/>
          </a:p>
          <a:p>
            <a:r>
              <a:rPr lang="en-US" dirty="0"/>
              <a:t>Classes are used for scheduling and eviction decisions. QoS best effort pods are terminated first.</a:t>
            </a:r>
          </a:p>
        </p:txBody>
      </p:sp>
      <p:sp>
        <p:nvSpPr>
          <p:cNvPr id="4" name="Slide Number Placeholder 3"/>
          <p:cNvSpPr>
            <a:spLocks noGrp="1"/>
          </p:cNvSpPr>
          <p:nvPr>
            <p:ph type="sldNum" sz="quarter" idx="5"/>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3055934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Tree>
    <p:extLst>
      <p:ext uri="{BB962C8B-B14F-4D97-AF65-F5344CB8AC3E}">
        <p14:creationId xmlns:p14="http://schemas.microsoft.com/office/powerpoint/2010/main" val="2174285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20</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kubernetes.io/docs/concepts/containers/images#updating-image"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hyperlink" Target="https://github.com/kubernetes/community/blob/master/contributors/design-proposals/node/resource-qos.m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hyperlink" Target="https://kubernetes.io/docs/tasks/configure-pod-container/quality-service-pod/" TargetMode="External"/><Relationship Id="rId5" Type="http://schemas.openxmlformats.org/officeDocument/2006/relationships/image" Target="../media/image22.svg"/><Relationship Id="rId4" Type="http://schemas.openxmlformats.org/officeDocument/2006/relationships/image" Target="../media/image21.sv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kubernetes.io/docs/concepts/policy/resource-quotas/" TargetMode="Externa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3D19E-A8DA-4646-B054-3A090C73BA35}"/>
              </a:ext>
            </a:extLst>
          </p:cNvPr>
          <p:cNvSpPr>
            <a:spLocks noGrp="1"/>
          </p:cNvSpPr>
          <p:nvPr>
            <p:ph type="ctrTitle"/>
          </p:nvPr>
        </p:nvSpPr>
        <p:spPr/>
        <p:txBody>
          <a:bodyPr/>
          <a:lstStyle/>
          <a:p>
            <a:r>
              <a:rPr lang="en-US" dirty="0"/>
              <a:t>Cluster Access</a:t>
            </a:r>
            <a:br>
              <a:rPr lang="en-US" dirty="0"/>
            </a:br>
            <a:r>
              <a:rPr lang="en-US" dirty="0"/>
              <a:t>Management</a:t>
            </a:r>
          </a:p>
        </p:txBody>
      </p:sp>
      <p:pic>
        <p:nvPicPr>
          <p:cNvPr id="4" name="Picture 3">
            <a:extLst>
              <a:ext uri="{FF2B5EF4-FFF2-40B4-BE49-F238E27FC236}">
                <a16:creationId xmlns:a16="http://schemas.microsoft.com/office/drawing/2014/main" id="{609D5245-CD83-49FC-9537-CC22F80E50C3}"/>
              </a:ext>
            </a:extLst>
          </p:cNvPr>
          <p:cNvPicPr>
            <a:picLocks noChangeAspect="1"/>
          </p:cNvPicPr>
          <p:nvPr/>
        </p:nvPicPr>
        <p:blipFill>
          <a:blip r:embed="rId3"/>
          <a:stretch>
            <a:fillRect/>
          </a:stretch>
        </p:blipFill>
        <p:spPr>
          <a:xfrm>
            <a:off x="6097587" y="1067544"/>
            <a:ext cx="4045804" cy="4045804"/>
          </a:xfrm>
          <a:prstGeom prst="rect">
            <a:avLst/>
          </a:prstGeom>
        </p:spPr>
      </p:pic>
    </p:spTree>
    <p:extLst>
      <p:ext uri="{BB962C8B-B14F-4D97-AF65-F5344CB8AC3E}">
        <p14:creationId xmlns:p14="http://schemas.microsoft.com/office/powerpoint/2010/main" val="3227342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gray">
          <a:xfrm>
            <a:off x="2171701" y="3185160"/>
            <a:ext cx="6179820" cy="3303743"/>
          </a:xfrm>
          <a:prstGeom prst="rect">
            <a:avLst/>
          </a:prstGeom>
          <a:solidFill>
            <a:schemeClr val="bg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dirty="0">
                <a:solidFill>
                  <a:sysClr val="windowText" lastClr="000000"/>
                </a:solidFill>
                <a:ea typeface="Arial Unicode MS" pitchFamily="34" charset="-128"/>
                <a:cs typeface="Arial Unicode MS" pitchFamily="34" charset="-128"/>
              </a:rPr>
              <a:t>Namespace</a:t>
            </a:r>
            <a:endPar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dirty="0"/>
              <a:t>Service Accounts</a:t>
            </a:r>
          </a:p>
        </p:txBody>
      </p:sp>
      <p:sp>
        <p:nvSpPr>
          <p:cNvPr id="8" name="Rectangle 7"/>
          <p:cNvSpPr/>
          <p:nvPr/>
        </p:nvSpPr>
        <p:spPr>
          <a:xfrm>
            <a:off x="504000" y="1223190"/>
            <a:ext cx="10918380" cy="1708160"/>
          </a:xfrm>
          <a:prstGeom prst="rect">
            <a:avLst/>
          </a:prstGeom>
        </p:spPr>
        <p:txBody>
          <a:bodyPr wrap="square">
            <a:spAutoFit/>
          </a:bodyPr>
          <a:lstStyle/>
          <a:p>
            <a:pPr marL="342900" indent="-342900">
              <a:buFont typeface="Wingdings" panose="05000000000000000000" pitchFamily="2" charset="2"/>
              <a:buChar char="§"/>
            </a:pPr>
            <a:r>
              <a:rPr lang="en-US" dirty="0"/>
              <a:t>Service accounts are technical user in Kubernetes</a:t>
            </a:r>
          </a:p>
          <a:p>
            <a:pPr marL="342900" indent="-342900">
              <a:buFont typeface="Wingdings" panose="05000000000000000000" pitchFamily="2" charset="2"/>
              <a:buChar char="§"/>
            </a:pPr>
            <a:r>
              <a:rPr lang="en-US" dirty="0"/>
              <a:t>Bound to a namespace</a:t>
            </a:r>
          </a:p>
          <a:p>
            <a:pPr marL="342900" indent="-342900">
              <a:buFont typeface="Wingdings" panose="05000000000000000000" pitchFamily="2" charset="2"/>
              <a:buChar char="§"/>
            </a:pPr>
            <a:r>
              <a:rPr lang="en-US" dirty="0"/>
              <a:t>Allowed to communicate with the API server</a:t>
            </a:r>
          </a:p>
          <a:p>
            <a:pPr marL="342900" indent="-342900">
              <a:buFont typeface="Wingdings" panose="05000000000000000000" pitchFamily="2" charset="2"/>
              <a:buChar char="§"/>
            </a:pPr>
            <a:r>
              <a:rPr lang="en-US" dirty="0"/>
              <a:t>Provide identity for pods</a:t>
            </a:r>
          </a:p>
          <a:p>
            <a:pPr marL="342900" indent="-342900">
              <a:buFont typeface="Wingdings" panose="05000000000000000000" pitchFamily="2" charset="2"/>
              <a:buChar char="§"/>
            </a:pPr>
            <a:r>
              <a:rPr lang="en-US" dirty="0"/>
              <a:t>Pods can inherit permissions to access the API server or a registry (image pull secret)</a:t>
            </a:r>
          </a:p>
        </p:txBody>
      </p:sp>
      <p:sp>
        <p:nvSpPr>
          <p:cNvPr id="7" name="Rectangle 6"/>
          <p:cNvSpPr/>
          <p:nvPr/>
        </p:nvSpPr>
        <p:spPr bwMode="gray">
          <a:xfrm>
            <a:off x="3169059" y="3966951"/>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service account</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“default”</a:t>
            </a:r>
          </a:p>
        </p:txBody>
      </p:sp>
      <p:sp>
        <p:nvSpPr>
          <p:cNvPr id="12" name="Rectangle 11"/>
          <p:cNvSpPr/>
          <p:nvPr/>
        </p:nvSpPr>
        <p:spPr bwMode="gray">
          <a:xfrm>
            <a:off x="6624394" y="3383712"/>
            <a:ext cx="1488248" cy="116136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noProof="0" dirty="0">
                <a:ea typeface="Arial Unicode MS" pitchFamily="34" charset="-128"/>
                <a:cs typeface="Arial Unicode MS" pitchFamily="34" charset="-128"/>
              </a:rPr>
              <a:t>Pod</a:t>
            </a:r>
            <a:r>
              <a:rPr lang="en-US" sz="1800" b="1" kern="0" dirty="0">
                <a:ea typeface="Arial Unicode MS" pitchFamily="34" charset="-128"/>
                <a:cs typeface="Arial Unicode MS" pitchFamily="34" charset="-128"/>
              </a:rPr>
              <a:t> A</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runs as “default”</a:t>
            </a:r>
            <a:endParaRPr kumimoji="0" lang="en-US" sz="180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Rectangle 13"/>
          <p:cNvSpPr/>
          <p:nvPr/>
        </p:nvSpPr>
        <p:spPr bwMode="gray">
          <a:xfrm>
            <a:off x="6624394" y="5123209"/>
            <a:ext cx="1488248" cy="116136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noProof="0" dirty="0">
                <a:ea typeface="Arial Unicode MS" pitchFamily="34" charset="-128"/>
                <a:cs typeface="Arial Unicode MS" pitchFamily="34" charset="-128"/>
              </a:rPr>
              <a:t>Pod</a:t>
            </a:r>
            <a:r>
              <a:rPr lang="en-US" sz="1800" b="1" kern="0" dirty="0">
                <a:ea typeface="Arial Unicode MS" pitchFamily="34" charset="-128"/>
                <a:cs typeface="Arial Unicode MS" pitchFamily="34" charset="-128"/>
              </a:rPr>
              <a:t> B</a:t>
            </a:r>
            <a:r>
              <a:rPr lang="en-US" sz="1800" kern="0" dirty="0">
                <a:ea typeface="Arial Unicode MS" pitchFamily="34" charset="-128"/>
                <a:cs typeface="Arial Unicode MS" pitchFamily="34" charset="-128"/>
              </a:rPr>
              <a:t> </a:t>
            </a: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r</a:t>
            </a:r>
            <a:r>
              <a:rPr kumimoji="0" lang="en-US" sz="1800" i="0" u="none" strike="noStrike" kern="0" cap="none" spc="0" normalizeH="0" baseline="0" noProof="0" dirty="0" err="1">
                <a:ln>
                  <a:noFill/>
                </a:ln>
                <a:effectLst/>
                <a:uLnTx/>
                <a:uFillTx/>
                <a:ea typeface="Arial Unicode MS" pitchFamily="34" charset="-128"/>
                <a:cs typeface="Arial Unicode MS" pitchFamily="34" charset="-128"/>
              </a:rPr>
              <a:t>uns</a:t>
            </a:r>
            <a:r>
              <a:rPr kumimoji="0" lang="en-US" sz="1800" i="0" u="none" strike="noStrike" kern="0" cap="none" spc="0" normalizeH="0" baseline="0" noProof="0" dirty="0">
                <a:ln>
                  <a:noFill/>
                </a:ln>
                <a:effectLst/>
                <a:uLnTx/>
                <a:uFillTx/>
                <a:ea typeface="Arial Unicode MS" pitchFamily="34" charset="-128"/>
                <a:cs typeface="Arial Unicode MS" pitchFamily="34" charset="-128"/>
              </a:rPr>
              <a:t> as “default”</a:t>
            </a:r>
          </a:p>
        </p:txBody>
      </p:sp>
      <p:cxnSp>
        <p:nvCxnSpPr>
          <p:cNvPr id="16" name="Straight Arrow Connector 15"/>
          <p:cNvCxnSpPr>
            <a:cxnSpLocks/>
            <a:stCxn id="7" idx="3"/>
            <a:endCxn id="12" idx="1"/>
          </p:cNvCxnSpPr>
          <p:nvPr/>
        </p:nvCxnSpPr>
        <p:spPr>
          <a:xfrm flipV="1">
            <a:off x="4796990" y="3964396"/>
            <a:ext cx="1827404" cy="580684"/>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a:stCxn id="7" idx="3"/>
            <a:endCxn id="14" idx="1"/>
          </p:cNvCxnSpPr>
          <p:nvPr/>
        </p:nvCxnSpPr>
        <p:spPr>
          <a:xfrm>
            <a:off x="4796990" y="4545080"/>
            <a:ext cx="1827404" cy="1158813"/>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Cylinder 21"/>
          <p:cNvSpPr/>
          <p:nvPr/>
        </p:nvSpPr>
        <p:spPr bwMode="gray">
          <a:xfrm>
            <a:off x="3481540" y="5500723"/>
            <a:ext cx="1002967" cy="8129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secrets</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4" name="Straight Arrow Connector 23"/>
          <p:cNvCxnSpPr>
            <a:stCxn id="22" idx="1"/>
            <a:endCxn id="7" idx="2"/>
          </p:cNvCxnSpPr>
          <p:nvPr/>
        </p:nvCxnSpPr>
        <p:spPr>
          <a:xfrm flipV="1">
            <a:off x="3983024" y="5123209"/>
            <a:ext cx="1" cy="377514"/>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4191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17731-CC42-43E3-849B-940497F5CAEE}"/>
              </a:ext>
            </a:extLst>
          </p:cNvPr>
          <p:cNvSpPr>
            <a:spLocks noGrp="1"/>
          </p:cNvSpPr>
          <p:nvPr>
            <p:ph type="title"/>
          </p:nvPr>
        </p:nvSpPr>
        <p:spPr/>
        <p:txBody>
          <a:bodyPr/>
          <a:lstStyle/>
          <a:p>
            <a:r>
              <a:rPr lang="en-US" dirty="0"/>
              <a:t>Access tokens</a:t>
            </a:r>
          </a:p>
        </p:txBody>
      </p:sp>
      <p:sp>
        <p:nvSpPr>
          <p:cNvPr id="4" name="Rectangle 3">
            <a:extLst>
              <a:ext uri="{FF2B5EF4-FFF2-40B4-BE49-F238E27FC236}">
                <a16:creationId xmlns:a16="http://schemas.microsoft.com/office/drawing/2014/main" id="{DE145279-1C27-4FAF-ACEF-31C6357CA6F4}"/>
              </a:ext>
            </a:extLst>
          </p:cNvPr>
          <p:cNvSpPr/>
          <p:nvPr/>
        </p:nvSpPr>
        <p:spPr bwMode="gray">
          <a:xfrm>
            <a:off x="2782290" y="2725962"/>
            <a:ext cx="1687017" cy="1256875"/>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service account</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“default”</a:t>
            </a:r>
          </a:p>
        </p:txBody>
      </p:sp>
      <p:pic>
        <p:nvPicPr>
          <p:cNvPr id="12" name="Graphic 11" descr="Key">
            <a:extLst>
              <a:ext uri="{FF2B5EF4-FFF2-40B4-BE49-F238E27FC236}">
                <a16:creationId xmlns:a16="http://schemas.microsoft.com/office/drawing/2014/main" id="{71DC3F31-EDBC-4495-996D-634C004CA2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27503" y="4838876"/>
            <a:ext cx="996591" cy="996591"/>
          </a:xfrm>
          <a:prstGeom prst="rect">
            <a:avLst/>
          </a:prstGeom>
        </p:spPr>
      </p:pic>
      <p:pic>
        <p:nvPicPr>
          <p:cNvPr id="14" name="Graphic 13" descr="Unlock">
            <a:extLst>
              <a:ext uri="{FF2B5EF4-FFF2-40B4-BE49-F238E27FC236}">
                <a16:creationId xmlns:a16="http://schemas.microsoft.com/office/drawing/2014/main" id="{EAE8A90D-6D09-4795-85FC-3747F08A77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40630" y="2387997"/>
            <a:ext cx="914400" cy="914400"/>
          </a:xfrm>
          <a:prstGeom prst="rect">
            <a:avLst/>
          </a:prstGeom>
        </p:spPr>
      </p:pic>
      <p:cxnSp>
        <p:nvCxnSpPr>
          <p:cNvPr id="23" name="Straight Arrow Connector 22">
            <a:extLst>
              <a:ext uri="{FF2B5EF4-FFF2-40B4-BE49-F238E27FC236}">
                <a16:creationId xmlns:a16="http://schemas.microsoft.com/office/drawing/2014/main" id="{1DEEF2EB-CB81-477B-AC91-D57C55B931FA}"/>
              </a:ext>
            </a:extLst>
          </p:cNvPr>
          <p:cNvCxnSpPr>
            <a:cxnSpLocks/>
            <a:stCxn id="12" idx="0"/>
            <a:endCxn id="4" idx="2"/>
          </p:cNvCxnSpPr>
          <p:nvPr/>
        </p:nvCxnSpPr>
        <p:spPr>
          <a:xfrm flipV="1">
            <a:off x="3625799" y="3982837"/>
            <a:ext cx="0" cy="856039"/>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B124671-7AEB-4192-BC99-D63093699872}"/>
              </a:ext>
            </a:extLst>
          </p:cNvPr>
          <p:cNvCxnSpPr>
            <a:cxnSpLocks/>
            <a:stCxn id="4" idx="3"/>
            <a:endCxn id="5" idx="1"/>
          </p:cNvCxnSpPr>
          <p:nvPr/>
        </p:nvCxnSpPr>
        <p:spPr>
          <a:xfrm flipV="1">
            <a:off x="4469307" y="3354399"/>
            <a:ext cx="1627932" cy="1"/>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D78219B-2988-48FC-955A-468553065B6F}"/>
              </a:ext>
            </a:extLst>
          </p:cNvPr>
          <p:cNvCxnSpPr>
            <a:cxnSpLocks/>
            <a:endCxn id="5" idx="2"/>
          </p:cNvCxnSpPr>
          <p:nvPr/>
        </p:nvCxnSpPr>
        <p:spPr>
          <a:xfrm flipV="1">
            <a:off x="4221126" y="4164794"/>
            <a:ext cx="2918882" cy="852341"/>
          </a:xfrm>
          <a:prstGeom prst="straightConnector1">
            <a:avLst/>
          </a:prstGeom>
          <a:ln w="57150">
            <a:solidFill>
              <a:schemeClr val="tx1"/>
            </a:solidFill>
            <a:prstDash val="sys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472BF48-C0EC-4805-8605-67BE96FA0B9B}"/>
              </a:ext>
            </a:extLst>
          </p:cNvPr>
          <p:cNvSpPr/>
          <p:nvPr/>
        </p:nvSpPr>
        <p:spPr bwMode="gray">
          <a:xfrm>
            <a:off x="6097239" y="2544004"/>
            <a:ext cx="2085537" cy="1620790"/>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b="1" kern="0">
                <a:ea typeface="Arial Unicode MS" pitchFamily="34" charset="-128"/>
              </a:rPr>
              <a:t>Pod </a:t>
            </a:r>
            <a:r>
              <a:rPr lang="en-US" sz="1800" b="1" kern="0" dirty="0">
                <a:ea typeface="Arial Unicode MS" pitchFamily="34" charset="-128"/>
              </a:rPr>
              <a:t>A</a:t>
            </a:r>
          </a:p>
          <a:p>
            <a:pPr algn="ctr" defTabSz="914400" fontAlgn="base">
              <a:spcBef>
                <a:spcPct val="50000"/>
              </a:spcBef>
              <a:spcAft>
                <a:spcPct val="0"/>
              </a:spcAft>
              <a:buClr>
                <a:srgbClr val="F0AB00"/>
              </a:buClr>
              <a:buSzPct val="80000"/>
            </a:pPr>
            <a:endParaRPr lang="en-US" sz="1800" b="1" kern="0" dirty="0">
              <a:ea typeface="Arial Unicode MS" pitchFamily="34" charset="-128"/>
            </a:endParaRPr>
          </a:p>
        </p:txBody>
      </p:sp>
      <p:pic>
        <p:nvPicPr>
          <p:cNvPr id="36" name="Graphic 35" descr="Key">
            <a:extLst>
              <a:ext uri="{FF2B5EF4-FFF2-40B4-BE49-F238E27FC236}">
                <a16:creationId xmlns:a16="http://schemas.microsoft.com/office/drawing/2014/main" id="{80B62C01-58B5-4071-9DDB-F003BB901F6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09355" y="3380265"/>
            <a:ext cx="661303" cy="661303"/>
          </a:xfrm>
          <a:prstGeom prst="rect">
            <a:avLst/>
          </a:prstGeom>
        </p:spPr>
      </p:pic>
      <p:cxnSp>
        <p:nvCxnSpPr>
          <p:cNvPr id="39" name="Straight Arrow Connector 38">
            <a:extLst>
              <a:ext uri="{FF2B5EF4-FFF2-40B4-BE49-F238E27FC236}">
                <a16:creationId xmlns:a16="http://schemas.microsoft.com/office/drawing/2014/main" id="{3DE718AC-7723-4BF8-8354-ACFB0B2A223D}"/>
              </a:ext>
            </a:extLst>
          </p:cNvPr>
          <p:cNvCxnSpPr>
            <a:cxnSpLocks/>
            <a:stCxn id="5" idx="3"/>
            <a:endCxn id="41" idx="1"/>
          </p:cNvCxnSpPr>
          <p:nvPr/>
        </p:nvCxnSpPr>
        <p:spPr>
          <a:xfrm>
            <a:off x="8182776" y="3354399"/>
            <a:ext cx="1230109" cy="0"/>
          </a:xfrm>
          <a:prstGeom prst="straightConnector1">
            <a:avLst/>
          </a:prstGeom>
          <a:ln w="571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649FDE5F-9E7E-444C-AFE3-B1D01F5A36B9}"/>
              </a:ext>
            </a:extLst>
          </p:cNvPr>
          <p:cNvSpPr/>
          <p:nvPr/>
        </p:nvSpPr>
        <p:spPr bwMode="gray">
          <a:xfrm>
            <a:off x="9412885" y="2725961"/>
            <a:ext cx="1687017" cy="1256875"/>
          </a:xfrm>
          <a:prstGeom prst="rect">
            <a:avLst/>
          </a:prstGeom>
          <a:solidFill>
            <a:schemeClr val="bg1">
              <a:lumMod val="9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API Server</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45" name="Speech Bubble: Rectangle 44">
            <a:extLst>
              <a:ext uri="{FF2B5EF4-FFF2-40B4-BE49-F238E27FC236}">
                <a16:creationId xmlns:a16="http://schemas.microsoft.com/office/drawing/2014/main" id="{7A7532E8-C577-4360-8FFB-5E298588775D}"/>
              </a:ext>
            </a:extLst>
          </p:cNvPr>
          <p:cNvSpPr/>
          <p:nvPr/>
        </p:nvSpPr>
        <p:spPr bwMode="gray">
          <a:xfrm>
            <a:off x="504001" y="1238037"/>
            <a:ext cx="2707032" cy="1256875"/>
          </a:xfrm>
          <a:prstGeom prst="wedgeRectCallout">
            <a:avLst>
              <a:gd name="adj1" fmla="val 72812"/>
              <a:gd name="adj2" fmla="val 55763"/>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Each service account has a secret with a key to the API server</a:t>
            </a:r>
          </a:p>
        </p:txBody>
      </p:sp>
      <p:sp>
        <p:nvSpPr>
          <p:cNvPr id="46" name="Rectangle 45">
            <a:extLst>
              <a:ext uri="{FF2B5EF4-FFF2-40B4-BE49-F238E27FC236}">
                <a16:creationId xmlns:a16="http://schemas.microsoft.com/office/drawing/2014/main" id="{7874DA26-4A69-4045-A8CC-AF9057BAA905}"/>
              </a:ext>
            </a:extLst>
          </p:cNvPr>
          <p:cNvSpPr/>
          <p:nvPr/>
        </p:nvSpPr>
        <p:spPr>
          <a:xfrm>
            <a:off x="2486654" y="5799272"/>
            <a:ext cx="2278288" cy="646331"/>
          </a:xfrm>
          <a:prstGeom prst="rect">
            <a:avLst/>
          </a:prstGeom>
        </p:spPr>
        <p:txBody>
          <a:bodyPr wrap="square">
            <a:spAutoFit/>
          </a:bodyP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access key to API server</a:t>
            </a:r>
          </a:p>
        </p:txBody>
      </p:sp>
      <p:sp>
        <p:nvSpPr>
          <p:cNvPr id="51" name="Speech Bubble: Rectangle 50">
            <a:extLst>
              <a:ext uri="{FF2B5EF4-FFF2-40B4-BE49-F238E27FC236}">
                <a16:creationId xmlns:a16="http://schemas.microsoft.com/office/drawing/2014/main" id="{4ECEEEB1-2957-496D-B395-E503EF923F3E}"/>
              </a:ext>
            </a:extLst>
          </p:cNvPr>
          <p:cNvSpPr/>
          <p:nvPr/>
        </p:nvSpPr>
        <p:spPr bwMode="gray">
          <a:xfrm>
            <a:off x="457514" y="4363089"/>
            <a:ext cx="2278289" cy="1256875"/>
          </a:xfrm>
          <a:prstGeom prst="wedgeRectCallout">
            <a:avLst>
              <a:gd name="adj1" fmla="val 67212"/>
              <a:gd name="adj2" fmla="val 11774"/>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This key grants access to the API server</a:t>
            </a:r>
          </a:p>
        </p:txBody>
      </p:sp>
      <p:sp>
        <p:nvSpPr>
          <p:cNvPr id="52" name="Speech Bubble: Rectangle 51">
            <a:extLst>
              <a:ext uri="{FF2B5EF4-FFF2-40B4-BE49-F238E27FC236}">
                <a16:creationId xmlns:a16="http://schemas.microsoft.com/office/drawing/2014/main" id="{97616174-F1B6-421C-8CC8-7C43CA00009E}"/>
              </a:ext>
            </a:extLst>
          </p:cNvPr>
          <p:cNvSpPr/>
          <p:nvPr/>
        </p:nvSpPr>
        <p:spPr bwMode="gray">
          <a:xfrm>
            <a:off x="6000861" y="5017135"/>
            <a:ext cx="2278289" cy="1256875"/>
          </a:xfrm>
          <a:prstGeom prst="wedgeRectCallout">
            <a:avLst>
              <a:gd name="adj1" fmla="val -48528"/>
              <a:gd name="adj2" fmla="val -72822"/>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Keys are mounted as volume into any pod by default</a:t>
            </a:r>
          </a:p>
        </p:txBody>
      </p:sp>
      <p:sp>
        <p:nvSpPr>
          <p:cNvPr id="56" name="Speech Bubble: Rectangle 55">
            <a:extLst>
              <a:ext uri="{FF2B5EF4-FFF2-40B4-BE49-F238E27FC236}">
                <a16:creationId xmlns:a16="http://schemas.microsoft.com/office/drawing/2014/main" id="{0772CDB3-621D-46D1-80E8-CA3925114009}"/>
              </a:ext>
            </a:extLst>
          </p:cNvPr>
          <p:cNvSpPr/>
          <p:nvPr/>
        </p:nvSpPr>
        <p:spPr bwMode="gray">
          <a:xfrm>
            <a:off x="8340630" y="471829"/>
            <a:ext cx="2823115" cy="1256875"/>
          </a:xfrm>
          <a:prstGeom prst="wedgeRectCallout">
            <a:avLst>
              <a:gd name="adj1" fmla="val -36133"/>
              <a:gd name="adj2" fmla="val 93830"/>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Anyone within the pod can use the key to access the API server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8520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1" grpId="0" animBg="1"/>
      <p:bldP spid="52" grpId="0" animBg="1"/>
      <p:bldP spid="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gray">
          <a:xfrm>
            <a:off x="619347" y="3185160"/>
            <a:ext cx="6179820" cy="3303743"/>
          </a:xfrm>
          <a:prstGeom prst="rect">
            <a:avLst/>
          </a:prstGeom>
          <a:solidFill>
            <a:schemeClr val="bg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dirty="0">
                <a:solidFill>
                  <a:sysClr val="windowText" lastClr="000000"/>
                </a:solidFill>
                <a:ea typeface="Arial Unicode MS" pitchFamily="34" charset="-128"/>
                <a:cs typeface="Arial Unicode MS" pitchFamily="34" charset="-128"/>
              </a:rPr>
              <a:t>Namespace</a:t>
            </a:r>
            <a:endPar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dirty="0"/>
              <a:t>Role based access control (RBAC)</a:t>
            </a:r>
          </a:p>
        </p:txBody>
      </p:sp>
      <p:sp>
        <p:nvSpPr>
          <p:cNvPr id="8" name="Rectangle 7"/>
          <p:cNvSpPr/>
          <p:nvPr/>
        </p:nvSpPr>
        <p:spPr>
          <a:xfrm>
            <a:off x="504000" y="1223190"/>
            <a:ext cx="10918380" cy="1384995"/>
          </a:xfrm>
          <a:prstGeom prst="rect">
            <a:avLst/>
          </a:prstGeom>
        </p:spPr>
        <p:txBody>
          <a:bodyPr wrap="square">
            <a:spAutoFit/>
          </a:bodyPr>
          <a:lstStyle/>
          <a:p>
            <a:pPr marL="342900" indent="-342900">
              <a:buFont typeface="Wingdings" panose="05000000000000000000" pitchFamily="2" charset="2"/>
              <a:buChar char="§"/>
            </a:pPr>
            <a:r>
              <a:rPr lang="en-US" dirty="0"/>
              <a:t>roles define which </a:t>
            </a:r>
            <a:r>
              <a:rPr lang="en-US" dirty="0" err="1"/>
              <a:t>api’s</a:t>
            </a:r>
            <a:r>
              <a:rPr lang="en-US" dirty="0"/>
              <a:t> / resources can be accessed in which way</a:t>
            </a:r>
          </a:p>
          <a:p>
            <a:pPr marL="342900" indent="-342900">
              <a:buFont typeface="Wingdings" panose="05000000000000000000" pitchFamily="2" charset="2"/>
              <a:buChar char="§"/>
            </a:pPr>
            <a:r>
              <a:rPr lang="en-US" dirty="0"/>
              <a:t>Roles can be assigned to service accounts</a:t>
            </a:r>
          </a:p>
          <a:p>
            <a:pPr marL="342900" indent="-342900">
              <a:buFont typeface="Wingdings" panose="05000000000000000000" pitchFamily="2" charset="2"/>
              <a:buChar char="§"/>
            </a:pPr>
            <a:r>
              <a:rPr lang="en-US" dirty="0"/>
              <a:t>Roles are pre-configured or custom defined</a:t>
            </a:r>
          </a:p>
          <a:p>
            <a:pPr marL="342900" indent="-342900">
              <a:buFont typeface="Wingdings" panose="05000000000000000000" pitchFamily="2" charset="2"/>
              <a:buChar char="§"/>
            </a:pPr>
            <a:r>
              <a:rPr lang="en-US" dirty="0"/>
              <a:t>Bindings: cluster-wide or restricted to namespace </a:t>
            </a:r>
          </a:p>
        </p:txBody>
      </p:sp>
      <p:sp>
        <p:nvSpPr>
          <p:cNvPr id="7" name="Rectangle 6"/>
          <p:cNvSpPr/>
          <p:nvPr/>
        </p:nvSpPr>
        <p:spPr bwMode="gray">
          <a:xfrm>
            <a:off x="1677666" y="4349097"/>
            <a:ext cx="1315448" cy="77411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Role binding</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Rectangle 11"/>
          <p:cNvSpPr/>
          <p:nvPr/>
        </p:nvSpPr>
        <p:spPr bwMode="gray">
          <a:xfrm>
            <a:off x="5072039" y="3542373"/>
            <a:ext cx="1445719"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noProof="0" dirty="0" err="1">
                <a:ea typeface="Arial Unicode MS" pitchFamily="34" charset="-128"/>
                <a:cs typeface="Arial Unicode MS" pitchFamily="34" charset="-128"/>
              </a:rPr>
              <a:t>ConfigMap</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Rectangle 13"/>
          <p:cNvSpPr/>
          <p:nvPr/>
        </p:nvSpPr>
        <p:spPr bwMode="gray">
          <a:xfrm>
            <a:off x="5072039" y="5477853"/>
            <a:ext cx="1445719"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noProof="0" dirty="0">
                <a:ea typeface="Arial Unicode MS" pitchFamily="34" charset="-128"/>
                <a:cs typeface="Arial Unicode MS" pitchFamily="34" charset="-128"/>
              </a:rPr>
              <a:t>Secret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Straight Arrow Connector 15"/>
          <p:cNvCxnSpPr>
            <a:stCxn id="25" idx="1"/>
            <a:endCxn id="7" idx="0"/>
          </p:cNvCxnSpPr>
          <p:nvPr/>
        </p:nvCxnSpPr>
        <p:spPr>
          <a:xfrm flipH="1">
            <a:off x="2335390" y="3924660"/>
            <a:ext cx="1" cy="424437"/>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a:stCxn id="7" idx="3"/>
            <a:endCxn id="14" idx="1"/>
          </p:cNvCxnSpPr>
          <p:nvPr/>
        </p:nvCxnSpPr>
        <p:spPr>
          <a:xfrm>
            <a:off x="2993114" y="4736153"/>
            <a:ext cx="2078925" cy="1145062"/>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Cylinder 21"/>
          <p:cNvSpPr/>
          <p:nvPr/>
        </p:nvSpPr>
        <p:spPr bwMode="gray">
          <a:xfrm>
            <a:off x="1829009" y="5526571"/>
            <a:ext cx="1002967" cy="8129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role</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4" name="Straight Arrow Connector 23"/>
          <p:cNvCxnSpPr>
            <a:stCxn id="22" idx="1"/>
            <a:endCxn id="7" idx="2"/>
          </p:cNvCxnSpPr>
          <p:nvPr/>
        </p:nvCxnSpPr>
        <p:spPr>
          <a:xfrm flipV="1">
            <a:off x="2330493" y="5123209"/>
            <a:ext cx="4897" cy="403362"/>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Flowchart: Delay 24"/>
          <p:cNvSpPr/>
          <p:nvPr/>
        </p:nvSpPr>
        <p:spPr bwMode="gray">
          <a:xfrm rot="16200000">
            <a:off x="2157282" y="3594151"/>
            <a:ext cx="356217" cy="304800"/>
          </a:xfrm>
          <a:prstGeom prst="flowChartDelay">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6" name="Oval 25"/>
          <p:cNvSpPr/>
          <p:nvPr/>
        </p:nvSpPr>
        <p:spPr bwMode="gray">
          <a:xfrm>
            <a:off x="2205880" y="3243343"/>
            <a:ext cx="249224" cy="289560"/>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27" name="Straight Arrow Connector 26"/>
          <p:cNvCxnSpPr>
            <a:cxnSpLocks/>
            <a:endCxn id="12" idx="1"/>
          </p:cNvCxnSpPr>
          <p:nvPr/>
        </p:nvCxnSpPr>
        <p:spPr>
          <a:xfrm flipV="1">
            <a:off x="2967348" y="3945735"/>
            <a:ext cx="2104691" cy="790418"/>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6" name="Lightning Bolt 35"/>
          <p:cNvSpPr/>
          <p:nvPr/>
        </p:nvSpPr>
        <p:spPr bwMode="gray">
          <a:xfrm>
            <a:off x="3872454" y="4972948"/>
            <a:ext cx="436108" cy="877969"/>
          </a:xfrm>
          <a:prstGeom prst="lightningBol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4" name="Picture 3">
            <a:extLst>
              <a:ext uri="{FF2B5EF4-FFF2-40B4-BE49-F238E27FC236}">
                <a16:creationId xmlns:a16="http://schemas.microsoft.com/office/drawing/2014/main" id="{3A2E580D-EB83-4079-B611-A016A7F8D705}"/>
              </a:ext>
            </a:extLst>
          </p:cNvPr>
          <p:cNvPicPr>
            <a:picLocks noChangeAspect="1"/>
          </p:cNvPicPr>
          <p:nvPr/>
        </p:nvPicPr>
        <p:blipFill>
          <a:blip r:embed="rId3"/>
          <a:stretch>
            <a:fillRect/>
          </a:stretch>
        </p:blipFill>
        <p:spPr>
          <a:xfrm>
            <a:off x="7289450" y="3177564"/>
            <a:ext cx="4206870" cy="3303743"/>
          </a:xfrm>
          <a:prstGeom prst="rect">
            <a:avLst/>
          </a:prstGeom>
          <a:ln>
            <a:solidFill>
              <a:schemeClr val="tx1"/>
            </a:solidFill>
          </a:ln>
        </p:spPr>
      </p:pic>
      <p:sp>
        <p:nvSpPr>
          <p:cNvPr id="15" name="TextBox 14">
            <a:extLst>
              <a:ext uri="{FF2B5EF4-FFF2-40B4-BE49-F238E27FC236}">
                <a16:creationId xmlns:a16="http://schemas.microsoft.com/office/drawing/2014/main" id="{8C2B33E9-07B5-4446-8C24-D15925575CB9}"/>
              </a:ext>
            </a:extLst>
          </p:cNvPr>
          <p:cNvSpPr txBox="1"/>
          <p:nvPr/>
        </p:nvSpPr>
        <p:spPr>
          <a:xfrm>
            <a:off x="3295462" y="4118974"/>
            <a:ext cx="659218"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get</a:t>
            </a:r>
          </a:p>
        </p:txBody>
      </p:sp>
      <p:sp>
        <p:nvSpPr>
          <p:cNvPr id="28" name="TextBox 27">
            <a:extLst>
              <a:ext uri="{FF2B5EF4-FFF2-40B4-BE49-F238E27FC236}">
                <a16:creationId xmlns:a16="http://schemas.microsoft.com/office/drawing/2014/main" id="{AAEC202C-A10B-4708-BC6C-9F154D7E4EBB}"/>
              </a:ext>
            </a:extLst>
          </p:cNvPr>
          <p:cNvSpPr txBox="1"/>
          <p:nvPr/>
        </p:nvSpPr>
        <p:spPr>
          <a:xfrm>
            <a:off x="3350483" y="5249572"/>
            <a:ext cx="659218"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get</a:t>
            </a:r>
          </a:p>
        </p:txBody>
      </p:sp>
    </p:spTree>
    <p:extLst>
      <p:ext uri="{BB962C8B-B14F-4D97-AF65-F5344CB8AC3E}">
        <p14:creationId xmlns:p14="http://schemas.microsoft.com/office/powerpoint/2010/main" val="1324361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D4BF-5C0E-4BE1-A99C-25DBDC85D9CD}"/>
              </a:ext>
            </a:extLst>
          </p:cNvPr>
          <p:cNvSpPr>
            <a:spLocks noGrp="1"/>
          </p:cNvSpPr>
          <p:nvPr>
            <p:ph type="title"/>
          </p:nvPr>
        </p:nvSpPr>
        <p:spPr/>
        <p:txBody>
          <a:bodyPr/>
          <a:lstStyle/>
          <a:p>
            <a:r>
              <a:rPr lang="en-US" dirty="0"/>
              <a:t>Demo</a:t>
            </a:r>
          </a:p>
        </p:txBody>
      </p:sp>
      <p:pic>
        <p:nvPicPr>
          <p:cNvPr id="4" name="Picture 3">
            <a:extLst>
              <a:ext uri="{FF2B5EF4-FFF2-40B4-BE49-F238E27FC236}">
                <a16:creationId xmlns:a16="http://schemas.microsoft.com/office/drawing/2014/main" id="{5FE40FB9-B494-4A8D-9303-B2966A5347AB}"/>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4183284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3D19E-A8DA-4646-B054-3A090C73BA35}"/>
              </a:ext>
            </a:extLst>
          </p:cNvPr>
          <p:cNvSpPr>
            <a:spLocks noGrp="1"/>
          </p:cNvSpPr>
          <p:nvPr>
            <p:ph type="ctrTitle"/>
          </p:nvPr>
        </p:nvSpPr>
        <p:spPr/>
        <p:txBody>
          <a:bodyPr/>
          <a:lstStyle/>
          <a:p>
            <a:r>
              <a:rPr lang="en-US" dirty="0"/>
              <a:t>   Image Pulling</a:t>
            </a:r>
          </a:p>
        </p:txBody>
      </p:sp>
      <p:pic>
        <p:nvPicPr>
          <p:cNvPr id="4" name="Picture 3">
            <a:extLst>
              <a:ext uri="{FF2B5EF4-FFF2-40B4-BE49-F238E27FC236}">
                <a16:creationId xmlns:a16="http://schemas.microsoft.com/office/drawing/2014/main" id="{9462CB17-BFC1-4A54-A43C-70FE07186B57}"/>
              </a:ext>
            </a:extLst>
          </p:cNvPr>
          <p:cNvPicPr>
            <a:picLocks noChangeAspect="1"/>
          </p:cNvPicPr>
          <p:nvPr/>
        </p:nvPicPr>
        <p:blipFill>
          <a:blip r:embed="rId2"/>
          <a:stretch>
            <a:fillRect/>
          </a:stretch>
        </p:blipFill>
        <p:spPr>
          <a:xfrm>
            <a:off x="5558088" y="1506870"/>
            <a:ext cx="3844260" cy="3844260"/>
          </a:xfrm>
          <a:prstGeom prst="rect">
            <a:avLst/>
          </a:prstGeom>
        </p:spPr>
      </p:pic>
    </p:spTree>
    <p:extLst>
      <p:ext uri="{BB962C8B-B14F-4D97-AF65-F5344CB8AC3E}">
        <p14:creationId xmlns:p14="http://schemas.microsoft.com/office/powerpoint/2010/main" val="3891719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ImagePullPolicy</a:t>
            </a:r>
            <a:endParaRPr lang="en-US" dirty="0"/>
          </a:p>
        </p:txBody>
      </p:sp>
      <p:sp>
        <p:nvSpPr>
          <p:cNvPr id="18" name="Flowchart: Alternate Process 17"/>
          <p:cNvSpPr/>
          <p:nvPr/>
        </p:nvSpPr>
        <p:spPr bwMode="gray">
          <a:xfrm>
            <a:off x="684814" y="1739036"/>
            <a:ext cx="2504953" cy="1399560"/>
          </a:xfrm>
          <a:prstGeom prst="flowChartAlternateProcess">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Start Pod </a:t>
            </a:r>
            <a:r>
              <a:rPr lang="en-US" sz="1800" b="1" kern="0" dirty="0">
                <a:ea typeface="Arial Unicode MS" pitchFamily="34" charset="-128"/>
                <a:cs typeface="Arial Unicode MS" pitchFamily="34" charset="-128"/>
              </a:rPr>
              <a:t>with image &lt;&gt; </a:t>
            </a:r>
            <a:r>
              <a:rPr lang="en-US" sz="1800" b="1" kern="0" dirty="0" err="1">
                <a:ea typeface="Arial Unicode MS" pitchFamily="34" charset="-128"/>
                <a:cs typeface="Arial Unicode MS" pitchFamily="34" charset="-128"/>
              </a:rPr>
              <a:t>imagepullPolicy</a:t>
            </a:r>
            <a:r>
              <a:rPr lang="en-US" sz="1800" b="1" kern="0" dirty="0">
                <a:ea typeface="Arial Unicode MS" pitchFamily="34" charset="-128"/>
                <a:cs typeface="Arial Unicode MS" pitchFamily="34" charset="-128"/>
              </a:rPr>
              <a:t> &lt;&gt;</a:t>
            </a:r>
          </a:p>
        </p:txBody>
      </p:sp>
      <p:cxnSp>
        <p:nvCxnSpPr>
          <p:cNvPr id="19" name="Straight Arrow Connector 18"/>
          <p:cNvCxnSpPr>
            <a:cxnSpLocks/>
          </p:cNvCxnSpPr>
          <p:nvPr/>
        </p:nvCxnSpPr>
        <p:spPr>
          <a:xfrm>
            <a:off x="3189767" y="2428184"/>
            <a:ext cx="839973" cy="0"/>
          </a:xfrm>
          <a:prstGeom prst="straightConnector1">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9F75DE2B-6361-44E1-A924-72A682DF7528}"/>
              </a:ext>
            </a:extLst>
          </p:cNvPr>
          <p:cNvSpPr/>
          <p:nvPr/>
        </p:nvSpPr>
        <p:spPr>
          <a:xfrm>
            <a:off x="4269142" y="1739036"/>
            <a:ext cx="7421335" cy="3970318"/>
          </a:xfrm>
          <a:prstGeom prst="rect">
            <a:avLst/>
          </a:prstGeom>
        </p:spPr>
        <p:txBody>
          <a:bodyPr wrap="square">
            <a:spAutoFit/>
          </a:bodyPr>
          <a:lstStyle/>
          <a:p>
            <a:r>
              <a:rPr lang="en-US" b="1" dirty="0" err="1"/>
              <a:t>imagePullPolicy</a:t>
            </a:r>
            <a:r>
              <a:rPr lang="en-US" b="1" dirty="0"/>
              <a:t>:</a:t>
            </a:r>
            <a:endParaRPr lang="en-US" dirty="0"/>
          </a:p>
          <a:p>
            <a:pPr marL="342900" indent="-342900">
              <a:buFont typeface="Arial" panose="020B0604020202020204" pitchFamily="34" charset="0"/>
              <a:buChar char="•"/>
            </a:pPr>
            <a:r>
              <a:rPr lang="en-US" dirty="0"/>
              <a:t>Always</a:t>
            </a:r>
          </a:p>
          <a:p>
            <a:pPr marL="342900" indent="-342900">
              <a:buFont typeface="Arial" panose="020B0604020202020204" pitchFamily="34" charset="0"/>
              <a:buChar char="•"/>
            </a:pPr>
            <a:r>
              <a:rPr lang="en-US" dirty="0"/>
              <a:t>Never</a:t>
            </a:r>
          </a:p>
          <a:p>
            <a:pPr marL="342900" indent="-342900">
              <a:buFont typeface="Arial" panose="020B0604020202020204" pitchFamily="34" charset="0"/>
              <a:buChar char="•"/>
            </a:pPr>
            <a:r>
              <a:rPr lang="en-US" dirty="0" err="1"/>
              <a:t>IfNotPresent</a:t>
            </a:r>
            <a:r>
              <a:rPr lang="en-US" dirty="0"/>
              <a:t> </a:t>
            </a:r>
          </a:p>
          <a:p>
            <a:pPr marL="342900" indent="-342900">
              <a:buFont typeface="Arial" panose="020B0604020202020204" pitchFamily="34" charset="0"/>
              <a:buChar char="•"/>
            </a:pPr>
            <a:endParaRPr lang="en-US" dirty="0"/>
          </a:p>
          <a:p>
            <a:r>
              <a:rPr lang="en-US" dirty="0"/>
              <a:t>Default: </a:t>
            </a:r>
          </a:p>
          <a:p>
            <a:pPr marL="342900" indent="-342900">
              <a:buFont typeface="Arial" panose="020B0604020202020204" pitchFamily="34" charset="0"/>
              <a:buChar char="•"/>
            </a:pPr>
            <a:r>
              <a:rPr lang="en-US" dirty="0"/>
              <a:t>if “:latest” tag is specified: “Always”</a:t>
            </a:r>
          </a:p>
          <a:p>
            <a:pPr marL="342900" indent="-342900">
              <a:buFont typeface="Arial" panose="020B0604020202020204" pitchFamily="34" charset="0"/>
              <a:buChar char="•"/>
            </a:pPr>
            <a:r>
              <a:rPr lang="en-US" dirty="0"/>
              <a:t>Otherwise: </a:t>
            </a:r>
            <a:r>
              <a:rPr lang="en-US" dirty="0" err="1"/>
              <a:t>IfNotPresent</a:t>
            </a:r>
            <a:endParaRPr lang="en-US" dirty="0"/>
          </a:p>
          <a:p>
            <a:endParaRPr lang="en-US" dirty="0"/>
          </a:p>
          <a:p>
            <a:r>
              <a:rPr lang="en-US" dirty="0"/>
              <a:t>More info: </a:t>
            </a:r>
            <a:r>
              <a:rPr lang="en-US" dirty="0">
                <a:hlinkClick r:id="rId3"/>
              </a:rPr>
              <a:t>https://kubernetes.io/docs/concepts/containers/images#updating-image</a:t>
            </a:r>
            <a:r>
              <a:rPr lang="en-US" dirty="0"/>
              <a:t> </a:t>
            </a:r>
          </a:p>
        </p:txBody>
      </p:sp>
    </p:spTree>
    <p:extLst>
      <p:ext uri="{BB962C8B-B14F-4D97-AF65-F5344CB8AC3E}">
        <p14:creationId xmlns:p14="http://schemas.microsoft.com/office/powerpoint/2010/main" val="12003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ImagePullPolicy</a:t>
            </a:r>
            <a:r>
              <a:rPr lang="en-US" dirty="0"/>
              <a:t>: </a:t>
            </a:r>
            <a:r>
              <a:rPr lang="en-US" dirty="0" err="1"/>
              <a:t>IfNotPresent</a:t>
            </a:r>
            <a:endParaRPr lang="en-US" dirty="0"/>
          </a:p>
        </p:txBody>
      </p:sp>
      <p:grpSp>
        <p:nvGrpSpPr>
          <p:cNvPr id="13" name="Group 12"/>
          <p:cNvGrpSpPr/>
          <p:nvPr/>
        </p:nvGrpSpPr>
        <p:grpSpPr>
          <a:xfrm>
            <a:off x="4245927" y="1893570"/>
            <a:ext cx="3703320" cy="3070860"/>
            <a:chOff x="4359564" y="2183247"/>
            <a:chExt cx="3703320" cy="3070860"/>
          </a:xfrm>
        </p:grpSpPr>
        <p:sp>
          <p:nvSpPr>
            <p:cNvPr id="4" name="Rectangle 3"/>
            <p:cNvSpPr/>
            <p:nvPr/>
          </p:nvSpPr>
          <p:spPr bwMode="gray">
            <a:xfrm>
              <a:off x="4359564" y="2183247"/>
              <a:ext cx="3703320" cy="307086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Worker</a:t>
              </a:r>
            </a:p>
          </p:txBody>
        </p:sp>
        <p:sp>
          <p:nvSpPr>
            <p:cNvPr id="5" name="Rectangle 4"/>
            <p:cNvSpPr/>
            <p:nvPr/>
          </p:nvSpPr>
          <p:spPr bwMode="gray">
            <a:xfrm>
              <a:off x="4489104" y="3428273"/>
              <a:ext cx="3467358" cy="1653431"/>
            </a:xfrm>
            <a:prstGeom prst="rect">
              <a:avLst/>
            </a:prstGeom>
            <a:solidFill>
              <a:schemeClr val="accent1">
                <a:lumMod val="60000"/>
                <a:lumOff val="4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defTabSz="914400" eaLnBrk="1" fontAlgn="base" latinLnBrk="0" hangingPunct="1">
                <a:lnSpc>
                  <a:spcPct val="100000"/>
                </a:lnSpc>
                <a:spcBef>
                  <a:spcPct val="50000"/>
                </a:spcBef>
                <a:spcAft>
                  <a:spcPct val="0"/>
                </a:spcAft>
                <a:buClr>
                  <a:srgbClr val="F0AB00"/>
                </a:buClr>
                <a:buSzPct val="80000"/>
                <a:tabLst/>
              </a:pPr>
              <a:r>
                <a:rPr lang="de-DE" sz="2000" b="1" kern="0" noProof="0" dirty="0">
                  <a:ea typeface="Arial Unicode MS" pitchFamily="34" charset="-128"/>
                  <a:cs typeface="Arial Unicode MS" pitchFamily="34" charset="-128"/>
                </a:rPr>
                <a:t>D</a:t>
              </a:r>
              <a:r>
                <a:rPr kumimoji="0" lang="de-DE" sz="2000" b="1" i="0" strike="noStrike" kern="0" cap="none" spc="0" normalizeH="0" baseline="0" noProof="0" dirty="0">
                  <a:ln>
                    <a:noFill/>
                  </a:ln>
                  <a:effectLst/>
                  <a:uLnTx/>
                  <a:uFillTx/>
                  <a:ea typeface="Arial Unicode MS" pitchFamily="34" charset="-128"/>
                  <a:cs typeface="Arial Unicode MS" pitchFamily="34" charset="-128"/>
                </a:rPr>
                <a:t>ocker</a:t>
              </a:r>
              <a:endParaRPr kumimoji="0" lang="de-DE" sz="2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p:cNvSpPr/>
            <p:nvPr/>
          </p:nvSpPr>
          <p:spPr bwMode="gray">
            <a:xfrm>
              <a:off x="4900686" y="3874409"/>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6418302" y="3874409"/>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4" name="Rectangle 13"/>
          <p:cNvSpPr/>
          <p:nvPr/>
        </p:nvSpPr>
        <p:spPr bwMode="gray">
          <a:xfrm>
            <a:off x="3450210" y="1509330"/>
            <a:ext cx="6938127" cy="4420130"/>
          </a:xfrm>
          <a:prstGeom prst="rect">
            <a:avLst/>
          </a:prstGeom>
          <a:solidFill>
            <a:schemeClr val="accent1">
              <a:lumMod val="40000"/>
              <a:lumOff val="6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defTabSz="914400" eaLnBrk="1" fontAlgn="base" latinLnBrk="0" hangingPunct="1">
              <a:lnSpc>
                <a:spcPct val="100000"/>
              </a:lnSpc>
              <a:spcBef>
                <a:spcPct val="50000"/>
              </a:spcBef>
              <a:spcAft>
                <a:spcPct val="0"/>
              </a:spcAft>
              <a:buClr>
                <a:srgbClr val="F0AB00"/>
              </a:buClr>
              <a:buSzPct val="80000"/>
              <a:tabLst/>
            </a:pPr>
            <a:r>
              <a:rPr lang="de-DE" sz="2000" b="1" kern="0" noProof="0" dirty="0">
                <a:ea typeface="Arial Unicode MS" pitchFamily="34" charset="-128"/>
                <a:cs typeface="Arial Unicode MS" pitchFamily="34" charset="-128"/>
              </a:rPr>
              <a:t>D</a:t>
            </a:r>
            <a:r>
              <a:rPr kumimoji="0" lang="de-DE" sz="2000" b="1" i="0" strike="noStrike" kern="0" cap="none" spc="0" normalizeH="0" baseline="0" noProof="0" dirty="0">
                <a:ln>
                  <a:noFill/>
                </a:ln>
                <a:effectLst/>
                <a:uLnTx/>
                <a:uFillTx/>
                <a:ea typeface="Arial Unicode MS" pitchFamily="34" charset="-128"/>
                <a:cs typeface="Arial Unicode MS" pitchFamily="34" charset="-128"/>
              </a:rPr>
              <a:t>ocker</a:t>
            </a:r>
            <a:endParaRPr kumimoji="0" lang="de-DE" sz="2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17" name="Hexagon 16"/>
          <p:cNvSpPr/>
          <p:nvPr/>
        </p:nvSpPr>
        <p:spPr bwMode="gray">
          <a:xfrm>
            <a:off x="3847013" y="1739036"/>
            <a:ext cx="1880071" cy="1399560"/>
          </a:xfrm>
          <a:prstGeom prst="hexagon">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Image present already?</a:t>
            </a:r>
          </a:p>
        </p:txBody>
      </p:sp>
      <p:sp>
        <p:nvSpPr>
          <p:cNvPr id="18" name="Flowchart: Alternate Process 17"/>
          <p:cNvSpPr/>
          <p:nvPr/>
        </p:nvSpPr>
        <p:spPr bwMode="gray">
          <a:xfrm>
            <a:off x="684814" y="1739036"/>
            <a:ext cx="1880071" cy="1399560"/>
          </a:xfrm>
          <a:prstGeom prst="flowChartAlternateProcess">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Start Pod </a:t>
            </a:r>
            <a:r>
              <a:rPr lang="en-US" sz="1800" b="1" kern="0" dirty="0">
                <a:ea typeface="Arial Unicode MS" pitchFamily="34" charset="-128"/>
                <a:cs typeface="Arial Unicode MS" pitchFamily="34" charset="-128"/>
              </a:rPr>
              <a:t>with image &lt;&gt;</a:t>
            </a:r>
          </a:p>
        </p:txBody>
      </p:sp>
      <p:cxnSp>
        <p:nvCxnSpPr>
          <p:cNvPr id="19" name="Straight Arrow Connector 18"/>
          <p:cNvCxnSpPr>
            <a:stCxn id="18" idx="3"/>
            <a:endCxn id="17" idx="3"/>
          </p:cNvCxnSpPr>
          <p:nvPr/>
        </p:nvCxnSpPr>
        <p:spPr>
          <a:xfrm>
            <a:off x="2564885" y="2438816"/>
            <a:ext cx="1282128" cy="0"/>
          </a:xfrm>
          <a:prstGeom prst="straightConnector1">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Flowchart: Alternate Process 22"/>
          <p:cNvSpPr/>
          <p:nvPr/>
        </p:nvSpPr>
        <p:spPr bwMode="gray">
          <a:xfrm>
            <a:off x="8078787" y="3762312"/>
            <a:ext cx="1880071" cy="1399560"/>
          </a:xfrm>
          <a:prstGeom prst="flowChartAlternateProcess">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Start Pod </a:t>
            </a:r>
            <a:r>
              <a:rPr lang="en-US" sz="1800" b="1" kern="0" dirty="0">
                <a:ea typeface="Arial Unicode MS" pitchFamily="34" charset="-128"/>
                <a:cs typeface="Arial Unicode MS" pitchFamily="34" charset="-128"/>
              </a:rPr>
              <a:t>with image &lt;&gt;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4" name="Straight Arrow Connector 23"/>
          <p:cNvCxnSpPr>
            <a:endCxn id="28" idx="0"/>
          </p:cNvCxnSpPr>
          <p:nvPr/>
        </p:nvCxnSpPr>
        <p:spPr>
          <a:xfrm>
            <a:off x="4824462" y="3151343"/>
            <a:ext cx="1" cy="623251"/>
          </a:xfrm>
          <a:prstGeom prst="straightConnector1">
            <a:avLst/>
          </a:prstGeom>
          <a:ln w="57150">
            <a:solidFill>
              <a:schemeClr val="tx2">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Connector: Elbow 25"/>
          <p:cNvCxnSpPr>
            <a:stCxn id="17" idx="0"/>
            <a:endCxn id="23" idx="0"/>
          </p:cNvCxnSpPr>
          <p:nvPr/>
        </p:nvCxnSpPr>
        <p:spPr>
          <a:xfrm>
            <a:off x="5727084" y="2438816"/>
            <a:ext cx="3291739" cy="1323496"/>
          </a:xfrm>
          <a:prstGeom prst="bentConnector2">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Flowchart: Alternate Process 27"/>
          <p:cNvSpPr/>
          <p:nvPr/>
        </p:nvSpPr>
        <p:spPr bwMode="gray">
          <a:xfrm>
            <a:off x="3884427" y="3774594"/>
            <a:ext cx="1880071" cy="1399560"/>
          </a:xfrm>
          <a:prstGeom prst="flowChartAlternateProcess">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Docker pull image</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2" name="Straight Arrow Connector 31"/>
          <p:cNvCxnSpPr>
            <a:stCxn id="28" idx="3"/>
            <a:endCxn id="23" idx="1"/>
          </p:cNvCxnSpPr>
          <p:nvPr/>
        </p:nvCxnSpPr>
        <p:spPr>
          <a:xfrm flipV="1">
            <a:off x="5764498" y="4462092"/>
            <a:ext cx="2314289" cy="12282"/>
          </a:xfrm>
          <a:prstGeom prst="straightConnector1">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417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8" grpId="0" animBg="1"/>
      <p:bldP spid="23"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Using Images from a private registry</a:t>
            </a:r>
          </a:p>
        </p:txBody>
      </p:sp>
      <p:sp>
        <p:nvSpPr>
          <p:cNvPr id="4" name="Rectangle 3"/>
          <p:cNvSpPr/>
          <p:nvPr/>
        </p:nvSpPr>
        <p:spPr bwMode="gray">
          <a:xfrm>
            <a:off x="424543" y="2563584"/>
            <a:ext cx="2661557" cy="1634514"/>
          </a:xfrm>
          <a:prstGeom prst="rect">
            <a:avLst/>
          </a:prstGeom>
          <a:solidFill>
            <a:schemeClr val="accent1">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Private Registry</a:t>
            </a:r>
          </a:p>
        </p:txBody>
      </p:sp>
      <p:sp>
        <p:nvSpPr>
          <p:cNvPr id="5" name="Rectangle 4"/>
          <p:cNvSpPr/>
          <p:nvPr/>
        </p:nvSpPr>
        <p:spPr bwMode="gray">
          <a:xfrm>
            <a:off x="4637315" y="1846217"/>
            <a:ext cx="6179820" cy="3303743"/>
          </a:xfrm>
          <a:prstGeom prst="rect">
            <a:avLst/>
          </a:prstGeom>
          <a:solidFill>
            <a:schemeClr val="tx2"/>
          </a:solidFill>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Kubernetes</a:t>
            </a:r>
          </a:p>
        </p:txBody>
      </p:sp>
      <p:sp>
        <p:nvSpPr>
          <p:cNvPr id="8" name="Rectangle 7"/>
          <p:cNvSpPr/>
          <p:nvPr/>
        </p:nvSpPr>
        <p:spPr bwMode="gray">
          <a:xfrm>
            <a:off x="5763986" y="2594586"/>
            <a:ext cx="4457700" cy="160351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rPr>
              <a:t>Pod A</a:t>
            </a:r>
          </a:p>
          <a:p>
            <a:pPr algn="ctr" defTabSz="914400" fontAlgn="base">
              <a:spcBef>
                <a:spcPct val="50000"/>
              </a:spcBef>
              <a:spcAft>
                <a:spcPct val="0"/>
              </a:spcAft>
              <a:buClr>
                <a:srgbClr val="F0AB00"/>
              </a:buClr>
              <a:buSzPct val="80000"/>
            </a:pPr>
            <a:r>
              <a:rPr lang="en-US" sz="1800" kern="0" dirty="0">
                <a:ea typeface="Arial Unicode MS" pitchFamily="34" charset="-128"/>
              </a:rPr>
              <a:t>Image: private.registry.com/my-image:0.1</a:t>
            </a:r>
          </a:p>
        </p:txBody>
      </p:sp>
      <p:cxnSp>
        <p:nvCxnSpPr>
          <p:cNvPr id="10" name="Straight Arrow Connector 9"/>
          <p:cNvCxnSpPr>
            <a:cxnSpLocks/>
            <a:stCxn id="4" idx="3"/>
            <a:endCxn id="8" idx="1"/>
          </p:cNvCxnSpPr>
          <p:nvPr/>
        </p:nvCxnSpPr>
        <p:spPr>
          <a:xfrm>
            <a:off x="3086100" y="3380841"/>
            <a:ext cx="2677886" cy="15501"/>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28D20A85-6570-41D1-9EBB-386327904E82}"/>
              </a:ext>
            </a:extLst>
          </p:cNvPr>
          <p:cNvPicPr>
            <a:picLocks noChangeAspect="1"/>
          </p:cNvPicPr>
          <p:nvPr/>
        </p:nvPicPr>
        <p:blipFill>
          <a:blip r:embed="rId3"/>
          <a:stretch>
            <a:fillRect/>
          </a:stretch>
        </p:blipFill>
        <p:spPr>
          <a:xfrm>
            <a:off x="2974704" y="3311093"/>
            <a:ext cx="1774008" cy="1774008"/>
          </a:xfrm>
          <a:prstGeom prst="rect">
            <a:avLst/>
          </a:prstGeom>
        </p:spPr>
      </p:pic>
    </p:spTree>
    <p:extLst>
      <p:ext uri="{BB962C8B-B14F-4D97-AF65-F5344CB8AC3E}">
        <p14:creationId xmlns:p14="http://schemas.microsoft.com/office/powerpoint/2010/main" val="515435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gray">
          <a:xfrm>
            <a:off x="4612822" y="1395846"/>
            <a:ext cx="7151914" cy="4604904"/>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Kubernetes</a:t>
            </a:r>
          </a:p>
        </p:txBody>
      </p:sp>
      <p:sp>
        <p:nvSpPr>
          <p:cNvPr id="3" name="Title 2"/>
          <p:cNvSpPr>
            <a:spLocks noGrp="1"/>
          </p:cNvSpPr>
          <p:nvPr>
            <p:ph type="title"/>
          </p:nvPr>
        </p:nvSpPr>
        <p:spPr/>
        <p:txBody>
          <a:bodyPr/>
          <a:lstStyle/>
          <a:p>
            <a:r>
              <a:rPr lang="en-US" dirty="0"/>
              <a:t>Image Pull Secrets</a:t>
            </a:r>
          </a:p>
        </p:txBody>
      </p:sp>
      <p:sp>
        <p:nvSpPr>
          <p:cNvPr id="4" name="Rectangle 3"/>
          <p:cNvSpPr/>
          <p:nvPr/>
        </p:nvSpPr>
        <p:spPr bwMode="gray">
          <a:xfrm>
            <a:off x="772758" y="1927317"/>
            <a:ext cx="2661557" cy="1665515"/>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Private Registry</a:t>
            </a:r>
          </a:p>
        </p:txBody>
      </p:sp>
      <p:sp>
        <p:nvSpPr>
          <p:cNvPr id="15" name="Cylinder 14"/>
          <p:cNvSpPr/>
          <p:nvPr/>
        </p:nvSpPr>
        <p:spPr bwMode="gray">
          <a:xfrm>
            <a:off x="8902057" y="2175713"/>
            <a:ext cx="1561812" cy="1168721"/>
          </a:xfrm>
          <a:prstGeom prst="can">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Image Pull Secret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Straight Arrow Connector 15"/>
          <p:cNvCxnSpPr>
            <a:stCxn id="4" idx="3"/>
            <a:endCxn id="15" idx="2"/>
          </p:cNvCxnSpPr>
          <p:nvPr/>
        </p:nvCxnSpPr>
        <p:spPr>
          <a:xfrm flipV="1">
            <a:off x="3434315" y="2760074"/>
            <a:ext cx="5467742" cy="1"/>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Rounded Corners 33"/>
          <p:cNvSpPr/>
          <p:nvPr/>
        </p:nvSpPr>
        <p:spPr bwMode="gray">
          <a:xfrm>
            <a:off x="5249636" y="3731079"/>
            <a:ext cx="6188528" cy="1885950"/>
          </a:xfrm>
          <a:prstGeom prst="roundRect">
            <a:avLst/>
          </a:prstGeom>
          <a:solidFill>
            <a:schemeClr val="bg2"/>
          </a:solidFill>
          <a:ln w="28575">
            <a:prstDash val="sysDash"/>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800" kern="0" dirty="0" err="1">
                <a:ea typeface="Arial Unicode MS" pitchFamily="34" charset="-128"/>
                <a:cs typeface="Arial Unicode MS" pitchFamily="34" charset="-128"/>
              </a:rPr>
              <a:t>kubectl</a:t>
            </a:r>
            <a:r>
              <a:rPr lang="en-US" sz="1800" kern="0" dirty="0">
                <a:ea typeface="Arial Unicode MS" pitchFamily="34" charset="-128"/>
                <a:cs typeface="Arial Unicode MS" pitchFamily="34" charset="-128"/>
              </a:rPr>
              <a:t> create secret </a:t>
            </a:r>
            <a:r>
              <a:rPr lang="en-US" sz="1800" kern="0" dirty="0" err="1">
                <a:ea typeface="Arial Unicode MS" pitchFamily="34" charset="-128"/>
                <a:cs typeface="Arial Unicode MS" pitchFamily="34" charset="-128"/>
              </a:rPr>
              <a:t>docker</a:t>
            </a:r>
            <a:r>
              <a:rPr lang="en-US" sz="1800" kern="0" dirty="0">
                <a:ea typeface="Arial Unicode MS" pitchFamily="34" charset="-128"/>
                <a:cs typeface="Arial Unicode MS" pitchFamily="34" charset="-128"/>
              </a:rPr>
              <a:t>-registry &lt;name&gt; </a:t>
            </a:r>
          </a:p>
          <a:p>
            <a:pPr marR="0" defTabSz="914400" eaLnBrk="1" fontAlgn="base" latinLnBrk="0" hangingPunct="1">
              <a:lnSpc>
                <a:spcPct val="100000"/>
              </a:lnSpc>
              <a:spcBef>
                <a:spcPts val="600"/>
              </a:spcBef>
              <a:spcAft>
                <a:spcPct val="0"/>
              </a:spcAft>
              <a:buClr>
                <a:srgbClr val="F0AB00"/>
              </a:buClr>
              <a:buSzPct val="80000"/>
              <a:tabLst/>
            </a:pPr>
            <a:r>
              <a:rPr lang="en-US" sz="1800" kern="0" dirty="0">
                <a:ea typeface="Arial Unicode MS" pitchFamily="34" charset="-128"/>
                <a:cs typeface="Arial Unicode MS" pitchFamily="34" charset="-128"/>
              </a:rPr>
              <a:t>--</a:t>
            </a:r>
            <a:r>
              <a:rPr lang="en-US" sz="1800" kern="0" dirty="0" err="1">
                <a:ea typeface="Arial Unicode MS" pitchFamily="34" charset="-128"/>
                <a:cs typeface="Arial Unicode MS" pitchFamily="34" charset="-128"/>
              </a:rPr>
              <a:t>docker</a:t>
            </a:r>
            <a:r>
              <a:rPr lang="en-US" sz="1800" kern="0" dirty="0">
                <a:ea typeface="Arial Unicode MS" pitchFamily="34" charset="-128"/>
                <a:cs typeface="Arial Unicode MS" pitchFamily="34" charset="-128"/>
              </a:rPr>
              <a:t>-server=&lt;&gt; </a:t>
            </a:r>
          </a:p>
          <a:p>
            <a:pPr marR="0" defTabSz="914400" eaLnBrk="1" fontAlgn="base" latinLnBrk="0" hangingPunct="1">
              <a:lnSpc>
                <a:spcPct val="100000"/>
              </a:lnSpc>
              <a:spcBef>
                <a:spcPts val="600"/>
              </a:spcBef>
              <a:spcAft>
                <a:spcPct val="0"/>
              </a:spcAft>
              <a:buClr>
                <a:srgbClr val="F0AB00"/>
              </a:buClr>
              <a:buSzPct val="80000"/>
              <a:tabLst/>
            </a:pPr>
            <a:r>
              <a:rPr lang="en-US" sz="1800" kern="0" dirty="0">
                <a:ea typeface="Arial Unicode MS" pitchFamily="34" charset="-128"/>
                <a:cs typeface="Arial Unicode MS" pitchFamily="34" charset="-128"/>
              </a:rPr>
              <a:t>--</a:t>
            </a:r>
            <a:r>
              <a:rPr lang="en-US" sz="1800" kern="0" dirty="0" err="1">
                <a:ea typeface="Arial Unicode MS" pitchFamily="34" charset="-128"/>
                <a:cs typeface="Arial Unicode MS" pitchFamily="34" charset="-128"/>
              </a:rPr>
              <a:t>docker</a:t>
            </a:r>
            <a:r>
              <a:rPr lang="en-US" sz="1800" kern="0" dirty="0">
                <a:ea typeface="Arial Unicode MS" pitchFamily="34" charset="-128"/>
                <a:cs typeface="Arial Unicode MS" pitchFamily="34" charset="-128"/>
              </a:rPr>
              <a:t>-username=&lt;&gt;</a:t>
            </a:r>
          </a:p>
          <a:p>
            <a:pPr marR="0" defTabSz="914400" eaLnBrk="1" fontAlgn="base" latinLnBrk="0" hangingPunct="1">
              <a:lnSpc>
                <a:spcPct val="100000"/>
              </a:lnSpc>
              <a:spcBef>
                <a:spcPts val="6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docker</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-password=&lt;&gt;</a:t>
            </a:r>
          </a:p>
          <a:p>
            <a:pPr marR="0" defTabSz="914400" eaLnBrk="1" fontAlgn="base" latinLnBrk="0" hangingPunct="1">
              <a:lnSpc>
                <a:spcPct val="100000"/>
              </a:lnSpc>
              <a:spcBef>
                <a:spcPts val="600"/>
              </a:spcBef>
              <a:spcAft>
                <a:spcPct val="0"/>
              </a:spcAft>
              <a:buClr>
                <a:srgbClr val="F0AB00"/>
              </a:buClr>
              <a:buSzPct val="80000"/>
              <a:tabLst/>
            </a:pPr>
            <a:r>
              <a:rPr lang="en-US" sz="1800" kern="0" dirty="0">
                <a:ea typeface="Arial Unicode MS" pitchFamily="34" charset="-128"/>
                <a:cs typeface="Arial Unicode MS" pitchFamily="34" charset="-128"/>
              </a:rPr>
              <a:t>--</a:t>
            </a:r>
            <a:r>
              <a:rPr lang="en-US" sz="1800" kern="0" dirty="0" err="1">
                <a:ea typeface="Arial Unicode MS" pitchFamily="34" charset="-128"/>
                <a:cs typeface="Arial Unicode MS" pitchFamily="34" charset="-128"/>
              </a:rPr>
              <a:t>docker</a:t>
            </a:r>
            <a:r>
              <a:rPr lang="en-US" sz="1800" kern="0" dirty="0">
                <a:ea typeface="Arial Unicode MS" pitchFamily="34" charset="-128"/>
                <a:cs typeface="Arial Unicode MS" pitchFamily="34" charset="-128"/>
              </a:rPr>
              <a:t>-email=&lt;&gt;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29" name="Picture 28"/>
          <p:cNvPicPr>
            <a:picLocks noChangeAspect="1"/>
          </p:cNvPicPr>
          <p:nvPr/>
        </p:nvPicPr>
        <p:blipFill>
          <a:blip r:embed="rId3"/>
          <a:stretch>
            <a:fillRect/>
          </a:stretch>
        </p:blipFill>
        <p:spPr>
          <a:xfrm rot="4927815" flipH="1">
            <a:off x="8832196" y="3998879"/>
            <a:ext cx="1701535" cy="1701535"/>
          </a:xfrm>
          <a:prstGeom prst="rect">
            <a:avLst/>
          </a:prstGeom>
        </p:spPr>
      </p:pic>
      <p:sp>
        <p:nvSpPr>
          <p:cNvPr id="36" name="Rectangle 35"/>
          <p:cNvSpPr/>
          <p:nvPr/>
        </p:nvSpPr>
        <p:spPr bwMode="gray">
          <a:xfrm>
            <a:off x="5338061" y="2135831"/>
            <a:ext cx="2638445" cy="124848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lt1"/>
                </a:solidFill>
                <a:ea typeface="Arial Unicode MS" pitchFamily="34" charset="-128"/>
                <a:cs typeface="Arial Unicode MS" pitchFamily="34" charset="-128"/>
              </a:rPr>
              <a:t>Pod A</a:t>
            </a:r>
          </a:p>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Image: &lt;&gt;</a:t>
            </a:r>
          </a:p>
          <a:p>
            <a:pPr algn="ctr" defTabSz="914400" fontAlgn="base">
              <a:spcBef>
                <a:spcPct val="50000"/>
              </a:spcBef>
              <a:spcAft>
                <a:spcPct val="0"/>
              </a:spcAft>
              <a:buClr>
                <a:srgbClr val="F0AB00"/>
              </a:buClr>
              <a:buSzPct val="80000"/>
            </a:pPr>
            <a:r>
              <a:rPr lang="en-US" sz="1800" kern="0" dirty="0" err="1">
                <a:solidFill>
                  <a:schemeClr val="lt1"/>
                </a:solidFill>
                <a:ea typeface="Arial Unicode MS" pitchFamily="34" charset="-128"/>
                <a:cs typeface="Arial Unicode MS" pitchFamily="34" charset="-128"/>
              </a:rPr>
              <a:t>ImagePullSecret</a:t>
            </a:r>
            <a:r>
              <a:rPr lang="en-US" sz="1800" kern="0" dirty="0">
                <a:solidFill>
                  <a:schemeClr val="lt1"/>
                </a:solidFill>
                <a:ea typeface="Arial Unicode MS" pitchFamily="34" charset="-128"/>
                <a:cs typeface="Arial Unicode MS" pitchFamily="34" charset="-128"/>
              </a:rPr>
              <a:t>: &lt;&gt;</a:t>
            </a:r>
          </a:p>
        </p:txBody>
      </p:sp>
      <p:pic>
        <p:nvPicPr>
          <p:cNvPr id="11" name="Picture 10">
            <a:extLst>
              <a:ext uri="{FF2B5EF4-FFF2-40B4-BE49-F238E27FC236}">
                <a16:creationId xmlns:a16="http://schemas.microsoft.com/office/drawing/2014/main" id="{8687B53D-D62B-41B5-9DDD-8963C6188C03}"/>
              </a:ext>
            </a:extLst>
          </p:cNvPr>
          <p:cNvPicPr>
            <a:picLocks noChangeAspect="1"/>
          </p:cNvPicPr>
          <p:nvPr/>
        </p:nvPicPr>
        <p:blipFill>
          <a:blip r:embed="rId4"/>
          <a:stretch>
            <a:fillRect/>
          </a:stretch>
        </p:blipFill>
        <p:spPr>
          <a:xfrm>
            <a:off x="3136565" y="2705828"/>
            <a:ext cx="1774008" cy="1774008"/>
          </a:xfrm>
          <a:prstGeom prst="rect">
            <a:avLst/>
          </a:prstGeom>
        </p:spPr>
      </p:pic>
    </p:spTree>
    <p:extLst>
      <p:ext uri="{BB962C8B-B14F-4D97-AF65-F5344CB8AC3E}">
        <p14:creationId xmlns:p14="http://schemas.microsoft.com/office/powerpoint/2010/main" val="4129837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bwMode="gray">
          <a:xfrm>
            <a:off x="4612822" y="1407135"/>
            <a:ext cx="6179820" cy="4604904"/>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Kubernetes</a:t>
            </a:r>
          </a:p>
        </p:txBody>
      </p:sp>
      <p:sp>
        <p:nvSpPr>
          <p:cNvPr id="14" name="Rectangle 13"/>
          <p:cNvSpPr/>
          <p:nvPr/>
        </p:nvSpPr>
        <p:spPr bwMode="gray">
          <a:xfrm>
            <a:off x="5731329" y="1958320"/>
            <a:ext cx="4457700" cy="160351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Pod</a:t>
            </a:r>
            <a:r>
              <a:rPr lang="en-US" sz="1800" kern="0" dirty="0">
                <a:ea typeface="Arial Unicode MS" pitchFamily="34" charset="-128"/>
                <a:cs typeface="Arial Unicode MS" pitchFamily="34" charset="-128"/>
              </a:rPr>
              <a:t> A</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Image: private.registry.com/my-image:0.1</a:t>
            </a:r>
          </a:p>
        </p:txBody>
      </p:sp>
      <p:sp>
        <p:nvSpPr>
          <p:cNvPr id="3" name="Title 2"/>
          <p:cNvSpPr>
            <a:spLocks noGrp="1"/>
          </p:cNvSpPr>
          <p:nvPr>
            <p:ph type="title"/>
          </p:nvPr>
        </p:nvSpPr>
        <p:spPr/>
        <p:txBody>
          <a:bodyPr/>
          <a:lstStyle/>
          <a:p>
            <a:r>
              <a:rPr lang="en-US" dirty="0"/>
              <a:t>Image Pull Secrets</a:t>
            </a:r>
          </a:p>
        </p:txBody>
      </p:sp>
      <p:sp>
        <p:nvSpPr>
          <p:cNvPr id="4" name="Rectangle 3"/>
          <p:cNvSpPr/>
          <p:nvPr/>
        </p:nvSpPr>
        <p:spPr bwMode="gray">
          <a:xfrm>
            <a:off x="772758" y="1927317"/>
            <a:ext cx="2661557" cy="1665515"/>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Private Registry</a:t>
            </a:r>
          </a:p>
        </p:txBody>
      </p:sp>
      <p:sp>
        <p:nvSpPr>
          <p:cNvPr id="6" name="Rectangle 5"/>
          <p:cNvSpPr/>
          <p:nvPr/>
        </p:nvSpPr>
        <p:spPr bwMode="gray">
          <a:xfrm>
            <a:off x="5731329" y="4232747"/>
            <a:ext cx="1627931" cy="1156258"/>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service account</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“default”</a:t>
            </a:r>
          </a:p>
        </p:txBody>
      </p:sp>
      <p:sp>
        <p:nvSpPr>
          <p:cNvPr id="15" name="Cylinder 14"/>
          <p:cNvSpPr/>
          <p:nvPr/>
        </p:nvSpPr>
        <p:spPr bwMode="gray">
          <a:xfrm>
            <a:off x="8400221" y="4229558"/>
            <a:ext cx="1561812" cy="1168721"/>
          </a:xfrm>
          <a:prstGeom prst="can">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Image Pull Secret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Straight Arrow Connector 15"/>
          <p:cNvCxnSpPr>
            <a:stCxn id="4" idx="3"/>
            <a:endCxn id="14" idx="1"/>
          </p:cNvCxnSpPr>
          <p:nvPr/>
        </p:nvCxnSpPr>
        <p:spPr>
          <a:xfrm>
            <a:off x="3434315" y="2760075"/>
            <a:ext cx="2297014" cy="1"/>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5" idx="2"/>
          </p:cNvCxnSpPr>
          <p:nvPr/>
        </p:nvCxnSpPr>
        <p:spPr>
          <a:xfrm>
            <a:off x="7359260" y="4810876"/>
            <a:ext cx="1040961" cy="3043"/>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6" idx="0"/>
          </p:cNvCxnSpPr>
          <p:nvPr/>
        </p:nvCxnSpPr>
        <p:spPr>
          <a:xfrm>
            <a:off x="6545294" y="3561831"/>
            <a:ext cx="1" cy="670916"/>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a:blip r:embed="rId3"/>
          <a:stretch>
            <a:fillRect/>
          </a:stretch>
        </p:blipFill>
        <p:spPr>
          <a:xfrm rot="4927815" flipH="1">
            <a:off x="8802247" y="3991716"/>
            <a:ext cx="757761" cy="757761"/>
          </a:xfrm>
          <a:prstGeom prst="rect">
            <a:avLst/>
          </a:prstGeom>
        </p:spPr>
      </p:pic>
      <p:pic>
        <p:nvPicPr>
          <p:cNvPr id="17" name="Picture 16">
            <a:extLst>
              <a:ext uri="{FF2B5EF4-FFF2-40B4-BE49-F238E27FC236}">
                <a16:creationId xmlns:a16="http://schemas.microsoft.com/office/drawing/2014/main" id="{1F59F847-7CB2-438C-813E-873217E8ECB4}"/>
              </a:ext>
            </a:extLst>
          </p:cNvPr>
          <p:cNvPicPr>
            <a:picLocks noChangeAspect="1"/>
          </p:cNvPicPr>
          <p:nvPr/>
        </p:nvPicPr>
        <p:blipFill>
          <a:blip r:embed="rId4"/>
          <a:stretch>
            <a:fillRect/>
          </a:stretch>
        </p:blipFill>
        <p:spPr>
          <a:xfrm>
            <a:off x="3186943" y="2733493"/>
            <a:ext cx="1774008" cy="1774008"/>
          </a:xfrm>
          <a:prstGeom prst="rect">
            <a:avLst/>
          </a:prstGeom>
        </p:spPr>
      </p:pic>
    </p:spTree>
    <p:extLst>
      <p:ext uri="{BB962C8B-B14F-4D97-AF65-F5344CB8AC3E}">
        <p14:creationId xmlns:p14="http://schemas.microsoft.com/office/powerpoint/2010/main" val="4285478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2791326" y="1091288"/>
            <a:ext cx="6280485" cy="1892541"/>
          </a:xfrm>
          <a:prstGeom prst="rect">
            <a:avLst/>
          </a:prstGeom>
        </p:spPr>
        <p:style>
          <a:lnRef idx="2">
            <a:schemeClr val="accent2"/>
          </a:lnRef>
          <a:fillRef idx="1">
            <a:schemeClr val="lt1"/>
          </a:fillRef>
          <a:effectRef idx="0">
            <a:schemeClr val="accent2"/>
          </a:effectRef>
          <a:fontRef idx="minor">
            <a:schemeClr val="dk1"/>
          </a:fontRef>
        </p:style>
        <p:txBody>
          <a:bodyPr rtlCol="0" anchor="t"/>
          <a:lstStyle/>
          <a:p>
            <a:pPr algn="ctr"/>
            <a:r>
              <a:rPr lang="en-US" sz="2000" b="1" dirty="0">
                <a:solidFill>
                  <a:sysClr val="windowText" lastClr="000000"/>
                </a:solidFill>
              </a:rPr>
              <a:t>Corporate Network</a:t>
            </a:r>
          </a:p>
        </p:txBody>
      </p:sp>
      <p:sp>
        <p:nvSpPr>
          <p:cNvPr id="3" name="Title 2"/>
          <p:cNvSpPr>
            <a:spLocks noGrp="1"/>
          </p:cNvSpPr>
          <p:nvPr>
            <p:ph type="title"/>
          </p:nvPr>
        </p:nvSpPr>
        <p:spPr/>
        <p:txBody>
          <a:bodyPr/>
          <a:lstStyle/>
          <a:p>
            <a:r>
              <a:rPr lang="en-US" dirty="0"/>
              <a:t>Image Pull Secret together with </a:t>
            </a:r>
            <a:r>
              <a:rPr lang="en-US" dirty="0" err="1"/>
              <a:t>Artifactory</a:t>
            </a:r>
            <a:endParaRPr lang="en-US" dirty="0"/>
          </a:p>
        </p:txBody>
      </p:sp>
      <p:sp>
        <p:nvSpPr>
          <p:cNvPr id="28" name="Rectangle 27"/>
          <p:cNvSpPr/>
          <p:nvPr/>
        </p:nvSpPr>
        <p:spPr>
          <a:xfrm>
            <a:off x="3151414" y="3475687"/>
            <a:ext cx="5649685" cy="949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DMZ </a:t>
            </a:r>
            <a:r>
              <a:rPr lang="en-US" sz="2000" b="1" dirty="0" err="1"/>
              <a:t>Artifactory</a:t>
            </a:r>
            <a:endParaRPr lang="en-US" sz="2000" b="1" dirty="0"/>
          </a:p>
          <a:p>
            <a:pPr algn="ctr"/>
            <a:r>
              <a:rPr lang="en-US" sz="2000" b="1" dirty="0"/>
              <a:t>Repository “test”</a:t>
            </a:r>
          </a:p>
        </p:txBody>
      </p:sp>
      <p:sp>
        <p:nvSpPr>
          <p:cNvPr id="31" name="Rectangle 30"/>
          <p:cNvSpPr/>
          <p:nvPr/>
        </p:nvSpPr>
        <p:spPr>
          <a:xfrm>
            <a:off x="6236046" y="1564816"/>
            <a:ext cx="2050884" cy="52489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chemeClr val="dk1"/>
                </a:solidFill>
              </a:rPr>
              <a:t>Docker build</a:t>
            </a:r>
          </a:p>
        </p:txBody>
      </p:sp>
      <p:cxnSp>
        <p:nvCxnSpPr>
          <p:cNvPr id="32" name="Straight Arrow Connector 31"/>
          <p:cNvCxnSpPr>
            <a:stCxn id="49" idx="2"/>
            <a:endCxn id="28" idx="0"/>
          </p:cNvCxnSpPr>
          <p:nvPr/>
        </p:nvCxnSpPr>
        <p:spPr>
          <a:xfrm>
            <a:off x="4513686" y="2089714"/>
            <a:ext cx="1462571" cy="1385973"/>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31" idx="2"/>
            <a:endCxn id="28" idx="0"/>
          </p:cNvCxnSpPr>
          <p:nvPr/>
        </p:nvCxnSpPr>
        <p:spPr>
          <a:xfrm flipH="1">
            <a:off x="5976257" y="2089715"/>
            <a:ext cx="1285231" cy="1385972"/>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4153723" y="2394231"/>
            <a:ext cx="3555690" cy="36094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Docker push</a:t>
            </a:r>
          </a:p>
        </p:txBody>
      </p:sp>
      <p:sp>
        <p:nvSpPr>
          <p:cNvPr id="49" name="Rectangle 48"/>
          <p:cNvSpPr/>
          <p:nvPr/>
        </p:nvSpPr>
        <p:spPr>
          <a:xfrm>
            <a:off x="3488244" y="1564815"/>
            <a:ext cx="2050884" cy="52489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chemeClr val="dk1"/>
                </a:solidFill>
              </a:rPr>
              <a:t>Docker build</a:t>
            </a:r>
          </a:p>
        </p:txBody>
      </p:sp>
      <p:sp>
        <p:nvSpPr>
          <p:cNvPr id="54" name="Rectangle 53"/>
          <p:cNvSpPr/>
          <p:nvPr/>
        </p:nvSpPr>
        <p:spPr>
          <a:xfrm>
            <a:off x="6376307" y="5549421"/>
            <a:ext cx="2326571" cy="83419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K8s @Azure</a:t>
            </a:r>
          </a:p>
        </p:txBody>
      </p:sp>
      <p:sp>
        <p:nvSpPr>
          <p:cNvPr id="55" name="Rectangle: Folded Corner 54"/>
          <p:cNvSpPr/>
          <p:nvPr/>
        </p:nvSpPr>
        <p:spPr>
          <a:xfrm>
            <a:off x="8329897" y="5284725"/>
            <a:ext cx="1227221" cy="525385"/>
          </a:xfrm>
          <a:prstGeom prst="foldedCorner">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Image Pull Secret</a:t>
            </a:r>
          </a:p>
        </p:txBody>
      </p:sp>
      <p:sp>
        <p:nvSpPr>
          <p:cNvPr id="56" name="Oval 55"/>
          <p:cNvSpPr/>
          <p:nvPr/>
        </p:nvSpPr>
        <p:spPr>
          <a:xfrm>
            <a:off x="8606626" y="5709852"/>
            <a:ext cx="192505" cy="20052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7" name="Flowchart: Delay 56"/>
          <p:cNvSpPr/>
          <p:nvPr/>
        </p:nvSpPr>
        <p:spPr>
          <a:xfrm rot="16200000">
            <a:off x="8570527" y="5942457"/>
            <a:ext cx="264702" cy="264698"/>
          </a:xfrm>
          <a:prstGeom prst="flowChartDela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8" name="Rectangle 57"/>
          <p:cNvSpPr/>
          <p:nvPr/>
        </p:nvSpPr>
        <p:spPr>
          <a:xfrm>
            <a:off x="2461570" y="5549421"/>
            <a:ext cx="2326571" cy="83419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K8s @GCP</a:t>
            </a:r>
          </a:p>
        </p:txBody>
      </p:sp>
      <p:sp>
        <p:nvSpPr>
          <p:cNvPr id="59" name="Rectangle: Folded Corner 58"/>
          <p:cNvSpPr/>
          <p:nvPr/>
        </p:nvSpPr>
        <p:spPr>
          <a:xfrm>
            <a:off x="4415160" y="5284725"/>
            <a:ext cx="1227221" cy="525385"/>
          </a:xfrm>
          <a:prstGeom prst="foldedCorner">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Image Pull Secret</a:t>
            </a:r>
          </a:p>
        </p:txBody>
      </p:sp>
      <p:sp>
        <p:nvSpPr>
          <p:cNvPr id="60" name="Oval 59"/>
          <p:cNvSpPr/>
          <p:nvPr/>
        </p:nvSpPr>
        <p:spPr>
          <a:xfrm>
            <a:off x="4691889" y="5709852"/>
            <a:ext cx="192505" cy="20052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1" name="Flowchart: Delay 60"/>
          <p:cNvSpPr/>
          <p:nvPr/>
        </p:nvSpPr>
        <p:spPr>
          <a:xfrm rot="16200000">
            <a:off x="4655790" y="5942457"/>
            <a:ext cx="264702" cy="264698"/>
          </a:xfrm>
          <a:prstGeom prst="flowChartDela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62" name="Straight Arrow Connector 61"/>
          <p:cNvCxnSpPr>
            <a:stCxn id="28" idx="2"/>
            <a:endCxn id="58" idx="0"/>
          </p:cNvCxnSpPr>
          <p:nvPr/>
        </p:nvCxnSpPr>
        <p:spPr>
          <a:xfrm flipH="1">
            <a:off x="3624856" y="4425040"/>
            <a:ext cx="2351401" cy="1124381"/>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28" idx="2"/>
            <a:endCxn id="54" idx="0"/>
          </p:cNvCxnSpPr>
          <p:nvPr/>
        </p:nvCxnSpPr>
        <p:spPr>
          <a:xfrm>
            <a:off x="5976257" y="4425040"/>
            <a:ext cx="1563336" cy="1124381"/>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8" name="Rectangle 67"/>
          <p:cNvSpPr/>
          <p:nvPr/>
        </p:nvSpPr>
        <p:spPr>
          <a:xfrm>
            <a:off x="4153723" y="4713797"/>
            <a:ext cx="3555690" cy="36094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chemeClr val="dk1"/>
                </a:solidFill>
              </a:rPr>
              <a:t>Docker pull</a:t>
            </a:r>
          </a:p>
        </p:txBody>
      </p:sp>
    </p:spTree>
    <p:extLst>
      <p:ext uri="{BB962C8B-B14F-4D97-AF65-F5344CB8AC3E}">
        <p14:creationId xmlns:p14="http://schemas.microsoft.com/office/powerpoint/2010/main" val="4252572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3D19E-A8DA-4646-B054-3A090C73BA35}"/>
              </a:ext>
            </a:extLst>
          </p:cNvPr>
          <p:cNvSpPr>
            <a:spLocks noGrp="1"/>
          </p:cNvSpPr>
          <p:nvPr>
            <p:ph type="ctrTitle"/>
          </p:nvPr>
        </p:nvSpPr>
        <p:spPr/>
        <p:txBody>
          <a:bodyPr/>
          <a:lstStyle/>
          <a:p>
            <a:r>
              <a:rPr lang="en-US" dirty="0"/>
              <a:t>Runtime Constraints</a:t>
            </a:r>
            <a:br>
              <a:rPr lang="en-US" dirty="0"/>
            </a:br>
            <a:r>
              <a:rPr lang="en-US" dirty="0"/>
              <a:t>for Pods</a:t>
            </a:r>
          </a:p>
        </p:txBody>
      </p:sp>
      <p:pic>
        <p:nvPicPr>
          <p:cNvPr id="5" name="Picture 4">
            <a:extLst>
              <a:ext uri="{FF2B5EF4-FFF2-40B4-BE49-F238E27FC236}">
                <a16:creationId xmlns:a16="http://schemas.microsoft.com/office/drawing/2014/main" id="{D79D1A9C-B158-42C0-8E43-FCB63DEB8CBE}"/>
              </a:ext>
            </a:extLst>
          </p:cNvPr>
          <p:cNvPicPr>
            <a:picLocks noChangeAspect="1"/>
          </p:cNvPicPr>
          <p:nvPr/>
        </p:nvPicPr>
        <p:blipFill>
          <a:blip r:embed="rId2"/>
          <a:stretch>
            <a:fillRect/>
          </a:stretch>
        </p:blipFill>
        <p:spPr>
          <a:xfrm>
            <a:off x="6096600" y="1137112"/>
            <a:ext cx="3906668" cy="3906668"/>
          </a:xfrm>
          <a:prstGeom prst="rect">
            <a:avLst/>
          </a:prstGeom>
        </p:spPr>
      </p:pic>
    </p:spTree>
    <p:extLst>
      <p:ext uri="{BB962C8B-B14F-4D97-AF65-F5344CB8AC3E}">
        <p14:creationId xmlns:p14="http://schemas.microsoft.com/office/powerpoint/2010/main" val="83201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B87457-F3B6-44B0-B1C5-0E54471BB2F1}"/>
              </a:ext>
            </a:extLst>
          </p:cNvPr>
          <p:cNvSpPr>
            <a:spLocks noGrp="1"/>
          </p:cNvSpPr>
          <p:nvPr>
            <p:ph type="title"/>
          </p:nvPr>
        </p:nvSpPr>
        <p:spPr/>
        <p:txBody>
          <a:bodyPr/>
          <a:lstStyle/>
          <a:p>
            <a:r>
              <a:rPr lang="en-US" dirty="0"/>
              <a:t>How to prevent apps to wreak havoc?</a:t>
            </a:r>
          </a:p>
        </p:txBody>
      </p:sp>
      <p:grpSp>
        <p:nvGrpSpPr>
          <p:cNvPr id="19" name="Group 18">
            <a:extLst>
              <a:ext uri="{FF2B5EF4-FFF2-40B4-BE49-F238E27FC236}">
                <a16:creationId xmlns:a16="http://schemas.microsoft.com/office/drawing/2014/main" id="{E52CD11C-4930-4B80-9098-265892D1BDFD}"/>
              </a:ext>
            </a:extLst>
          </p:cNvPr>
          <p:cNvGrpSpPr/>
          <p:nvPr/>
        </p:nvGrpSpPr>
        <p:grpSpPr>
          <a:xfrm>
            <a:off x="950220" y="1219097"/>
            <a:ext cx="3189768" cy="1347720"/>
            <a:chOff x="1080165" y="1564862"/>
            <a:chExt cx="3189768" cy="1347720"/>
          </a:xfrm>
        </p:grpSpPr>
        <p:pic>
          <p:nvPicPr>
            <p:cNvPr id="9" name="Graphic 8" descr="Gauge">
              <a:extLst>
                <a:ext uri="{FF2B5EF4-FFF2-40B4-BE49-F238E27FC236}">
                  <a16:creationId xmlns:a16="http://schemas.microsoft.com/office/drawing/2014/main" id="{0F61950B-BE6F-4C20-A587-2C30E8E3AE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17849" y="1564862"/>
              <a:ext cx="914400" cy="914400"/>
            </a:xfrm>
            <a:prstGeom prst="rect">
              <a:avLst/>
            </a:prstGeom>
          </p:spPr>
        </p:pic>
        <p:sp>
          <p:nvSpPr>
            <p:cNvPr id="16" name="TextBox 15">
              <a:extLst>
                <a:ext uri="{FF2B5EF4-FFF2-40B4-BE49-F238E27FC236}">
                  <a16:creationId xmlns:a16="http://schemas.microsoft.com/office/drawing/2014/main" id="{44124592-A052-43B9-9C1B-2254861806D0}"/>
                </a:ext>
              </a:extLst>
            </p:cNvPr>
            <p:cNvSpPr txBox="1"/>
            <p:nvPr/>
          </p:nvSpPr>
          <p:spPr>
            <a:xfrm>
              <a:off x="1080165" y="2635583"/>
              <a:ext cx="3189768"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Limit resource consumption</a:t>
              </a:r>
            </a:p>
          </p:txBody>
        </p:sp>
      </p:grpSp>
      <p:grpSp>
        <p:nvGrpSpPr>
          <p:cNvPr id="20" name="Group 19">
            <a:extLst>
              <a:ext uri="{FF2B5EF4-FFF2-40B4-BE49-F238E27FC236}">
                <a16:creationId xmlns:a16="http://schemas.microsoft.com/office/drawing/2014/main" id="{C2307E61-3D64-4893-AF49-FC88538FB2A6}"/>
              </a:ext>
            </a:extLst>
          </p:cNvPr>
          <p:cNvGrpSpPr/>
          <p:nvPr/>
        </p:nvGrpSpPr>
        <p:grpSpPr>
          <a:xfrm>
            <a:off x="950220" y="4835938"/>
            <a:ext cx="3189768" cy="1191399"/>
            <a:chOff x="1207755" y="4378738"/>
            <a:chExt cx="3189768" cy="1191399"/>
          </a:xfrm>
        </p:grpSpPr>
        <p:pic>
          <p:nvPicPr>
            <p:cNvPr id="7" name="Graphic 6" descr="Handcuffs">
              <a:extLst>
                <a:ext uri="{FF2B5EF4-FFF2-40B4-BE49-F238E27FC236}">
                  <a16:creationId xmlns:a16="http://schemas.microsoft.com/office/drawing/2014/main" id="{9AA91D06-899A-4995-A00E-EBB1ADAA10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5439" y="4378738"/>
              <a:ext cx="914400" cy="914400"/>
            </a:xfrm>
            <a:prstGeom prst="rect">
              <a:avLst/>
            </a:prstGeom>
          </p:spPr>
        </p:pic>
        <p:sp>
          <p:nvSpPr>
            <p:cNvPr id="17" name="TextBox 16">
              <a:extLst>
                <a:ext uri="{FF2B5EF4-FFF2-40B4-BE49-F238E27FC236}">
                  <a16:creationId xmlns:a16="http://schemas.microsoft.com/office/drawing/2014/main" id="{48B7D5A6-5CAC-40FE-BB5F-48CA79A5C5C6}"/>
                </a:ext>
              </a:extLst>
            </p:cNvPr>
            <p:cNvSpPr txBox="1"/>
            <p:nvPr/>
          </p:nvSpPr>
          <p:spPr>
            <a:xfrm>
              <a:off x="1207755" y="5293138"/>
              <a:ext cx="3189768"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Add security constraints</a:t>
              </a:r>
            </a:p>
          </p:txBody>
        </p:sp>
      </p:grpSp>
      <p:sp>
        <p:nvSpPr>
          <p:cNvPr id="21" name="Plus Sign 20">
            <a:extLst>
              <a:ext uri="{FF2B5EF4-FFF2-40B4-BE49-F238E27FC236}">
                <a16:creationId xmlns:a16="http://schemas.microsoft.com/office/drawing/2014/main" id="{CC1FA71E-4898-43A6-9A1D-6428CBE0B34E}"/>
              </a:ext>
            </a:extLst>
          </p:cNvPr>
          <p:cNvSpPr/>
          <p:nvPr/>
        </p:nvSpPr>
        <p:spPr bwMode="gray">
          <a:xfrm>
            <a:off x="1642906" y="2893303"/>
            <a:ext cx="1804397" cy="1616149"/>
          </a:xfrm>
          <a:prstGeom prst="mathPlus">
            <a:avLst/>
          </a:prstGeom>
          <a:ln>
            <a:headEnd/>
            <a:tailEnd/>
          </a:ln>
        </p:spPr>
        <p:style>
          <a:lnRef idx="2">
            <a:schemeClr val="dk1"/>
          </a:lnRef>
          <a:fillRef idx="1">
            <a:schemeClr val="lt1"/>
          </a:fillRef>
          <a:effectRef idx="0">
            <a:schemeClr val="dk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3" name="Speech Bubble: Rectangle 22">
            <a:extLst>
              <a:ext uri="{FF2B5EF4-FFF2-40B4-BE49-F238E27FC236}">
                <a16:creationId xmlns:a16="http://schemas.microsoft.com/office/drawing/2014/main" id="{F890ADED-ABCE-4EBC-85AA-63965344EFFA}"/>
              </a:ext>
            </a:extLst>
          </p:cNvPr>
          <p:cNvSpPr/>
          <p:nvPr/>
        </p:nvSpPr>
        <p:spPr bwMode="gray">
          <a:xfrm>
            <a:off x="5558106" y="1656279"/>
            <a:ext cx="3189767" cy="1466781"/>
          </a:xfrm>
          <a:prstGeom prst="wedgeRectCallout">
            <a:avLst>
              <a:gd name="adj1" fmla="val -90976"/>
              <a:gd name="adj2" fmla="val -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Limit CPU &amp; memory consumption</a:t>
            </a:r>
          </a:p>
        </p:txBody>
      </p:sp>
      <p:sp>
        <p:nvSpPr>
          <p:cNvPr id="24" name="Speech Bubble: Rectangle 23">
            <a:extLst>
              <a:ext uri="{FF2B5EF4-FFF2-40B4-BE49-F238E27FC236}">
                <a16:creationId xmlns:a16="http://schemas.microsoft.com/office/drawing/2014/main" id="{2C4138F8-6262-40B4-A714-D8F3BEB70764}"/>
              </a:ext>
            </a:extLst>
          </p:cNvPr>
          <p:cNvSpPr/>
          <p:nvPr/>
        </p:nvSpPr>
        <p:spPr bwMode="gray">
          <a:xfrm>
            <a:off x="5558106" y="4422056"/>
            <a:ext cx="3189767" cy="1466781"/>
          </a:xfrm>
          <a:prstGeom prst="wedgeRectCallout">
            <a:avLst>
              <a:gd name="adj1" fmla="val -90976"/>
              <a:gd name="adj2" fmla="val -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Prevent container from accessing the host &amp; limit the blast radius</a:t>
            </a:r>
          </a:p>
        </p:txBody>
      </p:sp>
    </p:spTree>
    <p:extLst>
      <p:ext uri="{BB962C8B-B14F-4D97-AF65-F5344CB8AC3E}">
        <p14:creationId xmlns:p14="http://schemas.microsoft.com/office/powerpoint/2010/main" val="3648409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A754-EEC5-4FCC-8743-5C9C8F485EE5}"/>
              </a:ext>
            </a:extLst>
          </p:cNvPr>
          <p:cNvSpPr>
            <a:spLocks noGrp="1"/>
          </p:cNvSpPr>
          <p:nvPr>
            <p:ph type="title"/>
          </p:nvPr>
        </p:nvSpPr>
        <p:spPr>
          <a:xfrm>
            <a:off x="504001" y="504000"/>
            <a:ext cx="11186476" cy="430887"/>
          </a:xfrm>
        </p:spPr>
        <p:txBody>
          <a:bodyPr/>
          <a:lstStyle/>
          <a:p>
            <a:r>
              <a:rPr lang="de-DE" sz="2800" dirty="0" err="1"/>
              <a:t>Constrains</a:t>
            </a:r>
            <a:r>
              <a:rPr lang="de-DE" sz="2800" dirty="0"/>
              <a:t> on </a:t>
            </a:r>
            <a:r>
              <a:rPr lang="de-DE" sz="2800" dirty="0" err="1"/>
              <a:t>pod</a:t>
            </a:r>
            <a:r>
              <a:rPr lang="de-DE" sz="2800" dirty="0"/>
              <a:t> </a:t>
            </a:r>
            <a:r>
              <a:rPr lang="de-DE" sz="2800" dirty="0" err="1"/>
              <a:t>level</a:t>
            </a:r>
            <a:r>
              <a:rPr lang="de-DE" sz="2800" dirty="0"/>
              <a:t>:</a:t>
            </a:r>
            <a:endParaRPr lang="en-US" sz="2800" dirty="0"/>
          </a:p>
        </p:txBody>
      </p:sp>
      <p:pic>
        <p:nvPicPr>
          <p:cNvPr id="3" name="Picture 2">
            <a:extLst>
              <a:ext uri="{FF2B5EF4-FFF2-40B4-BE49-F238E27FC236}">
                <a16:creationId xmlns:a16="http://schemas.microsoft.com/office/drawing/2014/main" id="{7DB60FFC-98BA-4003-92A6-EC0EB4848FD5}"/>
              </a:ext>
            </a:extLst>
          </p:cNvPr>
          <p:cNvPicPr>
            <a:picLocks noChangeAspect="1"/>
          </p:cNvPicPr>
          <p:nvPr/>
        </p:nvPicPr>
        <p:blipFill>
          <a:blip r:embed="rId3"/>
          <a:stretch>
            <a:fillRect/>
          </a:stretch>
        </p:blipFill>
        <p:spPr>
          <a:xfrm>
            <a:off x="500302" y="2206746"/>
            <a:ext cx="3894264" cy="3094074"/>
          </a:xfrm>
          <a:prstGeom prst="rect">
            <a:avLst/>
          </a:prstGeom>
          <a:ln>
            <a:solidFill>
              <a:schemeClr val="tx1"/>
            </a:solidFill>
          </a:ln>
        </p:spPr>
      </p:pic>
      <p:sp>
        <p:nvSpPr>
          <p:cNvPr id="4" name="Speech Bubble: Rectangle 3">
            <a:extLst>
              <a:ext uri="{FF2B5EF4-FFF2-40B4-BE49-F238E27FC236}">
                <a16:creationId xmlns:a16="http://schemas.microsoft.com/office/drawing/2014/main" id="{39E01003-38EE-4CE6-9FBB-20640AAAE1D9}"/>
              </a:ext>
            </a:extLst>
          </p:cNvPr>
          <p:cNvSpPr/>
          <p:nvPr/>
        </p:nvSpPr>
        <p:spPr bwMode="gray">
          <a:xfrm>
            <a:off x="6093540" y="2504458"/>
            <a:ext cx="3189767" cy="1371600"/>
          </a:xfrm>
          <a:prstGeom prst="wedgeRectCallout">
            <a:avLst>
              <a:gd name="adj1" fmla="val -90976"/>
              <a:gd name="adj2" fmla="val -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Explicitly requesting resources and specifying limits help to schedule a pod</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a:extLst>
              <a:ext uri="{FF2B5EF4-FFF2-40B4-BE49-F238E27FC236}">
                <a16:creationId xmlns:a16="http://schemas.microsoft.com/office/drawing/2014/main" id="{BA952B5B-A6C8-4966-89C0-5C1154EAFC5F}"/>
              </a:ext>
            </a:extLst>
          </p:cNvPr>
          <p:cNvSpPr/>
          <p:nvPr/>
        </p:nvSpPr>
        <p:spPr>
          <a:xfrm>
            <a:off x="504001" y="5971632"/>
            <a:ext cx="11186476" cy="369332"/>
          </a:xfrm>
          <a:prstGeom prst="rect">
            <a:avLst/>
          </a:prstGeom>
        </p:spPr>
        <p:txBody>
          <a:bodyPr wrap="square">
            <a:spAutoFit/>
          </a:bodyPr>
          <a:lstStyle/>
          <a:p>
            <a:r>
              <a:rPr lang="en-US" sz="1800" dirty="0">
                <a:hlinkClick r:id="rId4"/>
              </a:rPr>
              <a:t>https://github.com/kubernetes/community/blob/master/contributors/design-proposals/node/resource-qos.md</a:t>
            </a:r>
            <a:r>
              <a:rPr lang="en-US" sz="1800" dirty="0"/>
              <a:t> </a:t>
            </a:r>
          </a:p>
        </p:txBody>
      </p:sp>
      <p:sp>
        <p:nvSpPr>
          <p:cNvPr id="5" name="Rectangle 4">
            <a:extLst>
              <a:ext uri="{FF2B5EF4-FFF2-40B4-BE49-F238E27FC236}">
                <a16:creationId xmlns:a16="http://schemas.microsoft.com/office/drawing/2014/main" id="{A4B3EB0C-8175-4F78-B52E-0CFA66A238AE}"/>
              </a:ext>
            </a:extLst>
          </p:cNvPr>
          <p:cNvSpPr/>
          <p:nvPr/>
        </p:nvSpPr>
        <p:spPr>
          <a:xfrm>
            <a:off x="500302" y="1328185"/>
            <a:ext cx="5400837" cy="461665"/>
          </a:xfrm>
          <a:prstGeom prst="rect">
            <a:avLst/>
          </a:prstGeom>
        </p:spPr>
        <p:txBody>
          <a:bodyPr wrap="none">
            <a:spAutoFit/>
          </a:bodyPr>
          <a:lstStyle/>
          <a:p>
            <a:r>
              <a:rPr lang="de-DE" sz="2400" b="1" dirty="0"/>
              <a:t>Field: .</a:t>
            </a:r>
            <a:r>
              <a:rPr lang="de-DE" sz="2400" b="1" dirty="0" err="1"/>
              <a:t>spec.containers</a:t>
            </a:r>
            <a:r>
              <a:rPr lang="de-DE" sz="2400" b="1" dirty="0"/>
              <a:t>[].</a:t>
            </a:r>
            <a:r>
              <a:rPr lang="de-DE" sz="2400" b="1" dirty="0" err="1"/>
              <a:t>resources</a:t>
            </a:r>
            <a:r>
              <a:rPr lang="de-DE" sz="2400" b="1" dirty="0"/>
              <a:t>*</a:t>
            </a:r>
            <a:endParaRPr lang="en-US" sz="2400" b="1" dirty="0"/>
          </a:p>
        </p:txBody>
      </p:sp>
    </p:spTree>
    <p:extLst>
      <p:ext uri="{BB962C8B-B14F-4D97-AF65-F5344CB8AC3E}">
        <p14:creationId xmlns:p14="http://schemas.microsoft.com/office/powerpoint/2010/main" val="3245763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9FE2-0131-4615-82D4-DE718F986D31}"/>
              </a:ext>
            </a:extLst>
          </p:cNvPr>
          <p:cNvSpPr>
            <a:spLocks noGrp="1"/>
          </p:cNvSpPr>
          <p:nvPr>
            <p:ph type="title"/>
          </p:nvPr>
        </p:nvSpPr>
        <p:spPr/>
        <p:txBody>
          <a:bodyPr/>
          <a:lstStyle/>
          <a:p>
            <a:r>
              <a:rPr lang="en-US" dirty="0"/>
              <a:t>Resource requests &amp; limits</a:t>
            </a:r>
          </a:p>
        </p:txBody>
      </p:sp>
      <p:pic>
        <p:nvPicPr>
          <p:cNvPr id="3" name="Picture 2">
            <a:extLst>
              <a:ext uri="{FF2B5EF4-FFF2-40B4-BE49-F238E27FC236}">
                <a16:creationId xmlns:a16="http://schemas.microsoft.com/office/drawing/2014/main" id="{B03E2829-748E-444A-9657-B2971A8E7670}"/>
              </a:ext>
            </a:extLst>
          </p:cNvPr>
          <p:cNvPicPr>
            <a:picLocks noChangeAspect="1"/>
          </p:cNvPicPr>
          <p:nvPr/>
        </p:nvPicPr>
        <p:blipFill>
          <a:blip r:embed="rId3"/>
          <a:stretch>
            <a:fillRect/>
          </a:stretch>
        </p:blipFill>
        <p:spPr>
          <a:xfrm>
            <a:off x="500302" y="2178393"/>
            <a:ext cx="3894264" cy="3094074"/>
          </a:xfrm>
          <a:prstGeom prst="rect">
            <a:avLst/>
          </a:prstGeom>
          <a:ln>
            <a:solidFill>
              <a:schemeClr val="tx1"/>
            </a:solidFill>
          </a:ln>
        </p:spPr>
      </p:pic>
      <p:sp>
        <p:nvSpPr>
          <p:cNvPr id="4" name="Rectangle 3">
            <a:extLst>
              <a:ext uri="{FF2B5EF4-FFF2-40B4-BE49-F238E27FC236}">
                <a16:creationId xmlns:a16="http://schemas.microsoft.com/office/drawing/2014/main" id="{90EC850C-B7C2-4AB1-B2D4-FC53A93CA314}"/>
              </a:ext>
            </a:extLst>
          </p:cNvPr>
          <p:cNvSpPr/>
          <p:nvPr/>
        </p:nvSpPr>
        <p:spPr>
          <a:xfrm>
            <a:off x="500302" y="1569214"/>
            <a:ext cx="4155305" cy="461665"/>
          </a:xfrm>
          <a:prstGeom prst="rect">
            <a:avLst/>
          </a:prstGeom>
        </p:spPr>
        <p:txBody>
          <a:bodyPr wrap="none">
            <a:spAutoFit/>
          </a:bodyPr>
          <a:lstStyle/>
          <a:p>
            <a:r>
              <a:rPr lang="de-DE" sz="2400" dirty="0"/>
              <a:t>.</a:t>
            </a:r>
            <a:r>
              <a:rPr lang="de-DE" sz="2400" dirty="0" err="1"/>
              <a:t>spec.containers</a:t>
            </a:r>
            <a:r>
              <a:rPr lang="de-DE" sz="2400" dirty="0"/>
              <a:t>[].</a:t>
            </a:r>
            <a:r>
              <a:rPr lang="de-DE" sz="2400" dirty="0" err="1"/>
              <a:t>resources</a:t>
            </a:r>
            <a:r>
              <a:rPr lang="de-DE" sz="2400" dirty="0"/>
              <a:t>*</a:t>
            </a:r>
            <a:endParaRPr lang="en-US" sz="2400" dirty="0"/>
          </a:p>
        </p:txBody>
      </p:sp>
      <p:sp>
        <p:nvSpPr>
          <p:cNvPr id="6" name="Rectangle 5">
            <a:extLst>
              <a:ext uri="{FF2B5EF4-FFF2-40B4-BE49-F238E27FC236}">
                <a16:creationId xmlns:a16="http://schemas.microsoft.com/office/drawing/2014/main" id="{DB8FB15C-8570-4538-8540-4A094BFB786D}"/>
              </a:ext>
            </a:extLst>
          </p:cNvPr>
          <p:cNvSpPr/>
          <p:nvPr/>
        </p:nvSpPr>
        <p:spPr bwMode="gray">
          <a:xfrm>
            <a:off x="5431444" y="2321047"/>
            <a:ext cx="2962939" cy="2808766"/>
          </a:xfrm>
          <a:prstGeom prst="rect">
            <a:avLst/>
          </a:prstGeom>
          <a:noFill/>
          <a:ln w="25400" algn="ctr">
            <a:solidFill>
              <a:schemeClr val="tx1"/>
            </a:solidFill>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B7D8EB15-56FB-41F1-B144-D38057285B86}"/>
              </a:ext>
            </a:extLst>
          </p:cNvPr>
          <p:cNvSpPr/>
          <p:nvPr/>
        </p:nvSpPr>
        <p:spPr bwMode="gray">
          <a:xfrm>
            <a:off x="5431443" y="4265032"/>
            <a:ext cx="1481470" cy="86478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CPU request</a:t>
            </a:r>
          </a:p>
        </p:txBody>
      </p:sp>
      <p:sp>
        <p:nvSpPr>
          <p:cNvPr id="9" name="Rectangle 8">
            <a:extLst>
              <a:ext uri="{FF2B5EF4-FFF2-40B4-BE49-F238E27FC236}">
                <a16:creationId xmlns:a16="http://schemas.microsoft.com/office/drawing/2014/main" id="{C84F564C-1ECF-4AF4-817B-8BD31455925E}"/>
              </a:ext>
            </a:extLst>
          </p:cNvPr>
          <p:cNvSpPr/>
          <p:nvPr/>
        </p:nvSpPr>
        <p:spPr bwMode="gray">
          <a:xfrm>
            <a:off x="6912913" y="3378987"/>
            <a:ext cx="1481470" cy="86478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CPU request</a:t>
            </a:r>
          </a:p>
        </p:txBody>
      </p:sp>
      <p:sp>
        <p:nvSpPr>
          <p:cNvPr id="10" name="Rectangle 9">
            <a:extLst>
              <a:ext uri="{FF2B5EF4-FFF2-40B4-BE49-F238E27FC236}">
                <a16:creationId xmlns:a16="http://schemas.microsoft.com/office/drawing/2014/main" id="{B1FB8896-9008-4F5F-83E7-DF0250ED79E6}"/>
              </a:ext>
            </a:extLst>
          </p:cNvPr>
          <p:cNvSpPr/>
          <p:nvPr/>
        </p:nvSpPr>
        <p:spPr>
          <a:xfrm>
            <a:off x="6435859" y="5301708"/>
            <a:ext cx="1689886" cy="461665"/>
          </a:xfrm>
          <a:prstGeom prst="rect">
            <a:avLst/>
          </a:prstGeom>
        </p:spPr>
        <p:txBody>
          <a:bodyPr wrap="none">
            <a:spAutoFit/>
          </a:bodyPr>
          <a:lstStyle/>
          <a:p>
            <a:r>
              <a:rPr lang="en-US" sz="2400" b="1" kern="0" dirty="0">
                <a:ea typeface="Arial Unicode MS" pitchFamily="34" charset="-128"/>
                <a:cs typeface="Arial Unicode MS" pitchFamily="34" charset="-128"/>
              </a:rPr>
              <a:t>Node CPU</a:t>
            </a:r>
            <a:endParaRPr lang="en-US" dirty="0"/>
          </a:p>
        </p:txBody>
      </p:sp>
      <p:sp>
        <p:nvSpPr>
          <p:cNvPr id="11" name="Rectangle 10">
            <a:extLst>
              <a:ext uri="{FF2B5EF4-FFF2-40B4-BE49-F238E27FC236}">
                <a16:creationId xmlns:a16="http://schemas.microsoft.com/office/drawing/2014/main" id="{161D1BC4-A181-4DF0-8187-B2F2D67DB72A}"/>
              </a:ext>
            </a:extLst>
          </p:cNvPr>
          <p:cNvSpPr/>
          <p:nvPr/>
        </p:nvSpPr>
        <p:spPr bwMode="gray">
          <a:xfrm>
            <a:off x="5431443" y="2342313"/>
            <a:ext cx="1481470" cy="192272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CPU limit</a:t>
            </a:r>
          </a:p>
        </p:txBody>
      </p:sp>
      <p:sp>
        <p:nvSpPr>
          <p:cNvPr id="12" name="Rectangle 11">
            <a:extLst>
              <a:ext uri="{FF2B5EF4-FFF2-40B4-BE49-F238E27FC236}">
                <a16:creationId xmlns:a16="http://schemas.microsoft.com/office/drawing/2014/main" id="{4637C3AA-18E9-4853-A48C-F67E0623A57A}"/>
              </a:ext>
            </a:extLst>
          </p:cNvPr>
          <p:cNvSpPr/>
          <p:nvPr/>
        </p:nvSpPr>
        <p:spPr bwMode="gray">
          <a:xfrm>
            <a:off x="6912913" y="1456266"/>
            <a:ext cx="1481470" cy="192272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CPU limit</a:t>
            </a:r>
          </a:p>
        </p:txBody>
      </p:sp>
      <p:sp>
        <p:nvSpPr>
          <p:cNvPr id="13" name="Rectangle 12">
            <a:extLst>
              <a:ext uri="{FF2B5EF4-FFF2-40B4-BE49-F238E27FC236}">
                <a16:creationId xmlns:a16="http://schemas.microsoft.com/office/drawing/2014/main" id="{C612D5B1-B181-47DD-A449-11ECAFC91870}"/>
              </a:ext>
            </a:extLst>
          </p:cNvPr>
          <p:cNvSpPr/>
          <p:nvPr/>
        </p:nvSpPr>
        <p:spPr bwMode="gray">
          <a:xfrm>
            <a:off x="6912913" y="4275664"/>
            <a:ext cx="1481470" cy="864781"/>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EC7E11DF-DEA0-4710-A034-1E2DC0065630}"/>
              </a:ext>
            </a:extLst>
          </p:cNvPr>
          <p:cNvSpPr/>
          <p:nvPr/>
        </p:nvSpPr>
        <p:spPr bwMode="gray">
          <a:xfrm>
            <a:off x="8727538" y="2321047"/>
            <a:ext cx="2962939" cy="2808766"/>
          </a:xfrm>
          <a:prstGeom prst="rect">
            <a:avLst/>
          </a:prstGeom>
          <a:noFill/>
          <a:ln w="25400" algn="ctr">
            <a:solidFill>
              <a:schemeClr val="tx1"/>
            </a:solidFill>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6" name="Rectangle 15">
            <a:extLst>
              <a:ext uri="{FF2B5EF4-FFF2-40B4-BE49-F238E27FC236}">
                <a16:creationId xmlns:a16="http://schemas.microsoft.com/office/drawing/2014/main" id="{7FDF23CC-3F3D-494B-A2A7-46A652AAB50C}"/>
              </a:ext>
            </a:extLst>
          </p:cNvPr>
          <p:cNvSpPr/>
          <p:nvPr/>
        </p:nvSpPr>
        <p:spPr bwMode="gray">
          <a:xfrm>
            <a:off x="8727537" y="4265032"/>
            <a:ext cx="1481470" cy="86478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Memory request</a:t>
            </a:r>
          </a:p>
        </p:txBody>
      </p:sp>
      <p:sp>
        <p:nvSpPr>
          <p:cNvPr id="17" name="Rectangle 16">
            <a:extLst>
              <a:ext uri="{FF2B5EF4-FFF2-40B4-BE49-F238E27FC236}">
                <a16:creationId xmlns:a16="http://schemas.microsoft.com/office/drawing/2014/main" id="{78F354D5-D0CE-4BA1-9D33-A90E5C6BF1EC}"/>
              </a:ext>
            </a:extLst>
          </p:cNvPr>
          <p:cNvSpPr/>
          <p:nvPr/>
        </p:nvSpPr>
        <p:spPr bwMode="gray">
          <a:xfrm>
            <a:off x="10209007" y="3378987"/>
            <a:ext cx="1481470" cy="86478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Memory request</a:t>
            </a:r>
          </a:p>
        </p:txBody>
      </p:sp>
      <p:sp>
        <p:nvSpPr>
          <p:cNvPr id="18" name="Rectangle 17">
            <a:extLst>
              <a:ext uri="{FF2B5EF4-FFF2-40B4-BE49-F238E27FC236}">
                <a16:creationId xmlns:a16="http://schemas.microsoft.com/office/drawing/2014/main" id="{E6088C3A-0A4F-472A-AF1D-F4DC8B43D382}"/>
              </a:ext>
            </a:extLst>
          </p:cNvPr>
          <p:cNvSpPr/>
          <p:nvPr/>
        </p:nvSpPr>
        <p:spPr>
          <a:xfrm>
            <a:off x="9098767" y="5301708"/>
            <a:ext cx="2220480" cy="461665"/>
          </a:xfrm>
          <a:prstGeom prst="rect">
            <a:avLst/>
          </a:prstGeom>
        </p:spPr>
        <p:txBody>
          <a:bodyPr wrap="none">
            <a:spAutoFit/>
          </a:bodyPr>
          <a:lstStyle/>
          <a:p>
            <a:r>
              <a:rPr lang="en-US" sz="2400" b="1" kern="0" dirty="0">
                <a:ea typeface="Arial Unicode MS" pitchFamily="34" charset="-128"/>
                <a:cs typeface="Arial Unicode MS" pitchFamily="34" charset="-128"/>
              </a:rPr>
              <a:t>Node Memory</a:t>
            </a:r>
            <a:endParaRPr lang="en-US" dirty="0"/>
          </a:p>
        </p:txBody>
      </p:sp>
      <p:sp>
        <p:nvSpPr>
          <p:cNvPr id="19" name="Rectangle 18">
            <a:extLst>
              <a:ext uri="{FF2B5EF4-FFF2-40B4-BE49-F238E27FC236}">
                <a16:creationId xmlns:a16="http://schemas.microsoft.com/office/drawing/2014/main" id="{BFEA3705-A9E2-4B06-8D2D-EF0E849B04DC}"/>
              </a:ext>
            </a:extLst>
          </p:cNvPr>
          <p:cNvSpPr/>
          <p:nvPr/>
        </p:nvSpPr>
        <p:spPr bwMode="gray">
          <a:xfrm>
            <a:off x="8727537" y="2342313"/>
            <a:ext cx="1481470" cy="192272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Memory limit</a:t>
            </a:r>
          </a:p>
        </p:txBody>
      </p:sp>
      <p:sp>
        <p:nvSpPr>
          <p:cNvPr id="20" name="Rectangle 19">
            <a:extLst>
              <a:ext uri="{FF2B5EF4-FFF2-40B4-BE49-F238E27FC236}">
                <a16:creationId xmlns:a16="http://schemas.microsoft.com/office/drawing/2014/main" id="{970E43AE-D50A-48DB-A776-8C45E0B4B52B}"/>
              </a:ext>
            </a:extLst>
          </p:cNvPr>
          <p:cNvSpPr/>
          <p:nvPr/>
        </p:nvSpPr>
        <p:spPr bwMode="gray">
          <a:xfrm>
            <a:off x="10209007" y="1456266"/>
            <a:ext cx="1481470" cy="192272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Memory limit</a:t>
            </a:r>
          </a:p>
        </p:txBody>
      </p:sp>
      <p:sp>
        <p:nvSpPr>
          <p:cNvPr id="21" name="Rectangle 20">
            <a:extLst>
              <a:ext uri="{FF2B5EF4-FFF2-40B4-BE49-F238E27FC236}">
                <a16:creationId xmlns:a16="http://schemas.microsoft.com/office/drawing/2014/main" id="{5B6A06DD-4AF8-4CDE-8810-6556E1DA9EDB}"/>
              </a:ext>
            </a:extLst>
          </p:cNvPr>
          <p:cNvSpPr/>
          <p:nvPr/>
        </p:nvSpPr>
        <p:spPr bwMode="gray">
          <a:xfrm>
            <a:off x="10209007" y="4275664"/>
            <a:ext cx="1481470" cy="864781"/>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67890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animBg="1"/>
      <p:bldP spid="13" grpId="0" animBg="1"/>
      <p:bldP spid="16" grpId="0" animBg="1"/>
      <p:bldP spid="17" grpId="0" animBg="1"/>
      <p:bldP spid="19"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C30FD-257B-4E9D-9ACD-9FA792606050}"/>
              </a:ext>
            </a:extLst>
          </p:cNvPr>
          <p:cNvSpPr>
            <a:spLocks noGrp="1"/>
          </p:cNvSpPr>
          <p:nvPr>
            <p:ph type="title"/>
          </p:nvPr>
        </p:nvSpPr>
        <p:spPr/>
        <p:txBody>
          <a:bodyPr/>
          <a:lstStyle/>
          <a:p>
            <a:r>
              <a:rPr lang="en-US" dirty="0"/>
              <a:t>Quality of Service classes</a:t>
            </a:r>
          </a:p>
        </p:txBody>
      </p:sp>
      <p:grpSp>
        <p:nvGrpSpPr>
          <p:cNvPr id="29" name="Group 28">
            <a:extLst>
              <a:ext uri="{FF2B5EF4-FFF2-40B4-BE49-F238E27FC236}">
                <a16:creationId xmlns:a16="http://schemas.microsoft.com/office/drawing/2014/main" id="{84B55095-45D9-4B0F-A762-23D1572F0A97}"/>
              </a:ext>
            </a:extLst>
          </p:cNvPr>
          <p:cNvGrpSpPr/>
          <p:nvPr/>
        </p:nvGrpSpPr>
        <p:grpSpPr>
          <a:xfrm>
            <a:off x="504001" y="2435744"/>
            <a:ext cx="2962940" cy="3442326"/>
            <a:chOff x="504001" y="2467639"/>
            <a:chExt cx="2962940" cy="3442326"/>
          </a:xfrm>
        </p:grpSpPr>
        <p:sp>
          <p:nvSpPr>
            <p:cNvPr id="9" name="Rectangle 8">
              <a:extLst>
                <a:ext uri="{FF2B5EF4-FFF2-40B4-BE49-F238E27FC236}">
                  <a16:creationId xmlns:a16="http://schemas.microsoft.com/office/drawing/2014/main" id="{49D10FEA-4FBD-4083-8D2E-3C7C6CC6E4CB}"/>
                </a:ext>
              </a:extLst>
            </p:cNvPr>
            <p:cNvSpPr/>
            <p:nvPr/>
          </p:nvSpPr>
          <p:spPr bwMode="gray">
            <a:xfrm>
              <a:off x="504002" y="2467639"/>
              <a:ext cx="2962939" cy="2808766"/>
            </a:xfrm>
            <a:prstGeom prst="rect">
              <a:avLst/>
            </a:prstGeom>
            <a:noFill/>
            <a:ln w="25400" algn="ctr">
              <a:solidFill>
                <a:schemeClr val="tx1"/>
              </a:solidFill>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Rectangle 9">
              <a:extLst>
                <a:ext uri="{FF2B5EF4-FFF2-40B4-BE49-F238E27FC236}">
                  <a16:creationId xmlns:a16="http://schemas.microsoft.com/office/drawing/2014/main" id="{EEE2A42C-EAD5-4600-90C6-EFB301BF5064}"/>
                </a:ext>
              </a:extLst>
            </p:cNvPr>
            <p:cNvSpPr/>
            <p:nvPr/>
          </p:nvSpPr>
          <p:spPr bwMode="gray">
            <a:xfrm>
              <a:off x="504001" y="2743200"/>
              <a:ext cx="1481470" cy="253320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request = limit</a:t>
              </a:r>
            </a:p>
          </p:txBody>
        </p:sp>
        <p:sp>
          <p:nvSpPr>
            <p:cNvPr id="12" name="Rectangle 11">
              <a:extLst>
                <a:ext uri="{FF2B5EF4-FFF2-40B4-BE49-F238E27FC236}">
                  <a16:creationId xmlns:a16="http://schemas.microsoft.com/office/drawing/2014/main" id="{FBA2EDAA-8957-44E4-B631-370127A55F3B}"/>
                </a:ext>
              </a:extLst>
            </p:cNvPr>
            <p:cNvSpPr/>
            <p:nvPr/>
          </p:nvSpPr>
          <p:spPr>
            <a:xfrm>
              <a:off x="679665" y="5448300"/>
              <a:ext cx="2611612" cy="461665"/>
            </a:xfrm>
            <a:prstGeom prst="rect">
              <a:avLst/>
            </a:prstGeom>
          </p:spPr>
          <p:txBody>
            <a:bodyPr wrap="none">
              <a:spAutoFit/>
            </a:bodyPr>
            <a:lstStyle/>
            <a:p>
              <a:r>
                <a:rPr lang="en-US" sz="2400" b="1" kern="0" dirty="0">
                  <a:ea typeface="Arial Unicode MS" pitchFamily="34" charset="-128"/>
                  <a:cs typeface="Arial Unicode MS" pitchFamily="34" charset="-128"/>
                </a:rPr>
                <a:t>QoS Guaranteed</a:t>
              </a:r>
              <a:endParaRPr lang="en-US" dirty="0"/>
            </a:p>
          </p:txBody>
        </p:sp>
        <p:sp>
          <p:nvSpPr>
            <p:cNvPr id="15" name="Rectangle 14">
              <a:extLst>
                <a:ext uri="{FF2B5EF4-FFF2-40B4-BE49-F238E27FC236}">
                  <a16:creationId xmlns:a16="http://schemas.microsoft.com/office/drawing/2014/main" id="{2F9E6949-4A97-4D32-AC63-B163A6939424}"/>
                </a:ext>
              </a:extLst>
            </p:cNvPr>
            <p:cNvSpPr/>
            <p:nvPr/>
          </p:nvSpPr>
          <p:spPr bwMode="gray">
            <a:xfrm>
              <a:off x="1985471" y="2743200"/>
              <a:ext cx="1481470" cy="2543838"/>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30" name="Group 29">
            <a:extLst>
              <a:ext uri="{FF2B5EF4-FFF2-40B4-BE49-F238E27FC236}">
                <a16:creationId xmlns:a16="http://schemas.microsoft.com/office/drawing/2014/main" id="{157AC9C6-2F93-49F1-80F3-33BC5CD31366}"/>
              </a:ext>
            </a:extLst>
          </p:cNvPr>
          <p:cNvGrpSpPr/>
          <p:nvPr/>
        </p:nvGrpSpPr>
        <p:grpSpPr>
          <a:xfrm>
            <a:off x="4616118" y="2435744"/>
            <a:ext cx="2962940" cy="3411314"/>
            <a:chOff x="4772746" y="2467639"/>
            <a:chExt cx="2962940" cy="3411314"/>
          </a:xfrm>
        </p:grpSpPr>
        <p:sp>
          <p:nvSpPr>
            <p:cNvPr id="16" name="Rectangle 15">
              <a:extLst>
                <a:ext uri="{FF2B5EF4-FFF2-40B4-BE49-F238E27FC236}">
                  <a16:creationId xmlns:a16="http://schemas.microsoft.com/office/drawing/2014/main" id="{54A31C44-2604-4316-9510-383B1439AFBE}"/>
                </a:ext>
              </a:extLst>
            </p:cNvPr>
            <p:cNvSpPr/>
            <p:nvPr/>
          </p:nvSpPr>
          <p:spPr bwMode="gray">
            <a:xfrm>
              <a:off x="4772747" y="2467639"/>
              <a:ext cx="2962939" cy="2808766"/>
            </a:xfrm>
            <a:prstGeom prst="rect">
              <a:avLst/>
            </a:prstGeom>
            <a:noFill/>
            <a:ln w="25400" algn="ctr">
              <a:solidFill>
                <a:schemeClr val="tx1"/>
              </a:solidFill>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7" name="Rectangle 16">
              <a:extLst>
                <a:ext uri="{FF2B5EF4-FFF2-40B4-BE49-F238E27FC236}">
                  <a16:creationId xmlns:a16="http://schemas.microsoft.com/office/drawing/2014/main" id="{43FDA711-3FE8-4249-B58C-8299C5E35F19}"/>
                </a:ext>
              </a:extLst>
            </p:cNvPr>
            <p:cNvSpPr/>
            <p:nvPr/>
          </p:nvSpPr>
          <p:spPr bwMode="gray">
            <a:xfrm>
              <a:off x="4772746" y="4411624"/>
              <a:ext cx="1481470" cy="86478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CPU request</a:t>
              </a:r>
            </a:p>
          </p:txBody>
        </p:sp>
        <p:sp>
          <p:nvSpPr>
            <p:cNvPr id="18" name="Rectangle 17">
              <a:extLst>
                <a:ext uri="{FF2B5EF4-FFF2-40B4-BE49-F238E27FC236}">
                  <a16:creationId xmlns:a16="http://schemas.microsoft.com/office/drawing/2014/main" id="{85878579-39CD-4C19-9A41-2961FFC3C8D7}"/>
                </a:ext>
              </a:extLst>
            </p:cNvPr>
            <p:cNvSpPr/>
            <p:nvPr/>
          </p:nvSpPr>
          <p:spPr bwMode="gray">
            <a:xfrm>
              <a:off x="6254216" y="3525579"/>
              <a:ext cx="1481470" cy="86478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CPU request</a:t>
              </a:r>
            </a:p>
          </p:txBody>
        </p:sp>
        <p:sp>
          <p:nvSpPr>
            <p:cNvPr id="19" name="Rectangle 18">
              <a:extLst>
                <a:ext uri="{FF2B5EF4-FFF2-40B4-BE49-F238E27FC236}">
                  <a16:creationId xmlns:a16="http://schemas.microsoft.com/office/drawing/2014/main" id="{152CED82-9D71-4B30-A458-DE2883F61FA5}"/>
                </a:ext>
              </a:extLst>
            </p:cNvPr>
            <p:cNvSpPr/>
            <p:nvPr/>
          </p:nvSpPr>
          <p:spPr>
            <a:xfrm>
              <a:off x="5093481" y="5417288"/>
              <a:ext cx="2321469" cy="461665"/>
            </a:xfrm>
            <a:prstGeom prst="rect">
              <a:avLst/>
            </a:prstGeom>
          </p:spPr>
          <p:txBody>
            <a:bodyPr wrap="none">
              <a:spAutoFit/>
            </a:bodyPr>
            <a:lstStyle/>
            <a:p>
              <a:r>
                <a:rPr lang="en-US" sz="2400" b="1" kern="0" dirty="0">
                  <a:ea typeface="Arial Unicode MS" pitchFamily="34" charset="-128"/>
                  <a:cs typeface="Arial Unicode MS" pitchFamily="34" charset="-128"/>
                </a:rPr>
                <a:t>QoS Burstable</a:t>
              </a:r>
              <a:endParaRPr lang="en-US" dirty="0"/>
            </a:p>
          </p:txBody>
        </p:sp>
        <p:sp>
          <p:nvSpPr>
            <p:cNvPr id="20" name="Rectangle 19">
              <a:extLst>
                <a:ext uri="{FF2B5EF4-FFF2-40B4-BE49-F238E27FC236}">
                  <a16:creationId xmlns:a16="http://schemas.microsoft.com/office/drawing/2014/main" id="{A0CAE38E-2894-42F0-9257-0026CE9C49E1}"/>
                </a:ext>
              </a:extLst>
            </p:cNvPr>
            <p:cNvSpPr/>
            <p:nvPr/>
          </p:nvSpPr>
          <p:spPr bwMode="gray">
            <a:xfrm>
              <a:off x="4772746" y="2467639"/>
              <a:ext cx="1481470" cy="192272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CPU limit</a:t>
              </a:r>
            </a:p>
          </p:txBody>
        </p:sp>
        <p:sp>
          <p:nvSpPr>
            <p:cNvPr id="22" name="Rectangle 21">
              <a:extLst>
                <a:ext uri="{FF2B5EF4-FFF2-40B4-BE49-F238E27FC236}">
                  <a16:creationId xmlns:a16="http://schemas.microsoft.com/office/drawing/2014/main" id="{3E8D6915-3AB6-4C7A-8EC3-3D6B941CCDBB}"/>
                </a:ext>
              </a:extLst>
            </p:cNvPr>
            <p:cNvSpPr/>
            <p:nvPr/>
          </p:nvSpPr>
          <p:spPr bwMode="gray">
            <a:xfrm>
              <a:off x="6254216" y="4422256"/>
              <a:ext cx="1481470" cy="864781"/>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32" name="Group 31">
            <a:extLst>
              <a:ext uri="{FF2B5EF4-FFF2-40B4-BE49-F238E27FC236}">
                <a16:creationId xmlns:a16="http://schemas.microsoft.com/office/drawing/2014/main" id="{34EE5F69-7C04-4F8C-A3C1-D3C1E0097A61}"/>
              </a:ext>
            </a:extLst>
          </p:cNvPr>
          <p:cNvGrpSpPr/>
          <p:nvPr/>
        </p:nvGrpSpPr>
        <p:grpSpPr>
          <a:xfrm>
            <a:off x="8728235" y="2435744"/>
            <a:ext cx="2968932" cy="3443209"/>
            <a:chOff x="8728235" y="2435744"/>
            <a:chExt cx="2968932" cy="3443209"/>
          </a:xfrm>
        </p:grpSpPr>
        <p:sp>
          <p:nvSpPr>
            <p:cNvPr id="23" name="Rectangle 22">
              <a:extLst>
                <a:ext uri="{FF2B5EF4-FFF2-40B4-BE49-F238E27FC236}">
                  <a16:creationId xmlns:a16="http://schemas.microsoft.com/office/drawing/2014/main" id="{1477B240-DCC0-45D6-9FD6-BB09D1015C57}"/>
                </a:ext>
              </a:extLst>
            </p:cNvPr>
            <p:cNvSpPr/>
            <p:nvPr/>
          </p:nvSpPr>
          <p:spPr bwMode="gray">
            <a:xfrm>
              <a:off x="8728236" y="2435744"/>
              <a:ext cx="2962939" cy="2808766"/>
            </a:xfrm>
            <a:prstGeom prst="rect">
              <a:avLst/>
            </a:prstGeom>
            <a:noFill/>
            <a:ln w="25400" algn="ctr">
              <a:solidFill>
                <a:schemeClr val="tx1"/>
              </a:solidFill>
              <a:miter lim="800000"/>
              <a:headEnd/>
              <a:tailEnd/>
            </a:ln>
          </p:spPr>
          <p:txBody>
            <a:bodyPr lIns="90000" tIns="72000" rIns="90000" bIns="72000" rtlCol="0" anchor="b"/>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4" name="Rectangle 23">
              <a:extLst>
                <a:ext uri="{FF2B5EF4-FFF2-40B4-BE49-F238E27FC236}">
                  <a16:creationId xmlns:a16="http://schemas.microsoft.com/office/drawing/2014/main" id="{B0CAC004-8D43-4407-92E9-2781B366C5DF}"/>
                </a:ext>
              </a:extLst>
            </p:cNvPr>
            <p:cNvSpPr/>
            <p:nvPr/>
          </p:nvSpPr>
          <p:spPr bwMode="gray">
            <a:xfrm>
              <a:off x="8728235" y="2435745"/>
              <a:ext cx="1481470" cy="280876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No request</a:t>
              </a:r>
            </a:p>
          </p:txBody>
        </p:sp>
        <p:sp>
          <p:nvSpPr>
            <p:cNvPr id="26" name="Rectangle 25">
              <a:extLst>
                <a:ext uri="{FF2B5EF4-FFF2-40B4-BE49-F238E27FC236}">
                  <a16:creationId xmlns:a16="http://schemas.microsoft.com/office/drawing/2014/main" id="{6A7D7F88-50AB-45FB-90FB-7F41A0017DB0}"/>
                </a:ext>
              </a:extLst>
            </p:cNvPr>
            <p:cNvSpPr/>
            <p:nvPr/>
          </p:nvSpPr>
          <p:spPr>
            <a:xfrm>
              <a:off x="8972026" y="5417288"/>
              <a:ext cx="2475358" cy="461665"/>
            </a:xfrm>
            <a:prstGeom prst="rect">
              <a:avLst/>
            </a:prstGeom>
          </p:spPr>
          <p:txBody>
            <a:bodyPr wrap="none">
              <a:spAutoFit/>
            </a:bodyPr>
            <a:lstStyle/>
            <a:p>
              <a:r>
                <a:rPr lang="en-US" sz="2400" b="1" kern="0" dirty="0">
                  <a:ea typeface="Arial Unicode MS" pitchFamily="34" charset="-128"/>
                  <a:cs typeface="Arial Unicode MS" pitchFamily="34" charset="-128"/>
                </a:rPr>
                <a:t>QoS Best Effort</a:t>
              </a:r>
              <a:endParaRPr lang="en-US" dirty="0"/>
            </a:p>
          </p:txBody>
        </p:sp>
        <p:sp>
          <p:nvSpPr>
            <p:cNvPr id="31" name="Rectangle 30">
              <a:extLst>
                <a:ext uri="{FF2B5EF4-FFF2-40B4-BE49-F238E27FC236}">
                  <a16:creationId xmlns:a16="http://schemas.microsoft.com/office/drawing/2014/main" id="{6A6C7AEE-5F48-424E-9C91-03B1596392BD}"/>
                </a:ext>
              </a:extLst>
            </p:cNvPr>
            <p:cNvSpPr/>
            <p:nvPr/>
          </p:nvSpPr>
          <p:spPr bwMode="gray">
            <a:xfrm>
              <a:off x="10215697" y="2435744"/>
              <a:ext cx="1481470" cy="280876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No request</a:t>
              </a:r>
            </a:p>
          </p:txBody>
        </p:sp>
      </p:grpSp>
      <p:pic>
        <p:nvPicPr>
          <p:cNvPr id="33" name="Graphic 32" descr="Skull">
            <a:extLst>
              <a:ext uri="{FF2B5EF4-FFF2-40B4-BE49-F238E27FC236}">
                <a16:creationId xmlns:a16="http://schemas.microsoft.com/office/drawing/2014/main" id="{4C2306FC-A146-47C0-AB8C-191062A3F7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11770" y="2579284"/>
            <a:ext cx="914400" cy="914400"/>
          </a:xfrm>
          <a:prstGeom prst="rect">
            <a:avLst/>
          </a:prstGeom>
        </p:spPr>
      </p:pic>
      <p:pic>
        <p:nvPicPr>
          <p:cNvPr id="34" name="Graphic 33" descr="Skull">
            <a:extLst>
              <a:ext uri="{FF2B5EF4-FFF2-40B4-BE49-F238E27FC236}">
                <a16:creationId xmlns:a16="http://schemas.microsoft.com/office/drawing/2014/main" id="{F0B76DBA-6188-414D-82C1-3EE683A52639}"/>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10499232" y="2579284"/>
            <a:ext cx="914400" cy="914400"/>
          </a:xfrm>
          <a:prstGeom prst="rect">
            <a:avLst/>
          </a:prstGeom>
        </p:spPr>
      </p:pic>
      <p:sp>
        <p:nvSpPr>
          <p:cNvPr id="3" name="Rectangle 2">
            <a:extLst>
              <a:ext uri="{FF2B5EF4-FFF2-40B4-BE49-F238E27FC236}">
                <a16:creationId xmlns:a16="http://schemas.microsoft.com/office/drawing/2014/main" id="{3E4124A6-6629-4E6D-A398-89299F1B6D2B}"/>
              </a:ext>
            </a:extLst>
          </p:cNvPr>
          <p:cNvSpPr/>
          <p:nvPr/>
        </p:nvSpPr>
        <p:spPr>
          <a:xfrm>
            <a:off x="504000" y="979930"/>
            <a:ext cx="9422169" cy="415498"/>
          </a:xfrm>
          <a:prstGeom prst="rect">
            <a:avLst/>
          </a:prstGeom>
        </p:spPr>
        <p:txBody>
          <a:bodyPr wrap="square">
            <a:spAutoFit/>
          </a:bodyPr>
          <a:lstStyle/>
          <a:p>
            <a:r>
              <a:rPr lang="de-DE" dirty="0">
                <a:hlinkClick r:id="rId6"/>
              </a:rPr>
              <a:t>https://kubernetes.io/docs/tasks/configure-pod-container/quality-service-pod/</a:t>
            </a:r>
            <a:endParaRPr lang="en-US" dirty="0"/>
          </a:p>
        </p:txBody>
      </p:sp>
    </p:spTree>
    <p:extLst>
      <p:ext uri="{BB962C8B-B14F-4D97-AF65-F5344CB8AC3E}">
        <p14:creationId xmlns:p14="http://schemas.microsoft.com/office/powerpoint/2010/main" val="2786711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F7A3890-FC50-4F56-A9FB-85F7CC4FB953}"/>
              </a:ext>
            </a:extLst>
          </p:cNvPr>
          <p:cNvSpPr>
            <a:spLocks noGrp="1"/>
          </p:cNvSpPr>
          <p:nvPr>
            <p:ph type="body" sz="quarter" idx="10"/>
          </p:nvPr>
        </p:nvSpPr>
        <p:spPr>
          <a:xfrm>
            <a:off x="504000" y="1620000"/>
            <a:ext cx="5328000" cy="4230000"/>
          </a:xfrm>
        </p:spPr>
        <p:txBody>
          <a:bodyPr/>
          <a:lstStyle/>
          <a:p>
            <a:pPr marL="342900" indent="-342900">
              <a:buClr>
                <a:schemeClr val="tx1"/>
              </a:buClr>
              <a:buFont typeface="Wingdings" panose="05000000000000000000" pitchFamily="2" charset="2"/>
              <a:buChar char="§"/>
            </a:pPr>
            <a:r>
              <a:rPr lang="en-US" dirty="0"/>
              <a:t>Used to define limits on different resources in a namespace.</a:t>
            </a:r>
          </a:p>
          <a:p>
            <a:pPr marL="342900" indent="-342900">
              <a:buClr>
                <a:schemeClr val="tx1"/>
              </a:buClr>
              <a:buFont typeface="Wingdings" panose="05000000000000000000" pitchFamily="2" charset="2"/>
              <a:buChar char="§"/>
            </a:pPr>
            <a:r>
              <a:rPr lang="en-US" dirty="0" err="1"/>
              <a:t>namespaced</a:t>
            </a:r>
            <a:r>
              <a:rPr lang="en-US" dirty="0"/>
              <a:t> Resource</a:t>
            </a:r>
          </a:p>
          <a:p>
            <a:pPr marL="342900" indent="-342900">
              <a:buClr>
                <a:schemeClr val="tx1"/>
              </a:buClr>
              <a:buFont typeface="Wingdings" panose="05000000000000000000" pitchFamily="2" charset="2"/>
              <a:buChar char="§"/>
            </a:pPr>
            <a:r>
              <a:rPr lang="en-US" dirty="0"/>
              <a:t>Set “hard” limits on resources like</a:t>
            </a:r>
          </a:p>
          <a:p>
            <a:pPr marL="522864" lvl="1" indent="-342900">
              <a:buClr>
                <a:schemeClr val="tx1"/>
              </a:buClr>
            </a:pPr>
            <a:r>
              <a:rPr lang="en-US" dirty="0"/>
              <a:t>Pods</a:t>
            </a:r>
          </a:p>
          <a:p>
            <a:pPr marL="522864" lvl="1" indent="-342900">
              <a:buClr>
                <a:schemeClr val="tx1"/>
              </a:buClr>
            </a:pPr>
            <a:r>
              <a:rPr lang="en-US" dirty="0"/>
              <a:t>Number of PVCs</a:t>
            </a:r>
          </a:p>
          <a:p>
            <a:pPr marL="522864" lvl="1" indent="-342900">
              <a:buClr>
                <a:schemeClr val="tx1"/>
              </a:buClr>
            </a:pPr>
            <a:r>
              <a:rPr lang="en-US" dirty="0"/>
              <a:t>Memory (of all pods combined) </a:t>
            </a:r>
          </a:p>
          <a:p>
            <a:pPr marL="342900" indent="-342900">
              <a:buClr>
                <a:schemeClr val="tx1"/>
              </a:buClr>
              <a:buFont typeface="Wingdings" panose="05000000000000000000" pitchFamily="2" charset="2"/>
              <a:buChar char="§"/>
            </a:pPr>
            <a:r>
              <a:rPr lang="en-US" dirty="0"/>
              <a:t>More information </a:t>
            </a:r>
            <a:r>
              <a:rPr lang="en-US" dirty="0">
                <a:hlinkClick r:id="rId2"/>
              </a:rPr>
              <a:t>here</a:t>
            </a:r>
            <a:r>
              <a:rPr lang="en-US" dirty="0"/>
              <a:t>.</a:t>
            </a:r>
          </a:p>
        </p:txBody>
      </p:sp>
      <p:sp>
        <p:nvSpPr>
          <p:cNvPr id="2" name="Title 1">
            <a:extLst>
              <a:ext uri="{FF2B5EF4-FFF2-40B4-BE49-F238E27FC236}">
                <a16:creationId xmlns:a16="http://schemas.microsoft.com/office/drawing/2014/main" id="{27858C6C-0AC0-4052-8DFD-6B2476BD5B25}"/>
              </a:ext>
            </a:extLst>
          </p:cNvPr>
          <p:cNvSpPr>
            <a:spLocks noGrp="1"/>
          </p:cNvSpPr>
          <p:nvPr>
            <p:ph type="title"/>
          </p:nvPr>
        </p:nvSpPr>
        <p:spPr/>
        <p:txBody>
          <a:bodyPr/>
          <a:lstStyle/>
          <a:p>
            <a:r>
              <a:rPr lang="en-US" dirty="0"/>
              <a:t>Policy: </a:t>
            </a:r>
            <a:r>
              <a:rPr lang="en-US" dirty="0" err="1"/>
              <a:t>ResourceQuota</a:t>
            </a:r>
            <a:endParaRPr lang="en-US" dirty="0"/>
          </a:p>
        </p:txBody>
      </p:sp>
      <p:pic>
        <p:nvPicPr>
          <p:cNvPr id="3" name="Picture 2">
            <a:extLst>
              <a:ext uri="{FF2B5EF4-FFF2-40B4-BE49-F238E27FC236}">
                <a16:creationId xmlns:a16="http://schemas.microsoft.com/office/drawing/2014/main" id="{89C68C63-C610-45AE-A19F-2DC6D51FBAB6}"/>
              </a:ext>
            </a:extLst>
          </p:cNvPr>
          <p:cNvPicPr>
            <a:picLocks noChangeAspect="1"/>
          </p:cNvPicPr>
          <p:nvPr/>
        </p:nvPicPr>
        <p:blipFill>
          <a:blip r:embed="rId3"/>
          <a:stretch>
            <a:fillRect/>
          </a:stretch>
        </p:blipFill>
        <p:spPr>
          <a:xfrm>
            <a:off x="6880979" y="1395211"/>
            <a:ext cx="3216036" cy="4691493"/>
          </a:xfrm>
          <a:prstGeom prst="rect">
            <a:avLst/>
          </a:prstGeom>
          <a:ln>
            <a:solidFill>
              <a:schemeClr val="tx1"/>
            </a:solidFill>
          </a:ln>
        </p:spPr>
      </p:pic>
    </p:spTree>
    <p:extLst>
      <p:ext uri="{BB962C8B-B14F-4D97-AF65-F5344CB8AC3E}">
        <p14:creationId xmlns:p14="http://schemas.microsoft.com/office/powerpoint/2010/main" val="3457262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458904-79D2-4075-9754-8377C05AF6D8}"/>
              </a:ext>
            </a:extLst>
          </p:cNvPr>
          <p:cNvSpPr>
            <a:spLocks noGrp="1"/>
          </p:cNvSpPr>
          <p:nvPr>
            <p:ph type="body" sz="quarter" idx="10"/>
          </p:nvPr>
        </p:nvSpPr>
        <p:spPr/>
        <p:txBody>
          <a:bodyPr/>
          <a:lstStyle/>
          <a:p>
            <a:pPr marL="342900" indent="-342900">
              <a:buClrTx/>
              <a:buFont typeface="Wingdings" panose="05000000000000000000" pitchFamily="2" charset="2"/>
              <a:buChar char="§"/>
            </a:pPr>
            <a:r>
              <a:rPr lang="en-US" dirty="0"/>
              <a:t>Each pod consumes a certain amount of </a:t>
            </a:r>
            <a:r>
              <a:rPr lang="en-US" dirty="0" err="1"/>
              <a:t>cpu</a:t>
            </a:r>
            <a:r>
              <a:rPr lang="en-US" dirty="0"/>
              <a:t> or memory. </a:t>
            </a:r>
          </a:p>
          <a:p>
            <a:pPr marL="342900" indent="-342900">
              <a:buClrTx/>
              <a:buFont typeface="Wingdings" panose="05000000000000000000" pitchFamily="2" charset="2"/>
              <a:buChar char="§"/>
            </a:pPr>
            <a:r>
              <a:rPr lang="en-US" dirty="0" err="1"/>
              <a:t>LimitRanges</a:t>
            </a:r>
            <a:r>
              <a:rPr lang="en-US" dirty="0"/>
              <a:t> are used to enforce specification of </a:t>
            </a:r>
            <a:r>
              <a:rPr lang="en-US" dirty="0" err="1"/>
              <a:t>cpu</a:t>
            </a:r>
            <a:r>
              <a:rPr lang="en-US" dirty="0"/>
              <a:t> &amp; memory resources</a:t>
            </a:r>
          </a:p>
          <a:p>
            <a:pPr marL="342900" indent="-342900">
              <a:buClrTx/>
              <a:buFont typeface="Wingdings" panose="05000000000000000000" pitchFamily="2" charset="2"/>
              <a:buChar char="§"/>
            </a:pPr>
            <a:r>
              <a:rPr lang="en-US" dirty="0"/>
              <a:t>It can specify default values that are applied to every container in a namespace (can be overwritten / explicitly specified resources take precedence)</a:t>
            </a:r>
          </a:p>
        </p:txBody>
      </p:sp>
      <p:sp>
        <p:nvSpPr>
          <p:cNvPr id="4" name="Title 3">
            <a:extLst>
              <a:ext uri="{FF2B5EF4-FFF2-40B4-BE49-F238E27FC236}">
                <a16:creationId xmlns:a16="http://schemas.microsoft.com/office/drawing/2014/main" id="{B56010D1-89BB-413A-BF4F-BC3FA8679F32}"/>
              </a:ext>
            </a:extLst>
          </p:cNvPr>
          <p:cNvSpPr>
            <a:spLocks noGrp="1"/>
          </p:cNvSpPr>
          <p:nvPr>
            <p:ph type="title"/>
          </p:nvPr>
        </p:nvSpPr>
        <p:spPr/>
        <p:txBody>
          <a:bodyPr/>
          <a:lstStyle/>
          <a:p>
            <a:r>
              <a:rPr lang="en-US" dirty="0"/>
              <a:t>Policy: </a:t>
            </a:r>
            <a:r>
              <a:rPr lang="en-US" dirty="0" err="1"/>
              <a:t>LimitRanges</a:t>
            </a:r>
            <a:endParaRPr lang="en-US" dirty="0"/>
          </a:p>
        </p:txBody>
      </p:sp>
      <p:pic>
        <p:nvPicPr>
          <p:cNvPr id="3" name="Picture 2">
            <a:extLst>
              <a:ext uri="{FF2B5EF4-FFF2-40B4-BE49-F238E27FC236}">
                <a16:creationId xmlns:a16="http://schemas.microsoft.com/office/drawing/2014/main" id="{7A35E34D-6606-4810-88D5-A62B9BFE3A73}"/>
              </a:ext>
            </a:extLst>
          </p:cNvPr>
          <p:cNvPicPr>
            <a:picLocks noChangeAspect="1"/>
          </p:cNvPicPr>
          <p:nvPr/>
        </p:nvPicPr>
        <p:blipFill>
          <a:blip r:embed="rId3"/>
          <a:stretch>
            <a:fillRect/>
          </a:stretch>
        </p:blipFill>
        <p:spPr>
          <a:xfrm>
            <a:off x="7490812" y="1084318"/>
            <a:ext cx="3481988" cy="4689364"/>
          </a:xfrm>
          <a:prstGeom prst="rect">
            <a:avLst/>
          </a:prstGeom>
          <a:ln>
            <a:solidFill>
              <a:schemeClr val="tx1"/>
            </a:solidFill>
          </a:ln>
        </p:spPr>
      </p:pic>
    </p:spTree>
    <p:extLst>
      <p:ext uri="{BB962C8B-B14F-4D97-AF65-F5344CB8AC3E}">
        <p14:creationId xmlns:p14="http://schemas.microsoft.com/office/powerpoint/2010/main" val="4130527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2302</Words>
  <Application>Microsoft Office PowerPoint</Application>
  <PresentationFormat>Custom</PresentationFormat>
  <Paragraphs>257</Paragraphs>
  <Slides>20</Slides>
  <Notes>17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Courier New</vt:lpstr>
      <vt:lpstr>Symbol</vt:lpstr>
      <vt:lpstr>Wingdings</vt:lpstr>
      <vt:lpstr>Wingdings</vt:lpstr>
      <vt:lpstr>SAP_2017_16x9_black</vt:lpstr>
      <vt:lpstr>Cluster Access Management</vt:lpstr>
      <vt:lpstr>Service Accounts</vt:lpstr>
      <vt:lpstr>Access tokens</vt:lpstr>
      <vt:lpstr>Role based access control (RBAC)</vt:lpstr>
      <vt:lpstr>Demo</vt:lpstr>
      <vt:lpstr>   Image Pulling</vt:lpstr>
      <vt:lpstr>ImagePullPolicy</vt:lpstr>
      <vt:lpstr>ImagePullPolicy: IfNotPresent</vt:lpstr>
      <vt:lpstr>Using Images from a private registry</vt:lpstr>
      <vt:lpstr>Image Pull Secrets</vt:lpstr>
      <vt:lpstr>Image Pull Secrets</vt:lpstr>
      <vt:lpstr>Image Pull Secret together with Artifactory</vt:lpstr>
      <vt:lpstr>Runtime Constraints for Pods</vt:lpstr>
      <vt:lpstr>How to prevent apps to wreak havoc?</vt:lpstr>
      <vt:lpstr>Constrains on pod level:</vt:lpstr>
      <vt:lpstr>Resource requests &amp; limits</vt:lpstr>
      <vt:lpstr>Quality of Service classes</vt:lpstr>
      <vt:lpstr>Policy: ResourceQuota</vt:lpstr>
      <vt:lpstr>Policy: LimitRanges</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Kahl, Hendrik</cp:lastModifiedBy>
  <cp:revision>734</cp:revision>
  <dcterms:created xsi:type="dcterms:W3CDTF">2015-10-14T11:21:43Z</dcterms:created>
  <dcterms:modified xsi:type="dcterms:W3CDTF">2020-09-29T11:27:16Z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