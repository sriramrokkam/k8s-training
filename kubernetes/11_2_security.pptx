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3" r:id="rId1"/>
  </p:sldMasterIdLst>
  <p:notesMasterIdLst>
    <p:notesMasterId r:id="rId29"/>
  </p:notesMasterIdLst>
  <p:handoutMasterIdLst>
    <p:handoutMasterId r:id="rId30"/>
  </p:handoutMasterIdLst>
  <p:sldIdLst>
    <p:sldId id="433" r:id="rId2"/>
    <p:sldId id="956" r:id="rId3"/>
    <p:sldId id="958" r:id="rId4"/>
    <p:sldId id="966" r:id="rId5"/>
    <p:sldId id="961" r:id="rId6"/>
    <p:sldId id="964" r:id="rId7"/>
    <p:sldId id="471" r:id="rId8"/>
    <p:sldId id="948" r:id="rId9"/>
    <p:sldId id="950" r:id="rId10"/>
    <p:sldId id="951" r:id="rId11"/>
    <p:sldId id="952" r:id="rId12"/>
    <p:sldId id="953" r:id="rId13"/>
    <p:sldId id="954" r:id="rId14"/>
    <p:sldId id="459" r:id="rId15"/>
    <p:sldId id="926" r:id="rId16"/>
    <p:sldId id="467" r:id="rId17"/>
    <p:sldId id="931" r:id="rId18"/>
    <p:sldId id="940" r:id="rId19"/>
    <p:sldId id="936" r:id="rId20"/>
    <p:sldId id="943" r:id="rId21"/>
    <p:sldId id="942" r:id="rId22"/>
    <p:sldId id="944" r:id="rId23"/>
    <p:sldId id="945" r:id="rId24"/>
    <p:sldId id="965" r:id="rId25"/>
    <p:sldId id="967" r:id="rId26"/>
    <p:sldId id="458" r:id="rId27"/>
    <p:sldId id="265" r:id="rId28"/>
  </p:sldIdLst>
  <p:sldSz cx="12195175" cy="6858000"/>
  <p:notesSz cx="6858000" cy="9144000"/>
  <p:defaultTextStyle>
    <a:defPPr>
      <a:defRPr lang="de-DE"/>
    </a:defPPr>
    <a:lvl1pPr marL="0" algn="l" defTabSz="1088776" rtl="0" eaLnBrk="1" latinLnBrk="0" hangingPunct="1">
      <a:defRPr lang="de-DE" sz="2100" kern="1200">
        <a:solidFill>
          <a:schemeClr val="tx1"/>
        </a:solidFill>
        <a:latin typeface="Arial"/>
        <a:ea typeface="+mn-ea"/>
        <a:cs typeface="+mn-cs"/>
      </a:defRPr>
    </a:lvl1pPr>
    <a:lvl2pPr marL="544388" algn="l" defTabSz="1088776" rtl="0" eaLnBrk="1" latinLnBrk="0" hangingPunct="1">
      <a:buClr>
        <a:srgbClr val="FDB913"/>
      </a:buClr>
      <a:buSzPct val="100000"/>
      <a:buFont typeface="wingdings"/>
      <a:buChar char=""/>
      <a:defRPr lang="de-DE" sz="2100" kern="1200">
        <a:solidFill>
          <a:schemeClr val="tx1"/>
        </a:solidFill>
        <a:latin typeface="Arial"/>
        <a:ea typeface="+mn-ea"/>
        <a:cs typeface="+mn-cs"/>
      </a:defRPr>
    </a:lvl2pPr>
    <a:lvl3pPr marL="1088776" algn="l" defTabSz="1088776" rtl="0" eaLnBrk="1" latinLnBrk="0" hangingPunct="1">
      <a:buClr>
        <a:srgbClr val="666666"/>
      </a:buClr>
      <a:buSzPct val="80000"/>
      <a:buFont typeface="Wingdings"/>
      <a:buChar char="n"/>
      <a:defRPr lang="de-DE" sz="1700" kern="1200">
        <a:solidFill>
          <a:schemeClr val="tx1"/>
        </a:solidFill>
        <a:latin typeface="Arial"/>
        <a:ea typeface="+mn-ea"/>
        <a:cs typeface="+mn-cs"/>
      </a:defRPr>
    </a:lvl3pPr>
    <a:lvl4pPr marL="1633164" algn="l" defTabSz="1088776" rtl="0" eaLnBrk="1" latinLnBrk="0" hangingPunct="1">
      <a:buClr>
        <a:srgbClr val="666666"/>
      </a:buClr>
      <a:buSzPct val="80000"/>
      <a:buFont typeface="Arial"/>
      <a:buChar char=""/>
      <a:defRPr lang="de-DE" sz="1400" kern="1200">
        <a:solidFill>
          <a:schemeClr val="tx1"/>
        </a:solidFill>
        <a:latin typeface="Arial"/>
        <a:ea typeface="+mn-ea"/>
        <a:cs typeface="+mn-cs"/>
      </a:defRPr>
    </a:lvl4pPr>
    <a:lvl5pPr marL="2177552" algn="l" defTabSz="1088776" rtl="0" eaLnBrk="1" latinLnBrk="0" hangingPunct="1">
      <a:buClr>
        <a:srgbClr val="666666"/>
      </a:buClr>
      <a:buSzPct val="80000"/>
      <a:buFont typeface="Arial"/>
      <a:buChar char=""/>
      <a:defRPr lang="de-DE" sz="1200" kern="1200">
        <a:solidFill>
          <a:schemeClr val="tx1"/>
        </a:solidFill>
        <a:latin typeface="Arial"/>
        <a:ea typeface="+mn-ea"/>
        <a:cs typeface="+mn-cs"/>
      </a:defRPr>
    </a:lvl5pPr>
    <a:lvl6pPr marL="2721940" algn="l" defTabSz="1088776" rtl="0" eaLnBrk="1" latinLnBrk="0" hangingPunct="1">
      <a:defRPr sz="2100" kern="1200">
        <a:solidFill>
          <a:schemeClr val="tx1"/>
        </a:solidFill>
        <a:latin typeface="+mn-lt"/>
        <a:ea typeface="+mn-ea"/>
        <a:cs typeface="+mn-cs"/>
      </a:defRPr>
    </a:lvl6pPr>
    <a:lvl7pPr marL="3266328" algn="l" defTabSz="1088776" rtl="0" eaLnBrk="1" latinLnBrk="0" hangingPunct="1">
      <a:defRPr sz="2100" kern="1200">
        <a:solidFill>
          <a:schemeClr val="tx1"/>
        </a:solidFill>
        <a:latin typeface="+mn-lt"/>
        <a:ea typeface="+mn-ea"/>
        <a:cs typeface="+mn-cs"/>
      </a:defRPr>
    </a:lvl7pPr>
    <a:lvl8pPr marL="3810716" algn="l" defTabSz="1088776" rtl="0" eaLnBrk="1" latinLnBrk="0" hangingPunct="1">
      <a:defRPr sz="2100" kern="1200">
        <a:solidFill>
          <a:schemeClr val="tx1"/>
        </a:solidFill>
        <a:latin typeface="+mn-lt"/>
        <a:ea typeface="+mn-ea"/>
        <a:cs typeface="+mn-cs"/>
      </a:defRPr>
    </a:lvl8pPr>
    <a:lvl9pPr marL="4355104" algn="l" defTabSz="1088776" rtl="0" eaLnBrk="1" latinLnBrk="0" hangingPunct="1">
      <a:defRPr sz="21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1" userDrawn="1">
          <p15:clr>
            <a:srgbClr val="A4A3A4"/>
          </p15:clr>
        </p15:guide>
        <p15:guide id="2" orient="horz" pos="1022" userDrawn="1">
          <p15:clr>
            <a:srgbClr val="A4A3A4"/>
          </p15:clr>
        </p15:guide>
        <p15:guide id="3" orient="horz" pos="4004" userDrawn="1">
          <p15:clr>
            <a:srgbClr val="A4A3A4"/>
          </p15:clr>
        </p15:guide>
        <p15:guide id="4" pos="303" userDrawn="1">
          <p15:clr>
            <a:srgbClr val="A4A3A4"/>
          </p15:clr>
        </p15:guide>
        <p15:guide id="5" pos="7356" userDrawn="1">
          <p15:clr>
            <a:srgbClr val="A4A3A4"/>
          </p15:clr>
        </p15:guide>
        <p15:guide id="7" orient="horz" pos="30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0F46A7"/>
    <a:srgbClr val="970A82"/>
    <a:srgbClr val="FF3399"/>
    <a:srgbClr val="FF0000"/>
    <a:srgbClr val="FFFFFF"/>
    <a:srgbClr val="FEE3A1"/>
    <a:srgbClr val="FFF1D0"/>
    <a:srgbClr val="FFF8E7"/>
    <a:srgbClr val="FECE59"/>
    <a:srgbClr val="0032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339" autoAdjust="0"/>
    <p:restoredTop sz="76054" autoAdjust="0"/>
  </p:normalViewPr>
  <p:slideViewPr>
    <p:cSldViewPr snapToGrid="0" showGuides="1">
      <p:cViewPr varScale="1">
        <p:scale>
          <a:sx n="96" d="100"/>
          <a:sy n="96" d="100"/>
        </p:scale>
        <p:origin x="2168" y="160"/>
      </p:cViewPr>
      <p:guideLst>
        <p:guide pos="3841"/>
        <p:guide orient="horz" pos="1022"/>
        <p:guide orient="horz" pos="4004"/>
        <p:guide pos="303"/>
        <p:guide pos="7356"/>
        <p:guide orient="horz" pos="300"/>
      </p:guideLst>
    </p:cSldViewPr>
  </p:slideViewPr>
  <p:outlineViewPr>
    <p:cViewPr>
      <p:scale>
        <a:sx n="33" d="100"/>
        <a:sy n="33" d="100"/>
      </p:scale>
      <p:origin x="0" y="-6394"/>
    </p:cViewPr>
  </p:outlineViewPr>
  <p:notesTextViewPr>
    <p:cViewPr>
      <p:scale>
        <a:sx n="3" d="2"/>
        <a:sy n="3" d="2"/>
      </p:scale>
      <p:origin x="0" y="0"/>
    </p:cViewPr>
  </p:notesTextViewPr>
  <p:sorterViewPr>
    <p:cViewPr varScale="1">
      <p:scale>
        <a:sx n="1" d="1"/>
        <a:sy n="1" d="1"/>
      </p:scale>
      <p:origin x="0" y="0"/>
    </p:cViewPr>
  </p:sorterViewPr>
  <p:notesViewPr>
    <p:cSldViewPr snapToGrid="0" showGuides="1">
      <p:cViewPr varScale="1">
        <p:scale>
          <a:sx n="92" d="100"/>
          <a:sy n="92" d="100"/>
        </p:scale>
        <p:origin x="4042" y="7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handoutMaster" Target="handoutMasters/handoutMaster1.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1943100" y="8685213"/>
            <a:ext cx="2971800" cy="457200"/>
          </a:xfrm>
          <a:prstGeom prst="rect">
            <a:avLst/>
          </a:prstGeom>
        </p:spPr>
        <p:txBody>
          <a:bodyPr vert="horz" lIns="91440" tIns="45720" rIns="91440" bIns="45720" rtlCol="0" anchor="b"/>
          <a:lstStyle>
            <a:lvl1pPr algn="r">
              <a:defRPr sz="1200"/>
            </a:lvl1pPr>
          </a:lstStyle>
          <a:p>
            <a:pPr algn="ctr"/>
            <a:fld id="{47855BD9-AF71-426C-9B9B-B0E52B88852E}" type="slidenum">
              <a:rPr lang="de-DE" sz="1000" smtClean="0"/>
              <a:pPr algn="ctr"/>
              <a:t>‹Nr.›</a:t>
            </a:fld>
            <a:endParaRPr lang="de-DE" sz="1000" dirty="0"/>
          </a:p>
        </p:txBody>
      </p:sp>
    </p:spTree>
    <p:extLst>
      <p:ext uri="{BB962C8B-B14F-4D97-AF65-F5344CB8AC3E}">
        <p14:creationId xmlns:p14="http://schemas.microsoft.com/office/powerpoint/2010/main" val="23599324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547688" y="612775"/>
            <a:ext cx="5762625" cy="3241675"/>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es Placeholder 4"/>
          <p:cNvSpPr>
            <a:spLocks noGrp="1"/>
          </p:cNvSpPr>
          <p:nvPr>
            <p:ph type="body" sz="quarter" idx="3"/>
          </p:nvPr>
        </p:nvSpPr>
        <p:spPr>
          <a:xfrm>
            <a:off x="549000" y="4120162"/>
            <a:ext cx="5760000" cy="456356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p:txBody>
      </p:sp>
      <p:sp>
        <p:nvSpPr>
          <p:cNvPr id="7" name="Slide Number Placeholder 6"/>
          <p:cNvSpPr>
            <a:spLocks noGrp="1"/>
          </p:cNvSpPr>
          <p:nvPr>
            <p:ph type="sldNum" sz="quarter" idx="5"/>
          </p:nvPr>
        </p:nvSpPr>
        <p:spPr>
          <a:xfrm>
            <a:off x="2957512" y="8935722"/>
            <a:ext cx="942976" cy="205358"/>
          </a:xfrm>
          <a:prstGeom prst="rect">
            <a:avLst/>
          </a:prstGeom>
        </p:spPr>
        <p:txBody>
          <a:bodyPr vert="horz" lIns="91440" tIns="45720" rIns="91440" bIns="45720" rtlCol="0" anchor="b"/>
          <a:lstStyle>
            <a:lvl1pPr algn="ctr">
              <a:defRPr sz="800"/>
            </a:lvl1pPr>
          </a:lstStyle>
          <a:p>
            <a:fld id="{7D8C2C35-2B8A-446E-BEC0-FD36716C29AC}" type="slidenum">
              <a:rPr lang="de-DE" smtClean="0"/>
              <a:pPr/>
              <a:t>‹Nr.›</a:t>
            </a:fld>
            <a:endParaRPr lang="de-DE" dirty="0"/>
          </a:p>
        </p:txBody>
      </p:sp>
    </p:spTree>
    <p:extLst>
      <p:ext uri="{BB962C8B-B14F-4D97-AF65-F5344CB8AC3E}">
        <p14:creationId xmlns:p14="http://schemas.microsoft.com/office/powerpoint/2010/main" val="2847385487"/>
      </p:ext>
    </p:extLst>
  </p:cSld>
  <p:clrMap bg1="lt1" tx1="dk1" bg2="lt2" tx2="dk2" accent1="accent1" accent2="accent2" accent3="accent3" accent4="accent4" accent5="accent5" accent6="accent6" hlink="hlink" folHlink="folHlink"/>
  <p:notesStyle>
    <a:lvl1pPr marL="0" algn="l" defTabSz="1088776" rtl="0" eaLnBrk="1" latinLnBrk="0" hangingPunct="1">
      <a:defRPr sz="1400" kern="1200">
        <a:solidFill>
          <a:schemeClr val="tx1"/>
        </a:solidFill>
        <a:latin typeface="+mn-lt"/>
        <a:ea typeface="+mn-ea"/>
        <a:cs typeface="+mn-cs"/>
      </a:defRPr>
    </a:lvl1pPr>
    <a:lvl2pPr marL="180000" indent="-180000" algn="l" defTabSz="1088776" rtl="0" eaLnBrk="1" latinLnBrk="0" hangingPunct="1">
      <a:buClr>
        <a:schemeClr val="accent1"/>
      </a:buClr>
      <a:buSzPct val="100000"/>
      <a:buFont typeface="Wingdings" pitchFamily="2" charset="2"/>
      <a:buChar char=""/>
      <a:defRPr sz="1400" kern="1200">
        <a:solidFill>
          <a:schemeClr val="tx1"/>
        </a:solidFill>
        <a:latin typeface="+mn-lt"/>
        <a:ea typeface="+mn-ea"/>
        <a:cs typeface="+mn-cs"/>
      </a:defRPr>
    </a:lvl2pPr>
    <a:lvl3pPr marL="360000" indent="-180000" algn="l" defTabSz="1088776" rtl="0" eaLnBrk="1" latinLnBrk="0" hangingPunct="1">
      <a:buClr>
        <a:schemeClr val="accent2"/>
      </a:buClr>
      <a:buSzPct val="80000"/>
      <a:buFont typeface="Symbol" pitchFamily="18" charset="2"/>
      <a:buChar char="-"/>
      <a:defRPr sz="1200" kern="1200">
        <a:solidFill>
          <a:schemeClr val="tx1"/>
        </a:solidFill>
        <a:latin typeface="+mn-lt"/>
        <a:ea typeface="+mn-ea"/>
        <a:cs typeface="+mn-cs"/>
      </a:defRPr>
    </a:lvl3pPr>
    <a:lvl4pPr marL="674815" indent="-158780" algn="l" defTabSz="1088776" rtl="0" eaLnBrk="1" latinLnBrk="0" hangingPunct="1">
      <a:buClr>
        <a:schemeClr val="accent2"/>
      </a:buClr>
      <a:buFont typeface="Arial" pitchFamily="34" charset="0"/>
      <a:buChar char="–"/>
      <a:defRPr sz="1200" kern="1200">
        <a:solidFill>
          <a:schemeClr val="tx1"/>
        </a:solidFill>
        <a:latin typeface="+mn-lt"/>
        <a:ea typeface="+mn-ea"/>
        <a:cs typeface="+mn-cs"/>
      </a:defRPr>
    </a:lvl4pPr>
    <a:lvl5pPr marL="2177552" algn="l" defTabSz="1088776" rtl="0" eaLnBrk="1" latinLnBrk="0" hangingPunct="1">
      <a:defRPr sz="1400" kern="1200">
        <a:solidFill>
          <a:schemeClr val="tx1"/>
        </a:solidFill>
        <a:latin typeface="+mn-lt"/>
        <a:ea typeface="+mn-ea"/>
        <a:cs typeface="+mn-cs"/>
      </a:defRPr>
    </a:lvl5pPr>
    <a:lvl6pPr marL="2721940" algn="l" defTabSz="1088776" rtl="0" eaLnBrk="1" latinLnBrk="0" hangingPunct="1">
      <a:defRPr sz="1400" kern="1200">
        <a:solidFill>
          <a:schemeClr val="tx1"/>
        </a:solidFill>
        <a:latin typeface="+mn-lt"/>
        <a:ea typeface="+mn-ea"/>
        <a:cs typeface="+mn-cs"/>
      </a:defRPr>
    </a:lvl6pPr>
    <a:lvl7pPr marL="3266328" algn="l" defTabSz="1088776" rtl="0" eaLnBrk="1" latinLnBrk="0" hangingPunct="1">
      <a:defRPr sz="1400" kern="1200">
        <a:solidFill>
          <a:schemeClr val="tx1"/>
        </a:solidFill>
        <a:latin typeface="+mn-lt"/>
        <a:ea typeface="+mn-ea"/>
        <a:cs typeface="+mn-cs"/>
      </a:defRPr>
    </a:lvl7pPr>
    <a:lvl8pPr marL="3810716" algn="l" defTabSz="1088776" rtl="0" eaLnBrk="1" latinLnBrk="0" hangingPunct="1">
      <a:defRPr sz="1400" kern="1200">
        <a:solidFill>
          <a:schemeClr val="tx1"/>
        </a:solidFill>
        <a:latin typeface="+mn-lt"/>
        <a:ea typeface="+mn-ea"/>
        <a:cs typeface="+mn-cs"/>
      </a:defRPr>
    </a:lvl8pPr>
    <a:lvl9pPr marL="4355104" algn="l" defTabSz="1088776" rtl="0" eaLnBrk="1" latinLnBrk="0" hangingPunct="1">
      <a:defRPr sz="1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3" Type="http://schemas.openxmlformats.org/officeDocument/2006/relationships/hyperlink" Target="https://github.wdf.sap.corp/slvi/host-fs-access-hack" TargetMode="External"/><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1</a:t>
            </a:fld>
            <a:endParaRPr lang="en-US" dirty="0"/>
          </a:p>
        </p:txBody>
      </p:sp>
    </p:spTree>
    <p:extLst>
      <p:ext uri="{BB962C8B-B14F-4D97-AF65-F5344CB8AC3E}">
        <p14:creationId xmlns:p14="http://schemas.microsoft.com/office/powerpoint/2010/main" val="16739428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pod &amp; container spec provide several options to prevent security issues.</a:t>
            </a:r>
          </a:p>
          <a:p>
            <a:endParaRPr lang="en-US" dirty="0"/>
          </a:p>
          <a:p>
            <a:r>
              <a:rPr lang="en-US" dirty="0"/>
              <a:t>Firstly, it is possible to limit the resource consumption of each container. This way it is not possible to consume all the resources of a host.</a:t>
            </a:r>
          </a:p>
          <a:p>
            <a:endParaRPr lang="en-US" dirty="0"/>
          </a:p>
          <a:p>
            <a:r>
              <a:rPr lang="en-US" dirty="0"/>
              <a:t>Secondly, you can specify certain security aspects, such as allowed capabilities, access to the underlying host or the user-IDs which are allowed in the context of the container. This will be part of the next presentation. </a:t>
            </a:r>
          </a:p>
        </p:txBody>
      </p:sp>
      <p:sp>
        <p:nvSpPr>
          <p:cNvPr id="4" name="Slide Number Placeholder 3"/>
          <p:cNvSpPr>
            <a:spLocks noGrp="1"/>
          </p:cNvSpPr>
          <p:nvPr>
            <p:ph type="sldNum" sz="quarter" idx="5"/>
          </p:nvPr>
        </p:nvSpPr>
        <p:spPr/>
        <p:txBody>
          <a:bodyPr/>
          <a:lstStyle/>
          <a:p>
            <a:fld id="{7D8C2C35-2B8A-446E-BEC0-FD36716C29AC}" type="slidenum">
              <a:rPr lang="de-DE" smtClean="0"/>
              <a:pPr/>
              <a:t>2</a:t>
            </a:fld>
            <a:endParaRPr lang="de-DE" dirty="0"/>
          </a:p>
        </p:txBody>
      </p:sp>
    </p:spTree>
    <p:extLst>
      <p:ext uri="{BB962C8B-B14F-4D97-AF65-F5344CB8AC3E}">
        <p14:creationId xmlns:p14="http://schemas.microsoft.com/office/powerpoint/2010/main" val="16918590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10000"/>
          </a:bodyPr>
          <a:lstStyle/>
          <a:p>
            <a:r>
              <a:rPr lang="en-US" dirty="0"/>
              <a:t>On pod as well as container spec level you have certain parameter to prevent or provoke security incidents.</a:t>
            </a:r>
          </a:p>
          <a:p>
            <a:endParaRPr lang="en-US" dirty="0"/>
          </a:p>
          <a:p>
            <a:r>
              <a:rPr lang="en-US" dirty="0"/>
              <a:t>It is possible to grant host access in different ways – all of these may provoke security incidents:</a:t>
            </a:r>
          </a:p>
          <a:p>
            <a:pPr marL="285750" indent="-285750">
              <a:buFontTx/>
              <a:buChar char="-"/>
            </a:pPr>
            <a:r>
              <a:rPr lang="en-US" dirty="0"/>
              <a:t>Mount the host’s file system (</a:t>
            </a:r>
            <a:r>
              <a:rPr lang="en-US" dirty="0" err="1"/>
              <a:t>inkl</a:t>
            </a:r>
            <a:r>
              <a:rPr lang="en-US" dirty="0"/>
              <a:t>. a mount of the root file system “/”)</a:t>
            </a:r>
          </a:p>
          <a:p>
            <a:pPr marL="285750" indent="-285750">
              <a:buFontTx/>
              <a:buChar char="-"/>
            </a:pPr>
            <a:r>
              <a:rPr lang="en-US" dirty="0"/>
              <a:t>Join the host’s IPC namespace</a:t>
            </a:r>
          </a:p>
          <a:p>
            <a:pPr marL="285750" indent="-285750">
              <a:buFontTx/>
              <a:buChar char="-"/>
            </a:pPr>
            <a:r>
              <a:rPr lang="en-US" dirty="0"/>
              <a:t>Use the host’s network directly instead of an isolated network namespace</a:t>
            </a:r>
          </a:p>
          <a:p>
            <a:pPr marL="285750" indent="-285750">
              <a:buFontTx/>
              <a:buChar char="-"/>
            </a:pPr>
            <a:r>
              <a:rPr lang="en-US" dirty="0"/>
              <a:t>Run with user ID 0 (root)</a:t>
            </a:r>
          </a:p>
          <a:p>
            <a:pPr marL="285750" indent="-285750">
              <a:buFontTx/>
              <a:buChar char="-"/>
            </a:pPr>
            <a:r>
              <a:rPr lang="en-US" dirty="0"/>
              <a:t>Allow child processes to gain more privileges than their parent process (escalation)</a:t>
            </a:r>
          </a:p>
          <a:p>
            <a:pPr marL="285750" indent="-285750">
              <a:buFontTx/>
              <a:buChar char="-"/>
            </a:pPr>
            <a:r>
              <a:rPr lang="en-US" dirty="0"/>
              <a:t>Add capabilities (like SYS_ADMIN) or alter </a:t>
            </a:r>
            <a:r>
              <a:rPr lang="en-US" dirty="0" err="1"/>
              <a:t>seccomp</a:t>
            </a:r>
            <a:r>
              <a:rPr lang="en-US" dirty="0"/>
              <a:t> / </a:t>
            </a:r>
            <a:r>
              <a:rPr lang="en-US" dirty="0" err="1"/>
              <a:t>seLinux</a:t>
            </a:r>
            <a:r>
              <a:rPr lang="en-US" dirty="0"/>
              <a:t> profiles to allow dangerous system calls / access to the kernel</a:t>
            </a:r>
          </a:p>
          <a:p>
            <a:pPr marL="285750" indent="-285750">
              <a:buFontTx/>
              <a:buChar char="-"/>
            </a:pPr>
            <a:endParaRPr lang="en-US" dirty="0"/>
          </a:p>
          <a:p>
            <a:pPr marL="0" indent="0">
              <a:buFontTx/>
              <a:buNone/>
            </a:pPr>
            <a:r>
              <a:rPr lang="en-US" dirty="0"/>
              <a:t>Of course these switches can be used to restrain a process:</a:t>
            </a:r>
          </a:p>
          <a:p>
            <a:pPr marL="285750" indent="-285750">
              <a:buFontTx/>
              <a:buChar char="-"/>
            </a:pPr>
            <a:r>
              <a:rPr lang="en-US" dirty="0"/>
              <a:t>Run with a different user ID than 0 within the container (“</a:t>
            </a:r>
            <a:r>
              <a:rPr lang="en-US" dirty="0" err="1"/>
              <a:t>runAsNonRoot</a:t>
            </a:r>
            <a:r>
              <a:rPr lang="en-US" dirty="0"/>
              <a:t>” / “</a:t>
            </a:r>
            <a:r>
              <a:rPr lang="en-US" dirty="0" err="1"/>
              <a:t>runAsUser</a:t>
            </a:r>
            <a:r>
              <a:rPr lang="en-US" dirty="0"/>
              <a:t>”)</a:t>
            </a:r>
          </a:p>
          <a:p>
            <a:pPr marL="285750" indent="-285750">
              <a:buFontTx/>
              <a:buChar char="-"/>
            </a:pPr>
            <a:r>
              <a:rPr lang="en-US" dirty="0"/>
              <a:t>Drop all capabilities &amp; apply a strict set of </a:t>
            </a:r>
            <a:r>
              <a:rPr lang="en-US" dirty="0" err="1"/>
              <a:t>seccomp</a:t>
            </a:r>
            <a:r>
              <a:rPr lang="en-US" dirty="0"/>
              <a:t> / </a:t>
            </a:r>
            <a:r>
              <a:rPr lang="en-US" dirty="0" err="1"/>
              <a:t>seLinx</a:t>
            </a:r>
            <a:r>
              <a:rPr lang="en-US" dirty="0"/>
              <a:t> rules</a:t>
            </a:r>
          </a:p>
          <a:p>
            <a:pPr marL="285750" indent="-285750">
              <a:buFontTx/>
              <a:buChar char="-"/>
            </a:pPr>
            <a:r>
              <a:rPr lang="en-US" dirty="0"/>
              <a:t>Switch the container root filesystem to read- only (makes it harder to install something with apt-install)</a:t>
            </a:r>
          </a:p>
          <a:p>
            <a:pPr marL="285750" indent="-285750">
              <a:buFontTx/>
              <a:buChar char="-"/>
            </a:pPr>
            <a:r>
              <a:rPr lang="en-US" dirty="0"/>
              <a:t>Mount file systems (like </a:t>
            </a:r>
            <a:r>
              <a:rPr lang="en-US" dirty="0" err="1"/>
              <a:t>pvc</a:t>
            </a:r>
            <a:r>
              <a:rPr lang="en-US" dirty="0"/>
              <a:t>) with a specific group ID (ideally != 0)</a:t>
            </a:r>
          </a:p>
          <a:p>
            <a:endParaRPr lang="en-US" dirty="0"/>
          </a:p>
          <a:p>
            <a:endParaRPr lang="en-US" dirty="0"/>
          </a:p>
          <a:p>
            <a:r>
              <a:rPr lang="en-US" dirty="0"/>
              <a:t> </a:t>
            </a:r>
          </a:p>
        </p:txBody>
      </p:sp>
      <p:sp>
        <p:nvSpPr>
          <p:cNvPr id="4" name="Slide Number Placeholder 3"/>
          <p:cNvSpPr>
            <a:spLocks noGrp="1"/>
          </p:cNvSpPr>
          <p:nvPr>
            <p:ph type="sldNum" sz="quarter" idx="5"/>
          </p:nvPr>
        </p:nvSpPr>
        <p:spPr/>
        <p:txBody>
          <a:bodyPr/>
          <a:lstStyle/>
          <a:p>
            <a:fld id="{7D8C2C35-2B8A-446E-BEC0-FD36716C29AC}" type="slidenum">
              <a:rPr lang="de-DE" smtClean="0"/>
              <a:pPr/>
              <a:t>3</a:t>
            </a:fld>
            <a:endParaRPr lang="de-DE" dirty="0"/>
          </a:p>
        </p:txBody>
      </p:sp>
    </p:spTree>
    <p:extLst>
      <p:ext uri="{BB962C8B-B14F-4D97-AF65-F5344CB8AC3E}">
        <p14:creationId xmlns:p14="http://schemas.microsoft.com/office/powerpoint/2010/main" val="2738186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10000"/>
          </a:bodyPr>
          <a:lstStyle/>
          <a:p>
            <a:r>
              <a:rPr lang="en-US" dirty="0"/>
              <a:t>On pod as well as container spec level you have certain parameter to prevent or provoke security incidents.</a:t>
            </a:r>
          </a:p>
          <a:p>
            <a:endParaRPr lang="en-US" dirty="0"/>
          </a:p>
          <a:p>
            <a:r>
              <a:rPr lang="en-US" dirty="0"/>
              <a:t>It is possible to grant host access in different ways – all of these may provoke security incidents:</a:t>
            </a:r>
          </a:p>
          <a:p>
            <a:pPr marL="285750" indent="-285750">
              <a:buFontTx/>
              <a:buChar char="-"/>
            </a:pPr>
            <a:r>
              <a:rPr lang="en-US" dirty="0"/>
              <a:t>Mount the host’s file system (</a:t>
            </a:r>
            <a:r>
              <a:rPr lang="en-US" dirty="0" err="1"/>
              <a:t>inkl</a:t>
            </a:r>
            <a:r>
              <a:rPr lang="en-US" dirty="0"/>
              <a:t>. a mount of the root file system “/”)</a:t>
            </a:r>
          </a:p>
          <a:p>
            <a:pPr marL="285750" indent="-285750">
              <a:buFontTx/>
              <a:buChar char="-"/>
            </a:pPr>
            <a:r>
              <a:rPr lang="en-US" dirty="0"/>
              <a:t>Join the host’s IPC namespace</a:t>
            </a:r>
          </a:p>
          <a:p>
            <a:pPr marL="285750" indent="-285750">
              <a:buFontTx/>
              <a:buChar char="-"/>
            </a:pPr>
            <a:r>
              <a:rPr lang="en-US" dirty="0"/>
              <a:t>Use the host’s network directly instead of an isolated network namespace</a:t>
            </a:r>
          </a:p>
          <a:p>
            <a:pPr marL="285750" indent="-285750">
              <a:buFontTx/>
              <a:buChar char="-"/>
            </a:pPr>
            <a:r>
              <a:rPr lang="en-US" dirty="0"/>
              <a:t>Run with user ID 0 (root)</a:t>
            </a:r>
          </a:p>
          <a:p>
            <a:pPr marL="285750" indent="-285750">
              <a:buFontTx/>
              <a:buChar char="-"/>
            </a:pPr>
            <a:r>
              <a:rPr lang="en-US" dirty="0"/>
              <a:t>Allow child processes to gain more privileges than their parent process (escalation)</a:t>
            </a:r>
          </a:p>
          <a:p>
            <a:pPr marL="285750" indent="-285750">
              <a:buFontTx/>
              <a:buChar char="-"/>
            </a:pPr>
            <a:r>
              <a:rPr lang="en-US" dirty="0"/>
              <a:t>Add capabilities (like SYS_ADMIN) or alter </a:t>
            </a:r>
            <a:r>
              <a:rPr lang="en-US" dirty="0" err="1"/>
              <a:t>seccomp</a:t>
            </a:r>
            <a:r>
              <a:rPr lang="en-US" dirty="0"/>
              <a:t> / </a:t>
            </a:r>
            <a:r>
              <a:rPr lang="en-US" dirty="0" err="1"/>
              <a:t>seLinux</a:t>
            </a:r>
            <a:r>
              <a:rPr lang="en-US" dirty="0"/>
              <a:t> profiles to allow dangerous system calls / access to the kernel</a:t>
            </a:r>
          </a:p>
          <a:p>
            <a:pPr marL="285750" indent="-285750">
              <a:buFontTx/>
              <a:buChar char="-"/>
            </a:pPr>
            <a:endParaRPr lang="en-US" dirty="0"/>
          </a:p>
          <a:p>
            <a:pPr marL="0" indent="0">
              <a:buFontTx/>
              <a:buNone/>
            </a:pPr>
            <a:r>
              <a:rPr lang="en-US" dirty="0"/>
              <a:t>Of course these switches can be used to restrain a process:</a:t>
            </a:r>
          </a:p>
          <a:p>
            <a:pPr marL="285750" indent="-285750">
              <a:buFontTx/>
              <a:buChar char="-"/>
            </a:pPr>
            <a:r>
              <a:rPr lang="en-US" dirty="0"/>
              <a:t>Run with a different user ID than 0 within the container (“</a:t>
            </a:r>
            <a:r>
              <a:rPr lang="en-US" dirty="0" err="1"/>
              <a:t>runAsNonRoot</a:t>
            </a:r>
            <a:r>
              <a:rPr lang="en-US" dirty="0"/>
              <a:t>” / “</a:t>
            </a:r>
            <a:r>
              <a:rPr lang="en-US" dirty="0" err="1"/>
              <a:t>runAsUser</a:t>
            </a:r>
            <a:r>
              <a:rPr lang="en-US" dirty="0"/>
              <a:t>”)</a:t>
            </a:r>
          </a:p>
          <a:p>
            <a:pPr marL="285750" indent="-285750">
              <a:buFontTx/>
              <a:buChar char="-"/>
            </a:pPr>
            <a:r>
              <a:rPr lang="en-US" dirty="0"/>
              <a:t>Drop all capabilities &amp; apply a strict set of </a:t>
            </a:r>
            <a:r>
              <a:rPr lang="en-US" dirty="0" err="1"/>
              <a:t>seccomp</a:t>
            </a:r>
            <a:r>
              <a:rPr lang="en-US" dirty="0"/>
              <a:t> / </a:t>
            </a:r>
            <a:r>
              <a:rPr lang="en-US" dirty="0" err="1"/>
              <a:t>seLinx</a:t>
            </a:r>
            <a:r>
              <a:rPr lang="en-US" dirty="0"/>
              <a:t> rules</a:t>
            </a:r>
          </a:p>
          <a:p>
            <a:pPr marL="285750" indent="-285750">
              <a:buFontTx/>
              <a:buChar char="-"/>
            </a:pPr>
            <a:r>
              <a:rPr lang="en-US" dirty="0"/>
              <a:t>Switch the container root filesystem to read- only (makes it harder to install something with apt-install)</a:t>
            </a:r>
          </a:p>
          <a:p>
            <a:pPr marL="285750" indent="-285750">
              <a:buFontTx/>
              <a:buChar char="-"/>
            </a:pPr>
            <a:r>
              <a:rPr lang="en-US" dirty="0"/>
              <a:t>Mount file systems (like </a:t>
            </a:r>
            <a:r>
              <a:rPr lang="en-US" dirty="0" err="1"/>
              <a:t>pvc</a:t>
            </a:r>
            <a:r>
              <a:rPr lang="en-US" dirty="0"/>
              <a:t>) with a specific group ID (ideally != 0)</a:t>
            </a:r>
          </a:p>
          <a:p>
            <a:endParaRPr lang="en-US" dirty="0"/>
          </a:p>
          <a:p>
            <a:endParaRPr lang="en-US" dirty="0"/>
          </a:p>
          <a:p>
            <a:r>
              <a:rPr lang="en-US" dirty="0"/>
              <a:t> </a:t>
            </a:r>
          </a:p>
        </p:txBody>
      </p:sp>
      <p:sp>
        <p:nvSpPr>
          <p:cNvPr id="4" name="Slide Number Placeholder 3"/>
          <p:cNvSpPr>
            <a:spLocks noGrp="1"/>
          </p:cNvSpPr>
          <p:nvPr>
            <p:ph type="sldNum" sz="quarter" idx="5"/>
          </p:nvPr>
        </p:nvSpPr>
        <p:spPr/>
        <p:txBody>
          <a:bodyPr/>
          <a:lstStyle/>
          <a:p>
            <a:fld id="{7D8C2C35-2B8A-446E-BEC0-FD36716C29AC}" type="slidenum">
              <a:rPr lang="de-DE" smtClean="0"/>
              <a:pPr/>
              <a:t>4</a:t>
            </a:fld>
            <a:endParaRPr lang="de-DE" dirty="0"/>
          </a:p>
        </p:txBody>
      </p:sp>
    </p:spTree>
    <p:extLst>
      <p:ext uri="{BB962C8B-B14F-4D97-AF65-F5344CB8AC3E}">
        <p14:creationId xmlns:p14="http://schemas.microsoft.com/office/powerpoint/2010/main" val="37436891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Forking tons of new processes can bring down a host easily. To prevent such an attack being driven from within a pod, limiting the number of processes allowed per process group / </a:t>
            </a:r>
            <a:r>
              <a:rPr lang="en-US" dirty="0" err="1"/>
              <a:t>cgroup</a:t>
            </a:r>
            <a:r>
              <a:rPr lang="en-US" dirty="0"/>
              <a:t> is very important. </a:t>
            </a:r>
          </a:p>
          <a:p>
            <a:endParaRPr lang="en-US" dirty="0"/>
          </a:p>
          <a:p>
            <a:r>
              <a:rPr lang="en-US" dirty="0"/>
              <a:t>Unfortunately the current implementation is only in alpha stage and implemented on </a:t>
            </a:r>
            <a:r>
              <a:rPr lang="en-US" dirty="0" err="1"/>
              <a:t>kubelet</a:t>
            </a:r>
            <a:r>
              <a:rPr lang="en-US" dirty="0"/>
              <a:t> level. </a:t>
            </a:r>
          </a:p>
        </p:txBody>
      </p:sp>
      <p:sp>
        <p:nvSpPr>
          <p:cNvPr id="4" name="Slide Number Placeholder 3"/>
          <p:cNvSpPr>
            <a:spLocks noGrp="1"/>
          </p:cNvSpPr>
          <p:nvPr>
            <p:ph type="sldNum" sz="quarter" idx="5"/>
          </p:nvPr>
        </p:nvSpPr>
        <p:spPr/>
        <p:txBody>
          <a:bodyPr/>
          <a:lstStyle/>
          <a:p>
            <a:fld id="{7D8C2C35-2B8A-446E-BEC0-FD36716C29AC}" type="slidenum">
              <a:rPr lang="de-DE" smtClean="0"/>
              <a:pPr/>
              <a:t>5</a:t>
            </a:fld>
            <a:endParaRPr lang="de-DE" dirty="0"/>
          </a:p>
        </p:txBody>
      </p:sp>
    </p:spTree>
    <p:extLst>
      <p:ext uri="{BB962C8B-B14F-4D97-AF65-F5344CB8AC3E}">
        <p14:creationId xmlns:p14="http://schemas.microsoft.com/office/powerpoint/2010/main" val="16474458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Resource Quota and </a:t>
            </a:r>
            <a:r>
              <a:rPr lang="en-US" dirty="0" err="1"/>
              <a:t>LimitRanges</a:t>
            </a:r>
            <a:r>
              <a:rPr lang="en-US" dirty="0"/>
              <a:t> can be used to control requested as well as actual resource consumption + # of k8s objects per namespace. Example: if the memory quota per pod is 200 MB and you want to start, let’s say a Jenkins which would require more – the application will not be able to start before being killed for exceeding the memory limit.</a:t>
            </a:r>
          </a:p>
          <a:p>
            <a:endParaRPr lang="en-US" dirty="0"/>
          </a:p>
          <a:p>
            <a:r>
              <a:rPr lang="en-US" dirty="0"/>
              <a:t>Network policies control traffic within the cluster – details on next slide.</a:t>
            </a:r>
          </a:p>
          <a:p>
            <a:endParaRPr lang="en-US" dirty="0"/>
          </a:p>
          <a:p>
            <a:r>
              <a:rPr lang="en-US" dirty="0" err="1"/>
              <a:t>PodSecurityPolicies</a:t>
            </a:r>
            <a:r>
              <a:rPr lang="en-US" dirty="0"/>
              <a:t> specify (security relevant) runtime conditions for pods. https://kubernetes.io/docs/concepts/policy/pod-security-policy/ </a:t>
            </a:r>
          </a:p>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7</a:t>
            </a:fld>
            <a:endParaRPr lang="de-DE" dirty="0"/>
          </a:p>
        </p:txBody>
      </p:sp>
    </p:spTree>
    <p:extLst>
      <p:ext uri="{BB962C8B-B14F-4D97-AF65-F5344CB8AC3E}">
        <p14:creationId xmlns:p14="http://schemas.microsoft.com/office/powerpoint/2010/main" val="39929897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i="0" kern="1200" dirty="0">
                <a:solidFill>
                  <a:schemeClr val="tx1"/>
                </a:solidFill>
                <a:effectLst/>
                <a:latin typeface="+mn-lt"/>
                <a:ea typeface="+mn-ea"/>
                <a:cs typeface="+mn-cs"/>
              </a:rPr>
              <a:t>Without any pod security policy (</a:t>
            </a:r>
            <a:r>
              <a:rPr lang="en-US" sz="1400" b="0" i="0" kern="1200" dirty="0" err="1">
                <a:solidFill>
                  <a:schemeClr val="tx1"/>
                </a:solidFill>
                <a:effectLst/>
                <a:latin typeface="+mn-lt"/>
                <a:ea typeface="+mn-ea"/>
                <a:cs typeface="+mn-cs"/>
              </a:rPr>
              <a:t>psp</a:t>
            </a:r>
            <a:r>
              <a:rPr lang="en-US" sz="1400" b="0" i="0" kern="1200" dirty="0">
                <a:solidFill>
                  <a:schemeClr val="tx1"/>
                </a:solidFill>
                <a:effectLst/>
                <a:latin typeface="+mn-lt"/>
                <a:ea typeface="+mn-ea"/>
                <a:cs typeface="+mn-cs"/>
              </a:rPr>
              <a:t>) there are no centrally enforced constraints for containers. A container may run with root capabilities on the host and even mount the host’s file system with root permissions. In this case containment &amp; isolation is impossible.</a:t>
            </a:r>
          </a:p>
        </p:txBody>
      </p:sp>
      <p:sp>
        <p:nvSpPr>
          <p:cNvPr id="4" name="Slide Number Placeholder 3"/>
          <p:cNvSpPr>
            <a:spLocks noGrp="1"/>
          </p:cNvSpPr>
          <p:nvPr>
            <p:ph type="sldNum" sz="quarter" idx="10"/>
          </p:nvPr>
        </p:nvSpPr>
        <p:spPr/>
        <p:txBody>
          <a:bodyPr/>
          <a:lstStyle/>
          <a:p>
            <a:fld id="{7D8C2C35-2B8A-446E-BEC0-FD36716C29AC}" type="slidenum">
              <a:rPr lang="de-DE" smtClean="0"/>
              <a:pPr/>
              <a:t>8</a:t>
            </a:fld>
            <a:endParaRPr lang="de-DE" dirty="0"/>
          </a:p>
        </p:txBody>
      </p:sp>
    </p:spTree>
    <p:extLst>
      <p:ext uri="{BB962C8B-B14F-4D97-AF65-F5344CB8AC3E}">
        <p14:creationId xmlns:p14="http://schemas.microsoft.com/office/powerpoint/2010/main" val="172951460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i="0" kern="1200" dirty="0">
                <a:solidFill>
                  <a:schemeClr val="tx1"/>
                </a:solidFill>
                <a:effectLst/>
                <a:latin typeface="+mn-lt"/>
                <a:ea typeface="+mn-ea"/>
                <a:cs typeface="+mn-cs"/>
              </a:rPr>
              <a:t>A </a:t>
            </a:r>
            <a:r>
              <a:rPr lang="en-US" sz="1400" b="0" i="1" kern="1200" dirty="0">
                <a:solidFill>
                  <a:schemeClr val="tx1"/>
                </a:solidFill>
                <a:effectLst/>
                <a:latin typeface="+mn-lt"/>
                <a:ea typeface="+mn-ea"/>
                <a:cs typeface="+mn-cs"/>
              </a:rPr>
              <a:t>Pod Security Policy</a:t>
            </a:r>
            <a:r>
              <a:rPr lang="en-US" sz="1400" b="0" i="0" kern="1200" dirty="0">
                <a:solidFill>
                  <a:schemeClr val="tx1"/>
                </a:solidFill>
                <a:effectLst/>
                <a:latin typeface="+mn-lt"/>
                <a:ea typeface="+mn-ea"/>
                <a:cs typeface="+mn-cs"/>
              </a:rPr>
              <a:t> is a cluster-level resource that controls security sensitive aspects of the pod specification. The </a:t>
            </a:r>
            <a:r>
              <a:rPr lang="en-US" dirty="0" err="1"/>
              <a:t>PodSecurityPolicy</a:t>
            </a:r>
            <a:r>
              <a:rPr lang="en-US" sz="1400" b="0" i="0" kern="1200" dirty="0">
                <a:solidFill>
                  <a:schemeClr val="tx1"/>
                </a:solidFill>
                <a:effectLst/>
                <a:latin typeface="+mn-lt"/>
                <a:ea typeface="+mn-ea"/>
                <a:cs typeface="+mn-cs"/>
              </a:rPr>
              <a:t> objects define a set of conditions that a pod must run with in order to be accepted into the system, as well as defaults for the related fields. </a:t>
            </a:r>
          </a:p>
          <a:p>
            <a:endParaRPr lang="en-US" sz="1400" b="0" i="0" kern="1200" dirty="0">
              <a:solidFill>
                <a:schemeClr val="tx1"/>
              </a:solidFill>
              <a:effectLst/>
              <a:latin typeface="+mn-lt"/>
              <a:ea typeface="+mn-ea"/>
              <a:cs typeface="+mn-cs"/>
            </a:endParaRPr>
          </a:p>
          <a:p>
            <a:r>
              <a:rPr lang="en-US" sz="1400" b="0" i="0" kern="1200" dirty="0">
                <a:solidFill>
                  <a:schemeClr val="tx1"/>
                </a:solidFill>
                <a:effectLst/>
                <a:latin typeface="+mn-lt"/>
                <a:ea typeface="+mn-ea"/>
                <a:cs typeface="+mn-cs"/>
              </a:rPr>
              <a:t>Once the controller is active, every pods needs to be associated with a policy object. We will see on the next slide, how that works.</a:t>
            </a:r>
          </a:p>
          <a:p>
            <a:r>
              <a:rPr lang="en-US" sz="1400" b="0" i="0" kern="1200" dirty="0">
                <a:solidFill>
                  <a:schemeClr val="tx1"/>
                </a:solidFill>
                <a:effectLst/>
                <a:latin typeface="+mn-lt"/>
                <a:ea typeface="+mn-ea"/>
                <a:cs typeface="+mn-cs"/>
              </a:rPr>
              <a:t>But as long as there is no policy, no pod will be accepted &amp;</a:t>
            </a:r>
            <a:r>
              <a:rPr lang="en-US" sz="1400" b="0" i="0" kern="1200" dirty="0">
                <a:solidFill>
                  <a:schemeClr val="tx1"/>
                </a:solidFill>
                <a:effectLst/>
                <a:latin typeface="+mn-lt"/>
                <a:ea typeface="+mn-ea"/>
                <a:cs typeface="+mn-cs"/>
                <a:sym typeface="Wingdings" panose="05000000000000000000" pitchFamily="2" charset="2"/>
              </a:rPr>
              <a:t> scheduled in the entire cluster.</a:t>
            </a: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9</a:t>
            </a:fld>
            <a:endParaRPr lang="de-DE" dirty="0"/>
          </a:p>
        </p:txBody>
      </p:sp>
    </p:spTree>
    <p:extLst>
      <p:ext uri="{BB962C8B-B14F-4D97-AF65-F5344CB8AC3E}">
        <p14:creationId xmlns:p14="http://schemas.microsoft.com/office/powerpoint/2010/main" val="21311758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i="0" kern="1200" dirty="0">
                <a:solidFill>
                  <a:schemeClr val="tx1"/>
                </a:solidFill>
                <a:effectLst/>
                <a:latin typeface="+mn-lt"/>
                <a:ea typeface="+mn-ea"/>
                <a:cs typeface="+mn-cs"/>
              </a:rPr>
              <a:t>In order to make use of it, the usage of the policy has to be authorized by a (newly defined) role. Now you can attach the policy via a </a:t>
            </a:r>
            <a:r>
              <a:rPr lang="en-US" sz="1400" b="0" i="0" kern="1200" dirty="0" err="1">
                <a:solidFill>
                  <a:schemeClr val="tx1"/>
                </a:solidFill>
                <a:effectLst/>
                <a:latin typeface="+mn-lt"/>
                <a:ea typeface="+mn-ea"/>
                <a:cs typeface="+mn-cs"/>
              </a:rPr>
              <a:t>rolebinding</a:t>
            </a:r>
            <a:r>
              <a:rPr lang="en-US" sz="1400" b="0" i="0" kern="1200" dirty="0">
                <a:solidFill>
                  <a:schemeClr val="tx1"/>
                </a:solidFill>
                <a:effectLst/>
                <a:latin typeface="+mn-lt"/>
                <a:ea typeface="+mn-ea"/>
                <a:cs typeface="+mn-cs"/>
              </a:rPr>
              <a:t> to a service account and the pods will be scheduled, if its definition matches the criteria of the policy</a:t>
            </a: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10</a:t>
            </a:fld>
            <a:endParaRPr lang="de-DE" dirty="0"/>
          </a:p>
        </p:txBody>
      </p:sp>
    </p:spTree>
    <p:extLst>
      <p:ext uri="{BB962C8B-B14F-4D97-AF65-F5344CB8AC3E}">
        <p14:creationId xmlns:p14="http://schemas.microsoft.com/office/powerpoint/2010/main" val="5570570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i="0" kern="1200" dirty="0">
                <a:solidFill>
                  <a:schemeClr val="tx1"/>
                </a:solidFill>
                <a:effectLst/>
                <a:latin typeface="+mn-lt"/>
                <a:ea typeface="+mn-ea"/>
                <a:cs typeface="+mn-cs"/>
              </a:rPr>
              <a:t>In order to make use of it, the usage of the policy has to be authorized by a (newly defined) role. Now you can attach the policy via a </a:t>
            </a:r>
            <a:r>
              <a:rPr lang="en-US" sz="1400" b="0" i="0" kern="1200" dirty="0" err="1">
                <a:solidFill>
                  <a:schemeClr val="tx1"/>
                </a:solidFill>
                <a:effectLst/>
                <a:latin typeface="+mn-lt"/>
                <a:ea typeface="+mn-ea"/>
                <a:cs typeface="+mn-cs"/>
              </a:rPr>
              <a:t>rolebinding</a:t>
            </a:r>
            <a:r>
              <a:rPr lang="en-US" sz="1400" b="0" i="0" kern="1200" dirty="0">
                <a:solidFill>
                  <a:schemeClr val="tx1"/>
                </a:solidFill>
                <a:effectLst/>
                <a:latin typeface="+mn-lt"/>
                <a:ea typeface="+mn-ea"/>
                <a:cs typeface="+mn-cs"/>
              </a:rPr>
              <a:t> to a service account and the pods will be scheduled, if its definition matches the criteria of the policy</a:t>
            </a: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11</a:t>
            </a:fld>
            <a:endParaRPr lang="de-DE" dirty="0"/>
          </a:p>
        </p:txBody>
      </p:sp>
    </p:spTree>
    <p:extLst>
      <p:ext uri="{BB962C8B-B14F-4D97-AF65-F5344CB8AC3E}">
        <p14:creationId xmlns:p14="http://schemas.microsoft.com/office/powerpoint/2010/main" val="16435379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Details: https://kubernetes.io/docs/concepts/policy/pod-security-policy/</a:t>
            </a:r>
          </a:p>
          <a:p>
            <a:endParaRPr lang="en-US" dirty="0"/>
          </a:p>
          <a:p>
            <a:r>
              <a:rPr lang="en-US" dirty="0"/>
              <a:t>This is an example of a pod security policy that basically allows everything. There are no restrictions of user IDs, privileges or file system groups. Container validated against this rule may run with root permissions.</a:t>
            </a:r>
          </a:p>
          <a:p>
            <a:r>
              <a:rPr lang="en-US" dirty="0"/>
              <a:t>It is also possible to access the host in almost any possible way.</a:t>
            </a:r>
          </a:p>
        </p:txBody>
      </p:sp>
      <p:sp>
        <p:nvSpPr>
          <p:cNvPr id="4" name="Slide Number Placeholder 3"/>
          <p:cNvSpPr>
            <a:spLocks noGrp="1"/>
          </p:cNvSpPr>
          <p:nvPr>
            <p:ph type="sldNum" sz="quarter" idx="5"/>
          </p:nvPr>
        </p:nvSpPr>
        <p:spPr/>
        <p:txBody>
          <a:bodyPr/>
          <a:lstStyle/>
          <a:p>
            <a:fld id="{7D8C2C35-2B8A-446E-BEC0-FD36716C29AC}" type="slidenum">
              <a:rPr lang="de-DE" smtClean="0"/>
              <a:pPr/>
              <a:t>12</a:t>
            </a:fld>
            <a:endParaRPr lang="de-DE" dirty="0"/>
          </a:p>
        </p:txBody>
      </p:sp>
    </p:spTree>
    <p:extLst>
      <p:ext uri="{BB962C8B-B14F-4D97-AF65-F5344CB8AC3E}">
        <p14:creationId xmlns:p14="http://schemas.microsoft.com/office/powerpoint/2010/main" val="26242017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Details: https://kubernetes.io/docs/concepts/policy/pod-security-policy/</a:t>
            </a:r>
          </a:p>
          <a:p>
            <a:endParaRPr lang="en-US" dirty="0"/>
          </a:p>
          <a:p>
            <a:r>
              <a:rPr lang="en-US" dirty="0"/>
              <a:t>This is an example of a way more restrictive pod security policy. Pods validated against it, must not use volume types other than </a:t>
            </a:r>
            <a:r>
              <a:rPr lang="en-US" dirty="0" err="1"/>
              <a:t>configMap</a:t>
            </a:r>
            <a:r>
              <a:rPr lang="en-US" dirty="0"/>
              <a:t>, </a:t>
            </a:r>
            <a:r>
              <a:rPr lang="en-US" dirty="0" err="1"/>
              <a:t>emptyDir</a:t>
            </a:r>
            <a:r>
              <a:rPr lang="en-US" dirty="0"/>
              <a:t>, projected (project multiple info in the same directory) &amp; secret. PVC or host fs are blocked.</a:t>
            </a:r>
          </a:p>
          <a:p>
            <a:r>
              <a:rPr lang="en-US" dirty="0"/>
              <a:t>The usage of UID 0 is also forbidden.</a:t>
            </a:r>
          </a:p>
        </p:txBody>
      </p:sp>
      <p:sp>
        <p:nvSpPr>
          <p:cNvPr id="4" name="Slide Number Placeholder 3"/>
          <p:cNvSpPr>
            <a:spLocks noGrp="1"/>
          </p:cNvSpPr>
          <p:nvPr>
            <p:ph type="sldNum" sz="quarter" idx="5"/>
          </p:nvPr>
        </p:nvSpPr>
        <p:spPr/>
        <p:txBody>
          <a:bodyPr/>
          <a:lstStyle/>
          <a:p>
            <a:fld id="{7D8C2C35-2B8A-446E-BEC0-FD36716C29AC}" type="slidenum">
              <a:rPr lang="de-DE" smtClean="0"/>
              <a:pPr/>
              <a:t>13</a:t>
            </a:fld>
            <a:endParaRPr lang="de-DE" dirty="0"/>
          </a:p>
        </p:txBody>
      </p:sp>
    </p:spTree>
    <p:extLst>
      <p:ext uri="{BB962C8B-B14F-4D97-AF65-F5344CB8AC3E}">
        <p14:creationId xmlns:p14="http://schemas.microsoft.com/office/powerpoint/2010/main" val="21909047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noProof="0" dirty="0"/>
              <a:t>Network policies are </a:t>
            </a:r>
            <a:r>
              <a:rPr lang="en-US" noProof="0" dirty="0" err="1"/>
              <a:t>kubernetes</a:t>
            </a:r>
            <a:r>
              <a:rPr lang="en-US" noProof="0" dirty="0"/>
              <a:t> object just as pods. The need an overlay network that supports the enforcement of their rules, like Calico. </a:t>
            </a:r>
          </a:p>
          <a:p>
            <a:r>
              <a:rPr lang="en-US" noProof="0" dirty="0"/>
              <a:t>Basically they define rules for incoming (ingress) and outgoing (egress) traffic to pods. As filter rules you can set IP addresses or use labels. Filter actions are deny or allow.</a:t>
            </a:r>
          </a:p>
          <a:p>
            <a:endParaRPr lang="en-US" noProof="0" dirty="0"/>
          </a:p>
          <a:p>
            <a:r>
              <a:rPr lang="en-US" noProof="0" dirty="0"/>
              <a:t>In the example above, let’s assume princess Peach is at her castle (pod). She has created a service in order to be callable, but only as long as her location = castle. That works quite well, only that Bowser keeps calling her all the time. So Peach decides to allow only calls from Mario and puts a network policy in place. The policy filters incoming calls when she has her “location: castle” label and allows only those to pass, that have a label “caller: </a:t>
            </a:r>
            <a:r>
              <a:rPr lang="en-US" noProof="0" dirty="0" err="1"/>
              <a:t>mario</a:t>
            </a:r>
            <a:r>
              <a:rPr lang="en-US" noProof="0" dirty="0"/>
              <a:t>” attached. As a result Bowser is no longer able to call her.</a:t>
            </a:r>
          </a:p>
          <a:p>
            <a:endParaRPr lang="en-US" noProof="0"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14</a:t>
            </a:fld>
            <a:endParaRPr lang="en-US" dirty="0"/>
          </a:p>
        </p:txBody>
      </p:sp>
    </p:spTree>
    <p:extLst>
      <p:ext uri="{BB962C8B-B14F-4D97-AF65-F5344CB8AC3E}">
        <p14:creationId xmlns:p14="http://schemas.microsoft.com/office/powerpoint/2010/main" val="3253049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20000"/>
          </a:bodyPr>
          <a:lstStyle/>
          <a:p>
            <a:r>
              <a:rPr lang="de-DE" dirty="0"/>
              <a:t>Demo:</a:t>
            </a:r>
          </a:p>
          <a:p>
            <a:pPr marL="285750" indent="-285750">
              <a:buFont typeface="Symbol" panose="05050102010706020507" pitchFamily="18" charset="2"/>
              <a:buChar char="-"/>
            </a:pPr>
            <a:r>
              <a:rPr lang="de-DE" dirty="0"/>
              <a:t>Create a </a:t>
            </a:r>
            <a:r>
              <a:rPr lang="de-DE" dirty="0" err="1"/>
              <a:t>deployment</a:t>
            </a:r>
            <a:r>
              <a:rPr lang="de-DE" dirty="0"/>
              <a:t> &amp; a </a:t>
            </a:r>
            <a:r>
              <a:rPr lang="de-DE" dirty="0" err="1"/>
              <a:t>corresponding</a:t>
            </a:r>
            <a:r>
              <a:rPr lang="de-DE" dirty="0"/>
              <a:t> </a:t>
            </a:r>
            <a:r>
              <a:rPr lang="de-DE" dirty="0" err="1"/>
              <a:t>service</a:t>
            </a:r>
            <a:r>
              <a:rPr lang="de-DE" dirty="0"/>
              <a:t> (</a:t>
            </a:r>
            <a:r>
              <a:rPr lang="de-DE" dirty="0" err="1"/>
              <a:t>if</a:t>
            </a:r>
            <a:r>
              <a:rPr lang="de-DE" dirty="0"/>
              <a:t> not </a:t>
            </a:r>
            <a:r>
              <a:rPr lang="de-DE" dirty="0" err="1"/>
              <a:t>yet</a:t>
            </a:r>
            <a:r>
              <a:rPr lang="de-DE" dirty="0"/>
              <a:t> </a:t>
            </a:r>
            <a:r>
              <a:rPr lang="de-DE" dirty="0" err="1"/>
              <a:t>done</a:t>
            </a:r>
            <a:r>
              <a:rPr lang="de-DE" dirty="0"/>
              <a:t>)</a:t>
            </a:r>
          </a:p>
          <a:p>
            <a:pPr marL="465750" lvl="1" indent="-285750">
              <a:buFont typeface="Symbol" panose="05050102010706020507" pitchFamily="18" charset="2"/>
              <a:buChar char="-"/>
            </a:pPr>
            <a:r>
              <a:rPr lang="de-DE" dirty="0" err="1"/>
              <a:t>kubectl</a:t>
            </a:r>
            <a:r>
              <a:rPr lang="de-DE" dirty="0"/>
              <a:t> </a:t>
            </a:r>
            <a:r>
              <a:rPr lang="de-DE" dirty="0" err="1"/>
              <a:t>run</a:t>
            </a:r>
            <a:r>
              <a:rPr lang="de-DE" dirty="0"/>
              <a:t> </a:t>
            </a:r>
            <a:r>
              <a:rPr lang="de-DE" dirty="0" err="1"/>
              <a:t>nginx</a:t>
            </a:r>
            <a:r>
              <a:rPr lang="de-DE" dirty="0"/>
              <a:t> --image</a:t>
            </a:r>
            <a:r>
              <a:rPr lang="de-DE" b="1" dirty="0"/>
              <a:t>=</a:t>
            </a:r>
            <a:r>
              <a:rPr lang="de-DE" dirty="0" err="1"/>
              <a:t>nginx</a:t>
            </a:r>
            <a:r>
              <a:rPr lang="de-DE" dirty="0"/>
              <a:t> --</a:t>
            </a:r>
            <a:r>
              <a:rPr lang="de-DE" dirty="0" err="1"/>
              <a:t>replicas</a:t>
            </a:r>
            <a:r>
              <a:rPr lang="de-DE" b="1" dirty="0"/>
              <a:t>=</a:t>
            </a:r>
            <a:r>
              <a:rPr lang="de-DE" dirty="0"/>
              <a:t>2 </a:t>
            </a:r>
          </a:p>
          <a:p>
            <a:pPr marL="465750" lvl="1" indent="-285750">
              <a:buFont typeface="Symbol" panose="05050102010706020507" pitchFamily="18" charset="2"/>
              <a:buChar char="-"/>
            </a:pPr>
            <a:r>
              <a:rPr lang="de-DE" dirty="0" err="1"/>
              <a:t>kubectl</a:t>
            </a:r>
            <a:r>
              <a:rPr lang="de-DE" dirty="0"/>
              <a:t> </a:t>
            </a:r>
            <a:r>
              <a:rPr lang="de-DE" dirty="0" err="1"/>
              <a:t>expose</a:t>
            </a:r>
            <a:r>
              <a:rPr lang="de-DE" dirty="0"/>
              <a:t> </a:t>
            </a:r>
            <a:r>
              <a:rPr lang="de-DE" dirty="0" err="1"/>
              <a:t>deployment</a:t>
            </a:r>
            <a:r>
              <a:rPr lang="de-DE" dirty="0"/>
              <a:t> </a:t>
            </a:r>
            <a:r>
              <a:rPr lang="de-DE" dirty="0" err="1"/>
              <a:t>nginx</a:t>
            </a:r>
            <a:r>
              <a:rPr lang="de-DE" dirty="0"/>
              <a:t> --</a:t>
            </a:r>
            <a:r>
              <a:rPr lang="de-DE" dirty="0" err="1"/>
              <a:t>port</a:t>
            </a:r>
            <a:r>
              <a:rPr lang="de-DE" b="1" dirty="0"/>
              <a:t>=</a:t>
            </a:r>
            <a:r>
              <a:rPr lang="de-DE" dirty="0"/>
              <a:t>80</a:t>
            </a:r>
          </a:p>
          <a:p>
            <a:pPr marL="285750" indent="-285750">
              <a:buFont typeface="Symbol" panose="05050102010706020507" pitchFamily="18" charset="2"/>
              <a:buChar char="-"/>
            </a:pPr>
            <a:endParaRPr lang="de-DE" dirty="0"/>
          </a:p>
          <a:p>
            <a:pPr marL="285750" indent="-285750">
              <a:buFont typeface="Symbol" panose="05050102010706020507" pitchFamily="18" charset="2"/>
              <a:buChar char="-"/>
            </a:pPr>
            <a:r>
              <a:rPr lang="de-DE" dirty="0"/>
              <a:t>Create a </a:t>
            </a:r>
            <a:r>
              <a:rPr lang="de-DE" dirty="0" err="1"/>
              <a:t>helper</a:t>
            </a:r>
            <a:r>
              <a:rPr lang="de-DE" dirty="0"/>
              <a:t> </a:t>
            </a:r>
            <a:r>
              <a:rPr lang="de-DE" dirty="0" err="1"/>
              <a:t>pod</a:t>
            </a:r>
            <a:r>
              <a:rPr lang="de-DE" dirty="0"/>
              <a:t>, </a:t>
            </a:r>
            <a:r>
              <a:rPr lang="de-DE" dirty="0" err="1"/>
              <a:t>logon</a:t>
            </a:r>
            <a:r>
              <a:rPr lang="de-DE" dirty="0"/>
              <a:t> </a:t>
            </a:r>
            <a:r>
              <a:rPr lang="de-DE" dirty="0" err="1"/>
              <a:t>to</a:t>
            </a:r>
            <a:r>
              <a:rPr lang="de-DE" dirty="0"/>
              <a:t> </a:t>
            </a:r>
            <a:r>
              <a:rPr lang="de-DE" dirty="0" err="1"/>
              <a:t>it</a:t>
            </a:r>
            <a:r>
              <a:rPr lang="de-DE" dirty="0"/>
              <a:t> and </a:t>
            </a:r>
            <a:r>
              <a:rPr lang="de-DE" dirty="0" err="1"/>
              <a:t>get</a:t>
            </a:r>
            <a:r>
              <a:rPr lang="de-DE" dirty="0"/>
              <a:t> </a:t>
            </a:r>
            <a:r>
              <a:rPr lang="de-DE" dirty="0" err="1"/>
              <a:t>the</a:t>
            </a:r>
            <a:r>
              <a:rPr lang="de-DE" dirty="0"/>
              <a:t> index.html </a:t>
            </a:r>
            <a:r>
              <a:rPr lang="de-DE" dirty="0" err="1"/>
              <a:t>page</a:t>
            </a:r>
            <a:r>
              <a:rPr lang="de-DE" dirty="0"/>
              <a:t> </a:t>
            </a:r>
            <a:r>
              <a:rPr lang="de-DE" dirty="0" err="1"/>
              <a:t>from</a:t>
            </a:r>
            <a:r>
              <a:rPr lang="de-DE" dirty="0"/>
              <a:t> </a:t>
            </a:r>
            <a:r>
              <a:rPr lang="de-DE" dirty="0" err="1"/>
              <a:t>the</a:t>
            </a:r>
            <a:r>
              <a:rPr lang="de-DE" dirty="0"/>
              <a:t> </a:t>
            </a:r>
            <a:r>
              <a:rPr lang="de-DE" dirty="0" err="1"/>
              <a:t>nginx</a:t>
            </a:r>
            <a:r>
              <a:rPr lang="de-DE" dirty="0"/>
              <a:t> backend.</a:t>
            </a:r>
          </a:p>
          <a:p>
            <a:pPr marL="465750" lvl="1" indent="-285750">
              <a:buFont typeface="Symbol" panose="05050102010706020507" pitchFamily="18" charset="2"/>
              <a:buChar char="-"/>
            </a:pPr>
            <a:r>
              <a:rPr lang="de-DE" dirty="0" err="1"/>
              <a:t>kubectl</a:t>
            </a:r>
            <a:r>
              <a:rPr lang="de-DE" dirty="0"/>
              <a:t> </a:t>
            </a:r>
            <a:r>
              <a:rPr lang="de-DE" dirty="0" err="1"/>
              <a:t>run</a:t>
            </a:r>
            <a:r>
              <a:rPr lang="de-DE" dirty="0"/>
              <a:t> </a:t>
            </a:r>
            <a:r>
              <a:rPr lang="de-DE" dirty="0" err="1"/>
              <a:t>connector</a:t>
            </a:r>
            <a:r>
              <a:rPr lang="de-DE" dirty="0"/>
              <a:t> --</a:t>
            </a:r>
            <a:r>
              <a:rPr lang="de-DE" dirty="0" err="1"/>
              <a:t>rm</a:t>
            </a:r>
            <a:r>
              <a:rPr lang="de-DE" dirty="0"/>
              <a:t> -</a:t>
            </a:r>
            <a:r>
              <a:rPr lang="de-DE" dirty="0" err="1"/>
              <a:t>ti</a:t>
            </a:r>
            <a:r>
              <a:rPr lang="de-DE" dirty="0"/>
              <a:t> --</a:t>
            </a:r>
            <a:r>
              <a:rPr lang="de-DE" dirty="0" err="1"/>
              <a:t>restart</a:t>
            </a:r>
            <a:r>
              <a:rPr lang="de-DE" dirty="0"/>
              <a:t>=Never --image</a:t>
            </a:r>
            <a:r>
              <a:rPr lang="de-DE" b="1" dirty="0"/>
              <a:t>=</a:t>
            </a:r>
            <a:r>
              <a:rPr lang="de-DE" dirty="0"/>
              <a:t>alpine:3.8</a:t>
            </a:r>
          </a:p>
          <a:p>
            <a:pPr marL="465750" lvl="1" indent="-285750">
              <a:buFont typeface="Symbol" panose="05050102010706020507" pitchFamily="18" charset="2"/>
              <a:buChar char="-"/>
            </a:pPr>
            <a:r>
              <a:rPr lang="de-DE" dirty="0"/>
              <a:t># </a:t>
            </a:r>
            <a:r>
              <a:rPr lang="de-DE" dirty="0" err="1"/>
              <a:t>wget</a:t>
            </a:r>
            <a:r>
              <a:rPr lang="de-DE" dirty="0"/>
              <a:t> --timeout=1 </a:t>
            </a:r>
            <a:r>
              <a:rPr lang="de-DE" dirty="0" err="1"/>
              <a:t>nginx</a:t>
            </a:r>
            <a:endParaRPr lang="de-DE" dirty="0"/>
          </a:p>
          <a:p>
            <a:pPr marL="465750" lvl="1" indent="-285750">
              <a:buFont typeface="Symbol" panose="05050102010706020507" pitchFamily="18" charset="2"/>
              <a:buChar char="-"/>
            </a:pPr>
            <a:r>
              <a:rPr lang="en-US" dirty="0"/>
              <a:t>Remove the index.html page &amp; stay connected to the shell session</a:t>
            </a:r>
          </a:p>
          <a:p>
            <a:pPr marL="285750" indent="-285750">
              <a:buFont typeface="Symbol" panose="05050102010706020507" pitchFamily="18" charset="2"/>
              <a:buChar char="-"/>
            </a:pPr>
            <a:endParaRPr lang="en-US" dirty="0"/>
          </a:p>
          <a:p>
            <a:pPr marL="285750" indent="-285750">
              <a:buFont typeface="Symbol" panose="05050102010706020507" pitchFamily="18" charset="2"/>
              <a:buChar char="-"/>
            </a:pPr>
            <a:r>
              <a:rPr lang="en-US" dirty="0"/>
              <a:t>Create the network policy in a 2</a:t>
            </a:r>
            <a:r>
              <a:rPr lang="en-US" baseline="30000" dirty="0"/>
              <a:t>nd</a:t>
            </a:r>
            <a:r>
              <a:rPr lang="en-US" dirty="0"/>
              <a:t> shell:</a:t>
            </a:r>
          </a:p>
          <a:p>
            <a:pPr marL="465750" lvl="1" indent="-285750">
              <a:buFont typeface="Symbol" panose="05050102010706020507" pitchFamily="18" charset="2"/>
              <a:buChar char="-"/>
            </a:pPr>
            <a:r>
              <a:rPr lang="en-US" dirty="0" err="1"/>
              <a:t>kubectl</a:t>
            </a:r>
            <a:r>
              <a:rPr lang="en-US" dirty="0"/>
              <a:t> create –f network-</a:t>
            </a:r>
            <a:r>
              <a:rPr lang="en-US" dirty="0" err="1"/>
              <a:t>policy.yaml</a:t>
            </a:r>
            <a:endParaRPr lang="en-US" dirty="0"/>
          </a:p>
          <a:p>
            <a:pPr marL="465750" lvl="1" indent="-285750">
              <a:buFont typeface="Symbol" panose="05050102010706020507" pitchFamily="18" charset="2"/>
              <a:buChar char="-"/>
            </a:pPr>
            <a:r>
              <a:rPr lang="en-US" dirty="0"/>
              <a:t>Show the network policy definition and explain:</a:t>
            </a:r>
          </a:p>
          <a:p>
            <a:pPr marL="645750" lvl="2" indent="-285750">
              <a:buFont typeface="Symbol" panose="05050102010706020507" pitchFamily="18" charset="2"/>
              <a:buChar char="-"/>
            </a:pPr>
            <a:r>
              <a:rPr lang="en-US" dirty="0"/>
              <a:t>it’s implicitly a whitelisting</a:t>
            </a:r>
          </a:p>
          <a:p>
            <a:pPr marL="645750" lvl="2" indent="-285750">
              <a:buFont typeface="Symbol" panose="05050102010706020507" pitchFamily="18" charset="2"/>
              <a:buChar char="-"/>
            </a:pPr>
            <a:r>
              <a:rPr lang="en-US" dirty="0"/>
              <a:t>network policy can handle egress and ingress traffic. However the example is only of incoming (ingress) traffic.</a:t>
            </a:r>
          </a:p>
          <a:p>
            <a:pPr marL="645750" lvl="2" indent="-285750">
              <a:buFont typeface="Symbol" panose="05050102010706020507" pitchFamily="18" charset="2"/>
              <a:buChar char="-"/>
            </a:pPr>
            <a:r>
              <a:rPr lang="en-US" dirty="0"/>
              <a:t>The </a:t>
            </a:r>
            <a:r>
              <a:rPr lang="en-US" dirty="0" err="1"/>
              <a:t>cidr</a:t>
            </a:r>
            <a:r>
              <a:rPr lang="en-US" dirty="0"/>
              <a:t> block are required, if you want to access your service later from SAP networks. Otherwise all requested without the label (i.e. not cluster internal) will be blocked too.</a:t>
            </a:r>
          </a:p>
          <a:p>
            <a:pPr marL="465750" lvl="1" indent="-285750">
              <a:buFont typeface="Symbol" panose="05050102010706020507" pitchFamily="18" charset="2"/>
              <a:buChar char="-"/>
            </a:pPr>
            <a:endParaRPr lang="en-US" dirty="0"/>
          </a:p>
          <a:p>
            <a:pPr marL="285750" indent="-285750">
              <a:buFont typeface="Symbol" panose="05050102010706020507" pitchFamily="18" charset="2"/>
              <a:buChar char="-"/>
            </a:pPr>
            <a:r>
              <a:rPr lang="en-US" dirty="0"/>
              <a:t>Switch back to the helper pod and re-run the </a:t>
            </a:r>
            <a:r>
              <a:rPr lang="en-US" dirty="0" err="1"/>
              <a:t>wget</a:t>
            </a:r>
            <a:r>
              <a:rPr lang="en-US" dirty="0"/>
              <a:t> command </a:t>
            </a:r>
            <a:r>
              <a:rPr lang="en-US" dirty="0">
                <a:sym typeface="Wingdings" panose="05000000000000000000" pitchFamily="2" charset="2"/>
              </a:rPr>
              <a:t> expected result: failure due to the missing label</a:t>
            </a:r>
            <a:endParaRPr lang="en-US" dirty="0"/>
          </a:p>
          <a:p>
            <a:pPr marL="285750" indent="-285750">
              <a:buFont typeface="Symbol" panose="05050102010706020507" pitchFamily="18" charset="2"/>
              <a:buChar char="-"/>
            </a:pPr>
            <a:r>
              <a:rPr lang="en-US" dirty="0"/>
              <a:t>Label you helper pod accordingly (can be done from the 2</a:t>
            </a:r>
            <a:r>
              <a:rPr lang="en-US" baseline="30000" dirty="0"/>
              <a:t>nd</a:t>
            </a:r>
            <a:r>
              <a:rPr lang="en-US" dirty="0"/>
              <a:t> shell session, so stay connected to your helper pod)</a:t>
            </a:r>
          </a:p>
          <a:p>
            <a:pPr marL="465750" lvl="1" indent="-285750">
              <a:buFont typeface="Symbol" panose="05050102010706020507" pitchFamily="18" charset="2"/>
              <a:buChar char="-"/>
            </a:pPr>
            <a:r>
              <a:rPr lang="en-US" dirty="0" err="1"/>
              <a:t>kubectl</a:t>
            </a:r>
            <a:r>
              <a:rPr lang="en-US" dirty="0"/>
              <a:t> label pod connector access=true</a:t>
            </a:r>
          </a:p>
          <a:p>
            <a:pPr marL="285750" lvl="0" indent="-285750">
              <a:buFont typeface="Symbol" panose="05050102010706020507" pitchFamily="18" charset="2"/>
              <a:buChar char="-"/>
            </a:pPr>
            <a:endParaRPr lang="en-US" dirty="0"/>
          </a:p>
          <a:p>
            <a:pPr marL="285750" lvl="0" indent="-285750">
              <a:buFont typeface="Symbol" panose="05050102010706020507" pitchFamily="18" charset="2"/>
              <a:buChar char="-"/>
            </a:pPr>
            <a:r>
              <a:rPr lang="en-US" dirty="0"/>
              <a:t>Re-run the </a:t>
            </a:r>
            <a:r>
              <a:rPr lang="en-US" dirty="0" err="1"/>
              <a:t>wget</a:t>
            </a:r>
            <a:r>
              <a:rPr lang="en-US" dirty="0"/>
              <a:t> command </a:t>
            </a:r>
            <a:r>
              <a:rPr lang="en-US" dirty="0">
                <a:sym typeface="Wingdings" panose="05000000000000000000" pitchFamily="2" charset="2"/>
              </a:rPr>
              <a:t> expected result: works again</a:t>
            </a:r>
          </a:p>
          <a:p>
            <a:pPr marL="285750" lvl="0" indent="-285750">
              <a:buFont typeface="Symbol" panose="05050102010706020507" pitchFamily="18" charset="2"/>
              <a:buChar char="-"/>
            </a:pPr>
            <a:endParaRPr lang="en-US" dirty="0">
              <a:sym typeface="Wingdings" panose="05000000000000000000" pitchFamily="2" charset="2"/>
            </a:endParaRPr>
          </a:p>
          <a:p>
            <a:pPr marL="0" lvl="0" indent="0">
              <a:buFont typeface="Symbol" panose="05050102010706020507" pitchFamily="18" charset="2"/>
              <a:buNone/>
            </a:pP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16</a:t>
            </a:fld>
            <a:endParaRPr lang="de-DE" dirty="0"/>
          </a:p>
        </p:txBody>
      </p:sp>
    </p:spTree>
    <p:extLst>
      <p:ext uri="{BB962C8B-B14F-4D97-AF65-F5344CB8AC3E}">
        <p14:creationId xmlns:p14="http://schemas.microsoft.com/office/powerpoint/2010/main" val="20536584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our setup for the security discussion:</a:t>
            </a:r>
          </a:p>
          <a:p>
            <a:endParaRPr lang="en-US" dirty="0"/>
          </a:p>
          <a:p>
            <a:r>
              <a:rPr lang="en-US" dirty="0"/>
              <a:t>A </a:t>
            </a:r>
            <a:r>
              <a:rPr lang="en-US" dirty="0" err="1"/>
              <a:t>kubernetes</a:t>
            </a:r>
            <a:r>
              <a:rPr lang="en-US" dirty="0"/>
              <a:t> cluster runs as usual with one to many nodes. Each node is a </a:t>
            </a:r>
            <a:r>
              <a:rPr lang="en-US" dirty="0" err="1"/>
              <a:t>linux</a:t>
            </a:r>
            <a:r>
              <a:rPr lang="en-US" dirty="0"/>
              <a:t> host with a kernel, docker daemon and </a:t>
            </a:r>
            <a:r>
              <a:rPr lang="en-US" dirty="0" err="1"/>
              <a:t>kubelet</a:t>
            </a:r>
            <a:r>
              <a:rPr lang="en-US" dirty="0"/>
              <a:t>. We also have the master with API server and </a:t>
            </a:r>
            <a:r>
              <a:rPr lang="en-US" dirty="0" err="1"/>
              <a:t>etcd</a:t>
            </a:r>
            <a:r>
              <a:rPr lang="en-US" dirty="0"/>
              <a:t> where configuration, some passwords and the cluster state is stored.</a:t>
            </a:r>
          </a:p>
          <a:p>
            <a:r>
              <a:rPr lang="en-US" dirty="0"/>
              <a:t>On the host we see here, there is a container running which was taken over by an attacker (i.e. us). The attacker is connected to a shell session within the container now.</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18</a:t>
            </a:fld>
            <a:endParaRPr lang="de-DE" dirty="0"/>
          </a:p>
        </p:txBody>
      </p:sp>
    </p:spTree>
    <p:extLst>
      <p:ext uri="{BB962C8B-B14F-4D97-AF65-F5344CB8AC3E}">
        <p14:creationId xmlns:p14="http://schemas.microsoft.com/office/powerpoint/2010/main" val="347489537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easiest thing we can do as an attacker is to abuse the compute power by doing some crypto mining. All we need, is to download mining software from the internet, connect it to some anonymous mining pool and wait.</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19</a:t>
            </a:fld>
            <a:endParaRPr lang="de-DE" dirty="0"/>
          </a:p>
        </p:txBody>
      </p:sp>
    </p:spTree>
    <p:extLst>
      <p:ext uri="{BB962C8B-B14F-4D97-AF65-F5344CB8AC3E}">
        <p14:creationId xmlns:p14="http://schemas.microsoft.com/office/powerpoint/2010/main" val="11160584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could be done to limit the impact of such an attack or to prevent parts of it?</a:t>
            </a:r>
          </a:p>
          <a:p>
            <a:endParaRPr lang="en-US" dirty="0"/>
          </a:p>
          <a:p>
            <a:pPr marL="342900" indent="-342900">
              <a:buAutoNum type="arabicParenR"/>
            </a:pPr>
            <a:r>
              <a:rPr lang="en-US" dirty="0"/>
              <a:t>Why should everyone be able to communicate with the internet by default? Blocking any egress traffic by default (with a network policy) and explicitly allow dedicated outbound connections will increase your cluster security significantly. </a:t>
            </a:r>
          </a:p>
          <a:p>
            <a:pPr marL="342900" indent="-342900">
              <a:buAutoNum type="arabicParenR"/>
            </a:pPr>
            <a:r>
              <a:rPr lang="en-US" dirty="0"/>
              <a:t>Apply resource constraints that fit your app.</a:t>
            </a:r>
          </a:p>
          <a:p>
            <a:pPr marL="342900" indent="-342900">
              <a:buAutoNum type="arabicParenR"/>
            </a:pPr>
            <a:r>
              <a:rPr lang="en-US" dirty="0"/>
              <a:t>Build (docker) images without curl, </a:t>
            </a:r>
            <a:r>
              <a:rPr lang="en-US" dirty="0" err="1"/>
              <a:t>wget</a:t>
            </a:r>
            <a:r>
              <a:rPr lang="en-US" dirty="0"/>
              <a:t> or similar tools (ideally also without apt/</a:t>
            </a:r>
            <a:r>
              <a:rPr lang="en-US" dirty="0" err="1"/>
              <a:t>apk</a:t>
            </a:r>
            <a:r>
              <a:rPr lang="en-US" dirty="0"/>
              <a:t>). </a:t>
            </a:r>
          </a:p>
          <a:p>
            <a:pPr marL="342900" indent="-342900">
              <a:buAutoNum type="arabicParenR"/>
            </a:pPr>
            <a:endParaRPr lang="en-US" dirty="0"/>
          </a:p>
          <a:p>
            <a:pPr marL="342900" indent="-342900">
              <a:buAutoNum type="arabicParenR"/>
            </a:pP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20</a:t>
            </a:fld>
            <a:endParaRPr lang="de-DE" dirty="0"/>
          </a:p>
        </p:txBody>
      </p:sp>
    </p:spTree>
    <p:extLst>
      <p:ext uri="{BB962C8B-B14F-4D97-AF65-F5344CB8AC3E}">
        <p14:creationId xmlns:p14="http://schemas.microsoft.com/office/powerpoint/2010/main" val="12855282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abusing the compute power of a single container, an attacker could also try to move forward and gain access to more parts of the infrastructure. Unfortunately, Kubernetes makes our life easy here.</a:t>
            </a:r>
          </a:p>
          <a:p>
            <a:endParaRPr lang="en-US" dirty="0"/>
          </a:p>
          <a:p>
            <a:pPr marL="342900" indent="-342900">
              <a:buAutoNum type="arabicParenR"/>
            </a:pPr>
            <a:r>
              <a:rPr lang="en-US" dirty="0"/>
              <a:t>Try to become aware of the environment. Check the content of /proc/self/</a:t>
            </a:r>
            <a:r>
              <a:rPr lang="en-US" dirty="0" err="1"/>
              <a:t>cgroup</a:t>
            </a:r>
            <a:r>
              <a:rPr lang="en-US" dirty="0"/>
              <a:t> – does it contain a “</a:t>
            </a:r>
            <a:r>
              <a:rPr lang="en-US" dirty="0" err="1"/>
              <a:t>kube</a:t>
            </a:r>
            <a:r>
              <a:rPr lang="en-US" dirty="0"/>
              <a:t>” string? </a:t>
            </a:r>
          </a:p>
          <a:p>
            <a:pPr marL="342900" indent="-342900">
              <a:buAutoNum type="arabicParenR"/>
            </a:pPr>
            <a:r>
              <a:rPr lang="en-US" dirty="0"/>
              <a:t>Check, if there is a service account access token mounted to the default location /var/run/secrets/kubernetes.io/</a:t>
            </a:r>
            <a:r>
              <a:rPr lang="en-US" dirty="0" err="1"/>
              <a:t>serviceaccount</a:t>
            </a:r>
            <a:r>
              <a:rPr lang="en-US" dirty="0"/>
              <a:t>/token</a:t>
            </a:r>
          </a:p>
          <a:p>
            <a:pPr marL="342900" indent="-342900">
              <a:buAutoNum type="arabicParenR"/>
            </a:pPr>
            <a:r>
              <a:rPr lang="en-US" dirty="0"/>
              <a:t>Try to abuse the token to talk to the cluster’s API server. Use the FQDN of the </a:t>
            </a:r>
            <a:r>
              <a:rPr lang="en-US" dirty="0" err="1"/>
              <a:t>kubernetes</a:t>
            </a:r>
            <a:r>
              <a:rPr lang="en-US" dirty="0"/>
              <a:t> service in the default namespace for it. Note – this part requires curl or a similar tool.</a:t>
            </a:r>
          </a:p>
          <a:p>
            <a:pPr marL="342900" indent="-342900">
              <a:buAutoNum type="arabicParenR"/>
            </a:pPr>
            <a:r>
              <a:rPr lang="en-US" dirty="0"/>
              <a:t>If you’re able to access the API server, try to do something more meaningful – inject a sidecar container to all deployments or schedule a </a:t>
            </a:r>
            <a:r>
              <a:rPr lang="en-US" dirty="0" err="1"/>
              <a:t>daemonset</a:t>
            </a:r>
            <a:r>
              <a:rPr lang="en-US" dirty="0"/>
              <a:t> that mounts the host file system of each node. Try to write something as user root the node.</a:t>
            </a:r>
          </a:p>
          <a:p>
            <a:pPr marL="342900" indent="-342900">
              <a:buAutoNum type="arabicParenR"/>
            </a:pP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21</a:t>
            </a:fld>
            <a:endParaRPr lang="de-DE" dirty="0"/>
          </a:p>
        </p:txBody>
      </p:sp>
    </p:spTree>
    <p:extLst>
      <p:ext uri="{BB962C8B-B14F-4D97-AF65-F5344CB8AC3E}">
        <p14:creationId xmlns:p14="http://schemas.microsoft.com/office/powerpoint/2010/main" val="76458281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and probably most important part: </a:t>
            </a:r>
            <a:r>
              <a:rPr lang="en-US" b="1" dirty="0"/>
              <a:t>disable </a:t>
            </a:r>
            <a:r>
              <a:rPr lang="en-US" dirty="0"/>
              <a:t>the automount option for the service account access token. There are very few container which would require permissions to talk to the </a:t>
            </a:r>
            <a:r>
              <a:rPr lang="en-US" dirty="0" err="1"/>
              <a:t>api</a:t>
            </a:r>
            <a:r>
              <a:rPr lang="en-US" dirty="0"/>
              <a:t> server. For these the mount option can be enabled explicitly or you run them with a different service account.</a:t>
            </a:r>
          </a:p>
          <a:p>
            <a:r>
              <a:rPr lang="en-US" dirty="0"/>
              <a:t>To disable the mount option, you should edit the service account object itself. </a:t>
            </a:r>
          </a:p>
          <a:p>
            <a:endParaRPr lang="en-US" dirty="0"/>
          </a:p>
          <a:p>
            <a:r>
              <a:rPr lang="en-US" dirty="0"/>
              <a:t>Also the access scope to the API should be limited via an RBAC role(binding). Does the service account really need to modify something or is viewing a few dedicated resources sufficient?</a:t>
            </a:r>
          </a:p>
        </p:txBody>
      </p:sp>
      <p:sp>
        <p:nvSpPr>
          <p:cNvPr id="4" name="Slide Number Placeholder 3"/>
          <p:cNvSpPr>
            <a:spLocks noGrp="1"/>
          </p:cNvSpPr>
          <p:nvPr>
            <p:ph type="sldNum" sz="quarter" idx="10"/>
          </p:nvPr>
        </p:nvSpPr>
        <p:spPr/>
        <p:txBody>
          <a:bodyPr/>
          <a:lstStyle/>
          <a:p>
            <a:fld id="{7D8C2C35-2B8A-446E-BEC0-FD36716C29AC}" type="slidenum">
              <a:rPr lang="de-DE" smtClean="0"/>
              <a:pPr/>
              <a:t>22</a:t>
            </a:fld>
            <a:endParaRPr lang="de-DE" dirty="0"/>
          </a:p>
        </p:txBody>
      </p:sp>
    </p:spTree>
    <p:extLst>
      <p:ext uri="{BB962C8B-B14F-4D97-AF65-F5344CB8AC3E}">
        <p14:creationId xmlns:p14="http://schemas.microsoft.com/office/powerpoint/2010/main" val="389584254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pod security policies can prevent usage of the host’s file system or network. </a:t>
            </a:r>
          </a:p>
          <a:p>
            <a:r>
              <a:rPr lang="en-US" dirty="0"/>
              <a:t>Pods attempting to mount the host file system or run as user root will be rejected.</a:t>
            </a:r>
          </a:p>
        </p:txBody>
      </p:sp>
      <p:sp>
        <p:nvSpPr>
          <p:cNvPr id="4" name="Slide Number Placeholder 3"/>
          <p:cNvSpPr>
            <a:spLocks noGrp="1"/>
          </p:cNvSpPr>
          <p:nvPr>
            <p:ph type="sldNum" sz="quarter" idx="10"/>
          </p:nvPr>
        </p:nvSpPr>
        <p:spPr/>
        <p:txBody>
          <a:bodyPr/>
          <a:lstStyle/>
          <a:p>
            <a:fld id="{7D8C2C35-2B8A-446E-BEC0-FD36716C29AC}" type="slidenum">
              <a:rPr lang="de-DE" smtClean="0"/>
              <a:pPr/>
              <a:t>23</a:t>
            </a:fld>
            <a:endParaRPr lang="de-DE" dirty="0"/>
          </a:p>
        </p:txBody>
      </p:sp>
    </p:spTree>
    <p:extLst>
      <p:ext uri="{BB962C8B-B14F-4D97-AF65-F5344CB8AC3E}">
        <p14:creationId xmlns:p14="http://schemas.microsoft.com/office/powerpoint/2010/main" val="29535001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20000"/>
          </a:bodyPr>
          <a:lstStyle/>
          <a:p>
            <a:pPr marL="0" lvl="0" indent="0">
              <a:buFont typeface="Symbol" panose="05050102010706020507" pitchFamily="18" charset="2"/>
              <a:buNone/>
            </a:pPr>
            <a:r>
              <a:rPr lang="en-US" dirty="0"/>
              <a:t>To demonstrate scenario #2, we prepared a separate repo: </a:t>
            </a:r>
            <a:r>
              <a:rPr lang="de-DE">
                <a:hlinkClick r:id="rId3"/>
              </a:rPr>
              <a:t>https://github.wdf.sap.corp/slvi/host-fs-access-hack</a:t>
            </a:r>
            <a:r>
              <a:rPr lang="en-US"/>
              <a:t> </a:t>
            </a:r>
            <a:endParaRPr lang="en-US" dirty="0"/>
          </a:p>
          <a:p>
            <a:pPr marL="0" lvl="0" indent="0">
              <a:buFont typeface="Symbol" panose="05050102010706020507" pitchFamily="18" charset="2"/>
              <a:buNone/>
            </a:pPr>
            <a:r>
              <a:rPr lang="en-US" dirty="0"/>
              <a:t>It contains a </a:t>
            </a:r>
            <a:r>
              <a:rPr lang="en-US" dirty="0" err="1"/>
              <a:t>Dockerfile</a:t>
            </a:r>
            <a:r>
              <a:rPr lang="en-US" dirty="0"/>
              <a:t> as well as some scripts &amp; descriptions / explanations. </a:t>
            </a:r>
          </a:p>
          <a:p>
            <a:pPr marL="0" lvl="0" indent="0">
              <a:buFont typeface="Symbol" panose="05050102010706020507" pitchFamily="18" charset="2"/>
              <a:buNone/>
            </a:pPr>
            <a:endParaRPr lang="en-US" dirty="0"/>
          </a:p>
          <a:p>
            <a:pPr marL="0" lvl="0" indent="0">
              <a:buFont typeface="Symbol" panose="05050102010706020507" pitchFamily="18" charset="2"/>
              <a:buNone/>
            </a:pPr>
            <a:r>
              <a:rPr lang="en-US" dirty="0"/>
              <a:t>The attack will look like this:</a:t>
            </a:r>
          </a:p>
          <a:p>
            <a:pPr marL="0" lvl="0" indent="0">
              <a:buFont typeface="Symbol" panose="05050102010706020507" pitchFamily="18" charset="2"/>
              <a:buNone/>
            </a:pPr>
            <a:r>
              <a:rPr lang="en-US" dirty="0"/>
              <a:t>You want to schedule an </a:t>
            </a:r>
            <a:r>
              <a:rPr lang="en-US" dirty="0" err="1"/>
              <a:t>nginx</a:t>
            </a:r>
            <a:r>
              <a:rPr lang="en-US" dirty="0"/>
              <a:t> image and found this super fancy fork of </a:t>
            </a:r>
            <a:r>
              <a:rPr lang="en-US" dirty="0" err="1"/>
              <a:t>nginx</a:t>
            </a:r>
            <a:r>
              <a:rPr lang="en-US" dirty="0"/>
              <a:t> (something comparable happened to Tesla with a crypto miner). Now the </a:t>
            </a:r>
            <a:r>
              <a:rPr lang="en-US" dirty="0" err="1"/>
              <a:t>nginx</a:t>
            </a:r>
            <a:r>
              <a:rPr lang="en-US" dirty="0"/>
              <a:t> image is a little bit extended – it has curl and a special run_nginx.sh script. The script checks, if a service account access token is available and if the answer is yes, it will be abused to schedule a daemon set with host fs access. Check the logs of the daemon set pods to see, if it worked. </a:t>
            </a:r>
          </a:p>
          <a:p>
            <a:pPr marL="0" lvl="0" indent="0">
              <a:buFont typeface="Symbol" panose="05050102010706020507" pitchFamily="18" charset="2"/>
              <a:buNone/>
            </a:pPr>
            <a:r>
              <a:rPr lang="en-US" dirty="0"/>
              <a:t>Of course, after the script ran, </a:t>
            </a:r>
            <a:r>
              <a:rPr lang="en-US" dirty="0" err="1"/>
              <a:t>nginx</a:t>
            </a:r>
            <a:r>
              <a:rPr lang="en-US" dirty="0"/>
              <a:t> will be started too ;)</a:t>
            </a:r>
          </a:p>
          <a:p>
            <a:pPr marL="0" lvl="0" indent="0">
              <a:buFont typeface="Symbol" panose="05050102010706020507" pitchFamily="18" charset="2"/>
              <a:buNone/>
            </a:pPr>
            <a:endParaRPr lang="en-US" dirty="0"/>
          </a:p>
          <a:p>
            <a:pPr marL="0" lvl="0" indent="0">
              <a:buFont typeface="Symbol" panose="05050102010706020507" pitchFamily="18" charset="2"/>
              <a:buNone/>
            </a:pPr>
            <a:r>
              <a:rPr lang="en-US" dirty="0"/>
              <a:t>To make life easier, the Docker image has already been build &amp; uploaded to </a:t>
            </a:r>
            <a:r>
              <a:rPr lang="en-US" dirty="0" err="1"/>
              <a:t>artifactory</a:t>
            </a:r>
            <a:r>
              <a:rPr lang="en-US" dirty="0"/>
              <a:t> in DMZ. All you need to do, is to create an </a:t>
            </a:r>
            <a:r>
              <a:rPr lang="en-US" dirty="0" err="1"/>
              <a:t>imagepullsecret</a:t>
            </a:r>
            <a:r>
              <a:rPr lang="en-US" dirty="0"/>
              <a:t> with name “</a:t>
            </a:r>
            <a:r>
              <a:rPr lang="en-US" dirty="0" err="1"/>
              <a:t>artifactory</a:t>
            </a:r>
            <a:r>
              <a:rPr lang="en-US" dirty="0"/>
              <a:t>” and read access to </a:t>
            </a:r>
            <a:r>
              <a:rPr lang="de-DE" sz="1400" b="0" i="0" kern="1200" dirty="0">
                <a:solidFill>
                  <a:schemeClr val="tx1"/>
                </a:solidFill>
                <a:effectLst/>
                <a:latin typeface="+mn-lt"/>
                <a:ea typeface="+mn-ea"/>
                <a:cs typeface="+mn-cs"/>
              </a:rPr>
              <a:t>cc-k8s-course.docker.repositories.sap.ondemand.com/</a:t>
            </a:r>
            <a:r>
              <a:rPr lang="de-DE" sz="1400" b="0" i="0" kern="1200" dirty="0" err="1">
                <a:solidFill>
                  <a:schemeClr val="tx1"/>
                </a:solidFill>
                <a:effectLst/>
                <a:latin typeface="+mn-lt"/>
                <a:ea typeface="+mn-ea"/>
                <a:cs typeface="+mn-cs"/>
              </a:rPr>
              <a:t>security-examples</a:t>
            </a:r>
            <a:r>
              <a:rPr lang="de-DE" sz="1400" b="0" i="0" kern="1200" dirty="0">
                <a:solidFill>
                  <a:schemeClr val="tx1"/>
                </a:solidFill>
                <a:effectLst/>
                <a:latin typeface="+mn-lt"/>
                <a:ea typeface="+mn-ea"/>
                <a:cs typeface="+mn-cs"/>
              </a:rPr>
              <a:t>/</a:t>
            </a:r>
            <a:r>
              <a:rPr lang="de-DE" sz="1400" b="0" i="0" kern="1200" dirty="0" err="1">
                <a:solidFill>
                  <a:schemeClr val="tx1"/>
                </a:solidFill>
                <a:effectLst/>
                <a:latin typeface="+mn-lt"/>
                <a:ea typeface="+mn-ea"/>
                <a:cs typeface="+mn-cs"/>
              </a:rPr>
              <a:t>nginx</a:t>
            </a:r>
            <a:r>
              <a:rPr lang="de-DE" sz="1400" b="0" i="0" kern="1200" dirty="0">
                <a:solidFill>
                  <a:schemeClr val="tx1"/>
                </a:solidFill>
                <a:effectLst/>
                <a:latin typeface="+mn-lt"/>
                <a:ea typeface="+mn-ea"/>
                <a:cs typeface="+mn-cs"/>
              </a:rPr>
              <a:t>-host-</a:t>
            </a:r>
            <a:r>
              <a:rPr lang="de-DE" sz="1400" b="0" i="0" kern="1200" dirty="0" err="1">
                <a:solidFill>
                  <a:schemeClr val="tx1"/>
                </a:solidFill>
                <a:effectLst/>
                <a:latin typeface="+mn-lt"/>
                <a:ea typeface="+mn-ea"/>
                <a:cs typeface="+mn-cs"/>
              </a:rPr>
              <a:t>fs</a:t>
            </a:r>
            <a:r>
              <a:rPr lang="de-DE" sz="1400" b="0" i="0" kern="1200" dirty="0">
                <a:solidFill>
                  <a:schemeClr val="tx1"/>
                </a:solidFill>
                <a:effectLst/>
                <a:latin typeface="+mn-lt"/>
                <a:ea typeface="+mn-ea"/>
                <a:cs typeface="+mn-cs"/>
              </a:rPr>
              <a:t>-hack. As </a:t>
            </a:r>
            <a:r>
              <a:rPr lang="de-DE" sz="1400" b="0" i="0" kern="1200" dirty="0" err="1">
                <a:solidFill>
                  <a:schemeClr val="tx1"/>
                </a:solidFill>
                <a:effectLst/>
                <a:latin typeface="+mn-lt"/>
                <a:ea typeface="+mn-ea"/>
                <a:cs typeface="+mn-cs"/>
              </a:rPr>
              <a:t>it</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is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the</a:t>
            </a:r>
            <a:r>
              <a:rPr lang="de-DE" sz="1400" b="0" i="0" kern="1200" dirty="0">
                <a:solidFill>
                  <a:schemeClr val="tx1"/>
                </a:solidFill>
                <a:effectLst/>
                <a:latin typeface="+mn-lt"/>
                <a:ea typeface="+mn-ea"/>
                <a:cs typeface="+mn-cs"/>
              </a:rPr>
              <a:t> same </a:t>
            </a:r>
            <a:r>
              <a:rPr lang="de-DE" sz="1400" b="0" i="0" kern="1200" dirty="0" err="1">
                <a:solidFill>
                  <a:schemeClr val="tx1"/>
                </a:solidFill>
                <a:effectLst/>
                <a:latin typeface="+mn-lt"/>
                <a:ea typeface="+mn-ea"/>
                <a:cs typeface="+mn-cs"/>
              </a:rPr>
              <a:t>org</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as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we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use</a:t>
            </a:r>
            <a:r>
              <a:rPr lang="de-DE" sz="1400" b="0" i="0" kern="1200" dirty="0">
                <a:solidFill>
                  <a:schemeClr val="tx1"/>
                </a:solidFill>
                <a:effectLst/>
                <a:latin typeface="+mn-lt"/>
                <a:ea typeface="+mn-ea"/>
                <a:cs typeface="+mn-cs"/>
              </a:rPr>
              <a:t> on </a:t>
            </a:r>
            <a:r>
              <a:rPr lang="de-DE" sz="1400" b="0" i="0" kern="1200" dirty="0" err="1">
                <a:solidFill>
                  <a:schemeClr val="tx1"/>
                </a:solidFill>
                <a:effectLst/>
                <a:latin typeface="+mn-lt"/>
                <a:ea typeface="+mn-ea"/>
                <a:cs typeface="+mn-cs"/>
              </a:rPr>
              <a:t>day</a:t>
            </a:r>
            <a:r>
              <a:rPr lang="de-DE" sz="1400" b="0" i="0" kern="1200" dirty="0">
                <a:solidFill>
                  <a:schemeClr val="tx1"/>
                </a:solidFill>
                <a:effectLst/>
                <a:latin typeface="+mn-lt"/>
                <a:ea typeface="+mn-ea"/>
                <a:cs typeface="+mn-cs"/>
              </a:rPr>
              <a:t> 4, </a:t>
            </a:r>
            <a:r>
              <a:rPr lang="de-DE" sz="1400" b="0" i="0" kern="1200" dirty="0" err="1">
                <a:solidFill>
                  <a:schemeClr val="tx1"/>
                </a:solidFill>
                <a:effectLst/>
                <a:latin typeface="+mn-lt"/>
                <a:ea typeface="+mn-ea"/>
                <a:cs typeface="+mn-cs"/>
              </a:rPr>
              <a:t>you</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can</a:t>
            </a:r>
            <a:r>
              <a:rPr lang="de-DE" sz="1400" b="0" i="0" kern="1200" dirty="0">
                <a:solidFill>
                  <a:schemeClr val="tx1"/>
                </a:solidFill>
                <a:effectLst/>
                <a:latin typeface="+mn-lt"/>
                <a:ea typeface="+mn-ea"/>
                <a:cs typeface="+mn-cs"/>
              </a:rPr>
              <a:t> also </a:t>
            </a:r>
            <a:r>
              <a:rPr lang="de-DE" sz="1400" b="0" i="0" kern="1200" dirty="0" err="1">
                <a:solidFill>
                  <a:schemeClr val="tx1"/>
                </a:solidFill>
                <a:effectLst/>
                <a:latin typeface="+mn-lt"/>
                <a:ea typeface="+mn-ea"/>
                <a:cs typeface="+mn-cs"/>
              </a:rPr>
              <a:t>use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the</a:t>
            </a:r>
            <a:r>
              <a:rPr lang="de-DE" sz="1400" b="0" i="0" kern="1200" dirty="0">
                <a:solidFill>
                  <a:schemeClr val="tx1"/>
                </a:solidFill>
                <a:effectLst/>
                <a:latin typeface="+mn-lt"/>
                <a:ea typeface="+mn-ea"/>
                <a:cs typeface="+mn-cs"/>
              </a:rPr>
              <a:t> same </a:t>
            </a:r>
            <a:r>
              <a:rPr lang="de-DE" sz="1400" b="0" i="0" kern="1200" dirty="0" err="1">
                <a:solidFill>
                  <a:schemeClr val="tx1"/>
                </a:solidFill>
                <a:effectLst/>
                <a:latin typeface="+mn-lt"/>
                <a:ea typeface="+mn-ea"/>
                <a:cs typeface="+mn-cs"/>
              </a:rPr>
              <a:t>username</a:t>
            </a:r>
            <a:r>
              <a:rPr lang="de-DE" sz="1400" b="0" i="0" kern="1200" dirty="0">
                <a:solidFill>
                  <a:schemeClr val="tx1"/>
                </a:solidFill>
                <a:effectLst/>
                <a:latin typeface="+mn-lt"/>
                <a:ea typeface="+mn-ea"/>
                <a:cs typeface="+mn-cs"/>
              </a:rPr>
              <a:t> / </a:t>
            </a:r>
            <a:r>
              <a:rPr lang="de-DE" sz="1400" b="0" i="0" kern="1200" dirty="0" err="1">
                <a:solidFill>
                  <a:schemeClr val="tx1"/>
                </a:solidFill>
                <a:effectLst/>
                <a:latin typeface="+mn-lt"/>
                <a:ea typeface="+mn-ea"/>
                <a:cs typeface="+mn-cs"/>
              </a:rPr>
              <a:t>password</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for</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it</a:t>
            </a:r>
            <a:r>
              <a:rPr lang="de-DE" sz="1400" b="0" i="0" kern="1200" dirty="0">
                <a:solidFill>
                  <a:schemeClr val="tx1"/>
                </a:solidFill>
                <a:effectLst/>
                <a:latin typeface="+mn-lt"/>
                <a:ea typeface="+mn-ea"/>
                <a:cs typeface="+mn-cs"/>
              </a:rPr>
              <a:t> (check https://github.wdf.sap.corp/slvi/docker-k8s-training/blob/master/kubernetes/k8s-bulletinboard/exercise_02_ads_app.md#step-0-imagepullsecret-for-sap-artifactory-repo-cc-k8s-course).</a:t>
            </a:r>
            <a:endParaRPr lang="en-US" dirty="0"/>
          </a:p>
          <a:p>
            <a:pPr marL="0" lvl="0" indent="0">
              <a:buFont typeface="Symbol" panose="05050102010706020507" pitchFamily="18" charset="2"/>
              <a:buNone/>
            </a:pPr>
            <a:endParaRPr lang="en-US" dirty="0"/>
          </a:p>
          <a:p>
            <a:pPr marL="0" lvl="0" indent="0">
              <a:buFont typeface="Symbol" panose="05050102010706020507" pitchFamily="18" charset="2"/>
              <a:buNone/>
            </a:pPr>
            <a:r>
              <a:rPr lang="en-US" dirty="0"/>
              <a:t>To run the attack, you may use this deployment: https://github.wdf.sap.corp/ps-container/host-fs-access-hack/blob/master/host-fs-deployment.yaml</a:t>
            </a:r>
          </a:p>
        </p:txBody>
      </p:sp>
      <p:sp>
        <p:nvSpPr>
          <p:cNvPr id="4" name="Slide Number Placeholder 3"/>
          <p:cNvSpPr>
            <a:spLocks noGrp="1"/>
          </p:cNvSpPr>
          <p:nvPr>
            <p:ph type="sldNum" sz="quarter" idx="10"/>
          </p:nvPr>
        </p:nvSpPr>
        <p:spPr/>
        <p:txBody>
          <a:bodyPr/>
          <a:lstStyle/>
          <a:p>
            <a:fld id="{7D8C2C35-2B8A-446E-BEC0-FD36716C29AC}" type="slidenum">
              <a:rPr lang="de-DE" smtClean="0"/>
              <a:pPr/>
              <a:t>24</a:t>
            </a:fld>
            <a:endParaRPr lang="de-DE" dirty="0"/>
          </a:p>
        </p:txBody>
      </p:sp>
    </p:spTree>
    <p:extLst>
      <p:ext uri="{BB962C8B-B14F-4D97-AF65-F5344CB8AC3E}">
        <p14:creationId xmlns:p14="http://schemas.microsoft.com/office/powerpoint/2010/main" val="338447108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D8C2C35-2B8A-446E-BEC0-FD36716C29AC}" type="slidenum">
              <a:rPr lang="en-US" smtClean="0"/>
              <a:pPr/>
              <a:t>27</a:t>
            </a:fld>
            <a:endParaRPr lang="en-US" dirty="0"/>
          </a:p>
        </p:txBody>
      </p:sp>
      <p:sp>
        <p:nvSpPr>
          <p:cNvPr id="6" name="Slide Image Placeholder 5"/>
          <p:cNvSpPr>
            <a:spLocks noGrp="1" noRot="1" noChangeAspect="1"/>
          </p:cNvSpPr>
          <p:nvPr>
            <p:ph type="sldImg"/>
          </p:nvPr>
        </p:nvSpPr>
        <p:spPr>
          <a:xfrm>
            <a:off x="547688" y="612775"/>
            <a:ext cx="5762625" cy="3241675"/>
          </a:xfrm>
        </p:spPr>
      </p:sp>
      <p:sp>
        <p:nvSpPr>
          <p:cNvPr id="7" name="Notes Placeholder 6"/>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254426430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hyperlink" Target="http://global.sap.com/corporate-en/legal/copyright/index.epx" TargetMode="External"/><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hyperlink" Target="http://www.sap.com/corporate-de/legal/copyright/index.epx"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with image">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solidFill>
            <a:schemeClr val="tx2">
              <a:alpha val="70000"/>
            </a:schemeClr>
          </a:solidFill>
        </p:spPr>
        <p:txBody>
          <a:bodyPr tIns="504000"/>
          <a:lstStyle>
            <a:lvl1pPr algn="ctr">
              <a:defRPr sz="1600">
                <a:solidFill>
                  <a:schemeClr val="tx1"/>
                </a:solidFill>
              </a:defRPr>
            </a:lvl1pPr>
          </a:lstStyle>
          <a:p>
            <a:r>
              <a:rPr lang="en-US" dirty="0"/>
              <a:t>Click to insert title image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grpSp>
        <p:nvGrpSpPr>
          <p:cNvPr id="2" name="Group 1"/>
          <p:cNvGrpSpPr/>
          <p:nvPr userDrawn="1"/>
        </p:nvGrpSpPr>
        <p:grpSpPr>
          <a:xfrm>
            <a:off x="9171173" y="0"/>
            <a:ext cx="3024002" cy="3430006"/>
            <a:chOff x="9171173" y="0"/>
            <a:chExt cx="3024002" cy="3430006"/>
          </a:xfrm>
        </p:grpSpPr>
        <p:sp>
          <p:nvSpPr>
            <p:cNvPr id="17" name="Rectangle 16"/>
            <p:cNvSpPr/>
            <p:nvPr userDrawn="1"/>
          </p:nvSpPr>
          <p:spPr bwMode="gray">
            <a:xfrm>
              <a:off x="11187175" y="0"/>
              <a:ext cx="1008000" cy="3430006"/>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3430006"/>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3430006"/>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245271761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with illustration scene art">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noFill/>
        </p:spPr>
        <p:txBody>
          <a:bodyPr tIns="504000"/>
          <a:lstStyle>
            <a:lvl1pPr algn="ctr">
              <a:defRPr sz="1600">
                <a:solidFill>
                  <a:schemeClr val="tx1"/>
                </a:solidFill>
              </a:defRPr>
            </a:lvl1pPr>
          </a:lstStyle>
          <a:p>
            <a:r>
              <a:rPr lang="en-US" dirty="0"/>
              <a:t>Click to insert illustration scene art</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3018874800"/>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black">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0" y="4268503"/>
            <a:ext cx="8595171"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0" y="2706317"/>
            <a:ext cx="8595171"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grpSp>
        <p:nvGrpSpPr>
          <p:cNvPr id="2" name="Group 1"/>
          <p:cNvGrpSpPr/>
          <p:nvPr userDrawn="1"/>
        </p:nvGrpSpPr>
        <p:grpSpPr>
          <a:xfrm>
            <a:off x="9171173" y="0"/>
            <a:ext cx="3024002" cy="6858000"/>
            <a:chOff x="9171173" y="0"/>
            <a:chExt cx="3024002" cy="6855990"/>
          </a:xfrm>
        </p:grpSpPr>
        <p:sp>
          <p:nvSpPr>
            <p:cNvPr id="17" name="Rectangle 16"/>
            <p:cNvSpPr/>
            <p:nvPr userDrawn="1"/>
          </p:nvSpPr>
          <p:spPr bwMode="gray">
            <a:xfrm>
              <a:off x="11187175" y="0"/>
              <a:ext cx="1008000" cy="6855990"/>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685599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685599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Tree>
    <p:extLst>
      <p:ext uri="{BB962C8B-B14F-4D97-AF65-F5344CB8AC3E}">
        <p14:creationId xmlns:p14="http://schemas.microsoft.com/office/powerpoint/2010/main" val="1982410628"/>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with pictogram">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1" y="4268503"/>
            <a:ext cx="637343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1" y="2706317"/>
            <a:ext cx="6373430"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7" name="Picture Placeholder 6"/>
          <p:cNvSpPr>
            <a:spLocks noGrp="1"/>
          </p:cNvSpPr>
          <p:nvPr>
            <p:ph type="pic" sz="quarter" idx="16"/>
          </p:nvPr>
        </p:nvSpPr>
        <p:spPr>
          <a:xfrm>
            <a:off x="6954855" y="963000"/>
            <a:ext cx="4932000" cy="4932000"/>
          </a:xfrm>
        </p:spPr>
        <p:txBody>
          <a:bodyPr/>
          <a:lstStyle/>
          <a:p>
            <a:endParaRPr lang="en-US" dirty="0"/>
          </a:p>
        </p:txBody>
      </p:sp>
    </p:spTree>
    <p:extLst>
      <p:ext uri="{BB962C8B-B14F-4D97-AF65-F5344CB8AC3E}">
        <p14:creationId xmlns:p14="http://schemas.microsoft.com/office/powerpoint/2010/main" val="3048046299"/>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Agenda items placeholder"/>
          <p:cNvSpPr>
            <a:spLocks noGrp="1"/>
          </p:cNvSpPr>
          <p:nvPr>
            <p:ph type="body" sz="quarter" idx="10" hasCustomPrompt="1"/>
          </p:nvPr>
        </p:nvSpPr>
        <p:spPr>
          <a:xfrm>
            <a:off x="504000" y="1620000"/>
            <a:ext cx="11185200" cy="4230000"/>
          </a:xfrm>
        </p:spPr>
        <p:txBody>
          <a:bodyPr>
            <a:noAutofit/>
          </a:bodyPr>
          <a:lstStyle>
            <a:lvl1pPr marL="0" marR="0" indent="0" algn="l" defTabSz="1088558" rtl="0" eaLnBrk="1" fontAlgn="auto" latinLnBrk="0" hangingPunct="1">
              <a:lnSpc>
                <a:spcPct val="100000"/>
              </a:lnSpc>
              <a:spcBef>
                <a:spcPts val="3000"/>
              </a:spcBef>
              <a:spcAft>
                <a:spcPts val="0"/>
              </a:spcAft>
              <a:buClr>
                <a:schemeClr val="accent1"/>
              </a:buClr>
              <a:buSzPct val="80000"/>
              <a:buFontTx/>
              <a:buNone/>
              <a:tabLst/>
              <a:defRPr sz="2000" b="0"/>
            </a:lvl1pPr>
            <a:lvl2pPr marL="179964" marR="0" indent="-179964" algn="l" defTabSz="1088558" rtl="0" eaLnBrk="1" fontAlgn="auto" latinLnBrk="0" hangingPunct="1">
              <a:lnSpc>
                <a:spcPct val="100000"/>
              </a:lnSpc>
              <a:spcBef>
                <a:spcPts val="600"/>
              </a:spcBef>
              <a:spcAft>
                <a:spcPts val="0"/>
              </a:spcAft>
              <a:buClr>
                <a:schemeClr val="accent1"/>
              </a:buClr>
              <a:buSzPct val="100000"/>
              <a:buFont typeface="Wingdings" panose="05000000000000000000" pitchFamily="2" charset="2"/>
              <a:buChar char="§"/>
              <a:tabLst/>
              <a:defRPr sz="1800"/>
            </a:lvl2pPr>
            <a:lvl3pPr marL="359928" marR="0" indent="-179352" algn="l" defTabSz="1088558" rtl="0" eaLnBrk="1" fontAlgn="auto" latinLnBrk="0" hangingPunct="1">
              <a:lnSpc>
                <a:spcPct val="100000"/>
              </a:lnSpc>
              <a:spcBef>
                <a:spcPts val="400"/>
              </a:spcBef>
              <a:spcAft>
                <a:spcPts val="0"/>
              </a:spcAft>
              <a:buClr>
                <a:schemeClr val="tx1"/>
              </a:buClr>
              <a:buSzPct val="100000"/>
              <a:buFont typeface="Arial" pitchFamily="34" charset="0"/>
              <a:buChar char="–"/>
              <a:tabLst/>
              <a:defRPr sz="1800" baseline="0"/>
            </a:lvl3pPr>
            <a:lvl4pPr marL="539892" marR="0" indent="-179964" algn="l" defTabSz="1088558" rtl="0" eaLnBrk="1" fontAlgn="auto" latinLnBrk="0" hangingPunct="1">
              <a:lnSpc>
                <a:spcPct val="100000"/>
              </a:lnSpc>
              <a:spcBef>
                <a:spcPts val="250"/>
              </a:spcBef>
              <a:spcAft>
                <a:spcPts val="0"/>
              </a:spcAft>
              <a:buClr>
                <a:schemeClr val="tx1"/>
              </a:buClr>
              <a:buSzPct val="100000"/>
              <a:buFont typeface="Courier New" pitchFamily="49" charset="0"/>
              <a:buChar char="o"/>
              <a:tabLst/>
              <a:defRPr sz="1600"/>
            </a:lvl4pPr>
            <a:lvl5pPr>
              <a:buClr>
                <a:schemeClr val="accent2"/>
              </a:buClr>
              <a:buFont typeface="Arial" pitchFamily="34" charset="0"/>
              <a:buChar char="–"/>
              <a:defRPr/>
            </a:lvl5pPr>
          </a:lstStyle>
          <a:p>
            <a:pPr lvl="0"/>
            <a:r>
              <a:rPr lang="en-US" dirty="0"/>
              <a:t>Agenda Item/Divider Headline</a:t>
            </a:r>
          </a:p>
          <a:p>
            <a:pPr lvl="1"/>
            <a:r>
              <a:rPr lang="en-US" dirty="0"/>
              <a:t>Details</a:t>
            </a:r>
          </a:p>
        </p:txBody>
      </p:sp>
      <p:sp>
        <p:nvSpPr>
          <p:cNvPr id="3" name="Agenda title"/>
          <p:cNvSpPr>
            <a:spLocks noGrp="1"/>
          </p:cNvSpPr>
          <p:nvPr>
            <p:ph type="title" hasCustomPrompt="1"/>
          </p:nvPr>
        </p:nvSpPr>
        <p:spPr/>
        <p:txBody>
          <a:bodyPr/>
          <a:lstStyle>
            <a:lvl1pPr>
              <a:defRPr/>
            </a:lvl1pPr>
          </a:lstStyle>
          <a:p>
            <a:r>
              <a:rPr lang="en-US" dirty="0"/>
              <a:t>Agenda</a:t>
            </a:r>
          </a:p>
        </p:txBody>
      </p:sp>
    </p:spTree>
    <p:extLst>
      <p:ext uri="{BB962C8B-B14F-4D97-AF65-F5344CB8AC3E}">
        <p14:creationId xmlns:p14="http://schemas.microsoft.com/office/powerpoint/2010/main" val="18593606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 Page">
    <p:spTree>
      <p:nvGrpSpPr>
        <p:cNvPr id="1" name=""/>
        <p:cNvGrpSpPr/>
        <p:nvPr/>
      </p:nvGrpSpPr>
      <p:grpSpPr>
        <a:xfrm>
          <a:off x="0" y="0"/>
          <a:ext cx="0" cy="0"/>
          <a:chOff x="0" y="0"/>
          <a:chExt cx="0" cy="0"/>
        </a:xfrm>
      </p:grpSpPr>
      <p:sp>
        <p:nvSpPr>
          <p:cNvPr id="2" name="Divider text"/>
          <p:cNvSpPr>
            <a:spLocks noGrp="1"/>
          </p:cNvSpPr>
          <p:nvPr>
            <p:ph type="ctrTitle" hasCustomPrompt="1"/>
          </p:nvPr>
        </p:nvSpPr>
        <p:spPr bwMode="gray">
          <a:xfrm>
            <a:off x="504000" y="3090446"/>
            <a:ext cx="11185200" cy="677108"/>
          </a:xfrm>
        </p:spPr>
        <p:txBody>
          <a:bodyPr anchor="ctr"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4109527874"/>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 Page with image">
    <p:spTree>
      <p:nvGrpSpPr>
        <p:cNvPr id="1" name=""/>
        <p:cNvGrpSpPr/>
        <p:nvPr/>
      </p:nvGrpSpPr>
      <p:grpSpPr>
        <a:xfrm>
          <a:off x="0" y="0"/>
          <a:ext cx="0" cy="0"/>
          <a:chOff x="0" y="0"/>
          <a:chExt cx="0" cy="0"/>
        </a:xfrm>
      </p:grpSpPr>
      <p:sp>
        <p:nvSpPr>
          <p:cNvPr id="4" name="Divider image placeholder"/>
          <p:cNvSpPr>
            <a:spLocks noGrp="1"/>
          </p:cNvSpPr>
          <p:nvPr>
            <p:ph type="pic" sz="quarter" idx="12" hasCustomPrompt="1"/>
          </p:nvPr>
        </p:nvSpPr>
        <p:spPr>
          <a:xfrm>
            <a:off x="1" y="3427200"/>
            <a:ext cx="12195175" cy="3430800"/>
          </a:xfrm>
          <a:noFill/>
        </p:spPr>
        <p:txBody>
          <a:bodyPr tIns="324000"/>
          <a:lstStyle>
            <a:lvl1pPr marL="0" marR="0" indent="0" algn="ctr" defTabSz="1088558" rtl="0" eaLnBrk="1" fontAlgn="auto" latinLnBrk="0" hangingPunct="1">
              <a:lnSpc>
                <a:spcPct val="100000"/>
              </a:lnSpc>
              <a:spcBef>
                <a:spcPts val="1200"/>
              </a:spcBef>
              <a:spcAft>
                <a:spcPts val="0"/>
              </a:spcAft>
              <a:buClr>
                <a:schemeClr val="accent1"/>
              </a:buClr>
              <a:buSzPct val="80000"/>
              <a:buFontTx/>
              <a:buNone/>
              <a:tabLst/>
              <a:defRPr sz="1600">
                <a:solidFill>
                  <a:schemeClr val="tx1"/>
                </a:solidFill>
              </a:defRPr>
            </a:lvl1pPr>
          </a:lstStyle>
          <a:p>
            <a:pPr marL="0" marR="0" lvl="0" indent="0" algn="ctr" defTabSz="1088558" rtl="0" eaLnBrk="1" fontAlgn="auto" latinLnBrk="0" hangingPunct="1">
              <a:lnSpc>
                <a:spcPct val="100000"/>
              </a:lnSpc>
              <a:spcBef>
                <a:spcPts val="1200"/>
              </a:spcBef>
              <a:spcAft>
                <a:spcPts val="0"/>
              </a:spcAft>
              <a:buClr>
                <a:schemeClr val="accent1"/>
              </a:buClr>
              <a:buSzPct val="80000"/>
              <a:buFontTx/>
              <a:buNone/>
              <a:tabLst/>
              <a:defRPr/>
            </a:pPr>
            <a:r>
              <a:rPr lang="en-US" dirty="0"/>
              <a:t>Placeholder for image and illustration scene art</a:t>
            </a:r>
          </a:p>
        </p:txBody>
      </p:sp>
      <p:sp>
        <p:nvSpPr>
          <p:cNvPr id="2" name="Divider text"/>
          <p:cNvSpPr>
            <a:spLocks noGrp="1"/>
          </p:cNvSpPr>
          <p:nvPr>
            <p:ph type="ctrTitle" hasCustomPrompt="1"/>
          </p:nvPr>
        </p:nvSpPr>
        <p:spPr bwMode="gray">
          <a:xfrm>
            <a:off x="504000" y="1375046"/>
            <a:ext cx="11185200" cy="677108"/>
          </a:xfrm>
        </p:spPr>
        <p:txBody>
          <a:bodyPr anchor="t"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1008985274"/>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2"/>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466743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3999" y="1620000"/>
            <a:ext cx="11186477"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1293322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2 columns">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 column 1"/>
          <p:cNvSpPr>
            <a:spLocks noGrp="1"/>
          </p:cNvSpPr>
          <p:nvPr>
            <p:ph type="body" sz="quarter" idx="11" hasCustomPrompt="1"/>
          </p:nvPr>
        </p:nvSpPr>
        <p:spPr>
          <a:xfrm>
            <a:off x="6362477"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630481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ext: 3 columns">
    <p:spTree>
      <p:nvGrpSpPr>
        <p:cNvPr id="1" name=""/>
        <p:cNvGrpSpPr/>
        <p:nvPr/>
      </p:nvGrpSpPr>
      <p:grpSpPr>
        <a:xfrm>
          <a:off x="0" y="0"/>
          <a:ext cx="0" cy="0"/>
          <a:chOff x="0" y="0"/>
          <a:chExt cx="0" cy="0"/>
        </a:xfrm>
      </p:grpSpPr>
      <p:sp>
        <p:nvSpPr>
          <p:cNvPr id="7" name="Text Placeholder - column 3"/>
          <p:cNvSpPr>
            <a:spLocks noGrp="1"/>
          </p:cNvSpPr>
          <p:nvPr>
            <p:ph type="body" sz="quarter" idx="13" hasCustomPrompt="1"/>
          </p:nvPr>
        </p:nvSpPr>
        <p:spPr>
          <a:xfrm>
            <a:off x="8126477"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 column 2"/>
          <p:cNvSpPr>
            <a:spLocks noGrp="1"/>
          </p:cNvSpPr>
          <p:nvPr>
            <p:ph type="body" sz="quarter" idx="12" hasCustomPrompt="1"/>
          </p:nvPr>
        </p:nvSpPr>
        <p:spPr>
          <a:xfrm>
            <a:off x="4315238"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 column 1"/>
          <p:cNvSpPr>
            <a:spLocks noGrp="1"/>
          </p:cNvSpPr>
          <p:nvPr>
            <p:ph type="body" sz="quarter" idx="10" hasCustomPrompt="1"/>
          </p:nvPr>
        </p:nvSpPr>
        <p:spPr>
          <a:xfrm>
            <a:off x="504000"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8664163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6362477"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6362477"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5049412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8299277"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8299277"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4401639"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4401639"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7276675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3878220"/>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9274877"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9274877"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3427626"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3427626"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3" name="Text placeholder - column 2"/>
          <p:cNvSpPr>
            <a:spLocks noGrp="1"/>
          </p:cNvSpPr>
          <p:nvPr>
            <p:ph type="body" sz="quarter" idx="17" hasCustomPrompt="1"/>
          </p:nvPr>
        </p:nvSpPr>
        <p:spPr>
          <a:xfrm>
            <a:off x="6351252"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4" name="Picture Placeholder 4"/>
          <p:cNvSpPr>
            <a:spLocks noGrp="1"/>
          </p:cNvSpPr>
          <p:nvPr>
            <p:ph type="pic" sz="quarter" idx="18" hasCustomPrompt="1"/>
          </p:nvPr>
        </p:nvSpPr>
        <p:spPr bwMode="gray">
          <a:xfrm>
            <a:off x="6351252"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6805944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5" name="Quote placeholder"/>
          <p:cNvSpPr>
            <a:spLocks noGrp="1"/>
          </p:cNvSpPr>
          <p:nvPr>
            <p:ph type="body" sz="quarter" idx="10" hasCustomPrompt="1"/>
          </p:nvPr>
        </p:nvSpPr>
        <p:spPr>
          <a:xfrm>
            <a:off x="504000" y="1800000"/>
            <a:ext cx="11185200" cy="3285032"/>
          </a:xfrm>
        </p:spPr>
        <p:txBody>
          <a:bodyPr/>
          <a:lstStyle>
            <a:lvl1pPr marL="395921" indent="-395921">
              <a:lnSpc>
                <a:spcPct val="90000"/>
              </a:lnSpc>
              <a:spcBef>
                <a:spcPts val="600"/>
              </a:spcBef>
              <a:defRPr sz="5999" b="1"/>
            </a:lvl1pPr>
            <a:lvl2pPr marL="395921" indent="0">
              <a:buNone/>
              <a:defRPr sz="1200"/>
            </a:lvl2pPr>
          </a:lstStyle>
          <a:p>
            <a:pPr lvl="0"/>
            <a:r>
              <a:rPr lang="en-US" noProof="0" dirty="0"/>
              <a:t>“Quote goes here </a:t>
            </a:r>
            <a:br>
              <a:rPr lang="en-US" noProof="0" dirty="0"/>
            </a:br>
            <a:r>
              <a:rPr lang="en-US" noProof="0" dirty="0"/>
              <a:t>and here.”</a:t>
            </a:r>
          </a:p>
          <a:p>
            <a:pPr lvl="1"/>
            <a:r>
              <a:rPr lang="en-US" noProof="0" dirty="0"/>
              <a:t>Source</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grpSp>
        <p:nvGrpSpPr>
          <p:cNvPr id="3" name="Group 2"/>
          <p:cNvGrpSpPr/>
          <p:nvPr userDrawn="1"/>
        </p:nvGrpSpPr>
        <p:grpSpPr>
          <a:xfrm>
            <a:off x="0" y="0"/>
            <a:ext cx="12195175" cy="251942"/>
            <a:chOff x="0" y="0"/>
            <a:chExt cx="12195175" cy="251942"/>
          </a:xfrm>
        </p:grpSpPr>
        <p:sp>
          <p:nvSpPr>
            <p:cNvPr id="9" name="Rectangle 8"/>
            <p:cNvSpPr/>
            <p:nvPr userDrawn="1"/>
          </p:nvSpPr>
          <p:spPr bwMode="gray">
            <a:xfrm>
              <a:off x="0" y="0"/>
              <a:ext cx="12195175" cy="251942"/>
            </a:xfrm>
            <a:prstGeom prst="rect">
              <a:avLst/>
            </a:prstGeom>
            <a:solidFill>
              <a:schemeClr val="bg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4" name="Secondary Motion Band"/>
            <p:cNvGrpSpPr/>
            <p:nvPr userDrawn="1"/>
          </p:nvGrpSpPr>
          <p:grpSpPr>
            <a:xfrm>
              <a:off x="10682127" y="0"/>
              <a:ext cx="1513048" cy="251942"/>
              <a:chOff x="10682127" y="0"/>
              <a:chExt cx="1513048" cy="252000"/>
            </a:xfrm>
          </p:grpSpPr>
          <p:sp>
            <p:nvSpPr>
              <p:cNvPr id="6" name="Rectangle 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7" name="Rectangle 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9327859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text with image 1">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8127175" y="252000"/>
            <a:ext cx="4068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709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709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42502026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text with image 2">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6111175" y="252000"/>
            <a:ext cx="6084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511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511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55278771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mage with motion band">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252000"/>
            <a:ext cx="12195175"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19010498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Full bleed image ">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0"/>
            <a:ext cx="12195175" cy="6858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41397911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and screenshot">
    <p:spTree>
      <p:nvGrpSpPr>
        <p:cNvPr id="1" name=""/>
        <p:cNvGrpSpPr/>
        <p:nvPr/>
      </p:nvGrpSpPr>
      <p:grpSpPr>
        <a:xfrm>
          <a:off x="0" y="0"/>
          <a:ext cx="0" cy="0"/>
          <a:chOff x="0" y="0"/>
          <a:chExt cx="0" cy="0"/>
        </a:xfrm>
      </p:grpSpPr>
      <p:sp>
        <p:nvSpPr>
          <p:cNvPr id="5" name="Picture Placeholder 4"/>
          <p:cNvSpPr>
            <a:spLocks noGrp="1"/>
          </p:cNvSpPr>
          <p:nvPr>
            <p:ph type="pic" sz="quarter" idx="13" hasCustomPrompt="1"/>
          </p:nvPr>
        </p:nvSpPr>
        <p:spPr bwMode="gray">
          <a:xfrm>
            <a:off x="6362477" y="1601628"/>
            <a:ext cx="5328000" cy="4230000"/>
          </a:xfrm>
          <a:solidFill>
            <a:schemeClr val="tx2">
              <a:alpha val="70000"/>
            </a:schemeClr>
          </a:solidFill>
        </p:spPr>
        <p:txBody>
          <a:bodyPr vert="horz" lIns="0" tIns="1512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screenshot</a:t>
            </a:r>
          </a:p>
        </p:txBody>
      </p:sp>
      <p:sp>
        <p:nvSpPr>
          <p:cNvPr id="4" name="Text Placeholder 3"/>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1287227243"/>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Content Placeholder 2"/>
          <p:cNvSpPr>
            <a:spLocks noGrp="1"/>
          </p:cNvSpPr>
          <p:nvPr>
            <p:ph idx="1" hasCustomPrompt="1"/>
          </p:nvPr>
        </p:nvSpPr>
        <p:spPr>
          <a:xfrm>
            <a:off x="504000" y="1620000"/>
            <a:ext cx="11185200" cy="4230000"/>
          </a:xfrm>
          <a:solidFill>
            <a:schemeClr val="tx2">
              <a:alpha val="70000"/>
            </a:schemeClr>
          </a:solidFill>
        </p:spPr>
        <p:txBody>
          <a:bodyPr tIns="1368000"/>
          <a:lstStyle>
            <a:lvl1pPr algn="ctr">
              <a:defRPr sz="1400" b="0"/>
            </a:lvl1pPr>
          </a:lstStyle>
          <a:p>
            <a:pPr lvl="0"/>
            <a:r>
              <a:rPr lang="en-US" dirty="0"/>
              <a:t>Click to add content</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41860987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Blank with motion band">
    <p:spTree>
      <p:nvGrpSpPr>
        <p:cNvPr id="1" name=""/>
        <p:cNvGrpSpPr/>
        <p:nvPr/>
      </p:nvGrpSpPr>
      <p:grpSpPr>
        <a:xfrm>
          <a:off x="0" y="0"/>
          <a:ext cx="0" cy="0"/>
          <a:chOff x="0" y="0"/>
          <a:chExt cx="0" cy="0"/>
        </a:xfrm>
      </p:grpSpPr>
      <p:sp>
        <p:nvSpPr>
          <p:cNvPr id="7" name="Rectangle 6"/>
          <p:cNvSpPr/>
          <p:nvPr userDrawn="1"/>
        </p:nvSpPr>
        <p:spPr bwMode="gray">
          <a:xfrm>
            <a:off x="236220" y="1142735"/>
            <a:ext cx="11795760" cy="220929"/>
          </a:xfrm>
          <a:prstGeom prst="rect">
            <a:avLst/>
          </a:prstGeom>
          <a:solidFill>
            <a:schemeClr val="bg1"/>
          </a:solidFill>
          <a:ln w="6350" algn="ctr">
            <a:noFill/>
            <a:miter lim="800000"/>
            <a:headEnd/>
            <a:tailEnd/>
          </a:ln>
        </p:spPr>
        <p:txBody>
          <a:bodyPr lIns="89979" tIns="71983" rIns="89979" bIns="71983"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37924837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2181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Thank you and contact information">
    <p:spTree>
      <p:nvGrpSpPr>
        <p:cNvPr id="1" name=""/>
        <p:cNvGrpSpPr/>
        <p:nvPr/>
      </p:nvGrpSpPr>
      <p:grpSpPr>
        <a:xfrm>
          <a:off x="0" y="0"/>
          <a:ext cx="0" cy="0"/>
          <a:chOff x="0" y="0"/>
          <a:chExt cx="0" cy="0"/>
        </a:xfrm>
      </p:grpSpPr>
      <p:sp>
        <p:nvSpPr>
          <p:cNvPr id="93" name="Contact information"/>
          <p:cNvSpPr>
            <a:spLocks noGrp="1"/>
          </p:cNvSpPr>
          <p:nvPr>
            <p:ph type="body" sz="quarter" idx="10" hasCustomPrompt="1"/>
          </p:nvPr>
        </p:nvSpPr>
        <p:spPr>
          <a:xfrm>
            <a:off x="504000" y="2905487"/>
            <a:ext cx="5328000" cy="2501010"/>
          </a:xfrm>
        </p:spPr>
        <p:txBody>
          <a:bodyPr anchor="t" anchorCtr="0">
            <a:noAutofit/>
          </a:bodyPr>
          <a:lstStyle>
            <a:lvl1pPr>
              <a:spcBef>
                <a:spcPts val="0"/>
              </a:spcBef>
              <a:spcAft>
                <a:spcPts val="1200"/>
              </a:spcAft>
              <a:defRPr sz="1600" b="0"/>
            </a:lvl1pPr>
            <a:lvl2pPr marL="0" indent="0">
              <a:spcBef>
                <a:spcPts val="0"/>
              </a:spcBef>
              <a:buNone/>
              <a:defRPr sz="1600" b="0"/>
            </a:lvl2pPr>
          </a:lstStyle>
          <a:p>
            <a:r>
              <a:rPr lang="en-US" dirty="0"/>
              <a:t>Contact information:</a:t>
            </a:r>
          </a:p>
          <a:p>
            <a:pPr lvl="1"/>
            <a:r>
              <a:rPr lang="en-US" dirty="0"/>
              <a:t>F name L name</a:t>
            </a:r>
          </a:p>
          <a:p>
            <a:pPr lvl="1"/>
            <a:r>
              <a:rPr lang="en-US" dirty="0"/>
              <a:t>Title</a:t>
            </a:r>
          </a:p>
          <a:p>
            <a:pPr lvl="1"/>
            <a:r>
              <a:rPr lang="en-US" dirty="0"/>
              <a:t>Address</a:t>
            </a:r>
          </a:p>
          <a:p>
            <a:pPr lvl="1"/>
            <a:r>
              <a:rPr lang="en-US" dirty="0"/>
              <a:t>Phone number</a:t>
            </a:r>
          </a:p>
        </p:txBody>
      </p:sp>
      <p:sp>
        <p:nvSpPr>
          <p:cNvPr id="2" name="Thank you"/>
          <p:cNvSpPr>
            <a:spLocks noGrp="1"/>
          </p:cNvSpPr>
          <p:nvPr>
            <p:ph type="ctrTitle" hasCustomPrompt="1"/>
          </p:nvPr>
        </p:nvSpPr>
        <p:spPr bwMode="gray">
          <a:xfrm>
            <a:off x="504000" y="1467009"/>
            <a:ext cx="5328000" cy="923116"/>
          </a:xfrm>
        </p:spPr>
        <p:txBody>
          <a:bodyPr anchor="t" anchorCtr="0">
            <a:noAutofit/>
          </a:bodyPr>
          <a:lstStyle>
            <a:lvl1pPr>
              <a:defRPr sz="5500">
                <a:solidFill>
                  <a:schemeClr val="accent1"/>
                </a:solidFill>
                <a:latin typeface="+mj-lt"/>
              </a:defRPr>
            </a:lvl1pPr>
          </a:lstStyle>
          <a:p>
            <a:r>
              <a:rPr lang="en-US" dirty="0"/>
              <a:t>Thank you.</a:t>
            </a:r>
          </a:p>
        </p:txBody>
      </p:sp>
      <p:pic>
        <p:nvPicPr>
          <p:cNvPr id="10"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4000" y="5994000"/>
            <a:ext cx="1578462" cy="360000"/>
          </a:xfrm>
          <a:prstGeom prst="rect">
            <a:avLst/>
          </a:prstGeom>
        </p:spPr>
      </p:pic>
    </p:spTree>
    <p:extLst>
      <p:ext uri="{BB962C8B-B14F-4D97-AF65-F5344CB8AC3E}">
        <p14:creationId xmlns:p14="http://schemas.microsoft.com/office/powerpoint/2010/main" val="781090314"/>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pyright">
    <p:spTree>
      <p:nvGrpSpPr>
        <p:cNvPr id="1" name=""/>
        <p:cNvGrpSpPr/>
        <p:nvPr/>
      </p:nvGrpSpPr>
      <p:grpSpPr>
        <a:xfrm>
          <a:off x="0" y="0"/>
          <a:ext cx="0" cy="0"/>
          <a:chOff x="0" y="0"/>
          <a:chExt cx="0" cy="0"/>
        </a:xfrm>
      </p:grpSpPr>
      <p:sp>
        <p:nvSpPr>
          <p:cNvPr id="4" name="TextBox 3"/>
          <p:cNvSpPr txBox="1"/>
          <p:nvPr/>
        </p:nvSpPr>
        <p:spPr bwMode="gray">
          <a:xfrm>
            <a:off x="503999" y="1620000"/>
            <a:ext cx="11185200" cy="3153980"/>
          </a:xfrm>
          <a:prstGeom prst="rect">
            <a:avLst/>
          </a:prstGeom>
          <a:noFill/>
        </p:spPr>
        <p:txBody>
          <a:bodyPr wrap="square" lIns="0" tIns="0" rIns="0" bIns="0" rtlCol="0">
            <a:spAutoFit/>
          </a:bodyPr>
          <a:lstStyle/>
          <a:p>
            <a:pPr>
              <a:spcBef>
                <a:spcPts val="1200"/>
              </a:spcBef>
            </a:pPr>
            <a:r>
              <a:rPr lang="en-US" sz="1100" kern="1200" dirty="0">
                <a:solidFill>
                  <a:schemeClr val="tx1"/>
                </a:solidFill>
                <a:latin typeface="Arial"/>
                <a:ea typeface="Arial Unicode MS" panose="020B0604020202020204" pitchFamily="34" charset="-128"/>
                <a:cs typeface="+mn-cs"/>
              </a:rPr>
              <a:t>No part of this publication may be reproduced or transmitted in any form or for any purpose without the express permission of SAP SE or an SAP affiliate company.</a:t>
            </a:r>
          </a:p>
          <a:p>
            <a:pPr>
              <a:spcBef>
                <a:spcPts val="1200"/>
              </a:spcBef>
            </a:pPr>
            <a:r>
              <a:rPr lang="en-US" sz="1100" kern="1200" dirty="0">
                <a:solidFill>
                  <a:schemeClr val="tx1"/>
                </a:solidFill>
                <a:latin typeface="Arial"/>
                <a:ea typeface="Arial Unicode MS" panose="020B0604020202020204" pitchFamily="34" charset="-128"/>
                <a:cs typeface="+mn-cs"/>
              </a:rPr>
              <a:t>The information contained herein may be changed without prior notice. Some software products marketed by SAP SE and its distributors contain proprietary software components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of other software vendors. National product specifications may vary.</a:t>
            </a:r>
          </a:p>
          <a:p>
            <a:pPr>
              <a:spcBef>
                <a:spcPts val="1200"/>
              </a:spcBef>
            </a:pPr>
            <a:r>
              <a:rPr lang="en-US" sz="1100" kern="1200" dirty="0">
                <a:solidFill>
                  <a:schemeClr val="tx1"/>
                </a:solidFill>
                <a:latin typeface="Arial"/>
                <a:ea typeface="Arial Unicode MS" panose="020B0604020202020204" pitchFamily="34" charset="-128"/>
                <a:cs typeface="+mn-cs"/>
              </a:rPr>
              <a:t>These materials are provided by SAP SE or an SAP affiliate company for informational purposes only, without representation or warranty of any kind, and SAP or its affiliated companies shall not be liable for errors or omissions with respect to the materials. The only warranties for SAP or SAP affiliate company products and services are those that are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set forth in the express warranty statements accompanying such products and services, if any. Nothing herein should be construed as constituting an additional warranty. </a:t>
            </a:r>
          </a:p>
          <a:p>
            <a:pPr>
              <a:spcBef>
                <a:spcPts val="1200"/>
              </a:spcBef>
            </a:pPr>
            <a:r>
              <a:rPr lang="en-US" sz="1100" kern="1200" dirty="0">
                <a:solidFill>
                  <a:schemeClr val="tx1"/>
                </a:solidFill>
                <a:latin typeface="Arial"/>
                <a:ea typeface="Arial Unicode MS" panose="020B0604020202020204" pitchFamily="34" charset="-128"/>
                <a:cs typeface="+mn-cs"/>
              </a:rPr>
              <a:t>In particular, SAP SE or its affiliated companies have no obligation to pursue any course of business outlined in this document or any related presentation, or to develop or release any functionality mentioned therein. This document, or any related presentation, and SAP SE’s or its affiliated companies’ strategy and possible future developments, products, and/or platform directions and functionality are all subject to change and may be changed by SAP SE or its affiliated companies at any time for any reason without notice. The information in this document is not a commitment, promise, or legal obligation to deliver any material, code, or functionality. All forward-looking statements are subject to various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risks and uncertainties that could cause actual results to differ materially from expectations. Readers are cautioned not to place undue reliance on these forward-looking statements, and they should not be relied upon in making purchasing decisions.</a:t>
            </a:r>
          </a:p>
          <a:p>
            <a:pPr>
              <a:spcBef>
                <a:spcPts val="1200"/>
              </a:spcBef>
            </a:pPr>
            <a:r>
              <a:rPr lang="en-US" sz="1100" kern="1200" dirty="0">
                <a:solidFill>
                  <a:schemeClr val="tx1"/>
                </a:solidFill>
                <a:latin typeface="Arial"/>
                <a:ea typeface="Arial Unicode MS" panose="020B0604020202020204" pitchFamily="34" charset="-128"/>
                <a:cs typeface="+mn-cs"/>
              </a:rPr>
              <a:t>SAP and other SAP products and services mentioned herein as well as their respective logos are trademarks or registered trademarks of SAP SE (or an SAP affiliate company)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in Germany and other countries. All other product and service names mentioned are the trademarks of their respective companies.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See </a:t>
            </a:r>
            <a:r>
              <a:rPr lang="en-US" sz="1100" kern="1200" dirty="0">
                <a:solidFill>
                  <a:schemeClr val="tx2"/>
                </a:solidFill>
                <a:latin typeface="Arial"/>
                <a:ea typeface="Arial Unicode MS" panose="020B0604020202020204" pitchFamily="34" charset="-128"/>
                <a:cs typeface="+mn-cs"/>
                <a:hlinkClick r:id="rId2"/>
              </a:rPr>
              <a:t>http://global.sap.com/corporate-en/legal/copyright/index.epx</a:t>
            </a:r>
            <a:r>
              <a:rPr lang="en-US" sz="1100" kern="1200" dirty="0">
                <a:solidFill>
                  <a:schemeClr val="tx2"/>
                </a:solidFill>
                <a:latin typeface="Arial"/>
                <a:ea typeface="Arial Unicode MS" panose="020B0604020202020204" pitchFamily="34" charset="-128"/>
                <a:cs typeface="+mn-cs"/>
              </a:rPr>
              <a:t> </a:t>
            </a:r>
            <a:r>
              <a:rPr lang="en-US" sz="1100" kern="1200" dirty="0">
                <a:solidFill>
                  <a:schemeClr val="tx1"/>
                </a:solidFill>
                <a:latin typeface="Arial"/>
                <a:ea typeface="Arial Unicode MS" panose="020B0604020202020204" pitchFamily="34" charset="-128"/>
                <a:cs typeface="+mn-cs"/>
              </a:rPr>
              <a:t>for additional trademark information and notices.</a:t>
            </a:r>
          </a:p>
        </p:txBody>
      </p:sp>
      <p:sp>
        <p:nvSpPr>
          <p:cNvPr id="5" name="TextBox 4"/>
          <p:cNvSpPr txBox="1"/>
          <p:nvPr userDrawn="1"/>
        </p:nvSpPr>
        <p:spPr bwMode="gray">
          <a:xfrm>
            <a:off x="504000" y="719834"/>
            <a:ext cx="9540674"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or an SAP affiliate company. All rights reserved.</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4519251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pyright german">
    <p:spTree>
      <p:nvGrpSpPr>
        <p:cNvPr id="1" name=""/>
        <p:cNvGrpSpPr/>
        <p:nvPr/>
      </p:nvGrpSpPr>
      <p:grpSpPr>
        <a:xfrm>
          <a:off x="0" y="0"/>
          <a:ext cx="0" cy="0"/>
          <a:chOff x="0" y="0"/>
          <a:chExt cx="0" cy="0"/>
        </a:xfrm>
      </p:grpSpPr>
      <p:sp>
        <p:nvSpPr>
          <p:cNvPr id="4" name="TextBox 3"/>
          <p:cNvSpPr txBox="1"/>
          <p:nvPr userDrawn="1"/>
        </p:nvSpPr>
        <p:spPr bwMode="gray">
          <a:xfrm>
            <a:off x="504000" y="1620000"/>
            <a:ext cx="11185200" cy="3830931"/>
          </a:xfrm>
          <a:prstGeom prst="rect">
            <a:avLst/>
          </a:prstGeom>
          <a:noFill/>
        </p:spPr>
        <p:txBody>
          <a:bodyPr wrap="square" lIns="0" tIns="0" rIns="0" bIns="0" rtlCol="0">
            <a:spAutoFit/>
          </a:bodyPr>
          <a:lstStyle/>
          <a:p>
            <a:pPr>
              <a:spcBef>
                <a:spcPts val="1200"/>
              </a:spcBef>
            </a:pPr>
            <a:r>
              <a:rPr lang="en-US" sz="1100" kern="1200" noProof="0" dirty="0" err="1">
                <a:solidFill>
                  <a:schemeClr val="tx1"/>
                </a:solidFill>
                <a:effectLst/>
                <a:latin typeface="Arial"/>
                <a:ea typeface="+mn-ea"/>
                <a:cs typeface="+mn-cs"/>
              </a:rPr>
              <a:t>Weitergabe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Vervielfältigung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Teilen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daraus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welchem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Zweck</a:t>
            </a:r>
            <a:r>
              <a:rPr lang="en-US" sz="1100" kern="1200" noProof="0" dirty="0">
                <a:solidFill>
                  <a:schemeClr val="tx1"/>
                </a:solidFill>
                <a:effectLst/>
                <a:latin typeface="Arial"/>
                <a:ea typeface="+mn-ea"/>
                <a:cs typeface="+mn-cs"/>
              </a:rPr>
              <a:t> und in </a:t>
            </a:r>
            <a:r>
              <a:rPr lang="en-US" sz="1100" kern="1200" noProof="0" dirty="0" err="1">
                <a:solidFill>
                  <a:schemeClr val="tx1"/>
                </a:solidFill>
                <a:effectLst/>
                <a:latin typeface="Arial"/>
                <a:ea typeface="+mn-ea"/>
                <a:cs typeface="+mn-cs"/>
              </a:rPr>
              <a:t>welcher</a:t>
            </a:r>
            <a:r>
              <a:rPr lang="en-US" sz="1100" kern="1200" noProof="0" dirty="0">
                <a:solidFill>
                  <a:schemeClr val="tx1"/>
                </a:solidFill>
                <a:effectLst/>
                <a:latin typeface="Arial"/>
                <a:ea typeface="+mn-ea"/>
                <a:cs typeface="+mn-cs"/>
              </a:rPr>
              <a:t> Form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immer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ausdrückliche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schriftliche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Genehmigung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gestattet</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vorherige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Ankündigung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von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Vertriebsfirmen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angebotenen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Softwarekomponenten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Softwarehersteller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länderspezifische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aufweisen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Die </a:t>
            </a:r>
            <a:r>
              <a:rPr lang="en-US" sz="1100" kern="1200" noProof="0" dirty="0" err="1">
                <a:solidFill>
                  <a:schemeClr val="tx1"/>
                </a:solidFill>
                <a:effectLst/>
                <a:latin typeface="Arial"/>
                <a:ea typeface="+mn-ea"/>
                <a:cs typeface="+mn-cs"/>
              </a:rPr>
              <a:t>vorliegenden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bereitgestellt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ausschließlich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Informationszwecken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keinerlei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Haftung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Gewährleistung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Fehler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Unvollständigkeiten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lediglich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nach</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Maßgabe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die in der </a:t>
            </a:r>
            <a:r>
              <a:rPr lang="en-US" sz="1100" kern="1200" noProof="0" dirty="0" err="1">
                <a:solidFill>
                  <a:schemeClr val="tx1"/>
                </a:solidFill>
                <a:effectLst/>
                <a:latin typeface="Arial"/>
                <a:ea typeface="+mn-ea"/>
                <a:cs typeface="+mn-cs"/>
              </a:rPr>
              <a:t>Vereinbarung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ausdrücklich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geregelt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Garantie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interpretieren</a:t>
            </a:r>
            <a:r>
              <a:rPr lang="en-US" sz="1100" kern="1200" noProof="0" dirty="0">
                <a:solidFill>
                  <a:schemeClr val="tx1"/>
                </a:solidFill>
                <a:effectLst/>
                <a:latin typeface="Arial"/>
                <a:ea typeface="+mn-ea"/>
                <a:cs typeface="+mn-cs"/>
              </a:rPr>
              <a:t>. </a:t>
            </a:r>
          </a:p>
          <a:p>
            <a:pPr>
              <a:spcBef>
                <a:spcPts val="1200"/>
              </a:spcBef>
            </a:pPr>
            <a:r>
              <a:rPr lang="en-US" sz="1100" kern="1200" noProof="0" dirty="0" err="1">
                <a:solidFill>
                  <a:schemeClr val="tx1"/>
                </a:solidFill>
                <a:effectLst/>
                <a:latin typeface="Arial"/>
                <a:ea typeface="+mn-ea"/>
                <a:cs typeface="+mn-cs"/>
              </a:rPr>
              <a:t>Insbesondere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keiner</a:t>
            </a:r>
            <a:r>
              <a:rPr lang="en-US" sz="1100" kern="1200" noProof="0" dirty="0">
                <a:solidFill>
                  <a:schemeClr val="tx1"/>
                </a:solidFill>
                <a:effectLst/>
                <a:latin typeface="Arial"/>
                <a:ea typeface="+mn-ea"/>
                <a:cs typeface="+mn-cs"/>
              </a:rPr>
              <a:t> Weise </a:t>
            </a:r>
            <a:r>
              <a:rPr lang="en-US" sz="1100" kern="1200" noProof="0" dirty="0" err="1">
                <a:solidFill>
                  <a:schemeClr val="tx1"/>
                </a:solidFill>
                <a:effectLst/>
                <a:latin typeface="Arial"/>
                <a:ea typeface="+mn-ea"/>
                <a:cs typeface="+mn-cs"/>
              </a:rPr>
              <a:t>verpflichtet</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dargestellte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Geschäftsabläufe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verfolgen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wiedergegebene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entwickeln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veröffentlichen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Strategie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etwaige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künftige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Entwicklungen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Plattformen</a:t>
            </a:r>
            <a:r>
              <a:rPr lang="en-US" sz="1100" kern="1200" noProof="0" dirty="0">
                <a:solidFill>
                  <a:schemeClr val="tx1"/>
                </a:solidFill>
                <a:effectLst/>
                <a:latin typeface="Arial"/>
                <a:ea typeface="+mn-ea"/>
                <a:cs typeface="+mn-cs"/>
              </a:rPr>
              <a:t>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jederzeit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Angabe</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Gründen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unangekündigt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stellen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Zusage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Versprechen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rechtliche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Verpflichtung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Lieferung</a:t>
            </a:r>
            <a:r>
              <a:rPr lang="en-US" sz="1100" kern="1200" noProof="0" dirty="0">
                <a:solidFill>
                  <a:schemeClr val="tx1"/>
                </a:solidFill>
                <a:effectLst/>
                <a:latin typeface="Arial"/>
                <a:ea typeface="+mn-ea"/>
                <a:cs typeface="+mn-cs"/>
              </a:rPr>
              <a:t> von Material, Code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Sämtliche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unterliegen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Risiken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Unsicherheiten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tatsächlichen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Ergebnisse</a:t>
            </a:r>
            <a:r>
              <a:rPr lang="en-US" sz="1100" kern="1200" noProof="0" dirty="0">
                <a:solidFill>
                  <a:schemeClr val="tx1"/>
                </a:solidFill>
                <a:effectLst/>
                <a:latin typeface="Arial"/>
                <a:ea typeface="+mn-ea"/>
                <a:cs typeface="+mn-cs"/>
              </a:rPr>
              <a:t> von den </a:t>
            </a:r>
            <a:r>
              <a:rPr lang="en-US" sz="1100" kern="1200" noProof="0" dirty="0" err="1">
                <a:solidFill>
                  <a:schemeClr val="tx1"/>
                </a:solidFill>
                <a:effectLst/>
                <a:latin typeface="Arial"/>
                <a:ea typeface="+mn-ea"/>
                <a:cs typeface="+mn-cs"/>
              </a:rPr>
              <a:t>Erwartungen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abweichen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Dem </a:t>
            </a:r>
            <a:r>
              <a:rPr lang="en-US" sz="1100" kern="1200" noProof="0" dirty="0" err="1">
                <a:solidFill>
                  <a:schemeClr val="tx1"/>
                </a:solidFill>
                <a:effectLst/>
                <a:latin typeface="Arial"/>
                <a:ea typeface="+mn-ea"/>
                <a:cs typeface="+mn-cs"/>
              </a:rPr>
              <a:t>Leser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wird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empfohlen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übertriebenes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Vertrauen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schenken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sich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Kaufentscheidungen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auf </a:t>
            </a:r>
            <a:r>
              <a:rPr lang="en-US" sz="1100" kern="1200" noProof="0" dirty="0" err="1">
                <a:solidFill>
                  <a:schemeClr val="tx1"/>
                </a:solidFill>
                <a:effectLst/>
                <a:latin typeface="Arial"/>
                <a:ea typeface="+mn-ea"/>
                <a:cs typeface="+mn-cs"/>
              </a:rPr>
              <a:t>sie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stützen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SAP und </a:t>
            </a:r>
            <a:r>
              <a:rPr lang="en-US" sz="1100" kern="1200" noProof="0" dirty="0" err="1">
                <a:solidFill>
                  <a:schemeClr val="tx1"/>
                </a:solidFill>
                <a:effectLst/>
                <a:latin typeface="Arial"/>
                <a:ea typeface="+mn-ea"/>
                <a:cs typeface="+mn-cs"/>
              </a:rPr>
              <a:t>andere</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Dokument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erwähnte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von SAP </a:t>
            </a:r>
            <a:r>
              <a:rPr lang="en-US" sz="1100" kern="1200" noProof="0" dirty="0" err="1">
                <a:solidFill>
                  <a:schemeClr val="tx1"/>
                </a:solidFill>
                <a:effectLst/>
                <a:latin typeface="Arial"/>
                <a:ea typeface="+mn-ea"/>
                <a:cs typeface="+mn-cs"/>
              </a:rPr>
              <a:t>sowie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dazugehörigen</a:t>
            </a:r>
            <a:r>
              <a:rPr lang="en-US" sz="1100" kern="1200" noProof="0" dirty="0">
                <a:solidFill>
                  <a:schemeClr val="tx1"/>
                </a:solidFill>
                <a:effectLst/>
                <a:latin typeface="Arial"/>
                <a:ea typeface="+mn-ea"/>
                <a:cs typeface="+mn-cs"/>
              </a:rPr>
              <a:t> Logos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eingetragene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SAP SE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Deutschland und </a:t>
            </a:r>
            <a:r>
              <a:rPr lang="en-US" sz="1100" kern="1200" noProof="0" dirty="0" err="1">
                <a:solidFill>
                  <a:schemeClr val="tx1"/>
                </a:solidFill>
                <a:effectLst/>
                <a:latin typeface="Arial"/>
                <a:ea typeface="+mn-ea"/>
                <a:cs typeface="+mn-cs"/>
              </a:rPr>
              <a:t>verschiedenen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weltweit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Alle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Namen</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Produkten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Firmen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Vermerke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finden</a:t>
            </a:r>
            <a:r>
              <a:rPr lang="en-US" sz="1100" kern="1200" noProof="0" dirty="0">
                <a:solidFill>
                  <a:schemeClr val="tx1"/>
                </a:solidFill>
                <a:effectLst/>
                <a:latin typeface="Arial"/>
                <a:ea typeface="+mn-ea"/>
                <a:cs typeface="+mn-cs"/>
              </a:rPr>
              <a:t> Sie auf der </a:t>
            </a:r>
            <a:r>
              <a:rPr lang="en-US" sz="1100" kern="1200" noProof="0" dirty="0" err="1">
                <a:solidFill>
                  <a:schemeClr val="tx1"/>
                </a:solidFill>
                <a:effectLst/>
                <a:latin typeface="Arial"/>
                <a:ea typeface="+mn-ea"/>
                <a:cs typeface="+mn-cs"/>
              </a:rPr>
              <a:t>Seite</a:t>
            </a:r>
            <a:r>
              <a:rPr lang="en-US" sz="1100" kern="1200" noProof="0" dirty="0">
                <a:solidFill>
                  <a:schemeClr val="tx1"/>
                </a:solidFill>
                <a:effectLst/>
                <a:latin typeface="Arial"/>
                <a:ea typeface="+mn-ea"/>
                <a:cs typeface="+mn-cs"/>
              </a:rPr>
              <a:t> </a:t>
            </a:r>
            <a:r>
              <a:rPr lang="en-US" sz="1100" kern="1200" noProof="0" dirty="0">
                <a:solidFill>
                  <a:schemeClr val="tx1"/>
                </a:solidFill>
                <a:effectLst/>
                <a:latin typeface="Arial"/>
                <a:ea typeface="+mn-ea"/>
                <a:cs typeface="+mn-cs"/>
                <a:hlinkClick r:id="rId2"/>
              </a:rPr>
              <a:t>http://www.sap.com/corporate-de/legal/copyright/index.epx</a:t>
            </a:r>
            <a:endParaRPr lang="en-US" sz="1100" kern="1200" noProof="0" dirty="0">
              <a:solidFill>
                <a:schemeClr val="tx1"/>
              </a:solidFill>
              <a:effectLst/>
              <a:latin typeface="Arial"/>
              <a:ea typeface="+mn-ea"/>
              <a:cs typeface="+mn-cs"/>
            </a:endParaRPr>
          </a:p>
        </p:txBody>
      </p:sp>
      <p:sp>
        <p:nvSpPr>
          <p:cNvPr id="5" name="TextBox 4"/>
          <p:cNvSpPr txBox="1"/>
          <p:nvPr userDrawn="1"/>
        </p:nvSpPr>
        <p:spPr bwMode="gray">
          <a:xfrm>
            <a:off x="504000" y="719834"/>
            <a:ext cx="11185200"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a:t>
            </a:r>
            <a:r>
              <a:rPr lang="en-US" sz="2400" b="0" noProof="0" dirty="0" err="1"/>
              <a:t>oder</a:t>
            </a:r>
            <a:r>
              <a:rPr lang="en-US" sz="2400" b="0" noProof="0" dirty="0"/>
              <a:t> </a:t>
            </a:r>
            <a:r>
              <a:rPr lang="en-US" sz="2400" b="0" noProof="0" dirty="0" err="1"/>
              <a:t>ein</a:t>
            </a:r>
            <a:r>
              <a:rPr lang="en-US" sz="2400" b="0" noProof="0" dirty="0"/>
              <a:t> SAP-</a:t>
            </a:r>
            <a:r>
              <a:rPr lang="en-US" sz="2400" b="0" noProof="0" dirty="0" err="1"/>
              <a:t>Konzernunternehmen</a:t>
            </a:r>
            <a:r>
              <a:rPr lang="en-US" sz="2400" b="0" noProof="0" dirty="0"/>
              <a:t>. </a:t>
            </a:r>
            <a:r>
              <a:rPr lang="en-US" sz="2400" b="0" noProof="0" dirty="0" err="1"/>
              <a:t>Alle</a:t>
            </a:r>
            <a:r>
              <a:rPr lang="en-US" sz="2400" b="0" noProof="0" dirty="0"/>
              <a:t> </a:t>
            </a:r>
            <a:r>
              <a:rPr lang="en-US" sz="2400" b="0" noProof="0" dirty="0" err="1"/>
              <a:t>Rechte</a:t>
            </a:r>
            <a:r>
              <a:rPr lang="en-US" sz="2400" b="0" noProof="0" dirty="0"/>
              <a:t> </a:t>
            </a:r>
            <a:r>
              <a:rPr lang="en-US" sz="2400" b="0" noProof="0" dirty="0" err="1"/>
              <a:t>vorbehalten</a:t>
            </a:r>
            <a:r>
              <a:rPr lang="en-US" sz="2400" b="0" noProof="0" dirty="0"/>
              <a:t>.</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19118627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34" name="Slide number"/>
          <p:cNvSpPr txBox="1"/>
          <p:nvPr userDrawn="1"/>
        </p:nvSpPr>
        <p:spPr bwMode="black">
          <a:xfrm>
            <a:off x="11549413" y="6536751"/>
            <a:ext cx="141064"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noProof="0" smtClean="0"/>
              <a:pPr marL="0" lvl="0" indent="0" algn="r">
                <a:buNone/>
              </a:pPr>
              <a:t>‹Nr.›</a:t>
            </a:fld>
            <a:endParaRPr lang="en-US" sz="900" noProof="0" dirty="0"/>
          </a:p>
        </p:txBody>
      </p:sp>
      <p:sp>
        <p:nvSpPr>
          <p:cNvPr id="11" name="Classification"/>
          <p:cNvSpPr txBox="1"/>
          <p:nvPr userDrawn="1"/>
        </p:nvSpPr>
        <p:spPr bwMode="black">
          <a:xfrm>
            <a:off x="2814655" y="6559834"/>
            <a:ext cx="381515" cy="92333"/>
          </a:xfrm>
          <a:prstGeom prst="rect">
            <a:avLst/>
          </a:prstGeom>
          <a:noFill/>
        </p:spPr>
        <p:txBody>
          <a:bodyPr wrap="none" lIns="0" tIns="0" rIns="0" bIns="0" rtlCol="0">
            <a:spAutoFit/>
          </a:bodyPr>
          <a:lstStyle/>
          <a:p>
            <a:pPr marL="0" marR="0" indent="0" algn="l" defTabSz="1088558" rtl="0" eaLnBrk="1" fontAlgn="auto" latinLnBrk="0" hangingPunct="1">
              <a:lnSpc>
                <a:spcPct val="100000"/>
              </a:lnSpc>
              <a:spcBef>
                <a:spcPts val="0"/>
              </a:spcBef>
              <a:spcAft>
                <a:spcPts val="0"/>
              </a:spcAft>
              <a:buClr>
                <a:schemeClr val="tx1"/>
              </a:buClr>
              <a:buSzTx/>
              <a:buFont typeface="Arial" pitchFamily="34" charset="0"/>
              <a:buNone/>
              <a:tabLst/>
              <a:defRPr/>
            </a:pPr>
            <a:r>
              <a:rPr kumimoji="0" lang="en-US" sz="600" b="0" i="0" u="none" kern="0" baseline="0">
                <a:solidFill>
                  <a:schemeClr val="tx1"/>
                </a:solidFill>
                <a:latin typeface="Arial"/>
                <a:ea typeface="Arial Unicode MS"/>
                <a:cs typeface="Arial Unicode MS" pitchFamily="34" charset="-128"/>
                <a:sym typeface="Arial"/>
              </a:rPr>
              <a:t>INTERNAL</a:t>
            </a:r>
            <a:endParaRPr kumimoji="0" lang="en-US" sz="600" b="0" i="0" u="none" kern="0" baseline="0" dirty="0">
              <a:solidFill>
                <a:schemeClr val="tx1"/>
              </a:solidFill>
              <a:latin typeface="Arial"/>
              <a:ea typeface="Arial Unicode MS"/>
              <a:cs typeface="Arial Unicode MS" pitchFamily="34" charset="-128"/>
              <a:sym typeface="Arial"/>
            </a:endParaRPr>
          </a:p>
        </p:txBody>
      </p:sp>
      <p:sp>
        <p:nvSpPr>
          <p:cNvPr id="10" name="Copyright"/>
          <p:cNvSpPr txBox="1"/>
          <p:nvPr userDrawn="1"/>
        </p:nvSpPr>
        <p:spPr bwMode="black">
          <a:xfrm>
            <a:off x="504001" y="6559834"/>
            <a:ext cx="2269679" cy="92333"/>
          </a:xfrm>
          <a:prstGeom prst="rect">
            <a:avLst/>
          </a:prstGeom>
          <a:noFill/>
        </p:spPr>
        <p:txBody>
          <a:bodyPr wrap="square" lIns="0" tIns="0" rIns="0" bIns="0" rtlCol="0">
            <a:spAutoFit/>
          </a:bodyPr>
          <a:lstStyle/>
          <a:p>
            <a:pPr marL="84121" marR="0" indent="-84121" algn="l" defTabSz="1088558"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dirty="0">
                <a:solidFill>
                  <a:schemeClr val="tx1"/>
                </a:solidFill>
              </a:rPr>
              <a:t>2017 SAP SE or an SAP affiliate company. All rights reserved.  </a:t>
            </a:r>
            <a:r>
              <a:rPr kumimoji="0" lang="en-US" sz="600" b="0" i="0" u="none" kern="0" baseline="0" dirty="0">
                <a:solidFill>
                  <a:schemeClr val="tx1"/>
                </a:solidFill>
                <a:latin typeface="Arial"/>
                <a:ea typeface="Arial Unicode MS"/>
                <a:cs typeface="Arial Unicode MS" pitchFamily="34" charset="-128"/>
                <a:sym typeface="Arial"/>
              </a:rPr>
              <a:t>ǀ</a:t>
            </a:r>
          </a:p>
        </p:txBody>
      </p:sp>
      <p:sp>
        <p:nvSpPr>
          <p:cNvPr id="3" name="Text Placeholder 2"/>
          <p:cNvSpPr>
            <a:spLocks noGrp="1"/>
          </p:cNvSpPr>
          <p:nvPr userDrawn="1">
            <p:ph type="body" idx="1"/>
          </p:nvPr>
        </p:nvSpPr>
        <p:spPr bwMode="gray">
          <a:xfrm>
            <a:off x="504001" y="1620000"/>
            <a:ext cx="11186476" cy="4230235"/>
          </a:xfrm>
          <a:prstGeom prst="rect">
            <a:avLst/>
          </a:prstGeom>
        </p:spPr>
        <p:txBody>
          <a:bodyPr vert="horz" lIns="0" tIns="0" rIns="0" bIns="0" rtlCol="0">
            <a:noAutofit/>
          </a:bodyPr>
          <a:lstStyle/>
          <a:p>
            <a:pPr lvl="0"/>
            <a:r>
              <a:rPr lang="en-US" noProof="0" dirty="0"/>
              <a:t>First level</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2" name="Title Placeholder 1"/>
          <p:cNvSpPr>
            <a:spLocks noGrp="1"/>
          </p:cNvSpPr>
          <p:nvPr userDrawn="1">
            <p:ph type="title"/>
          </p:nvPr>
        </p:nvSpPr>
        <p:spPr bwMode="gray">
          <a:xfrm>
            <a:off x="504001" y="504000"/>
            <a:ext cx="11186476" cy="369332"/>
          </a:xfrm>
          <a:prstGeom prst="rect">
            <a:avLst/>
          </a:prstGeom>
        </p:spPr>
        <p:txBody>
          <a:bodyPr vert="horz" wrap="square" lIns="0" tIns="0" rIns="0" bIns="0" rtlCol="0" anchor="t" anchorCtr="0">
            <a:spAutoFit/>
          </a:bodyPr>
          <a:lstStyle/>
          <a:p>
            <a:r>
              <a:rPr lang="en-US" noProof="0" dirty="0"/>
              <a:t>Insert page title (sentence case)</a:t>
            </a:r>
          </a:p>
        </p:txBody>
      </p:sp>
      <p:grpSp>
        <p:nvGrpSpPr>
          <p:cNvPr id="9" name="Secondary Motion Band"/>
          <p:cNvGrpSpPr/>
          <p:nvPr userDrawn="1"/>
        </p:nvGrpSpPr>
        <p:grpSpPr>
          <a:xfrm>
            <a:off x="10682127" y="0"/>
            <a:ext cx="1513048" cy="251942"/>
            <a:chOff x="10682127" y="0"/>
            <a:chExt cx="1513048" cy="252000"/>
          </a:xfrm>
        </p:grpSpPr>
        <p:sp>
          <p:nvSpPr>
            <p:cNvPr id="16" name="Rectangle 1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Rectangle 1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3408294523"/>
      </p:ext>
    </p:extLst>
  </p:cSld>
  <p:clrMap bg1="lt1" tx1="dk1" bg2="lt2" tx2="dk2" accent1="accent1" accent2="accent2" accent3="accent3" accent4="accent4" accent5="accent5" accent6="accent6" hlink="hlink" folHlink="folHlink"/>
  <p:sldLayoutIdLst>
    <p:sldLayoutId id="2147483772" r:id="rId1"/>
    <p:sldLayoutId id="2147483776" r:id="rId2"/>
    <p:sldLayoutId id="2147483773" r:id="rId3"/>
    <p:sldLayoutId id="2147483775" r:id="rId4"/>
    <p:sldLayoutId id="2147483741" r:id="rId5"/>
    <p:sldLayoutId id="2147483765" r:id="rId6"/>
    <p:sldLayoutId id="2147483767" r:id="rId7"/>
    <p:sldLayoutId id="2147483743" r:id="rId8"/>
    <p:sldLayoutId id="2147483774" r:id="rId9"/>
    <p:sldLayoutId id="2147483745" r:id="rId10"/>
    <p:sldLayoutId id="2147483760" r:id="rId11"/>
    <p:sldLayoutId id="2147483768" r:id="rId12"/>
    <p:sldLayoutId id="2147483769" r:id="rId13"/>
    <p:sldLayoutId id="2147483770" r:id="rId14"/>
    <p:sldLayoutId id="2147483744" r:id="rId15"/>
    <p:sldLayoutId id="2147483757" r:id="rId16"/>
    <p:sldLayoutId id="2147483748" r:id="rId17"/>
    <p:sldLayoutId id="2147483762" r:id="rId18"/>
    <p:sldLayoutId id="2147483771" r:id="rId19"/>
    <p:sldLayoutId id="2147483763" r:id="rId20"/>
    <p:sldLayoutId id="2147483751" r:id="rId21"/>
    <p:sldLayoutId id="2147483753" r:id="rId22"/>
    <p:sldLayoutId id="2147483756" r:id="rId23"/>
    <p:sldLayoutId id="2147483740" r:id="rId24"/>
    <p:sldLayoutId id="2147483754" r:id="rId25"/>
    <p:sldLayoutId id="2147483755" r:id="rId26"/>
  </p:sldLayoutIdLst>
  <p:hf hdr="0" ftr="0" dt="0"/>
  <p:txStyles>
    <p:titleStyle>
      <a:lvl1pPr algn="l" defTabSz="1088558" rtl="0" eaLnBrk="1" latinLnBrk="0" hangingPunct="1">
        <a:spcBef>
          <a:spcPct val="0"/>
        </a:spcBef>
        <a:buNone/>
        <a:defRPr sz="2400" b="1" kern="1200" baseline="0">
          <a:solidFill>
            <a:schemeClr val="tx1"/>
          </a:solidFill>
          <a:latin typeface="+mj-lt"/>
          <a:ea typeface="+mj-ea"/>
          <a:cs typeface="+mj-cs"/>
        </a:defRPr>
      </a:lvl1pPr>
    </p:titleStyle>
    <p:body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de-DE"/>
      </a:defPPr>
      <a:lvl1pPr marL="0" algn="l" defTabSz="1088558" rtl="0" eaLnBrk="1" latinLnBrk="0" hangingPunct="1">
        <a:defRPr sz="2100" kern="1200">
          <a:solidFill>
            <a:schemeClr val="tx1"/>
          </a:solidFill>
          <a:latin typeface="+mn-lt"/>
          <a:ea typeface="+mn-ea"/>
          <a:cs typeface="+mn-cs"/>
        </a:defRPr>
      </a:lvl1pPr>
      <a:lvl2pPr marL="544279" algn="l" defTabSz="1088558" rtl="0" eaLnBrk="1" latinLnBrk="0" hangingPunct="1">
        <a:defRPr sz="2100" kern="1200">
          <a:solidFill>
            <a:schemeClr val="tx1"/>
          </a:solidFill>
          <a:latin typeface="+mn-lt"/>
          <a:ea typeface="+mn-ea"/>
          <a:cs typeface="+mn-cs"/>
        </a:defRPr>
      </a:lvl2pPr>
      <a:lvl3pPr marL="1088558" algn="l" defTabSz="1088558" rtl="0" eaLnBrk="1" latinLnBrk="0" hangingPunct="1">
        <a:defRPr sz="2100" kern="1200">
          <a:solidFill>
            <a:schemeClr val="tx1"/>
          </a:solidFill>
          <a:latin typeface="+mn-lt"/>
          <a:ea typeface="+mn-ea"/>
          <a:cs typeface="+mn-cs"/>
        </a:defRPr>
      </a:lvl3pPr>
      <a:lvl4pPr marL="1632837" algn="l" defTabSz="1088558" rtl="0" eaLnBrk="1" latinLnBrk="0" hangingPunct="1">
        <a:defRPr sz="2100" kern="1200">
          <a:solidFill>
            <a:schemeClr val="tx1"/>
          </a:solidFill>
          <a:latin typeface="+mn-lt"/>
          <a:ea typeface="+mn-ea"/>
          <a:cs typeface="+mn-cs"/>
        </a:defRPr>
      </a:lvl4pPr>
      <a:lvl5pPr marL="2177116" algn="l" defTabSz="1088558" rtl="0" eaLnBrk="1" latinLnBrk="0" hangingPunct="1">
        <a:defRPr sz="2100" kern="1200">
          <a:solidFill>
            <a:schemeClr val="tx1"/>
          </a:solidFill>
          <a:latin typeface="+mn-lt"/>
          <a:ea typeface="+mn-ea"/>
          <a:cs typeface="+mn-cs"/>
        </a:defRPr>
      </a:lvl5pPr>
      <a:lvl6pPr marL="2721396" algn="l" defTabSz="1088558" rtl="0" eaLnBrk="1" latinLnBrk="0" hangingPunct="1">
        <a:defRPr sz="2100" kern="1200">
          <a:solidFill>
            <a:schemeClr val="tx1"/>
          </a:solidFill>
          <a:latin typeface="+mn-lt"/>
          <a:ea typeface="+mn-ea"/>
          <a:cs typeface="+mn-cs"/>
        </a:defRPr>
      </a:lvl6pPr>
      <a:lvl7pPr marL="3265675" algn="l" defTabSz="1088558" rtl="0" eaLnBrk="1" latinLnBrk="0" hangingPunct="1">
        <a:defRPr sz="2100" kern="1200">
          <a:solidFill>
            <a:schemeClr val="tx1"/>
          </a:solidFill>
          <a:latin typeface="+mn-lt"/>
          <a:ea typeface="+mn-ea"/>
          <a:cs typeface="+mn-cs"/>
        </a:defRPr>
      </a:lvl7pPr>
      <a:lvl8pPr marL="3809954" algn="l" defTabSz="1088558" rtl="0" eaLnBrk="1" latinLnBrk="0" hangingPunct="1">
        <a:defRPr sz="2100" kern="1200">
          <a:solidFill>
            <a:schemeClr val="tx1"/>
          </a:solidFill>
          <a:latin typeface="+mn-lt"/>
          <a:ea typeface="+mn-ea"/>
          <a:cs typeface="+mn-cs"/>
        </a:defRPr>
      </a:lvl8pPr>
      <a:lvl9pPr marL="4354233" algn="l" defTabSz="1088558" rtl="0" eaLnBrk="1" latinLnBrk="0" hangingPunct="1">
        <a:defRPr sz="21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8.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slides/_rels/slide3.xml.rels><?xml version="1.0" encoding="UTF-8" standalone="yes"?>
<Relationships xmlns="http://schemas.openxmlformats.org/package/2006/relationships"><Relationship Id="rId8" Type="http://schemas.openxmlformats.org/officeDocument/2006/relationships/image" Target="../media/image13.svg"/><Relationship Id="rId13" Type="http://schemas.openxmlformats.org/officeDocument/2006/relationships/image" Target="../media/image18.png"/><Relationship Id="rId3" Type="http://schemas.openxmlformats.org/officeDocument/2006/relationships/image" Target="../media/image8.png"/><Relationship Id="rId7" Type="http://schemas.openxmlformats.org/officeDocument/2006/relationships/image" Target="../media/image12.png"/><Relationship Id="rId12" Type="http://schemas.openxmlformats.org/officeDocument/2006/relationships/image" Target="../media/image17.svg"/><Relationship Id="rId2" Type="http://schemas.openxmlformats.org/officeDocument/2006/relationships/notesSlide" Target="../notesSlides/notesSlide3.xml"/><Relationship Id="rId16" Type="http://schemas.openxmlformats.org/officeDocument/2006/relationships/image" Target="../media/image21.svg"/><Relationship Id="rId1" Type="http://schemas.openxmlformats.org/officeDocument/2006/relationships/slideLayout" Target="../slideLayouts/slideLayout8.xml"/><Relationship Id="rId6" Type="http://schemas.openxmlformats.org/officeDocument/2006/relationships/image" Target="../media/image11.svg"/><Relationship Id="rId11" Type="http://schemas.openxmlformats.org/officeDocument/2006/relationships/image" Target="../media/image16.png"/><Relationship Id="rId5" Type="http://schemas.openxmlformats.org/officeDocument/2006/relationships/image" Target="../media/image10.png"/><Relationship Id="rId15" Type="http://schemas.openxmlformats.org/officeDocument/2006/relationships/image" Target="../media/image20.png"/><Relationship Id="rId10" Type="http://schemas.openxmlformats.org/officeDocument/2006/relationships/image" Target="../media/image15.svg"/><Relationship Id="rId4" Type="http://schemas.openxmlformats.org/officeDocument/2006/relationships/image" Target="../media/image9.svg"/><Relationship Id="rId9" Type="http://schemas.openxmlformats.org/officeDocument/2006/relationships/image" Target="../media/image14.png"/><Relationship Id="rId14" Type="http://schemas.openxmlformats.org/officeDocument/2006/relationships/image" Target="../media/image19.svg"/></Relationships>
</file>

<file path=ppt/slides/_rels/slide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xml"/><Relationship Id="rId1" Type="http://schemas.openxmlformats.org/officeDocument/2006/relationships/slideLayout" Target="../slideLayouts/slideLayout8.xml"/><Relationship Id="rId4" Type="http://schemas.openxmlformats.org/officeDocument/2006/relationships/image" Target="../media/image23.png"/></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kubernetes/kubernetes/issues/43783" TargetMode="External"/><Relationship Id="rId2" Type="http://schemas.openxmlformats.org/officeDocument/2006/relationships/notesSlide" Target="../notesSlides/notesSlide5.xml"/><Relationship Id="rId1" Type="http://schemas.openxmlformats.org/officeDocument/2006/relationships/slideLayout" Target="../slideLayouts/slideLayout8.xml"/><Relationship Id="rId4" Type="http://schemas.openxmlformats.org/officeDocument/2006/relationships/image" Target="../media/image24.png"/></Relationships>
</file>

<file path=ppt/slides/_rels/slide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10.xml"/><Relationship Id="rId4" Type="http://schemas.openxmlformats.org/officeDocument/2006/relationships/image" Target="../media/image27.svg"/></Relationships>
</file>

<file path=ppt/slides/_rels/slide9.xml.rels><?xml version="1.0" encoding="UTF-8" standalone="yes"?>
<Relationships xmlns="http://schemas.openxmlformats.org/package/2006/relationships"><Relationship Id="rId8" Type="http://schemas.openxmlformats.org/officeDocument/2006/relationships/image" Target="../media/image27.svg"/><Relationship Id="rId3" Type="http://schemas.openxmlformats.org/officeDocument/2006/relationships/image" Target="../media/image28.png"/><Relationship Id="rId7" Type="http://schemas.openxmlformats.org/officeDocument/2006/relationships/image" Target="../media/image26.png"/><Relationship Id="rId2" Type="http://schemas.openxmlformats.org/officeDocument/2006/relationships/notesSlide" Target="../notesSlides/notesSlide8.xml"/><Relationship Id="rId1" Type="http://schemas.openxmlformats.org/officeDocument/2006/relationships/slideLayout" Target="../slideLayouts/slideLayout10.xml"/><Relationship Id="rId6" Type="http://schemas.openxmlformats.org/officeDocument/2006/relationships/image" Target="../media/image31.svg"/><Relationship Id="rId5" Type="http://schemas.openxmlformats.org/officeDocument/2006/relationships/image" Target="../media/image30.png"/><Relationship Id="rId4" Type="http://schemas.openxmlformats.org/officeDocument/2006/relationships/image" Target="../media/image29.svg"/></Relationships>
</file>

<file path=ppt/slides/_rels/slide10.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notesSlide" Target="../notesSlides/notesSlide9.xml"/><Relationship Id="rId1" Type="http://schemas.openxmlformats.org/officeDocument/2006/relationships/slideLayout" Target="../slideLayouts/slideLayout10.xml"/><Relationship Id="rId6" Type="http://schemas.openxmlformats.org/officeDocument/2006/relationships/image" Target="../media/image31.svg"/><Relationship Id="rId5" Type="http://schemas.openxmlformats.org/officeDocument/2006/relationships/image" Target="../media/image30.png"/><Relationship Id="rId4" Type="http://schemas.openxmlformats.org/officeDocument/2006/relationships/image" Target="../media/image29.svg"/></Relationships>
</file>

<file path=ppt/slides/_rels/slide11.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notesSlide" Target="../notesSlides/notesSlide10.xml"/><Relationship Id="rId1" Type="http://schemas.openxmlformats.org/officeDocument/2006/relationships/slideLayout" Target="../slideLayouts/slideLayout10.xml"/><Relationship Id="rId6" Type="http://schemas.openxmlformats.org/officeDocument/2006/relationships/image" Target="../media/image31.svg"/><Relationship Id="rId5" Type="http://schemas.openxmlformats.org/officeDocument/2006/relationships/image" Target="../media/image30.png"/><Relationship Id="rId10" Type="http://schemas.openxmlformats.org/officeDocument/2006/relationships/image" Target="../media/image27.svg"/><Relationship Id="rId4" Type="http://schemas.openxmlformats.org/officeDocument/2006/relationships/image" Target="../media/image29.svg"/><Relationship Id="rId9" Type="http://schemas.openxmlformats.org/officeDocument/2006/relationships/image" Target="../media/image26.png"/></Relationships>
</file>

<file path=ppt/slides/_rels/slide1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xml"/><Relationship Id="rId1" Type="http://schemas.openxmlformats.org/officeDocument/2006/relationships/slideLayout" Target="../slideLayouts/slideLayout8.xml"/><Relationship Id="rId5" Type="http://schemas.openxmlformats.org/officeDocument/2006/relationships/image" Target="../media/image38.png"/><Relationship Id="rId4" Type="http://schemas.openxmlformats.org/officeDocument/2006/relationships/image" Target="../media/image3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4.xml"/><Relationship Id="rId1" Type="http://schemas.openxmlformats.org/officeDocument/2006/relationships/slideLayout" Target="../slideLayouts/slideLayout21.xml"/></Relationships>
</file>

<file path=ppt/slides/_rels/slide17.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5.xml"/><Relationship Id="rId1" Type="http://schemas.openxmlformats.org/officeDocument/2006/relationships/slideLayout" Target="../slideLayouts/slideLayout8.xml"/><Relationship Id="rId6" Type="http://schemas.openxmlformats.org/officeDocument/2006/relationships/image" Target="../media/image44.svg"/><Relationship Id="rId5" Type="http://schemas.openxmlformats.org/officeDocument/2006/relationships/image" Target="../media/image43.png"/><Relationship Id="rId4" Type="http://schemas.openxmlformats.org/officeDocument/2006/relationships/image" Target="../media/image42.svg"/></Relationships>
</file>

<file path=ppt/slides/_rels/slide1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6.xml"/><Relationship Id="rId1" Type="http://schemas.openxmlformats.org/officeDocument/2006/relationships/slideLayout" Target="../slideLayouts/slideLayout8.xml"/><Relationship Id="rId4" Type="http://schemas.openxmlformats.org/officeDocument/2006/relationships/image" Target="../media/image46.svg"/></Relationships>
</file>

<file path=ppt/slides/_rels/slide2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7.xml"/><Relationship Id="rId1" Type="http://schemas.openxmlformats.org/officeDocument/2006/relationships/slideLayout" Target="../slideLayouts/slideLayout8.xml"/><Relationship Id="rId4" Type="http://schemas.openxmlformats.org/officeDocument/2006/relationships/image" Target="../media/image46.svg"/></Relationships>
</file>

<file path=ppt/slides/_rels/slide2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8.xml"/><Relationship Id="rId1" Type="http://schemas.openxmlformats.org/officeDocument/2006/relationships/slideLayout" Target="../slideLayouts/slideLayout8.xml"/><Relationship Id="rId6" Type="http://schemas.openxmlformats.org/officeDocument/2006/relationships/image" Target="../media/image50.svg"/><Relationship Id="rId5" Type="http://schemas.openxmlformats.org/officeDocument/2006/relationships/image" Target="../media/image49.png"/><Relationship Id="rId4" Type="http://schemas.openxmlformats.org/officeDocument/2006/relationships/image" Target="../media/image48.svg"/></Relationships>
</file>

<file path=ppt/slides/_rels/slide2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9.xml"/><Relationship Id="rId1" Type="http://schemas.openxmlformats.org/officeDocument/2006/relationships/slideLayout" Target="../slideLayouts/slideLayout8.xml"/><Relationship Id="rId6" Type="http://schemas.openxmlformats.org/officeDocument/2006/relationships/image" Target="../media/image50.svg"/><Relationship Id="rId5" Type="http://schemas.openxmlformats.org/officeDocument/2006/relationships/image" Target="../media/image49.png"/><Relationship Id="rId4" Type="http://schemas.openxmlformats.org/officeDocument/2006/relationships/image" Target="../media/image48.svg"/></Relationships>
</file>

<file path=ppt/slides/_rels/slide2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0.xml"/><Relationship Id="rId1" Type="http://schemas.openxmlformats.org/officeDocument/2006/relationships/slideLayout" Target="../slideLayouts/slideLayout8.xml"/><Relationship Id="rId4" Type="http://schemas.openxmlformats.org/officeDocument/2006/relationships/image" Target="../media/image48.svg"/></Relationships>
</file>

<file path=ppt/slides/_rels/slide2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21.xml"/></Relationships>
</file>

<file path=ppt/slides/_rels/slide25.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hyperlink" Target="https://github.com/karydia/karydia" TargetMode="External"/><Relationship Id="rId1" Type="http://schemas.openxmlformats.org/officeDocument/2006/relationships/slideLayout" Target="../slideLayouts/slideLayout21.xml"/><Relationship Id="rId4" Type="http://schemas.openxmlformats.org/officeDocument/2006/relationships/image" Target="../media/image5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4"/>
          </p:nvPr>
        </p:nvSpPr>
        <p:spPr/>
        <p:txBody>
          <a:bodyPr/>
          <a:lstStyle/>
          <a:p>
            <a:r>
              <a:rPr lang="en-US" dirty="0"/>
              <a:t>Kubernetes</a:t>
            </a:r>
            <a:br>
              <a:rPr lang="en-US" dirty="0"/>
            </a:br>
            <a:r>
              <a:rPr lang="en-US" dirty="0">
                <a:solidFill>
                  <a:schemeClr val="accent1"/>
                </a:solidFill>
              </a:rPr>
              <a:t>Security</a:t>
            </a:r>
          </a:p>
        </p:txBody>
      </p:sp>
      <p:pic>
        <p:nvPicPr>
          <p:cNvPr id="4" name="Picture 3" descr="cid:image003.png@01D31CC6.A08B1C50">
            <a:extLst>
              <a:ext uri="{FF2B5EF4-FFF2-40B4-BE49-F238E27FC236}">
                <a16:creationId xmlns:a16="http://schemas.microsoft.com/office/drawing/2014/main" id="{CE860390-F50F-48A8-AA1A-AE0217946F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712" y="5721975"/>
            <a:ext cx="1414463" cy="113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Picture 7">
            <a:extLst>
              <a:ext uri="{FF2B5EF4-FFF2-40B4-BE49-F238E27FC236}">
                <a16:creationId xmlns:a16="http://schemas.microsoft.com/office/drawing/2014/main" id="{F761BA4D-6949-49CB-8BE7-6A87C6801E45}"/>
              </a:ext>
            </a:extLst>
          </p:cNvPr>
          <p:cNvPicPr>
            <a:picLocks noChangeAspect="1"/>
          </p:cNvPicPr>
          <p:nvPr/>
        </p:nvPicPr>
        <p:blipFill>
          <a:blip r:embed="rId4"/>
          <a:stretch>
            <a:fillRect/>
          </a:stretch>
        </p:blipFill>
        <p:spPr>
          <a:xfrm>
            <a:off x="3855582" y="537617"/>
            <a:ext cx="4484009" cy="4484009"/>
          </a:xfrm>
          <a:prstGeom prst="rect">
            <a:avLst/>
          </a:prstGeom>
        </p:spPr>
      </p:pic>
    </p:spTree>
    <p:extLst>
      <p:ext uri="{BB962C8B-B14F-4D97-AF65-F5344CB8AC3E}">
        <p14:creationId xmlns:p14="http://schemas.microsoft.com/office/powerpoint/2010/main" val="18192059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6B87457-F3B6-44B0-B1C5-0E54471BB2F1}"/>
              </a:ext>
            </a:extLst>
          </p:cNvPr>
          <p:cNvSpPr>
            <a:spLocks noGrp="1"/>
          </p:cNvSpPr>
          <p:nvPr>
            <p:ph type="title"/>
          </p:nvPr>
        </p:nvSpPr>
        <p:spPr/>
        <p:txBody>
          <a:bodyPr/>
          <a:lstStyle/>
          <a:p>
            <a:r>
              <a:rPr lang="en-US" dirty="0"/>
              <a:t>How to prevent apps to wreak havoc?</a:t>
            </a:r>
          </a:p>
        </p:txBody>
      </p:sp>
      <p:grpSp>
        <p:nvGrpSpPr>
          <p:cNvPr id="19" name="Group 18">
            <a:extLst>
              <a:ext uri="{FF2B5EF4-FFF2-40B4-BE49-F238E27FC236}">
                <a16:creationId xmlns:a16="http://schemas.microsoft.com/office/drawing/2014/main" id="{E52CD11C-4930-4B80-9098-265892D1BDFD}"/>
              </a:ext>
            </a:extLst>
          </p:cNvPr>
          <p:cNvGrpSpPr/>
          <p:nvPr/>
        </p:nvGrpSpPr>
        <p:grpSpPr>
          <a:xfrm>
            <a:off x="950220" y="1219097"/>
            <a:ext cx="3189768" cy="1347720"/>
            <a:chOff x="1080165" y="1564862"/>
            <a:chExt cx="3189768" cy="1347720"/>
          </a:xfrm>
        </p:grpSpPr>
        <p:pic>
          <p:nvPicPr>
            <p:cNvPr id="9" name="Graphic 8" descr="Gauge">
              <a:extLst>
                <a:ext uri="{FF2B5EF4-FFF2-40B4-BE49-F238E27FC236}">
                  <a16:creationId xmlns:a16="http://schemas.microsoft.com/office/drawing/2014/main" id="{0F61950B-BE6F-4C20-A587-2C30E8E3AE5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217849" y="1564862"/>
              <a:ext cx="914400" cy="914400"/>
            </a:xfrm>
            <a:prstGeom prst="rect">
              <a:avLst/>
            </a:prstGeom>
          </p:spPr>
        </p:pic>
        <p:sp>
          <p:nvSpPr>
            <p:cNvPr id="16" name="TextBox 15">
              <a:extLst>
                <a:ext uri="{FF2B5EF4-FFF2-40B4-BE49-F238E27FC236}">
                  <a16:creationId xmlns:a16="http://schemas.microsoft.com/office/drawing/2014/main" id="{44124592-A052-43B9-9C1B-2254861806D0}"/>
                </a:ext>
              </a:extLst>
            </p:cNvPr>
            <p:cNvSpPr txBox="1"/>
            <p:nvPr/>
          </p:nvSpPr>
          <p:spPr>
            <a:xfrm>
              <a:off x="1080165" y="2635583"/>
              <a:ext cx="3189768"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Limit resource consumption</a:t>
              </a:r>
            </a:p>
          </p:txBody>
        </p:sp>
      </p:grpSp>
      <p:grpSp>
        <p:nvGrpSpPr>
          <p:cNvPr id="20" name="Group 19">
            <a:extLst>
              <a:ext uri="{FF2B5EF4-FFF2-40B4-BE49-F238E27FC236}">
                <a16:creationId xmlns:a16="http://schemas.microsoft.com/office/drawing/2014/main" id="{C2307E61-3D64-4893-AF49-FC88538FB2A6}"/>
              </a:ext>
            </a:extLst>
          </p:cNvPr>
          <p:cNvGrpSpPr/>
          <p:nvPr/>
        </p:nvGrpSpPr>
        <p:grpSpPr>
          <a:xfrm>
            <a:off x="950220" y="4835938"/>
            <a:ext cx="3189768" cy="1191399"/>
            <a:chOff x="1207755" y="4378738"/>
            <a:chExt cx="3189768" cy="1191399"/>
          </a:xfrm>
        </p:grpSpPr>
        <p:pic>
          <p:nvPicPr>
            <p:cNvPr id="7" name="Graphic 6" descr="Handcuffs">
              <a:extLst>
                <a:ext uri="{FF2B5EF4-FFF2-40B4-BE49-F238E27FC236}">
                  <a16:creationId xmlns:a16="http://schemas.microsoft.com/office/drawing/2014/main" id="{9AA91D06-899A-4995-A00E-EBB1ADAA10B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345439" y="4378738"/>
              <a:ext cx="914400" cy="914400"/>
            </a:xfrm>
            <a:prstGeom prst="rect">
              <a:avLst/>
            </a:prstGeom>
          </p:spPr>
        </p:pic>
        <p:sp>
          <p:nvSpPr>
            <p:cNvPr id="17" name="TextBox 16">
              <a:extLst>
                <a:ext uri="{FF2B5EF4-FFF2-40B4-BE49-F238E27FC236}">
                  <a16:creationId xmlns:a16="http://schemas.microsoft.com/office/drawing/2014/main" id="{48B7D5A6-5CAC-40FE-BB5F-48CA79A5C5C6}"/>
                </a:ext>
              </a:extLst>
            </p:cNvPr>
            <p:cNvSpPr txBox="1"/>
            <p:nvPr/>
          </p:nvSpPr>
          <p:spPr>
            <a:xfrm>
              <a:off x="1207755" y="5293138"/>
              <a:ext cx="3189768"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Add security constraints</a:t>
              </a:r>
            </a:p>
          </p:txBody>
        </p:sp>
      </p:grpSp>
      <p:sp>
        <p:nvSpPr>
          <p:cNvPr id="21" name="Plus Sign 20">
            <a:extLst>
              <a:ext uri="{FF2B5EF4-FFF2-40B4-BE49-F238E27FC236}">
                <a16:creationId xmlns:a16="http://schemas.microsoft.com/office/drawing/2014/main" id="{CC1FA71E-4898-43A6-9A1D-6428CBE0B34E}"/>
              </a:ext>
            </a:extLst>
          </p:cNvPr>
          <p:cNvSpPr/>
          <p:nvPr/>
        </p:nvSpPr>
        <p:spPr bwMode="gray">
          <a:xfrm>
            <a:off x="1642906" y="2893303"/>
            <a:ext cx="1804397" cy="1616149"/>
          </a:xfrm>
          <a:prstGeom prst="mathPlus">
            <a:avLst/>
          </a:prstGeom>
          <a:ln>
            <a:headEnd/>
            <a:tailEnd/>
          </a:ln>
        </p:spPr>
        <p:style>
          <a:lnRef idx="2">
            <a:schemeClr val="dk1"/>
          </a:lnRef>
          <a:fillRef idx="1">
            <a:schemeClr val="lt1"/>
          </a:fillRef>
          <a:effectRef idx="0">
            <a:schemeClr val="dk1"/>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3" name="Speech Bubble: Rectangle 22">
            <a:extLst>
              <a:ext uri="{FF2B5EF4-FFF2-40B4-BE49-F238E27FC236}">
                <a16:creationId xmlns:a16="http://schemas.microsoft.com/office/drawing/2014/main" id="{F890ADED-ABCE-4EBC-85AA-63965344EFFA}"/>
              </a:ext>
            </a:extLst>
          </p:cNvPr>
          <p:cNvSpPr/>
          <p:nvPr/>
        </p:nvSpPr>
        <p:spPr bwMode="gray">
          <a:xfrm>
            <a:off x="5558106" y="1656279"/>
            <a:ext cx="3189767" cy="1466781"/>
          </a:xfrm>
          <a:prstGeom prst="wedgeRectCallout">
            <a:avLst>
              <a:gd name="adj1" fmla="val -90976"/>
              <a:gd name="adj2" fmla="val -69"/>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Limit CPU &amp; memory consumption</a:t>
            </a:r>
          </a:p>
        </p:txBody>
      </p:sp>
      <p:sp>
        <p:nvSpPr>
          <p:cNvPr id="24" name="Speech Bubble: Rectangle 23">
            <a:extLst>
              <a:ext uri="{FF2B5EF4-FFF2-40B4-BE49-F238E27FC236}">
                <a16:creationId xmlns:a16="http://schemas.microsoft.com/office/drawing/2014/main" id="{2C4138F8-6262-40B4-A714-D8F3BEB70764}"/>
              </a:ext>
            </a:extLst>
          </p:cNvPr>
          <p:cNvSpPr/>
          <p:nvPr/>
        </p:nvSpPr>
        <p:spPr bwMode="gray">
          <a:xfrm>
            <a:off x="5558106" y="4422056"/>
            <a:ext cx="3189767" cy="1466781"/>
          </a:xfrm>
          <a:prstGeom prst="wedgeRectCallout">
            <a:avLst>
              <a:gd name="adj1" fmla="val -90976"/>
              <a:gd name="adj2" fmla="val -69"/>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Prevent container from accessing the host &amp; limit the blast radius</a:t>
            </a:r>
          </a:p>
        </p:txBody>
      </p:sp>
    </p:spTree>
    <p:extLst>
      <p:ext uri="{BB962C8B-B14F-4D97-AF65-F5344CB8AC3E}">
        <p14:creationId xmlns:p14="http://schemas.microsoft.com/office/powerpoint/2010/main" val="36484093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165282-C03C-45E1-AAB7-7B87619C3137}"/>
              </a:ext>
            </a:extLst>
          </p:cNvPr>
          <p:cNvSpPr>
            <a:spLocks noGrp="1"/>
          </p:cNvSpPr>
          <p:nvPr>
            <p:ph type="title"/>
          </p:nvPr>
        </p:nvSpPr>
        <p:spPr/>
        <p:txBody>
          <a:bodyPr/>
          <a:lstStyle/>
          <a:p>
            <a:r>
              <a:rPr lang="en-US" dirty="0"/>
              <a:t>Security contexts and other ways to break things</a:t>
            </a:r>
          </a:p>
        </p:txBody>
      </p:sp>
      <p:sp>
        <p:nvSpPr>
          <p:cNvPr id="4" name="Rectangle 3">
            <a:extLst>
              <a:ext uri="{FF2B5EF4-FFF2-40B4-BE49-F238E27FC236}">
                <a16:creationId xmlns:a16="http://schemas.microsoft.com/office/drawing/2014/main" id="{D625668D-DAAB-4ECF-BBC1-4E4452A1BB62}"/>
              </a:ext>
            </a:extLst>
          </p:cNvPr>
          <p:cNvSpPr/>
          <p:nvPr/>
        </p:nvSpPr>
        <p:spPr bwMode="gray">
          <a:xfrm>
            <a:off x="504000" y="1701209"/>
            <a:ext cx="5593585" cy="1335981"/>
          </a:xfrm>
          <a:prstGeom prst="rect">
            <a:avLst/>
          </a:prstGeom>
          <a:solidFill>
            <a:schemeClr val="bg1">
              <a:lumMod val="85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solidFill>
                  <a:sysClr val="windowText" lastClr="000000"/>
                </a:solidFill>
                <a:ea typeface="Arial Unicode MS" pitchFamily="34" charset="-128"/>
                <a:cs typeface="Arial Unicode MS" pitchFamily="34" charset="-128"/>
              </a:rPr>
              <a:t>Pod</a:t>
            </a:r>
            <a:endParaRPr kumimoji="0" lang="de-DE" sz="1600" b="1" i="0" u="none" strike="noStrike" kern="0" cap="none" spc="0" normalizeH="0" baseline="0" noProof="0" dirty="0">
              <a:ln>
                <a:noFill/>
              </a:ln>
              <a:solidFill>
                <a:sysClr val="windowText" lastClr="000000"/>
              </a:solidFill>
              <a:effectLst/>
              <a:uLnTx/>
              <a:uFillTx/>
              <a:ea typeface="Arial Unicode MS" pitchFamily="34" charset="-128"/>
              <a:cs typeface="Arial Unicode MS" pitchFamily="34" charset="-128"/>
            </a:endParaRPr>
          </a:p>
        </p:txBody>
      </p:sp>
      <p:sp>
        <p:nvSpPr>
          <p:cNvPr id="3" name="Rectangle 2">
            <a:extLst>
              <a:ext uri="{FF2B5EF4-FFF2-40B4-BE49-F238E27FC236}">
                <a16:creationId xmlns:a16="http://schemas.microsoft.com/office/drawing/2014/main" id="{590CD0EE-693F-4582-9F18-78309AAC6119}"/>
              </a:ext>
            </a:extLst>
          </p:cNvPr>
          <p:cNvSpPr/>
          <p:nvPr/>
        </p:nvSpPr>
        <p:spPr bwMode="gray">
          <a:xfrm>
            <a:off x="504001" y="3192176"/>
            <a:ext cx="5593586" cy="3021064"/>
          </a:xfrm>
          <a:prstGeom prst="rect">
            <a:avLst/>
          </a:prstGeom>
          <a:solidFill>
            <a:schemeClr val="bg1">
              <a:lumMod val="65000"/>
            </a:schemeClr>
          </a:solidFill>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b"/>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endParaRPr lang="de-DE" sz="2400" b="1" kern="0" dirty="0">
              <a:ea typeface="Arial Unicode MS" pitchFamily="34" charset="-128"/>
              <a:cs typeface="Arial Unicode MS" pitchFamily="34" charset="-128"/>
            </a:endParaRPr>
          </a:p>
        </p:txBody>
      </p:sp>
      <p:sp>
        <p:nvSpPr>
          <p:cNvPr id="19" name="Rectangle 18">
            <a:extLst>
              <a:ext uri="{FF2B5EF4-FFF2-40B4-BE49-F238E27FC236}">
                <a16:creationId xmlns:a16="http://schemas.microsoft.com/office/drawing/2014/main" id="{B29818E2-657C-4813-A267-AC3A8FE7121B}"/>
              </a:ext>
            </a:extLst>
          </p:cNvPr>
          <p:cNvSpPr/>
          <p:nvPr/>
        </p:nvSpPr>
        <p:spPr bwMode="gray">
          <a:xfrm>
            <a:off x="2615928" y="2281963"/>
            <a:ext cx="1627931" cy="1335981"/>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a:ea typeface="Arial Unicode MS" pitchFamily="34" charset="-128"/>
                <a:cs typeface="Arial Unicode MS" pitchFamily="34" charset="-128"/>
              </a:rPr>
              <a:t>C</a:t>
            </a:r>
            <a:r>
              <a:rPr kumimoji="0" lang="de-DE" sz="1800" b="0" i="0" u="none" strike="noStrike" kern="0" cap="none" spc="0" normalizeH="0" baseline="0" noProof="0" dirty="0" err="1">
                <a:ln>
                  <a:noFill/>
                </a:ln>
                <a:effectLst/>
                <a:uLnTx/>
                <a:uFillTx/>
                <a:ea typeface="Arial Unicode MS" pitchFamily="34" charset="-128"/>
                <a:cs typeface="Arial Unicode MS" pitchFamily="34" charset="-128"/>
              </a:rPr>
              <a:t>ontainer</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6" name="Rectangle 5">
            <a:extLst>
              <a:ext uri="{FF2B5EF4-FFF2-40B4-BE49-F238E27FC236}">
                <a16:creationId xmlns:a16="http://schemas.microsoft.com/office/drawing/2014/main" id="{2D70EBBC-6973-4AC1-8760-EB4BDBDAFB8E}"/>
              </a:ext>
            </a:extLst>
          </p:cNvPr>
          <p:cNvSpPr/>
          <p:nvPr/>
        </p:nvSpPr>
        <p:spPr bwMode="gray">
          <a:xfrm>
            <a:off x="2486733" y="2170670"/>
            <a:ext cx="1627931" cy="1335981"/>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a:ea typeface="Arial Unicode MS" pitchFamily="34" charset="-128"/>
                <a:cs typeface="Arial Unicode MS" pitchFamily="34" charset="-128"/>
              </a:rPr>
              <a:t>C</a:t>
            </a:r>
            <a:r>
              <a:rPr kumimoji="0" lang="de-DE" sz="1800" b="0" i="0" u="none" strike="noStrike" kern="0" cap="none" spc="0" normalizeH="0" baseline="0" noProof="0" dirty="0" err="1">
                <a:ln>
                  <a:noFill/>
                </a:ln>
                <a:effectLst/>
                <a:uLnTx/>
                <a:uFillTx/>
                <a:ea typeface="Arial Unicode MS" pitchFamily="34" charset="-128"/>
                <a:cs typeface="Arial Unicode MS" pitchFamily="34" charset="-128"/>
              </a:rPr>
              <a:t>ontainer</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grpSp>
        <p:nvGrpSpPr>
          <p:cNvPr id="18" name="Group 17">
            <a:extLst>
              <a:ext uri="{FF2B5EF4-FFF2-40B4-BE49-F238E27FC236}">
                <a16:creationId xmlns:a16="http://schemas.microsoft.com/office/drawing/2014/main" id="{BBDF4E9E-D55F-4976-9847-B753A3CB777C}"/>
              </a:ext>
            </a:extLst>
          </p:cNvPr>
          <p:cNvGrpSpPr/>
          <p:nvPr/>
        </p:nvGrpSpPr>
        <p:grpSpPr>
          <a:xfrm>
            <a:off x="784337" y="4127846"/>
            <a:ext cx="5032722" cy="1244009"/>
            <a:chOff x="784337" y="4061639"/>
            <a:chExt cx="5032722" cy="1244009"/>
          </a:xfrm>
        </p:grpSpPr>
        <p:pic>
          <p:nvPicPr>
            <p:cNvPr id="8" name="Graphic 7" descr="Disk">
              <a:extLst>
                <a:ext uri="{FF2B5EF4-FFF2-40B4-BE49-F238E27FC236}">
                  <a16:creationId xmlns:a16="http://schemas.microsoft.com/office/drawing/2014/main" id="{4121CF6F-1865-40BA-B07A-F4A6FA443E1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817987" y="4190324"/>
              <a:ext cx="914400" cy="914400"/>
            </a:xfrm>
            <a:prstGeom prst="rect">
              <a:avLst/>
            </a:prstGeom>
          </p:spPr>
        </p:pic>
        <p:pic>
          <p:nvPicPr>
            <p:cNvPr id="10" name="Graphic 9" descr="Cell Tower">
              <a:extLst>
                <a:ext uri="{FF2B5EF4-FFF2-40B4-BE49-F238E27FC236}">
                  <a16:creationId xmlns:a16="http://schemas.microsoft.com/office/drawing/2014/main" id="{B34E7284-85A2-45CF-A215-EF14B49F789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809574" y="4190324"/>
              <a:ext cx="914400" cy="914400"/>
            </a:xfrm>
            <a:prstGeom prst="rect">
              <a:avLst/>
            </a:prstGeom>
          </p:spPr>
        </p:pic>
        <p:pic>
          <p:nvPicPr>
            <p:cNvPr id="12" name="Graphic 11" descr="Plug">
              <a:extLst>
                <a:ext uri="{FF2B5EF4-FFF2-40B4-BE49-F238E27FC236}">
                  <a16:creationId xmlns:a16="http://schemas.microsoft.com/office/drawing/2014/main" id="{AE1D07BA-0B1A-4F04-8EFC-72CF773747CE}"/>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2801161" y="4190324"/>
              <a:ext cx="914400" cy="914400"/>
            </a:xfrm>
            <a:prstGeom prst="rect">
              <a:avLst/>
            </a:prstGeom>
          </p:spPr>
        </p:pic>
        <p:pic>
          <p:nvPicPr>
            <p:cNvPr id="14" name="Graphic 13" descr="Processor">
              <a:extLst>
                <a:ext uri="{FF2B5EF4-FFF2-40B4-BE49-F238E27FC236}">
                  <a16:creationId xmlns:a16="http://schemas.microsoft.com/office/drawing/2014/main" id="{55E9AAF5-D39C-4129-BBA6-5290D3A7F9C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792749" y="4190324"/>
              <a:ext cx="914400" cy="914400"/>
            </a:xfrm>
            <a:prstGeom prst="rect">
              <a:avLst/>
            </a:prstGeom>
          </p:spPr>
        </p:pic>
        <p:pic>
          <p:nvPicPr>
            <p:cNvPr id="16" name="Graphic 15" descr="Crown">
              <a:extLst>
                <a:ext uri="{FF2B5EF4-FFF2-40B4-BE49-F238E27FC236}">
                  <a16:creationId xmlns:a16="http://schemas.microsoft.com/office/drawing/2014/main" id="{9C2D0751-1855-4AAD-AA1E-2CBE948C4826}"/>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84337" y="4190324"/>
              <a:ext cx="914400" cy="914400"/>
            </a:xfrm>
            <a:prstGeom prst="rect">
              <a:avLst/>
            </a:prstGeom>
          </p:spPr>
        </p:pic>
        <p:sp>
          <p:nvSpPr>
            <p:cNvPr id="17" name="Rectangle 16">
              <a:extLst>
                <a:ext uri="{FF2B5EF4-FFF2-40B4-BE49-F238E27FC236}">
                  <a16:creationId xmlns:a16="http://schemas.microsoft.com/office/drawing/2014/main" id="{DA40A998-E073-496F-B8D9-8248A8D3F74E}"/>
                </a:ext>
              </a:extLst>
            </p:cNvPr>
            <p:cNvSpPr/>
            <p:nvPr/>
          </p:nvSpPr>
          <p:spPr bwMode="gray">
            <a:xfrm>
              <a:off x="784337" y="4061639"/>
              <a:ext cx="5032722" cy="1244009"/>
            </a:xfrm>
            <a:prstGeom prst="rect">
              <a:avLst/>
            </a:prstGeom>
            <a:noFill/>
            <a:ln>
              <a:solidFill>
                <a:schemeClr val="accent5"/>
              </a:solidFill>
              <a:headEnd/>
              <a:tailEnd/>
            </a:ln>
          </p:spPr>
          <p:style>
            <a:lnRef idx="2">
              <a:schemeClr val="accent1"/>
            </a:lnRef>
            <a:fillRef idx="1">
              <a:schemeClr val="lt1"/>
            </a:fillRef>
            <a:effectRef idx="0">
              <a:schemeClr val="accent1"/>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cxnSp>
        <p:nvCxnSpPr>
          <p:cNvPr id="20" name="Straight Arrow Connector 19">
            <a:extLst>
              <a:ext uri="{FF2B5EF4-FFF2-40B4-BE49-F238E27FC236}">
                <a16:creationId xmlns:a16="http://schemas.microsoft.com/office/drawing/2014/main" id="{764BC70B-9E49-4B49-B4D0-6D33597E38D1}"/>
              </a:ext>
            </a:extLst>
          </p:cNvPr>
          <p:cNvCxnSpPr>
            <a:cxnSpLocks/>
            <a:stCxn id="17" idx="0"/>
            <a:endCxn id="6" idx="2"/>
          </p:cNvCxnSpPr>
          <p:nvPr/>
        </p:nvCxnSpPr>
        <p:spPr>
          <a:xfrm flipV="1">
            <a:off x="3300698" y="3506651"/>
            <a:ext cx="1" cy="621195"/>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pic>
        <p:nvPicPr>
          <p:cNvPr id="26" name="Graphic 25" descr="Lock">
            <a:extLst>
              <a:ext uri="{FF2B5EF4-FFF2-40B4-BE49-F238E27FC236}">
                <a16:creationId xmlns:a16="http://schemas.microsoft.com/office/drawing/2014/main" id="{DF7D762D-8C30-4420-939B-A0F6E90D20AC}"/>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559295" y="2570981"/>
            <a:ext cx="476603" cy="476603"/>
          </a:xfrm>
          <a:prstGeom prst="rect">
            <a:avLst/>
          </a:prstGeom>
        </p:spPr>
      </p:pic>
      <p:pic>
        <p:nvPicPr>
          <p:cNvPr id="30" name="Graphic 29" descr="List">
            <a:extLst>
              <a:ext uri="{FF2B5EF4-FFF2-40B4-BE49-F238E27FC236}">
                <a16:creationId xmlns:a16="http://schemas.microsoft.com/office/drawing/2014/main" id="{540C6834-FD8C-4A1D-BFB6-B52BEACC9544}"/>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2843498" y="2498158"/>
            <a:ext cx="914400" cy="914400"/>
          </a:xfrm>
          <a:prstGeom prst="rect">
            <a:avLst/>
          </a:prstGeom>
        </p:spPr>
      </p:pic>
      <p:pic>
        <p:nvPicPr>
          <p:cNvPr id="32" name="Graphic 31" descr="Lock">
            <a:extLst>
              <a:ext uri="{FF2B5EF4-FFF2-40B4-BE49-F238E27FC236}">
                <a16:creationId xmlns:a16="http://schemas.microsoft.com/office/drawing/2014/main" id="{EB02C1DE-FEF2-4458-8655-1EF5E54361C3}"/>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5161256" y="1966414"/>
            <a:ext cx="476603" cy="476603"/>
          </a:xfrm>
          <a:prstGeom prst="rect">
            <a:avLst/>
          </a:prstGeom>
        </p:spPr>
      </p:pic>
      <p:pic>
        <p:nvPicPr>
          <p:cNvPr id="33" name="Graphic 32" descr="List">
            <a:extLst>
              <a:ext uri="{FF2B5EF4-FFF2-40B4-BE49-F238E27FC236}">
                <a16:creationId xmlns:a16="http://schemas.microsoft.com/office/drawing/2014/main" id="{EBEEA24E-FF95-4E28-B907-7B7AAD637ADD}"/>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4445459" y="1893591"/>
            <a:ext cx="914400" cy="914400"/>
          </a:xfrm>
          <a:prstGeom prst="rect">
            <a:avLst/>
          </a:prstGeom>
        </p:spPr>
      </p:pic>
      <p:sp>
        <p:nvSpPr>
          <p:cNvPr id="34" name="TextBox 33">
            <a:extLst>
              <a:ext uri="{FF2B5EF4-FFF2-40B4-BE49-F238E27FC236}">
                <a16:creationId xmlns:a16="http://schemas.microsoft.com/office/drawing/2014/main" id="{7A0462DF-01CE-4022-82E2-1F5A8BD47E15}"/>
              </a:ext>
            </a:extLst>
          </p:cNvPr>
          <p:cNvSpPr txBox="1"/>
          <p:nvPr/>
        </p:nvSpPr>
        <p:spPr>
          <a:xfrm>
            <a:off x="6526584" y="1701209"/>
            <a:ext cx="5163894" cy="4570482"/>
          </a:xfrm>
          <a:prstGeom prst="rect">
            <a:avLst/>
          </a:prstGeom>
          <a:noFill/>
        </p:spPr>
        <p:txBody>
          <a:bodyPr wrap="square" lIns="0" tIns="0" rIns="0" bIns="0" rtlCol="0">
            <a:spAutoFit/>
          </a:bodyPr>
          <a:lstStyle/>
          <a:p>
            <a:pP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Pods may be configured that all container:</a:t>
            </a:r>
          </a:p>
          <a:p>
            <a:pPr marL="285750" indent="-285750" defTabSz="914400" fontAlgn="base">
              <a:spcBef>
                <a:spcPct val="50000"/>
              </a:spcBef>
              <a:spcAft>
                <a:spcPct val="0"/>
              </a:spcAft>
              <a:buSzPct val="100000"/>
              <a:buFont typeface="Wingdings" panose="05000000000000000000" pitchFamily="2" charset="2"/>
              <a:buChar char="§"/>
            </a:pPr>
            <a:r>
              <a:rPr lang="en-US" sz="1800" kern="0" dirty="0">
                <a:ea typeface="Arial Unicode MS" pitchFamily="34" charset="-128"/>
                <a:cs typeface="Arial Unicode MS" pitchFamily="34" charset="-128"/>
              </a:rPr>
              <a:t>can access the host file system</a:t>
            </a:r>
          </a:p>
          <a:p>
            <a:pPr marL="285750" indent="-285750" defTabSz="914400" fontAlgn="base">
              <a:spcBef>
                <a:spcPct val="50000"/>
              </a:spcBef>
              <a:spcAft>
                <a:spcPct val="0"/>
              </a:spcAft>
              <a:buSzPct val="100000"/>
              <a:buFont typeface="Wingdings" panose="05000000000000000000" pitchFamily="2" charset="2"/>
              <a:buChar char="§"/>
            </a:pPr>
            <a:r>
              <a:rPr lang="en-US" sz="1800" kern="0" dirty="0">
                <a:ea typeface="Arial Unicode MS" pitchFamily="34" charset="-128"/>
                <a:cs typeface="Arial Unicode MS" pitchFamily="34" charset="-128"/>
              </a:rPr>
              <a:t>use the host network </a:t>
            </a:r>
          </a:p>
          <a:p>
            <a:pPr marL="285750" indent="-285750" defTabSz="914400" fontAlgn="base">
              <a:spcBef>
                <a:spcPct val="50000"/>
              </a:spcBef>
              <a:spcAft>
                <a:spcPct val="0"/>
              </a:spcAft>
              <a:buSzPct val="100000"/>
              <a:buFont typeface="Wingdings" panose="05000000000000000000" pitchFamily="2" charset="2"/>
              <a:buChar char="§"/>
            </a:pPr>
            <a:r>
              <a:rPr lang="en-US" sz="1800" kern="0" dirty="0">
                <a:ea typeface="Arial Unicode MS" pitchFamily="34" charset="-128"/>
                <a:cs typeface="Arial Unicode MS" pitchFamily="34" charset="-128"/>
              </a:rPr>
              <a:t>share the host IPC namespace </a:t>
            </a:r>
          </a:p>
          <a:p>
            <a:pPr defTabSz="914400" fontAlgn="base">
              <a:spcBef>
                <a:spcPct val="50000"/>
              </a:spcBef>
              <a:spcAft>
                <a:spcPct val="0"/>
              </a:spcAft>
              <a:buSzPct val="100000"/>
            </a:pPr>
            <a:endParaRPr lang="en-US" sz="1800" kern="0" dirty="0">
              <a:ea typeface="Arial Unicode MS" pitchFamily="34" charset="-128"/>
              <a:cs typeface="Arial Unicode MS" pitchFamily="34" charset="-128"/>
            </a:endParaRPr>
          </a:p>
          <a:p>
            <a:pPr defTabSz="914400" fontAlgn="base">
              <a:spcBef>
                <a:spcPct val="50000"/>
              </a:spcBef>
              <a:spcAft>
                <a:spcPct val="0"/>
              </a:spcAft>
              <a:buSzPct val="100000"/>
            </a:pPr>
            <a:r>
              <a:rPr lang="en-US" sz="1800" kern="0" dirty="0">
                <a:ea typeface="Arial Unicode MS" pitchFamily="34" charset="-128"/>
                <a:cs typeface="Arial Unicode MS" pitchFamily="34" charset="-128"/>
              </a:rPr>
              <a:t>The </a:t>
            </a:r>
            <a:r>
              <a:rPr lang="en-US" sz="1800" kern="0" dirty="0" err="1">
                <a:ea typeface="Arial Unicode MS" pitchFamily="34" charset="-128"/>
                <a:cs typeface="Arial Unicode MS" pitchFamily="34" charset="-128"/>
              </a:rPr>
              <a:t>SecurityContext</a:t>
            </a:r>
            <a:endParaRPr lang="en-US" sz="1800" kern="0" dirty="0">
              <a:ea typeface="Arial Unicode MS" pitchFamily="34" charset="-128"/>
              <a:cs typeface="Arial Unicode MS" pitchFamily="34" charset="-128"/>
            </a:endParaRPr>
          </a:p>
          <a:p>
            <a:pPr marL="285750" indent="-285750" defTabSz="914400" fontAlgn="base">
              <a:spcBef>
                <a:spcPct val="50000"/>
              </a:spcBef>
              <a:spcAft>
                <a:spcPct val="0"/>
              </a:spcAft>
              <a:buSzPct val="100000"/>
              <a:buFont typeface="Wingdings" panose="05000000000000000000" pitchFamily="2" charset="2"/>
              <a:buChar char="§"/>
            </a:pPr>
            <a:r>
              <a:rPr lang="en-US" sz="1800" kern="0" dirty="0">
                <a:ea typeface="Arial Unicode MS" pitchFamily="34" charset="-128"/>
                <a:cs typeface="Arial Unicode MS" pitchFamily="34" charset="-128"/>
              </a:rPr>
              <a:t>specifies user and group ID for processes</a:t>
            </a:r>
          </a:p>
          <a:p>
            <a:pPr marL="285750" indent="-285750" defTabSz="914400" fontAlgn="base">
              <a:spcBef>
                <a:spcPct val="50000"/>
              </a:spcBef>
              <a:spcAft>
                <a:spcPct val="0"/>
              </a:spcAft>
              <a:buSzPct val="100000"/>
              <a:buFont typeface="Wingdings" panose="05000000000000000000" pitchFamily="2" charset="2"/>
              <a:buChar char="§"/>
            </a:pPr>
            <a:r>
              <a:rPr lang="en-US" sz="1800" kern="0" dirty="0">
                <a:ea typeface="Arial Unicode MS" pitchFamily="34" charset="-128"/>
                <a:cs typeface="Arial Unicode MS" pitchFamily="34" charset="-128"/>
              </a:rPr>
              <a:t>adds Linux capabilities &amp; security profiles</a:t>
            </a:r>
          </a:p>
          <a:p>
            <a:pPr marL="285750" indent="-285750" defTabSz="914400" fontAlgn="base">
              <a:spcBef>
                <a:spcPct val="50000"/>
              </a:spcBef>
              <a:spcAft>
                <a:spcPct val="0"/>
              </a:spcAft>
              <a:buSzPct val="100000"/>
              <a:buFont typeface="Wingdings" panose="05000000000000000000" pitchFamily="2" charset="2"/>
              <a:buChar char="§"/>
            </a:pPr>
            <a:r>
              <a:rPr lang="en-US" sz="1800" kern="0" dirty="0">
                <a:ea typeface="Arial Unicode MS" pitchFamily="34" charset="-128"/>
                <a:cs typeface="Arial Unicode MS" pitchFamily="34" charset="-128"/>
              </a:rPr>
              <a:t>can set the container root filesystem to read-only</a:t>
            </a:r>
          </a:p>
          <a:p>
            <a:pPr marL="285750" indent="-285750" defTabSz="914400" fontAlgn="base">
              <a:spcBef>
                <a:spcPct val="50000"/>
              </a:spcBef>
              <a:spcAft>
                <a:spcPct val="0"/>
              </a:spcAft>
              <a:buSzPct val="100000"/>
              <a:buFont typeface="Wingdings" panose="05000000000000000000" pitchFamily="2" charset="2"/>
              <a:buChar char="§"/>
            </a:pPr>
            <a:r>
              <a:rPr lang="en-US" sz="1800" kern="0" dirty="0">
                <a:ea typeface="Arial Unicode MS" pitchFamily="34" charset="-128"/>
                <a:cs typeface="Arial Unicode MS" pitchFamily="34" charset="-128"/>
              </a:rPr>
              <a:t>allows privilege escalation / run in “privileged mode”</a:t>
            </a:r>
          </a:p>
        </p:txBody>
      </p:sp>
    </p:spTree>
    <p:extLst>
      <p:ext uri="{BB962C8B-B14F-4D97-AF65-F5344CB8AC3E}">
        <p14:creationId xmlns:p14="http://schemas.microsoft.com/office/powerpoint/2010/main" val="9858936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165282-C03C-45E1-AAB7-7B87619C3137}"/>
              </a:ext>
            </a:extLst>
          </p:cNvPr>
          <p:cNvSpPr>
            <a:spLocks noGrp="1"/>
          </p:cNvSpPr>
          <p:nvPr>
            <p:ph type="title"/>
          </p:nvPr>
        </p:nvSpPr>
        <p:spPr/>
        <p:txBody>
          <a:bodyPr/>
          <a:lstStyle/>
          <a:p>
            <a:r>
              <a:rPr lang="en-US" dirty="0"/>
              <a:t>Security contexts and other ways to break things</a:t>
            </a:r>
          </a:p>
        </p:txBody>
      </p:sp>
      <p:pic>
        <p:nvPicPr>
          <p:cNvPr id="7" name="Picture 6">
            <a:extLst>
              <a:ext uri="{FF2B5EF4-FFF2-40B4-BE49-F238E27FC236}">
                <a16:creationId xmlns:a16="http://schemas.microsoft.com/office/drawing/2014/main" id="{ADFCB5AA-7CE6-4540-A518-42F6327A0352}"/>
              </a:ext>
            </a:extLst>
          </p:cNvPr>
          <p:cNvPicPr>
            <a:picLocks noChangeAspect="1"/>
          </p:cNvPicPr>
          <p:nvPr/>
        </p:nvPicPr>
        <p:blipFill>
          <a:blip r:embed="rId3"/>
          <a:stretch>
            <a:fillRect/>
          </a:stretch>
        </p:blipFill>
        <p:spPr>
          <a:xfrm>
            <a:off x="504001" y="1600428"/>
            <a:ext cx="3961905" cy="3657143"/>
          </a:xfrm>
          <a:prstGeom prst="rect">
            <a:avLst/>
          </a:prstGeom>
          <a:ln>
            <a:solidFill>
              <a:schemeClr val="tx1"/>
            </a:solidFill>
          </a:ln>
        </p:spPr>
      </p:pic>
      <p:pic>
        <p:nvPicPr>
          <p:cNvPr id="9" name="Picture 8">
            <a:extLst>
              <a:ext uri="{FF2B5EF4-FFF2-40B4-BE49-F238E27FC236}">
                <a16:creationId xmlns:a16="http://schemas.microsoft.com/office/drawing/2014/main" id="{08795617-C0D0-4735-859C-AF5001E4D036}"/>
              </a:ext>
            </a:extLst>
          </p:cNvPr>
          <p:cNvPicPr>
            <a:picLocks noChangeAspect="1"/>
          </p:cNvPicPr>
          <p:nvPr/>
        </p:nvPicPr>
        <p:blipFill>
          <a:blip r:embed="rId4"/>
          <a:stretch>
            <a:fillRect/>
          </a:stretch>
        </p:blipFill>
        <p:spPr>
          <a:xfrm>
            <a:off x="7623810" y="1605189"/>
            <a:ext cx="4066667" cy="3647619"/>
          </a:xfrm>
          <a:prstGeom prst="rect">
            <a:avLst/>
          </a:prstGeom>
          <a:ln>
            <a:solidFill>
              <a:schemeClr val="tx1"/>
            </a:solidFill>
          </a:ln>
        </p:spPr>
      </p:pic>
      <p:sp>
        <p:nvSpPr>
          <p:cNvPr id="23" name="Speech Bubble: Rectangle 22">
            <a:extLst>
              <a:ext uri="{FF2B5EF4-FFF2-40B4-BE49-F238E27FC236}">
                <a16:creationId xmlns:a16="http://schemas.microsoft.com/office/drawing/2014/main" id="{22361B66-F142-4B9A-8D5F-6B816AADA162}"/>
              </a:ext>
            </a:extLst>
          </p:cNvPr>
          <p:cNvSpPr/>
          <p:nvPr/>
        </p:nvSpPr>
        <p:spPr bwMode="gray">
          <a:xfrm>
            <a:off x="4135921" y="1867524"/>
            <a:ext cx="3102277" cy="769799"/>
          </a:xfrm>
          <a:prstGeom prst="wedgeRectCallout">
            <a:avLst>
              <a:gd name="adj1" fmla="val -88804"/>
              <a:gd name="adj2" fmla="val -14732"/>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Allow to access the host</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4" name="Speech Bubble: Rectangle 23">
            <a:extLst>
              <a:ext uri="{FF2B5EF4-FFF2-40B4-BE49-F238E27FC236}">
                <a16:creationId xmlns:a16="http://schemas.microsoft.com/office/drawing/2014/main" id="{C23D9BD9-B598-4B4D-B3FC-BB683BF35A02}"/>
              </a:ext>
            </a:extLst>
          </p:cNvPr>
          <p:cNvSpPr/>
          <p:nvPr/>
        </p:nvSpPr>
        <p:spPr bwMode="gray">
          <a:xfrm>
            <a:off x="4135921" y="1867523"/>
            <a:ext cx="3102277" cy="769799"/>
          </a:xfrm>
          <a:prstGeom prst="wedgeRectCallout">
            <a:avLst>
              <a:gd name="adj1" fmla="val 71293"/>
              <a:gd name="adj2" fmla="val -20984"/>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Allow/deny to access the host</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5" name="Speech Bubble: Rectangle 24">
            <a:extLst>
              <a:ext uri="{FF2B5EF4-FFF2-40B4-BE49-F238E27FC236}">
                <a16:creationId xmlns:a16="http://schemas.microsoft.com/office/drawing/2014/main" id="{E1D0A08B-2534-498D-BE04-EE1AE2E266AE}"/>
              </a:ext>
            </a:extLst>
          </p:cNvPr>
          <p:cNvSpPr/>
          <p:nvPr/>
        </p:nvSpPr>
        <p:spPr bwMode="gray">
          <a:xfrm>
            <a:off x="4135920" y="2876572"/>
            <a:ext cx="3102277" cy="769799"/>
          </a:xfrm>
          <a:prstGeom prst="wedgeRectCallout">
            <a:avLst>
              <a:gd name="adj1" fmla="val -88804"/>
              <a:gd name="adj2" fmla="val -14732"/>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Run as root user | 1000</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7" name="Speech Bubble: Rectangle 26">
            <a:extLst>
              <a:ext uri="{FF2B5EF4-FFF2-40B4-BE49-F238E27FC236}">
                <a16:creationId xmlns:a16="http://schemas.microsoft.com/office/drawing/2014/main" id="{1AB21FF2-494F-4134-BFD2-BCFBFBCF9606}"/>
              </a:ext>
            </a:extLst>
          </p:cNvPr>
          <p:cNvSpPr/>
          <p:nvPr/>
        </p:nvSpPr>
        <p:spPr bwMode="gray">
          <a:xfrm>
            <a:off x="4135919" y="2876571"/>
            <a:ext cx="3102277" cy="769799"/>
          </a:xfrm>
          <a:prstGeom prst="wedgeRectCallout">
            <a:avLst>
              <a:gd name="adj1" fmla="val 74395"/>
              <a:gd name="adj2" fmla="val -1223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Run as root user | 1000</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8" name="Speech Bubble: Rectangle 27">
            <a:extLst>
              <a:ext uri="{FF2B5EF4-FFF2-40B4-BE49-F238E27FC236}">
                <a16:creationId xmlns:a16="http://schemas.microsoft.com/office/drawing/2014/main" id="{B681C7CE-4604-4640-B001-A8DDC95D673C}"/>
              </a:ext>
            </a:extLst>
          </p:cNvPr>
          <p:cNvSpPr/>
          <p:nvPr/>
        </p:nvSpPr>
        <p:spPr bwMode="gray">
          <a:xfrm>
            <a:off x="2671276" y="5564195"/>
            <a:ext cx="3102277" cy="769799"/>
          </a:xfrm>
          <a:prstGeom prst="wedgeRectCallout">
            <a:avLst>
              <a:gd name="adj1" fmla="val -43816"/>
              <a:gd name="adj2" fmla="val -72249"/>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Allow privilege escalation &amp; add a capability</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9" name="Speech Bubble: Rectangle 28">
            <a:extLst>
              <a:ext uri="{FF2B5EF4-FFF2-40B4-BE49-F238E27FC236}">
                <a16:creationId xmlns:a16="http://schemas.microsoft.com/office/drawing/2014/main" id="{B570343F-D366-4C29-B564-31068625C2AA}"/>
              </a:ext>
            </a:extLst>
          </p:cNvPr>
          <p:cNvSpPr/>
          <p:nvPr/>
        </p:nvSpPr>
        <p:spPr bwMode="gray">
          <a:xfrm>
            <a:off x="6421622" y="5559432"/>
            <a:ext cx="3102277" cy="769799"/>
          </a:xfrm>
          <a:prstGeom prst="wedgeRectCallout">
            <a:avLst>
              <a:gd name="adj1" fmla="val 42127"/>
              <a:gd name="adj2" fmla="val -82252"/>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Deny privilege escalation &amp; drop a capability</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6921720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20FA0B-D4CC-427B-A49C-CDA36115C6D6}"/>
              </a:ext>
            </a:extLst>
          </p:cNvPr>
          <p:cNvSpPr>
            <a:spLocks noGrp="1"/>
          </p:cNvSpPr>
          <p:nvPr>
            <p:ph type="title"/>
          </p:nvPr>
        </p:nvSpPr>
        <p:spPr/>
        <p:txBody>
          <a:bodyPr/>
          <a:lstStyle/>
          <a:p>
            <a:r>
              <a:rPr lang="en-US" dirty="0"/>
              <a:t>PID Limits (stable release with K8S version 1.20)</a:t>
            </a:r>
          </a:p>
        </p:txBody>
      </p:sp>
      <p:sp>
        <p:nvSpPr>
          <p:cNvPr id="4" name="Rectangle 3">
            <a:extLst>
              <a:ext uri="{FF2B5EF4-FFF2-40B4-BE49-F238E27FC236}">
                <a16:creationId xmlns:a16="http://schemas.microsoft.com/office/drawing/2014/main" id="{7C9D8882-D8EE-4FA1-B0BD-FD6CC007D287}"/>
              </a:ext>
            </a:extLst>
          </p:cNvPr>
          <p:cNvSpPr/>
          <p:nvPr/>
        </p:nvSpPr>
        <p:spPr>
          <a:xfrm>
            <a:off x="320159" y="5863579"/>
            <a:ext cx="5843636" cy="369332"/>
          </a:xfrm>
          <a:prstGeom prst="rect">
            <a:avLst/>
          </a:prstGeom>
        </p:spPr>
        <p:txBody>
          <a:bodyPr wrap="square">
            <a:spAutoFit/>
          </a:bodyPr>
          <a:lstStyle/>
          <a:p>
            <a:pPr algn="ctr"/>
            <a:r>
              <a:rPr lang="en-US" sz="1800" dirty="0">
                <a:hlinkClick r:id="rId3"/>
              </a:rPr>
              <a:t>https://github.com/kubernetes/kubernetes/issues/43783</a:t>
            </a:r>
            <a:r>
              <a:rPr lang="en-US" sz="1800" dirty="0"/>
              <a:t> </a:t>
            </a:r>
          </a:p>
        </p:txBody>
      </p:sp>
      <p:pic>
        <p:nvPicPr>
          <p:cNvPr id="6" name="Picture 5">
            <a:extLst>
              <a:ext uri="{FF2B5EF4-FFF2-40B4-BE49-F238E27FC236}">
                <a16:creationId xmlns:a16="http://schemas.microsoft.com/office/drawing/2014/main" id="{392FB935-CC64-4CFB-9C8B-AF6D88C10DD7}"/>
              </a:ext>
            </a:extLst>
          </p:cNvPr>
          <p:cNvPicPr>
            <a:picLocks noChangeAspect="1"/>
          </p:cNvPicPr>
          <p:nvPr/>
        </p:nvPicPr>
        <p:blipFill>
          <a:blip r:embed="rId4"/>
          <a:stretch>
            <a:fillRect/>
          </a:stretch>
        </p:blipFill>
        <p:spPr>
          <a:xfrm>
            <a:off x="698923" y="1258179"/>
            <a:ext cx="5095821" cy="5095821"/>
          </a:xfrm>
          <a:prstGeom prst="rect">
            <a:avLst/>
          </a:prstGeom>
        </p:spPr>
      </p:pic>
      <p:sp>
        <p:nvSpPr>
          <p:cNvPr id="8" name="Speech Bubble: Rectangle 7">
            <a:extLst>
              <a:ext uri="{FF2B5EF4-FFF2-40B4-BE49-F238E27FC236}">
                <a16:creationId xmlns:a16="http://schemas.microsoft.com/office/drawing/2014/main" id="{B728340A-3D88-453B-9AE3-8AD3F336C46D}"/>
              </a:ext>
            </a:extLst>
          </p:cNvPr>
          <p:cNvSpPr/>
          <p:nvPr/>
        </p:nvSpPr>
        <p:spPr bwMode="gray">
          <a:xfrm>
            <a:off x="6474860" y="1424762"/>
            <a:ext cx="4030108" cy="1509823"/>
          </a:xfrm>
          <a:prstGeom prst="wedgeRectCallout">
            <a:avLst>
              <a:gd name="adj1" fmla="val -90976"/>
              <a:gd name="adj2" fmla="val -69"/>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To prevent fork bombs it is essential to limit the number of processes per </a:t>
            </a:r>
            <a:r>
              <a:rPr lang="en-US" sz="1800" kern="0" dirty="0" err="1">
                <a:ea typeface="Arial Unicode MS" pitchFamily="34" charset="-128"/>
                <a:cs typeface="Arial Unicode MS" pitchFamily="34" charset="-128"/>
              </a:rPr>
              <a:t>cgroup</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22509063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1D3D19E-A8DA-4646-B054-3A090C73BA35}"/>
              </a:ext>
            </a:extLst>
          </p:cNvPr>
          <p:cNvSpPr>
            <a:spLocks noGrp="1"/>
          </p:cNvSpPr>
          <p:nvPr>
            <p:ph type="ctrTitle"/>
          </p:nvPr>
        </p:nvSpPr>
        <p:spPr/>
        <p:txBody>
          <a:bodyPr/>
          <a:lstStyle/>
          <a:p>
            <a:r>
              <a:rPr lang="en-US" dirty="0"/>
              <a:t>Policies</a:t>
            </a:r>
          </a:p>
        </p:txBody>
      </p:sp>
      <p:pic>
        <p:nvPicPr>
          <p:cNvPr id="4" name="Picture 3">
            <a:extLst>
              <a:ext uri="{FF2B5EF4-FFF2-40B4-BE49-F238E27FC236}">
                <a16:creationId xmlns:a16="http://schemas.microsoft.com/office/drawing/2014/main" id="{11DC4D9D-47F8-49FC-B5F9-419D31D2ECD3}"/>
              </a:ext>
            </a:extLst>
          </p:cNvPr>
          <p:cNvPicPr>
            <a:picLocks noChangeAspect="1"/>
          </p:cNvPicPr>
          <p:nvPr/>
        </p:nvPicPr>
        <p:blipFill>
          <a:blip r:embed="rId2"/>
          <a:stretch>
            <a:fillRect/>
          </a:stretch>
        </p:blipFill>
        <p:spPr>
          <a:xfrm>
            <a:off x="6097587" y="1330733"/>
            <a:ext cx="4196534" cy="4196534"/>
          </a:xfrm>
          <a:prstGeom prst="rect">
            <a:avLst/>
          </a:prstGeom>
        </p:spPr>
      </p:pic>
    </p:spTree>
    <p:extLst>
      <p:ext uri="{BB962C8B-B14F-4D97-AF65-F5344CB8AC3E}">
        <p14:creationId xmlns:p14="http://schemas.microsoft.com/office/powerpoint/2010/main" val="42823629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6E6719E-DF84-4D90-8AE6-056F3CCA74E8}"/>
              </a:ext>
            </a:extLst>
          </p:cNvPr>
          <p:cNvSpPr>
            <a:spLocks noGrp="1"/>
          </p:cNvSpPr>
          <p:nvPr>
            <p:ph type="title"/>
          </p:nvPr>
        </p:nvSpPr>
        <p:spPr/>
        <p:txBody>
          <a:bodyPr/>
          <a:lstStyle/>
          <a:p>
            <a:r>
              <a:rPr lang="en-US" dirty="0"/>
              <a:t>Policy objects in Kubernetes</a:t>
            </a:r>
          </a:p>
        </p:txBody>
      </p:sp>
      <p:sp>
        <p:nvSpPr>
          <p:cNvPr id="6" name="Rectangle: Rounded Corners 5">
            <a:extLst>
              <a:ext uri="{FF2B5EF4-FFF2-40B4-BE49-F238E27FC236}">
                <a16:creationId xmlns:a16="http://schemas.microsoft.com/office/drawing/2014/main" id="{27EAD334-1E34-4E3A-B072-0BDE7E417AFE}"/>
              </a:ext>
            </a:extLst>
          </p:cNvPr>
          <p:cNvSpPr/>
          <p:nvPr/>
        </p:nvSpPr>
        <p:spPr bwMode="gray">
          <a:xfrm>
            <a:off x="3015384" y="1886635"/>
            <a:ext cx="1805351"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ResourceQuota</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7" name="Rectangle: Rounded Corners 6">
            <a:extLst>
              <a:ext uri="{FF2B5EF4-FFF2-40B4-BE49-F238E27FC236}">
                <a16:creationId xmlns:a16="http://schemas.microsoft.com/office/drawing/2014/main" id="{3D78A5C5-4312-47E2-ACF5-93F9C961A7C7}"/>
              </a:ext>
            </a:extLst>
          </p:cNvPr>
          <p:cNvSpPr/>
          <p:nvPr/>
        </p:nvSpPr>
        <p:spPr bwMode="gray">
          <a:xfrm>
            <a:off x="3015383" y="2604664"/>
            <a:ext cx="1805351"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LimitRange</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8" name="Rectangle 7">
            <a:extLst>
              <a:ext uri="{FF2B5EF4-FFF2-40B4-BE49-F238E27FC236}">
                <a16:creationId xmlns:a16="http://schemas.microsoft.com/office/drawing/2014/main" id="{FBA77BEB-46B5-4590-AA8C-9DA4F865128C}"/>
              </a:ext>
            </a:extLst>
          </p:cNvPr>
          <p:cNvSpPr/>
          <p:nvPr/>
        </p:nvSpPr>
        <p:spPr bwMode="gray">
          <a:xfrm>
            <a:off x="2874671" y="1715966"/>
            <a:ext cx="2092821" cy="1713034"/>
          </a:xfrm>
          <a:prstGeom prst="rect">
            <a:avLst/>
          </a:prstGeom>
          <a:noFill/>
          <a:ln w="25400" algn="ctr">
            <a:solidFill>
              <a:schemeClr val="accent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TextBox 8">
            <a:extLst>
              <a:ext uri="{FF2B5EF4-FFF2-40B4-BE49-F238E27FC236}">
                <a16:creationId xmlns:a16="http://schemas.microsoft.com/office/drawing/2014/main" id="{C48D4DCE-694F-4F35-8B63-CD2049979EC7}"/>
              </a:ext>
            </a:extLst>
          </p:cNvPr>
          <p:cNvSpPr txBox="1"/>
          <p:nvPr/>
        </p:nvSpPr>
        <p:spPr>
          <a:xfrm>
            <a:off x="1086406" y="2180483"/>
            <a:ext cx="1539285" cy="553998"/>
          </a:xfrm>
          <a:prstGeom prst="rect">
            <a:avLst/>
          </a:prstGeom>
          <a:solidFill>
            <a:schemeClr val="bg1">
              <a:alpha val="58000"/>
            </a:schemeClr>
          </a:solidFill>
        </p:spPr>
        <p:txBody>
          <a:bodyPr wrap="square" lIns="0" tIns="0" rIns="0" bIns="0" rtlCol="0">
            <a:spAutoFit/>
          </a:bodyPr>
          <a:lstStyle>
            <a:defPPr>
              <a:defRPr lang="de-DE"/>
            </a:defPPr>
            <a:lvl1pPr fontAlgn="base">
              <a:spcBef>
                <a:spcPct val="50000"/>
              </a:spcBef>
              <a:spcAft>
                <a:spcPct val="0"/>
              </a:spcAft>
              <a:buClr>
                <a:srgbClr val="F0AB00"/>
              </a:buClr>
              <a:buSzPct val="80000"/>
              <a:defRPr sz="1400" kern="0">
                <a:latin typeface="Arial Rounded MT Bold" panose="020F0704030504030204" pitchFamily="34" charset="0"/>
                <a:ea typeface="Arial Unicode MS" pitchFamily="34" charset="-128"/>
                <a:cs typeface="Arial Unicode MS" pitchFamily="34" charset="-128"/>
              </a:defRPr>
            </a:lvl1pPr>
          </a:lstStyle>
          <a:p>
            <a:pPr algn="ctr"/>
            <a:r>
              <a:rPr lang="en-US" sz="1800" dirty="0"/>
              <a:t>Resource management</a:t>
            </a:r>
          </a:p>
        </p:txBody>
      </p:sp>
      <p:sp>
        <p:nvSpPr>
          <p:cNvPr id="10" name="Speech Bubble: Rectangle 9">
            <a:extLst>
              <a:ext uri="{FF2B5EF4-FFF2-40B4-BE49-F238E27FC236}">
                <a16:creationId xmlns:a16="http://schemas.microsoft.com/office/drawing/2014/main" id="{C35BD869-EA79-44B2-8D20-EE80C3859259}"/>
              </a:ext>
            </a:extLst>
          </p:cNvPr>
          <p:cNvSpPr/>
          <p:nvPr/>
        </p:nvSpPr>
        <p:spPr bwMode="gray">
          <a:xfrm>
            <a:off x="6028272" y="1403803"/>
            <a:ext cx="4018844" cy="624325"/>
          </a:xfrm>
          <a:prstGeom prst="wedgeRectCallout">
            <a:avLst>
              <a:gd name="adj1" fmla="val -82617"/>
              <a:gd name="adj2" fmla="val 519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dirty="0">
                <a:ea typeface="Arial Unicode MS" pitchFamily="34" charset="-128"/>
                <a:cs typeface="Arial Unicode MS" pitchFamily="34" charset="-128"/>
              </a:rPr>
              <a:t>Only 1 </a:t>
            </a:r>
            <a:r>
              <a:rPr lang="en-US" sz="1800" kern="0" noProof="0" dirty="0" err="1">
                <a:ea typeface="Arial Unicode MS" pitchFamily="34" charset="-128"/>
                <a:cs typeface="Arial Unicode MS" pitchFamily="34" charset="-128"/>
              </a:rPr>
              <a:t>Loadbalancer</a:t>
            </a:r>
            <a:r>
              <a:rPr lang="en-US" sz="1800" kern="0" noProof="0" dirty="0">
                <a:ea typeface="Arial Unicode MS" pitchFamily="34" charset="-128"/>
                <a:cs typeface="Arial Unicode MS" pitchFamily="34" charset="-128"/>
              </a:rPr>
              <a:t> Service!</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1" name="Speech Bubble: Rectangle 10">
            <a:extLst>
              <a:ext uri="{FF2B5EF4-FFF2-40B4-BE49-F238E27FC236}">
                <a16:creationId xmlns:a16="http://schemas.microsoft.com/office/drawing/2014/main" id="{92120F51-D823-447F-9FD7-E0AD0D2B89DA}"/>
              </a:ext>
            </a:extLst>
          </p:cNvPr>
          <p:cNvSpPr/>
          <p:nvPr/>
        </p:nvSpPr>
        <p:spPr bwMode="gray">
          <a:xfrm>
            <a:off x="6028272" y="2260320"/>
            <a:ext cx="4018844" cy="624325"/>
          </a:xfrm>
          <a:prstGeom prst="wedgeRectCallout">
            <a:avLst>
              <a:gd name="adj1" fmla="val -82617"/>
              <a:gd name="adj2" fmla="val 519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dirty="0">
                <a:ea typeface="Arial Unicode MS" pitchFamily="34" charset="-128"/>
                <a:cs typeface="Arial Unicode MS" pitchFamily="34" charset="-128"/>
              </a:rPr>
              <a:t>No more than 200MB memory!</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2" name="Rectangle: Rounded Corners 11">
            <a:extLst>
              <a:ext uri="{FF2B5EF4-FFF2-40B4-BE49-F238E27FC236}">
                <a16:creationId xmlns:a16="http://schemas.microsoft.com/office/drawing/2014/main" id="{3C754D9D-C375-4A2D-A020-34DA819D456F}"/>
              </a:ext>
            </a:extLst>
          </p:cNvPr>
          <p:cNvSpPr/>
          <p:nvPr/>
        </p:nvSpPr>
        <p:spPr bwMode="gray">
          <a:xfrm>
            <a:off x="3015385" y="5157734"/>
            <a:ext cx="1805352"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NetworkPolicy</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3" name="Rectangle: Rounded Corners 12">
            <a:extLst>
              <a:ext uri="{FF2B5EF4-FFF2-40B4-BE49-F238E27FC236}">
                <a16:creationId xmlns:a16="http://schemas.microsoft.com/office/drawing/2014/main" id="{01ACEB5E-A186-4491-A6B4-54F213303948}"/>
              </a:ext>
            </a:extLst>
          </p:cNvPr>
          <p:cNvSpPr/>
          <p:nvPr/>
        </p:nvSpPr>
        <p:spPr bwMode="gray">
          <a:xfrm>
            <a:off x="3015382" y="4397187"/>
            <a:ext cx="1805352"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PodSecurityPolicy</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4" name="Rectangle 13">
            <a:extLst>
              <a:ext uri="{FF2B5EF4-FFF2-40B4-BE49-F238E27FC236}">
                <a16:creationId xmlns:a16="http://schemas.microsoft.com/office/drawing/2014/main" id="{BE3D9392-4A77-453F-9415-C2B5094DF109}"/>
              </a:ext>
            </a:extLst>
          </p:cNvPr>
          <p:cNvSpPr/>
          <p:nvPr/>
        </p:nvSpPr>
        <p:spPr bwMode="gray">
          <a:xfrm>
            <a:off x="2874671" y="4226478"/>
            <a:ext cx="2092821" cy="1713034"/>
          </a:xfrm>
          <a:prstGeom prst="rect">
            <a:avLst/>
          </a:prstGeom>
          <a:noFill/>
          <a:ln w="25400" algn="ctr">
            <a:solidFill>
              <a:schemeClr val="accent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5" name="TextBox 14">
            <a:extLst>
              <a:ext uri="{FF2B5EF4-FFF2-40B4-BE49-F238E27FC236}">
                <a16:creationId xmlns:a16="http://schemas.microsoft.com/office/drawing/2014/main" id="{C6A4C3BB-3C96-4D27-B8AB-4144436C70F5}"/>
              </a:ext>
            </a:extLst>
          </p:cNvPr>
          <p:cNvSpPr txBox="1"/>
          <p:nvPr/>
        </p:nvSpPr>
        <p:spPr>
          <a:xfrm>
            <a:off x="1086406" y="4944495"/>
            <a:ext cx="1539285" cy="276999"/>
          </a:xfrm>
          <a:prstGeom prst="rect">
            <a:avLst/>
          </a:prstGeom>
          <a:solidFill>
            <a:schemeClr val="bg1">
              <a:alpha val="58000"/>
            </a:schemeClr>
          </a:solidFill>
        </p:spPr>
        <p:txBody>
          <a:bodyPr wrap="square" lIns="0" tIns="0" rIns="0" bIns="0" rtlCol="0">
            <a:spAutoFit/>
          </a:bodyPr>
          <a:lstStyle>
            <a:defPPr>
              <a:defRPr lang="de-DE"/>
            </a:defPPr>
            <a:lvl1pPr fontAlgn="base">
              <a:spcBef>
                <a:spcPct val="50000"/>
              </a:spcBef>
              <a:spcAft>
                <a:spcPct val="0"/>
              </a:spcAft>
              <a:buClr>
                <a:srgbClr val="F0AB00"/>
              </a:buClr>
              <a:buSzPct val="80000"/>
              <a:defRPr sz="1400" kern="0">
                <a:latin typeface="Arial Rounded MT Bold" panose="020F0704030504030204" pitchFamily="34" charset="0"/>
                <a:ea typeface="Arial Unicode MS" pitchFamily="34" charset="-128"/>
                <a:cs typeface="Arial Unicode MS" pitchFamily="34" charset="-128"/>
              </a:defRPr>
            </a:lvl1pPr>
          </a:lstStyle>
          <a:p>
            <a:pPr algn="ctr"/>
            <a:r>
              <a:rPr lang="en-US" sz="1800" dirty="0"/>
              <a:t>Security</a:t>
            </a:r>
          </a:p>
        </p:txBody>
      </p:sp>
      <p:sp>
        <p:nvSpPr>
          <p:cNvPr id="16" name="Speech Bubble: Rectangle 15">
            <a:extLst>
              <a:ext uri="{FF2B5EF4-FFF2-40B4-BE49-F238E27FC236}">
                <a16:creationId xmlns:a16="http://schemas.microsoft.com/office/drawing/2014/main" id="{D27A0F7F-85B3-45BF-9C60-D538B5FC38DA}"/>
              </a:ext>
            </a:extLst>
          </p:cNvPr>
          <p:cNvSpPr/>
          <p:nvPr/>
        </p:nvSpPr>
        <p:spPr bwMode="gray">
          <a:xfrm>
            <a:off x="6028272" y="3997992"/>
            <a:ext cx="4018844" cy="624325"/>
          </a:xfrm>
          <a:prstGeom prst="wedgeRectCallout">
            <a:avLst>
              <a:gd name="adj1" fmla="val -82617"/>
              <a:gd name="adj2" fmla="val 519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Beta: Do not run as root user </a:t>
            </a:r>
          </a:p>
        </p:txBody>
      </p:sp>
      <p:sp>
        <p:nvSpPr>
          <p:cNvPr id="17" name="Speech Bubble: Rectangle 16">
            <a:extLst>
              <a:ext uri="{FF2B5EF4-FFF2-40B4-BE49-F238E27FC236}">
                <a16:creationId xmlns:a16="http://schemas.microsoft.com/office/drawing/2014/main" id="{B6758572-3534-4C20-9E83-F02F130309B3}"/>
              </a:ext>
            </a:extLst>
          </p:cNvPr>
          <p:cNvSpPr/>
          <p:nvPr/>
        </p:nvSpPr>
        <p:spPr bwMode="gray">
          <a:xfrm>
            <a:off x="6028272" y="4845571"/>
            <a:ext cx="4018844" cy="624325"/>
          </a:xfrm>
          <a:prstGeom prst="wedgeRectCallout">
            <a:avLst>
              <a:gd name="adj1" fmla="val -82617"/>
              <a:gd name="adj2" fmla="val 519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Communication to DB is forbidden</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28200811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2134E64-B6B5-4011-AB8A-D14470FE5439}"/>
              </a:ext>
            </a:extLst>
          </p:cNvPr>
          <p:cNvSpPr>
            <a:spLocks noGrp="1"/>
          </p:cNvSpPr>
          <p:nvPr>
            <p:ph type="title"/>
          </p:nvPr>
        </p:nvSpPr>
        <p:spPr/>
        <p:txBody>
          <a:bodyPr/>
          <a:lstStyle/>
          <a:p>
            <a:r>
              <a:rPr lang="en-US" dirty="0" err="1"/>
              <a:t>PodSecurityPolicy</a:t>
            </a:r>
            <a:r>
              <a:rPr lang="en-US" dirty="0"/>
              <a:t> – initial state without constraints</a:t>
            </a:r>
          </a:p>
        </p:txBody>
      </p:sp>
      <p:cxnSp>
        <p:nvCxnSpPr>
          <p:cNvPr id="9" name="Straight Arrow Connector 8">
            <a:extLst>
              <a:ext uri="{FF2B5EF4-FFF2-40B4-BE49-F238E27FC236}">
                <a16:creationId xmlns:a16="http://schemas.microsoft.com/office/drawing/2014/main" id="{F75F57C4-29AD-48B7-BE7F-3C85FF14F233}"/>
              </a:ext>
            </a:extLst>
          </p:cNvPr>
          <p:cNvCxnSpPr>
            <a:cxnSpLocks/>
            <a:stCxn id="8" idx="3"/>
            <a:endCxn id="10" idx="1"/>
          </p:cNvCxnSpPr>
          <p:nvPr/>
        </p:nvCxnSpPr>
        <p:spPr>
          <a:xfrm>
            <a:off x="4004661" y="1925372"/>
            <a:ext cx="1348299" cy="0"/>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41" name="Group 40">
            <a:extLst>
              <a:ext uri="{FF2B5EF4-FFF2-40B4-BE49-F238E27FC236}">
                <a16:creationId xmlns:a16="http://schemas.microsoft.com/office/drawing/2014/main" id="{2FC60224-5E0A-4745-AEBF-E601C21B9DD2}"/>
              </a:ext>
            </a:extLst>
          </p:cNvPr>
          <p:cNvGrpSpPr/>
          <p:nvPr/>
        </p:nvGrpSpPr>
        <p:grpSpPr>
          <a:xfrm>
            <a:off x="2317644" y="1295705"/>
            <a:ext cx="7559189" cy="1259333"/>
            <a:chOff x="2078464" y="1326493"/>
            <a:chExt cx="7559189" cy="1259333"/>
          </a:xfrm>
        </p:grpSpPr>
        <p:sp>
          <p:nvSpPr>
            <p:cNvPr id="8" name="Rectangle 7">
              <a:extLst>
                <a:ext uri="{FF2B5EF4-FFF2-40B4-BE49-F238E27FC236}">
                  <a16:creationId xmlns:a16="http://schemas.microsoft.com/office/drawing/2014/main" id="{84D05E86-6989-4EF7-897D-D8518D2E68F7}"/>
                </a:ext>
              </a:extLst>
            </p:cNvPr>
            <p:cNvSpPr/>
            <p:nvPr/>
          </p:nvSpPr>
          <p:spPr bwMode="gray">
            <a:xfrm>
              <a:off x="2078464" y="1326493"/>
              <a:ext cx="1687017" cy="1259333"/>
            </a:xfrm>
            <a:prstGeom prst="rect">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ea typeface="Arial Unicode MS" pitchFamily="34" charset="-128"/>
                  <a:cs typeface="Arial Unicode MS" pitchFamily="34" charset="-128"/>
                </a:rPr>
                <a:t>service account</a:t>
              </a:r>
            </a:p>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“default”</a:t>
              </a:r>
            </a:p>
          </p:txBody>
        </p:sp>
        <p:sp>
          <p:nvSpPr>
            <p:cNvPr id="10" name="Rectangle 9">
              <a:extLst>
                <a:ext uri="{FF2B5EF4-FFF2-40B4-BE49-F238E27FC236}">
                  <a16:creationId xmlns:a16="http://schemas.microsoft.com/office/drawing/2014/main" id="{A2730B2F-CCDA-4E70-911D-FB0B01071450}"/>
                </a:ext>
              </a:extLst>
            </p:cNvPr>
            <p:cNvSpPr/>
            <p:nvPr/>
          </p:nvSpPr>
          <p:spPr bwMode="gray">
            <a:xfrm>
              <a:off x="5113780" y="1326493"/>
              <a:ext cx="1687016" cy="1259333"/>
            </a:xfrm>
            <a:prstGeom prst="rect">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ea typeface="Arial Unicode MS" pitchFamily="34" charset="-128"/>
                </a:rPr>
                <a:t>Pod A</a:t>
              </a:r>
            </a:p>
          </p:txBody>
        </p:sp>
        <p:sp>
          <p:nvSpPr>
            <p:cNvPr id="17" name="Flowchart: Magnetic Disk 16">
              <a:extLst>
                <a:ext uri="{FF2B5EF4-FFF2-40B4-BE49-F238E27FC236}">
                  <a16:creationId xmlns:a16="http://schemas.microsoft.com/office/drawing/2014/main" id="{D516CBA7-3A34-4EAB-B3FF-EB318F1CB518}"/>
                </a:ext>
              </a:extLst>
            </p:cNvPr>
            <p:cNvSpPr/>
            <p:nvPr/>
          </p:nvSpPr>
          <p:spPr bwMode="gray">
            <a:xfrm>
              <a:off x="8149095" y="1376685"/>
              <a:ext cx="1488558" cy="1158948"/>
            </a:xfrm>
            <a:prstGeom prst="flowChartMagneticDisk">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solidFill>
                    <a:schemeClr val="dk1"/>
                  </a:solidFill>
                  <a:latin typeface="+mn-lt"/>
                  <a:ea typeface="Arial Unicode MS" pitchFamily="34" charset="-128"/>
                </a:rPr>
                <a:t>host fs</a:t>
              </a:r>
            </a:p>
          </p:txBody>
        </p:sp>
      </p:grpSp>
      <p:cxnSp>
        <p:nvCxnSpPr>
          <p:cNvPr id="18" name="Straight Arrow Connector 17">
            <a:extLst>
              <a:ext uri="{FF2B5EF4-FFF2-40B4-BE49-F238E27FC236}">
                <a16:creationId xmlns:a16="http://schemas.microsoft.com/office/drawing/2014/main" id="{FD1CFF8F-0720-4A75-86AA-1D37DFC31524}"/>
              </a:ext>
            </a:extLst>
          </p:cNvPr>
          <p:cNvCxnSpPr>
            <a:cxnSpLocks/>
            <a:stCxn id="10" idx="3"/>
            <a:endCxn id="17" idx="2"/>
          </p:cNvCxnSpPr>
          <p:nvPr/>
        </p:nvCxnSpPr>
        <p:spPr>
          <a:xfrm flipV="1">
            <a:off x="7039976" y="1925371"/>
            <a:ext cx="1348299" cy="1"/>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0" name="Speech Bubble: Rectangle 39">
            <a:extLst>
              <a:ext uri="{FF2B5EF4-FFF2-40B4-BE49-F238E27FC236}">
                <a16:creationId xmlns:a16="http://schemas.microsoft.com/office/drawing/2014/main" id="{09762A84-99E5-4217-B84D-1A833424EDC0}"/>
              </a:ext>
            </a:extLst>
          </p:cNvPr>
          <p:cNvSpPr/>
          <p:nvPr/>
        </p:nvSpPr>
        <p:spPr bwMode="gray">
          <a:xfrm>
            <a:off x="2651145" y="3150714"/>
            <a:ext cx="2707032" cy="1259333"/>
          </a:xfrm>
          <a:prstGeom prst="wedgeRectCallout">
            <a:avLst>
              <a:gd name="adj1" fmla="val 42960"/>
              <a:gd name="adj2" fmla="val -83769"/>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Without </a:t>
            </a: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podSecurity</a:t>
            </a:r>
            <a:r>
              <a:rPr lang="en-US" sz="1800" kern="0" dirty="0">
                <a:ea typeface="Arial Unicode MS" pitchFamily="34" charset="-128"/>
                <a:cs typeface="Arial Unicode MS" pitchFamily="34" charset="-128"/>
              </a:rPr>
              <a:t>Policies everything is allowed</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2" name="Speech Bubble: Rectangle 51">
            <a:extLst>
              <a:ext uri="{FF2B5EF4-FFF2-40B4-BE49-F238E27FC236}">
                <a16:creationId xmlns:a16="http://schemas.microsoft.com/office/drawing/2014/main" id="{6D07CBEC-31F2-493D-B252-25E558CB26D1}"/>
              </a:ext>
            </a:extLst>
          </p:cNvPr>
          <p:cNvSpPr/>
          <p:nvPr/>
        </p:nvSpPr>
        <p:spPr bwMode="gray">
          <a:xfrm>
            <a:off x="6836998" y="3150714"/>
            <a:ext cx="2707032" cy="1259333"/>
          </a:xfrm>
          <a:prstGeom prst="wedgeRectCallout">
            <a:avLst>
              <a:gd name="adj1" fmla="val -6530"/>
              <a:gd name="adj2" fmla="val -11247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A container could run with root permissions on the host and mount the hosts file system</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pic>
        <p:nvPicPr>
          <p:cNvPr id="53" name="Graphic 52" descr="High Voltage">
            <a:extLst>
              <a:ext uri="{FF2B5EF4-FFF2-40B4-BE49-F238E27FC236}">
                <a16:creationId xmlns:a16="http://schemas.microsoft.com/office/drawing/2014/main" id="{B3A4DE96-3F45-469A-BDFB-CE16ED373EE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7909" y="3780379"/>
            <a:ext cx="2297117" cy="2297117"/>
          </a:xfrm>
          <a:prstGeom prst="rect">
            <a:avLst/>
          </a:prstGeom>
        </p:spPr>
      </p:pic>
    </p:spTree>
    <p:extLst>
      <p:ext uri="{BB962C8B-B14F-4D97-AF65-F5344CB8AC3E}">
        <p14:creationId xmlns:p14="http://schemas.microsoft.com/office/powerpoint/2010/main" val="17290631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2134E64-B6B5-4011-AB8A-D14470FE5439}"/>
              </a:ext>
            </a:extLst>
          </p:cNvPr>
          <p:cNvSpPr>
            <a:spLocks noGrp="1"/>
          </p:cNvSpPr>
          <p:nvPr>
            <p:ph type="title"/>
          </p:nvPr>
        </p:nvSpPr>
        <p:spPr/>
        <p:txBody>
          <a:bodyPr/>
          <a:lstStyle/>
          <a:p>
            <a:r>
              <a:rPr lang="en-US" dirty="0" err="1"/>
              <a:t>PodSecurityPolicy</a:t>
            </a:r>
            <a:endParaRPr lang="en-US" dirty="0"/>
          </a:p>
        </p:txBody>
      </p:sp>
      <p:cxnSp>
        <p:nvCxnSpPr>
          <p:cNvPr id="9" name="Straight Arrow Connector 8">
            <a:extLst>
              <a:ext uri="{FF2B5EF4-FFF2-40B4-BE49-F238E27FC236}">
                <a16:creationId xmlns:a16="http://schemas.microsoft.com/office/drawing/2014/main" id="{F75F57C4-29AD-48B7-BE7F-3C85FF14F233}"/>
              </a:ext>
            </a:extLst>
          </p:cNvPr>
          <p:cNvCxnSpPr>
            <a:cxnSpLocks/>
            <a:stCxn id="8" idx="3"/>
            <a:endCxn id="10" idx="1"/>
          </p:cNvCxnSpPr>
          <p:nvPr/>
        </p:nvCxnSpPr>
        <p:spPr>
          <a:xfrm>
            <a:off x="4004661" y="1925372"/>
            <a:ext cx="1348299" cy="0"/>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41" name="Group 40">
            <a:extLst>
              <a:ext uri="{FF2B5EF4-FFF2-40B4-BE49-F238E27FC236}">
                <a16:creationId xmlns:a16="http://schemas.microsoft.com/office/drawing/2014/main" id="{2FC60224-5E0A-4745-AEBF-E601C21B9DD2}"/>
              </a:ext>
            </a:extLst>
          </p:cNvPr>
          <p:cNvGrpSpPr/>
          <p:nvPr/>
        </p:nvGrpSpPr>
        <p:grpSpPr>
          <a:xfrm>
            <a:off x="2317644" y="1295705"/>
            <a:ext cx="7559189" cy="1259333"/>
            <a:chOff x="2078464" y="1326493"/>
            <a:chExt cx="7559189" cy="1259333"/>
          </a:xfrm>
        </p:grpSpPr>
        <p:sp>
          <p:nvSpPr>
            <p:cNvPr id="8" name="Rectangle 7">
              <a:extLst>
                <a:ext uri="{FF2B5EF4-FFF2-40B4-BE49-F238E27FC236}">
                  <a16:creationId xmlns:a16="http://schemas.microsoft.com/office/drawing/2014/main" id="{84D05E86-6989-4EF7-897D-D8518D2E68F7}"/>
                </a:ext>
              </a:extLst>
            </p:cNvPr>
            <p:cNvSpPr/>
            <p:nvPr/>
          </p:nvSpPr>
          <p:spPr bwMode="gray">
            <a:xfrm>
              <a:off x="2078464" y="1326493"/>
              <a:ext cx="1687017" cy="1259333"/>
            </a:xfrm>
            <a:prstGeom prst="rect">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ea typeface="Arial Unicode MS" pitchFamily="34" charset="-128"/>
                  <a:cs typeface="Arial Unicode MS" pitchFamily="34" charset="-128"/>
                </a:rPr>
                <a:t>service account</a:t>
              </a:r>
            </a:p>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“default”</a:t>
              </a:r>
            </a:p>
          </p:txBody>
        </p:sp>
        <p:sp>
          <p:nvSpPr>
            <p:cNvPr id="10" name="Rectangle 9">
              <a:extLst>
                <a:ext uri="{FF2B5EF4-FFF2-40B4-BE49-F238E27FC236}">
                  <a16:creationId xmlns:a16="http://schemas.microsoft.com/office/drawing/2014/main" id="{A2730B2F-CCDA-4E70-911D-FB0B01071450}"/>
                </a:ext>
              </a:extLst>
            </p:cNvPr>
            <p:cNvSpPr/>
            <p:nvPr/>
          </p:nvSpPr>
          <p:spPr bwMode="gray">
            <a:xfrm>
              <a:off x="5113780" y="1326493"/>
              <a:ext cx="1687016" cy="1259333"/>
            </a:xfrm>
            <a:prstGeom prst="rect">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ea typeface="Arial Unicode MS" pitchFamily="34" charset="-128"/>
                </a:rPr>
                <a:t>Pod A</a:t>
              </a:r>
            </a:p>
          </p:txBody>
        </p:sp>
        <p:sp>
          <p:nvSpPr>
            <p:cNvPr id="17" name="Flowchart: Magnetic Disk 16">
              <a:extLst>
                <a:ext uri="{FF2B5EF4-FFF2-40B4-BE49-F238E27FC236}">
                  <a16:creationId xmlns:a16="http://schemas.microsoft.com/office/drawing/2014/main" id="{D516CBA7-3A34-4EAB-B3FF-EB318F1CB518}"/>
                </a:ext>
              </a:extLst>
            </p:cNvPr>
            <p:cNvSpPr/>
            <p:nvPr/>
          </p:nvSpPr>
          <p:spPr bwMode="gray">
            <a:xfrm>
              <a:off x="8149095" y="1376685"/>
              <a:ext cx="1488558" cy="1158948"/>
            </a:xfrm>
            <a:prstGeom prst="flowChartMagneticDisk">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solidFill>
                    <a:schemeClr val="dk1"/>
                  </a:solidFill>
                  <a:latin typeface="+mn-lt"/>
                  <a:ea typeface="Arial Unicode MS" pitchFamily="34" charset="-128"/>
                </a:rPr>
                <a:t>host fs</a:t>
              </a:r>
            </a:p>
          </p:txBody>
        </p:sp>
      </p:grpSp>
      <p:cxnSp>
        <p:nvCxnSpPr>
          <p:cNvPr id="18" name="Straight Arrow Connector 17">
            <a:extLst>
              <a:ext uri="{FF2B5EF4-FFF2-40B4-BE49-F238E27FC236}">
                <a16:creationId xmlns:a16="http://schemas.microsoft.com/office/drawing/2014/main" id="{FD1CFF8F-0720-4A75-86AA-1D37DFC31524}"/>
              </a:ext>
            </a:extLst>
          </p:cNvPr>
          <p:cNvCxnSpPr>
            <a:cxnSpLocks/>
            <a:stCxn id="10" idx="3"/>
            <a:endCxn id="17" idx="2"/>
          </p:cNvCxnSpPr>
          <p:nvPr/>
        </p:nvCxnSpPr>
        <p:spPr>
          <a:xfrm flipV="1">
            <a:off x="7039976" y="1925371"/>
            <a:ext cx="1348299" cy="1"/>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12" name="Group 11">
            <a:extLst>
              <a:ext uri="{FF2B5EF4-FFF2-40B4-BE49-F238E27FC236}">
                <a16:creationId xmlns:a16="http://schemas.microsoft.com/office/drawing/2014/main" id="{38A10A34-71B9-4AAD-9E6F-92067F37E5DE}"/>
              </a:ext>
            </a:extLst>
          </p:cNvPr>
          <p:cNvGrpSpPr/>
          <p:nvPr/>
        </p:nvGrpSpPr>
        <p:grpSpPr>
          <a:xfrm>
            <a:off x="5253719" y="4765787"/>
            <a:ext cx="1687040" cy="1394650"/>
            <a:chOff x="5406471" y="2020106"/>
            <a:chExt cx="1687040" cy="1394650"/>
          </a:xfrm>
        </p:grpSpPr>
        <p:grpSp>
          <p:nvGrpSpPr>
            <p:cNvPr id="13" name="Group 12">
              <a:extLst>
                <a:ext uri="{FF2B5EF4-FFF2-40B4-BE49-F238E27FC236}">
                  <a16:creationId xmlns:a16="http://schemas.microsoft.com/office/drawing/2014/main" id="{C43161BD-C616-4A08-9C87-E7A55C470EDE}"/>
                </a:ext>
              </a:extLst>
            </p:cNvPr>
            <p:cNvGrpSpPr/>
            <p:nvPr/>
          </p:nvGrpSpPr>
          <p:grpSpPr>
            <a:xfrm>
              <a:off x="5406471" y="2020106"/>
              <a:ext cx="1371504" cy="969859"/>
              <a:chOff x="5406471" y="2020106"/>
              <a:chExt cx="1371504" cy="969859"/>
            </a:xfrm>
          </p:grpSpPr>
          <p:pic>
            <p:nvPicPr>
              <p:cNvPr id="15" name="Graphic 14" descr="Magnifying glass">
                <a:extLst>
                  <a:ext uri="{FF2B5EF4-FFF2-40B4-BE49-F238E27FC236}">
                    <a16:creationId xmlns:a16="http://schemas.microsoft.com/office/drawing/2014/main" id="{ECC788F2-05F0-467F-8A3C-177DC0467CA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06471" y="2075565"/>
                <a:ext cx="914400" cy="914400"/>
              </a:xfrm>
              <a:prstGeom prst="rect">
                <a:avLst/>
              </a:prstGeom>
            </p:spPr>
          </p:pic>
          <p:pic>
            <p:nvPicPr>
              <p:cNvPr id="16" name="Graphic 15" descr="Gears">
                <a:extLst>
                  <a:ext uri="{FF2B5EF4-FFF2-40B4-BE49-F238E27FC236}">
                    <a16:creationId xmlns:a16="http://schemas.microsoft.com/office/drawing/2014/main" id="{8E93DDB6-EBAA-4AFF-913F-424552D57F6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097587" y="2020106"/>
                <a:ext cx="680388" cy="680388"/>
              </a:xfrm>
              <a:prstGeom prst="rect">
                <a:avLst/>
              </a:prstGeom>
            </p:spPr>
          </p:pic>
        </p:grpSp>
        <p:sp>
          <p:nvSpPr>
            <p:cNvPr id="14" name="Rectangle 13">
              <a:extLst>
                <a:ext uri="{FF2B5EF4-FFF2-40B4-BE49-F238E27FC236}">
                  <a16:creationId xmlns:a16="http://schemas.microsoft.com/office/drawing/2014/main" id="{DF41810B-1AA8-4A00-BB45-752F131E6BBD}"/>
                </a:ext>
              </a:extLst>
            </p:cNvPr>
            <p:cNvSpPr/>
            <p:nvPr/>
          </p:nvSpPr>
          <p:spPr>
            <a:xfrm>
              <a:off x="5548230" y="3045424"/>
              <a:ext cx="1545281" cy="369332"/>
            </a:xfrm>
            <a:prstGeom prst="rect">
              <a:avLst/>
            </a:prstGeom>
          </p:spPr>
          <p:txBody>
            <a:bodyPr wrap="square">
              <a:spAutoFit/>
            </a:bodyPr>
            <a:lstStyle/>
            <a:p>
              <a:pPr algn="ctr" defTabSz="914400" fontAlgn="base">
                <a:spcBef>
                  <a:spcPct val="50000"/>
                </a:spcBef>
                <a:spcAft>
                  <a:spcPct val="0"/>
                </a:spcAft>
                <a:buClr>
                  <a:srgbClr val="F0AB00"/>
                </a:buClr>
                <a:buSzPct val="80000"/>
              </a:pPr>
              <a:r>
                <a:rPr lang="en-US" sz="1800" b="1" kern="0" dirty="0">
                  <a:ea typeface="Arial Unicode MS" pitchFamily="34" charset="-128"/>
                  <a:cs typeface="Arial Unicode MS" pitchFamily="34" charset="-128"/>
                </a:rPr>
                <a:t>Controller</a:t>
              </a:r>
            </a:p>
          </p:txBody>
        </p:sp>
      </p:grpSp>
      <p:sp>
        <p:nvSpPr>
          <p:cNvPr id="19" name="Speech Bubble: Rectangle 18">
            <a:extLst>
              <a:ext uri="{FF2B5EF4-FFF2-40B4-BE49-F238E27FC236}">
                <a16:creationId xmlns:a16="http://schemas.microsoft.com/office/drawing/2014/main" id="{1230DB5D-2C2E-4366-8707-19C6DA3E1A8E}"/>
              </a:ext>
            </a:extLst>
          </p:cNvPr>
          <p:cNvSpPr/>
          <p:nvPr/>
        </p:nvSpPr>
        <p:spPr bwMode="gray">
          <a:xfrm>
            <a:off x="1490955" y="4765787"/>
            <a:ext cx="2707032" cy="1259333"/>
          </a:xfrm>
          <a:prstGeom prst="wedgeRectCallout">
            <a:avLst>
              <a:gd name="adj1" fmla="val 77131"/>
              <a:gd name="adj2" fmla="val -2716"/>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The controller</a:t>
            </a:r>
            <a:r>
              <a:rPr kumimoji="0" lang="en-US" sz="1800" b="0" i="0" u="none" strike="noStrike" kern="0" cap="none" spc="0" normalizeH="0" noProof="0" dirty="0">
                <a:ln>
                  <a:noFill/>
                </a:ln>
                <a:effectLst/>
                <a:uLnTx/>
                <a:uFillTx/>
                <a:ea typeface="Arial Unicode MS" pitchFamily="34" charset="-128"/>
                <a:cs typeface="Arial Unicode MS" pitchFamily="34" charset="-128"/>
              </a:rPr>
              <a:t> for pod security policies runs as part of the cluster’s control plane</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0" name="Speech Bubble: Rectangle 19">
            <a:extLst>
              <a:ext uri="{FF2B5EF4-FFF2-40B4-BE49-F238E27FC236}">
                <a16:creationId xmlns:a16="http://schemas.microsoft.com/office/drawing/2014/main" id="{27F9A53D-2882-4337-B8D6-92F77CC645E1}"/>
              </a:ext>
            </a:extLst>
          </p:cNvPr>
          <p:cNvSpPr/>
          <p:nvPr/>
        </p:nvSpPr>
        <p:spPr bwMode="gray">
          <a:xfrm>
            <a:off x="8266965" y="3723489"/>
            <a:ext cx="2707032" cy="1259333"/>
          </a:xfrm>
          <a:prstGeom prst="wedgeRectCallout">
            <a:avLst>
              <a:gd name="adj1" fmla="val -92941"/>
              <a:gd name="adj2" fmla="val -3902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As soon as it the</a:t>
            </a:r>
            <a:r>
              <a:rPr kumimoji="0" lang="en-US" sz="1800" b="0" i="0" u="none" strike="noStrike" kern="0" cap="none" spc="0" normalizeH="0" noProof="0" dirty="0">
                <a:ln>
                  <a:noFill/>
                </a:ln>
                <a:effectLst/>
                <a:uLnTx/>
                <a:uFillTx/>
                <a:ea typeface="Arial Unicode MS" pitchFamily="34" charset="-128"/>
                <a:cs typeface="Arial Unicode MS" pitchFamily="34" charset="-128"/>
              </a:rPr>
              <a:t> controller is active, no pods are accepted anymore</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pic>
        <p:nvPicPr>
          <p:cNvPr id="21" name="Graphic 20" descr="High Voltage">
            <a:extLst>
              <a:ext uri="{FF2B5EF4-FFF2-40B4-BE49-F238E27FC236}">
                <a16:creationId xmlns:a16="http://schemas.microsoft.com/office/drawing/2014/main" id="{F89D7EF0-3921-4EEA-BF49-32A70ECAD7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019559" y="2440940"/>
            <a:ext cx="2297117" cy="2297117"/>
          </a:xfrm>
          <a:prstGeom prst="rect">
            <a:avLst/>
          </a:prstGeom>
        </p:spPr>
      </p:pic>
    </p:spTree>
    <p:extLst>
      <p:ext uri="{BB962C8B-B14F-4D97-AF65-F5344CB8AC3E}">
        <p14:creationId xmlns:p14="http://schemas.microsoft.com/office/powerpoint/2010/main" val="8197427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2134E64-B6B5-4011-AB8A-D14470FE5439}"/>
              </a:ext>
            </a:extLst>
          </p:cNvPr>
          <p:cNvSpPr>
            <a:spLocks noGrp="1"/>
          </p:cNvSpPr>
          <p:nvPr>
            <p:ph type="title"/>
          </p:nvPr>
        </p:nvSpPr>
        <p:spPr/>
        <p:txBody>
          <a:bodyPr/>
          <a:lstStyle/>
          <a:p>
            <a:r>
              <a:rPr lang="en-US" dirty="0" err="1"/>
              <a:t>PodSecurityPolicy</a:t>
            </a:r>
            <a:endParaRPr lang="en-US" dirty="0"/>
          </a:p>
        </p:txBody>
      </p:sp>
      <p:cxnSp>
        <p:nvCxnSpPr>
          <p:cNvPr id="9" name="Straight Arrow Connector 8">
            <a:extLst>
              <a:ext uri="{FF2B5EF4-FFF2-40B4-BE49-F238E27FC236}">
                <a16:creationId xmlns:a16="http://schemas.microsoft.com/office/drawing/2014/main" id="{F75F57C4-29AD-48B7-BE7F-3C85FF14F233}"/>
              </a:ext>
            </a:extLst>
          </p:cNvPr>
          <p:cNvCxnSpPr>
            <a:cxnSpLocks/>
            <a:stCxn id="8" idx="3"/>
            <a:endCxn id="10" idx="1"/>
          </p:cNvCxnSpPr>
          <p:nvPr/>
        </p:nvCxnSpPr>
        <p:spPr>
          <a:xfrm>
            <a:off x="4004661" y="1925372"/>
            <a:ext cx="1348299" cy="0"/>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41" name="Group 40">
            <a:extLst>
              <a:ext uri="{FF2B5EF4-FFF2-40B4-BE49-F238E27FC236}">
                <a16:creationId xmlns:a16="http://schemas.microsoft.com/office/drawing/2014/main" id="{2FC60224-5E0A-4745-AEBF-E601C21B9DD2}"/>
              </a:ext>
            </a:extLst>
          </p:cNvPr>
          <p:cNvGrpSpPr/>
          <p:nvPr/>
        </p:nvGrpSpPr>
        <p:grpSpPr>
          <a:xfrm>
            <a:off x="2317644" y="1295705"/>
            <a:ext cx="7559189" cy="1259333"/>
            <a:chOff x="2078464" y="1326493"/>
            <a:chExt cx="7559189" cy="1259333"/>
          </a:xfrm>
        </p:grpSpPr>
        <p:sp>
          <p:nvSpPr>
            <p:cNvPr id="8" name="Rectangle 7">
              <a:extLst>
                <a:ext uri="{FF2B5EF4-FFF2-40B4-BE49-F238E27FC236}">
                  <a16:creationId xmlns:a16="http://schemas.microsoft.com/office/drawing/2014/main" id="{84D05E86-6989-4EF7-897D-D8518D2E68F7}"/>
                </a:ext>
              </a:extLst>
            </p:cNvPr>
            <p:cNvSpPr/>
            <p:nvPr/>
          </p:nvSpPr>
          <p:spPr bwMode="gray">
            <a:xfrm>
              <a:off x="2078464" y="1326493"/>
              <a:ext cx="1687017" cy="1259333"/>
            </a:xfrm>
            <a:prstGeom prst="rect">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ea typeface="Arial Unicode MS" pitchFamily="34" charset="-128"/>
                  <a:cs typeface="Arial Unicode MS" pitchFamily="34" charset="-128"/>
                </a:rPr>
                <a:t>service account</a:t>
              </a:r>
            </a:p>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“default”</a:t>
              </a:r>
            </a:p>
          </p:txBody>
        </p:sp>
        <p:sp>
          <p:nvSpPr>
            <p:cNvPr id="10" name="Rectangle 9">
              <a:extLst>
                <a:ext uri="{FF2B5EF4-FFF2-40B4-BE49-F238E27FC236}">
                  <a16:creationId xmlns:a16="http://schemas.microsoft.com/office/drawing/2014/main" id="{A2730B2F-CCDA-4E70-911D-FB0B01071450}"/>
                </a:ext>
              </a:extLst>
            </p:cNvPr>
            <p:cNvSpPr/>
            <p:nvPr/>
          </p:nvSpPr>
          <p:spPr bwMode="gray">
            <a:xfrm>
              <a:off x="5113780" y="1326493"/>
              <a:ext cx="1687016" cy="1259333"/>
            </a:xfrm>
            <a:prstGeom prst="rect">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ea typeface="Arial Unicode MS" pitchFamily="34" charset="-128"/>
                </a:rPr>
                <a:t>Pod A</a:t>
              </a:r>
            </a:p>
          </p:txBody>
        </p:sp>
        <p:sp>
          <p:nvSpPr>
            <p:cNvPr id="17" name="Flowchart: Magnetic Disk 16">
              <a:extLst>
                <a:ext uri="{FF2B5EF4-FFF2-40B4-BE49-F238E27FC236}">
                  <a16:creationId xmlns:a16="http://schemas.microsoft.com/office/drawing/2014/main" id="{D516CBA7-3A34-4EAB-B3FF-EB318F1CB518}"/>
                </a:ext>
              </a:extLst>
            </p:cNvPr>
            <p:cNvSpPr/>
            <p:nvPr/>
          </p:nvSpPr>
          <p:spPr bwMode="gray">
            <a:xfrm>
              <a:off x="8149095" y="1376685"/>
              <a:ext cx="1488558" cy="1158948"/>
            </a:xfrm>
            <a:prstGeom prst="flowChartMagneticDisk">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solidFill>
                    <a:schemeClr val="dk1"/>
                  </a:solidFill>
                  <a:latin typeface="+mn-lt"/>
                  <a:ea typeface="Arial Unicode MS" pitchFamily="34" charset="-128"/>
                </a:rPr>
                <a:t>host fs</a:t>
              </a:r>
            </a:p>
          </p:txBody>
        </p:sp>
      </p:grpSp>
      <p:cxnSp>
        <p:nvCxnSpPr>
          <p:cNvPr id="18" name="Straight Arrow Connector 17">
            <a:extLst>
              <a:ext uri="{FF2B5EF4-FFF2-40B4-BE49-F238E27FC236}">
                <a16:creationId xmlns:a16="http://schemas.microsoft.com/office/drawing/2014/main" id="{FD1CFF8F-0720-4A75-86AA-1D37DFC31524}"/>
              </a:ext>
            </a:extLst>
          </p:cNvPr>
          <p:cNvCxnSpPr>
            <a:cxnSpLocks/>
            <a:stCxn id="10" idx="3"/>
            <a:endCxn id="17" idx="2"/>
          </p:cNvCxnSpPr>
          <p:nvPr/>
        </p:nvCxnSpPr>
        <p:spPr>
          <a:xfrm flipV="1">
            <a:off x="7039976" y="1925371"/>
            <a:ext cx="1348299" cy="1"/>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12" name="Group 11">
            <a:extLst>
              <a:ext uri="{FF2B5EF4-FFF2-40B4-BE49-F238E27FC236}">
                <a16:creationId xmlns:a16="http://schemas.microsoft.com/office/drawing/2014/main" id="{38A10A34-71B9-4AAD-9E6F-92067F37E5DE}"/>
              </a:ext>
            </a:extLst>
          </p:cNvPr>
          <p:cNvGrpSpPr/>
          <p:nvPr/>
        </p:nvGrpSpPr>
        <p:grpSpPr>
          <a:xfrm>
            <a:off x="6626057" y="4532562"/>
            <a:ext cx="1687040" cy="1394650"/>
            <a:chOff x="5406471" y="2020106"/>
            <a:chExt cx="1687040" cy="1394650"/>
          </a:xfrm>
        </p:grpSpPr>
        <p:grpSp>
          <p:nvGrpSpPr>
            <p:cNvPr id="13" name="Group 12">
              <a:extLst>
                <a:ext uri="{FF2B5EF4-FFF2-40B4-BE49-F238E27FC236}">
                  <a16:creationId xmlns:a16="http://schemas.microsoft.com/office/drawing/2014/main" id="{C43161BD-C616-4A08-9C87-E7A55C470EDE}"/>
                </a:ext>
              </a:extLst>
            </p:cNvPr>
            <p:cNvGrpSpPr/>
            <p:nvPr/>
          </p:nvGrpSpPr>
          <p:grpSpPr>
            <a:xfrm>
              <a:off x="5406471" y="2020106"/>
              <a:ext cx="1371504" cy="969859"/>
              <a:chOff x="5406471" y="2020106"/>
              <a:chExt cx="1371504" cy="969859"/>
            </a:xfrm>
          </p:grpSpPr>
          <p:pic>
            <p:nvPicPr>
              <p:cNvPr id="15" name="Graphic 14" descr="Magnifying glass">
                <a:extLst>
                  <a:ext uri="{FF2B5EF4-FFF2-40B4-BE49-F238E27FC236}">
                    <a16:creationId xmlns:a16="http://schemas.microsoft.com/office/drawing/2014/main" id="{ECC788F2-05F0-467F-8A3C-177DC0467CA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06471" y="2075565"/>
                <a:ext cx="914400" cy="914400"/>
              </a:xfrm>
              <a:prstGeom prst="rect">
                <a:avLst/>
              </a:prstGeom>
            </p:spPr>
          </p:pic>
          <p:pic>
            <p:nvPicPr>
              <p:cNvPr id="16" name="Graphic 15" descr="Gears">
                <a:extLst>
                  <a:ext uri="{FF2B5EF4-FFF2-40B4-BE49-F238E27FC236}">
                    <a16:creationId xmlns:a16="http://schemas.microsoft.com/office/drawing/2014/main" id="{8E93DDB6-EBAA-4AFF-913F-424552D57F6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097587" y="2020106"/>
                <a:ext cx="680388" cy="680388"/>
              </a:xfrm>
              <a:prstGeom prst="rect">
                <a:avLst/>
              </a:prstGeom>
            </p:spPr>
          </p:pic>
        </p:grpSp>
        <p:sp>
          <p:nvSpPr>
            <p:cNvPr id="14" name="Rectangle 13">
              <a:extLst>
                <a:ext uri="{FF2B5EF4-FFF2-40B4-BE49-F238E27FC236}">
                  <a16:creationId xmlns:a16="http://schemas.microsoft.com/office/drawing/2014/main" id="{DF41810B-1AA8-4A00-BB45-752F131E6BBD}"/>
                </a:ext>
              </a:extLst>
            </p:cNvPr>
            <p:cNvSpPr/>
            <p:nvPr/>
          </p:nvSpPr>
          <p:spPr>
            <a:xfrm>
              <a:off x="5548230" y="3045424"/>
              <a:ext cx="1545281" cy="369332"/>
            </a:xfrm>
            <a:prstGeom prst="rect">
              <a:avLst/>
            </a:prstGeom>
          </p:spPr>
          <p:txBody>
            <a:bodyPr wrap="square">
              <a:spAutoFit/>
            </a:bodyPr>
            <a:lstStyle/>
            <a:p>
              <a:pPr algn="ctr" defTabSz="914400" fontAlgn="base">
                <a:spcBef>
                  <a:spcPct val="50000"/>
                </a:spcBef>
                <a:spcAft>
                  <a:spcPct val="0"/>
                </a:spcAft>
                <a:buClr>
                  <a:srgbClr val="F0AB00"/>
                </a:buClr>
                <a:buSzPct val="80000"/>
              </a:pPr>
              <a:r>
                <a:rPr lang="en-US" sz="1800" b="1" kern="0" dirty="0">
                  <a:ea typeface="Arial Unicode MS" pitchFamily="34" charset="-128"/>
                  <a:cs typeface="Arial Unicode MS" pitchFamily="34" charset="-128"/>
                </a:rPr>
                <a:t>Controller</a:t>
              </a:r>
            </a:p>
          </p:txBody>
        </p:sp>
      </p:grpSp>
      <p:grpSp>
        <p:nvGrpSpPr>
          <p:cNvPr id="22" name="Group 21">
            <a:extLst>
              <a:ext uri="{FF2B5EF4-FFF2-40B4-BE49-F238E27FC236}">
                <a16:creationId xmlns:a16="http://schemas.microsoft.com/office/drawing/2014/main" id="{99E82D95-74DB-46D6-9098-4DC4184F8878}"/>
              </a:ext>
            </a:extLst>
          </p:cNvPr>
          <p:cNvGrpSpPr/>
          <p:nvPr/>
        </p:nvGrpSpPr>
        <p:grpSpPr>
          <a:xfrm>
            <a:off x="4133337" y="4700450"/>
            <a:ext cx="2278288" cy="1226762"/>
            <a:chOff x="3145872" y="4029740"/>
            <a:chExt cx="2278288" cy="1226762"/>
          </a:xfrm>
        </p:grpSpPr>
        <p:pic>
          <p:nvPicPr>
            <p:cNvPr id="23" name="Graphic 22" descr="Jail">
              <a:extLst>
                <a:ext uri="{FF2B5EF4-FFF2-40B4-BE49-F238E27FC236}">
                  <a16:creationId xmlns:a16="http://schemas.microsoft.com/office/drawing/2014/main" id="{3EDC1366-B4CD-4803-8460-56E1D2CC7CB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7816" y="4029740"/>
              <a:ext cx="914400" cy="914400"/>
            </a:xfrm>
            <a:prstGeom prst="rect">
              <a:avLst/>
            </a:prstGeom>
          </p:spPr>
        </p:pic>
        <p:sp>
          <p:nvSpPr>
            <p:cNvPr id="24" name="Rectangle 23">
              <a:extLst>
                <a:ext uri="{FF2B5EF4-FFF2-40B4-BE49-F238E27FC236}">
                  <a16:creationId xmlns:a16="http://schemas.microsoft.com/office/drawing/2014/main" id="{64897D01-C9A1-44DC-A6D7-AE87ED3059D4}"/>
                </a:ext>
              </a:extLst>
            </p:cNvPr>
            <p:cNvSpPr/>
            <p:nvPr/>
          </p:nvSpPr>
          <p:spPr>
            <a:xfrm>
              <a:off x="3145872" y="4887170"/>
              <a:ext cx="2278288" cy="369332"/>
            </a:xfrm>
            <a:prstGeom prst="rect">
              <a:avLst/>
            </a:prstGeom>
          </p:spPr>
          <p:txBody>
            <a:bodyPr wrap="square">
              <a:spAutoFit/>
            </a:bodyPr>
            <a:lstStyle/>
            <a:p>
              <a:pPr algn="ctr" defTabSz="914400" fontAlgn="base">
                <a:spcBef>
                  <a:spcPct val="50000"/>
                </a:spcBef>
                <a:spcAft>
                  <a:spcPct val="0"/>
                </a:spcAft>
                <a:buClr>
                  <a:srgbClr val="F0AB00"/>
                </a:buClr>
                <a:buSzPct val="80000"/>
              </a:pPr>
              <a:r>
                <a:rPr lang="en-US" sz="1800" b="1" kern="0" dirty="0" err="1">
                  <a:ea typeface="Arial Unicode MS" pitchFamily="34" charset="-128"/>
                  <a:cs typeface="Arial Unicode MS" pitchFamily="34" charset="-128"/>
                </a:rPr>
                <a:t>PodSecurityPolicy</a:t>
              </a:r>
              <a:endParaRPr lang="en-US" sz="1800" b="1" kern="0" dirty="0">
                <a:ea typeface="Arial Unicode MS" pitchFamily="34" charset="-128"/>
                <a:cs typeface="Arial Unicode MS" pitchFamily="34" charset="-128"/>
              </a:endParaRPr>
            </a:p>
          </p:txBody>
        </p:sp>
      </p:grpSp>
      <p:cxnSp>
        <p:nvCxnSpPr>
          <p:cNvPr id="25" name="Straight Arrow Connector 24">
            <a:extLst>
              <a:ext uri="{FF2B5EF4-FFF2-40B4-BE49-F238E27FC236}">
                <a16:creationId xmlns:a16="http://schemas.microsoft.com/office/drawing/2014/main" id="{EA877CEF-F5C7-4837-BEC8-8F9401DCF01C}"/>
              </a:ext>
            </a:extLst>
          </p:cNvPr>
          <p:cNvCxnSpPr>
            <a:cxnSpLocks/>
            <a:stCxn id="27" idx="1"/>
            <a:endCxn id="26" idx="2"/>
          </p:cNvCxnSpPr>
          <p:nvPr/>
        </p:nvCxnSpPr>
        <p:spPr>
          <a:xfrm flipV="1">
            <a:off x="3157451" y="3852478"/>
            <a:ext cx="0" cy="454746"/>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6" name="Rectangle 25">
            <a:extLst>
              <a:ext uri="{FF2B5EF4-FFF2-40B4-BE49-F238E27FC236}">
                <a16:creationId xmlns:a16="http://schemas.microsoft.com/office/drawing/2014/main" id="{3A026F30-6A9C-4DF3-9923-C5B0CE4B3778}"/>
              </a:ext>
            </a:extLst>
          </p:cNvPr>
          <p:cNvSpPr/>
          <p:nvPr/>
        </p:nvSpPr>
        <p:spPr bwMode="gray">
          <a:xfrm>
            <a:off x="2499727" y="3078366"/>
            <a:ext cx="1315448" cy="774112"/>
          </a:xfrm>
          <a:prstGeom prst="rect">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ea typeface="Arial Unicode MS" pitchFamily="34" charset="-128"/>
              </a:rPr>
              <a:t>Role binding</a:t>
            </a:r>
          </a:p>
        </p:txBody>
      </p:sp>
      <p:sp>
        <p:nvSpPr>
          <p:cNvPr id="27" name="Cylinder 26">
            <a:extLst>
              <a:ext uri="{FF2B5EF4-FFF2-40B4-BE49-F238E27FC236}">
                <a16:creationId xmlns:a16="http://schemas.microsoft.com/office/drawing/2014/main" id="{4945CADE-3C4A-48FA-9086-FEF8C4AF9A19}"/>
              </a:ext>
            </a:extLst>
          </p:cNvPr>
          <p:cNvSpPr/>
          <p:nvPr/>
        </p:nvSpPr>
        <p:spPr bwMode="gray">
          <a:xfrm>
            <a:off x="2655967" y="4307224"/>
            <a:ext cx="1002967" cy="812920"/>
          </a:xfrm>
          <a:prstGeom prst="can">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ea typeface="Arial Unicode MS" pitchFamily="34" charset="-128"/>
              </a:rPr>
              <a:t>role</a:t>
            </a:r>
          </a:p>
        </p:txBody>
      </p:sp>
      <p:cxnSp>
        <p:nvCxnSpPr>
          <p:cNvPr id="28" name="Straight Arrow Connector 27">
            <a:extLst>
              <a:ext uri="{FF2B5EF4-FFF2-40B4-BE49-F238E27FC236}">
                <a16:creationId xmlns:a16="http://schemas.microsoft.com/office/drawing/2014/main" id="{BBF344A4-DFB1-4372-AED0-85EBD51BD13B}"/>
              </a:ext>
            </a:extLst>
          </p:cNvPr>
          <p:cNvCxnSpPr>
            <a:cxnSpLocks/>
            <a:stCxn id="26" idx="0"/>
            <a:endCxn id="8" idx="2"/>
          </p:cNvCxnSpPr>
          <p:nvPr/>
        </p:nvCxnSpPr>
        <p:spPr>
          <a:xfrm flipV="1">
            <a:off x="3157451" y="2555038"/>
            <a:ext cx="3702" cy="523328"/>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24F54746-0EF3-43A5-9281-6A1DA4B76D6C}"/>
              </a:ext>
            </a:extLst>
          </p:cNvPr>
          <p:cNvCxnSpPr>
            <a:cxnSpLocks/>
            <a:stCxn id="23" idx="1"/>
            <a:endCxn id="27" idx="4"/>
          </p:cNvCxnSpPr>
          <p:nvPr/>
        </p:nvCxnSpPr>
        <p:spPr>
          <a:xfrm flipH="1" flipV="1">
            <a:off x="3658934" y="4713684"/>
            <a:ext cx="1156347" cy="443966"/>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95476DBE-C792-488E-8EC3-839060D6D1A9}"/>
              </a:ext>
            </a:extLst>
          </p:cNvPr>
          <p:cNvCxnSpPr>
            <a:cxnSpLocks/>
            <a:endCxn id="10" idx="2"/>
          </p:cNvCxnSpPr>
          <p:nvPr/>
        </p:nvCxnSpPr>
        <p:spPr>
          <a:xfrm flipH="1" flipV="1">
            <a:off x="6196468" y="2555038"/>
            <a:ext cx="1120705" cy="1977524"/>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9" name="Speech Bubble: Rectangle 38">
            <a:extLst>
              <a:ext uri="{FF2B5EF4-FFF2-40B4-BE49-F238E27FC236}">
                <a16:creationId xmlns:a16="http://schemas.microsoft.com/office/drawing/2014/main" id="{F5C60CD7-A068-4641-AE45-D1961000036D}"/>
              </a:ext>
            </a:extLst>
          </p:cNvPr>
          <p:cNvSpPr/>
          <p:nvPr/>
        </p:nvSpPr>
        <p:spPr bwMode="gray">
          <a:xfrm>
            <a:off x="8160681" y="3285280"/>
            <a:ext cx="2707032" cy="1259333"/>
          </a:xfrm>
          <a:prstGeom prst="wedgeRectCallout">
            <a:avLst>
              <a:gd name="adj1" fmla="val -92941"/>
              <a:gd name="adj2" fmla="val -3902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The controller checks the pod according to the policy definition</a:t>
            </a:r>
          </a:p>
        </p:txBody>
      </p:sp>
      <p:sp>
        <p:nvSpPr>
          <p:cNvPr id="40" name="Speech Bubble: Rectangle 39">
            <a:extLst>
              <a:ext uri="{FF2B5EF4-FFF2-40B4-BE49-F238E27FC236}">
                <a16:creationId xmlns:a16="http://schemas.microsoft.com/office/drawing/2014/main" id="{D6EEB1FE-0913-4E84-9081-01483DE33C91}"/>
              </a:ext>
            </a:extLst>
          </p:cNvPr>
          <p:cNvSpPr/>
          <p:nvPr/>
        </p:nvSpPr>
        <p:spPr bwMode="gray">
          <a:xfrm>
            <a:off x="572625" y="4881062"/>
            <a:ext cx="1866913" cy="1259333"/>
          </a:xfrm>
          <a:prstGeom prst="wedgeRectCallout">
            <a:avLst>
              <a:gd name="adj1" fmla="val 58241"/>
              <a:gd name="adj2" fmla="val -103188"/>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“Activate” the policy for your service account</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41828034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2134E64-B6B5-4011-AB8A-D14470FE5439}"/>
              </a:ext>
            </a:extLst>
          </p:cNvPr>
          <p:cNvSpPr>
            <a:spLocks noGrp="1"/>
          </p:cNvSpPr>
          <p:nvPr>
            <p:ph type="title"/>
          </p:nvPr>
        </p:nvSpPr>
        <p:spPr/>
        <p:txBody>
          <a:bodyPr/>
          <a:lstStyle/>
          <a:p>
            <a:r>
              <a:rPr lang="en-US" dirty="0" err="1"/>
              <a:t>PodSecurityPolicy</a:t>
            </a:r>
            <a:endParaRPr lang="en-US" dirty="0"/>
          </a:p>
        </p:txBody>
      </p:sp>
      <p:cxnSp>
        <p:nvCxnSpPr>
          <p:cNvPr id="9" name="Straight Arrow Connector 8">
            <a:extLst>
              <a:ext uri="{FF2B5EF4-FFF2-40B4-BE49-F238E27FC236}">
                <a16:creationId xmlns:a16="http://schemas.microsoft.com/office/drawing/2014/main" id="{F75F57C4-29AD-48B7-BE7F-3C85FF14F233}"/>
              </a:ext>
            </a:extLst>
          </p:cNvPr>
          <p:cNvCxnSpPr>
            <a:cxnSpLocks/>
            <a:stCxn id="8" idx="3"/>
            <a:endCxn id="10" idx="1"/>
          </p:cNvCxnSpPr>
          <p:nvPr/>
        </p:nvCxnSpPr>
        <p:spPr>
          <a:xfrm>
            <a:off x="4004661" y="1925372"/>
            <a:ext cx="1348299" cy="0"/>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41" name="Group 40">
            <a:extLst>
              <a:ext uri="{FF2B5EF4-FFF2-40B4-BE49-F238E27FC236}">
                <a16:creationId xmlns:a16="http://schemas.microsoft.com/office/drawing/2014/main" id="{2FC60224-5E0A-4745-AEBF-E601C21B9DD2}"/>
              </a:ext>
            </a:extLst>
          </p:cNvPr>
          <p:cNvGrpSpPr/>
          <p:nvPr/>
        </p:nvGrpSpPr>
        <p:grpSpPr>
          <a:xfrm>
            <a:off x="2317644" y="1295705"/>
            <a:ext cx="7559189" cy="1259333"/>
            <a:chOff x="2078464" y="1326493"/>
            <a:chExt cx="7559189" cy="1259333"/>
          </a:xfrm>
        </p:grpSpPr>
        <p:sp>
          <p:nvSpPr>
            <p:cNvPr id="8" name="Rectangle 7">
              <a:extLst>
                <a:ext uri="{FF2B5EF4-FFF2-40B4-BE49-F238E27FC236}">
                  <a16:creationId xmlns:a16="http://schemas.microsoft.com/office/drawing/2014/main" id="{84D05E86-6989-4EF7-897D-D8518D2E68F7}"/>
                </a:ext>
              </a:extLst>
            </p:cNvPr>
            <p:cNvSpPr/>
            <p:nvPr/>
          </p:nvSpPr>
          <p:spPr bwMode="gray">
            <a:xfrm>
              <a:off x="2078464" y="1326493"/>
              <a:ext cx="1687017" cy="1259333"/>
            </a:xfrm>
            <a:prstGeom prst="rect">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ea typeface="Arial Unicode MS" pitchFamily="34" charset="-128"/>
                  <a:cs typeface="Arial Unicode MS" pitchFamily="34" charset="-128"/>
                </a:rPr>
                <a:t>service account</a:t>
              </a:r>
            </a:p>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“default”</a:t>
              </a:r>
            </a:p>
          </p:txBody>
        </p:sp>
        <p:sp>
          <p:nvSpPr>
            <p:cNvPr id="10" name="Rectangle 9">
              <a:extLst>
                <a:ext uri="{FF2B5EF4-FFF2-40B4-BE49-F238E27FC236}">
                  <a16:creationId xmlns:a16="http://schemas.microsoft.com/office/drawing/2014/main" id="{A2730B2F-CCDA-4E70-911D-FB0B01071450}"/>
                </a:ext>
              </a:extLst>
            </p:cNvPr>
            <p:cNvSpPr/>
            <p:nvPr/>
          </p:nvSpPr>
          <p:spPr bwMode="gray">
            <a:xfrm>
              <a:off x="5113780" y="1326493"/>
              <a:ext cx="1687016" cy="1259333"/>
            </a:xfrm>
            <a:prstGeom prst="rect">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ea typeface="Arial Unicode MS" pitchFamily="34" charset="-128"/>
                </a:rPr>
                <a:t>Pod A</a:t>
              </a:r>
            </a:p>
          </p:txBody>
        </p:sp>
        <p:sp>
          <p:nvSpPr>
            <p:cNvPr id="17" name="Flowchart: Magnetic Disk 16">
              <a:extLst>
                <a:ext uri="{FF2B5EF4-FFF2-40B4-BE49-F238E27FC236}">
                  <a16:creationId xmlns:a16="http://schemas.microsoft.com/office/drawing/2014/main" id="{D516CBA7-3A34-4EAB-B3FF-EB318F1CB518}"/>
                </a:ext>
              </a:extLst>
            </p:cNvPr>
            <p:cNvSpPr/>
            <p:nvPr/>
          </p:nvSpPr>
          <p:spPr bwMode="gray">
            <a:xfrm>
              <a:off x="8149095" y="1376685"/>
              <a:ext cx="1488558" cy="1158948"/>
            </a:xfrm>
            <a:prstGeom prst="flowChartMagneticDisk">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solidFill>
                    <a:schemeClr val="dk1"/>
                  </a:solidFill>
                  <a:latin typeface="+mn-lt"/>
                  <a:ea typeface="Arial Unicode MS" pitchFamily="34" charset="-128"/>
                </a:rPr>
                <a:t>host fs</a:t>
              </a:r>
            </a:p>
          </p:txBody>
        </p:sp>
      </p:grpSp>
      <p:cxnSp>
        <p:nvCxnSpPr>
          <p:cNvPr id="18" name="Straight Arrow Connector 17">
            <a:extLst>
              <a:ext uri="{FF2B5EF4-FFF2-40B4-BE49-F238E27FC236}">
                <a16:creationId xmlns:a16="http://schemas.microsoft.com/office/drawing/2014/main" id="{FD1CFF8F-0720-4A75-86AA-1D37DFC31524}"/>
              </a:ext>
            </a:extLst>
          </p:cNvPr>
          <p:cNvCxnSpPr>
            <a:cxnSpLocks/>
            <a:stCxn id="10" idx="3"/>
            <a:endCxn id="17" idx="2"/>
          </p:cNvCxnSpPr>
          <p:nvPr/>
        </p:nvCxnSpPr>
        <p:spPr>
          <a:xfrm flipV="1">
            <a:off x="7039976" y="1925371"/>
            <a:ext cx="1348299" cy="1"/>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12" name="Group 11">
            <a:extLst>
              <a:ext uri="{FF2B5EF4-FFF2-40B4-BE49-F238E27FC236}">
                <a16:creationId xmlns:a16="http://schemas.microsoft.com/office/drawing/2014/main" id="{38A10A34-71B9-4AAD-9E6F-92067F37E5DE}"/>
              </a:ext>
            </a:extLst>
          </p:cNvPr>
          <p:cNvGrpSpPr/>
          <p:nvPr/>
        </p:nvGrpSpPr>
        <p:grpSpPr>
          <a:xfrm>
            <a:off x="6626057" y="4532562"/>
            <a:ext cx="1687040" cy="1394650"/>
            <a:chOff x="5406471" y="2020106"/>
            <a:chExt cx="1687040" cy="1394650"/>
          </a:xfrm>
        </p:grpSpPr>
        <p:grpSp>
          <p:nvGrpSpPr>
            <p:cNvPr id="13" name="Group 12">
              <a:extLst>
                <a:ext uri="{FF2B5EF4-FFF2-40B4-BE49-F238E27FC236}">
                  <a16:creationId xmlns:a16="http://schemas.microsoft.com/office/drawing/2014/main" id="{C43161BD-C616-4A08-9C87-E7A55C470EDE}"/>
                </a:ext>
              </a:extLst>
            </p:cNvPr>
            <p:cNvGrpSpPr/>
            <p:nvPr/>
          </p:nvGrpSpPr>
          <p:grpSpPr>
            <a:xfrm>
              <a:off x="5406471" y="2020106"/>
              <a:ext cx="1371504" cy="969859"/>
              <a:chOff x="5406471" y="2020106"/>
              <a:chExt cx="1371504" cy="969859"/>
            </a:xfrm>
          </p:grpSpPr>
          <p:pic>
            <p:nvPicPr>
              <p:cNvPr id="15" name="Graphic 14" descr="Magnifying glass">
                <a:extLst>
                  <a:ext uri="{FF2B5EF4-FFF2-40B4-BE49-F238E27FC236}">
                    <a16:creationId xmlns:a16="http://schemas.microsoft.com/office/drawing/2014/main" id="{ECC788F2-05F0-467F-8A3C-177DC0467CA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06471" y="2075565"/>
                <a:ext cx="914400" cy="914400"/>
              </a:xfrm>
              <a:prstGeom prst="rect">
                <a:avLst/>
              </a:prstGeom>
            </p:spPr>
          </p:pic>
          <p:pic>
            <p:nvPicPr>
              <p:cNvPr id="16" name="Graphic 15" descr="Gears">
                <a:extLst>
                  <a:ext uri="{FF2B5EF4-FFF2-40B4-BE49-F238E27FC236}">
                    <a16:creationId xmlns:a16="http://schemas.microsoft.com/office/drawing/2014/main" id="{8E93DDB6-EBAA-4AFF-913F-424552D57F6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097587" y="2020106"/>
                <a:ext cx="680388" cy="680388"/>
              </a:xfrm>
              <a:prstGeom prst="rect">
                <a:avLst/>
              </a:prstGeom>
            </p:spPr>
          </p:pic>
        </p:grpSp>
        <p:sp>
          <p:nvSpPr>
            <p:cNvPr id="14" name="Rectangle 13">
              <a:extLst>
                <a:ext uri="{FF2B5EF4-FFF2-40B4-BE49-F238E27FC236}">
                  <a16:creationId xmlns:a16="http://schemas.microsoft.com/office/drawing/2014/main" id="{DF41810B-1AA8-4A00-BB45-752F131E6BBD}"/>
                </a:ext>
              </a:extLst>
            </p:cNvPr>
            <p:cNvSpPr/>
            <p:nvPr/>
          </p:nvSpPr>
          <p:spPr>
            <a:xfrm>
              <a:off x="5548230" y="3045424"/>
              <a:ext cx="1545281" cy="369332"/>
            </a:xfrm>
            <a:prstGeom prst="rect">
              <a:avLst/>
            </a:prstGeom>
          </p:spPr>
          <p:txBody>
            <a:bodyPr wrap="square">
              <a:spAutoFit/>
            </a:bodyPr>
            <a:lstStyle/>
            <a:p>
              <a:pPr algn="ctr" defTabSz="914400" fontAlgn="base">
                <a:spcBef>
                  <a:spcPct val="50000"/>
                </a:spcBef>
                <a:spcAft>
                  <a:spcPct val="0"/>
                </a:spcAft>
                <a:buClr>
                  <a:srgbClr val="F0AB00"/>
                </a:buClr>
                <a:buSzPct val="80000"/>
              </a:pPr>
              <a:r>
                <a:rPr lang="en-US" sz="1800" b="1" kern="0" dirty="0">
                  <a:ea typeface="Arial Unicode MS" pitchFamily="34" charset="-128"/>
                  <a:cs typeface="Arial Unicode MS" pitchFamily="34" charset="-128"/>
                </a:rPr>
                <a:t>Controller</a:t>
              </a:r>
            </a:p>
          </p:txBody>
        </p:sp>
      </p:grpSp>
      <p:grpSp>
        <p:nvGrpSpPr>
          <p:cNvPr id="22" name="Group 21">
            <a:extLst>
              <a:ext uri="{FF2B5EF4-FFF2-40B4-BE49-F238E27FC236}">
                <a16:creationId xmlns:a16="http://schemas.microsoft.com/office/drawing/2014/main" id="{99E82D95-74DB-46D6-9098-4DC4184F8878}"/>
              </a:ext>
            </a:extLst>
          </p:cNvPr>
          <p:cNvGrpSpPr/>
          <p:nvPr/>
        </p:nvGrpSpPr>
        <p:grpSpPr>
          <a:xfrm>
            <a:off x="4133337" y="4700450"/>
            <a:ext cx="2278288" cy="1226762"/>
            <a:chOff x="3145872" y="4029740"/>
            <a:chExt cx="2278288" cy="1226762"/>
          </a:xfrm>
        </p:grpSpPr>
        <p:pic>
          <p:nvPicPr>
            <p:cNvPr id="23" name="Graphic 22" descr="Jail">
              <a:extLst>
                <a:ext uri="{FF2B5EF4-FFF2-40B4-BE49-F238E27FC236}">
                  <a16:creationId xmlns:a16="http://schemas.microsoft.com/office/drawing/2014/main" id="{3EDC1366-B4CD-4803-8460-56E1D2CC7CB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7816" y="4029740"/>
              <a:ext cx="914400" cy="914400"/>
            </a:xfrm>
            <a:prstGeom prst="rect">
              <a:avLst/>
            </a:prstGeom>
          </p:spPr>
        </p:pic>
        <p:sp>
          <p:nvSpPr>
            <p:cNvPr id="24" name="Rectangle 23">
              <a:extLst>
                <a:ext uri="{FF2B5EF4-FFF2-40B4-BE49-F238E27FC236}">
                  <a16:creationId xmlns:a16="http://schemas.microsoft.com/office/drawing/2014/main" id="{64897D01-C9A1-44DC-A6D7-AE87ED3059D4}"/>
                </a:ext>
              </a:extLst>
            </p:cNvPr>
            <p:cNvSpPr/>
            <p:nvPr/>
          </p:nvSpPr>
          <p:spPr>
            <a:xfrm>
              <a:off x="3145872" y="4887170"/>
              <a:ext cx="2278288" cy="369332"/>
            </a:xfrm>
            <a:prstGeom prst="rect">
              <a:avLst/>
            </a:prstGeom>
          </p:spPr>
          <p:txBody>
            <a:bodyPr wrap="square">
              <a:spAutoFit/>
            </a:bodyPr>
            <a:lstStyle/>
            <a:p>
              <a:pPr algn="ctr" defTabSz="914400" fontAlgn="base">
                <a:spcBef>
                  <a:spcPct val="50000"/>
                </a:spcBef>
                <a:spcAft>
                  <a:spcPct val="0"/>
                </a:spcAft>
                <a:buClr>
                  <a:srgbClr val="F0AB00"/>
                </a:buClr>
                <a:buSzPct val="80000"/>
              </a:pPr>
              <a:r>
                <a:rPr lang="en-US" sz="1800" b="1" kern="0" dirty="0" err="1">
                  <a:ea typeface="Arial Unicode MS" pitchFamily="34" charset="-128"/>
                  <a:cs typeface="Arial Unicode MS" pitchFamily="34" charset="-128"/>
                </a:rPr>
                <a:t>PodSecurityPolicy</a:t>
              </a:r>
              <a:endParaRPr lang="en-US" sz="1800" b="1" kern="0" dirty="0">
                <a:ea typeface="Arial Unicode MS" pitchFamily="34" charset="-128"/>
                <a:cs typeface="Arial Unicode MS" pitchFamily="34" charset="-128"/>
              </a:endParaRPr>
            </a:p>
          </p:txBody>
        </p:sp>
      </p:grpSp>
      <p:cxnSp>
        <p:nvCxnSpPr>
          <p:cNvPr id="25" name="Straight Arrow Connector 24">
            <a:extLst>
              <a:ext uri="{FF2B5EF4-FFF2-40B4-BE49-F238E27FC236}">
                <a16:creationId xmlns:a16="http://schemas.microsoft.com/office/drawing/2014/main" id="{EA877CEF-F5C7-4837-BEC8-8F9401DCF01C}"/>
              </a:ext>
            </a:extLst>
          </p:cNvPr>
          <p:cNvCxnSpPr>
            <a:cxnSpLocks/>
            <a:stCxn id="27" idx="1"/>
            <a:endCxn id="26" idx="2"/>
          </p:cNvCxnSpPr>
          <p:nvPr/>
        </p:nvCxnSpPr>
        <p:spPr>
          <a:xfrm flipV="1">
            <a:off x="3157451" y="3852478"/>
            <a:ext cx="0" cy="454746"/>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6" name="Rectangle 25">
            <a:extLst>
              <a:ext uri="{FF2B5EF4-FFF2-40B4-BE49-F238E27FC236}">
                <a16:creationId xmlns:a16="http://schemas.microsoft.com/office/drawing/2014/main" id="{3A026F30-6A9C-4DF3-9923-C5B0CE4B3778}"/>
              </a:ext>
            </a:extLst>
          </p:cNvPr>
          <p:cNvSpPr/>
          <p:nvPr/>
        </p:nvSpPr>
        <p:spPr bwMode="gray">
          <a:xfrm>
            <a:off x="2499727" y="3078366"/>
            <a:ext cx="1315448" cy="774112"/>
          </a:xfrm>
          <a:prstGeom prst="rect">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ea typeface="Arial Unicode MS" pitchFamily="34" charset="-128"/>
              </a:rPr>
              <a:t>Role binding</a:t>
            </a:r>
          </a:p>
        </p:txBody>
      </p:sp>
      <p:sp>
        <p:nvSpPr>
          <p:cNvPr id="27" name="Cylinder 26">
            <a:extLst>
              <a:ext uri="{FF2B5EF4-FFF2-40B4-BE49-F238E27FC236}">
                <a16:creationId xmlns:a16="http://schemas.microsoft.com/office/drawing/2014/main" id="{4945CADE-3C4A-48FA-9086-FEF8C4AF9A19}"/>
              </a:ext>
            </a:extLst>
          </p:cNvPr>
          <p:cNvSpPr/>
          <p:nvPr/>
        </p:nvSpPr>
        <p:spPr bwMode="gray">
          <a:xfrm>
            <a:off x="2655967" y="4307224"/>
            <a:ext cx="1002967" cy="812920"/>
          </a:xfrm>
          <a:prstGeom prst="can">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ea typeface="Arial Unicode MS" pitchFamily="34" charset="-128"/>
              </a:rPr>
              <a:t>role</a:t>
            </a:r>
          </a:p>
        </p:txBody>
      </p:sp>
      <p:cxnSp>
        <p:nvCxnSpPr>
          <p:cNvPr id="28" name="Straight Arrow Connector 27">
            <a:extLst>
              <a:ext uri="{FF2B5EF4-FFF2-40B4-BE49-F238E27FC236}">
                <a16:creationId xmlns:a16="http://schemas.microsoft.com/office/drawing/2014/main" id="{BBF344A4-DFB1-4372-AED0-85EBD51BD13B}"/>
              </a:ext>
            </a:extLst>
          </p:cNvPr>
          <p:cNvCxnSpPr>
            <a:cxnSpLocks/>
            <a:stCxn id="26" idx="0"/>
            <a:endCxn id="8" idx="2"/>
          </p:cNvCxnSpPr>
          <p:nvPr/>
        </p:nvCxnSpPr>
        <p:spPr>
          <a:xfrm flipV="1">
            <a:off x="3157451" y="2555038"/>
            <a:ext cx="3702" cy="523328"/>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24F54746-0EF3-43A5-9281-6A1DA4B76D6C}"/>
              </a:ext>
            </a:extLst>
          </p:cNvPr>
          <p:cNvCxnSpPr>
            <a:cxnSpLocks/>
            <a:stCxn id="23" idx="1"/>
            <a:endCxn id="27" idx="4"/>
          </p:cNvCxnSpPr>
          <p:nvPr/>
        </p:nvCxnSpPr>
        <p:spPr>
          <a:xfrm flipH="1" flipV="1">
            <a:off x="3658934" y="4713684"/>
            <a:ext cx="1156347" cy="443966"/>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95476DBE-C792-488E-8EC3-839060D6D1A9}"/>
              </a:ext>
            </a:extLst>
          </p:cNvPr>
          <p:cNvCxnSpPr>
            <a:cxnSpLocks/>
            <a:endCxn id="10" idx="2"/>
          </p:cNvCxnSpPr>
          <p:nvPr/>
        </p:nvCxnSpPr>
        <p:spPr>
          <a:xfrm flipH="1" flipV="1">
            <a:off x="6196468" y="2555038"/>
            <a:ext cx="1120705" cy="1977524"/>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9" name="Speech Bubble: Rectangle 38">
            <a:extLst>
              <a:ext uri="{FF2B5EF4-FFF2-40B4-BE49-F238E27FC236}">
                <a16:creationId xmlns:a16="http://schemas.microsoft.com/office/drawing/2014/main" id="{F5C60CD7-A068-4641-AE45-D1961000036D}"/>
              </a:ext>
            </a:extLst>
          </p:cNvPr>
          <p:cNvSpPr/>
          <p:nvPr/>
        </p:nvSpPr>
        <p:spPr bwMode="gray">
          <a:xfrm>
            <a:off x="7997561" y="3422807"/>
            <a:ext cx="2707032" cy="1259333"/>
          </a:xfrm>
          <a:prstGeom prst="wedgeRectCallout">
            <a:avLst>
              <a:gd name="adj1" fmla="val -73695"/>
              <a:gd name="adj2" fmla="val -11247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In case host fs access is forbidden, the pod will be rejected</a:t>
            </a:r>
          </a:p>
        </p:txBody>
      </p:sp>
      <p:sp>
        <p:nvSpPr>
          <p:cNvPr id="40" name="Speech Bubble: Rectangle 39">
            <a:extLst>
              <a:ext uri="{FF2B5EF4-FFF2-40B4-BE49-F238E27FC236}">
                <a16:creationId xmlns:a16="http://schemas.microsoft.com/office/drawing/2014/main" id="{D6EEB1FE-0913-4E84-9081-01483DE33C91}"/>
              </a:ext>
            </a:extLst>
          </p:cNvPr>
          <p:cNvSpPr/>
          <p:nvPr/>
        </p:nvSpPr>
        <p:spPr bwMode="gray">
          <a:xfrm>
            <a:off x="4230326" y="3301685"/>
            <a:ext cx="1866913" cy="914401"/>
          </a:xfrm>
          <a:prstGeom prst="wedgeRectCallout">
            <a:avLst>
              <a:gd name="adj1" fmla="val -2698"/>
              <a:gd name="adj2" fmla="val 99137"/>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“no host fs”</a:t>
            </a:r>
          </a:p>
        </p:txBody>
      </p:sp>
      <p:pic>
        <p:nvPicPr>
          <p:cNvPr id="29" name="Graphic 28" descr="High Voltage">
            <a:extLst>
              <a:ext uri="{FF2B5EF4-FFF2-40B4-BE49-F238E27FC236}">
                <a16:creationId xmlns:a16="http://schemas.microsoft.com/office/drawing/2014/main" id="{42202A74-8C1B-4538-92CE-DCA6A7BDC70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654402" y="2499579"/>
            <a:ext cx="1002965" cy="1002965"/>
          </a:xfrm>
          <a:prstGeom prst="rect">
            <a:avLst/>
          </a:prstGeom>
        </p:spPr>
      </p:pic>
    </p:spTree>
    <p:extLst>
      <p:ext uri="{BB962C8B-B14F-4D97-AF65-F5344CB8AC3E}">
        <p14:creationId xmlns:p14="http://schemas.microsoft.com/office/powerpoint/2010/main" val="40134099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7653B39-58A6-4515-8E3A-B93DA1FBC07A}"/>
              </a:ext>
            </a:extLst>
          </p:cNvPr>
          <p:cNvSpPr>
            <a:spLocks noGrp="1"/>
          </p:cNvSpPr>
          <p:nvPr>
            <p:ph type="title"/>
          </p:nvPr>
        </p:nvSpPr>
        <p:spPr/>
        <p:txBody>
          <a:bodyPr/>
          <a:lstStyle/>
          <a:p>
            <a:r>
              <a:rPr lang="en-US" dirty="0"/>
              <a:t>“Allow everything” </a:t>
            </a:r>
            <a:r>
              <a:rPr lang="en-US" dirty="0" err="1"/>
              <a:t>PodSecurityPolicy</a:t>
            </a:r>
            <a:endParaRPr lang="en-US" dirty="0"/>
          </a:p>
        </p:txBody>
      </p:sp>
      <p:sp>
        <p:nvSpPr>
          <p:cNvPr id="5" name="Speech Bubble: Rectangle 4">
            <a:extLst>
              <a:ext uri="{FF2B5EF4-FFF2-40B4-BE49-F238E27FC236}">
                <a16:creationId xmlns:a16="http://schemas.microsoft.com/office/drawing/2014/main" id="{E72DA577-22FF-4CEC-AC5F-3E41B31C4A4E}"/>
              </a:ext>
            </a:extLst>
          </p:cNvPr>
          <p:cNvSpPr/>
          <p:nvPr/>
        </p:nvSpPr>
        <p:spPr bwMode="gray">
          <a:xfrm>
            <a:off x="5486011" y="3449769"/>
            <a:ext cx="4018844" cy="624325"/>
          </a:xfrm>
          <a:prstGeom prst="wedgeRectCallout">
            <a:avLst>
              <a:gd name="adj1" fmla="val -82617"/>
              <a:gd name="adj2" fmla="val 519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Manage file systems</a:t>
            </a:r>
          </a:p>
        </p:txBody>
      </p:sp>
      <p:sp>
        <p:nvSpPr>
          <p:cNvPr id="6" name="Speech Bubble: Rectangle 5">
            <a:extLst>
              <a:ext uri="{FF2B5EF4-FFF2-40B4-BE49-F238E27FC236}">
                <a16:creationId xmlns:a16="http://schemas.microsoft.com/office/drawing/2014/main" id="{10F24991-D27E-4732-8E6F-7B73385CD015}"/>
              </a:ext>
            </a:extLst>
          </p:cNvPr>
          <p:cNvSpPr/>
          <p:nvPr/>
        </p:nvSpPr>
        <p:spPr bwMode="gray">
          <a:xfrm>
            <a:off x="5486011" y="4916400"/>
            <a:ext cx="4018844" cy="624325"/>
          </a:xfrm>
          <a:prstGeom prst="wedgeRectCallout">
            <a:avLst>
              <a:gd name="adj1" fmla="val -82617"/>
              <a:gd name="adj2" fmla="val 519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Allow host access</a:t>
            </a:r>
          </a:p>
        </p:txBody>
      </p:sp>
      <p:pic>
        <p:nvPicPr>
          <p:cNvPr id="3" name="Picture 2">
            <a:extLst>
              <a:ext uri="{FF2B5EF4-FFF2-40B4-BE49-F238E27FC236}">
                <a16:creationId xmlns:a16="http://schemas.microsoft.com/office/drawing/2014/main" id="{6BA5E041-4BBA-4BFC-9973-DBDB25C62B83}"/>
              </a:ext>
            </a:extLst>
          </p:cNvPr>
          <p:cNvPicPr>
            <a:picLocks noChangeAspect="1"/>
          </p:cNvPicPr>
          <p:nvPr/>
        </p:nvPicPr>
        <p:blipFill>
          <a:blip r:embed="rId3"/>
          <a:stretch>
            <a:fillRect/>
          </a:stretch>
        </p:blipFill>
        <p:spPr>
          <a:xfrm>
            <a:off x="504001" y="1067030"/>
            <a:ext cx="3483208" cy="5389805"/>
          </a:xfrm>
          <a:prstGeom prst="rect">
            <a:avLst/>
          </a:prstGeom>
          <a:ln>
            <a:solidFill>
              <a:schemeClr val="tx1"/>
            </a:solidFill>
          </a:ln>
        </p:spPr>
      </p:pic>
      <p:sp>
        <p:nvSpPr>
          <p:cNvPr id="7" name="Speech Bubble: Rectangle 6">
            <a:extLst>
              <a:ext uri="{FF2B5EF4-FFF2-40B4-BE49-F238E27FC236}">
                <a16:creationId xmlns:a16="http://schemas.microsoft.com/office/drawing/2014/main" id="{380AE598-53AA-4992-A686-BA6206D18B69}"/>
              </a:ext>
            </a:extLst>
          </p:cNvPr>
          <p:cNvSpPr/>
          <p:nvPr/>
        </p:nvSpPr>
        <p:spPr bwMode="gray">
          <a:xfrm>
            <a:off x="5486011" y="1769804"/>
            <a:ext cx="4018844" cy="624325"/>
          </a:xfrm>
          <a:prstGeom prst="wedgeRectCallout">
            <a:avLst>
              <a:gd name="adj1" fmla="val -82617"/>
              <a:gd name="adj2" fmla="val 519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Manage user &amp; permissions</a:t>
            </a:r>
          </a:p>
        </p:txBody>
      </p:sp>
    </p:spTree>
    <p:extLst>
      <p:ext uri="{BB962C8B-B14F-4D97-AF65-F5344CB8AC3E}">
        <p14:creationId xmlns:p14="http://schemas.microsoft.com/office/powerpoint/2010/main" val="4330825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7653B39-58A6-4515-8E3A-B93DA1FBC07A}"/>
              </a:ext>
            </a:extLst>
          </p:cNvPr>
          <p:cNvSpPr>
            <a:spLocks noGrp="1"/>
          </p:cNvSpPr>
          <p:nvPr>
            <p:ph type="title"/>
          </p:nvPr>
        </p:nvSpPr>
        <p:spPr/>
        <p:txBody>
          <a:bodyPr/>
          <a:lstStyle/>
          <a:p>
            <a:r>
              <a:rPr lang="en-US" dirty="0"/>
              <a:t>Restrictive </a:t>
            </a:r>
            <a:r>
              <a:rPr lang="en-US" dirty="0" err="1"/>
              <a:t>PodSecurityPolicy</a:t>
            </a:r>
            <a:endParaRPr lang="en-US" dirty="0"/>
          </a:p>
        </p:txBody>
      </p:sp>
      <p:sp>
        <p:nvSpPr>
          <p:cNvPr id="6" name="Speech Bubble: Rectangle 5">
            <a:extLst>
              <a:ext uri="{FF2B5EF4-FFF2-40B4-BE49-F238E27FC236}">
                <a16:creationId xmlns:a16="http://schemas.microsoft.com/office/drawing/2014/main" id="{4743897D-D050-4D5A-8CA5-0A06E67A4A7A}"/>
              </a:ext>
            </a:extLst>
          </p:cNvPr>
          <p:cNvSpPr/>
          <p:nvPr/>
        </p:nvSpPr>
        <p:spPr bwMode="gray">
          <a:xfrm>
            <a:off x="5475378" y="2700087"/>
            <a:ext cx="4018844" cy="1085104"/>
          </a:xfrm>
          <a:prstGeom prst="wedgeRectCallout">
            <a:avLst>
              <a:gd name="adj1" fmla="val -82617"/>
              <a:gd name="adj2" fmla="val 519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File system groups &amp; supplemental groups cannot be 0</a:t>
            </a:r>
          </a:p>
        </p:txBody>
      </p:sp>
      <p:sp>
        <p:nvSpPr>
          <p:cNvPr id="7" name="Speech Bubble: Rectangle 6">
            <a:extLst>
              <a:ext uri="{FF2B5EF4-FFF2-40B4-BE49-F238E27FC236}">
                <a16:creationId xmlns:a16="http://schemas.microsoft.com/office/drawing/2014/main" id="{E5BD8DCE-5A1D-4BC8-8C9D-5C21698DA285}"/>
              </a:ext>
            </a:extLst>
          </p:cNvPr>
          <p:cNvSpPr/>
          <p:nvPr/>
        </p:nvSpPr>
        <p:spPr bwMode="gray">
          <a:xfrm>
            <a:off x="5475378" y="1177173"/>
            <a:ext cx="4018844" cy="624325"/>
          </a:xfrm>
          <a:prstGeom prst="wedgeRectCallout">
            <a:avLst>
              <a:gd name="adj1" fmla="val -82617"/>
              <a:gd name="adj2" fmla="val 519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Process is not allow to run with UID 0</a:t>
            </a:r>
          </a:p>
        </p:txBody>
      </p:sp>
      <p:sp>
        <p:nvSpPr>
          <p:cNvPr id="8" name="Speech Bubble: Rectangle 7">
            <a:extLst>
              <a:ext uri="{FF2B5EF4-FFF2-40B4-BE49-F238E27FC236}">
                <a16:creationId xmlns:a16="http://schemas.microsoft.com/office/drawing/2014/main" id="{18A13BC3-6B90-4926-B65A-2467F87A55E2}"/>
              </a:ext>
            </a:extLst>
          </p:cNvPr>
          <p:cNvSpPr/>
          <p:nvPr/>
        </p:nvSpPr>
        <p:spPr bwMode="gray">
          <a:xfrm>
            <a:off x="5475378" y="5142408"/>
            <a:ext cx="4018844" cy="624325"/>
          </a:xfrm>
          <a:prstGeom prst="wedgeRectCallout">
            <a:avLst>
              <a:gd name="adj1" fmla="val -82617"/>
              <a:gd name="adj2" fmla="val 519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Whitelist volume types</a:t>
            </a:r>
          </a:p>
        </p:txBody>
      </p:sp>
      <p:pic>
        <p:nvPicPr>
          <p:cNvPr id="2" name="Picture 1">
            <a:extLst>
              <a:ext uri="{FF2B5EF4-FFF2-40B4-BE49-F238E27FC236}">
                <a16:creationId xmlns:a16="http://schemas.microsoft.com/office/drawing/2014/main" id="{7E8C1EA0-8804-4F1F-893B-3B66C409FDCC}"/>
              </a:ext>
            </a:extLst>
          </p:cNvPr>
          <p:cNvPicPr>
            <a:picLocks noChangeAspect="1"/>
          </p:cNvPicPr>
          <p:nvPr/>
        </p:nvPicPr>
        <p:blipFill>
          <a:blip r:embed="rId3"/>
          <a:stretch>
            <a:fillRect/>
          </a:stretch>
        </p:blipFill>
        <p:spPr>
          <a:xfrm>
            <a:off x="504001" y="978305"/>
            <a:ext cx="3568269" cy="5375695"/>
          </a:xfrm>
          <a:prstGeom prst="rect">
            <a:avLst/>
          </a:prstGeom>
          <a:ln>
            <a:solidFill>
              <a:schemeClr val="tx1"/>
            </a:solidFill>
          </a:ln>
        </p:spPr>
      </p:pic>
    </p:spTree>
    <p:extLst>
      <p:ext uri="{BB962C8B-B14F-4D97-AF65-F5344CB8AC3E}">
        <p14:creationId xmlns:p14="http://schemas.microsoft.com/office/powerpoint/2010/main" val="5732208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NetworkPolicy</a:t>
            </a:r>
            <a:endParaRPr lang="en-US" dirty="0"/>
          </a:p>
        </p:txBody>
      </p:sp>
      <p:sp>
        <p:nvSpPr>
          <p:cNvPr id="8" name="Rectangle 7"/>
          <p:cNvSpPr/>
          <p:nvPr/>
        </p:nvSpPr>
        <p:spPr>
          <a:xfrm>
            <a:off x="504000" y="1223190"/>
            <a:ext cx="10918380" cy="738664"/>
          </a:xfrm>
          <a:prstGeom prst="rect">
            <a:avLst/>
          </a:prstGeom>
        </p:spPr>
        <p:txBody>
          <a:bodyPr wrap="square">
            <a:spAutoFit/>
          </a:bodyPr>
          <a:lstStyle/>
          <a:p>
            <a:pPr marL="342900" indent="-342900">
              <a:buFont typeface="Wingdings" panose="05000000000000000000" pitchFamily="2" charset="2"/>
              <a:buChar char="§"/>
            </a:pPr>
            <a:r>
              <a:rPr lang="en-US" dirty="0"/>
              <a:t>“Firewall”-like restrictions</a:t>
            </a:r>
          </a:p>
          <a:p>
            <a:pPr marL="342900" indent="-342900">
              <a:buFont typeface="Wingdings" panose="05000000000000000000" pitchFamily="2" charset="2"/>
              <a:buChar char="§"/>
            </a:pPr>
            <a:r>
              <a:rPr lang="en-US" dirty="0"/>
              <a:t>Define egress and ingress rules for a service</a:t>
            </a:r>
          </a:p>
        </p:txBody>
      </p:sp>
      <p:sp>
        <p:nvSpPr>
          <p:cNvPr id="7" name="Rectangle 6"/>
          <p:cNvSpPr/>
          <p:nvPr/>
        </p:nvSpPr>
        <p:spPr bwMode="gray">
          <a:xfrm>
            <a:off x="3850434" y="3401577"/>
            <a:ext cx="1315448" cy="1120498"/>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Service</a:t>
            </a:r>
          </a:p>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direct-line-to-peach</a:t>
            </a:r>
          </a:p>
        </p:txBody>
      </p:sp>
      <p:sp>
        <p:nvSpPr>
          <p:cNvPr id="12" name="Rectangle 11"/>
          <p:cNvSpPr/>
          <p:nvPr/>
        </p:nvSpPr>
        <p:spPr bwMode="gray">
          <a:xfrm>
            <a:off x="8479699" y="3567880"/>
            <a:ext cx="1062486" cy="806724"/>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dirty="0">
                <a:ea typeface="Arial Unicode MS" pitchFamily="34" charset="-128"/>
                <a:cs typeface="Arial Unicode MS" pitchFamily="34" charset="-128"/>
              </a:rPr>
              <a:t>Peach</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16" name="Straight Arrow Connector 15"/>
          <p:cNvCxnSpPr>
            <a:cxnSpLocks/>
            <a:stCxn id="28" idx="3"/>
            <a:endCxn id="7" idx="1"/>
          </p:cNvCxnSpPr>
          <p:nvPr/>
        </p:nvCxnSpPr>
        <p:spPr>
          <a:xfrm>
            <a:off x="2131354" y="3228936"/>
            <a:ext cx="1719080" cy="732890"/>
          </a:xfrm>
          <a:prstGeom prst="straightConnector1">
            <a:avLst/>
          </a:prstGeom>
          <a:ln w="381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2" name="Rectangle: Single Corner Snipped 21"/>
          <p:cNvSpPr/>
          <p:nvPr/>
        </p:nvSpPr>
        <p:spPr bwMode="gray">
          <a:xfrm>
            <a:off x="6032354" y="4818501"/>
            <a:ext cx="2322768" cy="954325"/>
          </a:xfrm>
          <a:prstGeom prst="snip1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Network Policy</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24" name="Straight Arrow Connector 23"/>
          <p:cNvCxnSpPr>
            <a:cxnSpLocks/>
            <a:stCxn id="22" idx="3"/>
          </p:cNvCxnSpPr>
          <p:nvPr/>
        </p:nvCxnSpPr>
        <p:spPr>
          <a:xfrm flipV="1">
            <a:off x="7193738" y="4071790"/>
            <a:ext cx="0" cy="746711"/>
          </a:xfrm>
          <a:prstGeom prst="straightConnector1">
            <a:avLst/>
          </a:prstGeom>
          <a:ln w="381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a:cxnSpLocks/>
            <a:stCxn id="7" idx="3"/>
            <a:endCxn id="12" idx="1"/>
          </p:cNvCxnSpPr>
          <p:nvPr/>
        </p:nvCxnSpPr>
        <p:spPr>
          <a:xfrm>
            <a:off x="5165882" y="3961826"/>
            <a:ext cx="3313817" cy="9416"/>
          </a:xfrm>
          <a:prstGeom prst="straightConnector1">
            <a:avLst/>
          </a:prstGeom>
          <a:ln w="381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6" name="Lightning Bolt 35"/>
          <p:cNvSpPr/>
          <p:nvPr/>
        </p:nvSpPr>
        <p:spPr bwMode="gray">
          <a:xfrm>
            <a:off x="6752698" y="4071790"/>
            <a:ext cx="303473" cy="499599"/>
          </a:xfrm>
          <a:prstGeom prst="lightningBolt">
            <a:avLst/>
          </a:prstGeom>
          <a:ln>
            <a:headEnd/>
            <a:tailEnd/>
          </a:ln>
        </p:spPr>
        <p:style>
          <a:lnRef idx="2">
            <a:schemeClr val="accent5">
              <a:shade val="50000"/>
            </a:schemeClr>
          </a:lnRef>
          <a:fillRef idx="1">
            <a:schemeClr val="accent5"/>
          </a:fillRef>
          <a:effectRef idx="0">
            <a:schemeClr val="accent5"/>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8" name="Rectangle 27"/>
          <p:cNvSpPr/>
          <p:nvPr/>
        </p:nvSpPr>
        <p:spPr bwMode="gray">
          <a:xfrm>
            <a:off x="1068868" y="2825574"/>
            <a:ext cx="1062486" cy="806724"/>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dirty="0">
                <a:ea typeface="Arial Unicode MS" pitchFamily="34" charset="-128"/>
                <a:cs typeface="Arial Unicode MS" pitchFamily="34" charset="-128"/>
              </a:rPr>
              <a:t>Mario</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9" name="Rectangle 28"/>
          <p:cNvSpPr/>
          <p:nvPr/>
        </p:nvSpPr>
        <p:spPr bwMode="gray">
          <a:xfrm>
            <a:off x="1068868" y="4488940"/>
            <a:ext cx="1062486" cy="806724"/>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dirty="0">
                <a:ea typeface="Arial Unicode MS" pitchFamily="34" charset="-128"/>
                <a:cs typeface="Arial Unicode MS" pitchFamily="34" charset="-128"/>
              </a:rPr>
              <a:t>Bowser</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30" name="Straight Arrow Connector 29"/>
          <p:cNvCxnSpPr>
            <a:cxnSpLocks/>
            <a:stCxn id="29" idx="3"/>
            <a:endCxn id="7" idx="1"/>
          </p:cNvCxnSpPr>
          <p:nvPr/>
        </p:nvCxnSpPr>
        <p:spPr>
          <a:xfrm flipV="1">
            <a:off x="2131354" y="3961826"/>
            <a:ext cx="1719080" cy="930476"/>
          </a:xfrm>
          <a:prstGeom prst="straightConnector1">
            <a:avLst/>
          </a:prstGeom>
          <a:ln w="38100">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9" name="Flowchart: Document 38"/>
          <p:cNvSpPr/>
          <p:nvPr/>
        </p:nvSpPr>
        <p:spPr bwMode="gray">
          <a:xfrm>
            <a:off x="8079509" y="5506571"/>
            <a:ext cx="1826452" cy="766354"/>
          </a:xfrm>
          <a:prstGeom prst="flowChartDocument">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Selector: location: castle</a:t>
            </a:r>
          </a:p>
        </p:txBody>
      </p:sp>
      <p:sp>
        <p:nvSpPr>
          <p:cNvPr id="49" name="Rectangle 48"/>
          <p:cNvSpPr/>
          <p:nvPr/>
        </p:nvSpPr>
        <p:spPr bwMode="gray">
          <a:xfrm>
            <a:off x="9018808" y="3228936"/>
            <a:ext cx="1774306" cy="521824"/>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location</a:t>
            </a:r>
            <a:r>
              <a:rPr lang="de-DE" sz="1800" kern="0" dirty="0">
                <a:ea typeface="Arial Unicode MS" pitchFamily="34" charset="-128"/>
                <a:cs typeface="Arial Unicode MS" pitchFamily="34" charset="-128"/>
              </a:rPr>
              <a:t>: </a:t>
            </a:r>
            <a:r>
              <a:rPr lang="de-DE" sz="1800" kern="0" dirty="0" err="1">
                <a:ea typeface="Arial Unicode MS" pitchFamily="34" charset="-128"/>
                <a:cs typeface="Arial Unicode MS" pitchFamily="34" charset="-128"/>
              </a:rPr>
              <a:t>castle</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0" name="Flowchart: Document 49"/>
          <p:cNvSpPr/>
          <p:nvPr/>
        </p:nvSpPr>
        <p:spPr bwMode="gray">
          <a:xfrm>
            <a:off x="4863671" y="5506571"/>
            <a:ext cx="1506583" cy="766354"/>
          </a:xfrm>
          <a:prstGeom prst="flowChartDocument">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accept: caller: </a:t>
            </a:r>
            <a:r>
              <a:rPr lang="en-US" sz="1800" kern="0" dirty="0" err="1">
                <a:ea typeface="Arial Unicode MS" pitchFamily="34" charset="-128"/>
                <a:cs typeface="Arial Unicode MS" pitchFamily="34" charset="-128"/>
              </a:rPr>
              <a:t>mario</a:t>
            </a:r>
            <a:endParaRPr lang="en-US" sz="1800" kern="0" dirty="0">
              <a:ea typeface="Arial Unicode MS" pitchFamily="34" charset="-128"/>
              <a:cs typeface="Arial Unicode MS" pitchFamily="34" charset="-128"/>
            </a:endParaRPr>
          </a:p>
        </p:txBody>
      </p:sp>
      <p:sp>
        <p:nvSpPr>
          <p:cNvPr id="51" name="Rectangle 50"/>
          <p:cNvSpPr/>
          <p:nvPr/>
        </p:nvSpPr>
        <p:spPr bwMode="gray">
          <a:xfrm>
            <a:off x="1600111" y="2574739"/>
            <a:ext cx="1645920" cy="365760"/>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caller</a:t>
            </a:r>
            <a:r>
              <a:rPr lang="de-DE" sz="1800" kern="0" dirty="0">
                <a:ea typeface="Arial Unicode MS" pitchFamily="34" charset="-128"/>
                <a:cs typeface="Arial Unicode MS" pitchFamily="34" charset="-128"/>
              </a:rPr>
              <a:t>: </a:t>
            </a:r>
            <a:r>
              <a:rPr lang="de-DE" sz="1800" kern="0" dirty="0" err="1">
                <a:ea typeface="Arial Unicode MS" pitchFamily="34" charset="-128"/>
                <a:cs typeface="Arial Unicode MS" pitchFamily="34" charset="-128"/>
              </a:rPr>
              <a:t>mario</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1" name="Flowchart: Document 20">
            <a:extLst>
              <a:ext uri="{FF2B5EF4-FFF2-40B4-BE49-F238E27FC236}">
                <a16:creationId xmlns:a16="http://schemas.microsoft.com/office/drawing/2014/main" id="{3F4627F5-3267-4CEF-9A64-0ACC08646BB2}"/>
              </a:ext>
            </a:extLst>
          </p:cNvPr>
          <p:cNvSpPr/>
          <p:nvPr/>
        </p:nvSpPr>
        <p:spPr bwMode="gray">
          <a:xfrm>
            <a:off x="4863671" y="2740245"/>
            <a:ext cx="1826452" cy="766354"/>
          </a:xfrm>
          <a:prstGeom prst="flowChartDocument">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Selector: location: castle</a:t>
            </a:r>
          </a:p>
        </p:txBody>
      </p:sp>
      <p:pic>
        <p:nvPicPr>
          <p:cNvPr id="4" name="Picture 3">
            <a:extLst>
              <a:ext uri="{FF2B5EF4-FFF2-40B4-BE49-F238E27FC236}">
                <a16:creationId xmlns:a16="http://schemas.microsoft.com/office/drawing/2014/main" id="{CC5F828F-B494-4491-AF27-48E98AFF321B}"/>
              </a:ext>
            </a:extLst>
          </p:cNvPr>
          <p:cNvPicPr>
            <a:picLocks noChangeAspect="1"/>
          </p:cNvPicPr>
          <p:nvPr/>
        </p:nvPicPr>
        <p:blipFill>
          <a:blip r:embed="rId3"/>
          <a:stretch>
            <a:fillRect/>
          </a:stretch>
        </p:blipFill>
        <p:spPr>
          <a:xfrm>
            <a:off x="8113651" y="2838413"/>
            <a:ext cx="700145" cy="971843"/>
          </a:xfrm>
          <a:prstGeom prst="rect">
            <a:avLst/>
          </a:prstGeom>
        </p:spPr>
      </p:pic>
      <p:pic>
        <p:nvPicPr>
          <p:cNvPr id="6" name="Picture 5">
            <a:extLst>
              <a:ext uri="{FF2B5EF4-FFF2-40B4-BE49-F238E27FC236}">
                <a16:creationId xmlns:a16="http://schemas.microsoft.com/office/drawing/2014/main" id="{BAE9FA16-C748-4105-A878-ED67D62F16CB}"/>
              </a:ext>
            </a:extLst>
          </p:cNvPr>
          <p:cNvPicPr>
            <a:picLocks noChangeAspect="1"/>
          </p:cNvPicPr>
          <p:nvPr/>
        </p:nvPicPr>
        <p:blipFill>
          <a:blip r:embed="rId4"/>
          <a:stretch>
            <a:fillRect/>
          </a:stretch>
        </p:blipFill>
        <p:spPr>
          <a:xfrm>
            <a:off x="591705" y="4935423"/>
            <a:ext cx="954325" cy="954325"/>
          </a:xfrm>
          <a:prstGeom prst="rect">
            <a:avLst/>
          </a:prstGeom>
        </p:spPr>
      </p:pic>
      <p:pic>
        <p:nvPicPr>
          <p:cNvPr id="10" name="Picture 9">
            <a:extLst>
              <a:ext uri="{FF2B5EF4-FFF2-40B4-BE49-F238E27FC236}">
                <a16:creationId xmlns:a16="http://schemas.microsoft.com/office/drawing/2014/main" id="{FD49209D-46DC-4980-9438-E71BF6CB4DBF}"/>
              </a:ext>
            </a:extLst>
          </p:cNvPr>
          <p:cNvPicPr>
            <a:picLocks noChangeAspect="1"/>
          </p:cNvPicPr>
          <p:nvPr/>
        </p:nvPicPr>
        <p:blipFill>
          <a:blip r:embed="rId5"/>
          <a:stretch>
            <a:fillRect/>
          </a:stretch>
        </p:blipFill>
        <p:spPr>
          <a:xfrm>
            <a:off x="727706" y="2369060"/>
            <a:ext cx="538204" cy="824528"/>
          </a:xfrm>
          <a:prstGeom prst="rect">
            <a:avLst/>
          </a:prstGeom>
        </p:spPr>
      </p:pic>
    </p:spTree>
    <p:extLst>
      <p:ext uri="{BB962C8B-B14F-4D97-AF65-F5344CB8AC3E}">
        <p14:creationId xmlns:p14="http://schemas.microsoft.com/office/powerpoint/2010/main" val="3675271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0"/>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6"/>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22" grpId="0" animBg="1"/>
      <p:bldP spid="36" grpId="0" animBg="1"/>
      <p:bldP spid="28" grpId="0" animBg="1"/>
      <p:bldP spid="29" grpId="0" animBg="1"/>
      <p:bldP spid="39" grpId="0" animBg="1"/>
      <p:bldP spid="50" grpId="0" animBg="1"/>
      <p:bldP spid="51" grpId="0" animBg="1"/>
      <p:bldP spid="2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10258D-FCE3-453D-B02E-FA78D5B651D9}"/>
              </a:ext>
            </a:extLst>
          </p:cNvPr>
          <p:cNvSpPr>
            <a:spLocks noGrp="1"/>
          </p:cNvSpPr>
          <p:nvPr>
            <p:ph type="title"/>
          </p:nvPr>
        </p:nvSpPr>
        <p:spPr/>
        <p:txBody>
          <a:bodyPr/>
          <a:lstStyle/>
          <a:p>
            <a:r>
              <a:rPr lang="en-US" dirty="0"/>
              <a:t>More on Network Policies</a:t>
            </a:r>
          </a:p>
        </p:txBody>
      </p:sp>
      <p:sp>
        <p:nvSpPr>
          <p:cNvPr id="3" name="TextBox 2">
            <a:extLst>
              <a:ext uri="{FF2B5EF4-FFF2-40B4-BE49-F238E27FC236}">
                <a16:creationId xmlns:a16="http://schemas.microsoft.com/office/drawing/2014/main" id="{3CAD70D4-21BA-41FD-B4F3-C0909E6819F3}"/>
              </a:ext>
            </a:extLst>
          </p:cNvPr>
          <p:cNvSpPr txBox="1"/>
          <p:nvPr/>
        </p:nvSpPr>
        <p:spPr>
          <a:xfrm>
            <a:off x="504001" y="1311965"/>
            <a:ext cx="5479356" cy="4308872"/>
          </a:xfrm>
          <a:prstGeom prst="rect">
            <a:avLst/>
          </a:prstGeom>
          <a:noFill/>
        </p:spPr>
        <p:txBody>
          <a:bodyPr wrap="square" lIns="0" tIns="0" rIns="0" bIns="0" rtlCol="0">
            <a:spAutoFit/>
          </a:bodyPr>
          <a:lstStyle/>
          <a:p>
            <a:pPr fontAlgn="base">
              <a:spcBef>
                <a:spcPct val="50000"/>
              </a:spcBef>
              <a:spcAft>
                <a:spcPct val="0"/>
              </a:spcAft>
              <a:buClr>
                <a:srgbClr val="F0AB00"/>
              </a:buClr>
              <a:buSzPct val="80000"/>
            </a:pPr>
            <a:r>
              <a:rPr lang="en-US" sz="2000" kern="0" dirty="0">
                <a:ea typeface="Arial Unicode MS" pitchFamily="34" charset="-128"/>
                <a:cs typeface="Arial Unicode MS" pitchFamily="34" charset="-128"/>
              </a:rPr>
              <a:t>2 </a:t>
            </a:r>
            <a:r>
              <a:rPr lang="en-US" sz="2000" kern="0" dirty="0" err="1">
                <a:ea typeface="Arial Unicode MS" pitchFamily="34" charset="-128"/>
                <a:cs typeface="Arial Unicode MS" pitchFamily="34" charset="-128"/>
              </a:rPr>
              <a:t>policyTypes</a:t>
            </a:r>
            <a:r>
              <a:rPr lang="en-US" sz="2000" kern="0" dirty="0">
                <a:ea typeface="Arial Unicode MS" pitchFamily="34" charset="-128"/>
                <a:cs typeface="Arial Unicode MS" pitchFamily="34" charset="-128"/>
              </a:rPr>
              <a:t>: </a:t>
            </a:r>
          </a:p>
          <a:p>
            <a:pPr marL="285750" indent="-285750" fontAlgn="base">
              <a:spcBef>
                <a:spcPct val="50000"/>
              </a:spcBef>
              <a:spcAft>
                <a:spcPct val="0"/>
              </a:spcAft>
              <a:buClr>
                <a:srgbClr val="F0AB00"/>
              </a:buClr>
              <a:buSzPct val="80000"/>
              <a:buFont typeface="Arial" panose="020B0604020202020204" pitchFamily="34" charset="0"/>
              <a:buChar char="•"/>
            </a:pPr>
            <a:r>
              <a:rPr lang="en-US" sz="2000" kern="0" dirty="0">
                <a:ea typeface="Arial Unicode MS" pitchFamily="34" charset="-128"/>
                <a:cs typeface="Arial Unicode MS" pitchFamily="34" charset="-128"/>
              </a:rPr>
              <a:t>Ingress: rules for incoming traffic</a:t>
            </a:r>
          </a:p>
          <a:p>
            <a:pPr marL="285750" indent="-285750" fontAlgn="base">
              <a:spcBef>
                <a:spcPct val="50000"/>
              </a:spcBef>
              <a:spcAft>
                <a:spcPct val="0"/>
              </a:spcAft>
              <a:buClr>
                <a:srgbClr val="F0AB00"/>
              </a:buClr>
              <a:buSzPct val="80000"/>
              <a:buFont typeface="Arial" panose="020B0604020202020204" pitchFamily="34" charset="0"/>
              <a:buChar char="•"/>
            </a:pPr>
            <a:r>
              <a:rPr lang="en-US" sz="2000" kern="0" dirty="0">
                <a:ea typeface="Arial Unicode MS" pitchFamily="34" charset="-128"/>
                <a:cs typeface="Arial Unicode MS" pitchFamily="34" charset="-128"/>
              </a:rPr>
              <a:t>Egress: rules for outgoing traffic</a:t>
            </a:r>
          </a:p>
          <a:p>
            <a:pPr fontAlgn="base">
              <a:spcBef>
                <a:spcPct val="50000"/>
              </a:spcBef>
              <a:spcAft>
                <a:spcPct val="0"/>
              </a:spcAft>
              <a:buClr>
                <a:srgbClr val="F0AB00"/>
              </a:buClr>
              <a:buSzPct val="80000"/>
            </a:pPr>
            <a:endParaRPr lang="en-US" sz="2000" kern="0" dirty="0">
              <a:ea typeface="Arial Unicode MS" pitchFamily="34" charset="-128"/>
              <a:cs typeface="Arial Unicode MS" pitchFamily="34" charset="-128"/>
            </a:endParaRPr>
          </a:p>
          <a:p>
            <a:pPr fontAlgn="base">
              <a:spcBef>
                <a:spcPct val="50000"/>
              </a:spcBef>
              <a:spcAft>
                <a:spcPct val="0"/>
              </a:spcAft>
              <a:buClr>
                <a:srgbClr val="F0AB00"/>
              </a:buClr>
              <a:buSzPct val="80000"/>
            </a:pPr>
            <a:r>
              <a:rPr lang="en-US" sz="2000" kern="0" dirty="0">
                <a:ea typeface="Arial Unicode MS" pitchFamily="34" charset="-128"/>
                <a:cs typeface="Arial Unicode MS" pitchFamily="34" charset="-128"/>
              </a:rPr>
              <a:t>3 kinds of Rules: </a:t>
            </a:r>
          </a:p>
          <a:p>
            <a:pPr marL="285750" indent="-285750" fontAlgn="base">
              <a:spcBef>
                <a:spcPct val="50000"/>
              </a:spcBef>
              <a:spcAft>
                <a:spcPct val="0"/>
              </a:spcAft>
              <a:buClr>
                <a:srgbClr val="F0AB00"/>
              </a:buClr>
              <a:buSzPct val="80000"/>
              <a:buFont typeface="Arial" panose="020B0604020202020204" pitchFamily="34" charset="0"/>
              <a:buChar char="•"/>
            </a:pPr>
            <a:r>
              <a:rPr lang="en-US" sz="2000" kern="0" dirty="0" err="1">
                <a:ea typeface="Arial Unicode MS" pitchFamily="34" charset="-128"/>
                <a:cs typeface="Arial Unicode MS" pitchFamily="34" charset="-128"/>
              </a:rPr>
              <a:t>ipBlock</a:t>
            </a:r>
            <a:r>
              <a:rPr lang="en-US" sz="2000" kern="0" dirty="0">
                <a:ea typeface="Arial Unicode MS" pitchFamily="34" charset="-128"/>
                <a:cs typeface="Arial Unicode MS" pitchFamily="34" charset="-128"/>
              </a:rPr>
              <a:t>: range of IP addresses given as CIDR</a:t>
            </a:r>
          </a:p>
          <a:p>
            <a:pPr marL="285750" indent="-285750" fontAlgn="base">
              <a:spcBef>
                <a:spcPct val="50000"/>
              </a:spcBef>
              <a:spcAft>
                <a:spcPct val="0"/>
              </a:spcAft>
              <a:buClr>
                <a:srgbClr val="F0AB00"/>
              </a:buClr>
              <a:buSzPct val="80000"/>
              <a:buFont typeface="Arial" panose="020B0604020202020204" pitchFamily="34" charset="0"/>
              <a:buChar char="•"/>
            </a:pPr>
            <a:r>
              <a:rPr lang="en-US" sz="2000" kern="0" dirty="0" err="1">
                <a:ea typeface="Arial Unicode MS" pitchFamily="34" charset="-128"/>
                <a:cs typeface="Arial Unicode MS" pitchFamily="34" charset="-128"/>
              </a:rPr>
              <a:t>podSelector</a:t>
            </a:r>
            <a:r>
              <a:rPr lang="en-US" sz="2000" kern="0" dirty="0">
                <a:ea typeface="Arial Unicode MS" pitchFamily="34" charset="-128"/>
                <a:cs typeface="Arial Unicode MS" pitchFamily="34" charset="-128"/>
              </a:rPr>
              <a:t>: labels of Pods allowed </a:t>
            </a:r>
          </a:p>
          <a:p>
            <a:pPr marL="285750" indent="-285750" fontAlgn="base">
              <a:spcBef>
                <a:spcPct val="50000"/>
              </a:spcBef>
              <a:spcAft>
                <a:spcPct val="0"/>
              </a:spcAft>
              <a:buClr>
                <a:srgbClr val="F0AB00"/>
              </a:buClr>
              <a:buSzPct val="80000"/>
              <a:buFont typeface="Arial" panose="020B0604020202020204" pitchFamily="34" charset="0"/>
              <a:buChar char="•"/>
            </a:pPr>
            <a:r>
              <a:rPr lang="en-US" sz="2000" kern="0" dirty="0" err="1">
                <a:ea typeface="Arial Unicode MS" pitchFamily="34" charset="-128"/>
                <a:cs typeface="Arial Unicode MS" pitchFamily="34" charset="-128"/>
              </a:rPr>
              <a:t>namespaceSelector</a:t>
            </a:r>
            <a:r>
              <a:rPr lang="en-US" sz="2000" kern="0" dirty="0">
                <a:ea typeface="Arial Unicode MS" pitchFamily="34" charset="-128"/>
                <a:cs typeface="Arial Unicode MS" pitchFamily="34" charset="-128"/>
              </a:rPr>
              <a:t>: labels of Namespaces</a:t>
            </a:r>
          </a:p>
          <a:p>
            <a:pPr marL="285750" indent="-285750" fontAlgn="base">
              <a:spcBef>
                <a:spcPct val="50000"/>
              </a:spcBef>
              <a:spcAft>
                <a:spcPct val="0"/>
              </a:spcAft>
              <a:buClr>
                <a:srgbClr val="F0AB00"/>
              </a:buClr>
              <a:buSzPct val="80000"/>
              <a:buFont typeface="Arial" panose="020B0604020202020204" pitchFamily="34" charset="0"/>
              <a:buChar char="•"/>
            </a:pPr>
            <a:r>
              <a:rPr lang="en-US" sz="2000" kern="0" dirty="0">
                <a:ea typeface="Arial Unicode MS" pitchFamily="34" charset="-128"/>
                <a:cs typeface="Arial Unicode MS" pitchFamily="34" charset="-128"/>
              </a:rPr>
              <a:t>Last two can be combined to specify certain pods in certain </a:t>
            </a:r>
            <a:r>
              <a:rPr lang="en-US" sz="2000" kern="0" dirty="0" err="1">
                <a:ea typeface="Arial Unicode MS" pitchFamily="34" charset="-128"/>
                <a:cs typeface="Arial Unicode MS" pitchFamily="34" charset="-128"/>
              </a:rPr>
              <a:t>namespases</a:t>
            </a:r>
            <a:r>
              <a:rPr lang="en-US" sz="2000" kern="0" dirty="0">
                <a:ea typeface="Arial Unicode MS" pitchFamily="34" charset="-128"/>
                <a:cs typeface="Arial Unicode MS" pitchFamily="34" charset="-128"/>
              </a:rPr>
              <a:t> (since 1.11)</a:t>
            </a:r>
          </a:p>
        </p:txBody>
      </p:sp>
    </p:spTree>
    <p:extLst>
      <p:ext uri="{BB962C8B-B14F-4D97-AF65-F5344CB8AC3E}">
        <p14:creationId xmlns:p14="http://schemas.microsoft.com/office/powerpoint/2010/main" val="17460573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BD4BF-5C0E-4BE1-A99C-25DBDC85D9CD}"/>
              </a:ext>
            </a:extLst>
          </p:cNvPr>
          <p:cNvSpPr>
            <a:spLocks noGrp="1"/>
          </p:cNvSpPr>
          <p:nvPr>
            <p:ph type="title"/>
          </p:nvPr>
        </p:nvSpPr>
        <p:spPr/>
        <p:txBody>
          <a:bodyPr/>
          <a:lstStyle/>
          <a:p>
            <a:r>
              <a:rPr lang="en-US" dirty="0"/>
              <a:t>Demo</a:t>
            </a:r>
          </a:p>
        </p:txBody>
      </p:sp>
      <p:pic>
        <p:nvPicPr>
          <p:cNvPr id="4" name="Picture 3">
            <a:extLst>
              <a:ext uri="{FF2B5EF4-FFF2-40B4-BE49-F238E27FC236}">
                <a16:creationId xmlns:a16="http://schemas.microsoft.com/office/drawing/2014/main" id="{A37371D8-51AB-421E-816A-31039883CAA2}"/>
              </a:ext>
            </a:extLst>
          </p:cNvPr>
          <p:cNvPicPr>
            <a:picLocks noChangeAspect="1"/>
          </p:cNvPicPr>
          <p:nvPr/>
        </p:nvPicPr>
        <p:blipFill>
          <a:blip r:embed="rId3"/>
          <a:stretch>
            <a:fillRect/>
          </a:stretch>
        </p:blipFill>
        <p:spPr>
          <a:xfrm>
            <a:off x="3645157" y="976918"/>
            <a:ext cx="4904163" cy="4904163"/>
          </a:xfrm>
          <a:prstGeom prst="rect">
            <a:avLst/>
          </a:prstGeom>
        </p:spPr>
      </p:pic>
    </p:spTree>
    <p:extLst>
      <p:ext uri="{BB962C8B-B14F-4D97-AF65-F5344CB8AC3E}">
        <p14:creationId xmlns:p14="http://schemas.microsoft.com/office/powerpoint/2010/main" val="2476350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1D3D19E-A8DA-4646-B054-3A090C73BA35}"/>
              </a:ext>
            </a:extLst>
          </p:cNvPr>
          <p:cNvSpPr>
            <a:spLocks noGrp="1"/>
          </p:cNvSpPr>
          <p:nvPr>
            <p:ph type="ctrTitle"/>
          </p:nvPr>
        </p:nvSpPr>
        <p:spPr/>
        <p:txBody>
          <a:bodyPr/>
          <a:lstStyle/>
          <a:p>
            <a:r>
              <a:rPr lang="en-US" dirty="0"/>
              <a:t>Attacking K8s</a:t>
            </a:r>
          </a:p>
        </p:txBody>
      </p:sp>
      <p:pic>
        <p:nvPicPr>
          <p:cNvPr id="5" name="Picture 4">
            <a:extLst>
              <a:ext uri="{FF2B5EF4-FFF2-40B4-BE49-F238E27FC236}">
                <a16:creationId xmlns:a16="http://schemas.microsoft.com/office/drawing/2014/main" id="{46822AB6-27A0-4E88-8B9A-E70E5967B8E0}"/>
              </a:ext>
            </a:extLst>
          </p:cNvPr>
          <p:cNvPicPr>
            <a:picLocks noChangeAspect="1"/>
          </p:cNvPicPr>
          <p:nvPr/>
        </p:nvPicPr>
        <p:blipFill>
          <a:blip r:embed="rId2"/>
          <a:stretch>
            <a:fillRect/>
          </a:stretch>
        </p:blipFill>
        <p:spPr>
          <a:xfrm>
            <a:off x="5648820" y="1309270"/>
            <a:ext cx="4239460" cy="4239460"/>
          </a:xfrm>
          <a:prstGeom prst="rect">
            <a:avLst/>
          </a:prstGeom>
        </p:spPr>
      </p:pic>
    </p:spTree>
    <p:extLst>
      <p:ext uri="{BB962C8B-B14F-4D97-AF65-F5344CB8AC3E}">
        <p14:creationId xmlns:p14="http://schemas.microsoft.com/office/powerpoint/2010/main" val="20262474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Rectangle: Rounded Corners 48">
            <a:extLst>
              <a:ext uri="{FF2B5EF4-FFF2-40B4-BE49-F238E27FC236}">
                <a16:creationId xmlns:a16="http://schemas.microsoft.com/office/drawing/2014/main" id="{8026BE7A-4593-49C0-8AB0-9ACDBBAC32F0}"/>
              </a:ext>
            </a:extLst>
          </p:cNvPr>
          <p:cNvSpPr/>
          <p:nvPr/>
        </p:nvSpPr>
        <p:spPr bwMode="gray">
          <a:xfrm>
            <a:off x="1269557" y="2926601"/>
            <a:ext cx="4531162" cy="3484827"/>
          </a:xfrm>
          <a:prstGeom prst="roundRect">
            <a:avLst/>
          </a:prstGeom>
          <a:solidFill>
            <a:schemeClr val="tx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Host</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7" name="Rectangle: Rounded Corners 6">
            <a:extLst>
              <a:ext uri="{FF2B5EF4-FFF2-40B4-BE49-F238E27FC236}">
                <a16:creationId xmlns:a16="http://schemas.microsoft.com/office/drawing/2014/main" id="{E6DC1ADC-4654-4F03-B065-7C743FA94D33}"/>
              </a:ext>
            </a:extLst>
          </p:cNvPr>
          <p:cNvSpPr/>
          <p:nvPr/>
        </p:nvSpPr>
        <p:spPr bwMode="gray">
          <a:xfrm>
            <a:off x="1269557" y="1008652"/>
            <a:ext cx="4531162" cy="1743402"/>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K8s</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 name="Rectangle: Rounded Corners 4">
            <a:extLst>
              <a:ext uri="{FF2B5EF4-FFF2-40B4-BE49-F238E27FC236}">
                <a16:creationId xmlns:a16="http://schemas.microsoft.com/office/drawing/2014/main" id="{89234713-B92F-490B-816D-7D03DE2CB399}"/>
              </a:ext>
            </a:extLst>
          </p:cNvPr>
          <p:cNvSpPr/>
          <p:nvPr/>
        </p:nvSpPr>
        <p:spPr bwMode="gray">
          <a:xfrm>
            <a:off x="1642716" y="2402958"/>
            <a:ext cx="3784845" cy="2172586"/>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Container</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11" name="Straight Connector 10">
            <a:extLst>
              <a:ext uri="{FF2B5EF4-FFF2-40B4-BE49-F238E27FC236}">
                <a16:creationId xmlns:a16="http://schemas.microsoft.com/office/drawing/2014/main" id="{8212A066-C642-4653-8248-71D0D018FB9C}"/>
              </a:ext>
            </a:extLst>
          </p:cNvPr>
          <p:cNvCxnSpPr>
            <a:cxnSpLocks/>
          </p:cNvCxnSpPr>
          <p:nvPr/>
        </p:nvCxnSpPr>
        <p:spPr>
          <a:xfrm>
            <a:off x="3535138" y="4575544"/>
            <a:ext cx="0" cy="485550"/>
          </a:xfrm>
          <a:prstGeom prst="line">
            <a:avLst/>
          </a:prstGeom>
          <a:ln w="76200">
            <a:solidFill>
              <a:schemeClr val="bg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 name="Rectangle: Rounded Corners 2">
            <a:extLst>
              <a:ext uri="{FF2B5EF4-FFF2-40B4-BE49-F238E27FC236}">
                <a16:creationId xmlns:a16="http://schemas.microsoft.com/office/drawing/2014/main" id="{A3C39E6E-8802-487D-8EFB-5EE635D38FB0}"/>
              </a:ext>
            </a:extLst>
          </p:cNvPr>
          <p:cNvSpPr/>
          <p:nvPr/>
        </p:nvSpPr>
        <p:spPr bwMode="gray">
          <a:xfrm>
            <a:off x="1424394" y="5061094"/>
            <a:ext cx="4221488" cy="723014"/>
          </a:xfrm>
          <a:prstGeom prst="roundRect">
            <a:avLst/>
          </a:prstGeom>
          <a:solidFill>
            <a:schemeClr val="bg2">
              <a:lumMod val="20000"/>
              <a:lumOff val="80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Linux Kernel</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6" name="Rectangle: Rounded Corners 35">
            <a:extLst>
              <a:ext uri="{FF2B5EF4-FFF2-40B4-BE49-F238E27FC236}">
                <a16:creationId xmlns:a16="http://schemas.microsoft.com/office/drawing/2014/main" id="{4A2A2717-CD54-4CDC-BC00-C10239978171}"/>
              </a:ext>
            </a:extLst>
          </p:cNvPr>
          <p:cNvSpPr/>
          <p:nvPr/>
        </p:nvSpPr>
        <p:spPr bwMode="gray">
          <a:xfrm>
            <a:off x="2596211" y="1541716"/>
            <a:ext cx="1877854" cy="686695"/>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1800" kern="0" dirty="0">
                <a:solidFill>
                  <a:schemeClr val="dk1"/>
                </a:solidFill>
                <a:latin typeface="+mn-lt"/>
                <a:ea typeface="Arial Unicode MS" pitchFamily="34" charset="-128"/>
              </a:rPr>
              <a:t>API Server</a:t>
            </a:r>
          </a:p>
        </p:txBody>
      </p:sp>
      <p:sp>
        <p:nvSpPr>
          <p:cNvPr id="50" name="Title 49">
            <a:extLst>
              <a:ext uri="{FF2B5EF4-FFF2-40B4-BE49-F238E27FC236}">
                <a16:creationId xmlns:a16="http://schemas.microsoft.com/office/drawing/2014/main" id="{7D480E47-3DD1-4ACF-8C6E-41D6F9D75F58}"/>
              </a:ext>
            </a:extLst>
          </p:cNvPr>
          <p:cNvSpPr>
            <a:spLocks noGrp="1"/>
          </p:cNvSpPr>
          <p:nvPr>
            <p:ph type="title"/>
          </p:nvPr>
        </p:nvSpPr>
        <p:spPr/>
        <p:txBody>
          <a:bodyPr/>
          <a:lstStyle/>
          <a:p>
            <a:r>
              <a:rPr lang="en-US" dirty="0"/>
              <a:t>Setup</a:t>
            </a:r>
          </a:p>
        </p:txBody>
      </p:sp>
      <p:sp>
        <p:nvSpPr>
          <p:cNvPr id="51" name="TextBox 50">
            <a:extLst>
              <a:ext uri="{FF2B5EF4-FFF2-40B4-BE49-F238E27FC236}">
                <a16:creationId xmlns:a16="http://schemas.microsoft.com/office/drawing/2014/main" id="{8C4896B8-4474-4EDB-AED8-677DAF5587AB}"/>
              </a:ext>
            </a:extLst>
          </p:cNvPr>
          <p:cNvSpPr txBox="1"/>
          <p:nvPr/>
        </p:nvSpPr>
        <p:spPr>
          <a:xfrm>
            <a:off x="1799514" y="3189516"/>
            <a:ext cx="3471248" cy="692497"/>
          </a:xfrm>
          <a:prstGeom prst="rect">
            <a:avLst/>
          </a:prstGeom>
          <a:solidFill>
            <a:schemeClr val="bg2">
              <a:lumMod val="20000"/>
              <a:lumOff val="80000"/>
            </a:schemeClr>
          </a:solidFill>
        </p:spPr>
        <p:txBody>
          <a:bodyPr wrap="square" lIns="0" tIns="0" rIns="0" bIns="0" rtlCol="0">
            <a:spAutoFit/>
          </a:bodyPr>
          <a:lstStyle/>
          <a:p>
            <a:pPr fontAlgn="base">
              <a:spcBef>
                <a:spcPct val="50000"/>
              </a:spcBef>
              <a:spcAft>
                <a:spcPct val="0"/>
              </a:spcAft>
              <a:buClr>
                <a:srgbClr val="F0AB00"/>
              </a:buClr>
              <a:buSzPct val="80000"/>
            </a:pPr>
            <a:r>
              <a:rPr lang="en-US" sz="1800" kern="0" dirty="0" err="1">
                <a:latin typeface="Courier New" panose="02070309020205020404" pitchFamily="49" charset="0"/>
                <a:ea typeface="Arial Unicode MS" pitchFamily="34" charset="-128"/>
                <a:cs typeface="Courier New" panose="02070309020205020404" pitchFamily="49" charset="0"/>
              </a:rPr>
              <a:t>root@container</a:t>
            </a:r>
            <a:r>
              <a:rPr lang="en-US" sz="1800" kern="0" dirty="0">
                <a:latin typeface="Courier New" panose="02070309020205020404" pitchFamily="49" charset="0"/>
                <a:ea typeface="Arial Unicode MS" pitchFamily="34" charset="-128"/>
                <a:cs typeface="Courier New" panose="02070309020205020404" pitchFamily="49" charset="0"/>
              </a:rPr>
              <a:t>:$</a:t>
            </a:r>
          </a:p>
          <a:p>
            <a:pPr fontAlgn="base">
              <a:spcBef>
                <a:spcPct val="50000"/>
              </a:spcBef>
              <a:spcAft>
                <a:spcPct val="0"/>
              </a:spcAft>
              <a:buClr>
                <a:srgbClr val="F0AB00"/>
              </a:buClr>
              <a:buSzPct val="80000"/>
            </a:pPr>
            <a:r>
              <a:rPr lang="en-US" sz="1800" kern="0" dirty="0">
                <a:latin typeface="Courier New" panose="02070309020205020404" pitchFamily="49" charset="0"/>
                <a:ea typeface="Arial Unicode MS" pitchFamily="34" charset="-128"/>
                <a:cs typeface="Courier New" panose="02070309020205020404" pitchFamily="49" charset="0"/>
              </a:rPr>
              <a:t>&gt; Hello world! </a:t>
            </a:r>
          </a:p>
        </p:txBody>
      </p:sp>
      <p:pic>
        <p:nvPicPr>
          <p:cNvPr id="53" name="Graphic 52" descr="User">
            <a:extLst>
              <a:ext uri="{FF2B5EF4-FFF2-40B4-BE49-F238E27FC236}">
                <a16:creationId xmlns:a16="http://schemas.microsoft.com/office/drawing/2014/main" id="{07CB2D72-906B-4C0A-9807-D997DAED377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429069" y="3189071"/>
            <a:ext cx="914400" cy="914400"/>
          </a:xfrm>
          <a:prstGeom prst="rect">
            <a:avLst/>
          </a:prstGeom>
        </p:spPr>
      </p:pic>
      <p:pic>
        <p:nvPicPr>
          <p:cNvPr id="55" name="Graphic 54" descr="Internet">
            <a:extLst>
              <a:ext uri="{FF2B5EF4-FFF2-40B4-BE49-F238E27FC236}">
                <a16:creationId xmlns:a16="http://schemas.microsoft.com/office/drawing/2014/main" id="{015D3B6F-37B0-49FA-BA5E-C09B56E26F2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767615" y="2752054"/>
            <a:ext cx="1219201" cy="1219201"/>
          </a:xfrm>
          <a:prstGeom prst="rect">
            <a:avLst/>
          </a:prstGeom>
        </p:spPr>
      </p:pic>
      <p:sp>
        <p:nvSpPr>
          <p:cNvPr id="56" name="Rectangle 55">
            <a:extLst>
              <a:ext uri="{FF2B5EF4-FFF2-40B4-BE49-F238E27FC236}">
                <a16:creationId xmlns:a16="http://schemas.microsoft.com/office/drawing/2014/main" id="{46DA3ECC-152B-4E97-8059-7E45D120D6C5}"/>
              </a:ext>
            </a:extLst>
          </p:cNvPr>
          <p:cNvSpPr/>
          <p:nvPr/>
        </p:nvSpPr>
        <p:spPr bwMode="gray">
          <a:xfrm>
            <a:off x="5293234" y="3410584"/>
            <a:ext cx="1594885" cy="106325"/>
          </a:xfrm>
          <a:prstGeom prst="rect">
            <a:avLst/>
          </a:prstGeom>
          <a:solidFill>
            <a:schemeClr val="accent5"/>
          </a:solidFill>
          <a:ln w="6350" algn="ctr">
            <a:solidFill>
              <a:schemeClr val="accent5"/>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22407984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Rounded Corners 38">
            <a:extLst>
              <a:ext uri="{FF2B5EF4-FFF2-40B4-BE49-F238E27FC236}">
                <a16:creationId xmlns:a16="http://schemas.microsoft.com/office/drawing/2014/main" id="{6B05395E-1844-476D-AB95-17A4127B8AE6}"/>
              </a:ext>
            </a:extLst>
          </p:cNvPr>
          <p:cNvSpPr/>
          <p:nvPr/>
        </p:nvSpPr>
        <p:spPr bwMode="gray">
          <a:xfrm>
            <a:off x="1269557" y="2926601"/>
            <a:ext cx="4531162" cy="3484827"/>
          </a:xfrm>
          <a:prstGeom prst="roundRect">
            <a:avLst/>
          </a:prstGeom>
          <a:solidFill>
            <a:schemeClr val="tx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Host</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0" name="Rectangle: Rounded Corners 39">
            <a:extLst>
              <a:ext uri="{FF2B5EF4-FFF2-40B4-BE49-F238E27FC236}">
                <a16:creationId xmlns:a16="http://schemas.microsoft.com/office/drawing/2014/main" id="{01EB7DF5-45EB-4252-81B1-36C6C146EC09}"/>
              </a:ext>
            </a:extLst>
          </p:cNvPr>
          <p:cNvSpPr/>
          <p:nvPr/>
        </p:nvSpPr>
        <p:spPr bwMode="gray">
          <a:xfrm>
            <a:off x="1269557" y="1008652"/>
            <a:ext cx="4531162" cy="1743402"/>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K8s</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1" name="Rectangle: Rounded Corners 40">
            <a:extLst>
              <a:ext uri="{FF2B5EF4-FFF2-40B4-BE49-F238E27FC236}">
                <a16:creationId xmlns:a16="http://schemas.microsoft.com/office/drawing/2014/main" id="{84440113-9D89-45D0-8A5F-AB6580792D6B}"/>
              </a:ext>
            </a:extLst>
          </p:cNvPr>
          <p:cNvSpPr/>
          <p:nvPr/>
        </p:nvSpPr>
        <p:spPr bwMode="gray">
          <a:xfrm>
            <a:off x="1642716" y="2402958"/>
            <a:ext cx="3784845" cy="2172586"/>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Container</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42" name="Straight Connector 41">
            <a:extLst>
              <a:ext uri="{FF2B5EF4-FFF2-40B4-BE49-F238E27FC236}">
                <a16:creationId xmlns:a16="http://schemas.microsoft.com/office/drawing/2014/main" id="{0D4EDAE1-E022-4D47-BFE8-DB8E8A0CC4AB}"/>
              </a:ext>
            </a:extLst>
          </p:cNvPr>
          <p:cNvCxnSpPr>
            <a:cxnSpLocks/>
          </p:cNvCxnSpPr>
          <p:nvPr/>
        </p:nvCxnSpPr>
        <p:spPr>
          <a:xfrm>
            <a:off x="3535138" y="4575544"/>
            <a:ext cx="0" cy="485550"/>
          </a:xfrm>
          <a:prstGeom prst="line">
            <a:avLst/>
          </a:prstGeom>
          <a:ln w="76200">
            <a:solidFill>
              <a:schemeClr val="bg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3" name="Rectangle: Rounded Corners 42">
            <a:extLst>
              <a:ext uri="{FF2B5EF4-FFF2-40B4-BE49-F238E27FC236}">
                <a16:creationId xmlns:a16="http://schemas.microsoft.com/office/drawing/2014/main" id="{2523410D-48C4-4016-92C7-EAD431ADB7B2}"/>
              </a:ext>
            </a:extLst>
          </p:cNvPr>
          <p:cNvSpPr/>
          <p:nvPr/>
        </p:nvSpPr>
        <p:spPr bwMode="gray">
          <a:xfrm>
            <a:off x="1424394" y="5061094"/>
            <a:ext cx="4221488" cy="723014"/>
          </a:xfrm>
          <a:prstGeom prst="roundRect">
            <a:avLst/>
          </a:prstGeom>
          <a:solidFill>
            <a:schemeClr val="bg2">
              <a:lumMod val="20000"/>
              <a:lumOff val="80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Linux Kernel</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1" name="Rectangle: Rounded Corners 50">
            <a:extLst>
              <a:ext uri="{FF2B5EF4-FFF2-40B4-BE49-F238E27FC236}">
                <a16:creationId xmlns:a16="http://schemas.microsoft.com/office/drawing/2014/main" id="{7DE3B177-A7B0-4867-B54E-B383E5D84DF0}"/>
              </a:ext>
            </a:extLst>
          </p:cNvPr>
          <p:cNvSpPr/>
          <p:nvPr/>
        </p:nvSpPr>
        <p:spPr bwMode="gray">
          <a:xfrm>
            <a:off x="2596211" y="1541716"/>
            <a:ext cx="1877854" cy="686695"/>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1800" kern="0" dirty="0">
                <a:solidFill>
                  <a:schemeClr val="dk1"/>
                </a:solidFill>
                <a:latin typeface="+mn-lt"/>
                <a:ea typeface="Arial Unicode MS" pitchFamily="34" charset="-128"/>
              </a:rPr>
              <a:t>API Server</a:t>
            </a:r>
          </a:p>
        </p:txBody>
      </p:sp>
      <p:sp>
        <p:nvSpPr>
          <p:cNvPr id="50" name="Title 49">
            <a:extLst>
              <a:ext uri="{FF2B5EF4-FFF2-40B4-BE49-F238E27FC236}">
                <a16:creationId xmlns:a16="http://schemas.microsoft.com/office/drawing/2014/main" id="{7D480E47-3DD1-4ACF-8C6E-41D6F9D75F58}"/>
              </a:ext>
            </a:extLst>
          </p:cNvPr>
          <p:cNvSpPr>
            <a:spLocks noGrp="1"/>
          </p:cNvSpPr>
          <p:nvPr>
            <p:ph type="title"/>
          </p:nvPr>
        </p:nvSpPr>
        <p:spPr/>
        <p:txBody>
          <a:bodyPr/>
          <a:lstStyle/>
          <a:p>
            <a:r>
              <a:rPr lang="en-US" dirty="0"/>
              <a:t>Scenario 1: Bitcoin, Ethereum, </a:t>
            </a:r>
            <a:r>
              <a:rPr lang="en-US" dirty="0" err="1"/>
              <a:t>Monero</a:t>
            </a:r>
            <a:r>
              <a:rPr lang="en-US" dirty="0"/>
              <a:t>!</a:t>
            </a:r>
          </a:p>
        </p:txBody>
      </p:sp>
      <p:sp>
        <p:nvSpPr>
          <p:cNvPr id="2" name="Cloud 1">
            <a:extLst>
              <a:ext uri="{FF2B5EF4-FFF2-40B4-BE49-F238E27FC236}">
                <a16:creationId xmlns:a16="http://schemas.microsoft.com/office/drawing/2014/main" id="{D4F0E42D-30E8-4AD3-BDAA-9E16ABB6973D}"/>
              </a:ext>
            </a:extLst>
          </p:cNvPr>
          <p:cNvSpPr/>
          <p:nvPr/>
        </p:nvSpPr>
        <p:spPr bwMode="gray">
          <a:xfrm>
            <a:off x="6989398" y="929734"/>
            <a:ext cx="2054586" cy="1658675"/>
          </a:xfrm>
          <a:prstGeom prst="cloud">
            <a:avLst/>
          </a:prstGeom>
          <a:solidFill>
            <a:schemeClr val="bg2">
              <a:lumMod val="40000"/>
              <a:lumOff val="60000"/>
            </a:schemeClr>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Internet</a:t>
            </a:r>
          </a:p>
        </p:txBody>
      </p:sp>
      <p:sp>
        <p:nvSpPr>
          <p:cNvPr id="20" name="TextBox 19">
            <a:extLst>
              <a:ext uri="{FF2B5EF4-FFF2-40B4-BE49-F238E27FC236}">
                <a16:creationId xmlns:a16="http://schemas.microsoft.com/office/drawing/2014/main" id="{3FC79A34-F218-447B-8C61-1E171A5941BB}"/>
              </a:ext>
            </a:extLst>
          </p:cNvPr>
          <p:cNvSpPr txBox="1"/>
          <p:nvPr/>
        </p:nvSpPr>
        <p:spPr>
          <a:xfrm>
            <a:off x="1735718" y="3203057"/>
            <a:ext cx="3598840" cy="1107996"/>
          </a:xfrm>
          <a:prstGeom prst="rect">
            <a:avLst/>
          </a:prstGeom>
          <a:solidFill>
            <a:schemeClr val="bg2">
              <a:lumMod val="20000"/>
              <a:lumOff val="80000"/>
            </a:schemeClr>
          </a:solidFill>
        </p:spPr>
        <p:txBody>
          <a:bodyPr wrap="square" lIns="0" tIns="0" rIns="0" bIns="0" rtlCol="0">
            <a:spAutoFit/>
          </a:bodyPr>
          <a:lstStyle/>
          <a:p>
            <a:pPr fontAlgn="base">
              <a:spcBef>
                <a:spcPct val="50000"/>
              </a:spcBef>
              <a:spcAft>
                <a:spcPct val="0"/>
              </a:spcAft>
              <a:buClr>
                <a:srgbClr val="F0AB00"/>
              </a:buClr>
              <a:buSzPct val="80000"/>
            </a:pPr>
            <a:r>
              <a:rPr lang="en-US" sz="1800" kern="0" dirty="0" err="1">
                <a:latin typeface="Courier New" panose="02070309020205020404" pitchFamily="49" charset="0"/>
                <a:ea typeface="Arial Unicode MS" pitchFamily="34" charset="-128"/>
                <a:cs typeface="Courier New" panose="02070309020205020404" pitchFamily="49" charset="0"/>
              </a:rPr>
              <a:t>root@container</a:t>
            </a:r>
            <a:r>
              <a:rPr lang="en-US" sz="1800" kern="0" dirty="0">
                <a:latin typeface="Courier New" panose="02070309020205020404" pitchFamily="49" charset="0"/>
                <a:ea typeface="Arial Unicode MS" pitchFamily="34" charset="-128"/>
                <a:cs typeface="Courier New" panose="02070309020205020404" pitchFamily="49" charset="0"/>
              </a:rPr>
              <a:t>:$</a:t>
            </a:r>
          </a:p>
          <a:p>
            <a:pPr fontAlgn="base">
              <a:spcBef>
                <a:spcPct val="50000"/>
              </a:spcBef>
              <a:spcAft>
                <a:spcPct val="0"/>
              </a:spcAft>
              <a:buClr>
                <a:srgbClr val="F0AB00"/>
              </a:buClr>
              <a:buSzPct val="80000"/>
            </a:pPr>
            <a:r>
              <a:rPr lang="en-US" sz="1800" kern="0" dirty="0">
                <a:latin typeface="Courier New" panose="02070309020205020404" pitchFamily="49" charset="0"/>
                <a:ea typeface="Arial Unicode MS" pitchFamily="34" charset="-128"/>
                <a:cs typeface="Courier New" panose="02070309020205020404" pitchFamily="49" charset="0"/>
              </a:rPr>
              <a:t>&gt; apt install &lt;some miner&gt;</a:t>
            </a:r>
          </a:p>
          <a:p>
            <a:pPr fontAlgn="base">
              <a:spcBef>
                <a:spcPct val="50000"/>
              </a:spcBef>
              <a:spcAft>
                <a:spcPct val="0"/>
              </a:spcAft>
              <a:buClr>
                <a:srgbClr val="F0AB00"/>
              </a:buClr>
              <a:buSzPct val="80000"/>
            </a:pPr>
            <a:r>
              <a:rPr lang="en-US" sz="1800" kern="0" dirty="0">
                <a:latin typeface="Courier New" panose="02070309020205020404" pitchFamily="49" charset="0"/>
                <a:ea typeface="Arial Unicode MS" pitchFamily="34" charset="-128"/>
                <a:cs typeface="Courier New" panose="02070309020205020404" pitchFamily="49" charset="0"/>
              </a:rPr>
              <a:t>&gt; € € € € € € € € €...</a:t>
            </a:r>
          </a:p>
        </p:txBody>
      </p:sp>
      <p:cxnSp>
        <p:nvCxnSpPr>
          <p:cNvPr id="22" name="Connector: Elbow 21">
            <a:extLst>
              <a:ext uri="{FF2B5EF4-FFF2-40B4-BE49-F238E27FC236}">
                <a16:creationId xmlns:a16="http://schemas.microsoft.com/office/drawing/2014/main" id="{8870909F-3F3C-4B60-A7F2-656FD357233E}"/>
              </a:ext>
            </a:extLst>
          </p:cNvPr>
          <p:cNvCxnSpPr>
            <a:cxnSpLocks/>
            <a:stCxn id="20" idx="3"/>
            <a:endCxn id="2" idx="1"/>
          </p:cNvCxnSpPr>
          <p:nvPr/>
        </p:nvCxnSpPr>
        <p:spPr>
          <a:xfrm flipV="1">
            <a:off x="5334558" y="2586643"/>
            <a:ext cx="2682133" cy="1170412"/>
          </a:xfrm>
          <a:prstGeom prst="bentConnector2">
            <a:avLst/>
          </a:prstGeom>
          <a:ln w="57150">
            <a:solidFill>
              <a:schemeClr val="accent5">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7" name="Graphic 16" descr="Coins">
            <a:extLst>
              <a:ext uri="{FF2B5EF4-FFF2-40B4-BE49-F238E27FC236}">
                <a16:creationId xmlns:a16="http://schemas.microsoft.com/office/drawing/2014/main" id="{D9919339-C5F4-46D3-BCAA-DADD401DD3D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971158" y="2695147"/>
            <a:ext cx="914400" cy="914400"/>
          </a:xfrm>
          <a:prstGeom prst="rect">
            <a:avLst/>
          </a:prstGeom>
        </p:spPr>
      </p:pic>
    </p:spTree>
    <p:extLst>
      <p:ext uri="{BB962C8B-B14F-4D97-AF65-F5344CB8AC3E}">
        <p14:creationId xmlns:p14="http://schemas.microsoft.com/office/powerpoint/2010/main" val="12124056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Rounded Corners 38">
            <a:extLst>
              <a:ext uri="{FF2B5EF4-FFF2-40B4-BE49-F238E27FC236}">
                <a16:creationId xmlns:a16="http://schemas.microsoft.com/office/drawing/2014/main" id="{6B05395E-1844-476D-AB95-17A4127B8AE6}"/>
              </a:ext>
            </a:extLst>
          </p:cNvPr>
          <p:cNvSpPr/>
          <p:nvPr/>
        </p:nvSpPr>
        <p:spPr bwMode="gray">
          <a:xfrm>
            <a:off x="1269557" y="2926601"/>
            <a:ext cx="4531162" cy="3484827"/>
          </a:xfrm>
          <a:prstGeom prst="roundRect">
            <a:avLst/>
          </a:prstGeom>
          <a:solidFill>
            <a:schemeClr val="tx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Host</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0" name="Rectangle: Rounded Corners 39">
            <a:extLst>
              <a:ext uri="{FF2B5EF4-FFF2-40B4-BE49-F238E27FC236}">
                <a16:creationId xmlns:a16="http://schemas.microsoft.com/office/drawing/2014/main" id="{01EB7DF5-45EB-4252-81B1-36C6C146EC09}"/>
              </a:ext>
            </a:extLst>
          </p:cNvPr>
          <p:cNvSpPr/>
          <p:nvPr/>
        </p:nvSpPr>
        <p:spPr bwMode="gray">
          <a:xfrm>
            <a:off x="1269557" y="1008652"/>
            <a:ext cx="4531162" cy="1743402"/>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K8s</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1" name="Rectangle: Rounded Corners 40">
            <a:extLst>
              <a:ext uri="{FF2B5EF4-FFF2-40B4-BE49-F238E27FC236}">
                <a16:creationId xmlns:a16="http://schemas.microsoft.com/office/drawing/2014/main" id="{84440113-9D89-45D0-8A5F-AB6580792D6B}"/>
              </a:ext>
            </a:extLst>
          </p:cNvPr>
          <p:cNvSpPr/>
          <p:nvPr/>
        </p:nvSpPr>
        <p:spPr bwMode="gray">
          <a:xfrm>
            <a:off x="1642716" y="2402958"/>
            <a:ext cx="3784845" cy="2172586"/>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Container</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42" name="Straight Connector 41">
            <a:extLst>
              <a:ext uri="{FF2B5EF4-FFF2-40B4-BE49-F238E27FC236}">
                <a16:creationId xmlns:a16="http://schemas.microsoft.com/office/drawing/2014/main" id="{0D4EDAE1-E022-4D47-BFE8-DB8E8A0CC4AB}"/>
              </a:ext>
            </a:extLst>
          </p:cNvPr>
          <p:cNvCxnSpPr>
            <a:cxnSpLocks/>
          </p:cNvCxnSpPr>
          <p:nvPr/>
        </p:nvCxnSpPr>
        <p:spPr>
          <a:xfrm>
            <a:off x="3535138" y="4575544"/>
            <a:ext cx="0" cy="485550"/>
          </a:xfrm>
          <a:prstGeom prst="line">
            <a:avLst/>
          </a:prstGeom>
          <a:ln w="76200">
            <a:solidFill>
              <a:schemeClr val="bg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3" name="Rectangle: Rounded Corners 42">
            <a:extLst>
              <a:ext uri="{FF2B5EF4-FFF2-40B4-BE49-F238E27FC236}">
                <a16:creationId xmlns:a16="http://schemas.microsoft.com/office/drawing/2014/main" id="{2523410D-48C4-4016-92C7-EAD431ADB7B2}"/>
              </a:ext>
            </a:extLst>
          </p:cNvPr>
          <p:cNvSpPr/>
          <p:nvPr/>
        </p:nvSpPr>
        <p:spPr bwMode="gray">
          <a:xfrm>
            <a:off x="1424394" y="5061094"/>
            <a:ext cx="4221488" cy="723014"/>
          </a:xfrm>
          <a:prstGeom prst="roundRect">
            <a:avLst/>
          </a:prstGeom>
          <a:solidFill>
            <a:schemeClr val="bg2">
              <a:lumMod val="20000"/>
              <a:lumOff val="80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Linux Kernel</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1" name="Rectangle: Rounded Corners 50">
            <a:extLst>
              <a:ext uri="{FF2B5EF4-FFF2-40B4-BE49-F238E27FC236}">
                <a16:creationId xmlns:a16="http://schemas.microsoft.com/office/drawing/2014/main" id="{7DE3B177-A7B0-4867-B54E-B383E5D84DF0}"/>
              </a:ext>
            </a:extLst>
          </p:cNvPr>
          <p:cNvSpPr/>
          <p:nvPr/>
        </p:nvSpPr>
        <p:spPr bwMode="gray">
          <a:xfrm>
            <a:off x="2596211" y="1541716"/>
            <a:ext cx="1877854" cy="686695"/>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1800" kern="0" dirty="0">
                <a:solidFill>
                  <a:schemeClr val="dk1"/>
                </a:solidFill>
                <a:latin typeface="+mn-lt"/>
                <a:ea typeface="Arial Unicode MS" pitchFamily="34" charset="-128"/>
              </a:rPr>
              <a:t>API Server</a:t>
            </a:r>
          </a:p>
        </p:txBody>
      </p:sp>
      <p:sp>
        <p:nvSpPr>
          <p:cNvPr id="50" name="Title 49">
            <a:extLst>
              <a:ext uri="{FF2B5EF4-FFF2-40B4-BE49-F238E27FC236}">
                <a16:creationId xmlns:a16="http://schemas.microsoft.com/office/drawing/2014/main" id="{7D480E47-3DD1-4ACF-8C6E-41D6F9D75F58}"/>
              </a:ext>
            </a:extLst>
          </p:cNvPr>
          <p:cNvSpPr>
            <a:spLocks noGrp="1"/>
          </p:cNvSpPr>
          <p:nvPr>
            <p:ph type="title"/>
          </p:nvPr>
        </p:nvSpPr>
        <p:spPr/>
        <p:txBody>
          <a:bodyPr/>
          <a:lstStyle/>
          <a:p>
            <a:r>
              <a:rPr lang="en-US" dirty="0"/>
              <a:t>How to prevent this?</a:t>
            </a:r>
          </a:p>
        </p:txBody>
      </p:sp>
      <p:sp>
        <p:nvSpPr>
          <p:cNvPr id="2" name="Cloud 1">
            <a:extLst>
              <a:ext uri="{FF2B5EF4-FFF2-40B4-BE49-F238E27FC236}">
                <a16:creationId xmlns:a16="http://schemas.microsoft.com/office/drawing/2014/main" id="{D4F0E42D-30E8-4AD3-BDAA-9E16ABB6973D}"/>
              </a:ext>
            </a:extLst>
          </p:cNvPr>
          <p:cNvSpPr/>
          <p:nvPr/>
        </p:nvSpPr>
        <p:spPr bwMode="gray">
          <a:xfrm>
            <a:off x="6989398" y="929734"/>
            <a:ext cx="2054586" cy="1658675"/>
          </a:xfrm>
          <a:prstGeom prst="cloud">
            <a:avLst/>
          </a:prstGeom>
          <a:solidFill>
            <a:schemeClr val="bg2">
              <a:lumMod val="40000"/>
              <a:lumOff val="60000"/>
            </a:schemeClr>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Internet</a:t>
            </a:r>
          </a:p>
        </p:txBody>
      </p:sp>
      <p:sp>
        <p:nvSpPr>
          <p:cNvPr id="20" name="TextBox 19">
            <a:extLst>
              <a:ext uri="{FF2B5EF4-FFF2-40B4-BE49-F238E27FC236}">
                <a16:creationId xmlns:a16="http://schemas.microsoft.com/office/drawing/2014/main" id="{3FC79A34-F218-447B-8C61-1E171A5941BB}"/>
              </a:ext>
            </a:extLst>
          </p:cNvPr>
          <p:cNvSpPr txBox="1"/>
          <p:nvPr/>
        </p:nvSpPr>
        <p:spPr>
          <a:xfrm>
            <a:off x="1735718" y="3203057"/>
            <a:ext cx="3598840" cy="1107996"/>
          </a:xfrm>
          <a:prstGeom prst="rect">
            <a:avLst/>
          </a:prstGeom>
          <a:solidFill>
            <a:schemeClr val="bg2">
              <a:lumMod val="20000"/>
              <a:lumOff val="80000"/>
            </a:schemeClr>
          </a:solidFill>
        </p:spPr>
        <p:txBody>
          <a:bodyPr wrap="square" lIns="0" tIns="0" rIns="0" bIns="0" rtlCol="0">
            <a:spAutoFit/>
          </a:bodyPr>
          <a:lstStyle/>
          <a:p>
            <a:pPr fontAlgn="base">
              <a:spcBef>
                <a:spcPct val="50000"/>
              </a:spcBef>
              <a:spcAft>
                <a:spcPct val="0"/>
              </a:spcAft>
              <a:buClr>
                <a:srgbClr val="F0AB00"/>
              </a:buClr>
              <a:buSzPct val="80000"/>
            </a:pPr>
            <a:r>
              <a:rPr lang="en-US" sz="1800" kern="0" dirty="0" err="1">
                <a:latin typeface="Courier New" panose="02070309020205020404" pitchFamily="49" charset="0"/>
                <a:ea typeface="Arial Unicode MS" pitchFamily="34" charset="-128"/>
                <a:cs typeface="Courier New" panose="02070309020205020404" pitchFamily="49" charset="0"/>
              </a:rPr>
              <a:t>root@container</a:t>
            </a:r>
            <a:r>
              <a:rPr lang="en-US" sz="1800" kern="0" dirty="0">
                <a:latin typeface="Courier New" panose="02070309020205020404" pitchFamily="49" charset="0"/>
                <a:ea typeface="Arial Unicode MS" pitchFamily="34" charset="-128"/>
                <a:cs typeface="Courier New" panose="02070309020205020404" pitchFamily="49" charset="0"/>
              </a:rPr>
              <a:t>:$</a:t>
            </a:r>
          </a:p>
          <a:p>
            <a:pPr fontAlgn="base">
              <a:spcBef>
                <a:spcPct val="50000"/>
              </a:spcBef>
              <a:spcAft>
                <a:spcPct val="0"/>
              </a:spcAft>
              <a:buClr>
                <a:srgbClr val="F0AB00"/>
              </a:buClr>
              <a:buSzPct val="80000"/>
            </a:pPr>
            <a:r>
              <a:rPr lang="en-US" sz="1800" kern="0" dirty="0">
                <a:latin typeface="Courier New" panose="02070309020205020404" pitchFamily="49" charset="0"/>
                <a:ea typeface="Arial Unicode MS" pitchFamily="34" charset="-128"/>
                <a:cs typeface="Courier New" panose="02070309020205020404" pitchFamily="49" charset="0"/>
              </a:rPr>
              <a:t>&gt; apt install &lt;some miner&gt;</a:t>
            </a:r>
          </a:p>
          <a:p>
            <a:pPr fontAlgn="base">
              <a:spcBef>
                <a:spcPct val="50000"/>
              </a:spcBef>
              <a:spcAft>
                <a:spcPct val="0"/>
              </a:spcAft>
              <a:buClr>
                <a:srgbClr val="F0AB00"/>
              </a:buClr>
              <a:buSzPct val="80000"/>
            </a:pPr>
            <a:r>
              <a:rPr lang="en-US" sz="1800" kern="0" dirty="0">
                <a:latin typeface="Courier New" panose="02070309020205020404" pitchFamily="49" charset="0"/>
                <a:ea typeface="Arial Unicode MS" pitchFamily="34" charset="-128"/>
                <a:cs typeface="Courier New" panose="02070309020205020404" pitchFamily="49" charset="0"/>
              </a:rPr>
              <a:t>&gt; € € € € € € € € €...</a:t>
            </a:r>
          </a:p>
        </p:txBody>
      </p:sp>
      <p:cxnSp>
        <p:nvCxnSpPr>
          <p:cNvPr id="22" name="Connector: Elbow 21">
            <a:extLst>
              <a:ext uri="{FF2B5EF4-FFF2-40B4-BE49-F238E27FC236}">
                <a16:creationId xmlns:a16="http://schemas.microsoft.com/office/drawing/2014/main" id="{8870909F-3F3C-4B60-A7F2-656FD357233E}"/>
              </a:ext>
            </a:extLst>
          </p:cNvPr>
          <p:cNvCxnSpPr>
            <a:cxnSpLocks/>
            <a:stCxn id="20" idx="3"/>
            <a:endCxn id="2" idx="1"/>
          </p:cNvCxnSpPr>
          <p:nvPr/>
        </p:nvCxnSpPr>
        <p:spPr>
          <a:xfrm flipV="1">
            <a:off x="5334558" y="2586643"/>
            <a:ext cx="2682133" cy="1170412"/>
          </a:xfrm>
          <a:prstGeom prst="bentConnector2">
            <a:avLst/>
          </a:prstGeom>
          <a:ln w="57150">
            <a:solidFill>
              <a:schemeClr val="accent5">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7" name="Graphic 16" descr="Coins">
            <a:extLst>
              <a:ext uri="{FF2B5EF4-FFF2-40B4-BE49-F238E27FC236}">
                <a16:creationId xmlns:a16="http://schemas.microsoft.com/office/drawing/2014/main" id="{D9919339-C5F4-46D3-BCAA-DADD401DD3D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971158" y="2695147"/>
            <a:ext cx="914400" cy="914400"/>
          </a:xfrm>
          <a:prstGeom prst="rect">
            <a:avLst/>
          </a:prstGeom>
        </p:spPr>
      </p:pic>
      <p:sp>
        <p:nvSpPr>
          <p:cNvPr id="13" name="Speech Bubble: Rectangle 12">
            <a:extLst>
              <a:ext uri="{FF2B5EF4-FFF2-40B4-BE49-F238E27FC236}">
                <a16:creationId xmlns:a16="http://schemas.microsoft.com/office/drawing/2014/main" id="{607BCF5E-3042-4E57-BE13-298B44EF95D4}"/>
              </a:ext>
            </a:extLst>
          </p:cNvPr>
          <p:cNvSpPr/>
          <p:nvPr/>
        </p:nvSpPr>
        <p:spPr bwMode="gray">
          <a:xfrm>
            <a:off x="8835726" y="2793553"/>
            <a:ext cx="2318513" cy="617991"/>
          </a:xfrm>
          <a:prstGeom prst="wedgeRectCallout">
            <a:avLst>
              <a:gd name="adj1" fmla="val -50183"/>
              <a:gd name="adj2" fmla="val -11669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Block egress traffic with network policies</a:t>
            </a:r>
          </a:p>
        </p:txBody>
      </p:sp>
      <p:sp>
        <p:nvSpPr>
          <p:cNvPr id="14" name="Speech Bubble: Rectangle 13">
            <a:extLst>
              <a:ext uri="{FF2B5EF4-FFF2-40B4-BE49-F238E27FC236}">
                <a16:creationId xmlns:a16="http://schemas.microsoft.com/office/drawing/2014/main" id="{54F4D027-A4E0-4AEE-89BE-7D9AD78C2D7B}"/>
              </a:ext>
            </a:extLst>
          </p:cNvPr>
          <p:cNvSpPr/>
          <p:nvPr/>
        </p:nvSpPr>
        <p:spPr bwMode="gray">
          <a:xfrm>
            <a:off x="6989398" y="5176944"/>
            <a:ext cx="3014153" cy="1000664"/>
          </a:xfrm>
          <a:prstGeom prst="wedgeRectCallout">
            <a:avLst>
              <a:gd name="adj1" fmla="val -86024"/>
              <a:gd name="adj2" fmla="val -3169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Limit resource consumption via container / pod spec</a:t>
            </a:r>
          </a:p>
        </p:txBody>
      </p:sp>
      <p:sp>
        <p:nvSpPr>
          <p:cNvPr id="15" name="Speech Bubble: Rectangle 14">
            <a:extLst>
              <a:ext uri="{FF2B5EF4-FFF2-40B4-BE49-F238E27FC236}">
                <a16:creationId xmlns:a16="http://schemas.microsoft.com/office/drawing/2014/main" id="{392769AA-5C5A-419E-B32F-1FC2321CC76E}"/>
              </a:ext>
            </a:extLst>
          </p:cNvPr>
          <p:cNvSpPr/>
          <p:nvPr/>
        </p:nvSpPr>
        <p:spPr bwMode="gray">
          <a:xfrm>
            <a:off x="6989399" y="4166401"/>
            <a:ext cx="3014152" cy="782350"/>
          </a:xfrm>
          <a:prstGeom prst="wedgeRectCallout">
            <a:avLst>
              <a:gd name="adj1" fmla="val -94596"/>
              <a:gd name="adj2" fmla="val -8572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images don’t have tools like curl or </a:t>
            </a:r>
            <a:r>
              <a:rPr lang="en-US" sz="1800" kern="0" dirty="0" err="1">
                <a:ea typeface="Arial Unicode MS" pitchFamily="34" charset="-128"/>
                <a:cs typeface="Arial Unicode MS" pitchFamily="34" charset="-128"/>
              </a:rPr>
              <a:t>wget</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6670622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Rounded Corners 38">
            <a:extLst>
              <a:ext uri="{FF2B5EF4-FFF2-40B4-BE49-F238E27FC236}">
                <a16:creationId xmlns:a16="http://schemas.microsoft.com/office/drawing/2014/main" id="{6B05395E-1844-476D-AB95-17A4127B8AE6}"/>
              </a:ext>
            </a:extLst>
          </p:cNvPr>
          <p:cNvSpPr/>
          <p:nvPr/>
        </p:nvSpPr>
        <p:spPr bwMode="gray">
          <a:xfrm>
            <a:off x="1269557" y="2926601"/>
            <a:ext cx="4531162" cy="3484827"/>
          </a:xfrm>
          <a:prstGeom prst="roundRect">
            <a:avLst/>
          </a:prstGeom>
          <a:solidFill>
            <a:schemeClr val="tx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Host</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0" name="Rectangle: Rounded Corners 39">
            <a:extLst>
              <a:ext uri="{FF2B5EF4-FFF2-40B4-BE49-F238E27FC236}">
                <a16:creationId xmlns:a16="http://schemas.microsoft.com/office/drawing/2014/main" id="{01EB7DF5-45EB-4252-81B1-36C6C146EC09}"/>
              </a:ext>
            </a:extLst>
          </p:cNvPr>
          <p:cNvSpPr/>
          <p:nvPr/>
        </p:nvSpPr>
        <p:spPr bwMode="gray">
          <a:xfrm>
            <a:off x="1269557" y="1008652"/>
            <a:ext cx="4531162" cy="1743402"/>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K8s</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1" name="Rectangle: Rounded Corners 40">
            <a:extLst>
              <a:ext uri="{FF2B5EF4-FFF2-40B4-BE49-F238E27FC236}">
                <a16:creationId xmlns:a16="http://schemas.microsoft.com/office/drawing/2014/main" id="{84440113-9D89-45D0-8A5F-AB6580792D6B}"/>
              </a:ext>
            </a:extLst>
          </p:cNvPr>
          <p:cNvSpPr/>
          <p:nvPr/>
        </p:nvSpPr>
        <p:spPr bwMode="gray">
          <a:xfrm>
            <a:off x="1642716" y="2402958"/>
            <a:ext cx="3784845" cy="2172586"/>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Container</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42" name="Straight Connector 41">
            <a:extLst>
              <a:ext uri="{FF2B5EF4-FFF2-40B4-BE49-F238E27FC236}">
                <a16:creationId xmlns:a16="http://schemas.microsoft.com/office/drawing/2014/main" id="{0D4EDAE1-E022-4D47-BFE8-DB8E8A0CC4AB}"/>
              </a:ext>
            </a:extLst>
          </p:cNvPr>
          <p:cNvCxnSpPr>
            <a:cxnSpLocks/>
          </p:cNvCxnSpPr>
          <p:nvPr/>
        </p:nvCxnSpPr>
        <p:spPr>
          <a:xfrm>
            <a:off x="3535138" y="4575544"/>
            <a:ext cx="0" cy="485550"/>
          </a:xfrm>
          <a:prstGeom prst="line">
            <a:avLst/>
          </a:prstGeom>
          <a:ln w="76200">
            <a:solidFill>
              <a:schemeClr val="bg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3" name="Rectangle: Rounded Corners 42">
            <a:extLst>
              <a:ext uri="{FF2B5EF4-FFF2-40B4-BE49-F238E27FC236}">
                <a16:creationId xmlns:a16="http://schemas.microsoft.com/office/drawing/2014/main" id="{2523410D-48C4-4016-92C7-EAD431ADB7B2}"/>
              </a:ext>
            </a:extLst>
          </p:cNvPr>
          <p:cNvSpPr/>
          <p:nvPr/>
        </p:nvSpPr>
        <p:spPr bwMode="gray">
          <a:xfrm>
            <a:off x="1424394" y="5061094"/>
            <a:ext cx="4221488" cy="723014"/>
          </a:xfrm>
          <a:prstGeom prst="roundRect">
            <a:avLst/>
          </a:prstGeom>
          <a:solidFill>
            <a:schemeClr val="bg2">
              <a:lumMod val="20000"/>
              <a:lumOff val="80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Linux Kernel</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1" name="Rectangle: Rounded Corners 50">
            <a:extLst>
              <a:ext uri="{FF2B5EF4-FFF2-40B4-BE49-F238E27FC236}">
                <a16:creationId xmlns:a16="http://schemas.microsoft.com/office/drawing/2014/main" id="{7DE3B177-A7B0-4867-B54E-B383E5D84DF0}"/>
              </a:ext>
            </a:extLst>
          </p:cNvPr>
          <p:cNvSpPr/>
          <p:nvPr/>
        </p:nvSpPr>
        <p:spPr bwMode="gray">
          <a:xfrm>
            <a:off x="2596211" y="1541716"/>
            <a:ext cx="1877854" cy="686695"/>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1800" kern="0" dirty="0">
                <a:solidFill>
                  <a:schemeClr val="dk1"/>
                </a:solidFill>
                <a:latin typeface="+mn-lt"/>
                <a:ea typeface="Arial Unicode MS" pitchFamily="34" charset="-128"/>
              </a:rPr>
              <a:t>API Server</a:t>
            </a:r>
          </a:p>
        </p:txBody>
      </p:sp>
      <p:sp>
        <p:nvSpPr>
          <p:cNvPr id="50" name="Title 49">
            <a:extLst>
              <a:ext uri="{FF2B5EF4-FFF2-40B4-BE49-F238E27FC236}">
                <a16:creationId xmlns:a16="http://schemas.microsoft.com/office/drawing/2014/main" id="{7D480E47-3DD1-4ACF-8C6E-41D6F9D75F58}"/>
              </a:ext>
            </a:extLst>
          </p:cNvPr>
          <p:cNvSpPr>
            <a:spLocks noGrp="1"/>
          </p:cNvSpPr>
          <p:nvPr>
            <p:ph type="title"/>
          </p:nvPr>
        </p:nvSpPr>
        <p:spPr/>
        <p:txBody>
          <a:bodyPr/>
          <a:lstStyle/>
          <a:p>
            <a:r>
              <a:rPr lang="en-US" dirty="0"/>
              <a:t>Scenario 2: Take over the cluster / hosts</a:t>
            </a:r>
          </a:p>
        </p:txBody>
      </p:sp>
      <p:pic>
        <p:nvPicPr>
          <p:cNvPr id="13" name="Graphic 12" descr="Key">
            <a:extLst>
              <a:ext uri="{FF2B5EF4-FFF2-40B4-BE49-F238E27FC236}">
                <a16:creationId xmlns:a16="http://schemas.microsoft.com/office/drawing/2014/main" id="{24AFE383-E4B7-416B-8A0D-3397A797A00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29808" y="3165847"/>
            <a:ext cx="914400" cy="914400"/>
          </a:xfrm>
          <a:prstGeom prst="rect">
            <a:avLst/>
          </a:prstGeom>
        </p:spPr>
      </p:pic>
      <p:pic>
        <p:nvPicPr>
          <p:cNvPr id="14" name="Graphic 13" descr="Unlock">
            <a:extLst>
              <a:ext uri="{FF2B5EF4-FFF2-40B4-BE49-F238E27FC236}">
                <a16:creationId xmlns:a16="http://schemas.microsoft.com/office/drawing/2014/main" id="{47835CC9-B876-4F93-84D3-643E17FC649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27449" y="2086708"/>
            <a:ext cx="914400" cy="914400"/>
          </a:xfrm>
          <a:prstGeom prst="rect">
            <a:avLst/>
          </a:prstGeom>
        </p:spPr>
      </p:pic>
      <p:sp>
        <p:nvSpPr>
          <p:cNvPr id="15" name="TextBox 14">
            <a:extLst>
              <a:ext uri="{FF2B5EF4-FFF2-40B4-BE49-F238E27FC236}">
                <a16:creationId xmlns:a16="http://schemas.microsoft.com/office/drawing/2014/main" id="{80ABF94F-8E24-404E-85B8-D2E723613FFB}"/>
              </a:ext>
            </a:extLst>
          </p:cNvPr>
          <p:cNvSpPr txBox="1"/>
          <p:nvPr/>
        </p:nvSpPr>
        <p:spPr>
          <a:xfrm>
            <a:off x="2070043" y="3323356"/>
            <a:ext cx="1859765" cy="553998"/>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Service account access token</a:t>
            </a:r>
          </a:p>
        </p:txBody>
      </p:sp>
      <p:sp>
        <p:nvSpPr>
          <p:cNvPr id="16" name="Speech Bubble: Rectangle 15">
            <a:extLst>
              <a:ext uri="{FF2B5EF4-FFF2-40B4-BE49-F238E27FC236}">
                <a16:creationId xmlns:a16="http://schemas.microsoft.com/office/drawing/2014/main" id="{56E9EFCE-333F-4A4D-9149-A2996C1DB7BF}"/>
              </a:ext>
            </a:extLst>
          </p:cNvPr>
          <p:cNvSpPr/>
          <p:nvPr/>
        </p:nvSpPr>
        <p:spPr bwMode="gray">
          <a:xfrm>
            <a:off x="6984649" y="3573340"/>
            <a:ext cx="3840751" cy="732846"/>
          </a:xfrm>
          <a:prstGeom prst="wedgeRectCallout">
            <a:avLst>
              <a:gd name="adj1" fmla="val -44690"/>
              <a:gd name="adj2" fmla="val -102900"/>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Access API server via </a:t>
            </a:r>
            <a:r>
              <a:rPr lang="en-US" sz="1800" kern="0" dirty="0" err="1">
                <a:ea typeface="Arial Unicode MS" pitchFamily="34" charset="-128"/>
                <a:cs typeface="Arial Unicode MS" pitchFamily="34" charset="-128"/>
              </a:rPr>
              <a:t>kubernetes.default.svc.cluster.local</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18" name="Connector: Elbow 17">
            <a:extLst>
              <a:ext uri="{FF2B5EF4-FFF2-40B4-BE49-F238E27FC236}">
                <a16:creationId xmlns:a16="http://schemas.microsoft.com/office/drawing/2014/main" id="{AF728B89-1CB2-4AF0-91C1-DE652946C0E4}"/>
              </a:ext>
            </a:extLst>
          </p:cNvPr>
          <p:cNvCxnSpPr>
            <a:cxnSpLocks/>
            <a:stCxn id="41" idx="3"/>
            <a:endCxn id="51" idx="3"/>
          </p:cNvCxnSpPr>
          <p:nvPr/>
        </p:nvCxnSpPr>
        <p:spPr>
          <a:xfrm flipH="1" flipV="1">
            <a:off x="4474065" y="1885064"/>
            <a:ext cx="953496" cy="1604187"/>
          </a:xfrm>
          <a:prstGeom prst="bentConnector3">
            <a:avLst>
              <a:gd name="adj1" fmla="val -122105"/>
            </a:avLst>
          </a:prstGeom>
          <a:ln w="57150">
            <a:solidFill>
              <a:schemeClr val="accent5">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1F2B48EE-7B2C-4AE3-ACCA-23A545AA3F48}"/>
              </a:ext>
            </a:extLst>
          </p:cNvPr>
          <p:cNvSpPr txBox="1"/>
          <p:nvPr/>
        </p:nvSpPr>
        <p:spPr>
          <a:xfrm>
            <a:off x="1851183" y="3046357"/>
            <a:ext cx="3367910" cy="1107996"/>
          </a:xfrm>
          <a:prstGeom prst="rect">
            <a:avLst/>
          </a:prstGeom>
          <a:solidFill>
            <a:schemeClr val="bg2">
              <a:lumMod val="20000"/>
              <a:lumOff val="80000"/>
            </a:schemeClr>
          </a:solidFill>
        </p:spPr>
        <p:txBody>
          <a:bodyPr wrap="square" lIns="0" tIns="0" rIns="0" bIns="0" rtlCol="0">
            <a:spAutoFit/>
          </a:bodyPr>
          <a:lstStyle/>
          <a:p>
            <a:pPr fontAlgn="base">
              <a:spcBef>
                <a:spcPct val="50000"/>
              </a:spcBef>
              <a:spcAft>
                <a:spcPct val="0"/>
              </a:spcAft>
              <a:buClr>
                <a:srgbClr val="F0AB00"/>
              </a:buClr>
              <a:buSzPct val="80000"/>
            </a:pPr>
            <a:r>
              <a:rPr lang="en-US" sz="1800" kern="0" dirty="0" err="1">
                <a:latin typeface="Courier New" panose="02070309020205020404" pitchFamily="49" charset="0"/>
                <a:ea typeface="Arial Unicode MS" pitchFamily="34" charset="-128"/>
                <a:cs typeface="Courier New" panose="02070309020205020404" pitchFamily="49" charset="0"/>
              </a:rPr>
              <a:t>root@container</a:t>
            </a:r>
            <a:r>
              <a:rPr lang="en-US" sz="1800" kern="0" dirty="0">
                <a:latin typeface="Courier New" panose="02070309020205020404" pitchFamily="49" charset="0"/>
                <a:ea typeface="Arial Unicode MS" pitchFamily="34" charset="-128"/>
                <a:cs typeface="Courier New" panose="02070309020205020404" pitchFamily="49" charset="0"/>
              </a:rPr>
              <a:t>:$</a:t>
            </a:r>
          </a:p>
          <a:p>
            <a:pPr fontAlgn="base">
              <a:spcBef>
                <a:spcPct val="50000"/>
              </a:spcBef>
              <a:spcAft>
                <a:spcPct val="0"/>
              </a:spcAft>
              <a:buClr>
                <a:srgbClr val="F0AB00"/>
              </a:buClr>
              <a:buSzPct val="80000"/>
            </a:pPr>
            <a:r>
              <a:rPr lang="en-US" sz="1800" kern="0" dirty="0">
                <a:latin typeface="Courier New" panose="02070309020205020404" pitchFamily="49" charset="0"/>
                <a:ea typeface="Arial Unicode MS" pitchFamily="34" charset="-128"/>
                <a:cs typeface="Courier New" panose="02070309020205020404" pitchFamily="49" charset="0"/>
              </a:rPr>
              <a:t>&gt; cat /</a:t>
            </a:r>
            <a:r>
              <a:rPr lang="en-US" sz="1800" kern="0" dirty="0" err="1">
                <a:latin typeface="Courier New" panose="02070309020205020404" pitchFamily="49" charset="0"/>
                <a:ea typeface="Arial Unicode MS" pitchFamily="34" charset="-128"/>
                <a:cs typeface="Courier New" panose="02070309020205020404" pitchFamily="49" charset="0"/>
              </a:rPr>
              <a:t>hostfs</a:t>
            </a:r>
            <a:r>
              <a:rPr lang="en-US" sz="1800" kern="0" dirty="0">
                <a:latin typeface="Courier New" panose="02070309020205020404" pitchFamily="49" charset="0"/>
                <a:ea typeface="Arial Unicode MS" pitchFamily="34" charset="-128"/>
                <a:cs typeface="Courier New" panose="02070309020205020404" pitchFamily="49" charset="0"/>
              </a:rPr>
              <a:t>/</a:t>
            </a:r>
            <a:r>
              <a:rPr lang="en-US" sz="1800" kern="0" dirty="0" err="1">
                <a:latin typeface="Courier New" panose="02070309020205020404" pitchFamily="49" charset="0"/>
                <a:ea typeface="Arial Unicode MS" pitchFamily="34" charset="-128"/>
                <a:cs typeface="Courier New" panose="02070309020205020404" pitchFamily="49" charset="0"/>
              </a:rPr>
              <a:t>etc</a:t>
            </a:r>
            <a:r>
              <a:rPr lang="en-US" sz="1800" kern="0" dirty="0">
                <a:latin typeface="Courier New" panose="02070309020205020404" pitchFamily="49" charset="0"/>
                <a:ea typeface="Arial Unicode MS" pitchFamily="34" charset="-128"/>
                <a:cs typeface="Courier New" panose="02070309020205020404" pitchFamily="49" charset="0"/>
              </a:rPr>
              <a:t>/</a:t>
            </a:r>
            <a:r>
              <a:rPr lang="en-US" sz="1800" kern="0" dirty="0" err="1">
                <a:latin typeface="Courier New" panose="02070309020205020404" pitchFamily="49" charset="0"/>
                <a:ea typeface="Arial Unicode MS" pitchFamily="34" charset="-128"/>
                <a:cs typeface="Courier New" panose="02070309020205020404" pitchFamily="49" charset="0"/>
              </a:rPr>
              <a:t>passwd</a:t>
            </a:r>
            <a:endParaRPr lang="en-US" sz="1800" kern="0" dirty="0">
              <a:latin typeface="Courier New" panose="02070309020205020404" pitchFamily="49" charset="0"/>
              <a:ea typeface="Arial Unicode MS" pitchFamily="34" charset="-128"/>
              <a:cs typeface="Courier New" panose="02070309020205020404" pitchFamily="49" charset="0"/>
            </a:endParaRPr>
          </a:p>
          <a:p>
            <a:pPr fontAlgn="base">
              <a:spcBef>
                <a:spcPct val="50000"/>
              </a:spcBef>
              <a:spcAft>
                <a:spcPct val="0"/>
              </a:spcAft>
              <a:buClr>
                <a:srgbClr val="F0AB00"/>
              </a:buClr>
              <a:buSzPct val="80000"/>
            </a:pPr>
            <a:r>
              <a:rPr lang="en-US" sz="1800" kern="0" dirty="0">
                <a:latin typeface="Courier New" panose="02070309020205020404" pitchFamily="49" charset="0"/>
                <a:ea typeface="Arial Unicode MS" pitchFamily="34" charset="-128"/>
                <a:cs typeface="Courier New" panose="02070309020205020404" pitchFamily="49" charset="0"/>
              </a:rPr>
              <a:t>&gt; ls /</a:t>
            </a:r>
            <a:r>
              <a:rPr lang="en-US" sz="1800" kern="0" dirty="0" err="1">
                <a:latin typeface="Courier New" panose="02070309020205020404" pitchFamily="49" charset="0"/>
                <a:ea typeface="Arial Unicode MS" pitchFamily="34" charset="-128"/>
                <a:cs typeface="Courier New" panose="02070309020205020404" pitchFamily="49" charset="0"/>
              </a:rPr>
              <a:t>var</a:t>
            </a:r>
            <a:r>
              <a:rPr lang="en-US" sz="1800" kern="0" dirty="0">
                <a:latin typeface="Courier New" panose="02070309020205020404" pitchFamily="49" charset="0"/>
                <a:ea typeface="Arial Unicode MS" pitchFamily="34" charset="-128"/>
                <a:cs typeface="Courier New" panose="02070309020205020404" pitchFamily="49" charset="0"/>
              </a:rPr>
              <a:t>/lib/</a:t>
            </a:r>
            <a:r>
              <a:rPr lang="en-US" sz="1800" kern="0" dirty="0" err="1">
                <a:latin typeface="Courier New" panose="02070309020205020404" pitchFamily="49" charset="0"/>
                <a:ea typeface="Arial Unicode MS" pitchFamily="34" charset="-128"/>
                <a:cs typeface="Courier New" panose="02070309020205020404" pitchFamily="49" charset="0"/>
              </a:rPr>
              <a:t>kubelet</a:t>
            </a:r>
            <a:endParaRPr lang="en-US" sz="1800" kern="0" dirty="0">
              <a:latin typeface="Courier New" panose="02070309020205020404" pitchFamily="49" charset="0"/>
              <a:ea typeface="Arial Unicode MS" pitchFamily="34" charset="-128"/>
              <a:cs typeface="Courier New" panose="02070309020205020404" pitchFamily="49" charset="0"/>
            </a:endParaRPr>
          </a:p>
        </p:txBody>
      </p:sp>
      <p:sp>
        <p:nvSpPr>
          <p:cNvPr id="23" name="Speech Bubble: Rectangle 22">
            <a:extLst>
              <a:ext uri="{FF2B5EF4-FFF2-40B4-BE49-F238E27FC236}">
                <a16:creationId xmlns:a16="http://schemas.microsoft.com/office/drawing/2014/main" id="{4E38303D-9619-41B0-8673-3DB2CDDA2DC9}"/>
              </a:ext>
            </a:extLst>
          </p:cNvPr>
          <p:cNvSpPr/>
          <p:nvPr/>
        </p:nvSpPr>
        <p:spPr bwMode="gray">
          <a:xfrm>
            <a:off x="7763083" y="2388438"/>
            <a:ext cx="2980762" cy="657919"/>
          </a:xfrm>
          <a:prstGeom prst="wedgeRectCallout">
            <a:avLst>
              <a:gd name="adj1" fmla="val -82297"/>
              <a:gd name="adj2" fmla="val 48510"/>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Schedule new pod / container</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4" name="Speech Bubble: Rectangle 23">
            <a:extLst>
              <a:ext uri="{FF2B5EF4-FFF2-40B4-BE49-F238E27FC236}">
                <a16:creationId xmlns:a16="http://schemas.microsoft.com/office/drawing/2014/main" id="{884DF847-38D8-4D66-94E6-0C9A1578F77E}"/>
              </a:ext>
            </a:extLst>
          </p:cNvPr>
          <p:cNvSpPr/>
          <p:nvPr/>
        </p:nvSpPr>
        <p:spPr bwMode="gray">
          <a:xfrm>
            <a:off x="6097239" y="5000411"/>
            <a:ext cx="4098485" cy="844379"/>
          </a:xfrm>
          <a:prstGeom prst="wedgeRectCallout">
            <a:avLst>
              <a:gd name="adj1" fmla="val -70990"/>
              <a:gd name="adj2" fmla="val -83394"/>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&gt; mount host file system to container &gt; worse, if container runs as root</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2509412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8"/>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14"/>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16"/>
                                        </p:tgtEl>
                                        <p:attrNameLst>
                                          <p:attrName>style.visibility</p:attrName>
                                        </p:attrNameLst>
                                      </p:cBhvr>
                                      <p:to>
                                        <p:strVal val="hidden"/>
                                      </p:to>
                                    </p:set>
                                  </p:childTnLst>
                                </p:cTn>
                              </p:par>
                              <p:par>
                                <p:cTn id="19" presetID="1" presetClass="exit"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hidden"/>
                                      </p:to>
                                    </p:set>
                                  </p:childTnLst>
                                </p:cTn>
                              </p:par>
                              <p:par>
                                <p:cTn id="21" presetID="1" presetClass="exit" presetSubtype="0" fill="hold" nodeType="withEffect">
                                  <p:stCondLst>
                                    <p:cond delay="0"/>
                                  </p:stCondLst>
                                  <p:childTnLst>
                                    <p:set>
                                      <p:cBhvr>
                                        <p:cTn id="22" dur="1" fill="hold">
                                          <p:stCondLst>
                                            <p:cond delay="0"/>
                                          </p:stCondLst>
                                        </p:cTn>
                                        <p:tgtEl>
                                          <p:spTgt spid="13"/>
                                        </p:tgtEl>
                                        <p:attrNameLst>
                                          <p:attrName>style.visibility</p:attrName>
                                        </p:attrNameLst>
                                      </p:cBhvr>
                                      <p:to>
                                        <p:strVal val="hidden"/>
                                      </p:to>
                                    </p:set>
                                  </p:childTnLst>
                                </p:cTn>
                              </p:par>
                              <p:par>
                                <p:cTn id="23" presetID="1"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animBg="1"/>
      <p:bldP spid="16" grpId="1" animBg="1"/>
      <p:bldP spid="21" grpId="0" animBg="1"/>
      <p:bldP spid="23" grpId="0" animBg="1"/>
      <p:bldP spid="24"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Rounded Corners 38">
            <a:extLst>
              <a:ext uri="{FF2B5EF4-FFF2-40B4-BE49-F238E27FC236}">
                <a16:creationId xmlns:a16="http://schemas.microsoft.com/office/drawing/2014/main" id="{6B05395E-1844-476D-AB95-17A4127B8AE6}"/>
              </a:ext>
            </a:extLst>
          </p:cNvPr>
          <p:cNvSpPr/>
          <p:nvPr/>
        </p:nvSpPr>
        <p:spPr bwMode="gray">
          <a:xfrm>
            <a:off x="1269557" y="2926601"/>
            <a:ext cx="4531162" cy="3484827"/>
          </a:xfrm>
          <a:prstGeom prst="roundRect">
            <a:avLst/>
          </a:prstGeom>
          <a:solidFill>
            <a:schemeClr val="tx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Host</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0" name="Rectangle: Rounded Corners 39">
            <a:extLst>
              <a:ext uri="{FF2B5EF4-FFF2-40B4-BE49-F238E27FC236}">
                <a16:creationId xmlns:a16="http://schemas.microsoft.com/office/drawing/2014/main" id="{01EB7DF5-45EB-4252-81B1-36C6C146EC09}"/>
              </a:ext>
            </a:extLst>
          </p:cNvPr>
          <p:cNvSpPr/>
          <p:nvPr/>
        </p:nvSpPr>
        <p:spPr bwMode="gray">
          <a:xfrm>
            <a:off x="1269557" y="1008652"/>
            <a:ext cx="4531162" cy="1743402"/>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K8s</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1" name="Rectangle: Rounded Corners 40">
            <a:extLst>
              <a:ext uri="{FF2B5EF4-FFF2-40B4-BE49-F238E27FC236}">
                <a16:creationId xmlns:a16="http://schemas.microsoft.com/office/drawing/2014/main" id="{84440113-9D89-45D0-8A5F-AB6580792D6B}"/>
              </a:ext>
            </a:extLst>
          </p:cNvPr>
          <p:cNvSpPr/>
          <p:nvPr/>
        </p:nvSpPr>
        <p:spPr bwMode="gray">
          <a:xfrm>
            <a:off x="1642716" y="2402958"/>
            <a:ext cx="3784845" cy="2172586"/>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Container</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42" name="Straight Connector 41">
            <a:extLst>
              <a:ext uri="{FF2B5EF4-FFF2-40B4-BE49-F238E27FC236}">
                <a16:creationId xmlns:a16="http://schemas.microsoft.com/office/drawing/2014/main" id="{0D4EDAE1-E022-4D47-BFE8-DB8E8A0CC4AB}"/>
              </a:ext>
            </a:extLst>
          </p:cNvPr>
          <p:cNvCxnSpPr>
            <a:cxnSpLocks/>
          </p:cNvCxnSpPr>
          <p:nvPr/>
        </p:nvCxnSpPr>
        <p:spPr>
          <a:xfrm>
            <a:off x="3535138" y="4575544"/>
            <a:ext cx="0" cy="485550"/>
          </a:xfrm>
          <a:prstGeom prst="line">
            <a:avLst/>
          </a:prstGeom>
          <a:ln w="76200">
            <a:solidFill>
              <a:schemeClr val="bg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3" name="Rectangle: Rounded Corners 42">
            <a:extLst>
              <a:ext uri="{FF2B5EF4-FFF2-40B4-BE49-F238E27FC236}">
                <a16:creationId xmlns:a16="http://schemas.microsoft.com/office/drawing/2014/main" id="{2523410D-48C4-4016-92C7-EAD431ADB7B2}"/>
              </a:ext>
            </a:extLst>
          </p:cNvPr>
          <p:cNvSpPr/>
          <p:nvPr/>
        </p:nvSpPr>
        <p:spPr bwMode="gray">
          <a:xfrm>
            <a:off x="1424394" y="5061094"/>
            <a:ext cx="4221488" cy="723014"/>
          </a:xfrm>
          <a:prstGeom prst="roundRect">
            <a:avLst/>
          </a:prstGeom>
          <a:solidFill>
            <a:schemeClr val="bg2">
              <a:lumMod val="20000"/>
              <a:lumOff val="80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Linux Kernel</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1" name="Rectangle: Rounded Corners 50">
            <a:extLst>
              <a:ext uri="{FF2B5EF4-FFF2-40B4-BE49-F238E27FC236}">
                <a16:creationId xmlns:a16="http://schemas.microsoft.com/office/drawing/2014/main" id="{7DE3B177-A7B0-4867-B54E-B383E5D84DF0}"/>
              </a:ext>
            </a:extLst>
          </p:cNvPr>
          <p:cNvSpPr/>
          <p:nvPr/>
        </p:nvSpPr>
        <p:spPr bwMode="gray">
          <a:xfrm>
            <a:off x="2596211" y="1541716"/>
            <a:ext cx="1877854" cy="686695"/>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1800" kern="0" dirty="0">
                <a:solidFill>
                  <a:schemeClr val="dk1"/>
                </a:solidFill>
                <a:latin typeface="+mn-lt"/>
                <a:ea typeface="Arial Unicode MS" pitchFamily="34" charset="-128"/>
              </a:rPr>
              <a:t>API Server</a:t>
            </a:r>
          </a:p>
        </p:txBody>
      </p:sp>
      <p:sp>
        <p:nvSpPr>
          <p:cNvPr id="50" name="Title 49">
            <a:extLst>
              <a:ext uri="{FF2B5EF4-FFF2-40B4-BE49-F238E27FC236}">
                <a16:creationId xmlns:a16="http://schemas.microsoft.com/office/drawing/2014/main" id="{7D480E47-3DD1-4ACF-8C6E-41D6F9D75F58}"/>
              </a:ext>
            </a:extLst>
          </p:cNvPr>
          <p:cNvSpPr>
            <a:spLocks noGrp="1"/>
          </p:cNvSpPr>
          <p:nvPr>
            <p:ph type="title"/>
          </p:nvPr>
        </p:nvSpPr>
        <p:spPr/>
        <p:txBody>
          <a:bodyPr/>
          <a:lstStyle/>
          <a:p>
            <a:r>
              <a:rPr lang="en-US" dirty="0"/>
              <a:t>How to prevent this?</a:t>
            </a:r>
          </a:p>
        </p:txBody>
      </p:sp>
      <p:pic>
        <p:nvPicPr>
          <p:cNvPr id="13" name="Graphic 12" descr="Key">
            <a:extLst>
              <a:ext uri="{FF2B5EF4-FFF2-40B4-BE49-F238E27FC236}">
                <a16:creationId xmlns:a16="http://schemas.microsoft.com/office/drawing/2014/main" id="{24AFE383-E4B7-416B-8A0D-3397A797A00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29808" y="3165847"/>
            <a:ext cx="914400" cy="914400"/>
          </a:xfrm>
          <a:prstGeom prst="rect">
            <a:avLst/>
          </a:prstGeom>
        </p:spPr>
      </p:pic>
      <p:pic>
        <p:nvPicPr>
          <p:cNvPr id="14" name="Graphic 13" descr="Unlock">
            <a:extLst>
              <a:ext uri="{FF2B5EF4-FFF2-40B4-BE49-F238E27FC236}">
                <a16:creationId xmlns:a16="http://schemas.microsoft.com/office/drawing/2014/main" id="{47835CC9-B876-4F93-84D3-643E17FC649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27449" y="2086708"/>
            <a:ext cx="914400" cy="914400"/>
          </a:xfrm>
          <a:prstGeom prst="rect">
            <a:avLst/>
          </a:prstGeom>
        </p:spPr>
      </p:pic>
      <p:sp>
        <p:nvSpPr>
          <p:cNvPr id="15" name="TextBox 14">
            <a:extLst>
              <a:ext uri="{FF2B5EF4-FFF2-40B4-BE49-F238E27FC236}">
                <a16:creationId xmlns:a16="http://schemas.microsoft.com/office/drawing/2014/main" id="{80ABF94F-8E24-404E-85B8-D2E723613FFB}"/>
              </a:ext>
            </a:extLst>
          </p:cNvPr>
          <p:cNvSpPr txBox="1"/>
          <p:nvPr/>
        </p:nvSpPr>
        <p:spPr>
          <a:xfrm>
            <a:off x="2070043" y="3323356"/>
            <a:ext cx="1859765" cy="553998"/>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Service account access token</a:t>
            </a:r>
          </a:p>
        </p:txBody>
      </p:sp>
      <p:cxnSp>
        <p:nvCxnSpPr>
          <p:cNvPr id="18" name="Connector: Elbow 17">
            <a:extLst>
              <a:ext uri="{FF2B5EF4-FFF2-40B4-BE49-F238E27FC236}">
                <a16:creationId xmlns:a16="http://schemas.microsoft.com/office/drawing/2014/main" id="{AF728B89-1CB2-4AF0-91C1-DE652946C0E4}"/>
              </a:ext>
            </a:extLst>
          </p:cNvPr>
          <p:cNvCxnSpPr>
            <a:cxnSpLocks/>
            <a:stCxn id="41" idx="3"/>
            <a:endCxn id="51" idx="3"/>
          </p:cNvCxnSpPr>
          <p:nvPr/>
        </p:nvCxnSpPr>
        <p:spPr>
          <a:xfrm flipH="1" flipV="1">
            <a:off x="4474065" y="1885064"/>
            <a:ext cx="953496" cy="1604187"/>
          </a:xfrm>
          <a:prstGeom prst="bentConnector3">
            <a:avLst>
              <a:gd name="adj1" fmla="val -122105"/>
            </a:avLst>
          </a:prstGeom>
          <a:ln w="57150">
            <a:solidFill>
              <a:schemeClr val="accent5">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0" name="Speech Bubble: Rectangle 19">
            <a:extLst>
              <a:ext uri="{FF2B5EF4-FFF2-40B4-BE49-F238E27FC236}">
                <a16:creationId xmlns:a16="http://schemas.microsoft.com/office/drawing/2014/main" id="{957AC1FF-B729-4CF0-843C-B9C6DEAA0A9A}"/>
              </a:ext>
            </a:extLst>
          </p:cNvPr>
          <p:cNvSpPr/>
          <p:nvPr/>
        </p:nvSpPr>
        <p:spPr bwMode="gray">
          <a:xfrm>
            <a:off x="6173878" y="4360018"/>
            <a:ext cx="2318513" cy="617991"/>
          </a:xfrm>
          <a:prstGeom prst="wedgeRectCallout">
            <a:avLst>
              <a:gd name="adj1" fmla="val -105214"/>
              <a:gd name="adj2" fmla="val -10465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Don’t automount access tokens</a:t>
            </a:r>
          </a:p>
        </p:txBody>
      </p:sp>
      <p:sp>
        <p:nvSpPr>
          <p:cNvPr id="22" name="Speech Bubble: Rectangle 21">
            <a:extLst>
              <a:ext uri="{FF2B5EF4-FFF2-40B4-BE49-F238E27FC236}">
                <a16:creationId xmlns:a16="http://schemas.microsoft.com/office/drawing/2014/main" id="{7B13E8C6-494D-422F-A7E4-517448A05A36}"/>
              </a:ext>
            </a:extLst>
          </p:cNvPr>
          <p:cNvSpPr/>
          <p:nvPr/>
        </p:nvSpPr>
        <p:spPr bwMode="gray">
          <a:xfrm>
            <a:off x="8048716" y="3165847"/>
            <a:ext cx="2318513" cy="617991"/>
          </a:xfrm>
          <a:prstGeom prst="wedgeRectCallout">
            <a:avLst>
              <a:gd name="adj1" fmla="val -69903"/>
              <a:gd name="adj2" fmla="val -10465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Limit access scope with RBAC</a:t>
            </a:r>
          </a:p>
        </p:txBody>
      </p:sp>
    </p:spTree>
    <p:extLst>
      <p:ext uri="{BB962C8B-B14F-4D97-AF65-F5344CB8AC3E}">
        <p14:creationId xmlns:p14="http://schemas.microsoft.com/office/powerpoint/2010/main" val="359558966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Rounded Corners 38">
            <a:extLst>
              <a:ext uri="{FF2B5EF4-FFF2-40B4-BE49-F238E27FC236}">
                <a16:creationId xmlns:a16="http://schemas.microsoft.com/office/drawing/2014/main" id="{6B05395E-1844-476D-AB95-17A4127B8AE6}"/>
              </a:ext>
            </a:extLst>
          </p:cNvPr>
          <p:cNvSpPr/>
          <p:nvPr/>
        </p:nvSpPr>
        <p:spPr bwMode="gray">
          <a:xfrm>
            <a:off x="1269557" y="2926601"/>
            <a:ext cx="4531162" cy="3484827"/>
          </a:xfrm>
          <a:prstGeom prst="roundRect">
            <a:avLst/>
          </a:prstGeom>
          <a:solidFill>
            <a:schemeClr val="tx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Host</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0" name="Rectangle: Rounded Corners 39">
            <a:extLst>
              <a:ext uri="{FF2B5EF4-FFF2-40B4-BE49-F238E27FC236}">
                <a16:creationId xmlns:a16="http://schemas.microsoft.com/office/drawing/2014/main" id="{01EB7DF5-45EB-4252-81B1-36C6C146EC09}"/>
              </a:ext>
            </a:extLst>
          </p:cNvPr>
          <p:cNvSpPr/>
          <p:nvPr/>
        </p:nvSpPr>
        <p:spPr bwMode="gray">
          <a:xfrm>
            <a:off x="1269557" y="1008652"/>
            <a:ext cx="4531162" cy="1743402"/>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K8s</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1" name="Rectangle: Rounded Corners 40">
            <a:extLst>
              <a:ext uri="{FF2B5EF4-FFF2-40B4-BE49-F238E27FC236}">
                <a16:creationId xmlns:a16="http://schemas.microsoft.com/office/drawing/2014/main" id="{84440113-9D89-45D0-8A5F-AB6580792D6B}"/>
              </a:ext>
            </a:extLst>
          </p:cNvPr>
          <p:cNvSpPr/>
          <p:nvPr/>
        </p:nvSpPr>
        <p:spPr bwMode="gray">
          <a:xfrm>
            <a:off x="1642716" y="2402958"/>
            <a:ext cx="3784845" cy="2172586"/>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Container</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42" name="Straight Connector 41">
            <a:extLst>
              <a:ext uri="{FF2B5EF4-FFF2-40B4-BE49-F238E27FC236}">
                <a16:creationId xmlns:a16="http://schemas.microsoft.com/office/drawing/2014/main" id="{0D4EDAE1-E022-4D47-BFE8-DB8E8A0CC4AB}"/>
              </a:ext>
            </a:extLst>
          </p:cNvPr>
          <p:cNvCxnSpPr>
            <a:cxnSpLocks/>
          </p:cNvCxnSpPr>
          <p:nvPr/>
        </p:nvCxnSpPr>
        <p:spPr>
          <a:xfrm>
            <a:off x="3535138" y="4575544"/>
            <a:ext cx="0" cy="485550"/>
          </a:xfrm>
          <a:prstGeom prst="line">
            <a:avLst/>
          </a:prstGeom>
          <a:ln w="76200">
            <a:solidFill>
              <a:schemeClr val="bg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3" name="Rectangle: Rounded Corners 42">
            <a:extLst>
              <a:ext uri="{FF2B5EF4-FFF2-40B4-BE49-F238E27FC236}">
                <a16:creationId xmlns:a16="http://schemas.microsoft.com/office/drawing/2014/main" id="{2523410D-48C4-4016-92C7-EAD431ADB7B2}"/>
              </a:ext>
            </a:extLst>
          </p:cNvPr>
          <p:cNvSpPr/>
          <p:nvPr/>
        </p:nvSpPr>
        <p:spPr bwMode="gray">
          <a:xfrm>
            <a:off x="1424394" y="5061094"/>
            <a:ext cx="4221488" cy="723014"/>
          </a:xfrm>
          <a:prstGeom prst="roundRect">
            <a:avLst/>
          </a:prstGeom>
          <a:solidFill>
            <a:schemeClr val="bg2">
              <a:lumMod val="20000"/>
              <a:lumOff val="80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Linux Kernel</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1" name="Rectangle: Rounded Corners 50">
            <a:extLst>
              <a:ext uri="{FF2B5EF4-FFF2-40B4-BE49-F238E27FC236}">
                <a16:creationId xmlns:a16="http://schemas.microsoft.com/office/drawing/2014/main" id="{7DE3B177-A7B0-4867-B54E-B383E5D84DF0}"/>
              </a:ext>
            </a:extLst>
          </p:cNvPr>
          <p:cNvSpPr/>
          <p:nvPr/>
        </p:nvSpPr>
        <p:spPr bwMode="gray">
          <a:xfrm>
            <a:off x="2596211" y="1541716"/>
            <a:ext cx="1877854" cy="686695"/>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1800" kern="0" dirty="0">
                <a:solidFill>
                  <a:schemeClr val="dk1"/>
                </a:solidFill>
                <a:latin typeface="+mn-lt"/>
                <a:ea typeface="Arial Unicode MS" pitchFamily="34" charset="-128"/>
              </a:rPr>
              <a:t>API Server</a:t>
            </a:r>
          </a:p>
        </p:txBody>
      </p:sp>
      <p:sp>
        <p:nvSpPr>
          <p:cNvPr id="50" name="Title 49">
            <a:extLst>
              <a:ext uri="{FF2B5EF4-FFF2-40B4-BE49-F238E27FC236}">
                <a16:creationId xmlns:a16="http://schemas.microsoft.com/office/drawing/2014/main" id="{7D480E47-3DD1-4ACF-8C6E-41D6F9D75F58}"/>
              </a:ext>
            </a:extLst>
          </p:cNvPr>
          <p:cNvSpPr>
            <a:spLocks noGrp="1"/>
          </p:cNvSpPr>
          <p:nvPr>
            <p:ph type="title"/>
          </p:nvPr>
        </p:nvSpPr>
        <p:spPr/>
        <p:txBody>
          <a:bodyPr/>
          <a:lstStyle/>
          <a:p>
            <a:r>
              <a:rPr lang="en-US" dirty="0"/>
              <a:t>How to prevent this?</a:t>
            </a:r>
          </a:p>
        </p:txBody>
      </p:sp>
      <p:pic>
        <p:nvPicPr>
          <p:cNvPr id="13" name="Graphic 12" descr="Key">
            <a:extLst>
              <a:ext uri="{FF2B5EF4-FFF2-40B4-BE49-F238E27FC236}">
                <a16:creationId xmlns:a16="http://schemas.microsoft.com/office/drawing/2014/main" id="{24AFE383-E4B7-416B-8A0D-3397A797A00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29808" y="3165847"/>
            <a:ext cx="914400" cy="914400"/>
          </a:xfrm>
          <a:prstGeom prst="rect">
            <a:avLst/>
          </a:prstGeom>
        </p:spPr>
      </p:pic>
      <p:sp>
        <p:nvSpPr>
          <p:cNvPr id="15" name="TextBox 14">
            <a:extLst>
              <a:ext uri="{FF2B5EF4-FFF2-40B4-BE49-F238E27FC236}">
                <a16:creationId xmlns:a16="http://schemas.microsoft.com/office/drawing/2014/main" id="{80ABF94F-8E24-404E-85B8-D2E723613FFB}"/>
              </a:ext>
            </a:extLst>
          </p:cNvPr>
          <p:cNvSpPr txBox="1"/>
          <p:nvPr/>
        </p:nvSpPr>
        <p:spPr>
          <a:xfrm>
            <a:off x="2070043" y="3323356"/>
            <a:ext cx="1859765" cy="553998"/>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Service account access token</a:t>
            </a:r>
          </a:p>
        </p:txBody>
      </p:sp>
      <p:cxnSp>
        <p:nvCxnSpPr>
          <p:cNvPr id="18" name="Connector: Elbow 17">
            <a:extLst>
              <a:ext uri="{FF2B5EF4-FFF2-40B4-BE49-F238E27FC236}">
                <a16:creationId xmlns:a16="http://schemas.microsoft.com/office/drawing/2014/main" id="{AF728B89-1CB2-4AF0-91C1-DE652946C0E4}"/>
              </a:ext>
            </a:extLst>
          </p:cNvPr>
          <p:cNvCxnSpPr>
            <a:cxnSpLocks/>
            <a:stCxn id="41" idx="3"/>
            <a:endCxn id="51" idx="3"/>
          </p:cNvCxnSpPr>
          <p:nvPr/>
        </p:nvCxnSpPr>
        <p:spPr>
          <a:xfrm flipH="1" flipV="1">
            <a:off x="4474065" y="1885064"/>
            <a:ext cx="953496" cy="1604187"/>
          </a:xfrm>
          <a:prstGeom prst="bentConnector3">
            <a:avLst>
              <a:gd name="adj1" fmla="val -122105"/>
            </a:avLst>
          </a:prstGeom>
          <a:ln w="57150">
            <a:solidFill>
              <a:schemeClr val="accent5">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1F2B48EE-7B2C-4AE3-ACCA-23A545AA3F48}"/>
              </a:ext>
            </a:extLst>
          </p:cNvPr>
          <p:cNvSpPr txBox="1"/>
          <p:nvPr/>
        </p:nvSpPr>
        <p:spPr>
          <a:xfrm>
            <a:off x="1851183" y="3046357"/>
            <a:ext cx="3367910" cy="1107996"/>
          </a:xfrm>
          <a:prstGeom prst="rect">
            <a:avLst/>
          </a:prstGeom>
          <a:solidFill>
            <a:schemeClr val="bg2">
              <a:lumMod val="20000"/>
              <a:lumOff val="80000"/>
            </a:schemeClr>
          </a:solidFill>
        </p:spPr>
        <p:txBody>
          <a:bodyPr wrap="square" lIns="0" tIns="0" rIns="0" bIns="0" rtlCol="0">
            <a:spAutoFit/>
          </a:bodyPr>
          <a:lstStyle/>
          <a:p>
            <a:pPr fontAlgn="base">
              <a:spcBef>
                <a:spcPct val="50000"/>
              </a:spcBef>
              <a:spcAft>
                <a:spcPct val="0"/>
              </a:spcAft>
              <a:buClr>
                <a:srgbClr val="F0AB00"/>
              </a:buClr>
              <a:buSzPct val="80000"/>
            </a:pPr>
            <a:r>
              <a:rPr lang="en-US" sz="1800" kern="0" dirty="0" err="1">
                <a:latin typeface="Courier New" panose="02070309020205020404" pitchFamily="49" charset="0"/>
                <a:ea typeface="Arial Unicode MS" pitchFamily="34" charset="-128"/>
                <a:cs typeface="Courier New" panose="02070309020205020404" pitchFamily="49" charset="0"/>
              </a:rPr>
              <a:t>root@container</a:t>
            </a:r>
            <a:r>
              <a:rPr lang="en-US" sz="1800" kern="0" dirty="0">
                <a:latin typeface="Courier New" panose="02070309020205020404" pitchFamily="49" charset="0"/>
                <a:ea typeface="Arial Unicode MS" pitchFamily="34" charset="-128"/>
                <a:cs typeface="Courier New" panose="02070309020205020404" pitchFamily="49" charset="0"/>
              </a:rPr>
              <a:t>:$</a:t>
            </a:r>
          </a:p>
          <a:p>
            <a:pPr fontAlgn="base">
              <a:spcBef>
                <a:spcPct val="50000"/>
              </a:spcBef>
              <a:spcAft>
                <a:spcPct val="0"/>
              </a:spcAft>
              <a:buClr>
                <a:srgbClr val="F0AB00"/>
              </a:buClr>
              <a:buSzPct val="80000"/>
            </a:pPr>
            <a:r>
              <a:rPr lang="en-US" sz="1800" kern="0" dirty="0">
                <a:latin typeface="Courier New" panose="02070309020205020404" pitchFamily="49" charset="0"/>
                <a:ea typeface="Arial Unicode MS" pitchFamily="34" charset="-128"/>
                <a:cs typeface="Courier New" panose="02070309020205020404" pitchFamily="49" charset="0"/>
              </a:rPr>
              <a:t>&gt; cat /</a:t>
            </a:r>
            <a:r>
              <a:rPr lang="en-US" sz="1800" kern="0" dirty="0" err="1">
                <a:latin typeface="Courier New" panose="02070309020205020404" pitchFamily="49" charset="0"/>
                <a:ea typeface="Arial Unicode MS" pitchFamily="34" charset="-128"/>
                <a:cs typeface="Courier New" panose="02070309020205020404" pitchFamily="49" charset="0"/>
              </a:rPr>
              <a:t>hostfs</a:t>
            </a:r>
            <a:r>
              <a:rPr lang="en-US" sz="1800" kern="0" dirty="0">
                <a:latin typeface="Courier New" panose="02070309020205020404" pitchFamily="49" charset="0"/>
                <a:ea typeface="Arial Unicode MS" pitchFamily="34" charset="-128"/>
                <a:cs typeface="Courier New" panose="02070309020205020404" pitchFamily="49" charset="0"/>
              </a:rPr>
              <a:t>/</a:t>
            </a:r>
            <a:r>
              <a:rPr lang="en-US" sz="1800" kern="0" dirty="0" err="1">
                <a:latin typeface="Courier New" panose="02070309020205020404" pitchFamily="49" charset="0"/>
                <a:ea typeface="Arial Unicode MS" pitchFamily="34" charset="-128"/>
                <a:cs typeface="Courier New" panose="02070309020205020404" pitchFamily="49" charset="0"/>
              </a:rPr>
              <a:t>etc</a:t>
            </a:r>
            <a:r>
              <a:rPr lang="en-US" sz="1800" kern="0" dirty="0">
                <a:latin typeface="Courier New" panose="02070309020205020404" pitchFamily="49" charset="0"/>
                <a:ea typeface="Arial Unicode MS" pitchFamily="34" charset="-128"/>
                <a:cs typeface="Courier New" panose="02070309020205020404" pitchFamily="49" charset="0"/>
              </a:rPr>
              <a:t>/</a:t>
            </a:r>
            <a:r>
              <a:rPr lang="en-US" sz="1800" kern="0" dirty="0" err="1">
                <a:latin typeface="Courier New" panose="02070309020205020404" pitchFamily="49" charset="0"/>
                <a:ea typeface="Arial Unicode MS" pitchFamily="34" charset="-128"/>
                <a:cs typeface="Courier New" panose="02070309020205020404" pitchFamily="49" charset="0"/>
              </a:rPr>
              <a:t>passwd</a:t>
            </a:r>
            <a:endParaRPr lang="en-US" sz="1800" kern="0" dirty="0">
              <a:latin typeface="Courier New" panose="02070309020205020404" pitchFamily="49" charset="0"/>
              <a:ea typeface="Arial Unicode MS" pitchFamily="34" charset="-128"/>
              <a:cs typeface="Courier New" panose="02070309020205020404" pitchFamily="49" charset="0"/>
            </a:endParaRPr>
          </a:p>
          <a:p>
            <a:pPr fontAlgn="base">
              <a:spcBef>
                <a:spcPct val="50000"/>
              </a:spcBef>
              <a:spcAft>
                <a:spcPct val="0"/>
              </a:spcAft>
              <a:buClr>
                <a:srgbClr val="F0AB00"/>
              </a:buClr>
              <a:buSzPct val="80000"/>
            </a:pPr>
            <a:r>
              <a:rPr lang="en-US" sz="1800" kern="0" dirty="0">
                <a:latin typeface="Courier New" panose="02070309020205020404" pitchFamily="49" charset="0"/>
                <a:ea typeface="Arial Unicode MS" pitchFamily="34" charset="-128"/>
                <a:cs typeface="Courier New" panose="02070309020205020404" pitchFamily="49" charset="0"/>
              </a:rPr>
              <a:t>&gt; ls /</a:t>
            </a:r>
            <a:r>
              <a:rPr lang="en-US" sz="1800" kern="0" dirty="0" err="1">
                <a:latin typeface="Courier New" panose="02070309020205020404" pitchFamily="49" charset="0"/>
                <a:ea typeface="Arial Unicode MS" pitchFamily="34" charset="-128"/>
                <a:cs typeface="Courier New" panose="02070309020205020404" pitchFamily="49" charset="0"/>
              </a:rPr>
              <a:t>var</a:t>
            </a:r>
            <a:r>
              <a:rPr lang="en-US" sz="1800" kern="0" dirty="0">
                <a:latin typeface="Courier New" panose="02070309020205020404" pitchFamily="49" charset="0"/>
                <a:ea typeface="Arial Unicode MS" pitchFamily="34" charset="-128"/>
                <a:cs typeface="Courier New" panose="02070309020205020404" pitchFamily="49" charset="0"/>
              </a:rPr>
              <a:t>/lib/</a:t>
            </a:r>
            <a:r>
              <a:rPr lang="en-US" sz="1800" kern="0" dirty="0" err="1">
                <a:latin typeface="Courier New" panose="02070309020205020404" pitchFamily="49" charset="0"/>
                <a:ea typeface="Arial Unicode MS" pitchFamily="34" charset="-128"/>
                <a:cs typeface="Courier New" panose="02070309020205020404" pitchFamily="49" charset="0"/>
              </a:rPr>
              <a:t>kubelet</a:t>
            </a:r>
            <a:endParaRPr lang="en-US" sz="1800" kern="0" dirty="0">
              <a:latin typeface="Courier New" panose="02070309020205020404" pitchFamily="49" charset="0"/>
              <a:ea typeface="Arial Unicode MS" pitchFamily="34" charset="-128"/>
              <a:cs typeface="Courier New" panose="02070309020205020404" pitchFamily="49" charset="0"/>
            </a:endParaRPr>
          </a:p>
        </p:txBody>
      </p:sp>
      <p:sp>
        <p:nvSpPr>
          <p:cNvPr id="17" name="Speech Bubble: Rectangle 16">
            <a:extLst>
              <a:ext uri="{FF2B5EF4-FFF2-40B4-BE49-F238E27FC236}">
                <a16:creationId xmlns:a16="http://schemas.microsoft.com/office/drawing/2014/main" id="{39BCD768-E390-46EC-93D8-36C6ADADE932}"/>
              </a:ext>
            </a:extLst>
          </p:cNvPr>
          <p:cNvSpPr/>
          <p:nvPr/>
        </p:nvSpPr>
        <p:spPr bwMode="gray">
          <a:xfrm>
            <a:off x="6651337" y="4246824"/>
            <a:ext cx="4274281" cy="1537284"/>
          </a:xfrm>
          <a:prstGeom prst="wedgeRectCallout">
            <a:avLst>
              <a:gd name="adj1" fmla="val -74492"/>
              <a:gd name="adj2" fmla="val -78357"/>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defTabSz="914400" fontAlgn="base">
              <a:spcBef>
                <a:spcPct val="50000"/>
              </a:spcBef>
              <a:spcAft>
                <a:spcPct val="0"/>
              </a:spcAft>
              <a:buClr>
                <a:srgbClr val="F0AB00"/>
              </a:buClr>
              <a:buSzPct val="80000"/>
            </a:pPr>
            <a:r>
              <a:rPr lang="en-US" sz="1800" kern="0" noProof="0" dirty="0">
                <a:ea typeface="Arial Unicode MS" pitchFamily="34" charset="-128"/>
                <a:cs typeface="Arial Unicode MS" pitchFamily="34" charset="-128"/>
              </a:rPr>
              <a:t>Security policy:</a:t>
            </a:r>
            <a:r>
              <a:rPr lang="en-US" sz="1800" kern="0" dirty="0">
                <a:ea typeface="Arial Unicode MS" pitchFamily="34" charset="-128"/>
                <a:cs typeface="Arial Unicode MS" pitchFamily="34" charset="-128"/>
              </a:rPr>
              <a:t> </a:t>
            </a:r>
          </a:p>
          <a:p>
            <a:pP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sym typeface="Wingdings" panose="05000000000000000000" pitchFamily="2" charset="2"/>
              </a:rPr>
              <a:t> - run as non-root</a:t>
            </a:r>
          </a:p>
          <a:p>
            <a:pP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sym typeface="Wingdings" panose="05000000000000000000" pitchFamily="2" charset="2"/>
              </a:rPr>
              <a:t> - block host file system access</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6830034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BD4BF-5C0E-4BE1-A99C-25DBDC85D9CD}"/>
              </a:ext>
            </a:extLst>
          </p:cNvPr>
          <p:cNvSpPr>
            <a:spLocks noGrp="1"/>
          </p:cNvSpPr>
          <p:nvPr>
            <p:ph type="title"/>
          </p:nvPr>
        </p:nvSpPr>
        <p:spPr/>
        <p:txBody>
          <a:bodyPr/>
          <a:lstStyle/>
          <a:p>
            <a:r>
              <a:rPr lang="en-US" dirty="0"/>
              <a:t>Demo</a:t>
            </a:r>
          </a:p>
        </p:txBody>
      </p:sp>
      <p:pic>
        <p:nvPicPr>
          <p:cNvPr id="4" name="Picture 3">
            <a:extLst>
              <a:ext uri="{FF2B5EF4-FFF2-40B4-BE49-F238E27FC236}">
                <a16:creationId xmlns:a16="http://schemas.microsoft.com/office/drawing/2014/main" id="{A37371D8-51AB-421E-816A-31039883CAA2}"/>
              </a:ext>
            </a:extLst>
          </p:cNvPr>
          <p:cNvPicPr>
            <a:picLocks noChangeAspect="1"/>
          </p:cNvPicPr>
          <p:nvPr/>
        </p:nvPicPr>
        <p:blipFill>
          <a:blip r:embed="rId3"/>
          <a:stretch>
            <a:fillRect/>
          </a:stretch>
        </p:blipFill>
        <p:spPr>
          <a:xfrm>
            <a:off x="3645157" y="976918"/>
            <a:ext cx="4904163" cy="4904163"/>
          </a:xfrm>
          <a:prstGeom prst="rect">
            <a:avLst/>
          </a:prstGeom>
        </p:spPr>
      </p:pic>
    </p:spTree>
    <p:extLst>
      <p:ext uri="{BB962C8B-B14F-4D97-AF65-F5344CB8AC3E}">
        <p14:creationId xmlns:p14="http://schemas.microsoft.com/office/powerpoint/2010/main" val="1102467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6810A03-F19B-46EA-B8EE-B5184F6E9CF6}"/>
              </a:ext>
            </a:extLst>
          </p:cNvPr>
          <p:cNvSpPr>
            <a:spLocks noGrp="1"/>
          </p:cNvSpPr>
          <p:nvPr>
            <p:ph type="title"/>
          </p:nvPr>
        </p:nvSpPr>
        <p:spPr/>
        <p:txBody>
          <a:bodyPr/>
          <a:lstStyle/>
          <a:p>
            <a:r>
              <a:rPr lang="en-US" dirty="0"/>
              <a:t>                 </a:t>
            </a:r>
            <a:r>
              <a:rPr lang="en-US" dirty="0" err="1"/>
              <a:t>Karydia</a:t>
            </a:r>
            <a:r>
              <a:rPr lang="en-US" dirty="0"/>
              <a:t> – secure by default</a:t>
            </a:r>
          </a:p>
        </p:txBody>
      </p:sp>
      <p:sp>
        <p:nvSpPr>
          <p:cNvPr id="4" name="Rectangle 3">
            <a:extLst>
              <a:ext uri="{FF2B5EF4-FFF2-40B4-BE49-F238E27FC236}">
                <a16:creationId xmlns:a16="http://schemas.microsoft.com/office/drawing/2014/main" id="{DC4FA8AC-9DA5-4325-83DB-FAC4C89FF981}"/>
              </a:ext>
            </a:extLst>
          </p:cNvPr>
          <p:cNvSpPr/>
          <p:nvPr/>
        </p:nvSpPr>
        <p:spPr>
          <a:xfrm>
            <a:off x="3711810" y="5027541"/>
            <a:ext cx="4770857" cy="461665"/>
          </a:xfrm>
          <a:prstGeom prst="rect">
            <a:avLst/>
          </a:prstGeom>
        </p:spPr>
        <p:txBody>
          <a:bodyPr wrap="none">
            <a:spAutoFit/>
          </a:bodyPr>
          <a:lstStyle/>
          <a:p>
            <a:pPr algn="ctr"/>
            <a:r>
              <a:rPr lang="de-DE" sz="2400" dirty="0">
                <a:hlinkClick r:id="rId2"/>
              </a:rPr>
              <a:t>https://github.com/karydia/karydia</a:t>
            </a:r>
            <a:endParaRPr lang="en-US" sz="2400" dirty="0"/>
          </a:p>
        </p:txBody>
      </p:sp>
      <p:sp>
        <p:nvSpPr>
          <p:cNvPr id="5" name="Quote placeholder">
            <a:extLst>
              <a:ext uri="{FF2B5EF4-FFF2-40B4-BE49-F238E27FC236}">
                <a16:creationId xmlns:a16="http://schemas.microsoft.com/office/drawing/2014/main" id="{2165E1B0-3388-4652-9BEA-77FBD1B1A67E}"/>
              </a:ext>
            </a:extLst>
          </p:cNvPr>
          <p:cNvSpPr txBox="1">
            <a:spLocks/>
          </p:cNvSpPr>
          <p:nvPr/>
        </p:nvSpPr>
        <p:spPr bwMode="gray">
          <a:xfrm>
            <a:off x="802383" y="2016714"/>
            <a:ext cx="4972775" cy="2132903"/>
          </a:xfrm>
          <a:prstGeom prst="rect">
            <a:avLst/>
          </a:prstGeom>
        </p:spPr>
        <p:txBody>
          <a:bodyPr/>
          <a:lst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r>
              <a:rPr lang="en-US" sz="2400" dirty="0"/>
              <a:t>Unmount</a:t>
            </a:r>
            <a:r>
              <a:rPr lang="en-US" sz="2400" dirty="0">
                <a:solidFill>
                  <a:schemeClr val="accent1"/>
                </a:solidFill>
              </a:rPr>
              <a:t> service account token!</a:t>
            </a:r>
          </a:p>
          <a:p>
            <a:r>
              <a:rPr lang="en-US" sz="2400" dirty="0"/>
              <a:t>Restrict </a:t>
            </a:r>
            <a:r>
              <a:rPr lang="en-US" sz="2400" dirty="0">
                <a:solidFill>
                  <a:schemeClr val="accent1"/>
                </a:solidFill>
              </a:rPr>
              <a:t>network communication!</a:t>
            </a:r>
            <a:endParaRPr lang="en-US" sz="2400" dirty="0"/>
          </a:p>
          <a:p>
            <a:r>
              <a:rPr lang="en-US" sz="2400" dirty="0"/>
              <a:t>Restrict </a:t>
            </a:r>
            <a:r>
              <a:rPr lang="en-US" sz="2400" dirty="0">
                <a:solidFill>
                  <a:schemeClr val="accent1"/>
                </a:solidFill>
              </a:rPr>
              <a:t>system calls!</a:t>
            </a:r>
            <a:endParaRPr lang="en-US" sz="2400" dirty="0"/>
          </a:p>
          <a:p>
            <a:r>
              <a:rPr lang="en-US" sz="2400" dirty="0"/>
              <a:t>Run with </a:t>
            </a:r>
            <a:r>
              <a:rPr lang="en-US" sz="2400" dirty="0">
                <a:solidFill>
                  <a:schemeClr val="accent1"/>
                </a:solidFill>
              </a:rPr>
              <a:t>minimal privileges!</a:t>
            </a:r>
            <a:endParaRPr lang="en-US" sz="2400" dirty="0"/>
          </a:p>
          <a:p>
            <a:endParaRPr lang="en-US" sz="2400" dirty="0"/>
          </a:p>
        </p:txBody>
      </p:sp>
      <p:pic>
        <p:nvPicPr>
          <p:cNvPr id="6" name="Picture 2">
            <a:extLst>
              <a:ext uri="{FF2B5EF4-FFF2-40B4-BE49-F238E27FC236}">
                <a16:creationId xmlns:a16="http://schemas.microsoft.com/office/drawing/2014/main" id="{625A63B7-B7C6-4DF9-B0BF-873E9C28E3D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4000" y="62377"/>
            <a:ext cx="1252577" cy="125257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karydia-architecture.png">
            <a:extLst>
              <a:ext uri="{FF2B5EF4-FFF2-40B4-BE49-F238E27FC236}">
                <a16:creationId xmlns:a16="http://schemas.microsoft.com/office/drawing/2014/main" id="{26B5DD7E-8FFC-4B60-AC55-0CEF5AFF345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92822" y="2016714"/>
            <a:ext cx="4381500" cy="25336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52256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Exercise #09</a:t>
            </a:r>
          </a:p>
        </p:txBody>
      </p:sp>
      <p:grpSp>
        <p:nvGrpSpPr>
          <p:cNvPr id="13" name="Group 12"/>
          <p:cNvGrpSpPr/>
          <p:nvPr/>
        </p:nvGrpSpPr>
        <p:grpSpPr>
          <a:xfrm>
            <a:off x="2674620" y="3124200"/>
            <a:ext cx="6187440" cy="1752600"/>
            <a:chOff x="2697480" y="2743200"/>
            <a:chExt cx="6187440" cy="2034540"/>
          </a:xfrm>
        </p:grpSpPr>
        <p:sp>
          <p:nvSpPr>
            <p:cNvPr id="12" name="Rectangle: Rounded Corners 11"/>
            <p:cNvSpPr/>
            <p:nvPr/>
          </p:nvSpPr>
          <p:spPr bwMode="gray">
            <a:xfrm>
              <a:off x="2697480" y="2743200"/>
              <a:ext cx="6187440" cy="2034540"/>
            </a:xfrm>
            <a:prstGeom prst="round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4" name="Rectangle 3"/>
            <p:cNvSpPr/>
            <p:nvPr/>
          </p:nvSpPr>
          <p:spPr bwMode="gray">
            <a:xfrm>
              <a:off x="2989653" y="3164976"/>
              <a:ext cx="1627931" cy="1156258"/>
            </a:xfrm>
            <a:prstGeom prst="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nginx</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6" name="Rectangle 5"/>
            <p:cNvSpPr/>
            <p:nvPr/>
          </p:nvSpPr>
          <p:spPr bwMode="gray">
            <a:xfrm>
              <a:off x="6855115" y="3164976"/>
              <a:ext cx="1627931" cy="1156258"/>
            </a:xfrm>
            <a:prstGeom prst="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nginx</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7" name="Rectangle 6"/>
            <p:cNvSpPr/>
            <p:nvPr/>
          </p:nvSpPr>
          <p:spPr bwMode="gray">
            <a:xfrm>
              <a:off x="4922384" y="3164976"/>
              <a:ext cx="1627931" cy="1156258"/>
            </a:xfrm>
            <a:prstGeom prst="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nginx</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grpSp>
      <p:grpSp>
        <p:nvGrpSpPr>
          <p:cNvPr id="15" name="Group 14"/>
          <p:cNvGrpSpPr/>
          <p:nvPr/>
        </p:nvGrpSpPr>
        <p:grpSpPr>
          <a:xfrm>
            <a:off x="3482340" y="5191896"/>
            <a:ext cx="4572000" cy="1363980"/>
            <a:chOff x="3421380" y="5067300"/>
            <a:chExt cx="4572000" cy="1363980"/>
          </a:xfrm>
        </p:grpSpPr>
        <p:sp>
          <p:nvSpPr>
            <p:cNvPr id="14" name="Rectangle: Rounded Corners 13"/>
            <p:cNvSpPr/>
            <p:nvPr/>
          </p:nvSpPr>
          <p:spPr bwMode="gray">
            <a:xfrm>
              <a:off x="3421380" y="5067300"/>
              <a:ext cx="4572000" cy="1363980"/>
            </a:xfrm>
            <a:prstGeom prst="round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Cylinder 7"/>
            <p:cNvSpPr/>
            <p:nvPr/>
          </p:nvSpPr>
          <p:spPr bwMode="gray">
            <a:xfrm>
              <a:off x="3946888" y="5248563"/>
              <a:ext cx="998220" cy="1004248"/>
            </a:xfrm>
            <a:prstGeom prst="can">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custom</a:t>
              </a:r>
              <a:r>
                <a:rPr lang="de-DE" sz="1800" kern="0" dirty="0">
                  <a:ea typeface="Arial Unicode MS" pitchFamily="34" charset="-128"/>
                  <a:cs typeface="Arial Unicode MS" pitchFamily="34" charset="-128"/>
                </a:rPr>
                <a:t> </a:t>
              </a:r>
              <a:r>
                <a:rPr kumimoji="0" lang="de-DE" sz="1800" b="0" i="0" u="none" strike="noStrike" kern="0" cap="none" spc="0" normalizeH="0" baseline="0" noProof="0" dirty="0" err="1">
                  <a:ln>
                    <a:noFill/>
                  </a:ln>
                  <a:effectLst/>
                  <a:uLnTx/>
                  <a:uFillTx/>
                  <a:ea typeface="Arial Unicode MS" pitchFamily="34" charset="-128"/>
                  <a:cs typeface="Arial Unicode MS" pitchFamily="34" charset="-128"/>
                </a:rPr>
                <a:t>content</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9" name="Cylinder 8"/>
            <p:cNvSpPr/>
            <p:nvPr/>
          </p:nvSpPr>
          <p:spPr bwMode="gray">
            <a:xfrm>
              <a:off x="5214379" y="5248563"/>
              <a:ext cx="998220" cy="1004248"/>
            </a:xfrm>
            <a:prstGeom prst="can">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0" i="0" u="none" strike="noStrike" kern="0" cap="none" spc="0" normalizeH="0" baseline="0" noProof="0" dirty="0" err="1">
                  <a:ln>
                    <a:noFill/>
                  </a:ln>
                  <a:effectLst/>
                  <a:uLnTx/>
                  <a:uFillTx/>
                  <a:ea typeface="Arial Unicode MS" pitchFamily="34" charset="-128"/>
                  <a:cs typeface="Arial Unicode MS" pitchFamily="34" charset="-128"/>
                </a:rPr>
                <a:t>config</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0" name="Cylinder 9"/>
            <p:cNvSpPr/>
            <p:nvPr/>
          </p:nvSpPr>
          <p:spPr bwMode="gray">
            <a:xfrm>
              <a:off x="6481870" y="5248563"/>
              <a:ext cx="998220" cy="1004248"/>
            </a:xfrm>
            <a:prstGeom prst="can">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tls</a:t>
              </a:r>
              <a:r>
                <a:rPr lang="de-DE" sz="1800" kern="0" dirty="0">
                  <a:ea typeface="Arial Unicode MS" pitchFamily="34" charset="-128"/>
                  <a:cs typeface="Arial Unicode MS" pitchFamily="34" charset="-128"/>
                </a:rPr>
                <a:t> </a:t>
              </a:r>
              <a:r>
                <a:rPr lang="de-DE" sz="1800" kern="0" dirty="0" err="1">
                  <a:ea typeface="Arial Unicode MS" pitchFamily="34" charset="-128"/>
                  <a:cs typeface="Arial Unicode MS" pitchFamily="34" charset="-128"/>
                </a:rPr>
                <a:t>certs</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grpSp>
      <p:sp>
        <p:nvSpPr>
          <p:cNvPr id="16" name="Arrow: Up-Down 15"/>
          <p:cNvSpPr/>
          <p:nvPr/>
        </p:nvSpPr>
        <p:spPr bwMode="gray">
          <a:xfrm>
            <a:off x="5657231" y="4702919"/>
            <a:ext cx="222219" cy="635300"/>
          </a:xfrm>
          <a:prstGeom prst="upDownArrow">
            <a:avLst/>
          </a:prstGeom>
          <a:solidFill>
            <a:schemeClr val="accent4"/>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Cloud 16"/>
          <p:cNvSpPr/>
          <p:nvPr/>
        </p:nvSpPr>
        <p:spPr bwMode="gray">
          <a:xfrm>
            <a:off x="4077318" y="772619"/>
            <a:ext cx="3382042" cy="807791"/>
          </a:xfrm>
          <a:prstGeom prst="cloud">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27" name="Group 26"/>
          <p:cNvGrpSpPr/>
          <p:nvPr/>
        </p:nvGrpSpPr>
        <p:grpSpPr>
          <a:xfrm>
            <a:off x="4165925" y="2129720"/>
            <a:ext cx="3204830" cy="681069"/>
            <a:chOff x="2697480" y="2743200"/>
            <a:chExt cx="6187440" cy="2034540"/>
          </a:xfrm>
        </p:grpSpPr>
        <p:sp>
          <p:nvSpPr>
            <p:cNvPr id="28" name="Rectangle: Rounded Corners 27"/>
            <p:cNvSpPr/>
            <p:nvPr/>
          </p:nvSpPr>
          <p:spPr bwMode="gray">
            <a:xfrm>
              <a:off x="2697480" y="2743200"/>
              <a:ext cx="6187440" cy="2034540"/>
            </a:xfrm>
            <a:prstGeom prst="round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9" name="Rectangle 28"/>
            <p:cNvSpPr/>
            <p:nvPr/>
          </p:nvSpPr>
          <p:spPr bwMode="gray">
            <a:xfrm>
              <a:off x="3493771" y="3130180"/>
              <a:ext cx="4594857" cy="1156257"/>
            </a:xfrm>
            <a:prstGeom prst="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service</a:t>
              </a:r>
              <a:r>
                <a:rPr lang="de-DE" sz="1800" kern="0" dirty="0">
                  <a:ea typeface="Arial Unicode MS" pitchFamily="34" charset="-128"/>
                  <a:cs typeface="Arial Unicode MS" pitchFamily="34" charset="-128"/>
                </a:rPr>
                <a:t> http / https</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grpSp>
      <p:sp>
        <p:nvSpPr>
          <p:cNvPr id="18" name="Arrow: Up-Down 17"/>
          <p:cNvSpPr/>
          <p:nvPr/>
        </p:nvSpPr>
        <p:spPr bwMode="gray">
          <a:xfrm>
            <a:off x="5657231" y="2669184"/>
            <a:ext cx="222219" cy="686436"/>
          </a:xfrm>
          <a:prstGeom prst="upDownArrow">
            <a:avLst/>
          </a:prstGeom>
          <a:solidFill>
            <a:schemeClr val="accent4"/>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32" name="Arrow: Up-Down 31"/>
          <p:cNvSpPr/>
          <p:nvPr/>
        </p:nvSpPr>
        <p:spPr bwMode="gray">
          <a:xfrm>
            <a:off x="5657230" y="1585837"/>
            <a:ext cx="222219" cy="686436"/>
          </a:xfrm>
          <a:prstGeom prst="upDownArrow">
            <a:avLst/>
          </a:prstGeom>
          <a:solidFill>
            <a:schemeClr val="accent4"/>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0" name="Rectangle: Single Corner Snipped 19">
            <a:extLst>
              <a:ext uri="{FF2B5EF4-FFF2-40B4-BE49-F238E27FC236}">
                <a16:creationId xmlns:a16="http://schemas.microsoft.com/office/drawing/2014/main" id="{C7F2FB60-D7EF-485F-AA1B-FC0AF0234EFB}"/>
              </a:ext>
            </a:extLst>
          </p:cNvPr>
          <p:cNvSpPr/>
          <p:nvPr/>
        </p:nvSpPr>
        <p:spPr bwMode="gray">
          <a:xfrm>
            <a:off x="8616279" y="873332"/>
            <a:ext cx="2619143" cy="1338815"/>
          </a:xfrm>
          <a:prstGeom prst="snip1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Filter incoming traffic </a:t>
            </a:r>
            <a:r>
              <a:rPr lang="en-US" sz="1800" kern="0">
                <a:ea typeface="Arial Unicode MS" pitchFamily="34" charset="-128"/>
                <a:cs typeface="Arial Unicode MS" pitchFamily="34" charset="-128"/>
              </a:rPr>
              <a:t>with a network </a:t>
            </a:r>
            <a:r>
              <a:rPr lang="en-US" sz="1800" kern="0" dirty="0">
                <a:ea typeface="Arial Unicode MS" pitchFamily="34" charset="-128"/>
                <a:cs typeface="Arial Unicode MS" pitchFamily="34" charset="-128"/>
              </a:rPr>
              <a:t>Policy</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21" name="Straight Arrow Connector 20">
            <a:extLst>
              <a:ext uri="{FF2B5EF4-FFF2-40B4-BE49-F238E27FC236}">
                <a16:creationId xmlns:a16="http://schemas.microsoft.com/office/drawing/2014/main" id="{484F8FEA-C495-402A-8FB3-F57A76F2BE67}"/>
              </a:ext>
            </a:extLst>
          </p:cNvPr>
          <p:cNvCxnSpPr>
            <a:cxnSpLocks/>
            <a:stCxn id="20" idx="2"/>
          </p:cNvCxnSpPr>
          <p:nvPr/>
        </p:nvCxnSpPr>
        <p:spPr>
          <a:xfrm flipH="1">
            <a:off x="5812113" y="1542740"/>
            <a:ext cx="2804166" cy="214913"/>
          </a:xfrm>
          <a:prstGeom prst="straightConnector1">
            <a:avLst/>
          </a:prstGeom>
          <a:ln w="381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8558144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cSld>
  <p:clrMapOvr>
    <a:masterClrMapping/>
  </p:clrMapOvr>
  <p:transition spd="med"/>
</p:sld>
</file>

<file path=ppt/theme/theme1.xml><?xml version="1.0" encoding="utf-8"?>
<a:theme xmlns:a="http://schemas.openxmlformats.org/drawingml/2006/main" name="SAP_2017_16x9_black">
  <a:themeElements>
    <a:clrScheme name="SAP_colors_2017">
      <a:dk1>
        <a:srgbClr val="000000"/>
      </a:dk1>
      <a:lt1>
        <a:srgbClr val="FFFFFF"/>
      </a:lt1>
      <a:dk2>
        <a:srgbClr val="CCCCCC"/>
      </a:dk2>
      <a:lt2>
        <a:srgbClr val="999999"/>
      </a:lt2>
      <a:accent1>
        <a:srgbClr val="F0AB00"/>
      </a:accent1>
      <a:accent2>
        <a:srgbClr val="666666"/>
      </a:accent2>
      <a:accent3>
        <a:srgbClr val="008FD3"/>
      </a:accent3>
      <a:accent4>
        <a:srgbClr val="4FB81C"/>
      </a:accent4>
      <a:accent5>
        <a:srgbClr val="E35500"/>
      </a:accent5>
      <a:accent6>
        <a:srgbClr val="970A82"/>
      </a:accent6>
      <a:hlink>
        <a:srgbClr val="008FD3"/>
      </a:hlink>
      <a:folHlink>
        <a:srgbClr val="008FD3"/>
      </a:folHlink>
    </a:clrScheme>
    <a:fontScheme name="SAP Fonts">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1"/>
        </a:solidFill>
        <a:ln w="6350" algn="ctr">
          <a:noFill/>
          <a:miter lim="800000"/>
          <a:headEnd/>
          <a:tailEnd/>
        </a:ln>
      </a:spPr>
      <a:bodyPr lIns="90000" tIns="72000" rIns="90000" bIns="72000" rtlCol="0" anchor="ctr"/>
      <a:lstStyle>
        <a:defPPr marR="0" algn="ctr" defTabSz="914400" eaLnBrk="1" fontAlgn="base" latinLnBrk="0" hangingPunct="1">
          <a:lnSpc>
            <a:spcPct val="100000"/>
          </a:lnSpc>
          <a:spcBef>
            <a:spcPct val="50000"/>
          </a:spcBef>
          <a:spcAft>
            <a:spcPct val="0"/>
          </a:spcAft>
          <a:buClr>
            <a:srgbClr val="F0AB00"/>
          </a:buClr>
          <a:buSzPct val="80000"/>
          <a:tabLst/>
          <a:defRPr kumimoji="0" sz="1800" b="0" i="0" u="none" strike="noStrike" kern="0" cap="none" spc="0" normalizeH="0" baseline="0" noProof="0" dirty="0" err="1" smtClean="0">
            <a:ln>
              <a:noFill/>
            </a:ln>
            <a:effectLst/>
            <a:uLnTx/>
            <a:uFillTx/>
            <a:ea typeface="Arial Unicode MS" pitchFamily="34" charset="-128"/>
            <a:cs typeface="Arial Unicode MS" pitchFamily="34" charset="-128"/>
          </a:defRPr>
        </a:defPPr>
      </a:lstStyle>
    </a:spDef>
    <a:lnDef>
      <a:spPr>
        <a:ln w="9525">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fontAlgn="base">
          <a:spcBef>
            <a:spcPct val="50000"/>
          </a:spcBef>
          <a:spcAft>
            <a:spcPct val="0"/>
          </a:spcAft>
          <a:buClr>
            <a:srgbClr val="F0AB00"/>
          </a:buClr>
          <a:buSzPct val="80000"/>
          <a:defRPr sz="1800" kern="0" dirty="0" err="1" smtClean="0">
            <a:ea typeface="Arial Unicode MS" pitchFamily="34" charset="-128"/>
            <a:cs typeface="Arial Unicode MS" pitchFamily="34" charset="-128"/>
          </a:defRPr>
        </a:defPPr>
      </a:lstStyle>
    </a:txDef>
  </a:objectDefaults>
  <a:extraClrSchemeLst/>
  <a:extLst>
    <a:ext uri="{05A4C25C-085E-4340-85A3-A5531E510DB2}">
      <thm15:themeFamily xmlns:thm15="http://schemas.microsoft.com/office/thememl/2012/main" name="SAP_2017_16x9_black.potx" id="{9488014F-4BF2-4B73-9741-6D40B78C18AF}" vid="{315AB80D-2AE3-4555-B7D1-B9C512524916}"/>
    </a:ext>
  </a:extLst>
</a:theme>
</file>

<file path=ppt/theme/theme2.xml><?xml version="1.0" encoding="utf-8"?>
<a:theme xmlns:a="http://schemas.openxmlformats.org/drawingml/2006/main" name="Office Theme">
  <a:themeElements>
    <a:clrScheme name="SAP_Colors2011_1.1">
      <a:dk1>
        <a:srgbClr val="000000"/>
      </a:dk1>
      <a:lt1>
        <a:srgbClr val="FFFFFF"/>
      </a:lt1>
      <a:dk2>
        <a:srgbClr val="0076CB"/>
      </a:dk2>
      <a:lt2>
        <a:srgbClr val="CCCCCC"/>
      </a:lt2>
      <a:accent1>
        <a:srgbClr val="F0AB00"/>
      </a:accent1>
      <a:accent2>
        <a:srgbClr val="666666"/>
      </a:accent2>
      <a:accent3>
        <a:srgbClr val="0076CB"/>
      </a:accent3>
      <a:accent4>
        <a:srgbClr val="4FB81C"/>
      </a:accent4>
      <a:accent5>
        <a:srgbClr val="E35500"/>
      </a:accent5>
      <a:accent6>
        <a:srgbClr val="760A85"/>
      </a:accent6>
      <a:hlink>
        <a:srgbClr val="666666"/>
      </a:hlink>
      <a:folHlink>
        <a:srgbClr val="CCCCCC"/>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SAP_Colors2011">
      <a:dk1>
        <a:srgbClr val="000000"/>
      </a:dk1>
      <a:lt1>
        <a:srgbClr val="FFFFFF"/>
      </a:lt1>
      <a:dk2>
        <a:srgbClr val="00AFE3"/>
      </a:dk2>
      <a:lt2>
        <a:srgbClr val="CCCCCC"/>
      </a:lt2>
      <a:accent1>
        <a:srgbClr val="FDB913"/>
      </a:accent1>
      <a:accent2>
        <a:srgbClr val="626366"/>
      </a:accent2>
      <a:accent3>
        <a:srgbClr val="0082C9"/>
      </a:accent3>
      <a:accent4>
        <a:srgbClr val="4BBE44"/>
      </a:accent4>
      <a:accent5>
        <a:srgbClr val="B1D249"/>
      </a:accent5>
      <a:accent6>
        <a:srgbClr val="80298F"/>
      </a:accent6>
      <a:hlink>
        <a:srgbClr val="04357B"/>
      </a:hlink>
      <a:folHlink>
        <a:srgbClr val="999999"/>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3136</Words>
  <Application>Microsoft Macintosh PowerPoint</Application>
  <PresentationFormat>Benutzerdefiniert</PresentationFormat>
  <Paragraphs>340</Paragraphs>
  <Slides>27</Slides>
  <Notes>22</Notes>
  <HiddenSlides>1</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27</vt:i4>
      </vt:variant>
    </vt:vector>
  </HeadingPairs>
  <TitlesOfParts>
    <vt:vector size="34" baseType="lpstr">
      <vt:lpstr>Arial</vt:lpstr>
      <vt:lpstr>Arial Rounded MT Bold</vt:lpstr>
      <vt:lpstr>Courier New</vt:lpstr>
      <vt:lpstr>Symbol</vt:lpstr>
      <vt:lpstr>wingdings</vt:lpstr>
      <vt:lpstr>wingdings</vt:lpstr>
      <vt:lpstr>SAP_2017_16x9_black</vt:lpstr>
      <vt:lpstr>PowerPoint-Präsentation</vt:lpstr>
      <vt:lpstr>How to prevent apps to wreak havoc?</vt:lpstr>
      <vt:lpstr>Security contexts and other ways to break things</vt:lpstr>
      <vt:lpstr>Security contexts and other ways to break things</vt:lpstr>
      <vt:lpstr>PID Limits (stable release with K8S version 1.20)</vt:lpstr>
      <vt:lpstr>Policies</vt:lpstr>
      <vt:lpstr>Policy objects in Kubernetes</vt:lpstr>
      <vt:lpstr>PodSecurityPolicy – initial state without constraints</vt:lpstr>
      <vt:lpstr>PodSecurityPolicy</vt:lpstr>
      <vt:lpstr>PodSecurityPolicy</vt:lpstr>
      <vt:lpstr>PodSecurityPolicy</vt:lpstr>
      <vt:lpstr>“Allow everything” PodSecurityPolicy</vt:lpstr>
      <vt:lpstr>Restrictive PodSecurityPolicy</vt:lpstr>
      <vt:lpstr>NetworkPolicy</vt:lpstr>
      <vt:lpstr>More on Network Policies</vt:lpstr>
      <vt:lpstr>Demo</vt:lpstr>
      <vt:lpstr>Attacking K8s</vt:lpstr>
      <vt:lpstr>Setup</vt:lpstr>
      <vt:lpstr>Scenario 1: Bitcoin, Ethereum, Monero!</vt:lpstr>
      <vt:lpstr>How to prevent this?</vt:lpstr>
      <vt:lpstr>Scenario 2: Take over the cluster / hosts</vt:lpstr>
      <vt:lpstr>How to prevent this?</vt:lpstr>
      <vt:lpstr>How to prevent this?</vt:lpstr>
      <vt:lpstr>Demo</vt:lpstr>
      <vt:lpstr>                 Karydia – secure by default</vt:lpstr>
      <vt:lpstr>Exercise #09</vt:lpstr>
      <vt:lpstr>PowerPoint-Präsentation</vt:lpstr>
    </vt:vector>
  </TitlesOfParts>
  <Company>SAP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SAP PPT Template</dc:title>
  <dc:creator>SAP SE</dc:creator>
  <cp:keywords>2017/16:9/black</cp:keywords>
  <cp:lastModifiedBy>Kahl, Hendrik</cp:lastModifiedBy>
  <cp:revision>927</cp:revision>
  <dcterms:created xsi:type="dcterms:W3CDTF">2015-10-14T11:21:43Z</dcterms:created>
  <dcterms:modified xsi:type="dcterms:W3CDTF">2020-12-16T08:27:53Z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1101452479</vt:i4>
  </property>
  <property fmtid="{D5CDD505-2E9C-101B-9397-08002B2CF9AE}" pid="3" name="_NewReviewCycle">
    <vt:lpwstr/>
  </property>
  <property fmtid="{D5CDD505-2E9C-101B-9397-08002B2CF9AE}" pid="4" name="_EmailSubject">
    <vt:lpwstr>SAP - PPT Exploration (Updated)</vt:lpwstr>
  </property>
  <property fmtid="{D5CDD505-2E9C-101B-9397-08002B2CF9AE}" pid="5" name="_AuthorEmail">
    <vt:lpwstr>heidi.bitz@sap.com</vt:lpwstr>
  </property>
  <property fmtid="{D5CDD505-2E9C-101B-9397-08002B2CF9AE}" pid="6" name="_AuthorEmailDisplayName">
    <vt:lpwstr>Bitz, Heidi</vt:lpwstr>
  </property>
  <property fmtid="{D5CDD505-2E9C-101B-9397-08002B2CF9AE}" pid="7" name="_PreviousAdHocReviewCycleID">
    <vt:i4>1357826825</vt:i4>
  </property>
</Properties>
</file>