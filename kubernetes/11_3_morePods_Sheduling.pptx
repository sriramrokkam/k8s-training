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22"/>
  </p:notesMasterIdLst>
  <p:handoutMasterIdLst>
    <p:handoutMasterId r:id="rId23"/>
  </p:handoutMasterIdLst>
  <p:sldIdLst>
    <p:sldId id="476" r:id="rId2"/>
    <p:sldId id="478" r:id="rId3"/>
    <p:sldId id="477" r:id="rId4"/>
    <p:sldId id="433" r:id="rId5"/>
    <p:sldId id="450" r:id="rId6"/>
    <p:sldId id="462" r:id="rId7"/>
    <p:sldId id="962" r:id="rId8"/>
    <p:sldId id="963" r:id="rId9"/>
    <p:sldId id="475" r:id="rId10"/>
    <p:sldId id="956" r:id="rId11"/>
    <p:sldId id="964" r:id="rId12"/>
    <p:sldId id="957" r:id="rId13"/>
    <p:sldId id="958" r:id="rId14"/>
    <p:sldId id="965" r:id="rId15"/>
    <p:sldId id="463" r:id="rId16"/>
    <p:sldId id="470" r:id="rId17"/>
    <p:sldId id="457" r:id="rId18"/>
    <p:sldId id="456" r:id="rId19"/>
    <p:sldId id="468" r:id="rId20"/>
    <p:sldId id="265" r:id="rId21"/>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ECE59"/>
    <a:srgbClr val="0F46A7"/>
    <a:srgbClr val="970A82"/>
    <a:srgbClr val="FF3399"/>
    <a:srgbClr val="FF0000"/>
    <a:srgbClr val="FFFFFF"/>
    <a:srgbClr val="FEE3A1"/>
    <a:srgbClr val="FFF1D0"/>
    <a:srgbClr val="FFF8E7"/>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72134" autoAdjust="0"/>
  </p:normalViewPr>
  <p:slideViewPr>
    <p:cSldViewPr snapToGrid="0" showGuides="1">
      <p:cViewPr varScale="1">
        <p:scale>
          <a:sx n="147" d="100"/>
          <a:sy n="147" d="100"/>
        </p:scale>
        <p:origin x="4184" y="200"/>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4D5D8D-46B5-4050-A8A2-9358720318CB}" type="doc">
      <dgm:prSet loTypeId="urn:microsoft.com/office/officeart/2005/8/layout/chevronAccent+Icon" loCatId="process" qsTypeId="urn:microsoft.com/office/officeart/2005/8/quickstyle/simple1" qsCatId="simple" csTypeId="urn:microsoft.com/office/officeart/2005/8/colors/accent0_1" csCatId="mainScheme" phldr="1"/>
      <dgm:spPr/>
      <dgm:t>
        <a:bodyPr/>
        <a:lstStyle/>
        <a:p>
          <a:endParaRPr lang="en-US"/>
        </a:p>
      </dgm:t>
    </dgm:pt>
    <dgm:pt modelId="{5F7701CA-FAE9-401E-8919-DA68891591F1}">
      <dgm:prSet phldrT="[Text]"/>
      <dgm:spPr/>
      <dgm:t>
        <a:bodyPr/>
        <a:lstStyle/>
        <a:p>
          <a:r>
            <a:rPr lang="en-US" dirty="0"/>
            <a:t>Observe</a:t>
          </a:r>
        </a:p>
      </dgm:t>
    </dgm:pt>
    <dgm:pt modelId="{57EC1A04-2D89-479D-B4CD-41E513268C4C}" type="parTrans" cxnId="{788EE39B-32B1-4162-8BBC-1C338A4C1A09}">
      <dgm:prSet/>
      <dgm:spPr/>
      <dgm:t>
        <a:bodyPr/>
        <a:lstStyle/>
        <a:p>
          <a:endParaRPr lang="en-US"/>
        </a:p>
      </dgm:t>
    </dgm:pt>
    <dgm:pt modelId="{1E496758-F884-4589-8FBC-E44F78EEE5A6}" type="sibTrans" cxnId="{788EE39B-32B1-4162-8BBC-1C338A4C1A09}">
      <dgm:prSet/>
      <dgm:spPr/>
      <dgm:t>
        <a:bodyPr/>
        <a:lstStyle/>
        <a:p>
          <a:endParaRPr lang="en-US"/>
        </a:p>
      </dgm:t>
    </dgm:pt>
    <dgm:pt modelId="{3511B0DC-F6D6-48BD-9E3E-8060DA330747}">
      <dgm:prSet phldrT="[Text]"/>
      <dgm:spPr/>
      <dgm:t>
        <a:bodyPr/>
        <a:lstStyle/>
        <a:p>
          <a:r>
            <a:rPr lang="en-US" dirty="0"/>
            <a:t>Analyze</a:t>
          </a:r>
        </a:p>
      </dgm:t>
    </dgm:pt>
    <dgm:pt modelId="{DB215E9B-41B1-4594-AECD-054A768F9C75}" type="parTrans" cxnId="{4AA21BBC-29B0-4376-8FA9-2ECF348FFB0B}">
      <dgm:prSet/>
      <dgm:spPr/>
      <dgm:t>
        <a:bodyPr/>
        <a:lstStyle/>
        <a:p>
          <a:endParaRPr lang="en-US"/>
        </a:p>
      </dgm:t>
    </dgm:pt>
    <dgm:pt modelId="{4DA7C20A-7791-417E-8B3D-4A6E6D60BD33}" type="sibTrans" cxnId="{4AA21BBC-29B0-4376-8FA9-2ECF348FFB0B}">
      <dgm:prSet/>
      <dgm:spPr/>
      <dgm:t>
        <a:bodyPr/>
        <a:lstStyle/>
        <a:p>
          <a:endParaRPr lang="en-US"/>
        </a:p>
      </dgm:t>
    </dgm:pt>
    <dgm:pt modelId="{FB9AAE57-5715-4E83-B795-233F80C28DD5}">
      <dgm:prSet phldrT="[Text]"/>
      <dgm:spPr/>
      <dgm:t>
        <a:bodyPr/>
        <a:lstStyle/>
        <a:p>
          <a:r>
            <a:rPr lang="en-US" dirty="0"/>
            <a:t>Act</a:t>
          </a:r>
        </a:p>
      </dgm:t>
    </dgm:pt>
    <dgm:pt modelId="{DEC4E5B5-5AAD-461A-8948-F5A4F37B3F48}" type="parTrans" cxnId="{2816C6BF-DAD6-46C7-876C-AD193175ADED}">
      <dgm:prSet/>
      <dgm:spPr/>
      <dgm:t>
        <a:bodyPr/>
        <a:lstStyle/>
        <a:p>
          <a:endParaRPr lang="en-US"/>
        </a:p>
      </dgm:t>
    </dgm:pt>
    <dgm:pt modelId="{51F931F7-68A4-4543-AC94-B359BC369D41}" type="sibTrans" cxnId="{2816C6BF-DAD6-46C7-876C-AD193175ADED}">
      <dgm:prSet/>
      <dgm:spPr/>
      <dgm:t>
        <a:bodyPr/>
        <a:lstStyle/>
        <a:p>
          <a:endParaRPr lang="en-US"/>
        </a:p>
      </dgm:t>
    </dgm:pt>
    <dgm:pt modelId="{EC220F0F-3F68-4F91-BA27-61155048D978}" type="pres">
      <dgm:prSet presAssocID="{BC4D5D8D-46B5-4050-A8A2-9358720318CB}" presName="Name0" presStyleCnt="0">
        <dgm:presLayoutVars>
          <dgm:dir/>
          <dgm:resizeHandles val="exact"/>
        </dgm:presLayoutVars>
      </dgm:prSet>
      <dgm:spPr/>
    </dgm:pt>
    <dgm:pt modelId="{C3D11DBA-0569-4639-9DC1-670B1227587E}" type="pres">
      <dgm:prSet presAssocID="{5F7701CA-FAE9-401E-8919-DA68891591F1}" presName="composite" presStyleCnt="0"/>
      <dgm:spPr/>
    </dgm:pt>
    <dgm:pt modelId="{64A0FA5C-7039-4FF4-8C99-48E9820D938C}" type="pres">
      <dgm:prSet presAssocID="{5F7701CA-FAE9-401E-8919-DA68891591F1}" presName="bgChev" presStyleLbl="node1" presStyleIdx="0" presStyleCnt="3"/>
      <dgm:spPr/>
    </dgm:pt>
    <dgm:pt modelId="{1D11700A-BBAA-42A9-917B-63350AB4255C}" type="pres">
      <dgm:prSet presAssocID="{5F7701CA-FAE9-401E-8919-DA68891591F1}" presName="txNode" presStyleLbl="fgAcc1" presStyleIdx="0" presStyleCnt="3">
        <dgm:presLayoutVars>
          <dgm:bulletEnabled val="1"/>
        </dgm:presLayoutVars>
      </dgm:prSet>
      <dgm:spPr/>
    </dgm:pt>
    <dgm:pt modelId="{B6942620-027C-4D06-8944-E1A5AEED9AA4}" type="pres">
      <dgm:prSet presAssocID="{1E496758-F884-4589-8FBC-E44F78EEE5A6}" presName="compositeSpace" presStyleCnt="0"/>
      <dgm:spPr/>
    </dgm:pt>
    <dgm:pt modelId="{555F4A6A-4580-4AC2-BDB7-98DDDCFBC2D0}" type="pres">
      <dgm:prSet presAssocID="{3511B0DC-F6D6-48BD-9E3E-8060DA330747}" presName="composite" presStyleCnt="0"/>
      <dgm:spPr/>
    </dgm:pt>
    <dgm:pt modelId="{1067899F-33B4-491C-B69D-476224B9506A}" type="pres">
      <dgm:prSet presAssocID="{3511B0DC-F6D6-48BD-9E3E-8060DA330747}" presName="bgChev" presStyleLbl="node1" presStyleIdx="1" presStyleCnt="3"/>
      <dgm:spPr/>
    </dgm:pt>
    <dgm:pt modelId="{2334EE4A-B7B4-4E1E-8449-49872BBBF2B1}" type="pres">
      <dgm:prSet presAssocID="{3511B0DC-F6D6-48BD-9E3E-8060DA330747}" presName="txNode" presStyleLbl="fgAcc1" presStyleIdx="1" presStyleCnt="3">
        <dgm:presLayoutVars>
          <dgm:bulletEnabled val="1"/>
        </dgm:presLayoutVars>
      </dgm:prSet>
      <dgm:spPr/>
    </dgm:pt>
    <dgm:pt modelId="{044ED2E9-BCEE-4979-BA15-D586BFDD3383}" type="pres">
      <dgm:prSet presAssocID="{4DA7C20A-7791-417E-8B3D-4A6E6D60BD33}" presName="compositeSpace" presStyleCnt="0"/>
      <dgm:spPr/>
    </dgm:pt>
    <dgm:pt modelId="{22D5889F-3E05-42E6-A440-F71D5A35A9E8}" type="pres">
      <dgm:prSet presAssocID="{FB9AAE57-5715-4E83-B795-233F80C28DD5}" presName="composite" presStyleCnt="0"/>
      <dgm:spPr/>
    </dgm:pt>
    <dgm:pt modelId="{44309A0F-9A2A-4650-84CF-CAAB96393DA0}" type="pres">
      <dgm:prSet presAssocID="{FB9AAE57-5715-4E83-B795-233F80C28DD5}" presName="bgChev" presStyleLbl="node1" presStyleIdx="2" presStyleCnt="3"/>
      <dgm:spPr/>
    </dgm:pt>
    <dgm:pt modelId="{14F1B3E8-DBE2-4A1E-A7D3-9504D758FDF0}" type="pres">
      <dgm:prSet presAssocID="{FB9AAE57-5715-4E83-B795-233F80C28DD5}" presName="txNode" presStyleLbl="fgAcc1" presStyleIdx="2" presStyleCnt="3">
        <dgm:presLayoutVars>
          <dgm:bulletEnabled val="1"/>
        </dgm:presLayoutVars>
      </dgm:prSet>
      <dgm:spPr/>
    </dgm:pt>
  </dgm:ptLst>
  <dgm:cxnLst>
    <dgm:cxn modelId="{5BCA772D-8541-4DB2-815A-BC0EB44BA024}" type="presOf" srcId="{BC4D5D8D-46B5-4050-A8A2-9358720318CB}" destId="{EC220F0F-3F68-4F91-BA27-61155048D978}" srcOrd="0" destOrd="0" presId="urn:microsoft.com/office/officeart/2005/8/layout/chevronAccent+Icon"/>
    <dgm:cxn modelId="{F3017B91-E2ED-4F5F-B55A-DD06EAF122C7}" type="presOf" srcId="{FB9AAE57-5715-4E83-B795-233F80C28DD5}" destId="{14F1B3E8-DBE2-4A1E-A7D3-9504D758FDF0}" srcOrd="0" destOrd="0" presId="urn:microsoft.com/office/officeart/2005/8/layout/chevronAccent+Icon"/>
    <dgm:cxn modelId="{788EE39B-32B1-4162-8BBC-1C338A4C1A09}" srcId="{BC4D5D8D-46B5-4050-A8A2-9358720318CB}" destId="{5F7701CA-FAE9-401E-8919-DA68891591F1}" srcOrd="0" destOrd="0" parTransId="{57EC1A04-2D89-479D-B4CD-41E513268C4C}" sibTransId="{1E496758-F884-4589-8FBC-E44F78EEE5A6}"/>
    <dgm:cxn modelId="{4AA21BBC-29B0-4376-8FA9-2ECF348FFB0B}" srcId="{BC4D5D8D-46B5-4050-A8A2-9358720318CB}" destId="{3511B0DC-F6D6-48BD-9E3E-8060DA330747}" srcOrd="1" destOrd="0" parTransId="{DB215E9B-41B1-4594-AECD-054A768F9C75}" sibTransId="{4DA7C20A-7791-417E-8B3D-4A6E6D60BD33}"/>
    <dgm:cxn modelId="{2816C6BF-DAD6-46C7-876C-AD193175ADED}" srcId="{BC4D5D8D-46B5-4050-A8A2-9358720318CB}" destId="{FB9AAE57-5715-4E83-B795-233F80C28DD5}" srcOrd="2" destOrd="0" parTransId="{DEC4E5B5-5AAD-461A-8948-F5A4F37B3F48}" sibTransId="{51F931F7-68A4-4543-AC94-B359BC369D41}"/>
    <dgm:cxn modelId="{D3F8B6DC-EEC6-486F-86BE-95B48E381F69}" type="presOf" srcId="{5F7701CA-FAE9-401E-8919-DA68891591F1}" destId="{1D11700A-BBAA-42A9-917B-63350AB4255C}" srcOrd="0" destOrd="0" presId="urn:microsoft.com/office/officeart/2005/8/layout/chevronAccent+Icon"/>
    <dgm:cxn modelId="{1C2A04E7-4632-4668-84C2-F442F319FC08}" type="presOf" srcId="{3511B0DC-F6D6-48BD-9E3E-8060DA330747}" destId="{2334EE4A-B7B4-4E1E-8449-49872BBBF2B1}" srcOrd="0" destOrd="0" presId="urn:microsoft.com/office/officeart/2005/8/layout/chevronAccent+Icon"/>
    <dgm:cxn modelId="{04A4F9D3-360C-4432-80AE-A8E0FE542F41}" type="presParOf" srcId="{EC220F0F-3F68-4F91-BA27-61155048D978}" destId="{C3D11DBA-0569-4639-9DC1-670B1227587E}" srcOrd="0" destOrd="0" presId="urn:microsoft.com/office/officeart/2005/8/layout/chevronAccent+Icon"/>
    <dgm:cxn modelId="{15BBE625-E919-4308-96E2-CB685A7300A5}" type="presParOf" srcId="{C3D11DBA-0569-4639-9DC1-670B1227587E}" destId="{64A0FA5C-7039-4FF4-8C99-48E9820D938C}" srcOrd="0" destOrd="0" presId="urn:microsoft.com/office/officeart/2005/8/layout/chevronAccent+Icon"/>
    <dgm:cxn modelId="{07C7C6C3-9B17-47BF-B816-273A3C7CD7DF}" type="presParOf" srcId="{C3D11DBA-0569-4639-9DC1-670B1227587E}" destId="{1D11700A-BBAA-42A9-917B-63350AB4255C}" srcOrd="1" destOrd="0" presId="urn:microsoft.com/office/officeart/2005/8/layout/chevronAccent+Icon"/>
    <dgm:cxn modelId="{6B171094-4663-46A6-AF01-DAB56E3B103D}" type="presParOf" srcId="{EC220F0F-3F68-4F91-BA27-61155048D978}" destId="{B6942620-027C-4D06-8944-E1A5AEED9AA4}" srcOrd="1" destOrd="0" presId="urn:microsoft.com/office/officeart/2005/8/layout/chevronAccent+Icon"/>
    <dgm:cxn modelId="{AC761A58-C3C7-48CD-A53D-2E75C39D5299}" type="presParOf" srcId="{EC220F0F-3F68-4F91-BA27-61155048D978}" destId="{555F4A6A-4580-4AC2-BDB7-98DDDCFBC2D0}" srcOrd="2" destOrd="0" presId="urn:microsoft.com/office/officeart/2005/8/layout/chevronAccent+Icon"/>
    <dgm:cxn modelId="{B08EDD57-7815-4509-A29C-576F70AFBF2C}" type="presParOf" srcId="{555F4A6A-4580-4AC2-BDB7-98DDDCFBC2D0}" destId="{1067899F-33B4-491C-B69D-476224B9506A}" srcOrd="0" destOrd="0" presId="urn:microsoft.com/office/officeart/2005/8/layout/chevronAccent+Icon"/>
    <dgm:cxn modelId="{64674B21-D43C-4A38-8924-08AA4A927DC3}" type="presParOf" srcId="{555F4A6A-4580-4AC2-BDB7-98DDDCFBC2D0}" destId="{2334EE4A-B7B4-4E1E-8449-49872BBBF2B1}" srcOrd="1" destOrd="0" presId="urn:microsoft.com/office/officeart/2005/8/layout/chevronAccent+Icon"/>
    <dgm:cxn modelId="{65BC2773-7FF8-4A57-A611-94AFF4F2C888}" type="presParOf" srcId="{EC220F0F-3F68-4F91-BA27-61155048D978}" destId="{044ED2E9-BCEE-4979-BA15-D586BFDD3383}" srcOrd="3" destOrd="0" presId="urn:microsoft.com/office/officeart/2005/8/layout/chevronAccent+Icon"/>
    <dgm:cxn modelId="{558F2373-43E2-4F6A-855E-983CC45BB556}" type="presParOf" srcId="{EC220F0F-3F68-4F91-BA27-61155048D978}" destId="{22D5889F-3E05-42E6-A440-F71D5A35A9E8}" srcOrd="4" destOrd="0" presId="urn:microsoft.com/office/officeart/2005/8/layout/chevronAccent+Icon"/>
    <dgm:cxn modelId="{B529721A-C207-410E-BCC1-BD3CC034F340}" type="presParOf" srcId="{22D5889F-3E05-42E6-A440-F71D5A35A9E8}" destId="{44309A0F-9A2A-4650-84CF-CAAB96393DA0}" srcOrd="0" destOrd="0" presId="urn:microsoft.com/office/officeart/2005/8/layout/chevronAccent+Icon"/>
    <dgm:cxn modelId="{3F26C6A6-AD68-4B25-AE80-F6BB1AE68E10}" type="presParOf" srcId="{22D5889F-3E05-42E6-A440-F71D5A35A9E8}" destId="{14F1B3E8-DBE2-4A1E-A7D3-9504D758FDF0}" srcOrd="1" destOrd="0" presId="urn:microsoft.com/office/officeart/2005/8/layout/chevronAccent+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A0FA5C-7039-4FF4-8C99-48E9820D938C}">
      <dsp:nvSpPr>
        <dsp:cNvPr id="0" name=""/>
        <dsp:cNvSpPr/>
      </dsp:nvSpPr>
      <dsp:spPr>
        <a:xfrm>
          <a:off x="1338" y="0"/>
          <a:ext cx="3363247" cy="852283"/>
        </a:xfrm>
        <a:prstGeom prst="chevron">
          <a:avLst>
            <a:gd name="adj" fmla="val 4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11700A-BBAA-42A9-917B-63350AB4255C}">
      <dsp:nvSpPr>
        <dsp:cNvPr id="0" name=""/>
        <dsp:cNvSpPr/>
      </dsp:nvSpPr>
      <dsp:spPr>
        <a:xfrm>
          <a:off x="898204" y="213070"/>
          <a:ext cx="2840075" cy="852283"/>
        </a:xfrm>
        <a:prstGeom prst="roundRect">
          <a:avLst>
            <a:gd name="adj" fmla="val 10000"/>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Observe</a:t>
          </a:r>
        </a:p>
      </dsp:txBody>
      <dsp:txXfrm>
        <a:off x="923167" y="238033"/>
        <a:ext cx="2790149" cy="802357"/>
      </dsp:txXfrm>
    </dsp:sp>
    <dsp:sp modelId="{1067899F-33B4-491C-B69D-476224B9506A}">
      <dsp:nvSpPr>
        <dsp:cNvPr id="0" name=""/>
        <dsp:cNvSpPr/>
      </dsp:nvSpPr>
      <dsp:spPr>
        <a:xfrm>
          <a:off x="3842914" y="0"/>
          <a:ext cx="3363247" cy="852283"/>
        </a:xfrm>
        <a:prstGeom prst="chevron">
          <a:avLst>
            <a:gd name="adj" fmla="val 4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34EE4A-B7B4-4E1E-8449-49872BBBF2B1}">
      <dsp:nvSpPr>
        <dsp:cNvPr id="0" name=""/>
        <dsp:cNvSpPr/>
      </dsp:nvSpPr>
      <dsp:spPr>
        <a:xfrm>
          <a:off x="4739780" y="213070"/>
          <a:ext cx="2840075" cy="852283"/>
        </a:xfrm>
        <a:prstGeom prst="roundRect">
          <a:avLst>
            <a:gd name="adj" fmla="val 10000"/>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Analyze</a:t>
          </a:r>
        </a:p>
      </dsp:txBody>
      <dsp:txXfrm>
        <a:off x="4764743" y="238033"/>
        <a:ext cx="2790149" cy="802357"/>
      </dsp:txXfrm>
    </dsp:sp>
    <dsp:sp modelId="{44309A0F-9A2A-4650-84CF-CAAB96393DA0}">
      <dsp:nvSpPr>
        <dsp:cNvPr id="0" name=""/>
        <dsp:cNvSpPr/>
      </dsp:nvSpPr>
      <dsp:spPr>
        <a:xfrm>
          <a:off x="7684490" y="0"/>
          <a:ext cx="3363247" cy="852283"/>
        </a:xfrm>
        <a:prstGeom prst="chevron">
          <a:avLst>
            <a:gd name="adj" fmla="val 4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F1B3E8-DBE2-4A1E-A7D3-9504D758FDF0}">
      <dsp:nvSpPr>
        <dsp:cNvPr id="0" name=""/>
        <dsp:cNvSpPr/>
      </dsp:nvSpPr>
      <dsp:spPr>
        <a:xfrm>
          <a:off x="8581356" y="213070"/>
          <a:ext cx="2840075" cy="852283"/>
        </a:xfrm>
        <a:prstGeom prst="roundRect">
          <a:avLst>
            <a:gd name="adj" fmla="val 10000"/>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Act</a:t>
          </a:r>
        </a:p>
      </dsp:txBody>
      <dsp:txXfrm>
        <a:off x="8606319" y="238033"/>
        <a:ext cx="2790149" cy="802357"/>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kubernetes.io/docs/concepts/configuration/taint-and-toleration/"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kubernetes.io/docs/concepts/configuration/assign-pod-node/"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kubernetes.io/docs/concepts/configuration/pod-priority-preemption/"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talking about scheduling, there are a few more resource type we have to take a look at (briefly): </a:t>
            </a:r>
            <a:r>
              <a:rPr lang="en-US" dirty="0" err="1"/>
              <a:t>daemonSet</a:t>
            </a:r>
            <a:r>
              <a:rPr lang="en-US" dirty="0"/>
              <a:t>, jobs (&amp; </a:t>
            </a:r>
            <a:r>
              <a:rPr lang="en-US" dirty="0" err="1"/>
              <a:t>cronJobs</a:t>
            </a:r>
            <a:r>
              <a:rPr lang="en-US" dirty="0"/>
              <a:t>)</a:t>
            </a:r>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2458248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job is a single or a set of pods which runs until completed successfully (usually exit code 0). Failed pods can be restarted based on the restart policy. </a:t>
            </a:r>
          </a:p>
          <a:p>
            <a:r>
              <a:rPr lang="en-US" dirty="0">
                <a:sym typeface="Wingdings" panose="05000000000000000000" pitchFamily="2" charset="2"/>
              </a:rPr>
              <a:t> Jobs are a way to run pods in a reliable way.</a:t>
            </a:r>
            <a:endParaRPr lang="en-US" dirty="0"/>
          </a:p>
          <a:p>
            <a:r>
              <a:rPr lang="en-US" dirty="0"/>
              <a:t>With the job resource type you can run tasks with a defined end/ no control loop.</a:t>
            </a:r>
          </a:p>
          <a:p>
            <a:endParaRPr lang="en-US" dirty="0"/>
          </a:p>
          <a:p>
            <a:r>
              <a:rPr lang="en-US" dirty="0"/>
              <a:t>Instances of a job (pods) </a:t>
            </a:r>
            <a:r>
              <a:rPr lang="en-US"/>
              <a:t>can also run </a:t>
            </a:r>
            <a:r>
              <a:rPr lang="en-US" dirty="0"/>
              <a:t>parallel</a:t>
            </a:r>
          </a:p>
          <a:p>
            <a:endParaRPr lang="en-US" dirty="0"/>
          </a:p>
          <a:p>
            <a:r>
              <a:rPr lang="en-US" dirty="0"/>
              <a:t>More details can be found here: https://kubernetes.io/docs/concepts/workloads/controllers/jobs-run-to-completion/</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4035114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dirty="0" err="1"/>
              <a:t>daemonset</a:t>
            </a:r>
            <a:r>
              <a:rPr lang="en-US" dirty="0"/>
              <a:t> works almost similar to a deployment. However the replica count is determined by the number of cluster nodes. The </a:t>
            </a:r>
            <a:r>
              <a:rPr lang="en-US" dirty="0" err="1"/>
              <a:t>daemonset</a:t>
            </a:r>
            <a:r>
              <a:rPr lang="en-US" dirty="0"/>
              <a:t> controller will ensure that a corresponding pod is running on each node.</a:t>
            </a:r>
          </a:p>
          <a:p>
            <a:r>
              <a:rPr lang="en-US" dirty="0"/>
              <a:t>Of course this behavior can be influenced by taints etc. – more details can be found here: https://kubernetes.io/docs/concepts/workloads/controllers/daemonset/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880637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know most of the Kubernetes resources / objects, let’s take a look at the (pod) scheduling mechanism.</a:t>
            </a:r>
          </a:p>
        </p:txBody>
      </p:sp>
      <p:sp>
        <p:nvSpPr>
          <p:cNvPr id="4" name="Slide Number Placeholder 3"/>
          <p:cNvSpPr>
            <a:spLocks noGrp="1"/>
          </p:cNvSpPr>
          <p:nvPr>
            <p:ph type="sldNum" sz="quarter" idx="10"/>
          </p:nvPr>
        </p:nvSpPr>
        <p:spPr/>
        <p:txBody>
          <a:bodyPr/>
          <a:lstStyle/>
          <a:p>
            <a:fld id="{7D8C2C35-2B8A-446E-BEC0-FD36716C29AC}" type="slidenum">
              <a:rPr lang="en-US" smtClean="0"/>
              <a:pPr/>
              <a:t>4</a:t>
            </a:fld>
            <a:endParaRPr lang="en-US" dirty="0"/>
          </a:p>
        </p:txBody>
      </p:sp>
    </p:spTree>
    <p:extLst>
      <p:ext uri="{BB962C8B-B14F-4D97-AF65-F5344CB8AC3E}">
        <p14:creationId xmlns:p14="http://schemas.microsoft.com/office/powerpoint/2010/main" val="1673942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multiple ways, to influence where pods are scheduled:</a:t>
            </a:r>
          </a:p>
          <a:p>
            <a:pPr marL="285750" indent="-285750">
              <a:buFontTx/>
              <a:buChar char="-"/>
            </a:pPr>
            <a:r>
              <a:rPr lang="en-US" dirty="0"/>
              <a:t>Taints &amp; tolerations: a node is tainted and only pods explicitly tolerating the taint will be scheduled</a:t>
            </a:r>
          </a:p>
          <a:p>
            <a:pPr marL="285750" indent="-285750">
              <a:buFontTx/>
              <a:buChar char="-"/>
            </a:pPr>
            <a:r>
              <a:rPr lang="en-US" dirty="0"/>
              <a:t>Node selector: specify a node “type” by label to assign a pod to certain node pool</a:t>
            </a:r>
          </a:p>
          <a:p>
            <a:pPr marL="285750" indent="-285750">
              <a:buFontTx/>
              <a:buChar char="-"/>
            </a:pPr>
            <a:r>
              <a:rPr lang="en-US" dirty="0"/>
              <a:t>Pod affinity: explicitly schedule a pod on a node where certain pod is already running</a:t>
            </a:r>
          </a:p>
          <a:p>
            <a:pPr marL="285750" indent="-285750">
              <a:buFontTx/>
              <a:buChar char="-"/>
            </a:pPr>
            <a:r>
              <a:rPr lang="en-US" dirty="0"/>
              <a:t>Pod anti-affinity: don’t schedule on a node, where a certain pod is already running</a:t>
            </a:r>
          </a:p>
          <a:p>
            <a:pPr marL="285750" indent="-285750">
              <a:buFontTx/>
              <a:buChar char="-"/>
            </a:pPr>
            <a:endParaRPr lang="en-US" dirty="0"/>
          </a:p>
          <a:p>
            <a:pPr marL="0" indent="0">
              <a:buFontTx/>
              <a:buNone/>
            </a:pPr>
            <a:r>
              <a:rPr lang="en-US" dirty="0"/>
              <a:t>This is just a quick primer for what is possible. More on this can be found in the Kubernetes Documentation at </a:t>
            </a:r>
            <a:r>
              <a:rPr lang="en-US" dirty="0">
                <a:hlinkClick r:id="rId3"/>
              </a:rPr>
              <a:t>https://kubernetes.io/docs/concepts/configuration/taint-and-toleration/</a:t>
            </a:r>
            <a:r>
              <a:rPr lang="en-US" dirty="0"/>
              <a:t> and </a:t>
            </a:r>
            <a:r>
              <a:rPr lang="en-US" dirty="0">
                <a:hlinkClick r:id="rId4"/>
              </a:rPr>
              <a:t>https://kubernetes.io/docs/concepts/configuration/assign-pod-node/</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195966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 can be categorized by their priority to the system / user:</a:t>
            </a:r>
          </a:p>
          <a:p>
            <a:pPr marL="342900" indent="-342900">
              <a:buAutoNum type="arabicPeriod"/>
            </a:pPr>
            <a:r>
              <a:rPr lang="en-US" dirty="0"/>
              <a:t>Create a priority class</a:t>
            </a:r>
          </a:p>
          <a:p>
            <a:pPr marL="342900" indent="-342900">
              <a:buAutoNum type="arabicPeriod"/>
            </a:pPr>
            <a:r>
              <a:rPr lang="en-US" dirty="0"/>
              <a:t>Assign the priority class to the pod as part of the pod spec</a:t>
            </a:r>
          </a:p>
          <a:p>
            <a:endParaRPr lang="en-US" dirty="0"/>
          </a:p>
          <a:p>
            <a:r>
              <a:rPr lang="en-US" dirty="0"/>
              <a:t>Effect of a priority class assignment:</a:t>
            </a:r>
          </a:p>
          <a:p>
            <a:pPr marL="285750" indent="-285750">
              <a:buFontTx/>
              <a:buChar char="-"/>
            </a:pPr>
            <a:r>
              <a:rPr lang="en-US" dirty="0"/>
              <a:t>As long as enough capacity (CPU, memory) is available, there is no effect (other than the scheduler gives priority when processing the queue)</a:t>
            </a:r>
          </a:p>
          <a:p>
            <a:pPr marL="285750" indent="-285750">
              <a:buFontTx/>
              <a:buChar char="-"/>
            </a:pPr>
            <a:r>
              <a:rPr lang="en-US" dirty="0"/>
              <a:t>When there is a resource shortage, pods with a higher priority will be handled this way:</a:t>
            </a:r>
          </a:p>
          <a:p>
            <a:pPr marL="465750" lvl="1" indent="-285750">
              <a:buFontTx/>
              <a:buChar char="-"/>
            </a:pPr>
            <a:r>
              <a:rPr lang="en-US" dirty="0"/>
              <a:t>Assess resource requirements</a:t>
            </a:r>
          </a:p>
          <a:p>
            <a:pPr marL="465750" lvl="1" indent="-285750">
              <a:buFontTx/>
              <a:buChar char="-"/>
            </a:pPr>
            <a:r>
              <a:rPr lang="en-US" dirty="0"/>
              <a:t>Remove pods of lower priority from a node until high priority pod can be scheduled</a:t>
            </a:r>
          </a:p>
          <a:p>
            <a:pPr marL="465750" lvl="1" indent="-285750">
              <a:buFontTx/>
              <a:buChar char="-"/>
            </a:pPr>
            <a:r>
              <a:rPr lang="en-US" dirty="0"/>
              <a:t>This behavior is known as “preemption”</a:t>
            </a:r>
          </a:p>
          <a:p>
            <a:pPr marL="465750" lvl="1" indent="-285750">
              <a:buFontTx/>
              <a:buChar char="-"/>
            </a:pPr>
            <a:endParaRPr lang="en-US" dirty="0"/>
          </a:p>
          <a:p>
            <a:r>
              <a:rPr lang="en-US" dirty="0"/>
              <a:t>Read more about it here: </a:t>
            </a:r>
            <a:r>
              <a:rPr lang="de-DE" dirty="0">
                <a:hlinkClick r:id="rId3"/>
              </a:rPr>
              <a:t>https://kubernetes.io/docs/concepts/configuration/pod-priority-preemption/</a:t>
            </a:r>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2569416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classes are cluster-wide (i.e. not namespace) resources. The “value” indicates the importance and is used to find preemption targets (i.e. pods with no or a lower priority)</a:t>
            </a:r>
          </a:p>
          <a:p>
            <a:endParaRPr lang="en-US" dirty="0"/>
          </a:p>
          <a:p>
            <a:r>
              <a:rPr lang="en-US" dirty="0"/>
              <a:t>There can be many priority classes in a cluster but only one as “</a:t>
            </a:r>
            <a:r>
              <a:rPr lang="de-DE" dirty="0" err="1"/>
              <a:t>globalDefault</a:t>
            </a:r>
            <a:r>
              <a:rPr lang="de-DE" dirty="0"/>
              <a:t>“.</a:t>
            </a:r>
          </a:p>
          <a:p>
            <a:endParaRPr lang="de-DE" dirty="0"/>
          </a:p>
          <a:p>
            <a:r>
              <a:rPr lang="de-DE" b="1" dirty="0"/>
              <a:t>Optional Demo:</a:t>
            </a:r>
            <a:r>
              <a:rPr lang="de-DE" dirty="0"/>
              <a:t> </a:t>
            </a:r>
          </a:p>
          <a:p>
            <a:r>
              <a:rPr lang="de-DE" dirty="0" err="1"/>
              <a:t>Within</a:t>
            </a:r>
            <a:r>
              <a:rPr lang="de-DE" dirty="0"/>
              <a:t> Gardener </a:t>
            </a:r>
            <a:r>
              <a:rPr lang="de-DE" dirty="0" err="1"/>
              <a:t>clusters</a:t>
            </a:r>
            <a:r>
              <a:rPr lang="de-DE" dirty="0"/>
              <a:t> </a:t>
            </a:r>
            <a:r>
              <a:rPr lang="de-DE" dirty="0" err="1"/>
              <a:t>there</a:t>
            </a:r>
            <a:r>
              <a:rPr lang="de-DE" dirty="0"/>
              <a:t> </a:t>
            </a:r>
            <a:r>
              <a:rPr lang="de-DE" dirty="0" err="1"/>
              <a:t>are</a:t>
            </a:r>
            <a:r>
              <a:rPr lang="de-DE" dirty="0"/>
              <a:t> 2 </a:t>
            </a:r>
            <a:r>
              <a:rPr lang="de-DE" dirty="0" err="1"/>
              <a:t>default</a:t>
            </a:r>
            <a:r>
              <a:rPr lang="de-DE" dirty="0"/>
              <a:t> </a:t>
            </a:r>
            <a:r>
              <a:rPr lang="de-DE" dirty="0" err="1"/>
              <a:t>priority</a:t>
            </a:r>
            <a:r>
              <a:rPr lang="de-DE" dirty="0"/>
              <a:t> </a:t>
            </a:r>
            <a:r>
              <a:rPr lang="de-DE" dirty="0" err="1"/>
              <a:t>classes</a:t>
            </a:r>
            <a:r>
              <a:rPr lang="de-DE" dirty="0"/>
              <a:t> „system-cluster-</a:t>
            </a:r>
            <a:r>
              <a:rPr lang="de-DE" dirty="0" err="1"/>
              <a:t>critical</a:t>
            </a:r>
            <a:r>
              <a:rPr lang="de-DE" dirty="0"/>
              <a:t>“ and „system-</a:t>
            </a:r>
            <a:r>
              <a:rPr lang="de-DE" dirty="0" err="1"/>
              <a:t>node</a:t>
            </a:r>
            <a:r>
              <a:rPr lang="de-DE" dirty="0"/>
              <a:t>-</a:t>
            </a:r>
            <a:r>
              <a:rPr lang="de-DE" dirty="0" err="1"/>
              <a:t>critical</a:t>
            </a:r>
            <a:r>
              <a:rPr lang="de-DE" dirty="0"/>
              <a:t>“. </a:t>
            </a:r>
            <a:r>
              <a:rPr lang="de-DE" dirty="0" err="1"/>
              <a:t>Have</a:t>
            </a:r>
            <a:r>
              <a:rPr lang="de-DE" dirty="0"/>
              <a:t> a </a:t>
            </a:r>
            <a:r>
              <a:rPr lang="de-DE" dirty="0" err="1"/>
              <a:t>look</a:t>
            </a:r>
            <a:r>
              <a:rPr lang="de-DE" dirty="0"/>
              <a:t> </a:t>
            </a:r>
            <a:r>
              <a:rPr lang="de-DE" dirty="0" err="1"/>
              <a:t>into</a:t>
            </a:r>
            <a:r>
              <a:rPr lang="de-DE" dirty="0"/>
              <a:t> </a:t>
            </a:r>
            <a:r>
              <a:rPr lang="de-DE" dirty="0" err="1"/>
              <a:t>pods</a:t>
            </a:r>
            <a:r>
              <a:rPr lang="de-DE" dirty="0"/>
              <a:t> in </a:t>
            </a:r>
            <a:r>
              <a:rPr lang="de-DE" dirty="0" err="1"/>
              <a:t>kube</a:t>
            </a:r>
            <a:r>
              <a:rPr lang="de-DE" dirty="0"/>
              <a:t>-system </a:t>
            </a:r>
            <a:r>
              <a:rPr lang="de-DE" dirty="0" err="1"/>
              <a:t>namespace</a:t>
            </a:r>
            <a:r>
              <a:rPr lang="de-DE" dirty="0"/>
              <a:t> and check, </a:t>
            </a:r>
            <a:r>
              <a:rPr lang="de-DE" dirty="0" err="1"/>
              <a:t>which</a:t>
            </a:r>
            <a:r>
              <a:rPr lang="de-DE" dirty="0"/>
              <a:t> </a:t>
            </a:r>
            <a:r>
              <a:rPr lang="de-DE" dirty="0" err="1"/>
              <a:t>priority</a:t>
            </a:r>
            <a:r>
              <a:rPr lang="de-DE" dirty="0"/>
              <a:t> </a:t>
            </a:r>
            <a:r>
              <a:rPr lang="de-DE" dirty="0" err="1"/>
              <a:t>classes</a:t>
            </a:r>
            <a:r>
              <a:rPr lang="de-DE" dirty="0"/>
              <a:t> </a:t>
            </a:r>
            <a:r>
              <a:rPr lang="de-DE" dirty="0" err="1"/>
              <a:t>are</a:t>
            </a:r>
            <a:r>
              <a:rPr lang="de-DE" dirty="0"/>
              <a:t> </a:t>
            </a:r>
            <a:r>
              <a:rPr lang="de-DE" dirty="0" err="1"/>
              <a:t>assigned</a:t>
            </a:r>
            <a:r>
              <a:rPr lang="de-DE" dirty="0"/>
              <a:t> </a:t>
            </a:r>
            <a:r>
              <a:rPr lang="de-DE" dirty="0" err="1"/>
              <a:t>to</a:t>
            </a:r>
            <a:r>
              <a:rPr lang="de-DE" dirty="0"/>
              <a:t> </a:t>
            </a:r>
            <a:r>
              <a:rPr lang="de-DE" dirty="0" err="1"/>
              <a:t>kube</a:t>
            </a:r>
            <a:r>
              <a:rPr lang="de-DE" dirty="0"/>
              <a:t>-proxy </a:t>
            </a:r>
            <a:r>
              <a:rPr lang="de-DE" dirty="0" err="1"/>
              <a:t>or</a:t>
            </a:r>
            <a:r>
              <a:rPr lang="de-DE" dirty="0"/>
              <a:t> </a:t>
            </a:r>
            <a:r>
              <a:rPr lang="de-DE" dirty="0" err="1"/>
              <a:t>calico-node</a:t>
            </a:r>
            <a:r>
              <a:rPr lang="de-DE" dirty="0"/>
              <a:t> </a:t>
            </a:r>
            <a:r>
              <a:rPr lang="de-DE" dirty="0" err="1"/>
              <a:t>pods</a:t>
            </a:r>
            <a:r>
              <a:rPr lang="de-DE" dirty="0"/>
              <a:t> (</a:t>
            </a:r>
            <a:r>
              <a:rPr lang="de-DE" dirty="0" err="1"/>
              <a:t>both</a:t>
            </a:r>
            <a:r>
              <a:rPr lang="de-DE" dirty="0"/>
              <a:t> </a:t>
            </a:r>
            <a:r>
              <a:rPr lang="de-DE" dirty="0" err="1"/>
              <a:t>managed</a:t>
            </a:r>
            <a:r>
              <a:rPr lang="de-DE" dirty="0"/>
              <a:t> </a:t>
            </a:r>
            <a:r>
              <a:rPr lang="de-DE" dirty="0" err="1"/>
              <a:t>by</a:t>
            </a:r>
            <a:r>
              <a:rPr lang="de-DE" dirty="0"/>
              <a:t> </a:t>
            </a:r>
            <a:r>
              <a:rPr lang="de-DE" dirty="0" err="1"/>
              <a:t>respective</a:t>
            </a:r>
            <a:r>
              <a:rPr lang="de-DE" dirty="0"/>
              <a:t> </a:t>
            </a:r>
            <a:r>
              <a:rPr lang="de-DE" dirty="0" err="1"/>
              <a:t>daemonsets</a:t>
            </a:r>
            <a:r>
              <a:rPr lang="de-DE" dirty="0"/>
              <a:t>). </a:t>
            </a:r>
          </a:p>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624819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lvl="0" indent="0">
              <a:buFontTx/>
              <a:buNone/>
            </a:pPr>
            <a:r>
              <a:rPr lang="en-US" dirty="0"/>
              <a:t>Custom scheduler - this Demo is optional!</a:t>
            </a:r>
          </a:p>
          <a:p>
            <a:pPr marL="0" lvl="0" indent="0">
              <a:buFontTx/>
              <a:buNone/>
            </a:pPr>
            <a:endParaRPr lang="en-US" dirty="0"/>
          </a:p>
          <a:p>
            <a:pPr marL="0" lvl="0" indent="0">
              <a:buFontTx/>
              <a:buNone/>
            </a:pPr>
            <a:r>
              <a:rPr lang="en-US" dirty="0"/>
              <a:t>If regular scheduling doesn’t fit to your requirements, you can build a custom scheduler. It’s somewhat similar to the operator concept where you write your own control loop. </a:t>
            </a:r>
          </a:p>
          <a:p>
            <a:pPr marL="0" lvl="0" indent="0">
              <a:buFontTx/>
              <a:buNone/>
            </a:pPr>
            <a:r>
              <a:rPr lang="en-US" dirty="0"/>
              <a:t>All you need is to</a:t>
            </a:r>
          </a:p>
          <a:p>
            <a:pPr marL="285750" lvl="0" indent="-285750">
              <a:buFontTx/>
              <a:buChar char="-"/>
            </a:pPr>
            <a:r>
              <a:rPr lang="en-US" dirty="0"/>
              <a:t>a name the scheduler can be referenced by</a:t>
            </a:r>
          </a:p>
          <a:p>
            <a:pPr marL="285750" lvl="0" indent="-285750">
              <a:buFontTx/>
              <a:buChar char="-"/>
            </a:pPr>
            <a:r>
              <a:rPr lang="en-US" dirty="0"/>
              <a:t>A control loop watching the API for unscheduled pods referencing the scheduler by name</a:t>
            </a:r>
          </a:p>
          <a:p>
            <a:pPr marL="285750" lvl="0" indent="-285750">
              <a:buFontTx/>
              <a:buChar char="-"/>
            </a:pPr>
            <a:r>
              <a:rPr lang="en-US" dirty="0"/>
              <a:t>Access to the cluster API to run the loop and post the bindings</a:t>
            </a:r>
          </a:p>
          <a:p>
            <a:pPr marL="285750" lvl="0" indent="-285750">
              <a:buFontTx/>
              <a:buChar char="-"/>
            </a:pPr>
            <a:endParaRPr lang="en-US" dirty="0"/>
          </a:p>
          <a:p>
            <a:pPr marL="0" lvl="0" indent="0">
              <a:buFontTx/>
              <a:buNone/>
            </a:pPr>
            <a:r>
              <a:rPr lang="en-US" dirty="0"/>
              <a:t>Demo :</a:t>
            </a:r>
          </a:p>
          <a:p>
            <a:pPr marL="285750" lvl="0" indent="-285750">
              <a:buFontTx/>
              <a:buChar char="-"/>
            </a:pPr>
            <a:r>
              <a:rPr lang="en-US" dirty="0" err="1"/>
              <a:t>kubectl</a:t>
            </a:r>
            <a:r>
              <a:rPr lang="en-US" dirty="0"/>
              <a:t> proxy &amp;</a:t>
            </a:r>
          </a:p>
          <a:p>
            <a:pPr marL="285750" lvl="0" indent="-285750">
              <a:buFontTx/>
              <a:buChar char="-"/>
            </a:pPr>
            <a:r>
              <a:rPr lang="en-US" dirty="0"/>
              <a:t>Create the deployment 11d_custom_scheduler_deployment.yaml</a:t>
            </a:r>
          </a:p>
          <a:p>
            <a:pPr marL="285750" lvl="0" indent="-285750">
              <a:buFontTx/>
              <a:buChar char="-"/>
            </a:pPr>
            <a:r>
              <a:rPr lang="en-US" dirty="0"/>
              <a:t>Show the pod with the specified scheduler name &amp; run a “describe” on it. Highlight the missing default scheduling event </a:t>
            </a:r>
            <a:r>
              <a:rPr lang="en-US" dirty="0">
                <a:sym typeface="Wingdings" panose="05000000000000000000" pitchFamily="2" charset="2"/>
              </a:rPr>
              <a:t> the default scheduler doesn’t pick it up</a:t>
            </a:r>
            <a:endParaRPr lang="en-US" dirty="0"/>
          </a:p>
          <a:p>
            <a:pPr marL="285750" lvl="0" indent="-285750">
              <a:buFontTx/>
              <a:buChar char="-"/>
            </a:pPr>
            <a:r>
              <a:rPr lang="en-US" dirty="0"/>
              <a:t>Run “./11e_custom_scheduler.sh &lt;your-target-namespace&gt;” to start the scheduling loop</a:t>
            </a:r>
          </a:p>
          <a:p>
            <a:pPr marL="285750" lvl="0" indent="-285750">
              <a:buFontTx/>
              <a:buChar char="-"/>
            </a:pPr>
            <a:r>
              <a:rPr lang="en-US" dirty="0"/>
              <a:t>Show the scheduled pods</a:t>
            </a:r>
          </a:p>
          <a:p>
            <a:pPr marL="0" lvl="0" indent="0">
              <a:buFontTx/>
              <a:buNone/>
            </a:pPr>
            <a:endParaRPr lang="en-US" dirty="0"/>
          </a:p>
          <a:p>
            <a:pPr marL="0" lvl="0" indent="0">
              <a:buFontTx/>
              <a:buNone/>
            </a:pPr>
            <a:r>
              <a:rPr lang="en-US" dirty="0"/>
              <a:t>Instead of running the scheduler locally you could also run it within the cluster – simply pack it into a docker image and use it with a deployment.</a:t>
            </a:r>
          </a:p>
          <a:p>
            <a:pPr marL="285750" lvl="0" indent="-285750">
              <a:buFontTx/>
              <a:buChar char="-"/>
            </a:pP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2127571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is extensible in many different ways. One of the most powerful concepts is the introduction of custom resources and corresponding control loops (usually called “operators”).</a:t>
            </a:r>
          </a:p>
        </p:txBody>
      </p:sp>
      <p:sp>
        <p:nvSpPr>
          <p:cNvPr id="4" name="Slide Number Placeholder 3"/>
          <p:cNvSpPr>
            <a:spLocks noGrp="1"/>
          </p:cNvSpPr>
          <p:nvPr>
            <p:ph type="sldNum" sz="quarter" idx="10"/>
          </p:nvPr>
        </p:nvSpPr>
        <p:spPr/>
        <p:txBody>
          <a:bodyPr/>
          <a:lstStyle/>
          <a:p>
            <a:fld id="{7D8C2C35-2B8A-446E-BEC0-FD36716C29AC}" type="slidenum">
              <a:rPr lang="en-US" smtClean="0"/>
              <a:pPr/>
              <a:t>10</a:t>
            </a:fld>
            <a:endParaRPr lang="en-US" dirty="0"/>
          </a:p>
        </p:txBody>
      </p:sp>
    </p:spTree>
    <p:extLst>
      <p:ext uri="{BB962C8B-B14F-4D97-AF65-F5344CB8AC3E}">
        <p14:creationId xmlns:p14="http://schemas.microsoft.com/office/powerpoint/2010/main" val="3042135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About controller &amp; the operator pattern:</a:t>
            </a:r>
          </a:p>
          <a:p>
            <a:r>
              <a:rPr lang="en-US" dirty="0"/>
              <a:t>In the beginning of our course we said: “Kubernetes is extensible”. You cannot only bring your workloads into container and onto Kubernetes, you can also enhance the way Kubernetes is working. We start with the simplest way of doing so – writing a “controller” or “operator”. It basically consists of 3 logical parts:</a:t>
            </a:r>
          </a:p>
          <a:p>
            <a:pPr marL="342900" indent="-342900">
              <a:buAutoNum type="arabicParenR"/>
            </a:pPr>
            <a:r>
              <a:rPr lang="en-US" dirty="0"/>
              <a:t>Observe - write a control loop, checking certain objects for their state.</a:t>
            </a:r>
          </a:p>
          <a:p>
            <a:pPr marL="342900" indent="-342900">
              <a:buAutoNum type="arabicParenR"/>
            </a:pPr>
            <a:r>
              <a:rPr lang="en-US" dirty="0"/>
              <a:t>Analyze – check the current state against a desired state (may be stored in a different resource, outside of the cluster, hardcoded, …) </a:t>
            </a:r>
          </a:p>
          <a:p>
            <a:pPr marL="342900" indent="-342900">
              <a:buAutoNum type="arabicParenR"/>
            </a:pPr>
            <a:r>
              <a:rPr lang="en-US" dirty="0"/>
              <a:t>Action – if there’s a difference between desired &amp; current state, the controller should act and trigger a defined action to bring the observed objects into the desired state</a:t>
            </a:r>
          </a:p>
          <a:p>
            <a:endParaRPr lang="en-US" dirty="0"/>
          </a:p>
          <a:p>
            <a:r>
              <a:rPr lang="en-US" dirty="0"/>
              <a:t>Lets combine the controller/operator with another powerful mechanism in the K8s realm: “Custom Resource Definition/Object” API (CRD / CRO)</a:t>
            </a:r>
          </a:p>
          <a:p>
            <a:r>
              <a:rPr lang="en-US" dirty="0"/>
              <a:t>CRDs allow you to specify your own objects and integrate them with the K8s API (like a deployment or PVC). Once you defined a CRD, you can start to create objects of that type. But only if you have an operator watching for these objects, something will happen.</a:t>
            </a:r>
          </a:p>
          <a:p>
            <a:endParaRPr lang="en-US" dirty="0"/>
          </a:p>
          <a:p>
            <a:r>
              <a:rPr lang="en-US" dirty="0"/>
              <a:t>Example:</a:t>
            </a:r>
          </a:p>
          <a:p>
            <a:r>
              <a:rPr lang="en-US" dirty="0"/>
              <a:t>You want to run a distributed database on K8s. The actual instances are wrapped into a deployment. However for actions like backup or scaling, you would need to logon to each pod and prepare it manually. A possible solution would be to put scripts into the container images and trigger them. But it still is a manual action to trigger. </a:t>
            </a:r>
          </a:p>
          <a:p>
            <a:r>
              <a:rPr lang="en-US" dirty="0"/>
              <a:t>Instead writing a controller, that watch for certain annotations in the resources metadata is a very valid option. The controller could not only process the action associated with these annotations but also update them.</a:t>
            </a:r>
          </a:p>
          <a:p>
            <a:endParaRPr lang="en-US" dirty="0"/>
          </a:p>
          <a:p>
            <a:r>
              <a:rPr lang="en-US" dirty="0"/>
              <a:t>A slightly different approach would be to go with an API extension via CRD. Define a representation of your database as a custom resource definition and write an operator that observes/analyzes/acts on objects of this type.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373502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SteakfulSet</a:t>
            </a:r>
            <a:r>
              <a:rPr lang="en-US"/>
              <a:t> (pun </a:t>
            </a:r>
            <a:r>
              <a:rPr lang="en-US" dirty="0"/>
              <a:t>intended)</a:t>
            </a:r>
          </a:p>
          <a:p>
            <a:endParaRPr lang="en-US" dirty="0"/>
          </a:p>
          <a:p>
            <a:r>
              <a:rPr lang="en-US" dirty="0"/>
              <a:t>The </a:t>
            </a:r>
            <a:r>
              <a:rPr lang="en-US" dirty="0" err="1"/>
              <a:t>SteakfulSet</a:t>
            </a:r>
            <a:r>
              <a:rPr lang="en-US" dirty="0"/>
              <a:t> is a custom resource and it is meant to show that custom resources can model almost anything, even food.</a:t>
            </a:r>
          </a:p>
          <a:p>
            <a:endParaRPr lang="en-US" dirty="0"/>
          </a:p>
          <a:p>
            <a:r>
              <a:rPr lang="en-US" dirty="0"/>
              <a:t>The CRD on the left introduces the </a:t>
            </a:r>
            <a:r>
              <a:rPr lang="en-US" dirty="0" err="1"/>
              <a:t>SteakfulSet</a:t>
            </a:r>
            <a:r>
              <a:rPr lang="en-US" dirty="0"/>
              <a:t> resource to the cluster. I will be in the API ground </a:t>
            </a:r>
            <a:r>
              <a:rPr lang="en-US" dirty="0" err="1"/>
              <a:t>food.training.sap</a:t>
            </a:r>
            <a:r>
              <a:rPr lang="en-US" dirty="0"/>
              <a:t> with version v1. It can be referred to by its singular and plural names or by the short name </a:t>
            </a:r>
            <a:r>
              <a:rPr lang="en-US" dirty="0" err="1"/>
              <a:t>stks</a:t>
            </a:r>
            <a:r>
              <a:rPr lang="en-US" dirty="0"/>
              <a:t>.</a:t>
            </a:r>
          </a:p>
          <a:p>
            <a:endParaRPr lang="en-US" dirty="0"/>
          </a:p>
          <a:p>
            <a:r>
              <a:rPr lang="en-US" dirty="0"/>
              <a:t>The openAPIV3Schema sets the structure of a </a:t>
            </a:r>
            <a:r>
              <a:rPr lang="en-US" dirty="0" err="1"/>
              <a:t>SteakfulSet</a:t>
            </a:r>
            <a:r>
              <a:rPr lang="en-US" dirty="0"/>
              <a:t> resource, i.e. which fields of which type it is made up of. The API server then will automatically validate the structure of any </a:t>
            </a:r>
            <a:r>
              <a:rPr lang="en-US" dirty="0" err="1"/>
              <a:t>SteakfulSet</a:t>
            </a:r>
            <a:r>
              <a:rPr lang="en-US" dirty="0"/>
              <a:t> resource created and reject it, if it does not comply with the given schema.</a:t>
            </a:r>
          </a:p>
          <a:p>
            <a:endParaRPr lang="en-US" dirty="0"/>
          </a:p>
          <a:p>
            <a:r>
              <a:rPr lang="en-US" dirty="0"/>
              <a:t>Once this CRD is deployed to a cluster, it would actually accept </a:t>
            </a:r>
            <a:r>
              <a:rPr lang="en-US" dirty="0" err="1"/>
              <a:t>SteakfulSet</a:t>
            </a:r>
            <a:r>
              <a:rPr lang="en-US" dirty="0"/>
              <a:t> resources as given on the right.</a:t>
            </a:r>
          </a:p>
          <a:p>
            <a:endParaRPr lang="en-DE"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1586761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Optionally you can show this demo</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Firstly, try to create the custom resource object (09_cro.yaml). It will fail, as the cluster </a:t>
            </a:r>
            <a:r>
              <a:rPr lang="en-US" baseline="0" dirty="0" err="1"/>
              <a:t>api</a:t>
            </a:r>
            <a:r>
              <a:rPr lang="en-US" baseline="0" dirty="0"/>
              <a:t> doesn’t know about this resource type</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Create the custom resource definition (09_crd.yaml). Show the </a:t>
            </a:r>
            <a:r>
              <a:rPr lang="en-US" baseline="0" dirty="0" err="1"/>
              <a:t>yaml</a:t>
            </a:r>
            <a:r>
              <a:rPr lang="en-US" baseline="0" dirty="0"/>
              <a:t> and explain the spec</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Group: this is path in the </a:t>
            </a:r>
            <a:r>
              <a:rPr lang="en-US" baseline="0" dirty="0" err="1"/>
              <a:t>api</a:t>
            </a:r>
            <a:r>
              <a:rPr lang="en-US" baseline="0" dirty="0"/>
              <a:t> (like apps or apiextensions.k8s.io)</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Version: version of the </a:t>
            </a:r>
            <a:r>
              <a:rPr lang="en-US" baseline="0" dirty="0" err="1"/>
              <a:t>api</a:t>
            </a:r>
            <a:r>
              <a:rPr lang="en-US" baseline="0" dirty="0"/>
              <a:t> objects in this group (like v1 or v1beta1)</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Scope: objects can exist within a namespace like pods or outside like nodes</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Names: names for the object, can also include a short version like </a:t>
            </a:r>
            <a:r>
              <a:rPr lang="en-US" baseline="0" dirty="0" err="1"/>
              <a:t>pvc</a:t>
            </a:r>
            <a:r>
              <a:rPr lang="en-US" baseline="0" dirty="0"/>
              <a:t> for </a:t>
            </a:r>
            <a:r>
              <a:rPr lang="en-US" baseline="0" dirty="0" err="1"/>
              <a:t>persistentvolumeclaim</a:t>
            </a:r>
            <a:endParaRPr lang="en-US" baseline="0" dirty="0"/>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Validation: this is the definition of the objects structure and how to validate it. The example requires the training object with properties name and participants</a:t>
            </a:r>
          </a:p>
          <a:p>
            <a:pPr marL="465750" marR="0" lvl="1" indent="-285750" algn="l" defTabSz="1088776" rtl="0" eaLnBrk="1" fontAlgn="auto" latinLnBrk="0" hangingPunct="1">
              <a:lnSpc>
                <a:spcPct val="100000"/>
              </a:lnSpc>
              <a:spcBef>
                <a:spcPts val="0"/>
              </a:spcBef>
              <a:spcAft>
                <a:spcPts val="0"/>
              </a:spcAft>
              <a:buClrTx/>
              <a:buSzTx/>
              <a:buFontTx/>
              <a:buChar char="-"/>
              <a:tabLst/>
              <a:defRPr/>
            </a:pPr>
            <a:endParaRPr lang="en-US" baseline="0" dirty="0"/>
          </a:p>
          <a:p>
            <a:pPr marL="180000" marR="0" lvl="1" indent="0" algn="l" defTabSz="1088776" rtl="0" eaLnBrk="1" fontAlgn="auto" latinLnBrk="0" hangingPunct="1">
              <a:lnSpc>
                <a:spcPct val="100000"/>
              </a:lnSpc>
              <a:spcBef>
                <a:spcPts val="0"/>
              </a:spcBef>
              <a:spcAft>
                <a:spcPts val="0"/>
              </a:spcAft>
              <a:buClrTx/>
              <a:buSzTx/>
              <a:buFontTx/>
              <a:buNone/>
              <a:tabLst/>
              <a:defRPr/>
            </a:pPr>
            <a:r>
              <a:rPr lang="en-US" baseline="0" dirty="0"/>
              <a:t>To move on one could write an operator – for the </a:t>
            </a:r>
            <a:r>
              <a:rPr lang="en-US" baseline="0" dirty="0" err="1"/>
              <a:t>SteakfulSet</a:t>
            </a:r>
            <a:r>
              <a:rPr lang="en-US" baseline="0" dirty="0"/>
              <a:t>, there actually is a simple (demo-) implementation of an operator at https://github.wdf.sap.corp/slvi/crd-controller-demo.</a:t>
            </a:r>
          </a:p>
          <a:p>
            <a:pPr marL="180000" marR="0" lvl="1" indent="0" algn="l" defTabSz="1088776" rtl="0" eaLnBrk="1" fontAlgn="auto" latinLnBrk="0" hangingPunct="1">
              <a:lnSpc>
                <a:spcPct val="100000"/>
              </a:lnSpc>
              <a:spcBef>
                <a:spcPts val="0"/>
              </a:spcBef>
              <a:spcAft>
                <a:spcPts val="0"/>
              </a:spcAft>
              <a:buClrTx/>
              <a:buSzTx/>
              <a:buFontTx/>
              <a:buNone/>
              <a:tabLst/>
              <a:defRPr/>
            </a:pPr>
            <a:endParaRPr lang="en-US" baseline="0" dirty="0"/>
          </a:p>
          <a:p>
            <a:pPr marL="180000" marR="0" lvl="1" indent="0" algn="l" defTabSz="1088776" rtl="0" eaLnBrk="1" fontAlgn="auto" latinLnBrk="0" hangingPunct="1">
              <a:lnSpc>
                <a:spcPct val="100000"/>
              </a:lnSpc>
              <a:spcBef>
                <a:spcPts val="0"/>
              </a:spcBef>
              <a:spcAft>
                <a:spcPts val="0"/>
              </a:spcAft>
              <a:buClrTx/>
              <a:buSzTx/>
              <a:buFontTx/>
              <a:buNone/>
              <a:tabLst/>
              <a:defRPr/>
            </a:pPr>
            <a:r>
              <a:rPr lang="en-US" baseline="0" dirty="0"/>
              <a:t>A real life example is how Gardener manages the shoot clusters. When you create a new Gardener cluster, actually a </a:t>
            </a:r>
            <a:r>
              <a:rPr lang="en-US" baseline="0" dirty="0" err="1"/>
              <a:t>yaml</a:t>
            </a:r>
            <a:r>
              <a:rPr lang="en-US" baseline="0" dirty="0"/>
              <a:t> file is generated and send to the seed clusters </a:t>
            </a:r>
            <a:r>
              <a:rPr lang="en-US" baseline="0" dirty="0" err="1"/>
              <a:t>api</a:t>
            </a:r>
            <a:r>
              <a:rPr lang="en-US" baseline="0" dirty="0"/>
              <a:t> server. The operator evaluates it and triggers corresponding actions.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15</a:t>
            </a:fld>
            <a:endParaRPr lang="de-DE" dirty="0"/>
          </a:p>
        </p:txBody>
      </p:sp>
    </p:spTree>
    <p:extLst>
      <p:ext uri="{BB962C8B-B14F-4D97-AF65-F5344CB8AC3E}">
        <p14:creationId xmlns:p14="http://schemas.microsoft.com/office/powerpoint/2010/main" val="549751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16</a:t>
            </a:fld>
            <a:endParaRPr lang="en-US" dirty="0"/>
          </a:p>
        </p:txBody>
      </p:sp>
    </p:spTree>
    <p:extLst>
      <p:ext uri="{BB962C8B-B14F-4D97-AF65-F5344CB8AC3E}">
        <p14:creationId xmlns:p14="http://schemas.microsoft.com/office/powerpoint/2010/main" val="1582342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3466716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18</a:t>
            </a:fld>
            <a:endParaRPr lang="de-DE" dirty="0"/>
          </a:p>
        </p:txBody>
      </p:sp>
    </p:spTree>
    <p:extLst>
      <p:ext uri="{BB962C8B-B14F-4D97-AF65-F5344CB8AC3E}">
        <p14:creationId xmlns:p14="http://schemas.microsoft.com/office/powerpoint/2010/main" val="157809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Optional demo: </a:t>
            </a:r>
          </a:p>
          <a:p>
            <a:r>
              <a:rPr lang="en-US" baseline="0" dirty="0"/>
              <a:t>To access the cluster’s dashboard, use the Gardener UI or port-forward the to dashboard pod (example: </a:t>
            </a:r>
            <a:r>
              <a:rPr lang="en-US" baseline="0" dirty="0" err="1"/>
              <a:t>kubectl</a:t>
            </a:r>
            <a:r>
              <a:rPr lang="en-US" baseline="0" dirty="0"/>
              <a:t> port-forward -n </a:t>
            </a:r>
            <a:r>
              <a:rPr lang="en-US" baseline="0" dirty="0" err="1"/>
              <a:t>kube</a:t>
            </a:r>
            <a:r>
              <a:rPr lang="en-US" baseline="0" dirty="0"/>
              <a:t>-system addons-kubernetes-dashboard-5486b968b7-zf62b 8443:8443)</a:t>
            </a:r>
          </a:p>
          <a:p>
            <a:endParaRPr lang="en-US" baseline="0" dirty="0"/>
          </a:p>
          <a:p>
            <a:r>
              <a:rPr lang="en-US" baseline="0" dirty="0"/>
              <a:t>Demo the dashboard</a:t>
            </a:r>
          </a:p>
          <a:p>
            <a:r>
              <a:rPr lang="en-US" baseline="0" dirty="0"/>
              <a:t>- Show status info &amp; utilization of nodes</a:t>
            </a:r>
          </a:p>
          <a:p>
            <a:r>
              <a:rPr lang="en-US" dirty="0"/>
              <a:t>- Show deployments</a:t>
            </a:r>
            <a:r>
              <a:rPr lang="en-US" baseline="0" dirty="0"/>
              <a:t> </a:t>
            </a:r>
            <a:r>
              <a:rPr lang="en-US" dirty="0"/>
              <a:t>&amp; services and how to create a new</a:t>
            </a:r>
            <a:r>
              <a:rPr lang="en-US" baseline="0" dirty="0"/>
              <a:t> deployment</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19</a:t>
            </a:fld>
            <a:endParaRPr lang="de-DE" dirty="0"/>
          </a:p>
        </p:txBody>
      </p:sp>
    </p:spTree>
    <p:extLst>
      <p:ext uri="{BB962C8B-B14F-4D97-AF65-F5344CB8AC3E}">
        <p14:creationId xmlns:p14="http://schemas.microsoft.com/office/powerpoint/2010/main" val="30526252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20</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en-US"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7.svg"/><Relationship Id="rId5" Type="http://schemas.openxmlformats.org/officeDocument/2006/relationships/image" Target="../media/image16.png"/><Relationship Id="rId10" Type="http://schemas.microsoft.com/office/2007/relationships/hdphoto" Target="../media/hdphoto2.wdp"/><Relationship Id="rId4" Type="http://schemas.openxmlformats.org/officeDocument/2006/relationships/image" Target="../media/image15.sv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hyperlink" Target="https://kubernetes.io/docs/concepts/configuration/pod-priority-preemption/" TargetMode="Externa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hyperlink" Target="https://twitter.com/tranchitellad/status/1197774209977597952?s=20" TargetMode="External"/><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27.png"/><Relationship Id="rId1" Type="http://schemas.openxmlformats.org/officeDocument/2006/relationships/slideLayout" Target="../slideLayouts/slideLayout9.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hyperlink" Target="https://xkcd.com/970/"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err="1">
                <a:solidFill>
                  <a:schemeClr val="accent1"/>
                </a:solidFill>
              </a:rPr>
              <a:t>DaemonSets</a:t>
            </a:r>
            <a:r>
              <a:rPr lang="en-US" dirty="0">
                <a:solidFill>
                  <a:schemeClr val="accent1"/>
                </a:solidFill>
              </a:rPr>
              <a:t> &amp; Jobs</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2"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llustration" descr="Example of an illustration" title="Illustration for title slide">
            <a:extLst>
              <a:ext uri="{FF2B5EF4-FFF2-40B4-BE49-F238E27FC236}">
                <a16:creationId xmlns:a16="http://schemas.microsoft.com/office/drawing/2014/main" id="{CDBA1D1D-EB82-467B-BE26-980F1DC9F7E9}"/>
              </a:ext>
            </a:extLst>
          </p:cNvPr>
          <p:cNvPicPr>
            <a:picLocks noGrp="1" noChangeAspect="1"/>
          </p:cNvPicPr>
          <p:nvPr>
            <p:ph type="pic" sz="quarter" idx="12"/>
          </p:nvPr>
        </p:nvPicPr>
        <p:blipFill>
          <a:blip r:embed="rId4"/>
          <a:srcRect t="3112" b="3112"/>
          <a:stretch>
            <a:fillRect/>
          </a:stretch>
        </p:blipFill>
        <p:spPr bwMode="gray">
          <a:xfrm>
            <a:off x="0" y="0"/>
            <a:ext cx="12195174" cy="3430006"/>
          </a:xfrm>
        </p:spPr>
      </p:pic>
    </p:spTree>
    <p:extLst>
      <p:ext uri="{BB962C8B-B14F-4D97-AF65-F5344CB8AC3E}">
        <p14:creationId xmlns:p14="http://schemas.microsoft.com/office/powerpoint/2010/main" val="163878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557E297D-7B46-446E-B019-BAB0A8F143BB}"/>
              </a:ext>
            </a:extLst>
          </p:cNvPr>
          <p:cNvSpPr/>
          <p:nvPr/>
        </p:nvSpPr>
        <p:spPr bwMode="gray">
          <a:xfrm>
            <a:off x="602460" y="1696296"/>
            <a:ext cx="3184843" cy="3948366"/>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err="1">
                <a:ln>
                  <a:noFill/>
                </a:ln>
                <a:effectLst/>
                <a:uLnTx/>
                <a:uFillTx/>
                <a:ea typeface="Arial Unicode MS" pitchFamily="34" charset="-128"/>
                <a:cs typeface="Arial Unicode MS" pitchFamily="34" charset="-128"/>
              </a:rPr>
              <a:t>CronJob</a:t>
            </a:r>
            <a:endParaRPr kumimoji="0" lang="en-US" sz="20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7" name="Rectangle: Rounded Corners 16">
            <a:extLst>
              <a:ext uri="{FF2B5EF4-FFF2-40B4-BE49-F238E27FC236}">
                <a16:creationId xmlns:a16="http://schemas.microsoft.com/office/drawing/2014/main" id="{7708F0DC-E3E8-41CB-9B4E-C99E440BD9B2}"/>
              </a:ext>
            </a:extLst>
          </p:cNvPr>
          <p:cNvSpPr/>
          <p:nvPr/>
        </p:nvSpPr>
        <p:spPr bwMode="gray">
          <a:xfrm>
            <a:off x="725477" y="2428182"/>
            <a:ext cx="2949776" cy="1978268"/>
          </a:xfrm>
          <a:prstGeom prst="roundRect">
            <a:avLst/>
          </a:prstGeom>
          <a:solidFill>
            <a:schemeClr val="accent1">
              <a:lumMod val="60000"/>
              <a:lumOff val="40000"/>
            </a:schemeClr>
          </a:solidFill>
          <a:ln w="6350" algn="ctr">
            <a:no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Job</a:t>
            </a:r>
          </a:p>
        </p:txBody>
      </p:sp>
      <p:sp>
        <p:nvSpPr>
          <p:cNvPr id="2" name="Title 1">
            <a:extLst>
              <a:ext uri="{FF2B5EF4-FFF2-40B4-BE49-F238E27FC236}">
                <a16:creationId xmlns:a16="http://schemas.microsoft.com/office/drawing/2014/main" id="{79A3867E-5C44-4F73-A818-77DC474E4F16}"/>
              </a:ext>
            </a:extLst>
          </p:cNvPr>
          <p:cNvSpPr>
            <a:spLocks noGrp="1"/>
          </p:cNvSpPr>
          <p:nvPr>
            <p:ph type="title"/>
          </p:nvPr>
        </p:nvSpPr>
        <p:spPr/>
        <p:txBody>
          <a:bodyPr/>
          <a:lstStyle/>
          <a:p>
            <a:r>
              <a:rPr lang="en-US" dirty="0"/>
              <a:t>Job &amp; </a:t>
            </a:r>
            <a:r>
              <a:rPr lang="en-US" dirty="0" err="1"/>
              <a:t>CronJob</a:t>
            </a:r>
            <a:endParaRPr lang="en-US" dirty="0"/>
          </a:p>
        </p:txBody>
      </p:sp>
      <p:pic>
        <p:nvPicPr>
          <p:cNvPr id="5" name="Graphic 4" descr="Alarm Clock">
            <a:extLst>
              <a:ext uri="{FF2B5EF4-FFF2-40B4-BE49-F238E27FC236}">
                <a16:creationId xmlns:a16="http://schemas.microsoft.com/office/drawing/2014/main" id="{044084AF-52CD-4D9B-9537-EAC3C1CB02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8973" y="4484562"/>
            <a:ext cx="914400" cy="914400"/>
          </a:xfrm>
          <a:prstGeom prst="rect">
            <a:avLst/>
          </a:prstGeom>
        </p:spPr>
      </p:pic>
      <p:pic>
        <p:nvPicPr>
          <p:cNvPr id="7" name="Graphic 6" descr="Daily Calendar">
            <a:extLst>
              <a:ext uri="{FF2B5EF4-FFF2-40B4-BE49-F238E27FC236}">
                <a16:creationId xmlns:a16="http://schemas.microsoft.com/office/drawing/2014/main" id="{C574A738-D8EF-40D0-8B36-1FE7AC4C50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94881" y="4484562"/>
            <a:ext cx="914400" cy="914400"/>
          </a:xfrm>
          <a:prstGeom prst="rect">
            <a:avLst/>
          </a:prstGeom>
        </p:spPr>
      </p:pic>
      <p:pic>
        <p:nvPicPr>
          <p:cNvPr id="9" name="Graphic 8" descr="Warning">
            <a:extLst>
              <a:ext uri="{FF2B5EF4-FFF2-40B4-BE49-F238E27FC236}">
                <a16:creationId xmlns:a16="http://schemas.microsoft.com/office/drawing/2014/main" id="{858368F5-DB96-4236-A0FA-F0ADEA23403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53034" y="2062035"/>
            <a:ext cx="914400" cy="914400"/>
          </a:xfrm>
          <a:prstGeom prst="rect">
            <a:avLst/>
          </a:prstGeom>
        </p:spPr>
      </p:pic>
      <p:pic>
        <p:nvPicPr>
          <p:cNvPr id="11" name="Graphic 10" descr="Checkmark">
            <a:extLst>
              <a:ext uri="{FF2B5EF4-FFF2-40B4-BE49-F238E27FC236}">
                <a16:creationId xmlns:a16="http://schemas.microsoft.com/office/drawing/2014/main" id="{C313D2C8-090B-44A5-83A8-D9D1E57B73E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72978" y="4112311"/>
            <a:ext cx="914400" cy="914400"/>
          </a:xfrm>
          <a:prstGeom prst="rect">
            <a:avLst/>
          </a:prstGeom>
        </p:spPr>
      </p:pic>
      <p:pic>
        <p:nvPicPr>
          <p:cNvPr id="15" name="Graphic 14" descr="Arrow: Slight curve">
            <a:extLst>
              <a:ext uri="{FF2B5EF4-FFF2-40B4-BE49-F238E27FC236}">
                <a16:creationId xmlns:a16="http://schemas.microsoft.com/office/drawing/2014/main" id="{312A76A1-D589-4B37-83A2-DE70121C238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10320" y="2683084"/>
            <a:ext cx="1807237" cy="1807237"/>
          </a:xfrm>
          <a:prstGeom prst="rect">
            <a:avLst/>
          </a:prstGeom>
        </p:spPr>
      </p:pic>
      <p:sp>
        <p:nvSpPr>
          <p:cNvPr id="16" name="Rectangle 15">
            <a:extLst>
              <a:ext uri="{FF2B5EF4-FFF2-40B4-BE49-F238E27FC236}">
                <a16:creationId xmlns:a16="http://schemas.microsoft.com/office/drawing/2014/main" id="{FC7DAD24-7589-4286-BB49-360C4826BF00}"/>
              </a:ext>
            </a:extLst>
          </p:cNvPr>
          <p:cNvSpPr/>
          <p:nvPr/>
        </p:nvSpPr>
        <p:spPr bwMode="gray">
          <a:xfrm>
            <a:off x="5948001" y="3119669"/>
            <a:ext cx="1356852" cy="934065"/>
          </a:xfrm>
          <a:prstGeom prst="rect">
            <a:avLst/>
          </a:prstGeom>
          <a:solidFill>
            <a:schemeClr val="bg2">
              <a:lumMod val="60000"/>
              <a:lumOff val="40000"/>
            </a:schemeClr>
          </a:solidFill>
          <a:ln>
            <a:solidFill>
              <a:schemeClr val="bg1"/>
            </a:solidFill>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rPr>
              <a:t>Pod</a:t>
            </a:r>
          </a:p>
        </p:txBody>
      </p:sp>
      <p:sp>
        <p:nvSpPr>
          <p:cNvPr id="18" name="Rectangle 17">
            <a:extLst>
              <a:ext uri="{FF2B5EF4-FFF2-40B4-BE49-F238E27FC236}">
                <a16:creationId xmlns:a16="http://schemas.microsoft.com/office/drawing/2014/main" id="{AAC7CD80-8A94-4547-AF14-FCCBD9D8D8AB}"/>
              </a:ext>
            </a:extLst>
          </p:cNvPr>
          <p:cNvSpPr/>
          <p:nvPr/>
        </p:nvSpPr>
        <p:spPr bwMode="gray">
          <a:xfrm>
            <a:off x="837105" y="3591780"/>
            <a:ext cx="2726520" cy="486666"/>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solidFill>
                  <a:schemeClr val="dk1"/>
                </a:solidFill>
                <a:ea typeface="Arial Unicode MS" pitchFamily="34" charset="-128"/>
              </a:rPr>
              <a:t>PodSpecTemplate</a:t>
            </a:r>
            <a:endParaRPr lang="en-US" sz="1800" kern="0" dirty="0">
              <a:solidFill>
                <a:schemeClr val="dk1"/>
              </a:solidFill>
              <a:ea typeface="Arial Unicode MS" pitchFamily="34" charset="-128"/>
            </a:endParaRPr>
          </a:p>
        </p:txBody>
      </p:sp>
      <p:sp>
        <p:nvSpPr>
          <p:cNvPr id="19" name="Rectangle 18">
            <a:extLst>
              <a:ext uri="{FF2B5EF4-FFF2-40B4-BE49-F238E27FC236}">
                <a16:creationId xmlns:a16="http://schemas.microsoft.com/office/drawing/2014/main" id="{9D660193-0DF1-4A86-B49C-C1B3D70075A6}"/>
              </a:ext>
            </a:extLst>
          </p:cNvPr>
          <p:cNvSpPr/>
          <p:nvPr/>
        </p:nvSpPr>
        <p:spPr bwMode="gray">
          <a:xfrm>
            <a:off x="831622" y="2998120"/>
            <a:ext cx="2726520" cy="486666"/>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solidFill>
                  <a:schemeClr val="dk1"/>
                </a:solidFill>
                <a:ea typeface="Arial Unicode MS" pitchFamily="34" charset="-128"/>
              </a:rPr>
              <a:t>JobSpec</a:t>
            </a:r>
            <a:endParaRPr lang="en-US" sz="1800" kern="0" dirty="0">
              <a:solidFill>
                <a:schemeClr val="dk1"/>
              </a:solidFill>
              <a:ea typeface="Arial Unicode MS" pitchFamily="34" charset="-128"/>
            </a:endParaRPr>
          </a:p>
        </p:txBody>
      </p:sp>
      <p:pic>
        <p:nvPicPr>
          <p:cNvPr id="20" name="Graphic 19" descr="Arrow: Slight curve">
            <a:extLst>
              <a:ext uri="{FF2B5EF4-FFF2-40B4-BE49-F238E27FC236}">
                <a16:creationId xmlns:a16="http://schemas.microsoft.com/office/drawing/2014/main" id="{C2B1B27F-315E-43CA-B1DD-2AC899C3428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35297" y="2683084"/>
            <a:ext cx="1807237" cy="1807237"/>
          </a:xfrm>
          <a:prstGeom prst="rect">
            <a:avLst/>
          </a:prstGeom>
        </p:spPr>
      </p:pic>
      <p:pic>
        <p:nvPicPr>
          <p:cNvPr id="21" name="Graphic 20" descr="Arrow: Slight curve">
            <a:extLst>
              <a:ext uri="{FF2B5EF4-FFF2-40B4-BE49-F238E27FC236}">
                <a16:creationId xmlns:a16="http://schemas.microsoft.com/office/drawing/2014/main" id="{3773ABA9-DE2B-4082-B40A-F93EFC5321C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0800000">
            <a:off x="7528686" y="1312432"/>
            <a:ext cx="1807237" cy="1807237"/>
          </a:xfrm>
          <a:prstGeom prst="rect">
            <a:avLst/>
          </a:prstGeom>
        </p:spPr>
      </p:pic>
      <p:sp>
        <p:nvSpPr>
          <p:cNvPr id="22" name="Speech Bubble: Rectangle 21">
            <a:extLst>
              <a:ext uri="{FF2B5EF4-FFF2-40B4-BE49-F238E27FC236}">
                <a16:creationId xmlns:a16="http://schemas.microsoft.com/office/drawing/2014/main" id="{4AE32203-9AB4-471C-8B9D-49FACB1A819C}"/>
              </a:ext>
            </a:extLst>
          </p:cNvPr>
          <p:cNvSpPr/>
          <p:nvPr/>
        </p:nvSpPr>
        <p:spPr bwMode="gray">
          <a:xfrm>
            <a:off x="5253984" y="5262395"/>
            <a:ext cx="4101737" cy="725167"/>
          </a:xfrm>
          <a:prstGeom prst="wedgeRectCallout">
            <a:avLst>
              <a:gd name="adj1" fmla="val 49211"/>
              <a:gd name="adj2" fmla="val -1608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Pod terminates successfully – Job is considered ok / complete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3" name="Title 1">
            <a:extLst>
              <a:ext uri="{FF2B5EF4-FFF2-40B4-BE49-F238E27FC236}">
                <a16:creationId xmlns:a16="http://schemas.microsoft.com/office/drawing/2014/main" id="{08B53A76-3C14-4E6B-A892-CCA5F14A0679}"/>
              </a:ext>
            </a:extLst>
          </p:cNvPr>
          <p:cNvSpPr txBox="1">
            <a:spLocks/>
          </p:cNvSpPr>
          <p:nvPr/>
        </p:nvSpPr>
        <p:spPr bwMode="gray">
          <a:xfrm>
            <a:off x="9523048" y="3402035"/>
            <a:ext cx="1718785" cy="369332"/>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1" kern="1200" baseline="0">
                <a:solidFill>
                  <a:schemeClr val="tx1"/>
                </a:solidFill>
                <a:latin typeface="+mj-lt"/>
                <a:ea typeface="+mj-ea"/>
                <a:cs typeface="+mj-cs"/>
              </a:defRPr>
            </a:lvl1pPr>
          </a:lstStyle>
          <a:p>
            <a:r>
              <a:rPr lang="en-US" dirty="0"/>
              <a:t>exit(??)</a:t>
            </a:r>
          </a:p>
        </p:txBody>
      </p:sp>
      <p:sp>
        <p:nvSpPr>
          <p:cNvPr id="24" name="Speech Bubble: Rectangle 23">
            <a:extLst>
              <a:ext uri="{FF2B5EF4-FFF2-40B4-BE49-F238E27FC236}">
                <a16:creationId xmlns:a16="http://schemas.microsoft.com/office/drawing/2014/main" id="{B51628FA-1849-4F62-A7A2-DB06358049AA}"/>
              </a:ext>
            </a:extLst>
          </p:cNvPr>
          <p:cNvSpPr/>
          <p:nvPr/>
        </p:nvSpPr>
        <p:spPr bwMode="gray">
          <a:xfrm>
            <a:off x="6097239" y="693565"/>
            <a:ext cx="4101737" cy="725167"/>
          </a:xfrm>
          <a:prstGeom prst="wedgeRectCallout">
            <a:avLst>
              <a:gd name="adj1" fmla="val 41923"/>
              <a:gd name="adj2" fmla="val 13135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If exit code != 0 </a:t>
            </a:r>
            <a:r>
              <a:rPr lang="en-US" sz="1800" kern="0" dirty="0">
                <a:ea typeface="Arial Unicode MS" pitchFamily="34" charset="-128"/>
                <a:cs typeface="Arial Unicode MS" pitchFamily="34" charset="-128"/>
                <a:sym typeface="Wingdings" panose="05000000000000000000" pitchFamily="2" charset="2"/>
              </a:rPr>
              <a:t> consider pod as failed and restart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153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5E113C-816E-4160-9494-A5DB0947D1E0}"/>
              </a:ext>
            </a:extLst>
          </p:cNvPr>
          <p:cNvSpPr>
            <a:spLocks noGrp="1"/>
          </p:cNvSpPr>
          <p:nvPr>
            <p:ph type="title"/>
          </p:nvPr>
        </p:nvSpPr>
        <p:spPr>
          <a:xfrm>
            <a:off x="504001" y="504000"/>
            <a:ext cx="11186476" cy="369332"/>
          </a:xfrm>
        </p:spPr>
        <p:txBody>
          <a:bodyPr/>
          <a:lstStyle/>
          <a:p>
            <a:pPr fontAlgn="base">
              <a:spcBef>
                <a:spcPct val="50000"/>
              </a:spcBef>
              <a:spcAft>
                <a:spcPct val="0"/>
              </a:spcAft>
              <a:buClr>
                <a:srgbClr val="F0AB00"/>
              </a:buClr>
              <a:buSzPct val="80000"/>
            </a:pPr>
            <a:r>
              <a:rPr lang="en-US" kern="0" dirty="0">
                <a:ea typeface="Arial Unicode MS" pitchFamily="34" charset="-128"/>
                <a:cs typeface="Arial Unicode MS" pitchFamily="34" charset="-128"/>
              </a:rPr>
              <a:t>Some components require to have a pod on every node!</a:t>
            </a:r>
            <a:endParaRPr lang="en-US" sz="2000" kern="0" dirty="0">
              <a:ea typeface="Arial Unicode MS" pitchFamily="34" charset="-128"/>
              <a:cs typeface="Arial Unicode MS" pitchFamily="34" charset="-128"/>
            </a:endParaRPr>
          </a:p>
        </p:txBody>
      </p:sp>
      <p:sp>
        <p:nvSpPr>
          <p:cNvPr id="16" name="Rectangle 15">
            <a:extLst>
              <a:ext uri="{FF2B5EF4-FFF2-40B4-BE49-F238E27FC236}">
                <a16:creationId xmlns:a16="http://schemas.microsoft.com/office/drawing/2014/main" id="{B26BC8F1-9AB4-4D8E-B93C-C8FE13F7368F}"/>
              </a:ext>
            </a:extLst>
          </p:cNvPr>
          <p:cNvSpPr/>
          <p:nvPr/>
        </p:nvSpPr>
        <p:spPr bwMode="gray">
          <a:xfrm>
            <a:off x="1875212" y="3692770"/>
            <a:ext cx="2259498" cy="2752516"/>
          </a:xfrm>
          <a:prstGeom prst="rect">
            <a:avLst/>
          </a:prstGeom>
          <a:solidFill>
            <a:schemeClr val="bg1">
              <a:lumMod val="85000"/>
            </a:schemeClr>
          </a:solidFill>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Node</a:t>
            </a:r>
            <a:r>
              <a:rPr lang="de-DE" sz="2400" b="1" kern="0" dirty="0">
                <a:ea typeface="Arial Unicode MS" pitchFamily="34" charset="-128"/>
                <a:cs typeface="Arial Unicode MS" pitchFamily="34" charset="-128"/>
              </a:rPr>
              <a:t> A</a:t>
            </a:r>
          </a:p>
        </p:txBody>
      </p:sp>
      <p:sp>
        <p:nvSpPr>
          <p:cNvPr id="19" name="Rectangle 18">
            <a:extLst>
              <a:ext uri="{FF2B5EF4-FFF2-40B4-BE49-F238E27FC236}">
                <a16:creationId xmlns:a16="http://schemas.microsoft.com/office/drawing/2014/main" id="{E47909A0-9E36-47F0-9250-3DD040D8A256}"/>
              </a:ext>
            </a:extLst>
          </p:cNvPr>
          <p:cNvSpPr/>
          <p:nvPr/>
        </p:nvSpPr>
        <p:spPr bwMode="gray">
          <a:xfrm>
            <a:off x="4355594" y="3692770"/>
            <a:ext cx="2259498" cy="2752516"/>
          </a:xfrm>
          <a:prstGeom prst="rect">
            <a:avLst/>
          </a:prstGeom>
          <a:solidFill>
            <a:schemeClr val="bg1">
              <a:lumMod val="85000"/>
            </a:schemeClr>
          </a:solidFill>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rPr>
              <a:t>Node</a:t>
            </a:r>
            <a:r>
              <a:rPr lang="de-DE" sz="2400" b="1" kern="0" dirty="0">
                <a:ea typeface="Arial Unicode MS" pitchFamily="34" charset="-128"/>
              </a:rPr>
              <a:t> B</a:t>
            </a:r>
          </a:p>
        </p:txBody>
      </p:sp>
      <p:sp>
        <p:nvSpPr>
          <p:cNvPr id="20" name="Rectangle 19">
            <a:extLst>
              <a:ext uri="{FF2B5EF4-FFF2-40B4-BE49-F238E27FC236}">
                <a16:creationId xmlns:a16="http://schemas.microsoft.com/office/drawing/2014/main" id="{DF438FDE-397E-4A58-BABA-D5BF0C2C2DF9}"/>
              </a:ext>
            </a:extLst>
          </p:cNvPr>
          <p:cNvSpPr/>
          <p:nvPr/>
        </p:nvSpPr>
        <p:spPr bwMode="gray">
          <a:xfrm>
            <a:off x="6835976" y="3692769"/>
            <a:ext cx="2259498" cy="2752516"/>
          </a:xfrm>
          <a:prstGeom prst="rect">
            <a:avLst/>
          </a:prstGeom>
          <a:solidFill>
            <a:schemeClr val="bg1">
              <a:lumMod val="85000"/>
            </a:schemeClr>
          </a:solidFill>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rPr>
              <a:t>Node</a:t>
            </a:r>
            <a:r>
              <a:rPr lang="de-DE" sz="2400" b="1" kern="0" dirty="0">
                <a:ea typeface="Arial Unicode MS" pitchFamily="34" charset="-128"/>
              </a:rPr>
              <a:t> C</a:t>
            </a:r>
          </a:p>
        </p:txBody>
      </p:sp>
      <p:sp>
        <p:nvSpPr>
          <p:cNvPr id="21" name="Rectangle 20">
            <a:extLst>
              <a:ext uri="{FF2B5EF4-FFF2-40B4-BE49-F238E27FC236}">
                <a16:creationId xmlns:a16="http://schemas.microsoft.com/office/drawing/2014/main" id="{D61DC354-E114-4370-9964-8F6CEC4F99FF}"/>
              </a:ext>
            </a:extLst>
          </p:cNvPr>
          <p:cNvSpPr/>
          <p:nvPr/>
        </p:nvSpPr>
        <p:spPr bwMode="gray">
          <a:xfrm>
            <a:off x="2326535" y="5351434"/>
            <a:ext cx="1356852" cy="934065"/>
          </a:xfrm>
          <a:prstGeom prst="rect">
            <a:avLst/>
          </a:prstGeom>
          <a:solidFill>
            <a:schemeClr val="bg1">
              <a:lumMod val="65000"/>
            </a:schemeClr>
          </a:solidFill>
          <a:ln>
            <a:solidFill>
              <a:schemeClr val="bg1"/>
            </a:solidFill>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ysClr val="windowText" lastClr="000000"/>
                </a:solidFill>
                <a:ea typeface="Arial Unicode MS" pitchFamily="34" charset="-128"/>
              </a:rPr>
              <a:t>monitoring</a:t>
            </a:r>
          </a:p>
        </p:txBody>
      </p:sp>
      <p:sp>
        <p:nvSpPr>
          <p:cNvPr id="22" name="Rectangle 21">
            <a:extLst>
              <a:ext uri="{FF2B5EF4-FFF2-40B4-BE49-F238E27FC236}">
                <a16:creationId xmlns:a16="http://schemas.microsoft.com/office/drawing/2014/main" id="{505D1E05-53AF-4C14-ADCD-6E48374766AD}"/>
              </a:ext>
            </a:extLst>
          </p:cNvPr>
          <p:cNvSpPr/>
          <p:nvPr/>
        </p:nvSpPr>
        <p:spPr bwMode="gray">
          <a:xfrm>
            <a:off x="4806917" y="5351434"/>
            <a:ext cx="1356852" cy="934065"/>
          </a:xfrm>
          <a:prstGeom prst="rect">
            <a:avLst/>
          </a:prstGeom>
          <a:solidFill>
            <a:schemeClr val="bg1">
              <a:lumMod val="65000"/>
            </a:schemeClr>
          </a:solidFill>
          <a:ln>
            <a:solidFill>
              <a:schemeClr val="bg1"/>
            </a:solidFill>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a:solidFill>
                  <a:sysClr val="windowText" lastClr="000000"/>
                </a:solidFill>
                <a:ea typeface="Arial Unicode MS" pitchFamily="34" charset="-128"/>
              </a:rPr>
              <a:t>monitoring</a:t>
            </a:r>
            <a:endParaRPr lang="en-US" sz="1800" kern="0" dirty="0">
              <a:solidFill>
                <a:sysClr val="windowText" lastClr="000000"/>
              </a:solidFill>
              <a:ea typeface="Arial Unicode MS" pitchFamily="34" charset="-128"/>
            </a:endParaRPr>
          </a:p>
        </p:txBody>
      </p:sp>
      <p:sp>
        <p:nvSpPr>
          <p:cNvPr id="23" name="Rectangle 22">
            <a:extLst>
              <a:ext uri="{FF2B5EF4-FFF2-40B4-BE49-F238E27FC236}">
                <a16:creationId xmlns:a16="http://schemas.microsoft.com/office/drawing/2014/main" id="{CB9654BC-A250-4344-954C-721EC7DD8667}"/>
              </a:ext>
            </a:extLst>
          </p:cNvPr>
          <p:cNvSpPr/>
          <p:nvPr/>
        </p:nvSpPr>
        <p:spPr bwMode="gray">
          <a:xfrm>
            <a:off x="7287299" y="5351434"/>
            <a:ext cx="1356852" cy="934065"/>
          </a:xfrm>
          <a:prstGeom prst="rect">
            <a:avLst/>
          </a:prstGeom>
          <a:solidFill>
            <a:schemeClr val="bg1">
              <a:lumMod val="65000"/>
            </a:schemeClr>
          </a:solidFill>
          <a:ln>
            <a:solidFill>
              <a:schemeClr val="bg1"/>
            </a:solidFill>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a:solidFill>
                  <a:sysClr val="windowText" lastClr="000000"/>
                </a:solidFill>
                <a:ea typeface="Arial Unicode MS" pitchFamily="34" charset="-128"/>
              </a:rPr>
              <a:t>monitoring</a:t>
            </a:r>
            <a:endParaRPr lang="en-US" sz="1800" kern="0" dirty="0">
              <a:solidFill>
                <a:sysClr val="windowText" lastClr="000000"/>
              </a:solidFill>
              <a:ea typeface="Arial Unicode MS" pitchFamily="34" charset="-128"/>
            </a:endParaRPr>
          </a:p>
        </p:txBody>
      </p:sp>
      <p:sp>
        <p:nvSpPr>
          <p:cNvPr id="11" name="Rectangle 10">
            <a:extLst>
              <a:ext uri="{FF2B5EF4-FFF2-40B4-BE49-F238E27FC236}">
                <a16:creationId xmlns:a16="http://schemas.microsoft.com/office/drawing/2014/main" id="{E40B32F2-3ABD-4F66-9E9A-0676C5D7D734}"/>
              </a:ext>
            </a:extLst>
          </p:cNvPr>
          <p:cNvSpPr/>
          <p:nvPr/>
        </p:nvSpPr>
        <p:spPr bwMode="gray">
          <a:xfrm>
            <a:off x="2326535" y="4239407"/>
            <a:ext cx="1356852" cy="934065"/>
          </a:xfrm>
          <a:prstGeom prst="rect">
            <a:avLst/>
          </a:prstGeom>
          <a:solidFill>
            <a:schemeClr val="bg1">
              <a:lumMod val="65000"/>
            </a:schemeClr>
          </a:solidFill>
          <a:ln>
            <a:solidFill>
              <a:schemeClr val="bg1"/>
            </a:solidFill>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solidFill>
                  <a:sysClr val="windowText" lastClr="000000"/>
                </a:solidFill>
                <a:ea typeface="Arial Unicode MS" pitchFamily="34" charset="-128"/>
                <a:cs typeface="Arial Unicode MS" pitchFamily="34" charset="-128"/>
              </a:rPr>
              <a:t>log collection</a:t>
            </a:r>
            <a:endParaRPr kumimoji="0" lang="en-US" sz="1800" b="0"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24" name="Rectangle 23">
            <a:extLst>
              <a:ext uri="{FF2B5EF4-FFF2-40B4-BE49-F238E27FC236}">
                <a16:creationId xmlns:a16="http://schemas.microsoft.com/office/drawing/2014/main" id="{B9BE8822-8ACD-484E-A044-C04B87BEB19D}"/>
              </a:ext>
            </a:extLst>
          </p:cNvPr>
          <p:cNvSpPr/>
          <p:nvPr/>
        </p:nvSpPr>
        <p:spPr bwMode="gray">
          <a:xfrm>
            <a:off x="4806917" y="4239406"/>
            <a:ext cx="1356852" cy="934065"/>
          </a:xfrm>
          <a:prstGeom prst="rect">
            <a:avLst/>
          </a:prstGeom>
          <a:solidFill>
            <a:schemeClr val="bg1">
              <a:lumMod val="65000"/>
            </a:schemeClr>
          </a:solidFill>
          <a:ln>
            <a:solidFill>
              <a:schemeClr val="bg1"/>
            </a:solidFill>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ysClr val="windowText" lastClr="000000"/>
                </a:solidFill>
                <a:ea typeface="Arial Unicode MS" pitchFamily="34" charset="-128"/>
              </a:rPr>
              <a:t>log collection</a:t>
            </a:r>
          </a:p>
        </p:txBody>
      </p:sp>
      <p:sp>
        <p:nvSpPr>
          <p:cNvPr id="25" name="Rectangle 24">
            <a:extLst>
              <a:ext uri="{FF2B5EF4-FFF2-40B4-BE49-F238E27FC236}">
                <a16:creationId xmlns:a16="http://schemas.microsoft.com/office/drawing/2014/main" id="{D887CD46-ED06-4D20-A1F2-D7029C1C3EE4}"/>
              </a:ext>
            </a:extLst>
          </p:cNvPr>
          <p:cNvSpPr/>
          <p:nvPr/>
        </p:nvSpPr>
        <p:spPr bwMode="gray">
          <a:xfrm>
            <a:off x="7287299" y="4235071"/>
            <a:ext cx="1356852" cy="934065"/>
          </a:xfrm>
          <a:prstGeom prst="rect">
            <a:avLst/>
          </a:prstGeom>
          <a:solidFill>
            <a:schemeClr val="bg1">
              <a:lumMod val="65000"/>
            </a:schemeClr>
          </a:solidFill>
          <a:ln>
            <a:solidFill>
              <a:schemeClr val="bg1"/>
            </a:solidFill>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ysClr val="windowText" lastClr="000000"/>
                </a:solidFill>
                <a:ea typeface="Arial Unicode MS" pitchFamily="34" charset="-128"/>
              </a:rPr>
              <a:t>log collection</a:t>
            </a:r>
          </a:p>
        </p:txBody>
      </p:sp>
      <p:sp>
        <p:nvSpPr>
          <p:cNvPr id="2" name="Rectangle: Rounded Corners 1">
            <a:extLst>
              <a:ext uri="{FF2B5EF4-FFF2-40B4-BE49-F238E27FC236}">
                <a16:creationId xmlns:a16="http://schemas.microsoft.com/office/drawing/2014/main" id="{FCB89E7D-4F90-4293-A76C-AEF607847820}"/>
              </a:ext>
            </a:extLst>
          </p:cNvPr>
          <p:cNvSpPr/>
          <p:nvPr/>
        </p:nvSpPr>
        <p:spPr bwMode="gray">
          <a:xfrm>
            <a:off x="4010456" y="1183023"/>
            <a:ext cx="2949776" cy="1978268"/>
          </a:xfrm>
          <a:prstGeom prst="roundRect">
            <a:avLst/>
          </a:prstGeom>
          <a:solidFill>
            <a:schemeClr val="accent1">
              <a:lumMod val="60000"/>
              <a:lumOff val="40000"/>
            </a:schemeClr>
          </a:solidFill>
          <a:ln w="6350" algn="ctr">
            <a:no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err="1">
                <a:ln>
                  <a:noFill/>
                </a:ln>
                <a:effectLst/>
                <a:uLnTx/>
                <a:uFillTx/>
                <a:ea typeface="Arial Unicode MS" pitchFamily="34" charset="-128"/>
                <a:cs typeface="Arial Unicode MS" pitchFamily="34" charset="-128"/>
              </a:rPr>
              <a:t>DaemonSet</a:t>
            </a:r>
            <a:endParaRPr kumimoji="0" lang="en-US" sz="20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3" name="Rectangle 32">
            <a:extLst>
              <a:ext uri="{FF2B5EF4-FFF2-40B4-BE49-F238E27FC236}">
                <a16:creationId xmlns:a16="http://schemas.microsoft.com/office/drawing/2014/main" id="{FC2D8782-E6C7-4898-9FF2-8A8BA40F250A}"/>
              </a:ext>
            </a:extLst>
          </p:cNvPr>
          <p:cNvSpPr/>
          <p:nvPr/>
        </p:nvSpPr>
        <p:spPr bwMode="gray">
          <a:xfrm>
            <a:off x="4134711" y="2403767"/>
            <a:ext cx="2726520" cy="486666"/>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solidFill>
                  <a:schemeClr val="dk1"/>
                </a:solidFill>
                <a:ea typeface="Arial Unicode MS" pitchFamily="34" charset="-128"/>
              </a:rPr>
              <a:t>PodSpecTemplate</a:t>
            </a:r>
            <a:endParaRPr lang="en-US" sz="1800" kern="0" dirty="0">
              <a:solidFill>
                <a:schemeClr val="dk1"/>
              </a:solidFill>
              <a:ea typeface="Arial Unicode MS" pitchFamily="34" charset="-128"/>
            </a:endParaRPr>
          </a:p>
        </p:txBody>
      </p:sp>
      <p:sp>
        <p:nvSpPr>
          <p:cNvPr id="34" name="Rectangle 33">
            <a:extLst>
              <a:ext uri="{FF2B5EF4-FFF2-40B4-BE49-F238E27FC236}">
                <a16:creationId xmlns:a16="http://schemas.microsoft.com/office/drawing/2014/main" id="{50F75D82-35E9-4050-A0EE-9F363A60D1EF}"/>
              </a:ext>
            </a:extLst>
          </p:cNvPr>
          <p:cNvSpPr/>
          <p:nvPr/>
        </p:nvSpPr>
        <p:spPr bwMode="gray">
          <a:xfrm>
            <a:off x="4134711" y="1769971"/>
            <a:ext cx="2726520" cy="486666"/>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i="0" u="none" strike="noStrike" kern="0" cap="none" spc="0" normalizeH="0" baseline="0" noProof="0" dirty="0" err="1">
                <a:ln>
                  <a:noFill/>
                </a:ln>
                <a:effectLst/>
                <a:uLnTx/>
                <a:uFillTx/>
                <a:ea typeface="Arial Unicode MS" pitchFamily="34" charset="-128"/>
                <a:cs typeface="Arial Unicode MS" pitchFamily="34" charset="-128"/>
              </a:rPr>
              <a:t>selector.matchLabels</a:t>
            </a:r>
            <a:endParaRPr kumimoji="0" lang="en-US" sz="180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4" name="Connector: Elbow 3">
            <a:extLst>
              <a:ext uri="{FF2B5EF4-FFF2-40B4-BE49-F238E27FC236}">
                <a16:creationId xmlns:a16="http://schemas.microsoft.com/office/drawing/2014/main" id="{F852EB06-86C1-4844-9585-853A6C7FF525}"/>
              </a:ext>
            </a:extLst>
          </p:cNvPr>
          <p:cNvCxnSpPr>
            <a:cxnSpLocks/>
            <a:stCxn id="2" idx="2"/>
            <a:endCxn id="16" idx="0"/>
          </p:cNvCxnSpPr>
          <p:nvPr/>
        </p:nvCxnSpPr>
        <p:spPr>
          <a:xfrm rot="5400000">
            <a:off x="3979414" y="2186839"/>
            <a:ext cx="531479" cy="2480383"/>
          </a:xfrm>
          <a:prstGeom prst="bentConnector3">
            <a:avLst>
              <a:gd name="adj1" fmla="val 50000"/>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F8AD8613-5112-4BF6-9D3E-0CA9118A0C2E}"/>
              </a:ext>
            </a:extLst>
          </p:cNvPr>
          <p:cNvCxnSpPr>
            <a:cxnSpLocks/>
            <a:stCxn id="2" idx="2"/>
            <a:endCxn id="20" idx="0"/>
          </p:cNvCxnSpPr>
          <p:nvPr/>
        </p:nvCxnSpPr>
        <p:spPr>
          <a:xfrm rot="16200000" flipH="1">
            <a:off x="6459795" y="2186839"/>
            <a:ext cx="531478" cy="2480381"/>
          </a:xfrm>
          <a:prstGeom prst="bentConnector3">
            <a:avLst>
              <a:gd name="adj1" fmla="val 50000"/>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D7652C33-5EB9-41FD-AD04-F0493D66F4A1}"/>
              </a:ext>
            </a:extLst>
          </p:cNvPr>
          <p:cNvCxnSpPr>
            <a:cxnSpLocks/>
            <a:stCxn id="2" idx="2"/>
            <a:endCxn id="19" idx="0"/>
          </p:cNvCxnSpPr>
          <p:nvPr/>
        </p:nvCxnSpPr>
        <p:spPr>
          <a:xfrm rot="5400000">
            <a:off x="5219605" y="3427030"/>
            <a:ext cx="531479" cy="1"/>
          </a:xfrm>
          <a:prstGeom prst="bentConnector3">
            <a:avLst>
              <a:gd name="adj1" fmla="val 50000"/>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Speech Bubble: Rectangle 45">
            <a:extLst>
              <a:ext uri="{FF2B5EF4-FFF2-40B4-BE49-F238E27FC236}">
                <a16:creationId xmlns:a16="http://schemas.microsoft.com/office/drawing/2014/main" id="{1FB3327E-804D-4B93-8753-55C8E28E1368}"/>
              </a:ext>
            </a:extLst>
          </p:cNvPr>
          <p:cNvSpPr/>
          <p:nvPr/>
        </p:nvSpPr>
        <p:spPr bwMode="gray">
          <a:xfrm>
            <a:off x="7677836" y="1170034"/>
            <a:ext cx="4101737" cy="469551"/>
          </a:xfrm>
          <a:prstGeom prst="wedgeRectCallout">
            <a:avLst>
              <a:gd name="adj1" fmla="val -68470"/>
              <a:gd name="adj2" fmla="val 18446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a:t>
            </a:r>
            <a:r>
              <a:rPr lang="en-US" sz="1800" kern="0" noProof="0" dirty="0" err="1">
                <a:ea typeface="Arial Unicode MS" pitchFamily="34" charset="-128"/>
                <a:cs typeface="Arial Unicode MS" pitchFamily="34" charset="-128"/>
              </a:rPr>
              <a:t>tructure</a:t>
            </a:r>
            <a:r>
              <a:rPr lang="en-US" sz="1800" kern="0" noProof="0" dirty="0">
                <a:ea typeface="Arial Unicode MS" pitchFamily="34" charset="-128"/>
                <a:cs typeface="Arial Unicode MS" pitchFamily="34" charset="-128"/>
              </a:rPr>
              <a:t> is </a:t>
            </a:r>
            <a:r>
              <a:rPr lang="en-US" sz="1800" kern="0" dirty="0">
                <a:ea typeface="Arial Unicode MS" pitchFamily="34" charset="-128"/>
                <a:cs typeface="Arial Unicode MS" pitchFamily="34" charset="-128"/>
              </a:rPr>
              <a:t>similar to deployments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7" name="Speech Bubble: Rectangle 46">
            <a:extLst>
              <a:ext uri="{FF2B5EF4-FFF2-40B4-BE49-F238E27FC236}">
                <a16:creationId xmlns:a16="http://schemas.microsoft.com/office/drawing/2014/main" id="{7942B0F9-5977-4068-99D6-04F15744086D}"/>
              </a:ext>
            </a:extLst>
          </p:cNvPr>
          <p:cNvSpPr/>
          <p:nvPr/>
        </p:nvSpPr>
        <p:spPr bwMode="gray">
          <a:xfrm>
            <a:off x="7677836" y="2403766"/>
            <a:ext cx="4101737" cy="522749"/>
          </a:xfrm>
          <a:prstGeom prst="wedgeRectCallout">
            <a:avLst>
              <a:gd name="adj1" fmla="val -64183"/>
              <a:gd name="adj2" fmla="val 113348"/>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one</a:t>
            </a:r>
            <a:r>
              <a:rPr lang="en-US" sz="1800" kern="0" noProof="0" dirty="0">
                <a:ea typeface="Arial Unicode MS" pitchFamily="34" charset="-128"/>
                <a:cs typeface="Arial Unicode MS" pitchFamily="34" charset="-128"/>
              </a:rPr>
              <a:t> pod is scheduled on each node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565916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Scheduling</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2"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llustration" descr="Example of an illustration" title="Illustration for title slide">
            <a:extLst>
              <a:ext uri="{FF2B5EF4-FFF2-40B4-BE49-F238E27FC236}">
                <a16:creationId xmlns:a16="http://schemas.microsoft.com/office/drawing/2014/main" id="{195BD3AD-0485-46D2-AEE5-17D39F99CC8F}"/>
              </a:ext>
            </a:extLst>
          </p:cNvPr>
          <p:cNvPicPr>
            <a:picLocks noGrp="1" noChangeAspect="1"/>
          </p:cNvPicPr>
          <p:nvPr>
            <p:ph type="pic" sz="quarter" idx="12"/>
          </p:nvPr>
        </p:nvPicPr>
        <p:blipFill>
          <a:blip r:embed="rId4"/>
          <a:srcRect t="3112" b="3112"/>
          <a:stretch>
            <a:fillRect/>
          </a:stretch>
        </p:blipFill>
        <p:spPr bwMode="gray">
          <a:xfrm>
            <a:off x="1" y="0"/>
            <a:ext cx="12195174" cy="3430006"/>
          </a:xfrm>
        </p:spPr>
      </p:pic>
    </p:spTree>
    <p:extLst>
      <p:ext uri="{BB962C8B-B14F-4D97-AF65-F5344CB8AC3E}">
        <p14:creationId xmlns:p14="http://schemas.microsoft.com/office/powerpoint/2010/main" val="1819205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 note on scheduling pods…</a:t>
            </a:r>
          </a:p>
        </p:txBody>
      </p:sp>
      <p:sp>
        <p:nvSpPr>
          <p:cNvPr id="4" name="Rectangle 3"/>
          <p:cNvSpPr/>
          <p:nvPr/>
        </p:nvSpPr>
        <p:spPr bwMode="gray">
          <a:xfrm>
            <a:off x="858333" y="3180802"/>
            <a:ext cx="2455957"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Node</a:t>
            </a:r>
            <a:r>
              <a:rPr lang="de-DE" sz="2400" b="1" kern="0" dirty="0">
                <a:ea typeface="Arial Unicode MS" pitchFamily="34" charset="-128"/>
                <a:cs typeface="Arial Unicode MS" pitchFamily="34" charset="-128"/>
              </a:rPr>
              <a:t> A</a:t>
            </a:r>
          </a:p>
        </p:txBody>
      </p:sp>
      <p:sp>
        <p:nvSpPr>
          <p:cNvPr id="6" name="Rectangle 5"/>
          <p:cNvSpPr/>
          <p:nvPr/>
        </p:nvSpPr>
        <p:spPr bwMode="gray">
          <a:xfrm>
            <a:off x="1486507" y="5028221"/>
            <a:ext cx="1208595" cy="773906"/>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Tolerate</a:t>
            </a:r>
            <a:r>
              <a:rPr lang="de-DE" sz="1600" b="1" kern="0" noProof="0" dirty="0">
                <a:ea typeface="Arial Unicode MS" pitchFamily="34" charset="-128"/>
                <a:cs typeface="Arial Unicode MS" pitchFamily="34" charset="-128"/>
              </a:rPr>
              <a:t> </a:t>
            </a:r>
            <a:r>
              <a:rPr lang="de-DE" sz="1600" b="1" kern="0" dirty="0">
                <a:ea typeface="Arial Unicode MS" pitchFamily="34" charset="-128"/>
                <a:cs typeface="Arial Unicode MS" pitchFamily="34" charset="-128"/>
              </a:rPr>
              <a:t>N</a:t>
            </a:r>
            <a:r>
              <a:rPr lang="de-DE" sz="1600" b="1" kern="0" noProof="0" dirty="0" err="1">
                <a:ea typeface="Arial Unicode MS" pitchFamily="34" charset="-128"/>
                <a:cs typeface="Arial Unicode MS" pitchFamily="34" charset="-128"/>
              </a:rPr>
              <a:t>oUsers</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3679643" y="3180801"/>
            <a:ext cx="3703320"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Node</a:t>
            </a:r>
            <a:r>
              <a:rPr lang="de-DE" sz="2400" b="1" kern="0" dirty="0">
                <a:ea typeface="Arial Unicode MS" pitchFamily="34" charset="-128"/>
                <a:cs typeface="Arial Unicode MS" pitchFamily="34" charset="-128"/>
              </a:rPr>
              <a:t> B</a:t>
            </a:r>
          </a:p>
        </p:txBody>
      </p:sp>
      <p:sp>
        <p:nvSpPr>
          <p:cNvPr id="9" name="Rectangle 8"/>
          <p:cNvSpPr/>
          <p:nvPr/>
        </p:nvSpPr>
        <p:spPr bwMode="gray">
          <a:xfrm>
            <a:off x="4146714" y="5028221"/>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NotWith</a:t>
            </a:r>
            <a:r>
              <a:rPr lang="de-DE" sz="1600" b="1" kern="0" noProof="0" dirty="0">
                <a:ea typeface="Arial Unicode MS" pitchFamily="34" charset="-128"/>
                <a:cs typeface="Arial Unicode MS" pitchFamily="34" charset="-128"/>
              </a:rPr>
              <a:t> Database</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1" name="Rectangle 10"/>
          <p:cNvSpPr/>
          <p:nvPr/>
        </p:nvSpPr>
        <p:spPr bwMode="gray">
          <a:xfrm>
            <a:off x="4620986" y="1141241"/>
            <a:ext cx="1820636" cy="6286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Scheduler</a:t>
            </a:r>
          </a:p>
        </p:txBody>
      </p:sp>
      <p:cxnSp>
        <p:nvCxnSpPr>
          <p:cNvPr id="12" name="Connector: Elbow 11"/>
          <p:cNvCxnSpPr>
            <a:stCxn id="11" idx="2"/>
            <a:endCxn id="4" idx="0"/>
          </p:cNvCxnSpPr>
          <p:nvPr/>
        </p:nvCxnSpPr>
        <p:spPr>
          <a:xfrm rot="5400000">
            <a:off x="3103353" y="752850"/>
            <a:ext cx="1410911" cy="3444992"/>
          </a:xfrm>
          <a:prstGeom prst="bentConnector3">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p:cNvCxnSpPr>
            <a:stCxn id="11" idx="2"/>
            <a:endCxn id="7" idx="0"/>
          </p:cNvCxnSpPr>
          <p:nvPr/>
        </p:nvCxnSpPr>
        <p:spPr>
          <a:xfrm rot="5400000">
            <a:off x="4825849" y="2475346"/>
            <a:ext cx="1410910" cy="1"/>
          </a:xfrm>
          <a:prstGeom prst="bentConnector3">
            <a:avLst>
              <a:gd name="adj1" fmla="val 50000"/>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Flowchart: Preparation 9"/>
          <p:cNvSpPr/>
          <p:nvPr/>
        </p:nvSpPr>
        <p:spPr bwMode="gray">
          <a:xfrm>
            <a:off x="1184482" y="3966818"/>
            <a:ext cx="1803657" cy="773906"/>
          </a:xfrm>
          <a:prstGeom prst="flowChartPreparation">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Taint: </a:t>
            </a:r>
            <a:r>
              <a:rPr lang="en-US" sz="1800" kern="0" noProof="0" dirty="0" err="1">
                <a:ea typeface="Arial Unicode MS" pitchFamily="34" charset="-128"/>
                <a:cs typeface="Arial Unicode MS" pitchFamily="34" charset="-128"/>
              </a:rPr>
              <a:t>NoUsers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9" name="Rectangle 18"/>
          <p:cNvSpPr/>
          <p:nvPr/>
        </p:nvSpPr>
        <p:spPr bwMode="gray">
          <a:xfrm>
            <a:off x="4146714" y="3966818"/>
            <a:ext cx="1208595" cy="773906"/>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err="1">
                <a:ln>
                  <a:noFill/>
                </a:ln>
                <a:effectLst/>
                <a:uLnTx/>
                <a:uFillTx/>
                <a:ea typeface="Arial Unicode MS" pitchFamily="34" charset="-128"/>
                <a:cs typeface="Arial Unicode MS" pitchFamily="34" charset="-128"/>
              </a:rPr>
              <a:t>OnNodeB</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2" name="Rectangle 21"/>
          <p:cNvSpPr/>
          <p:nvPr/>
        </p:nvSpPr>
        <p:spPr bwMode="gray">
          <a:xfrm>
            <a:off x="7750357" y="3180802"/>
            <a:ext cx="3703320"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Node</a:t>
            </a:r>
            <a:r>
              <a:rPr lang="de-DE" sz="2400" b="1" kern="0" dirty="0">
                <a:ea typeface="Arial Unicode MS" pitchFamily="34" charset="-128"/>
                <a:cs typeface="Arial Unicode MS" pitchFamily="34" charset="-128"/>
              </a:rPr>
              <a:t> C</a:t>
            </a:r>
          </a:p>
        </p:txBody>
      </p:sp>
      <p:sp>
        <p:nvSpPr>
          <p:cNvPr id="23" name="Rectangle 22"/>
          <p:cNvSpPr/>
          <p:nvPr/>
        </p:nvSpPr>
        <p:spPr bwMode="gray">
          <a:xfrm>
            <a:off x="8291478" y="5028221"/>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err="1">
                <a:ln>
                  <a:noFill/>
                </a:ln>
                <a:effectLst/>
                <a:uLnTx/>
                <a:uFillTx/>
                <a:ea typeface="Arial Unicode MS" pitchFamily="34" charset="-128"/>
                <a:cs typeface="Arial Unicode MS" pitchFamily="34" charset="-128"/>
              </a:rPr>
              <a:t>NotWith</a:t>
            </a:r>
            <a:r>
              <a:rPr kumimoji="0" lang="de-DE" sz="1600" b="1" i="0" u="none" strike="noStrike" kern="0" cap="none" spc="0" normalizeH="0" baseline="0" noProof="0" dirty="0">
                <a:ln>
                  <a:noFill/>
                </a:ln>
                <a:effectLst/>
                <a:uLnTx/>
                <a:uFillTx/>
                <a:ea typeface="Arial Unicode MS" pitchFamily="34" charset="-128"/>
                <a:cs typeface="Arial Unicode MS" pitchFamily="34" charset="-128"/>
              </a:rPr>
              <a:t> Database</a:t>
            </a:r>
          </a:p>
        </p:txBody>
      </p:sp>
      <p:sp>
        <p:nvSpPr>
          <p:cNvPr id="24" name="Rectangle 23"/>
          <p:cNvSpPr/>
          <p:nvPr/>
        </p:nvSpPr>
        <p:spPr bwMode="gray">
          <a:xfrm>
            <a:off x="8291478" y="3966818"/>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dirty="0">
                <a:ea typeface="Arial Unicode MS" pitchFamily="34" charset="-128"/>
                <a:cs typeface="Arial Unicode MS" pitchFamily="34" charset="-128"/>
              </a:rPr>
              <a:t>Backend </a:t>
            </a:r>
            <a:r>
              <a:rPr lang="de-DE" sz="1600" b="1" kern="0" dirty="0" err="1">
                <a:ea typeface="Arial Unicode MS" pitchFamily="34" charset="-128"/>
                <a:cs typeface="Arial Unicode MS" pitchFamily="34" charset="-128"/>
              </a:rPr>
              <a:t>With</a:t>
            </a:r>
            <a:r>
              <a:rPr lang="de-DE" sz="1600" b="1" kern="0" dirty="0">
                <a:ea typeface="Arial Unicode MS" pitchFamily="34" charset="-128"/>
                <a:cs typeface="Arial Unicode MS" pitchFamily="34" charset="-128"/>
              </a:rPr>
              <a:t> Frontend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8" name="Connector: Elbow 27"/>
          <p:cNvCxnSpPr>
            <a:stCxn id="11" idx="2"/>
            <a:endCxn id="22" idx="0"/>
          </p:cNvCxnSpPr>
          <p:nvPr/>
        </p:nvCxnSpPr>
        <p:spPr>
          <a:xfrm rot="16200000" flipH="1">
            <a:off x="6861205" y="439989"/>
            <a:ext cx="1410911" cy="4070713"/>
          </a:xfrm>
          <a:prstGeom prst="bentConnector3">
            <a:avLst>
              <a:gd name="adj1" fmla="val 50000"/>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bwMode="gray">
          <a:xfrm>
            <a:off x="5660351" y="3966818"/>
            <a:ext cx="1208595" cy="773906"/>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OnNodeB</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2" name="Rectangle 31"/>
          <p:cNvSpPr/>
          <p:nvPr/>
        </p:nvSpPr>
        <p:spPr bwMode="gray">
          <a:xfrm>
            <a:off x="9872577" y="3969409"/>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1" i="0" u="none" strike="noStrike" kern="0" cap="none" spc="0" normalizeH="0" baseline="0" dirty="0">
                <a:ln>
                  <a:noFill/>
                </a:ln>
                <a:effectLst/>
                <a:uLnTx/>
                <a:uFillTx/>
                <a:ea typeface="Arial Unicode MS" pitchFamily="34" charset="-128"/>
                <a:cs typeface="Arial Unicode MS" pitchFamily="34" charset="-128"/>
              </a:rPr>
              <a:t>Frontend</a:t>
            </a:r>
            <a:r>
              <a:rPr kumimoji="0" lang="en-US" sz="1600" b="1" i="0" u="none" strike="noStrike" kern="0" cap="none" spc="0" normalizeH="0" dirty="0">
                <a:ln>
                  <a:noFill/>
                </a:ln>
                <a:effectLst/>
                <a:uLnTx/>
                <a:uFillTx/>
                <a:ea typeface="Arial Unicode MS" pitchFamily="34" charset="-128"/>
                <a:cs typeface="Arial Unicode MS" pitchFamily="34" charset="-128"/>
              </a:rPr>
              <a:t> With Backend</a:t>
            </a:r>
            <a:endParaRPr kumimoji="0" lang="en-US" sz="1600" b="1" i="0" u="none" strike="noStrike" kern="0" cap="none" spc="0" normalizeH="0" baseline="0" dirty="0">
              <a:ln>
                <a:noFill/>
              </a:ln>
              <a:effectLst/>
              <a:uLnTx/>
              <a:uFillTx/>
              <a:ea typeface="Arial Unicode MS" pitchFamily="34" charset="-128"/>
              <a:cs typeface="Arial Unicode MS" pitchFamily="34" charset="-128"/>
            </a:endParaRPr>
          </a:p>
        </p:txBody>
      </p:sp>
      <p:pic>
        <p:nvPicPr>
          <p:cNvPr id="14" name="Graphic 13" descr="Heart">
            <a:extLst>
              <a:ext uri="{FF2B5EF4-FFF2-40B4-BE49-F238E27FC236}">
                <a16:creationId xmlns:a16="http://schemas.microsoft.com/office/drawing/2014/main" id="{1FC2DC5C-1154-4D01-B827-9BE6B75E2F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29125" y="3896571"/>
            <a:ext cx="914400" cy="914400"/>
          </a:xfrm>
          <a:prstGeom prst="rect">
            <a:avLst/>
          </a:prstGeom>
          <a:effectLst>
            <a:outerShdw blurRad="50800" dist="38100" dir="2700000" algn="tl" rotWithShape="0">
              <a:srgbClr val="C00000">
                <a:alpha val="40000"/>
              </a:srgbClr>
            </a:outerShdw>
          </a:effectLst>
        </p:spPr>
      </p:pic>
      <p:cxnSp>
        <p:nvCxnSpPr>
          <p:cNvPr id="16" name="Straight Connector 15">
            <a:extLst>
              <a:ext uri="{FF2B5EF4-FFF2-40B4-BE49-F238E27FC236}">
                <a16:creationId xmlns:a16="http://schemas.microsoft.com/office/drawing/2014/main" id="{3C0F4253-58D3-4881-98F8-648C2D3ABC65}"/>
              </a:ext>
            </a:extLst>
          </p:cNvPr>
          <p:cNvCxnSpPr>
            <a:stCxn id="9" idx="3"/>
            <a:endCxn id="23" idx="1"/>
          </p:cNvCxnSpPr>
          <p:nvPr/>
        </p:nvCxnSpPr>
        <p:spPr>
          <a:xfrm>
            <a:off x="5355309" y="5415174"/>
            <a:ext cx="2936169"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8" name="Graphic 17" descr="Lightning bolt">
            <a:extLst>
              <a:ext uri="{FF2B5EF4-FFF2-40B4-BE49-F238E27FC236}">
                <a16:creationId xmlns:a16="http://schemas.microsoft.com/office/drawing/2014/main" id="{21081ABD-EF4C-4C76-8DED-DFBC17B7298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1755" y="4957974"/>
            <a:ext cx="914400" cy="914400"/>
          </a:xfrm>
          <a:prstGeom prst="rect">
            <a:avLst/>
          </a:prstGeom>
          <a:effectLst>
            <a:outerShdw blurRad="50800" dist="38100" dir="2700000" algn="tl" rotWithShape="0">
              <a:srgbClr val="FFC000">
                <a:alpha val="40000"/>
              </a:srgbClr>
            </a:outerShdw>
          </a:effectLst>
        </p:spPr>
      </p:pic>
      <p:pic>
        <p:nvPicPr>
          <p:cNvPr id="26" name="Picture 4" descr="C:\Users\D044431\AppData\Local\Microsoft\Windows\Temporary Internet Files\Content.IE5\W6J11NSI\406241985_e27afd50da_z[1].jpg">
            <a:extLst>
              <a:ext uri="{FF2B5EF4-FFF2-40B4-BE49-F238E27FC236}">
                <a16:creationId xmlns:a16="http://schemas.microsoft.com/office/drawing/2014/main" id="{654C7817-B62C-4AEE-BED8-ECE0292D82E6}"/>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922" b="95853" l="4147" r="95853">
                        <a14:foregroundMark x1="48848" y1="63594" x2="48848" y2="63594"/>
                        <a14:foregroundMark x1="41475" y1="66359" x2="41475" y2="66359"/>
                        <a14:foregroundMark x1="22581" y1="56682" x2="22581" y2="56682"/>
                        <a14:foregroundMark x1="21659" y1="34101" x2="21659" y2="34101"/>
                        <a14:foregroundMark x1="38249" y1="80645" x2="38249" y2="80645"/>
                        <a14:foregroundMark x1="58525" y1="88940" x2="58525" y2="88940"/>
                        <a14:foregroundMark x1="58525" y1="92627" x2="58525" y2="92627"/>
                        <a14:foregroundMark x1="83871" y1="77880" x2="83871" y2="77880"/>
                        <a14:foregroundMark x1="58986" y1="461" x2="93548" y2="63594"/>
                        <a14:foregroundMark x1="93548" y1="63594" x2="27189" y2="93548"/>
                        <a14:foregroundMark x1="27189" y1="93548" x2="14747" y2="22120"/>
                        <a14:foregroundMark x1="14747" y1="22120" x2="88018" y2="30415"/>
                        <a14:foregroundMark x1="88018" y1="30415" x2="40553" y2="88479"/>
                        <a14:foregroundMark x1="40553" y1="88479" x2="38710" y2="14747"/>
                        <a14:foregroundMark x1="38710" y1="14747" x2="35945" y2="58525"/>
                        <a14:foregroundMark x1="22581" y1="17051" x2="23041" y2="15668"/>
                        <a14:foregroundMark x1="13825" y1="21198" x2="21659" y2="13364"/>
                        <a14:foregroundMark x1="18433" y1="16129" x2="64516" y2="6912"/>
                        <a14:foregroundMark x1="59908" y1="8295" x2="32258" y2="7373"/>
                        <a14:foregroundMark x1="35945" y1="5530" x2="59908" y2="2304"/>
                        <a14:foregroundMark x1="59447" y1="3687" x2="61290" y2="5530"/>
                        <a14:foregroundMark x1="66359" y1="5530" x2="64977" y2="10138"/>
                        <a14:foregroundMark x1="71889" y1="12903" x2="94009" y2="28111"/>
                        <a14:foregroundMark x1="88479" y1="25806" x2="92627" y2="49770"/>
                        <a14:foregroundMark x1="93548" y1="50230" x2="65438" y2="93548"/>
                        <a14:foregroundMark x1="91705" y1="32719" x2="96774" y2="64977"/>
                        <a14:foregroundMark x1="90323" y1="68664" x2="66820" y2="91705"/>
                        <a14:foregroundMark x1="66820" y1="91705" x2="27650" y2="89401"/>
                        <a14:foregroundMark x1="27650" y1="89401" x2="61751" y2="96313"/>
                        <a14:foregroundMark x1="46083" y1="91705" x2="16590" y2="29493"/>
                        <a14:foregroundMark x1="12903" y1="26728" x2="23502" y2="85714"/>
                        <a14:foregroundMark x1="23502" y1="85714" x2="9677" y2="33180"/>
                        <a14:foregroundMark x1="9217" y1="33180" x2="21198" y2="84793"/>
                        <a14:foregroundMark x1="21198" y1="84793" x2="11060" y2="34101"/>
                        <a14:foregroundMark x1="6912" y1="33641" x2="17512" y2="77419"/>
                        <a14:foregroundMark x1="14286" y1="79263" x2="7373" y2="32719"/>
                        <a14:foregroundMark x1="4147" y1="38249" x2="8756" y2="69585"/>
                        <a14:foregroundMark x1="16129" y1="48848" x2="79724" y2="81567"/>
                        <a14:foregroundMark x1="79724" y1="81567" x2="57604" y2="78341"/>
                        <a14:foregroundMark x1="54839" y1="77419" x2="36406" y2="46083"/>
                        <a14:foregroundMark x1="36406" y1="46083" x2="37327" y2="64516"/>
                        <a14:foregroundMark x1="31797" y1="58065" x2="23041" y2="43318"/>
                        <a14:foregroundMark x1="26728" y1="53456" x2="23963" y2="59447"/>
                        <a14:backgroundMark x1="92166" y1="80184" x2="92166" y2="88940"/>
                      </a14:backgroundRemoval>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471242" y="3577567"/>
            <a:ext cx="773906" cy="77390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5A7C9ABE-B8F7-4003-8993-F2001BBF057C}"/>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2905" b="94343" l="2857" r="89925">
                        <a14:foregroundMark x1="18779" y1="8408" x2="50677" y2="3211"/>
                        <a14:foregroundMark x1="43459" y1="82569" x2="43459" y2="82569"/>
                        <a14:foregroundMark x1="53985" y1="71101" x2="53985" y2="71101"/>
                        <a14:foregroundMark x1="47519" y1="94495" x2="47519" y2="94495"/>
                        <a14:foregroundMark x1="73684" y1="55810" x2="73684" y2="55810"/>
                        <a14:foregroundMark x1="83609" y1="44190" x2="83609" y2="44190"/>
                        <a14:foregroundMark x1="2857" y1="38379" x2="2857" y2="38379"/>
                        <a14:foregroundMark x1="18195" y1="8563" x2="18195" y2="8563"/>
                        <a14:foregroundMark x1="16842" y1="9480" x2="16842" y2="9480"/>
                        <a14:foregroundMark x1="16842" y1="10550" x2="19398" y2="9786"/>
                        <a14:foregroundMark x1="18797" y1="7339" x2="15940" y2="11468"/>
                        <a14:backgroundMark x1="8872" y1="10245" x2="8872" y2="10245"/>
                        <a14:backgroundMark x1="11579" y1="8869" x2="11579" y2="8869"/>
                        <a14:backgroundMark x1="14737" y1="8257" x2="11579" y2="9480"/>
                        <a14:backgroundMark x1="5714" y1="9786" x2="9173" y2="10245"/>
                        <a14:backgroundMark x1="13233" y1="7339" x2="3158" y2="10245"/>
                        <a14:backgroundMark x1="14135" y1="8563" x2="14744" y2="8687"/>
                        <a14:backgroundMark x1="15940" y1="5657" x2="16327" y2="6400"/>
                        <a14:backgroundMark x1="17293" y1="5352" x2="17293" y2="5352"/>
                        <a14:backgroundMark x1="20301" y1="6116" x2="20301" y2="6116"/>
                        <a14:backgroundMark x1="13975" y1="9480" x2="8872" y2="10856"/>
                        <a14:backgroundMark x1="7218" y1="9174" x2="14544" y2="8976"/>
                      </a14:backgroundRemoval>
                    </a14:imgEffect>
                  </a14:imgLayer>
                </a14:imgProps>
              </a:ext>
            </a:extLst>
          </a:blip>
          <a:stretch>
            <a:fillRect/>
          </a:stretch>
        </p:blipFill>
        <p:spPr>
          <a:xfrm>
            <a:off x="3855411" y="3577567"/>
            <a:ext cx="825538" cy="811882"/>
          </a:xfrm>
          <a:prstGeom prst="rect">
            <a:avLst/>
          </a:prstGeom>
        </p:spPr>
      </p:pic>
    </p:spTree>
    <p:extLst>
      <p:ext uri="{BB962C8B-B14F-4D97-AF65-F5344CB8AC3E}">
        <p14:creationId xmlns:p14="http://schemas.microsoft.com/office/powerpoint/2010/main" val="46476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9" grpId="0" animBg="1"/>
      <p:bldP spid="23" grpId="0" animBg="1"/>
      <p:bldP spid="24" grpId="0" animBg="1"/>
      <p:bldP spid="31"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5B3171-6747-4BE9-86AF-A5644F76A623}"/>
              </a:ext>
            </a:extLst>
          </p:cNvPr>
          <p:cNvSpPr>
            <a:spLocks noGrp="1"/>
          </p:cNvSpPr>
          <p:nvPr>
            <p:ph type="title"/>
          </p:nvPr>
        </p:nvSpPr>
        <p:spPr/>
        <p:txBody>
          <a:bodyPr/>
          <a:lstStyle/>
          <a:p>
            <a:r>
              <a:rPr lang="en-US" dirty="0"/>
              <a:t>Example: </a:t>
            </a:r>
            <a:r>
              <a:rPr lang="en-US" dirty="0" err="1"/>
              <a:t>NodeSelector</a:t>
            </a:r>
            <a:endParaRPr lang="en-US" dirty="0"/>
          </a:p>
        </p:txBody>
      </p:sp>
      <p:pic>
        <p:nvPicPr>
          <p:cNvPr id="2" name="Picture 1">
            <a:extLst>
              <a:ext uri="{FF2B5EF4-FFF2-40B4-BE49-F238E27FC236}">
                <a16:creationId xmlns:a16="http://schemas.microsoft.com/office/drawing/2014/main" id="{524F79CC-E6C1-48F3-8481-85B6CE93C86F}"/>
              </a:ext>
            </a:extLst>
          </p:cNvPr>
          <p:cNvPicPr>
            <a:picLocks noChangeAspect="1"/>
          </p:cNvPicPr>
          <p:nvPr/>
        </p:nvPicPr>
        <p:blipFill>
          <a:blip r:embed="rId2"/>
          <a:stretch>
            <a:fillRect/>
          </a:stretch>
        </p:blipFill>
        <p:spPr>
          <a:xfrm>
            <a:off x="1839050" y="1724804"/>
            <a:ext cx="8436454" cy="3828499"/>
          </a:xfrm>
          <a:prstGeom prst="rect">
            <a:avLst/>
          </a:prstGeom>
          <a:ln>
            <a:solidFill>
              <a:schemeClr val="tx1"/>
            </a:solidFill>
          </a:ln>
        </p:spPr>
      </p:pic>
    </p:spTree>
    <p:extLst>
      <p:ext uri="{BB962C8B-B14F-4D97-AF65-F5344CB8AC3E}">
        <p14:creationId xmlns:p14="http://schemas.microsoft.com/office/powerpoint/2010/main" val="3881617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F68627-CEC8-49ED-8042-EB9D316CABA8}"/>
              </a:ext>
            </a:extLst>
          </p:cNvPr>
          <p:cNvSpPr>
            <a:spLocks noGrp="1"/>
          </p:cNvSpPr>
          <p:nvPr>
            <p:ph type="title"/>
          </p:nvPr>
        </p:nvSpPr>
        <p:spPr/>
        <p:txBody>
          <a:bodyPr/>
          <a:lstStyle/>
          <a:p>
            <a:r>
              <a:rPr lang="en-US" dirty="0"/>
              <a:t>Pod Priority &amp; Preemption</a:t>
            </a:r>
          </a:p>
        </p:txBody>
      </p:sp>
      <p:sp>
        <p:nvSpPr>
          <p:cNvPr id="6" name="Rectangle 5">
            <a:extLst>
              <a:ext uri="{FF2B5EF4-FFF2-40B4-BE49-F238E27FC236}">
                <a16:creationId xmlns:a16="http://schemas.microsoft.com/office/drawing/2014/main" id="{F9982EF5-7B6F-4039-9636-30759BAB718C}"/>
              </a:ext>
            </a:extLst>
          </p:cNvPr>
          <p:cNvSpPr/>
          <p:nvPr/>
        </p:nvSpPr>
        <p:spPr bwMode="gray">
          <a:xfrm>
            <a:off x="858333" y="3180802"/>
            <a:ext cx="2455957"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Node</a:t>
            </a:r>
            <a:r>
              <a:rPr lang="de-DE" sz="2400" b="1" kern="0" dirty="0">
                <a:ea typeface="Arial Unicode MS" pitchFamily="34" charset="-128"/>
                <a:cs typeface="Arial Unicode MS" pitchFamily="34" charset="-128"/>
              </a:rPr>
              <a:t> A</a:t>
            </a:r>
          </a:p>
        </p:txBody>
      </p:sp>
      <p:sp>
        <p:nvSpPr>
          <p:cNvPr id="8" name="Rectangle 7">
            <a:extLst>
              <a:ext uri="{FF2B5EF4-FFF2-40B4-BE49-F238E27FC236}">
                <a16:creationId xmlns:a16="http://schemas.microsoft.com/office/drawing/2014/main" id="{B16EBA1F-2E48-482B-9A1E-873410610AA7}"/>
              </a:ext>
            </a:extLst>
          </p:cNvPr>
          <p:cNvSpPr/>
          <p:nvPr/>
        </p:nvSpPr>
        <p:spPr bwMode="gray">
          <a:xfrm>
            <a:off x="3683173" y="3188970"/>
            <a:ext cx="3703320"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Node</a:t>
            </a:r>
            <a:r>
              <a:rPr lang="de-DE" sz="2400" b="1" kern="0" dirty="0">
                <a:ea typeface="Arial Unicode MS" pitchFamily="34" charset="-128"/>
                <a:cs typeface="Arial Unicode MS" pitchFamily="34" charset="-128"/>
              </a:rPr>
              <a:t> B</a:t>
            </a:r>
          </a:p>
        </p:txBody>
      </p:sp>
      <p:sp>
        <p:nvSpPr>
          <p:cNvPr id="9" name="Rectangle 8">
            <a:extLst>
              <a:ext uri="{FF2B5EF4-FFF2-40B4-BE49-F238E27FC236}">
                <a16:creationId xmlns:a16="http://schemas.microsoft.com/office/drawing/2014/main" id="{66AE7B06-40F5-486E-9608-3B70C7181126}"/>
              </a:ext>
            </a:extLst>
          </p:cNvPr>
          <p:cNvSpPr/>
          <p:nvPr/>
        </p:nvSpPr>
        <p:spPr bwMode="gray">
          <a:xfrm>
            <a:off x="4301834" y="5005918"/>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LowPrio</a:t>
            </a:r>
            <a:r>
              <a:rPr lang="de-DE" sz="1600" b="1" kern="0" dirty="0">
                <a:ea typeface="Arial Unicode MS" pitchFamily="34" charset="-128"/>
                <a:cs typeface="Arial Unicode MS" pitchFamily="34" charset="-128"/>
              </a:rPr>
              <a:t> </a:t>
            </a:r>
            <a:r>
              <a:rPr kumimoji="0" lang="de-DE" sz="1600" b="1" i="0" u="none" strike="noStrike" kern="0" cap="none" spc="0" normalizeH="0" baseline="0" dirty="0" err="1">
                <a:ln>
                  <a:noFill/>
                </a:ln>
                <a:effectLst/>
                <a:uLnTx/>
                <a:uFillTx/>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Rectangle 9">
            <a:extLst>
              <a:ext uri="{FF2B5EF4-FFF2-40B4-BE49-F238E27FC236}">
                <a16:creationId xmlns:a16="http://schemas.microsoft.com/office/drawing/2014/main" id="{72A8952E-0440-4EAE-B3D3-B07F5E8ED7E2}"/>
              </a:ext>
            </a:extLst>
          </p:cNvPr>
          <p:cNvSpPr/>
          <p:nvPr/>
        </p:nvSpPr>
        <p:spPr bwMode="gray">
          <a:xfrm>
            <a:off x="4620986" y="1141241"/>
            <a:ext cx="1820636" cy="6286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Scheduler</a:t>
            </a:r>
          </a:p>
        </p:txBody>
      </p:sp>
      <p:cxnSp>
        <p:nvCxnSpPr>
          <p:cNvPr id="11" name="Connector: Elbow 10">
            <a:extLst>
              <a:ext uri="{FF2B5EF4-FFF2-40B4-BE49-F238E27FC236}">
                <a16:creationId xmlns:a16="http://schemas.microsoft.com/office/drawing/2014/main" id="{3F75998F-0721-44DD-8E44-7B3A00E58828}"/>
              </a:ext>
            </a:extLst>
          </p:cNvPr>
          <p:cNvCxnSpPr>
            <a:stCxn id="10" idx="2"/>
            <a:endCxn id="6" idx="0"/>
          </p:cNvCxnSpPr>
          <p:nvPr/>
        </p:nvCxnSpPr>
        <p:spPr>
          <a:xfrm rot="5400000">
            <a:off x="3103353" y="752850"/>
            <a:ext cx="1410911" cy="3444992"/>
          </a:xfrm>
          <a:prstGeom prst="bentConnector3">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AA269A79-DC88-4A50-AC1A-7472986BBCE2}"/>
              </a:ext>
            </a:extLst>
          </p:cNvPr>
          <p:cNvCxnSpPr>
            <a:stCxn id="10" idx="2"/>
            <a:endCxn id="8" idx="0"/>
          </p:cNvCxnSpPr>
          <p:nvPr/>
        </p:nvCxnSpPr>
        <p:spPr>
          <a:xfrm rot="16200000" flipH="1">
            <a:off x="4823529" y="2477665"/>
            <a:ext cx="1419079" cy="3529"/>
          </a:xfrm>
          <a:prstGeom prst="bentConnector3">
            <a:avLst>
              <a:gd name="adj1" fmla="val 50000"/>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9B33AB1-FAC5-4B1E-B6D7-8F0FB580E85C}"/>
              </a:ext>
            </a:extLst>
          </p:cNvPr>
          <p:cNvSpPr/>
          <p:nvPr/>
        </p:nvSpPr>
        <p:spPr bwMode="gray">
          <a:xfrm>
            <a:off x="4301834" y="3966818"/>
            <a:ext cx="1208595" cy="773906"/>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err="1">
                <a:ln>
                  <a:noFill/>
                </a:ln>
                <a:effectLst/>
                <a:uLnTx/>
                <a:uFillTx/>
                <a:ea typeface="Arial Unicode MS" pitchFamily="34" charset="-128"/>
                <a:cs typeface="Arial Unicode MS" pitchFamily="34" charset="-128"/>
              </a:rPr>
              <a:t>HighPrio</a:t>
            </a:r>
            <a:r>
              <a:rPr kumimoji="0" lang="de-DE" sz="1600" b="1" i="0" u="none" strike="noStrike" kern="0" cap="none" spc="0" normalizeH="0" baseline="0" noProof="0" dirty="0">
                <a:ln>
                  <a:noFill/>
                </a:ln>
                <a:effectLst/>
                <a:uLnTx/>
                <a:uFillTx/>
                <a:ea typeface="Arial Unicode MS" pitchFamily="34" charset="-128"/>
                <a:cs typeface="Arial Unicode MS" pitchFamily="34" charset="-128"/>
              </a:rPr>
              <a:t> </a:t>
            </a:r>
            <a:r>
              <a:rPr kumimoji="0" lang="de-DE" sz="1600" b="1" i="0" u="none" strike="noStrike" kern="0" cap="none" spc="0" normalizeH="0" baseline="0" noProof="0" dirty="0" err="1">
                <a:ln>
                  <a:noFill/>
                </a:ln>
                <a:effectLst/>
                <a:uLnTx/>
                <a:uFillTx/>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5" name="Rectangle 14">
            <a:extLst>
              <a:ext uri="{FF2B5EF4-FFF2-40B4-BE49-F238E27FC236}">
                <a16:creationId xmlns:a16="http://schemas.microsoft.com/office/drawing/2014/main" id="{90D8B715-4D53-442D-856A-2955F53F5D24}"/>
              </a:ext>
            </a:extLst>
          </p:cNvPr>
          <p:cNvSpPr/>
          <p:nvPr/>
        </p:nvSpPr>
        <p:spPr bwMode="gray">
          <a:xfrm>
            <a:off x="7750357" y="3180802"/>
            <a:ext cx="3703320"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Node</a:t>
            </a:r>
            <a:r>
              <a:rPr lang="de-DE" sz="2400" b="1" kern="0" dirty="0">
                <a:ea typeface="Arial Unicode MS" pitchFamily="34" charset="-128"/>
                <a:cs typeface="Arial Unicode MS" pitchFamily="34" charset="-128"/>
              </a:rPr>
              <a:t> C</a:t>
            </a:r>
          </a:p>
        </p:txBody>
      </p:sp>
      <p:sp>
        <p:nvSpPr>
          <p:cNvPr id="16" name="Rectangle 15">
            <a:extLst>
              <a:ext uri="{FF2B5EF4-FFF2-40B4-BE49-F238E27FC236}">
                <a16:creationId xmlns:a16="http://schemas.microsoft.com/office/drawing/2014/main" id="{7348BD99-1AB4-46C7-80B3-3ABCA0640D1F}"/>
              </a:ext>
            </a:extLst>
          </p:cNvPr>
          <p:cNvSpPr/>
          <p:nvPr/>
        </p:nvSpPr>
        <p:spPr bwMode="gray">
          <a:xfrm>
            <a:off x="8291479" y="5005918"/>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600" b="1" kern="0" dirty="0" err="1">
                <a:ea typeface="Arial Unicode MS" pitchFamily="34" charset="-128"/>
                <a:cs typeface="Arial Unicode MS" pitchFamily="34" charset="-128"/>
              </a:rPr>
              <a:t>LowPrio</a:t>
            </a:r>
            <a:r>
              <a:rPr lang="de-DE" sz="1600" b="1" kern="0" dirty="0">
                <a:ea typeface="Arial Unicode MS" pitchFamily="34" charset="-128"/>
                <a:cs typeface="Arial Unicode MS" pitchFamily="34" charset="-128"/>
              </a:rPr>
              <a:t> </a:t>
            </a:r>
            <a:r>
              <a:rPr lang="de-DE" sz="1600" b="1" kern="0" dirty="0" err="1">
                <a:ea typeface="Arial Unicode MS" pitchFamily="34" charset="-128"/>
                <a:cs typeface="Arial Unicode MS" pitchFamily="34" charset="-128"/>
              </a:rPr>
              <a:t>Pod</a:t>
            </a:r>
            <a:endParaRPr lang="de-DE" sz="1600" b="1" kern="0" dirty="0">
              <a:ea typeface="Arial Unicode MS" pitchFamily="34" charset="-128"/>
              <a:cs typeface="Arial Unicode MS" pitchFamily="34" charset="-128"/>
            </a:endParaRPr>
          </a:p>
        </p:txBody>
      </p:sp>
      <p:sp>
        <p:nvSpPr>
          <p:cNvPr id="17" name="Rectangle 16">
            <a:extLst>
              <a:ext uri="{FF2B5EF4-FFF2-40B4-BE49-F238E27FC236}">
                <a16:creationId xmlns:a16="http://schemas.microsoft.com/office/drawing/2014/main" id="{DB9CF0C7-5DD1-405B-8323-B37155BE837D}"/>
              </a:ext>
            </a:extLst>
          </p:cNvPr>
          <p:cNvSpPr/>
          <p:nvPr/>
        </p:nvSpPr>
        <p:spPr bwMode="gray">
          <a:xfrm>
            <a:off x="8291479" y="3961282"/>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600" b="1" kern="0" dirty="0" err="1">
                <a:ea typeface="Arial Unicode MS" pitchFamily="34" charset="-128"/>
                <a:cs typeface="Arial Unicode MS" pitchFamily="34" charset="-128"/>
              </a:rPr>
              <a:t>LowPrio</a:t>
            </a:r>
            <a:r>
              <a:rPr lang="de-DE" sz="1600" b="1" kern="0" dirty="0">
                <a:ea typeface="Arial Unicode MS" pitchFamily="34" charset="-128"/>
                <a:cs typeface="Arial Unicode MS" pitchFamily="34" charset="-128"/>
              </a:rPr>
              <a:t> </a:t>
            </a:r>
            <a:r>
              <a:rPr lang="de-DE" sz="1600" b="1" kern="0" dirty="0" err="1">
                <a:ea typeface="Arial Unicode MS" pitchFamily="34" charset="-128"/>
                <a:cs typeface="Arial Unicode MS" pitchFamily="34" charset="-128"/>
              </a:rPr>
              <a:t>Pod</a:t>
            </a:r>
            <a:endParaRPr lang="de-DE" sz="1600" b="1" kern="0" dirty="0">
              <a:ea typeface="Arial Unicode MS" pitchFamily="34" charset="-128"/>
              <a:cs typeface="Arial Unicode MS" pitchFamily="34" charset="-128"/>
            </a:endParaRPr>
          </a:p>
        </p:txBody>
      </p:sp>
      <p:cxnSp>
        <p:nvCxnSpPr>
          <p:cNvPr id="18" name="Connector: Elbow 17">
            <a:extLst>
              <a:ext uri="{FF2B5EF4-FFF2-40B4-BE49-F238E27FC236}">
                <a16:creationId xmlns:a16="http://schemas.microsoft.com/office/drawing/2014/main" id="{7F4D6EBA-BFA0-461A-9FDF-F451BC7C94D7}"/>
              </a:ext>
            </a:extLst>
          </p:cNvPr>
          <p:cNvCxnSpPr>
            <a:stCxn id="10" idx="2"/>
            <a:endCxn id="15" idx="0"/>
          </p:cNvCxnSpPr>
          <p:nvPr/>
        </p:nvCxnSpPr>
        <p:spPr>
          <a:xfrm rot="16200000" flipH="1">
            <a:off x="6861205" y="439989"/>
            <a:ext cx="1410911" cy="4070713"/>
          </a:xfrm>
          <a:prstGeom prst="bentConnector3">
            <a:avLst>
              <a:gd name="adj1" fmla="val 50000"/>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783143E-55C5-427A-B48E-124384E44F2E}"/>
              </a:ext>
            </a:extLst>
          </p:cNvPr>
          <p:cNvSpPr/>
          <p:nvPr/>
        </p:nvSpPr>
        <p:spPr bwMode="gray">
          <a:xfrm>
            <a:off x="5755531" y="3966818"/>
            <a:ext cx="1208595" cy="773906"/>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HighPrio</a:t>
            </a:r>
            <a:r>
              <a:rPr lang="de-DE" sz="1600" b="1" kern="0" noProof="0" dirty="0">
                <a:ea typeface="Arial Unicode MS" pitchFamily="34" charset="-128"/>
                <a:cs typeface="Arial Unicode MS" pitchFamily="34" charset="-128"/>
              </a:rPr>
              <a:t> </a:t>
            </a:r>
            <a:r>
              <a:rPr lang="de-DE" sz="1600" b="1" kern="0" noProof="0" dirty="0" err="1">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0" name="Rectangle 19">
            <a:extLst>
              <a:ext uri="{FF2B5EF4-FFF2-40B4-BE49-F238E27FC236}">
                <a16:creationId xmlns:a16="http://schemas.microsoft.com/office/drawing/2014/main" id="{7AAD80EF-09D6-48C4-91CA-209AC90A1CE7}"/>
              </a:ext>
            </a:extLst>
          </p:cNvPr>
          <p:cNvSpPr/>
          <p:nvPr/>
        </p:nvSpPr>
        <p:spPr bwMode="gray">
          <a:xfrm>
            <a:off x="9863936" y="3961282"/>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600" b="1" kern="0" dirty="0" err="1">
                <a:ea typeface="Arial Unicode MS" pitchFamily="34" charset="-128"/>
                <a:cs typeface="Arial Unicode MS" pitchFamily="34" charset="-128"/>
              </a:rPr>
              <a:t>LowPrio</a:t>
            </a:r>
            <a:r>
              <a:rPr lang="de-DE" sz="1600" b="1" kern="0" dirty="0">
                <a:ea typeface="Arial Unicode MS" pitchFamily="34" charset="-128"/>
                <a:cs typeface="Arial Unicode MS" pitchFamily="34" charset="-128"/>
              </a:rPr>
              <a:t> </a:t>
            </a:r>
            <a:r>
              <a:rPr lang="de-DE" sz="1600" b="1" kern="0" dirty="0" err="1">
                <a:ea typeface="Arial Unicode MS" pitchFamily="34" charset="-128"/>
                <a:cs typeface="Arial Unicode MS" pitchFamily="34" charset="-128"/>
              </a:rPr>
              <a:t>Pod</a:t>
            </a:r>
            <a:endParaRPr lang="de-DE" sz="1600" b="1" kern="0" dirty="0">
              <a:ea typeface="Arial Unicode MS" pitchFamily="34" charset="-128"/>
              <a:cs typeface="Arial Unicode MS" pitchFamily="34" charset="-128"/>
            </a:endParaRPr>
          </a:p>
        </p:txBody>
      </p:sp>
      <p:sp>
        <p:nvSpPr>
          <p:cNvPr id="21" name="Rectangle 20">
            <a:extLst>
              <a:ext uri="{FF2B5EF4-FFF2-40B4-BE49-F238E27FC236}">
                <a16:creationId xmlns:a16="http://schemas.microsoft.com/office/drawing/2014/main" id="{7A59226E-FCF6-4E7A-86AD-01B86C1608DB}"/>
              </a:ext>
            </a:extLst>
          </p:cNvPr>
          <p:cNvSpPr/>
          <p:nvPr/>
        </p:nvSpPr>
        <p:spPr bwMode="gray">
          <a:xfrm>
            <a:off x="5755532" y="5005918"/>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LowPrio</a:t>
            </a:r>
            <a:r>
              <a:rPr lang="de-DE" sz="1600" b="1" kern="0" dirty="0">
                <a:ea typeface="Arial Unicode MS" pitchFamily="34" charset="-128"/>
                <a:cs typeface="Arial Unicode MS" pitchFamily="34" charset="-128"/>
              </a:rPr>
              <a:t> </a:t>
            </a:r>
            <a:r>
              <a:rPr kumimoji="0" lang="de-DE" sz="1600" b="1" i="0" u="none" strike="noStrike" kern="0" cap="none" spc="0" normalizeH="0" baseline="0" dirty="0" err="1">
                <a:ln>
                  <a:noFill/>
                </a:ln>
                <a:effectLst/>
                <a:uLnTx/>
                <a:uFillTx/>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2" name="Rectangle 21">
            <a:extLst>
              <a:ext uri="{FF2B5EF4-FFF2-40B4-BE49-F238E27FC236}">
                <a16:creationId xmlns:a16="http://schemas.microsoft.com/office/drawing/2014/main" id="{A7E68C4B-E1F2-47A0-B6E9-AA0EF2A9B61A}"/>
              </a:ext>
            </a:extLst>
          </p:cNvPr>
          <p:cNvSpPr/>
          <p:nvPr/>
        </p:nvSpPr>
        <p:spPr bwMode="gray">
          <a:xfrm>
            <a:off x="1479502" y="5005918"/>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LowPrio</a:t>
            </a:r>
            <a:r>
              <a:rPr lang="de-DE" sz="1600" b="1" kern="0" dirty="0">
                <a:ea typeface="Arial Unicode MS" pitchFamily="34" charset="-128"/>
                <a:cs typeface="Arial Unicode MS" pitchFamily="34" charset="-128"/>
              </a:rPr>
              <a:t> </a:t>
            </a:r>
            <a:r>
              <a:rPr kumimoji="0" lang="de-DE" sz="1600" b="1" i="0" u="none" strike="noStrike" kern="0" cap="none" spc="0" normalizeH="0" baseline="0" dirty="0" err="1">
                <a:ln>
                  <a:noFill/>
                </a:ln>
                <a:effectLst/>
                <a:uLnTx/>
                <a:uFillTx/>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3" name="Rectangle 22">
            <a:extLst>
              <a:ext uri="{FF2B5EF4-FFF2-40B4-BE49-F238E27FC236}">
                <a16:creationId xmlns:a16="http://schemas.microsoft.com/office/drawing/2014/main" id="{2E0AD6D3-F789-489E-923F-6442FB3ADD43}"/>
              </a:ext>
            </a:extLst>
          </p:cNvPr>
          <p:cNvSpPr/>
          <p:nvPr/>
        </p:nvSpPr>
        <p:spPr bwMode="gray">
          <a:xfrm>
            <a:off x="1479502" y="3962040"/>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LowPrio</a:t>
            </a:r>
            <a:r>
              <a:rPr lang="de-DE" sz="1600" b="1" kern="0" dirty="0">
                <a:ea typeface="Arial Unicode MS" pitchFamily="34" charset="-128"/>
                <a:cs typeface="Arial Unicode MS" pitchFamily="34" charset="-128"/>
              </a:rPr>
              <a:t> </a:t>
            </a:r>
            <a:r>
              <a:rPr kumimoji="0" lang="de-DE" sz="1600" b="1" i="0" u="none" strike="noStrike" kern="0" cap="none" spc="0" normalizeH="0" baseline="0" dirty="0" err="1">
                <a:ln>
                  <a:noFill/>
                </a:ln>
                <a:effectLst/>
                <a:uLnTx/>
                <a:uFillTx/>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4" name="Rectangle 23">
            <a:extLst>
              <a:ext uri="{FF2B5EF4-FFF2-40B4-BE49-F238E27FC236}">
                <a16:creationId xmlns:a16="http://schemas.microsoft.com/office/drawing/2014/main" id="{14DE6F3E-0976-41FC-8F37-C86777E26FBA}"/>
              </a:ext>
            </a:extLst>
          </p:cNvPr>
          <p:cNvSpPr/>
          <p:nvPr/>
        </p:nvSpPr>
        <p:spPr bwMode="gray">
          <a:xfrm>
            <a:off x="9872578" y="5005918"/>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600" b="1" kern="0" dirty="0" err="1">
                <a:ea typeface="Arial Unicode MS" pitchFamily="34" charset="-128"/>
                <a:cs typeface="Arial Unicode MS" pitchFamily="34" charset="-128"/>
              </a:rPr>
              <a:t>LowPrio</a:t>
            </a:r>
            <a:r>
              <a:rPr lang="de-DE" sz="1600" b="1" kern="0" dirty="0">
                <a:ea typeface="Arial Unicode MS" pitchFamily="34" charset="-128"/>
                <a:cs typeface="Arial Unicode MS" pitchFamily="34" charset="-128"/>
              </a:rPr>
              <a:t> </a:t>
            </a:r>
            <a:r>
              <a:rPr lang="de-DE" sz="1600" b="1" kern="0" dirty="0" err="1">
                <a:ea typeface="Arial Unicode MS" pitchFamily="34" charset="-128"/>
                <a:cs typeface="Arial Unicode MS" pitchFamily="34" charset="-128"/>
              </a:rPr>
              <a:t>Pod</a:t>
            </a:r>
            <a:endParaRPr lang="de-DE" sz="1600" b="1" kern="0" dirty="0">
              <a:ea typeface="Arial Unicode MS" pitchFamily="34" charset="-128"/>
              <a:cs typeface="Arial Unicode MS" pitchFamily="34" charset="-128"/>
            </a:endParaRPr>
          </a:p>
        </p:txBody>
      </p:sp>
      <p:sp>
        <p:nvSpPr>
          <p:cNvPr id="25" name="Rectangle 24">
            <a:extLst>
              <a:ext uri="{FF2B5EF4-FFF2-40B4-BE49-F238E27FC236}">
                <a16:creationId xmlns:a16="http://schemas.microsoft.com/office/drawing/2014/main" id="{ECA21933-B84E-4C3F-A053-9FC8DE5A3D29}"/>
              </a:ext>
            </a:extLst>
          </p:cNvPr>
          <p:cNvSpPr/>
          <p:nvPr/>
        </p:nvSpPr>
        <p:spPr bwMode="gray">
          <a:xfrm>
            <a:off x="6662321" y="444221"/>
            <a:ext cx="1208595" cy="1859276"/>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err="1">
                <a:ln>
                  <a:noFill/>
                </a:ln>
                <a:effectLst/>
                <a:uLnTx/>
                <a:uFillTx/>
                <a:ea typeface="Arial Unicode MS" pitchFamily="34" charset="-128"/>
                <a:cs typeface="Arial Unicode MS" pitchFamily="34" charset="-128"/>
              </a:rPr>
              <a:t>HighPrio</a:t>
            </a:r>
            <a:r>
              <a:rPr kumimoji="0" lang="de-DE" sz="1600" b="1" i="0" u="none" strike="noStrike" kern="0" cap="none" spc="0" normalizeH="0" baseline="0" noProof="0" dirty="0">
                <a:ln>
                  <a:noFill/>
                </a:ln>
                <a:effectLst/>
                <a:uLnTx/>
                <a:uFillTx/>
                <a:ea typeface="Arial Unicode MS" pitchFamily="34" charset="-128"/>
                <a:cs typeface="Arial Unicode MS" pitchFamily="34" charset="-128"/>
              </a:rPr>
              <a:t> </a:t>
            </a:r>
            <a:r>
              <a:rPr kumimoji="0" lang="de-DE" sz="1600" b="1" i="0" u="none" strike="noStrike" kern="0" cap="none" spc="0" normalizeH="0" baseline="0" noProof="0" dirty="0" err="1">
                <a:ln>
                  <a:noFill/>
                </a:ln>
                <a:effectLst/>
                <a:uLnTx/>
                <a:uFillTx/>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644440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9" presetClass="emph" presetSubtype="0" fill="hold" grpId="1" nodeType="clickEffect">
                                  <p:stCondLst>
                                    <p:cond delay="0"/>
                                  </p:stCondLst>
                                  <p:childTnLst>
                                    <p:animClr clrSpc="rgb" dir="cw">
                                      <p:cBhvr override="childStyle">
                                        <p:cTn id="10" dur="500" fill="hold"/>
                                        <p:tgtEl>
                                          <p:spTgt spid="23"/>
                                        </p:tgtEl>
                                        <p:attrNameLst>
                                          <p:attrName>style.color</p:attrName>
                                        </p:attrNameLst>
                                      </p:cBhvr>
                                      <p:to>
                                        <a:srgbClr val="E30B0B"/>
                                      </p:to>
                                    </p:animClr>
                                    <p:animClr clrSpc="rgb" dir="cw">
                                      <p:cBhvr>
                                        <p:cTn id="11" dur="500" fill="hold"/>
                                        <p:tgtEl>
                                          <p:spTgt spid="23"/>
                                        </p:tgtEl>
                                        <p:attrNameLst>
                                          <p:attrName>fillcolor</p:attrName>
                                        </p:attrNameLst>
                                      </p:cBhvr>
                                      <p:to>
                                        <a:srgbClr val="E30B0B"/>
                                      </p:to>
                                    </p:animClr>
                                    <p:set>
                                      <p:cBhvr>
                                        <p:cTn id="12" dur="500" fill="hold"/>
                                        <p:tgtEl>
                                          <p:spTgt spid="23"/>
                                        </p:tgtEl>
                                        <p:attrNameLst>
                                          <p:attrName>fill.type</p:attrName>
                                        </p:attrNameLst>
                                      </p:cBhvr>
                                      <p:to>
                                        <p:strVal val="solid"/>
                                      </p:to>
                                    </p:set>
                                    <p:set>
                                      <p:cBhvr>
                                        <p:cTn id="13" dur="500" fill="hold"/>
                                        <p:tgtEl>
                                          <p:spTgt spid="23"/>
                                        </p:tgtEl>
                                        <p:attrNameLst>
                                          <p:attrName>fill.on</p:attrName>
                                        </p:attrNameLst>
                                      </p:cBhvr>
                                      <p:to>
                                        <p:strVal val="true"/>
                                      </p:to>
                                    </p:set>
                                  </p:childTnLst>
                                </p:cTn>
                              </p:par>
                              <p:par>
                                <p:cTn id="14" presetID="19" presetClass="emph" presetSubtype="0" fill="hold" grpId="1" nodeType="withEffect">
                                  <p:stCondLst>
                                    <p:cond delay="0"/>
                                  </p:stCondLst>
                                  <p:childTnLst>
                                    <p:animClr clrSpc="rgb" dir="cw">
                                      <p:cBhvr override="childStyle">
                                        <p:cTn id="15" dur="500" fill="hold"/>
                                        <p:tgtEl>
                                          <p:spTgt spid="22"/>
                                        </p:tgtEl>
                                        <p:attrNameLst>
                                          <p:attrName>style.color</p:attrName>
                                        </p:attrNameLst>
                                      </p:cBhvr>
                                      <p:to>
                                        <a:srgbClr val="E30B0B"/>
                                      </p:to>
                                    </p:animClr>
                                    <p:animClr clrSpc="rgb" dir="cw">
                                      <p:cBhvr>
                                        <p:cTn id="16" dur="500" fill="hold"/>
                                        <p:tgtEl>
                                          <p:spTgt spid="22"/>
                                        </p:tgtEl>
                                        <p:attrNameLst>
                                          <p:attrName>fillcolor</p:attrName>
                                        </p:attrNameLst>
                                      </p:cBhvr>
                                      <p:to>
                                        <a:srgbClr val="E30B0B"/>
                                      </p:to>
                                    </p:animClr>
                                    <p:set>
                                      <p:cBhvr>
                                        <p:cTn id="17" dur="500" fill="hold"/>
                                        <p:tgtEl>
                                          <p:spTgt spid="22"/>
                                        </p:tgtEl>
                                        <p:attrNameLst>
                                          <p:attrName>fill.type</p:attrName>
                                        </p:attrNameLst>
                                      </p:cBhvr>
                                      <p:to>
                                        <p:strVal val="solid"/>
                                      </p:to>
                                    </p:set>
                                    <p:set>
                                      <p:cBhvr>
                                        <p:cTn id="18" dur="500" fill="hold"/>
                                        <p:tgtEl>
                                          <p:spTgt spid="22"/>
                                        </p:tgtEl>
                                        <p:attrNameLst>
                                          <p:attrName>fill.on</p:attrName>
                                        </p:attrNameLst>
                                      </p:cBhvr>
                                      <p:to>
                                        <p:strVal val="true"/>
                                      </p:to>
                                    </p:set>
                                  </p:childTnLst>
                                </p:cTn>
                              </p:par>
                            </p:childTnLst>
                          </p:cTn>
                        </p:par>
                        <p:par>
                          <p:cTn id="19" fill="hold">
                            <p:stCondLst>
                              <p:cond delay="500"/>
                            </p:stCondLst>
                            <p:childTnLst>
                              <p:par>
                                <p:cTn id="20" presetID="2" presetClass="exit" presetSubtype="4" fill="hold" grpId="0" nodeType="afterEffect">
                                  <p:stCondLst>
                                    <p:cond delay="0"/>
                                  </p:stCondLst>
                                  <p:childTnLst>
                                    <p:anim calcmode="lin" valueType="num">
                                      <p:cBhvr additive="base">
                                        <p:cTn id="21" dur="500"/>
                                        <p:tgtEl>
                                          <p:spTgt spid="23"/>
                                        </p:tgtEl>
                                        <p:attrNameLst>
                                          <p:attrName>ppt_x</p:attrName>
                                        </p:attrNameLst>
                                      </p:cBhvr>
                                      <p:tavLst>
                                        <p:tav tm="0">
                                          <p:val>
                                            <p:strVal val="ppt_x"/>
                                          </p:val>
                                        </p:tav>
                                        <p:tav tm="100000">
                                          <p:val>
                                            <p:strVal val="ppt_x"/>
                                          </p:val>
                                        </p:tav>
                                      </p:tavLst>
                                    </p:anim>
                                    <p:anim calcmode="lin" valueType="num">
                                      <p:cBhvr additive="base">
                                        <p:cTn id="22" dur="500"/>
                                        <p:tgtEl>
                                          <p:spTgt spid="23"/>
                                        </p:tgtEl>
                                        <p:attrNameLst>
                                          <p:attrName>ppt_y</p:attrName>
                                        </p:attrNameLst>
                                      </p:cBhvr>
                                      <p:tavLst>
                                        <p:tav tm="0">
                                          <p:val>
                                            <p:strVal val="ppt_y"/>
                                          </p:val>
                                        </p:tav>
                                        <p:tav tm="100000">
                                          <p:val>
                                            <p:strVal val="1+ppt_h/2"/>
                                          </p:val>
                                        </p:tav>
                                      </p:tavLst>
                                    </p:anim>
                                    <p:set>
                                      <p:cBhvr>
                                        <p:cTn id="23" dur="1" fill="hold">
                                          <p:stCondLst>
                                            <p:cond delay="499"/>
                                          </p:stCondLst>
                                        </p:cTn>
                                        <p:tgtEl>
                                          <p:spTgt spid="23"/>
                                        </p:tgtEl>
                                        <p:attrNameLst>
                                          <p:attrName>style.visibility</p:attrName>
                                        </p:attrNameLst>
                                      </p:cBhvr>
                                      <p:to>
                                        <p:strVal val="hidden"/>
                                      </p:to>
                                    </p:set>
                                  </p:childTnLst>
                                </p:cTn>
                              </p:par>
                              <p:par>
                                <p:cTn id="24" presetID="2" presetClass="exit" presetSubtype="4" fill="hold" grpId="0" nodeType="withEffect">
                                  <p:stCondLst>
                                    <p:cond delay="0"/>
                                  </p:stCondLst>
                                  <p:childTnLst>
                                    <p:anim calcmode="lin" valueType="num">
                                      <p:cBhvr additive="base">
                                        <p:cTn id="25" dur="500"/>
                                        <p:tgtEl>
                                          <p:spTgt spid="22"/>
                                        </p:tgtEl>
                                        <p:attrNameLst>
                                          <p:attrName>ppt_x</p:attrName>
                                        </p:attrNameLst>
                                      </p:cBhvr>
                                      <p:tavLst>
                                        <p:tav tm="0">
                                          <p:val>
                                            <p:strVal val="ppt_x"/>
                                          </p:val>
                                        </p:tav>
                                        <p:tav tm="100000">
                                          <p:val>
                                            <p:strVal val="ppt_x"/>
                                          </p:val>
                                        </p:tav>
                                      </p:tavLst>
                                    </p:anim>
                                    <p:anim calcmode="lin" valueType="num">
                                      <p:cBhvr additive="base">
                                        <p:cTn id="26" dur="500"/>
                                        <p:tgtEl>
                                          <p:spTgt spid="22"/>
                                        </p:tgtEl>
                                        <p:attrNameLst>
                                          <p:attrName>ppt_y</p:attrName>
                                        </p:attrNameLst>
                                      </p:cBhvr>
                                      <p:tavLst>
                                        <p:tav tm="0">
                                          <p:val>
                                            <p:strVal val="ppt_y"/>
                                          </p:val>
                                        </p:tav>
                                        <p:tav tm="100000">
                                          <p:val>
                                            <p:strVal val="1+ppt_h/2"/>
                                          </p:val>
                                        </p:tav>
                                      </p:tavLst>
                                    </p:anim>
                                    <p:set>
                                      <p:cBhvr>
                                        <p:cTn id="27" dur="1" fill="hold">
                                          <p:stCondLst>
                                            <p:cond delay="499"/>
                                          </p:stCondLst>
                                        </p:cTn>
                                        <p:tgtEl>
                                          <p:spTgt spid="2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50" presetClass="path" presetSubtype="0" accel="50000" decel="50000" fill="hold" grpId="0" nodeType="clickEffect">
                                  <p:stCondLst>
                                    <p:cond delay="0"/>
                                  </p:stCondLst>
                                  <p:childTnLst>
                                    <p:animMotion origin="layout" path="M 1.61677E-6 -0.00139 L -0.21245 -0.00139 C -0.3076 -0.00139 -0.42502 0.13912 -0.42502 0.25324 L -0.42502 0.5081 " pathEditMode="relative" rAng="0" ptsTypes="AAAA">
                                      <p:cBhvr>
                                        <p:cTn id="31" dur="2000" fill="hold"/>
                                        <p:tgtEl>
                                          <p:spTgt spid="25"/>
                                        </p:tgtEl>
                                        <p:attrNameLst>
                                          <p:attrName>ppt_x</p:attrName>
                                          <p:attrName>ppt_y</p:attrName>
                                        </p:attrNameLst>
                                      </p:cBhvr>
                                      <p:rCtr x="-21257" y="254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3" grpId="0" animBg="1"/>
      <p:bldP spid="23" grpId="1" animBg="1"/>
      <p:bldP spid="25" grpId="0" animBg="1"/>
      <p:bldP spid="2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C833F-141B-43CD-9D75-BF0D5B7F2771}"/>
              </a:ext>
            </a:extLst>
          </p:cNvPr>
          <p:cNvSpPr>
            <a:spLocks noGrp="1"/>
          </p:cNvSpPr>
          <p:nvPr>
            <p:ph type="title"/>
          </p:nvPr>
        </p:nvSpPr>
        <p:spPr/>
        <p:txBody>
          <a:bodyPr/>
          <a:lstStyle/>
          <a:p>
            <a:r>
              <a:rPr lang="en-US" dirty="0"/>
              <a:t>Priority Classes</a:t>
            </a:r>
          </a:p>
        </p:txBody>
      </p:sp>
      <p:pic>
        <p:nvPicPr>
          <p:cNvPr id="3" name="Picture 2">
            <a:extLst>
              <a:ext uri="{FF2B5EF4-FFF2-40B4-BE49-F238E27FC236}">
                <a16:creationId xmlns:a16="http://schemas.microsoft.com/office/drawing/2014/main" id="{577D9036-EBF3-4D80-A630-B3D077473A7B}"/>
              </a:ext>
            </a:extLst>
          </p:cNvPr>
          <p:cNvPicPr>
            <a:picLocks noChangeAspect="1"/>
          </p:cNvPicPr>
          <p:nvPr/>
        </p:nvPicPr>
        <p:blipFill>
          <a:blip r:embed="rId3"/>
          <a:stretch>
            <a:fillRect/>
          </a:stretch>
        </p:blipFill>
        <p:spPr>
          <a:xfrm>
            <a:off x="504001" y="1598947"/>
            <a:ext cx="4777944" cy="2440906"/>
          </a:xfrm>
          <a:prstGeom prst="rect">
            <a:avLst/>
          </a:prstGeom>
          <a:ln>
            <a:solidFill>
              <a:schemeClr val="tx1"/>
            </a:solidFill>
          </a:ln>
        </p:spPr>
      </p:pic>
      <p:pic>
        <p:nvPicPr>
          <p:cNvPr id="4" name="Picture 3">
            <a:extLst>
              <a:ext uri="{FF2B5EF4-FFF2-40B4-BE49-F238E27FC236}">
                <a16:creationId xmlns:a16="http://schemas.microsoft.com/office/drawing/2014/main" id="{E99D6578-421A-43DF-86F2-11ABA16CC1E8}"/>
              </a:ext>
            </a:extLst>
          </p:cNvPr>
          <p:cNvPicPr>
            <a:picLocks noChangeAspect="1"/>
          </p:cNvPicPr>
          <p:nvPr/>
        </p:nvPicPr>
        <p:blipFill>
          <a:blip r:embed="rId4"/>
          <a:stretch>
            <a:fillRect/>
          </a:stretch>
        </p:blipFill>
        <p:spPr>
          <a:xfrm>
            <a:off x="6479749" y="490690"/>
            <a:ext cx="5210728" cy="5712758"/>
          </a:xfrm>
          <a:prstGeom prst="rect">
            <a:avLst/>
          </a:prstGeom>
          <a:ln>
            <a:solidFill>
              <a:schemeClr val="tx1"/>
            </a:solidFill>
          </a:ln>
        </p:spPr>
      </p:pic>
      <p:cxnSp>
        <p:nvCxnSpPr>
          <p:cNvPr id="6" name="Connector: Elbow 5">
            <a:extLst>
              <a:ext uri="{FF2B5EF4-FFF2-40B4-BE49-F238E27FC236}">
                <a16:creationId xmlns:a16="http://schemas.microsoft.com/office/drawing/2014/main" id="{168CF65B-5068-40E0-BA82-77CFF9605F48}"/>
              </a:ext>
            </a:extLst>
          </p:cNvPr>
          <p:cNvCxnSpPr>
            <a:cxnSpLocks/>
            <a:stCxn id="3" idx="3"/>
          </p:cNvCxnSpPr>
          <p:nvPr/>
        </p:nvCxnSpPr>
        <p:spPr>
          <a:xfrm>
            <a:off x="5281945" y="2819400"/>
            <a:ext cx="1801607" cy="1742942"/>
          </a:xfrm>
          <a:prstGeom prst="bentConnector3">
            <a:avLst>
              <a:gd name="adj1" fmla="val 50000"/>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7AFE58F-BB5D-4D29-BDFE-E8929289D32D}"/>
              </a:ext>
            </a:extLst>
          </p:cNvPr>
          <p:cNvSpPr/>
          <p:nvPr/>
        </p:nvSpPr>
        <p:spPr>
          <a:xfrm>
            <a:off x="1647953" y="6203448"/>
            <a:ext cx="8898572" cy="369332"/>
          </a:xfrm>
          <a:prstGeom prst="rect">
            <a:avLst/>
          </a:prstGeom>
        </p:spPr>
        <p:txBody>
          <a:bodyPr wrap="square">
            <a:spAutoFit/>
          </a:bodyPr>
          <a:lstStyle/>
          <a:p>
            <a:pPr algn="ctr"/>
            <a:r>
              <a:rPr lang="de-DE" sz="1800" dirty="0">
                <a:hlinkClick r:id="rId5"/>
              </a:rPr>
              <a:t>https://kubernetes.io/docs/concepts/configuration/pod-priority-preemption/</a:t>
            </a:r>
            <a:endParaRPr lang="en-US" sz="1800" dirty="0"/>
          </a:p>
        </p:txBody>
      </p:sp>
    </p:spTree>
    <p:extLst>
      <p:ext uri="{BB962C8B-B14F-4D97-AF65-F5344CB8AC3E}">
        <p14:creationId xmlns:p14="http://schemas.microsoft.com/office/powerpoint/2010/main" val="2673186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D4BF-5C0E-4BE1-A99C-25DBDC85D9CD}"/>
              </a:ext>
            </a:extLst>
          </p:cNvPr>
          <p:cNvSpPr>
            <a:spLocks noGrp="1"/>
          </p:cNvSpPr>
          <p:nvPr>
            <p:ph type="title"/>
          </p:nvPr>
        </p:nvSpPr>
        <p:spPr/>
        <p:txBody>
          <a:bodyPr/>
          <a:lstStyle/>
          <a:p>
            <a:r>
              <a:rPr lang="en-US" dirty="0"/>
              <a:t>Optional Demo</a:t>
            </a:r>
          </a:p>
        </p:txBody>
      </p:sp>
      <p:pic>
        <p:nvPicPr>
          <p:cNvPr id="4" name="Picture 3">
            <a:extLst>
              <a:ext uri="{FF2B5EF4-FFF2-40B4-BE49-F238E27FC236}">
                <a16:creationId xmlns:a16="http://schemas.microsoft.com/office/drawing/2014/main" id="{AB318321-2E93-4274-88BA-A559A69B3FF1}"/>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1414088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Extensibility with custom resources</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2"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llustration" descr="Example of an illustration" title="Illustration for title slide">
            <a:extLst>
              <a:ext uri="{FF2B5EF4-FFF2-40B4-BE49-F238E27FC236}">
                <a16:creationId xmlns:a16="http://schemas.microsoft.com/office/drawing/2014/main" id="{01600F65-CF7C-4978-AEE5-E81564FA87FF}"/>
              </a:ext>
            </a:extLst>
          </p:cNvPr>
          <p:cNvPicPr>
            <a:picLocks noGrp="1" noChangeAspect="1"/>
          </p:cNvPicPr>
          <p:nvPr>
            <p:ph type="pic" sz="quarter" idx="12"/>
          </p:nvPr>
        </p:nvPicPr>
        <p:blipFill>
          <a:blip r:embed="rId4"/>
          <a:srcRect t="3112" b="3112"/>
          <a:stretch>
            <a:fillRect/>
          </a:stretch>
        </p:blipFill>
        <p:spPr bwMode="gray">
          <a:xfrm>
            <a:off x="1" y="0"/>
            <a:ext cx="12195174" cy="3430006"/>
          </a:xfrm>
        </p:spPr>
      </p:pic>
    </p:spTree>
    <p:extLst>
      <p:ext uri="{BB962C8B-B14F-4D97-AF65-F5344CB8AC3E}">
        <p14:creationId xmlns:p14="http://schemas.microsoft.com/office/powerpoint/2010/main" val="2442442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2AD1968-C1EC-4E8A-B37E-56747AF51BE0}"/>
              </a:ext>
            </a:extLst>
          </p:cNvPr>
          <p:cNvSpPr>
            <a:spLocks noGrp="1"/>
          </p:cNvSpPr>
          <p:nvPr>
            <p:ph type="title"/>
          </p:nvPr>
        </p:nvSpPr>
        <p:spPr/>
        <p:txBody>
          <a:bodyPr/>
          <a:lstStyle/>
          <a:p>
            <a:r>
              <a:rPr lang="en-US" dirty="0"/>
              <a:t>The Truth</a:t>
            </a:r>
          </a:p>
        </p:txBody>
      </p:sp>
      <p:pic>
        <p:nvPicPr>
          <p:cNvPr id="1026" name="Picture 2" descr="Image">
            <a:extLst>
              <a:ext uri="{FF2B5EF4-FFF2-40B4-BE49-F238E27FC236}">
                <a16:creationId xmlns:a16="http://schemas.microsoft.com/office/drawing/2014/main" id="{E7940F3B-C6F1-4F5A-AE37-CF22AA8C21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375" y="1052513"/>
            <a:ext cx="4924425" cy="475297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46948C14-01F2-46EA-A07C-85E06C5432E9}"/>
              </a:ext>
            </a:extLst>
          </p:cNvPr>
          <p:cNvSpPr/>
          <p:nvPr/>
        </p:nvSpPr>
        <p:spPr>
          <a:xfrm>
            <a:off x="2564258" y="5935623"/>
            <a:ext cx="7065962" cy="338554"/>
          </a:xfrm>
          <a:prstGeom prst="rect">
            <a:avLst/>
          </a:prstGeom>
        </p:spPr>
        <p:txBody>
          <a:bodyPr wrap="square">
            <a:spAutoFit/>
          </a:bodyPr>
          <a:lstStyle/>
          <a:p>
            <a:pPr algn="ctr"/>
            <a:r>
              <a:rPr lang="de-DE" sz="1600" dirty="0">
                <a:solidFill>
                  <a:srgbClr val="000000"/>
                </a:solidFill>
                <a:latin typeface="+mj-lt"/>
                <a:hlinkClick r:id="rId3"/>
              </a:rPr>
              <a:t>https://twitter.com/tranchitellad/status/1197774209977597952?s=20</a:t>
            </a:r>
            <a:r>
              <a:rPr lang="de-DE" sz="1600" dirty="0">
                <a:solidFill>
                  <a:srgbClr val="000000"/>
                </a:solidFill>
                <a:latin typeface="+mj-lt"/>
              </a:rPr>
              <a:t> </a:t>
            </a:r>
            <a:endParaRPr lang="en-US" sz="1600" dirty="0">
              <a:latin typeface="+mj-lt"/>
            </a:endParaRPr>
          </a:p>
        </p:txBody>
      </p:sp>
    </p:spTree>
    <p:extLst>
      <p:ext uri="{BB962C8B-B14F-4D97-AF65-F5344CB8AC3E}">
        <p14:creationId xmlns:p14="http://schemas.microsoft.com/office/powerpoint/2010/main" val="3797602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59C333-28D0-4634-874F-97F7337CB0CD}"/>
              </a:ext>
            </a:extLst>
          </p:cNvPr>
          <p:cNvSpPr>
            <a:spLocks noGrp="1"/>
          </p:cNvSpPr>
          <p:nvPr>
            <p:ph type="title"/>
          </p:nvPr>
        </p:nvSpPr>
        <p:spPr/>
        <p:txBody>
          <a:bodyPr/>
          <a:lstStyle/>
          <a:p>
            <a:r>
              <a:rPr lang="en-US" dirty="0"/>
              <a:t>What was this something about a “controller”?</a:t>
            </a:r>
          </a:p>
        </p:txBody>
      </p:sp>
      <p:graphicFrame>
        <p:nvGraphicFramePr>
          <p:cNvPr id="6" name="Diagram 5">
            <a:extLst>
              <a:ext uri="{FF2B5EF4-FFF2-40B4-BE49-F238E27FC236}">
                <a16:creationId xmlns:a16="http://schemas.microsoft.com/office/drawing/2014/main" id="{96400DA1-E9AF-4D54-8833-28161067C5A9}"/>
              </a:ext>
            </a:extLst>
          </p:cNvPr>
          <p:cNvGraphicFramePr/>
          <p:nvPr/>
        </p:nvGraphicFramePr>
        <p:xfrm>
          <a:off x="267706" y="1179576"/>
          <a:ext cx="11422771" cy="1065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lowchart: Alternate Process 6">
            <a:extLst>
              <a:ext uri="{FF2B5EF4-FFF2-40B4-BE49-F238E27FC236}">
                <a16:creationId xmlns:a16="http://schemas.microsoft.com/office/drawing/2014/main" id="{555CF690-EFA8-43B1-B072-7D0EA34EB271}"/>
              </a:ext>
            </a:extLst>
          </p:cNvPr>
          <p:cNvSpPr/>
          <p:nvPr/>
        </p:nvSpPr>
        <p:spPr bwMode="gray">
          <a:xfrm>
            <a:off x="5244831" y="3374212"/>
            <a:ext cx="2216880" cy="1248155"/>
          </a:xfrm>
          <a:prstGeom prst="flowChartAlternateProcess">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Controller</a:t>
            </a:r>
          </a:p>
        </p:txBody>
      </p:sp>
      <p:sp>
        <p:nvSpPr>
          <p:cNvPr id="8" name="Scroll: Vertical 7">
            <a:extLst>
              <a:ext uri="{FF2B5EF4-FFF2-40B4-BE49-F238E27FC236}">
                <a16:creationId xmlns:a16="http://schemas.microsoft.com/office/drawing/2014/main" id="{150895A8-6424-40BB-94B2-76ADA3C2C250}"/>
              </a:ext>
            </a:extLst>
          </p:cNvPr>
          <p:cNvSpPr/>
          <p:nvPr/>
        </p:nvSpPr>
        <p:spPr bwMode="gray">
          <a:xfrm>
            <a:off x="1996155" y="2626691"/>
            <a:ext cx="1508760" cy="1371599"/>
          </a:xfrm>
          <a:prstGeom prst="verticalScroll">
            <a:avLst/>
          </a:prstGeom>
          <a:ln>
            <a:headEnd/>
            <a:tailEnd/>
          </a:ln>
        </p:spPr>
        <p:style>
          <a:lnRef idx="2">
            <a:schemeClr val="accent2"/>
          </a:lnRef>
          <a:fillRef idx="1">
            <a:schemeClr val="lt1"/>
          </a:fillRef>
          <a:effectRef idx="0">
            <a:schemeClr val="accent2"/>
          </a:effectRef>
          <a:fontRef idx="minor">
            <a:schemeClr val="dk1"/>
          </a:fontRef>
        </p:style>
        <p:txBody>
          <a:bodyPr vert="horz"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CRD</a:t>
            </a:r>
          </a:p>
        </p:txBody>
      </p:sp>
      <p:sp>
        <p:nvSpPr>
          <p:cNvPr id="9" name="Flowchart: Alternate Process 8">
            <a:extLst>
              <a:ext uri="{FF2B5EF4-FFF2-40B4-BE49-F238E27FC236}">
                <a16:creationId xmlns:a16="http://schemas.microsoft.com/office/drawing/2014/main" id="{BEF33497-C8DA-4C6A-95AC-86631F28F97C}"/>
              </a:ext>
            </a:extLst>
          </p:cNvPr>
          <p:cNvSpPr/>
          <p:nvPr/>
        </p:nvSpPr>
        <p:spPr bwMode="gray">
          <a:xfrm>
            <a:off x="8978877" y="4213217"/>
            <a:ext cx="1396476" cy="1274488"/>
          </a:xfrm>
          <a:prstGeom prst="flowChartAlternateProcess">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Pod</a:t>
            </a:r>
          </a:p>
        </p:txBody>
      </p:sp>
      <p:sp>
        <p:nvSpPr>
          <p:cNvPr id="10" name="Scroll: Vertical 9">
            <a:extLst>
              <a:ext uri="{FF2B5EF4-FFF2-40B4-BE49-F238E27FC236}">
                <a16:creationId xmlns:a16="http://schemas.microsoft.com/office/drawing/2014/main" id="{3F63FEC2-BB88-483F-83BB-F72560D01569}"/>
              </a:ext>
            </a:extLst>
          </p:cNvPr>
          <p:cNvSpPr/>
          <p:nvPr/>
        </p:nvSpPr>
        <p:spPr bwMode="gray">
          <a:xfrm>
            <a:off x="1996155" y="4324008"/>
            <a:ext cx="1508760" cy="1371599"/>
          </a:xfrm>
          <a:prstGeom prst="verticalScroll">
            <a:avLst/>
          </a:prstGeom>
          <a:ln>
            <a:headEnd/>
            <a:tailEnd/>
          </a:ln>
        </p:spPr>
        <p:style>
          <a:lnRef idx="2">
            <a:schemeClr val="accent2"/>
          </a:lnRef>
          <a:fillRef idx="1">
            <a:schemeClr val="lt1"/>
          </a:fillRef>
          <a:effectRef idx="0">
            <a:schemeClr val="accent2"/>
          </a:effectRef>
          <a:fontRef idx="minor">
            <a:schemeClr val="dk1"/>
          </a:fontRef>
        </p:style>
        <p:txBody>
          <a:bodyPr vert="horz"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CRO</a:t>
            </a:r>
          </a:p>
        </p:txBody>
      </p:sp>
      <p:sp>
        <p:nvSpPr>
          <p:cNvPr id="11" name="Flowchart: Alternate Process 10">
            <a:extLst>
              <a:ext uri="{FF2B5EF4-FFF2-40B4-BE49-F238E27FC236}">
                <a16:creationId xmlns:a16="http://schemas.microsoft.com/office/drawing/2014/main" id="{D9AB9761-B883-4C75-80CE-78B6EA344896}"/>
              </a:ext>
            </a:extLst>
          </p:cNvPr>
          <p:cNvSpPr/>
          <p:nvPr/>
        </p:nvSpPr>
        <p:spPr bwMode="gray">
          <a:xfrm>
            <a:off x="8978877" y="2626691"/>
            <a:ext cx="1396476" cy="1274488"/>
          </a:xfrm>
          <a:prstGeom prst="flowChartAlternateProcess">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Pod</a:t>
            </a:r>
          </a:p>
        </p:txBody>
      </p:sp>
      <p:cxnSp>
        <p:nvCxnSpPr>
          <p:cNvPr id="17" name="Straight Arrow Connector 16">
            <a:extLst>
              <a:ext uri="{FF2B5EF4-FFF2-40B4-BE49-F238E27FC236}">
                <a16:creationId xmlns:a16="http://schemas.microsoft.com/office/drawing/2014/main" id="{C4881647-A915-4AF8-BF46-39EA1FFEC4BE}"/>
              </a:ext>
            </a:extLst>
          </p:cNvPr>
          <p:cNvCxnSpPr>
            <a:cxnSpLocks/>
            <a:stCxn id="8" idx="2"/>
            <a:endCxn id="10" idx="0"/>
          </p:cNvCxnSpPr>
          <p:nvPr/>
        </p:nvCxnSpPr>
        <p:spPr>
          <a:xfrm>
            <a:off x="2750535" y="3998290"/>
            <a:ext cx="0" cy="325718"/>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A796564-D3CB-48A7-8DA1-312179EB1493}"/>
              </a:ext>
            </a:extLst>
          </p:cNvPr>
          <p:cNvCxnSpPr>
            <a:cxnSpLocks/>
            <a:stCxn id="7" idx="1"/>
            <a:endCxn id="8" idx="3"/>
          </p:cNvCxnSpPr>
          <p:nvPr/>
        </p:nvCxnSpPr>
        <p:spPr>
          <a:xfrm flipH="1" flipV="1">
            <a:off x="3333465" y="3312491"/>
            <a:ext cx="1911366" cy="685799"/>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75C0C7B-918A-4516-8A24-5D9F230EF895}"/>
              </a:ext>
            </a:extLst>
          </p:cNvPr>
          <p:cNvCxnSpPr>
            <a:cxnSpLocks/>
            <a:stCxn id="7" idx="1"/>
            <a:endCxn id="10" idx="3"/>
          </p:cNvCxnSpPr>
          <p:nvPr/>
        </p:nvCxnSpPr>
        <p:spPr>
          <a:xfrm flipH="1">
            <a:off x="3333465" y="3998290"/>
            <a:ext cx="1911366" cy="1011518"/>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B18D363-4106-4F15-B4DA-0BE8BA1CA451}"/>
              </a:ext>
            </a:extLst>
          </p:cNvPr>
          <p:cNvCxnSpPr>
            <a:cxnSpLocks/>
            <a:stCxn id="7" idx="3"/>
            <a:endCxn id="9" idx="1"/>
          </p:cNvCxnSpPr>
          <p:nvPr/>
        </p:nvCxnSpPr>
        <p:spPr>
          <a:xfrm>
            <a:off x="7461711" y="3998290"/>
            <a:ext cx="1517166" cy="852171"/>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81C3205-BAFC-4DF3-9EB5-62487BE70D2F}"/>
              </a:ext>
            </a:extLst>
          </p:cNvPr>
          <p:cNvCxnSpPr>
            <a:cxnSpLocks/>
            <a:stCxn id="7" idx="3"/>
            <a:endCxn id="11" idx="1"/>
          </p:cNvCxnSpPr>
          <p:nvPr/>
        </p:nvCxnSpPr>
        <p:spPr>
          <a:xfrm flipV="1">
            <a:off x="7461711" y="3263935"/>
            <a:ext cx="1517166" cy="734355"/>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66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E8D585-6C05-4761-868E-D358D943005F}"/>
              </a:ext>
            </a:extLst>
          </p:cNvPr>
          <p:cNvPicPr>
            <a:picLocks noChangeAspect="1"/>
          </p:cNvPicPr>
          <p:nvPr/>
        </p:nvPicPr>
        <p:blipFill>
          <a:blip r:embed="rId3"/>
          <a:stretch>
            <a:fillRect/>
          </a:stretch>
        </p:blipFill>
        <p:spPr>
          <a:xfrm>
            <a:off x="8013146" y="2097620"/>
            <a:ext cx="3255453" cy="2592524"/>
          </a:xfrm>
          <a:prstGeom prst="rect">
            <a:avLst/>
          </a:prstGeom>
          <a:ln>
            <a:solidFill>
              <a:schemeClr val="tx1"/>
            </a:solidFill>
          </a:ln>
        </p:spPr>
      </p:pic>
      <p:pic>
        <p:nvPicPr>
          <p:cNvPr id="4" name="Picture 3">
            <a:extLst>
              <a:ext uri="{FF2B5EF4-FFF2-40B4-BE49-F238E27FC236}">
                <a16:creationId xmlns:a16="http://schemas.microsoft.com/office/drawing/2014/main" id="{B1476AAD-DB08-4C86-B947-EBA4B95AEBE1}"/>
              </a:ext>
            </a:extLst>
          </p:cNvPr>
          <p:cNvPicPr>
            <a:picLocks noChangeAspect="1"/>
          </p:cNvPicPr>
          <p:nvPr/>
        </p:nvPicPr>
        <p:blipFill>
          <a:blip r:embed="rId4"/>
          <a:stretch>
            <a:fillRect/>
          </a:stretch>
        </p:blipFill>
        <p:spPr>
          <a:xfrm>
            <a:off x="632628" y="873332"/>
            <a:ext cx="3118088" cy="5616494"/>
          </a:xfrm>
          <a:prstGeom prst="rect">
            <a:avLst/>
          </a:prstGeom>
          <a:ln>
            <a:solidFill>
              <a:schemeClr val="tx1"/>
            </a:solidFill>
          </a:ln>
        </p:spPr>
      </p:pic>
      <p:sp>
        <p:nvSpPr>
          <p:cNvPr id="3" name="Title 2">
            <a:extLst>
              <a:ext uri="{FF2B5EF4-FFF2-40B4-BE49-F238E27FC236}">
                <a16:creationId xmlns:a16="http://schemas.microsoft.com/office/drawing/2014/main" id="{A4432EFF-05F9-4C4E-AE9E-F6A3F8C70928}"/>
              </a:ext>
            </a:extLst>
          </p:cNvPr>
          <p:cNvSpPr>
            <a:spLocks noGrp="1"/>
          </p:cNvSpPr>
          <p:nvPr>
            <p:ph type="title"/>
          </p:nvPr>
        </p:nvSpPr>
        <p:spPr/>
        <p:txBody>
          <a:bodyPr/>
          <a:lstStyle/>
          <a:p>
            <a:r>
              <a:rPr lang="en-US" dirty="0"/>
              <a:t>CRD/CRO Example</a:t>
            </a:r>
          </a:p>
        </p:txBody>
      </p:sp>
      <p:sp>
        <p:nvSpPr>
          <p:cNvPr id="6" name="Speech Bubble: Rectangle 5">
            <a:extLst>
              <a:ext uri="{FF2B5EF4-FFF2-40B4-BE49-F238E27FC236}">
                <a16:creationId xmlns:a16="http://schemas.microsoft.com/office/drawing/2014/main" id="{3168BAB8-9930-4B26-8068-27A9400AD305}"/>
              </a:ext>
            </a:extLst>
          </p:cNvPr>
          <p:cNvSpPr/>
          <p:nvPr/>
        </p:nvSpPr>
        <p:spPr bwMode="gray">
          <a:xfrm>
            <a:off x="4046371" y="1462271"/>
            <a:ext cx="3067662" cy="521977"/>
          </a:xfrm>
          <a:prstGeom prst="wedgeRectCallout">
            <a:avLst>
              <a:gd name="adj1" fmla="val -83392"/>
              <a:gd name="adj2" fmla="val 55818"/>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API specification</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Speech Bubble: Rectangle 6">
            <a:extLst>
              <a:ext uri="{FF2B5EF4-FFF2-40B4-BE49-F238E27FC236}">
                <a16:creationId xmlns:a16="http://schemas.microsoft.com/office/drawing/2014/main" id="{B5D4B24E-CE04-46FC-8814-BE49D39643E6}"/>
              </a:ext>
            </a:extLst>
          </p:cNvPr>
          <p:cNvSpPr/>
          <p:nvPr/>
        </p:nvSpPr>
        <p:spPr bwMode="gray">
          <a:xfrm>
            <a:off x="3838189" y="3266690"/>
            <a:ext cx="3067662" cy="829778"/>
          </a:xfrm>
          <a:prstGeom prst="wedgeRectCallout">
            <a:avLst>
              <a:gd name="adj1" fmla="val -89758"/>
              <a:gd name="adj2" fmla="val 11888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Validation schema to outline resource structure </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Speech Bubble: Rectangle 7">
            <a:extLst>
              <a:ext uri="{FF2B5EF4-FFF2-40B4-BE49-F238E27FC236}">
                <a16:creationId xmlns:a16="http://schemas.microsoft.com/office/drawing/2014/main" id="{796FB130-0865-43A3-975C-FA99EB64E93E}"/>
              </a:ext>
            </a:extLst>
          </p:cNvPr>
          <p:cNvSpPr/>
          <p:nvPr/>
        </p:nvSpPr>
        <p:spPr bwMode="gray">
          <a:xfrm>
            <a:off x="7727622" y="5301770"/>
            <a:ext cx="3393646" cy="829778"/>
          </a:xfrm>
          <a:prstGeom prst="wedgeRectCallout">
            <a:avLst>
              <a:gd name="adj1" fmla="val 3290"/>
              <a:gd name="adj2" fmla="val -14399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Resource structured according to validation schema</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Speech Bubble: Rectangle 8">
            <a:extLst>
              <a:ext uri="{FF2B5EF4-FFF2-40B4-BE49-F238E27FC236}">
                <a16:creationId xmlns:a16="http://schemas.microsoft.com/office/drawing/2014/main" id="{7A9578CA-9F00-4E58-8C70-B42D38A280E5}"/>
              </a:ext>
            </a:extLst>
          </p:cNvPr>
          <p:cNvSpPr/>
          <p:nvPr/>
        </p:nvSpPr>
        <p:spPr bwMode="gray">
          <a:xfrm>
            <a:off x="8168901" y="726452"/>
            <a:ext cx="3393646" cy="591749"/>
          </a:xfrm>
          <a:prstGeom prst="wedgeRectCallout">
            <a:avLst>
              <a:gd name="adj1" fmla="val -4272"/>
              <a:gd name="adj2" fmla="val 186960"/>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Newly created API endpoint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411549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67BF6B-539F-CBB7-5F0E-CA44D50B5B4E}"/>
              </a:ext>
            </a:extLst>
          </p:cNvPr>
          <p:cNvSpPr>
            <a:spLocks noGrp="1"/>
          </p:cNvSpPr>
          <p:nvPr>
            <p:ph type="title"/>
          </p:nvPr>
        </p:nvSpPr>
        <p:spPr>
          <a:xfrm>
            <a:off x="504001" y="503999"/>
            <a:ext cx="11186476" cy="370201"/>
          </a:xfrm>
        </p:spPr>
        <p:txBody>
          <a:bodyPr/>
          <a:lstStyle/>
          <a:p>
            <a:r>
              <a:rPr lang="en-DE" dirty="0"/>
              <a:t>Kubernetes Operators</a:t>
            </a:r>
          </a:p>
        </p:txBody>
      </p:sp>
      <p:sp>
        <p:nvSpPr>
          <p:cNvPr id="5" name="TextBox 4">
            <a:extLst>
              <a:ext uri="{FF2B5EF4-FFF2-40B4-BE49-F238E27FC236}">
                <a16:creationId xmlns:a16="http://schemas.microsoft.com/office/drawing/2014/main" id="{108A1463-932C-9FCA-85A2-052938267432}"/>
              </a:ext>
            </a:extLst>
          </p:cNvPr>
          <p:cNvSpPr txBox="1"/>
          <p:nvPr/>
        </p:nvSpPr>
        <p:spPr>
          <a:xfrm>
            <a:off x="2426733" y="3428999"/>
            <a:ext cx="957013" cy="308501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20000" kern="0" dirty="0">
                <a:solidFill>
                  <a:schemeClr val="tx2">
                    <a:lumMod val="50000"/>
                  </a:schemeClr>
                </a:solidFill>
                <a:ea typeface="Arial Unicode MS" pitchFamily="34" charset="-128"/>
                <a:cs typeface="Arial Unicode MS" pitchFamily="34" charset="-128"/>
              </a:rPr>
              <a:t>”</a:t>
            </a:r>
            <a:endParaRPr lang="en-DE" sz="20000" kern="0" dirty="0" err="1">
              <a:solidFill>
                <a:schemeClr val="tx2">
                  <a:lumMod val="50000"/>
                </a:schemeClr>
              </a:solidFill>
              <a:ea typeface="Arial Unicode MS" pitchFamily="34" charset="-128"/>
              <a:cs typeface="Arial Unicode MS" pitchFamily="34" charset="-128"/>
            </a:endParaRPr>
          </a:p>
        </p:txBody>
      </p:sp>
      <p:sp>
        <p:nvSpPr>
          <p:cNvPr id="6" name="Rectangle 5">
            <a:extLst>
              <a:ext uri="{FF2B5EF4-FFF2-40B4-BE49-F238E27FC236}">
                <a16:creationId xmlns:a16="http://schemas.microsoft.com/office/drawing/2014/main" id="{63C2F5CF-C4B1-9971-4B9D-21EB0A43501D}"/>
              </a:ext>
            </a:extLst>
          </p:cNvPr>
          <p:cNvSpPr/>
          <p:nvPr/>
        </p:nvSpPr>
        <p:spPr bwMode="gray">
          <a:xfrm>
            <a:off x="2703005" y="4197028"/>
            <a:ext cx="6861633" cy="1348420"/>
          </a:xfrm>
          <a:prstGeom prst="rect">
            <a:avLst/>
          </a:prstGeom>
          <a:solidFill>
            <a:schemeClr val="bg1">
              <a:lumMod val="95000"/>
              <a:alpha val="70000"/>
            </a:schemeClr>
          </a:solidFill>
          <a:ln w="6350" algn="ctr">
            <a:solidFill>
              <a:schemeClr val="tx2"/>
            </a:solidFill>
            <a:miter lim="800000"/>
            <a:headEnd/>
            <a:tailEnd/>
          </a:ln>
        </p:spPr>
        <p:txBody>
          <a:bodyPr lIns="90000" tIns="72000" rIns="90000" bIns="72000" rtlCol="0" anchor="ctr"/>
          <a:lstStyle/>
          <a:p>
            <a:pPr marR="0" algn="just" defTabSz="914400" eaLnBrk="1" fontAlgn="base" latinLnBrk="0" hangingPunct="1">
              <a:lnSpc>
                <a:spcPct val="100000"/>
              </a:lnSpc>
              <a:spcBef>
                <a:spcPct val="50000"/>
              </a:spcBef>
              <a:spcAft>
                <a:spcPct val="0"/>
              </a:spcAft>
              <a:buClr>
                <a:srgbClr val="F0AB00"/>
              </a:buClr>
              <a:buSzPct val="80000"/>
              <a:tabLst/>
            </a:pPr>
            <a:r>
              <a:rPr lang="en-US" sz="1800" dirty="0"/>
              <a:t>Operators are software extensions to Kubernetes that make use of custom resources to manage applications and their components. Operators follow Kubernetes principles, notably the control loop.</a:t>
            </a: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TextBox 6">
            <a:extLst>
              <a:ext uri="{FF2B5EF4-FFF2-40B4-BE49-F238E27FC236}">
                <a16:creationId xmlns:a16="http://schemas.microsoft.com/office/drawing/2014/main" id="{2D37B881-62C9-0E91-9C5A-56280D41B0F5}"/>
              </a:ext>
            </a:extLst>
          </p:cNvPr>
          <p:cNvSpPr txBox="1"/>
          <p:nvPr/>
        </p:nvSpPr>
        <p:spPr>
          <a:xfrm>
            <a:off x="6042799" y="5545448"/>
            <a:ext cx="3521839" cy="231375"/>
          </a:xfrm>
          <a:prstGeom prst="rect">
            <a:avLst/>
          </a:prstGeom>
          <a:noFill/>
        </p:spPr>
        <p:txBody>
          <a:bodyPr wrap="square">
            <a:spAutoFit/>
          </a:bodyPr>
          <a:lstStyle/>
          <a:p>
            <a:pPr algn="r"/>
            <a:r>
              <a:rPr lang="en-GB" sz="900" dirty="0"/>
              <a:t>https://</a:t>
            </a:r>
            <a:r>
              <a:rPr lang="en-GB" sz="900" dirty="0" err="1"/>
              <a:t>kubernetes.io</a:t>
            </a:r>
            <a:r>
              <a:rPr lang="en-GB" sz="900" dirty="0"/>
              <a:t>/docs/concepts/extend-</a:t>
            </a:r>
            <a:r>
              <a:rPr lang="en-GB" sz="900" dirty="0" err="1"/>
              <a:t>kubernetes</a:t>
            </a:r>
            <a:r>
              <a:rPr lang="en-GB" sz="900" dirty="0"/>
              <a:t>/operator/</a:t>
            </a:r>
            <a:endParaRPr lang="en-DE" sz="900" dirty="0"/>
          </a:p>
        </p:txBody>
      </p:sp>
      <p:pic>
        <p:nvPicPr>
          <p:cNvPr id="9" name="Graphic 8" descr="Document with solid fill">
            <a:extLst>
              <a:ext uri="{FF2B5EF4-FFF2-40B4-BE49-F238E27FC236}">
                <a16:creationId xmlns:a16="http://schemas.microsoft.com/office/drawing/2014/main" id="{7139F7D2-15B9-B4B5-7C88-F1B1C847D3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05679" y="1474005"/>
            <a:ext cx="1457098" cy="1460528"/>
          </a:xfrm>
          <a:prstGeom prst="rect">
            <a:avLst/>
          </a:prstGeom>
        </p:spPr>
      </p:pic>
      <p:pic>
        <p:nvPicPr>
          <p:cNvPr id="11" name="Graphic 10" descr="Gears with solid fill">
            <a:extLst>
              <a:ext uri="{FF2B5EF4-FFF2-40B4-BE49-F238E27FC236}">
                <a16:creationId xmlns:a16="http://schemas.microsoft.com/office/drawing/2014/main" id="{B75FF94D-BC67-B744-B02A-9AACB4BD8D3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78833" y="1474005"/>
            <a:ext cx="1457098" cy="1460528"/>
          </a:xfrm>
          <a:prstGeom prst="rect">
            <a:avLst/>
          </a:prstGeom>
        </p:spPr>
      </p:pic>
      <p:sp>
        <p:nvSpPr>
          <p:cNvPr id="12" name="TextBox 11">
            <a:extLst>
              <a:ext uri="{FF2B5EF4-FFF2-40B4-BE49-F238E27FC236}">
                <a16:creationId xmlns:a16="http://schemas.microsoft.com/office/drawing/2014/main" id="{52D2F8DF-7066-9A6B-39D9-9C294D7914C6}"/>
              </a:ext>
            </a:extLst>
          </p:cNvPr>
          <p:cNvSpPr txBox="1"/>
          <p:nvPr/>
        </p:nvSpPr>
        <p:spPr>
          <a:xfrm>
            <a:off x="4323942" y="1696467"/>
            <a:ext cx="493725" cy="1015663"/>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DE" sz="6600" kern="0" dirty="0">
                <a:ea typeface="Arial Unicode MS" pitchFamily="34" charset="-128"/>
                <a:cs typeface="Arial Unicode MS" pitchFamily="34" charset="-128"/>
              </a:rPr>
              <a:t>+</a:t>
            </a:r>
            <a:endParaRPr lang="en-DE" sz="1800" kern="0" dirty="0">
              <a:ea typeface="Arial Unicode MS" pitchFamily="34" charset="-128"/>
              <a:cs typeface="Arial Unicode MS" pitchFamily="34" charset="-128"/>
            </a:endParaRPr>
          </a:p>
        </p:txBody>
      </p:sp>
      <p:sp>
        <p:nvSpPr>
          <p:cNvPr id="13" name="TextBox 12">
            <a:extLst>
              <a:ext uri="{FF2B5EF4-FFF2-40B4-BE49-F238E27FC236}">
                <a16:creationId xmlns:a16="http://schemas.microsoft.com/office/drawing/2014/main" id="{3C534CB0-0FA7-50B3-5D63-AE68FAB700C5}"/>
              </a:ext>
            </a:extLst>
          </p:cNvPr>
          <p:cNvSpPr txBox="1"/>
          <p:nvPr/>
        </p:nvSpPr>
        <p:spPr>
          <a:xfrm>
            <a:off x="2253190" y="2921169"/>
            <a:ext cx="1962076"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DE" sz="1800" kern="0" dirty="0">
                <a:ea typeface="Arial Unicode MS" pitchFamily="34" charset="-128"/>
                <a:cs typeface="Arial Unicode MS" pitchFamily="34" charset="-128"/>
              </a:rPr>
              <a:t>Custom Resources</a:t>
            </a:r>
          </a:p>
        </p:txBody>
      </p:sp>
      <p:sp>
        <p:nvSpPr>
          <p:cNvPr id="14" name="TextBox 13">
            <a:extLst>
              <a:ext uri="{FF2B5EF4-FFF2-40B4-BE49-F238E27FC236}">
                <a16:creationId xmlns:a16="http://schemas.microsoft.com/office/drawing/2014/main" id="{61AC97BD-640A-83C9-3883-E2A4256A5512}"/>
              </a:ext>
            </a:extLst>
          </p:cNvPr>
          <p:cNvSpPr txBox="1"/>
          <p:nvPr/>
        </p:nvSpPr>
        <p:spPr>
          <a:xfrm>
            <a:off x="5407245" y="2921169"/>
            <a:ext cx="1000274"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DE" sz="1800" kern="0" dirty="0">
                <a:ea typeface="Arial Unicode MS" pitchFamily="34" charset="-128"/>
                <a:cs typeface="Arial Unicode MS" pitchFamily="34" charset="-128"/>
              </a:rPr>
              <a:t>Controller</a:t>
            </a:r>
          </a:p>
        </p:txBody>
      </p:sp>
      <p:sp>
        <p:nvSpPr>
          <p:cNvPr id="15" name="TextBox 14">
            <a:extLst>
              <a:ext uri="{FF2B5EF4-FFF2-40B4-BE49-F238E27FC236}">
                <a16:creationId xmlns:a16="http://schemas.microsoft.com/office/drawing/2014/main" id="{07B8E9B8-BCC1-8222-D7A7-7F5F9EC35C65}"/>
              </a:ext>
            </a:extLst>
          </p:cNvPr>
          <p:cNvSpPr txBox="1"/>
          <p:nvPr/>
        </p:nvSpPr>
        <p:spPr>
          <a:xfrm>
            <a:off x="7105773" y="1694722"/>
            <a:ext cx="493725" cy="1015663"/>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DE" sz="6600" kern="0" dirty="0">
                <a:ea typeface="Arial Unicode MS" pitchFamily="34" charset="-128"/>
                <a:cs typeface="Arial Unicode MS" pitchFamily="34" charset="-128"/>
              </a:rPr>
              <a:t>=</a:t>
            </a:r>
            <a:endParaRPr lang="en-DE" sz="1800" kern="0" dirty="0">
              <a:ea typeface="Arial Unicode MS" pitchFamily="34" charset="-128"/>
              <a:cs typeface="Arial Unicode MS" pitchFamily="34" charset="-128"/>
            </a:endParaRPr>
          </a:p>
        </p:txBody>
      </p:sp>
      <p:pic>
        <p:nvPicPr>
          <p:cNvPr id="17" name="Graphic 16" descr="Doctor male with solid fill">
            <a:extLst>
              <a:ext uri="{FF2B5EF4-FFF2-40B4-BE49-F238E27FC236}">
                <a16:creationId xmlns:a16="http://schemas.microsoft.com/office/drawing/2014/main" id="{227E0EF8-574F-DF93-03CE-1AE38D73288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08489" y="1474005"/>
            <a:ext cx="1457098" cy="1460528"/>
          </a:xfrm>
          <a:prstGeom prst="rect">
            <a:avLst/>
          </a:prstGeom>
        </p:spPr>
      </p:pic>
      <p:sp>
        <p:nvSpPr>
          <p:cNvPr id="18" name="TextBox 17">
            <a:extLst>
              <a:ext uri="{FF2B5EF4-FFF2-40B4-BE49-F238E27FC236}">
                <a16:creationId xmlns:a16="http://schemas.microsoft.com/office/drawing/2014/main" id="{E1E7E8E4-C2C1-A934-BE13-3D880A64D1D6}"/>
              </a:ext>
            </a:extLst>
          </p:cNvPr>
          <p:cNvSpPr txBox="1"/>
          <p:nvPr/>
        </p:nvSpPr>
        <p:spPr>
          <a:xfrm>
            <a:off x="8581785" y="2921169"/>
            <a:ext cx="910506"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DE" sz="1800" kern="0" dirty="0">
                <a:ea typeface="Arial Unicode MS" pitchFamily="34" charset="-128"/>
                <a:cs typeface="Arial Unicode MS" pitchFamily="34" charset="-128"/>
              </a:rPr>
              <a:t>Operator</a:t>
            </a:r>
          </a:p>
        </p:txBody>
      </p:sp>
    </p:spTree>
    <p:extLst>
      <p:ext uri="{BB962C8B-B14F-4D97-AF65-F5344CB8AC3E}">
        <p14:creationId xmlns:p14="http://schemas.microsoft.com/office/powerpoint/2010/main" val="908940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1586E469-D4BE-4FD2-8C2F-DB3709242579}"/>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3929190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Dashboard addon</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2"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llustration" descr="Example of an illustration" title="Illustration for title slide">
            <a:extLst>
              <a:ext uri="{FF2B5EF4-FFF2-40B4-BE49-F238E27FC236}">
                <a16:creationId xmlns:a16="http://schemas.microsoft.com/office/drawing/2014/main" id="{01600F65-CF7C-4978-AEE5-E81564FA87FF}"/>
              </a:ext>
            </a:extLst>
          </p:cNvPr>
          <p:cNvPicPr>
            <a:picLocks noGrp="1" noChangeAspect="1"/>
          </p:cNvPicPr>
          <p:nvPr>
            <p:ph type="pic" sz="quarter" idx="12"/>
          </p:nvPr>
        </p:nvPicPr>
        <p:blipFill>
          <a:blip r:embed="rId4"/>
          <a:srcRect t="3112" b="3112"/>
          <a:stretch>
            <a:fillRect/>
          </a:stretch>
        </p:blipFill>
        <p:spPr bwMode="gray">
          <a:xfrm>
            <a:off x="1" y="0"/>
            <a:ext cx="12195174" cy="3430006"/>
          </a:xfrm>
        </p:spPr>
      </p:pic>
    </p:spTree>
    <p:extLst>
      <p:ext uri="{BB962C8B-B14F-4D97-AF65-F5344CB8AC3E}">
        <p14:creationId xmlns:p14="http://schemas.microsoft.com/office/powerpoint/2010/main" val="3023893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Sometimes working with </a:t>
            </a:r>
            <a:r>
              <a:rPr lang="en-US" dirty="0" err="1"/>
              <a:t>kubernetes</a:t>
            </a:r>
            <a:r>
              <a:rPr lang="en-US" dirty="0"/>
              <a:t> is like …</a:t>
            </a:r>
          </a:p>
        </p:txBody>
      </p:sp>
      <p:pic>
        <p:nvPicPr>
          <p:cNvPr id="1028" name="Picture 4" descr="The Important Fiel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388" y="1370845"/>
            <a:ext cx="9753039" cy="423911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732922" y="5691976"/>
            <a:ext cx="2803973" cy="415498"/>
          </a:xfrm>
          <a:prstGeom prst="rect">
            <a:avLst/>
          </a:prstGeom>
        </p:spPr>
        <p:txBody>
          <a:bodyPr wrap="none">
            <a:spAutoFit/>
          </a:bodyPr>
          <a:lstStyle/>
          <a:p>
            <a:r>
              <a:rPr lang="en-US" dirty="0">
                <a:hlinkClick r:id="rId4"/>
              </a:rPr>
              <a:t>https://xkcd.com/970/</a:t>
            </a:r>
            <a:endParaRPr lang="en-US" dirty="0"/>
          </a:p>
        </p:txBody>
      </p:sp>
    </p:spTree>
    <p:extLst>
      <p:ext uri="{BB962C8B-B14F-4D97-AF65-F5344CB8AC3E}">
        <p14:creationId xmlns:p14="http://schemas.microsoft.com/office/powerpoint/2010/main" val="822933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 K8s Dashboard</a:t>
            </a:r>
          </a:p>
        </p:txBody>
      </p:sp>
      <p:pic>
        <p:nvPicPr>
          <p:cNvPr id="5" name="Picture 4"/>
          <p:cNvPicPr>
            <a:picLocks noChangeAspect="1"/>
          </p:cNvPicPr>
          <p:nvPr/>
        </p:nvPicPr>
        <p:blipFill>
          <a:blip r:embed="rId3"/>
          <a:stretch>
            <a:fillRect/>
          </a:stretch>
        </p:blipFill>
        <p:spPr>
          <a:xfrm>
            <a:off x="598254" y="959749"/>
            <a:ext cx="10997970" cy="5435976"/>
          </a:xfrm>
          <a:prstGeom prst="rect">
            <a:avLst/>
          </a:prstGeom>
        </p:spPr>
      </p:pic>
    </p:spTree>
    <p:extLst>
      <p:ext uri="{BB962C8B-B14F-4D97-AF65-F5344CB8AC3E}">
        <p14:creationId xmlns:p14="http://schemas.microsoft.com/office/powerpoint/2010/main" val="306142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D4BF-5C0E-4BE1-A99C-25DBDC85D9CD}"/>
              </a:ext>
            </a:extLst>
          </p:cNvPr>
          <p:cNvSpPr>
            <a:spLocks noGrp="1"/>
          </p:cNvSpPr>
          <p:nvPr>
            <p:ph type="title"/>
          </p:nvPr>
        </p:nvSpPr>
        <p:spPr/>
        <p:txBody>
          <a:bodyPr/>
          <a:lstStyle/>
          <a:p>
            <a:r>
              <a:rPr lang="en-US" dirty="0"/>
              <a:t>(optional) Demo</a:t>
            </a:r>
          </a:p>
        </p:txBody>
      </p:sp>
      <p:pic>
        <p:nvPicPr>
          <p:cNvPr id="4" name="Picture 3">
            <a:extLst>
              <a:ext uri="{FF2B5EF4-FFF2-40B4-BE49-F238E27FC236}">
                <a16:creationId xmlns:a16="http://schemas.microsoft.com/office/drawing/2014/main" id="{7F798369-315D-4168-9945-CC458FC9EC6E}"/>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1612786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TotalTime>
  <Words>1922</Words>
  <Application>Microsoft Macintosh PowerPoint</Application>
  <PresentationFormat>Custom</PresentationFormat>
  <Paragraphs>202</Paragraphs>
  <Slides>20</Slides>
  <Notes>17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Courier New</vt:lpstr>
      <vt:lpstr>Symbol</vt:lpstr>
      <vt:lpstr>Wingdings</vt:lpstr>
      <vt:lpstr>Wingdings</vt:lpstr>
      <vt:lpstr>SAP_2017_16x9_black</vt:lpstr>
      <vt:lpstr>PowerPoint Presentation</vt:lpstr>
      <vt:lpstr>Job &amp; CronJob</vt:lpstr>
      <vt:lpstr>Some components require to have a pod on every node!</vt:lpstr>
      <vt:lpstr>PowerPoint Presentation</vt:lpstr>
      <vt:lpstr>A note on scheduling pods…</vt:lpstr>
      <vt:lpstr>Example: NodeSelector</vt:lpstr>
      <vt:lpstr>Pod Priority &amp; Preemption</vt:lpstr>
      <vt:lpstr>Priority Classes</vt:lpstr>
      <vt:lpstr>Optional Demo</vt:lpstr>
      <vt:lpstr>PowerPoint Presentation</vt:lpstr>
      <vt:lpstr>The Truth</vt:lpstr>
      <vt:lpstr>What was this something about a “controller”?</vt:lpstr>
      <vt:lpstr>CRD/CRO Example</vt:lpstr>
      <vt:lpstr>Kubernetes Operators</vt:lpstr>
      <vt:lpstr>Demo</vt:lpstr>
      <vt:lpstr>PowerPoint Presentation</vt:lpstr>
      <vt:lpstr>Sometimes working with kubernetes is like …</vt:lpstr>
      <vt:lpstr> K8s Dashboard</vt:lpstr>
      <vt:lpstr>(optional) Demo</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Buchner, Thomas</cp:lastModifiedBy>
  <cp:revision>776</cp:revision>
  <dcterms:created xsi:type="dcterms:W3CDTF">2015-10-14T11:21:43Z</dcterms:created>
  <dcterms:modified xsi:type="dcterms:W3CDTF">2023-09-22T12:40:16Z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