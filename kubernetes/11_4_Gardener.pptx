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7"/>
  </p:notesMasterIdLst>
  <p:handoutMasterIdLst>
    <p:handoutMasterId r:id="rId18"/>
  </p:handoutMasterIdLst>
  <p:sldIdLst>
    <p:sldId id="955" r:id="rId2"/>
    <p:sldId id="964" r:id="rId3"/>
    <p:sldId id="950" r:id="rId4"/>
    <p:sldId id="2145706648" r:id="rId5"/>
    <p:sldId id="364" r:id="rId6"/>
    <p:sldId id="2145706649" r:id="rId7"/>
    <p:sldId id="2145706647" r:id="rId8"/>
    <p:sldId id="662" r:id="rId9"/>
    <p:sldId id="2145706657" r:id="rId10"/>
    <p:sldId id="961" r:id="rId11"/>
    <p:sldId id="2145706656" r:id="rId12"/>
    <p:sldId id="2076137544" r:id="rId13"/>
    <p:sldId id="2145706645" r:id="rId14"/>
    <p:sldId id="3075" r:id="rId15"/>
    <p:sldId id="265" r:id="rId16"/>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ECE59"/>
    <a:srgbClr val="0F46A7"/>
    <a:srgbClr val="970A82"/>
    <a:srgbClr val="FF3399"/>
    <a:srgbClr val="FF0000"/>
    <a:srgbClr val="FFFFFF"/>
    <a:srgbClr val="FEE3A1"/>
    <a:srgbClr val="FFF1D0"/>
    <a:srgbClr val="FFF8E7"/>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76655" autoAdjust="0"/>
  </p:normalViewPr>
  <p:slideViewPr>
    <p:cSldViewPr snapToGrid="0" showGuides="1">
      <p:cViewPr varScale="1">
        <p:scale>
          <a:sx n="115" d="100"/>
          <a:sy n="115" d="100"/>
        </p:scale>
        <p:origin x="420" y="96"/>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3965478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use </a:t>
            </a:r>
            <a:r>
              <a:rPr lang="en-US" dirty="0" err="1"/>
              <a:t>Minikube</a:t>
            </a:r>
            <a:r>
              <a:rPr lang="en-US" dirty="0"/>
              <a:t> for a local Kubernetes installation on your Laptop. Great for testing and development, but of course, unsuitable for productive usage.</a:t>
            </a:r>
          </a:p>
          <a:p>
            <a:endParaRPr lang="en-US" dirty="0"/>
          </a:p>
          <a:p>
            <a:r>
              <a:rPr lang="en-US" dirty="0"/>
              <a:t>K3S is similar to </a:t>
            </a:r>
            <a:r>
              <a:rPr lang="en-US" dirty="0" err="1"/>
              <a:t>Minikube</a:t>
            </a:r>
            <a:r>
              <a:rPr lang="en-US" dirty="0"/>
              <a:t> and offers a very lightweight, one-node Kubernetes Cluster on your laptop.</a:t>
            </a:r>
          </a:p>
          <a:p>
            <a:endParaRPr lang="en-US"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Kind is Kubernetes in Docker. It spins up a small Kubernetes Cluster in Docker containers on a local machine and is ideal for development purposes. In fact, Kind is used by companies like </a:t>
            </a:r>
            <a:r>
              <a:rPr lang="en-US" dirty="0" err="1"/>
              <a:t>linkerd</a:t>
            </a:r>
            <a:r>
              <a:rPr lang="en-US" dirty="0"/>
              <a:t> to do their integration tests. https://kind.sigs.k8s.io/</a:t>
            </a:r>
          </a:p>
          <a:p>
            <a:endParaRPr lang="en-US" dirty="0"/>
          </a:p>
          <a:p>
            <a:r>
              <a:rPr lang="en-US" dirty="0"/>
              <a:t>The Cloud Providers/</a:t>
            </a:r>
            <a:r>
              <a:rPr lang="en-US" dirty="0" err="1"/>
              <a:t>Hyperscalers</a:t>
            </a:r>
            <a:r>
              <a:rPr lang="en-US" dirty="0"/>
              <a:t> offer managed, large-scale Kubernetes clusters for a fee. AWS calls its managed K8S offering EKS, Google calls it GKE and Microsoft's Azure calls it AKS. They all have their own custom adaptations and modifications to Kubernetes which offer additional functionality but can make portability across the different offerings a bit harder.</a:t>
            </a:r>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2</a:t>
            </a:fld>
            <a:endParaRPr kumimoji="0" lang="de-DE" sz="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532460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Gardener is SAP’s solution for managed </a:t>
            </a:r>
            <a:r>
              <a:rPr lang="en-US" dirty="0" err="1"/>
              <a:t>kubernetes</a:t>
            </a:r>
            <a:r>
              <a:rPr lang="en-US" dirty="0"/>
              <a:t> cluster. It is open source &amp; completely available on </a:t>
            </a:r>
            <a:r>
              <a:rPr lang="en-US" dirty="0" err="1"/>
              <a:t>github</a:t>
            </a:r>
            <a:r>
              <a:rPr lang="en-US" dirty="0"/>
              <a:t>: https://github.com/gardener/gardener/ </a:t>
            </a:r>
          </a:p>
          <a:p>
            <a:endParaRPr lang="en-US" dirty="0"/>
          </a:p>
          <a:p>
            <a:r>
              <a:rPr lang="en-US" dirty="0"/>
              <a:t>Show internal landing page: https://github.wdf.sap.corp/pages/kubernetes/gardener/ including blog &amp; help section &amp; the numbers</a:t>
            </a:r>
          </a:p>
          <a:p>
            <a:endParaRPr lang="en-US" dirty="0"/>
          </a:p>
          <a:p>
            <a:r>
              <a:rPr lang="en-US" dirty="0"/>
              <a:t>Gardener Adoption overview: https://gadopt.ingress.cicdes.core.shoot.live.k8s-hana.ondemand.com/d/RMWfoOVAn/gardener-adoption-overview?orgId=1</a:t>
            </a:r>
          </a:p>
          <a:p>
            <a:endParaRPr lang="en-US" dirty="0"/>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3</a:t>
            </a:fld>
            <a:endParaRPr kumimoji="0" lang="de-DE" sz="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21456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Kubeception</a:t>
            </a:r>
            <a:r>
              <a:rPr lang="en-US" dirty="0"/>
              <a:t> – Kubernetes in Kubernetes in Kubernetes</a:t>
            </a:r>
          </a:p>
          <a:p>
            <a:endParaRPr lang="en-US" dirty="0"/>
          </a:p>
          <a:p>
            <a:r>
              <a:rPr lang="en-US" dirty="0"/>
              <a:t>In the classic setup, there is a dedicated host/VM to host the master components/control plane of a Kubernetes Cluster. However, these are just normal programs that can easily be put into containers. Once in containers, we can make Kubernetes Deployments and </a:t>
            </a:r>
            <a:r>
              <a:rPr lang="en-US" dirty="0" err="1"/>
              <a:t>Statefulsets</a:t>
            </a:r>
            <a:r>
              <a:rPr lang="en-US" dirty="0"/>
              <a:t> (for the </a:t>
            </a:r>
            <a:r>
              <a:rPr lang="en-US" dirty="0" err="1"/>
              <a:t>etcd</a:t>
            </a:r>
            <a:r>
              <a:rPr lang="en-US" dirty="0"/>
              <a:t>) watch over them. And now we put all that into a separate, dedicated Kubernetes cluster – et voilà, we have Kubernetes in Kubernetes, aka </a:t>
            </a:r>
            <a:r>
              <a:rPr lang="en-US" dirty="0" err="1"/>
              <a:t>Kubeception</a:t>
            </a:r>
            <a:r>
              <a:rPr lang="en-US" dirty="0"/>
              <a:t> (named after the famous movie Inception with Leonardo DiCaprio).</a:t>
            </a:r>
          </a:p>
          <a:p>
            <a:endParaRPr lang="en-US" dirty="0"/>
          </a:p>
          <a:p>
            <a:r>
              <a:rPr lang="en-US" dirty="0"/>
              <a:t>In Gardener’s terminology, the cluster hosting the control plane components is called a Seed cluster. The cluster that end-users actually use (and whose control plane is hosted in the Seed) is called a Shoot-cluster.</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1730553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Enter the next </a:t>
            </a:r>
            <a:r>
              <a:rPr lang="en-US" dirty="0" err="1"/>
              <a:t>Kubeception</a:t>
            </a:r>
            <a:r>
              <a:rPr lang="en-US" dirty="0"/>
              <a:t> level – which is the Garden cluster. The Garden cluster is what you talk to when using the dashboard and has a number of seeds in different locations and cloud providers registered.</a:t>
            </a:r>
          </a:p>
          <a:p>
            <a:endParaRPr lang="en-US" dirty="0"/>
          </a:p>
          <a:p>
            <a:r>
              <a:rPr lang="en-US" dirty="0"/>
              <a:t>Once you create a new (shoot) cluster through the dashboard, a shoot resource will be posted to the Gardener API server running in the Garden cluster. The scheduler will pick a seed that is best suited to host the control plane of your shoot-cluster.</a:t>
            </a:r>
          </a:p>
          <a:p>
            <a:endParaRPr lang="en-US" dirty="0"/>
          </a:p>
          <a:p>
            <a:r>
              <a:rPr lang="en-US" dirty="0"/>
              <a:t>The seed-clusters run a component called the </a:t>
            </a:r>
            <a:r>
              <a:rPr lang="en-US" dirty="0" err="1"/>
              <a:t>gardenlet</a:t>
            </a:r>
            <a:r>
              <a:rPr lang="en-US" dirty="0"/>
              <a:t>, which is – in terms of what it should do – comparable to the </a:t>
            </a:r>
            <a:r>
              <a:rPr lang="en-US" dirty="0" err="1"/>
              <a:t>kubelet</a:t>
            </a:r>
            <a:r>
              <a:rPr lang="en-US" dirty="0"/>
              <a:t> (hence the name). The </a:t>
            </a:r>
            <a:r>
              <a:rPr lang="en-US" dirty="0" err="1"/>
              <a:t>gardenlet</a:t>
            </a:r>
            <a:r>
              <a:rPr lang="en-US" dirty="0"/>
              <a:t> monitors the Gardener API server if there are any new shoots, that its seed should take care of. If so, the </a:t>
            </a:r>
            <a:r>
              <a:rPr lang="en-US" dirty="0" err="1"/>
              <a:t>gardenlet</a:t>
            </a:r>
            <a:r>
              <a:rPr lang="en-US" dirty="0"/>
              <a:t> will create a new namespace in the seed and deploy the shoots control-plane into it. Also, it will deploy two very important components: the cloud-provider-extension and the machine-controller-manager (MCM).</a:t>
            </a:r>
          </a:p>
          <a:p>
            <a:endParaRPr lang="en-US" dirty="0"/>
          </a:p>
          <a:p>
            <a:r>
              <a:rPr lang="en-US" dirty="0"/>
              <a:t>The cloud-provider extension will talk to AWS/Azure/GCP/… to create the environment of the shoot cluster, i.e. networks, firewall rules, permissions, etc.</a:t>
            </a:r>
          </a:p>
          <a:p>
            <a:endParaRPr lang="en-US" dirty="0"/>
          </a:p>
          <a:p>
            <a:r>
              <a:rPr lang="en-US" dirty="0"/>
              <a:t>The machine-controller-manager is responsible for all lifecycle operations of the VMs that become the worker nodes of the shoot cluster. It constantly monitors their state and makes sure that the desired amount and configuration of worker nodes is always present.</a:t>
            </a:r>
            <a:endParaRPr lang="en-DE"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3112289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Gardeners lifecycle operations</a:t>
            </a:r>
          </a:p>
          <a:p>
            <a:endParaRPr lang="en-US" dirty="0"/>
          </a:p>
          <a:p>
            <a:pPr marL="342900" indent="-342900">
              <a:buAutoNum type="arabicPeriod"/>
            </a:pPr>
            <a:r>
              <a:rPr lang="en-US" dirty="0"/>
              <a:t>If a worker node fails or becomes unhealthy, Gardener will realize about it and will create a new worker node to join the cluster. The number of worker nodes does not change, i.e. the misbehaving node will be removed.</a:t>
            </a:r>
          </a:p>
          <a:p>
            <a:pPr marL="342900" indent="-342900">
              <a:buAutoNum type="arabicPeriod"/>
            </a:pPr>
            <a:endParaRPr lang="en-US" dirty="0"/>
          </a:p>
          <a:p>
            <a:pPr marL="342900" indent="-342900">
              <a:buAutoNum type="arabicPeriod"/>
            </a:pPr>
            <a:r>
              <a:rPr lang="en-US" dirty="0"/>
              <a:t>If the cluster gets under heavy load, the Cluster auto-scaler will kick in and provide additional nodes (if configured) until the pressure is relieved.</a:t>
            </a:r>
          </a:p>
          <a:p>
            <a:pPr marL="342900" indent="-342900">
              <a:buAutoNum type="arabicPeriod"/>
            </a:pPr>
            <a:endParaRPr lang="en-US" dirty="0"/>
          </a:p>
          <a:p>
            <a:pPr marL="342900" indent="-342900">
              <a:buAutoNum type="arabicPeriod"/>
            </a:pPr>
            <a:r>
              <a:rPr lang="en-US" dirty="0"/>
              <a:t>Likewise, if the load on the cluster gets very low, Gardener will scale the cluster down by removing worker nodes to save on costs.</a:t>
            </a:r>
          </a:p>
          <a:p>
            <a:pPr marL="342900" indent="-342900">
              <a:buAutoNum type="arabicPeriod"/>
            </a:pPr>
            <a:endParaRPr lang="en-US" dirty="0"/>
          </a:p>
          <a:p>
            <a:pPr marL="342900" indent="-342900">
              <a:buAutoNum type="arabicPeriod"/>
            </a:pPr>
            <a:r>
              <a:rPr lang="en-US" dirty="0"/>
              <a:t>New Kubernetes version? Gardener can automatically upgrade the cluster nodes by removing worker nodes with an outdated Kubernetes version and replacing them with worker nodes running the latest release – one by one.</a:t>
            </a:r>
          </a:p>
          <a:p>
            <a:pPr marL="342900" indent="-342900">
              <a:buAutoNum type="arabicPeriod"/>
            </a:pPr>
            <a:endParaRPr lang="en-US" dirty="0"/>
          </a:p>
          <a:p>
            <a:pPr marL="342900" indent="-342900">
              <a:buAutoNum type="arabicPeriod"/>
            </a:pPr>
            <a:r>
              <a:rPr lang="en-US" dirty="0"/>
              <a:t>Gardener supports hibernation: all worker nodes of a cluster will be removed to save costs. The control plane of the cluster will stay alive in the seed cluster. The cluster’s state will not get lost and will get restored once it wakes up and deploys a new set of worker nodes. This whole process can even be scheduled.</a:t>
            </a:r>
          </a:p>
          <a:p>
            <a:pPr marL="0" indent="0">
              <a:buNone/>
            </a:pP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2854336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and many </a:t>
            </a:r>
            <a:r>
              <a:rPr lang="en-GB" dirty="0" err="1"/>
              <a:t>many</a:t>
            </a:r>
            <a:r>
              <a:rPr lang="en-GB" dirty="0"/>
              <a:t> more.</a:t>
            </a:r>
          </a:p>
          <a:p>
            <a:endParaRPr lang="en-GB" dirty="0"/>
          </a:p>
          <a:p>
            <a:r>
              <a:rPr lang="en-GB" dirty="0"/>
              <a:t>The shoot resource is described in Gardeners API documentation at https://gardener.cloud/documentation/references/core/#core.gardener.cloud/v1beta1.Shoot</a:t>
            </a:r>
          </a:p>
          <a:p>
            <a:endParaRPr lang="en-GB" dirty="0"/>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8</a:t>
            </a:fld>
            <a:endParaRPr kumimoji="0" lang="de-DE" sz="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127971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Kubernetes’ API can be extended – either by CRDs or by an extension-API server.</a:t>
            </a:r>
          </a:p>
          <a:p>
            <a:endParaRPr lang="en-US" dirty="0"/>
          </a:p>
          <a:p>
            <a:r>
              <a:rPr lang="en-US" dirty="0"/>
              <a:t>An extension API server serves certain resources and API groups on its own. It even persists their state in its own </a:t>
            </a:r>
            <a:r>
              <a:rPr lang="en-US" dirty="0" err="1"/>
              <a:t>etcd</a:t>
            </a:r>
            <a:r>
              <a:rPr lang="en-US" dirty="0"/>
              <a:t> and does not use the </a:t>
            </a:r>
            <a:r>
              <a:rPr lang="en-US" dirty="0" err="1"/>
              <a:t>etcd</a:t>
            </a:r>
            <a:r>
              <a:rPr lang="en-US" dirty="0"/>
              <a:t> of the main K8S API server. </a:t>
            </a:r>
          </a:p>
          <a:p>
            <a:endParaRPr lang="en-US" dirty="0"/>
          </a:p>
          <a:p>
            <a:r>
              <a:rPr lang="en-US" dirty="0"/>
              <a:t>Extension API servers are registered with the K8S resource </a:t>
            </a:r>
            <a:r>
              <a:rPr lang="en-US" dirty="0" err="1"/>
              <a:t>APIservice</a:t>
            </a:r>
            <a:r>
              <a:rPr lang="en-US" dirty="0"/>
              <a:t> to the master API server and points to the URL of the extension API server.</a:t>
            </a:r>
          </a:p>
          <a:p>
            <a:endParaRPr lang="en-US" dirty="0"/>
          </a:p>
          <a:p>
            <a:r>
              <a:rPr lang="en-US" dirty="0"/>
              <a:t>Gardener uses its very own extension API server for its resources Shoot, Seed, </a:t>
            </a:r>
            <a:r>
              <a:rPr lang="en-US" dirty="0" err="1"/>
              <a:t>CloudProfile</a:t>
            </a:r>
            <a:r>
              <a:rPr lang="en-US" dirty="0"/>
              <a:t>, </a:t>
            </a:r>
            <a:r>
              <a:rPr lang="en-US" dirty="0" err="1"/>
              <a:t>SecretBinding</a:t>
            </a:r>
            <a:r>
              <a:rPr lang="en-US" dirty="0"/>
              <a:t>, </a:t>
            </a:r>
            <a:r>
              <a:rPr lang="en-US" dirty="0" err="1"/>
              <a:t>etc</a:t>
            </a:r>
            <a:r>
              <a:rPr lang="en-US" dirty="0"/>
              <a:t>…</a:t>
            </a:r>
          </a:p>
          <a:p>
            <a:endParaRPr lang="en-US" dirty="0"/>
          </a:p>
          <a:p>
            <a:r>
              <a:rPr lang="en-US" dirty="0"/>
              <a:t>More on API extension at https://kubernetes.io/docs/tasks/extend-kubernetes/setup-extension-api-server/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1730553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a trial cluster with Gardener!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1970043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11</a:t>
            </a:fld>
            <a:endParaRPr lang="de-DE"/>
          </a:p>
        </p:txBody>
      </p:sp>
    </p:spTree>
    <p:extLst>
      <p:ext uri="{BB962C8B-B14F-4D97-AF65-F5344CB8AC3E}">
        <p14:creationId xmlns:p14="http://schemas.microsoft.com/office/powerpoint/2010/main" val="1500520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Gardener in the open source</a:t>
            </a:r>
          </a:p>
          <a:p>
            <a:pPr marL="285750" indent="-285750">
              <a:buFont typeface="Arial" panose="020B0604020202020204" pitchFamily="34" charset="0"/>
              <a:buChar char="•"/>
            </a:pPr>
            <a:r>
              <a:rPr lang="en-US" dirty="0"/>
              <a:t>More than 1.500 Stars on </a:t>
            </a:r>
            <a:r>
              <a:rPr lang="en-US" dirty="0" err="1"/>
              <a:t>github</a:t>
            </a:r>
            <a:r>
              <a:rPr lang="en-US" dirty="0"/>
              <a:t> </a:t>
            </a:r>
          </a:p>
          <a:p>
            <a:pPr marL="285750" indent="-285750">
              <a:buFont typeface="Arial" panose="020B0604020202020204" pitchFamily="34" charset="0"/>
              <a:buChar char="•"/>
            </a:pPr>
            <a:r>
              <a:rPr lang="en-US" dirty="0"/>
              <a:t>Gardener is completely developed in the open source. No internal SAP development on the core gardener product.</a:t>
            </a:r>
          </a:p>
          <a:p>
            <a:pPr marL="285750" marR="0" lvl="0" indent="-285750" algn="l" defTabSz="108877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Multiple independent contributions</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https://github.com/gardener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BA05D5-CEFF-924E-AA1B-4E35C71143A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80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13</a:t>
            </a:fld>
            <a:endParaRPr lang="de-DE"/>
          </a:p>
        </p:txBody>
      </p:sp>
    </p:spTree>
    <p:extLst>
      <p:ext uri="{BB962C8B-B14F-4D97-AF65-F5344CB8AC3E}">
        <p14:creationId xmlns:p14="http://schemas.microsoft.com/office/powerpoint/2010/main" val="2049711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Shape 369"/>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noProof="0" dirty="0"/>
              <a:t>	To visualize that, let‘s go back to the architecture diagram.</a:t>
            </a:r>
          </a:p>
          <a:p>
            <a:pPr marL="0" lvl="0" indent="0" rtl="0">
              <a:spcBef>
                <a:spcPts val="0"/>
              </a:spcBef>
              <a:spcAft>
                <a:spcPts val="0"/>
              </a:spcAft>
              <a:buNone/>
            </a:pPr>
            <a:endParaRPr lang="en-US" noProof="0" dirty="0"/>
          </a:p>
          <a:p>
            <a:pPr marL="0" lvl="0" indent="0" rtl="0">
              <a:spcBef>
                <a:spcPts val="0"/>
              </a:spcBef>
              <a:spcAft>
                <a:spcPts val="0"/>
              </a:spcAft>
              <a:buNone/>
            </a:pPr>
            <a:r>
              <a:rPr lang="en-US" noProof="0" dirty="0"/>
              <a:t>We now will use a separate Kubernetes cluster, the so called Seed Cluster, to host the control plane of this cluster A.</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noProof="0" dirty="0"/>
              <a:t>This way we can minimize the TCO as we do not need the multiple dedicated master nodes per end-user cluster anymore!</a:t>
            </a:r>
          </a:p>
          <a:p>
            <a:pPr marL="0" lvl="0" indent="0" rtl="0">
              <a:spcBef>
                <a:spcPts val="0"/>
              </a:spcBef>
              <a:spcAft>
                <a:spcPts val="0"/>
              </a:spcAft>
              <a:buNone/>
            </a:pPr>
            <a:r>
              <a:rPr lang="en-US" noProof="0" dirty="0"/>
              <a:t>Another interesting outcome is that we can host multiple control planes in the same cluster! “Control-Plane as a Service” if you will.</a:t>
            </a:r>
          </a:p>
          <a:p>
            <a:pPr marL="0" lvl="0" indent="0" rtl="0">
              <a:spcBef>
                <a:spcPts val="0"/>
              </a:spcBef>
              <a:spcAft>
                <a:spcPts val="0"/>
              </a:spcAft>
              <a:buNone/>
            </a:pPr>
            <a:r>
              <a:rPr lang="en-US" noProof="0" dirty="0"/>
              <a:t>To complete the picture, our Gardener is running in another „central management“ cluster and operates on all of these seeds and shoots from a single place.</a:t>
            </a:r>
            <a:endParaRPr lang="en-US" noProof="0" dirty="0">
              <a:cs typeface="Arial"/>
            </a:endParaRPr>
          </a:p>
          <a:p>
            <a:pPr marL="0" lvl="0" indent="0" rtl="0">
              <a:spcBef>
                <a:spcPts val="0"/>
              </a:spcBef>
              <a:spcAft>
                <a:spcPts val="0"/>
              </a:spcAft>
              <a:buNone/>
            </a:pPr>
            <a:endParaRPr lang="en-US" noProof="0" dirty="0"/>
          </a:p>
          <a:p>
            <a:pPr marL="0" lvl="0" indent="0" rtl="0">
              <a:spcBef>
                <a:spcPts val="0"/>
              </a:spcBef>
              <a:spcAft>
                <a:spcPts val="0"/>
              </a:spcAft>
              <a:buNone/>
            </a:pPr>
            <a:r>
              <a:rPr lang="en-US" noProof="0" dirty="0"/>
              <a:t>Why do we it that way? Well, because Kubernetes is the new virtualization layer – it was made to reliably run software in the cloud with built in cloud native principles and qualities. </a:t>
            </a:r>
          </a:p>
          <a:p>
            <a:pPr marL="0" lvl="0" indent="0" rtl="0">
              <a:spcBef>
                <a:spcPts val="0"/>
              </a:spcBef>
              <a:spcAft>
                <a:spcPts val="0"/>
              </a:spcAft>
              <a:buNone/>
            </a:pPr>
            <a:r>
              <a:rPr lang="en-US" noProof="0" dirty="0"/>
              <a:t>For example, we use autoscaling on every component. We rollout life cycle operations centrally onto thousands of clusters. We leverage Kubernetes primitives wherever possible.</a:t>
            </a:r>
          </a:p>
          <a:p>
            <a:pPr marL="0" lvl="0" indent="0" rtl="0">
              <a:spcBef>
                <a:spcPts val="0"/>
              </a:spcBef>
              <a:spcAft>
                <a:spcPts val="0"/>
              </a:spcAft>
              <a:buNone/>
            </a:pPr>
            <a:r>
              <a:rPr lang="en-US" noProof="0" dirty="0"/>
              <a:t>And we only need to learn one paradigm. If you understand cloud native, you understand Gardener.</a:t>
            </a:r>
          </a:p>
          <a:p>
            <a:pPr marL="0" lvl="0" indent="0" rtl="0">
              <a:spcBef>
                <a:spcPts val="0"/>
              </a:spcBef>
              <a:spcAft>
                <a:spcPts val="0"/>
              </a:spcAft>
              <a:buNone/>
            </a:pPr>
            <a:r>
              <a:rPr lang="en-US" noProof="0" dirty="0"/>
              <a:t>This was btw. a feedback we have got from our critical open source community!</a:t>
            </a:r>
          </a:p>
          <a:p>
            <a:pPr marL="0" lvl="0" indent="0" rtl="0">
              <a:spcBef>
                <a:spcPts val="0"/>
              </a:spcBef>
              <a:spcAft>
                <a:spcPts val="0"/>
              </a:spcAft>
              <a:buNone/>
            </a:pPr>
            <a:endParaRPr lang="en-US" noProof="0" dirty="0"/>
          </a:p>
          <a:p>
            <a:pPr marL="0" lvl="0" indent="0" rtl="0">
              <a:spcBef>
                <a:spcPts val="0"/>
              </a:spcBef>
              <a:spcAft>
                <a:spcPts val="0"/>
              </a:spcAft>
              <a:buNone/>
            </a:pPr>
            <a:r>
              <a:rPr lang="en-US" noProof="0" dirty="0"/>
              <a:t>We are providing clusters in SAP data centers this way.</a:t>
            </a:r>
          </a:p>
          <a:p>
            <a:pPr marL="0" lvl="0" indent="0" rtl="0">
              <a:spcBef>
                <a:spcPts val="0"/>
              </a:spcBef>
              <a:spcAft>
                <a:spcPts val="0"/>
              </a:spcAft>
              <a:buNone/>
            </a:pPr>
            <a:r>
              <a:rPr lang="en-US" noProof="0" dirty="0"/>
              <a:t>For all other cloud providers, we just need a seed and our beautiful landscapes can blossom.</a:t>
            </a:r>
          </a:p>
        </p:txBody>
      </p:sp>
      <p:sp>
        <p:nvSpPr>
          <p:cNvPr id="370" name="Shape 370"/>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614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15</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249255452"/>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 id="2147483777" r:id="rId27"/>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hyperlink" Target="https://k3s.io/" TargetMode="External"/><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hyperlink" Target="https://kind.sigs.k8s.io/"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ardener.cloud/"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shboard.garden.canary.k8s.ondemand.com/"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tiff"/><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4.png"/><Relationship Id="rId4" Type="http://schemas.openxmlformats.org/officeDocument/2006/relationships/image" Target="../media/image29.png"/><Relationship Id="rId9" Type="http://schemas.openxmlformats.org/officeDocument/2006/relationships/image" Target="../media/image33.sv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39.png"/><Relationship Id="rId12" Type="http://schemas.openxmlformats.org/officeDocument/2006/relationships/hyperlink" Target="https://gvisor.dev/" TargetMode="External"/><Relationship Id="rId2" Type="http://schemas.openxmlformats.org/officeDocument/2006/relationships/notesSlide" Target="../notesSlides/notesSlide12.xml"/><Relationship Id="rId1" Type="http://schemas.openxmlformats.org/officeDocument/2006/relationships/slideLayout" Target="../slideLayouts/slideLayout27.xml"/><Relationship Id="rId6" Type="http://schemas.openxmlformats.org/officeDocument/2006/relationships/hyperlink" Target="https://www.debian.org/" TargetMode="External"/><Relationship Id="rId11" Type="http://schemas.openxmlformats.org/officeDocument/2006/relationships/image" Target="../media/image42.svg"/><Relationship Id="rId5" Type="http://schemas.openxmlformats.org/officeDocument/2006/relationships/hyperlink" Target="https://gardenlinux.io/" TargetMode="External"/><Relationship Id="rId10" Type="http://schemas.openxmlformats.org/officeDocument/2006/relationships/image" Target="../media/image41.png"/><Relationship Id="rId4" Type="http://schemas.openxmlformats.org/officeDocument/2006/relationships/image" Target="../media/image38.svg"/><Relationship Id="rId9" Type="http://schemas.openxmlformats.org/officeDocument/2006/relationships/hyperlink" Target="https://containerd.io/"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tiff"/><Relationship Id="rId7" Type="http://schemas.openxmlformats.org/officeDocument/2006/relationships/image" Target="../media/image48.tiff"/><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47.png"/><Relationship Id="rId5" Type="http://schemas.openxmlformats.org/officeDocument/2006/relationships/image" Target="../media/image46.tiff"/><Relationship Id="rId4" Type="http://schemas.openxmlformats.org/officeDocument/2006/relationships/image" Target="../media/image45.tif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Gardener</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llustration" descr="Example of an illustration" title="Illustration for title slide">
            <a:extLst>
              <a:ext uri="{FF2B5EF4-FFF2-40B4-BE49-F238E27FC236}">
                <a16:creationId xmlns:a16="http://schemas.microsoft.com/office/drawing/2014/main" id="{01600F65-CF7C-4978-AEE5-E81564FA87FF}"/>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pic>
        <p:nvPicPr>
          <p:cNvPr id="10" name="Graphic 9">
            <a:extLst>
              <a:ext uri="{FF2B5EF4-FFF2-40B4-BE49-F238E27FC236}">
                <a16:creationId xmlns:a16="http://schemas.microsoft.com/office/drawing/2014/main" id="{8CE9E33F-53C8-445E-89C2-D168532830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97952" y="5799996"/>
            <a:ext cx="979982" cy="979982"/>
          </a:xfrm>
          <a:prstGeom prst="rect">
            <a:avLst/>
          </a:prstGeom>
        </p:spPr>
      </p:pic>
    </p:spTree>
    <p:extLst>
      <p:ext uri="{BB962C8B-B14F-4D97-AF65-F5344CB8AC3E}">
        <p14:creationId xmlns:p14="http://schemas.microsoft.com/office/powerpoint/2010/main" val="343843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290">
                                          <p:stCondLst>
                                            <p:cond delay="0"/>
                                          </p:stCondLst>
                                        </p:cTn>
                                        <p:tgtEl>
                                          <p:spTgt spid="10"/>
                                        </p:tgtEl>
                                      </p:cBhvr>
                                    </p:animEffect>
                                    <p:anim calcmode="lin" valueType="num">
                                      <p:cBhvr>
                                        <p:cTn id="8" dur="911"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0"/>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0"/>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0"/>
                                        </p:tgtEl>
                                        <p:attrNameLst>
                                          <p:attrName>ppt_y</p:attrName>
                                        </p:attrNameLst>
                                      </p:cBhvr>
                                      <p:tavLst>
                                        <p:tav tm="0" fmla="#ppt_y-sin(pi*$)/81">
                                          <p:val>
                                            <p:fltVal val="0"/>
                                          </p:val>
                                        </p:tav>
                                        <p:tav tm="100000">
                                          <p:val>
                                            <p:fltVal val="1"/>
                                          </p:val>
                                        </p:tav>
                                      </p:tavLst>
                                    </p:anim>
                                    <p:animScale>
                                      <p:cBhvr>
                                        <p:cTn id="13" dur="13">
                                          <p:stCondLst>
                                            <p:cond delay="325"/>
                                          </p:stCondLst>
                                        </p:cTn>
                                        <p:tgtEl>
                                          <p:spTgt spid="10"/>
                                        </p:tgtEl>
                                      </p:cBhvr>
                                      <p:to x="100000" y="60000"/>
                                    </p:animScale>
                                    <p:animScale>
                                      <p:cBhvr>
                                        <p:cTn id="14" dur="83" decel="50000">
                                          <p:stCondLst>
                                            <p:cond delay="338"/>
                                          </p:stCondLst>
                                        </p:cTn>
                                        <p:tgtEl>
                                          <p:spTgt spid="10"/>
                                        </p:tgtEl>
                                      </p:cBhvr>
                                      <p:to x="100000" y="100000"/>
                                    </p:animScale>
                                    <p:animScale>
                                      <p:cBhvr>
                                        <p:cTn id="15" dur="13">
                                          <p:stCondLst>
                                            <p:cond delay="656"/>
                                          </p:stCondLst>
                                        </p:cTn>
                                        <p:tgtEl>
                                          <p:spTgt spid="10"/>
                                        </p:tgtEl>
                                      </p:cBhvr>
                                      <p:to x="100000" y="80000"/>
                                    </p:animScale>
                                    <p:animScale>
                                      <p:cBhvr>
                                        <p:cTn id="16" dur="83" decel="50000">
                                          <p:stCondLst>
                                            <p:cond delay="669"/>
                                          </p:stCondLst>
                                        </p:cTn>
                                        <p:tgtEl>
                                          <p:spTgt spid="10"/>
                                        </p:tgtEl>
                                      </p:cBhvr>
                                      <p:to x="100000" y="100000"/>
                                    </p:animScale>
                                    <p:animScale>
                                      <p:cBhvr>
                                        <p:cTn id="17" dur="13">
                                          <p:stCondLst>
                                            <p:cond delay="821"/>
                                          </p:stCondLst>
                                        </p:cTn>
                                        <p:tgtEl>
                                          <p:spTgt spid="10"/>
                                        </p:tgtEl>
                                      </p:cBhvr>
                                      <p:to x="100000" y="90000"/>
                                    </p:animScale>
                                    <p:animScale>
                                      <p:cBhvr>
                                        <p:cTn id="18" dur="83" decel="50000">
                                          <p:stCondLst>
                                            <p:cond delay="834"/>
                                          </p:stCondLst>
                                        </p:cTn>
                                        <p:tgtEl>
                                          <p:spTgt spid="10"/>
                                        </p:tgtEl>
                                      </p:cBhvr>
                                      <p:to x="100000" y="100000"/>
                                    </p:animScale>
                                    <p:animScale>
                                      <p:cBhvr>
                                        <p:cTn id="19" dur="13">
                                          <p:stCondLst>
                                            <p:cond delay="904"/>
                                          </p:stCondLst>
                                        </p:cTn>
                                        <p:tgtEl>
                                          <p:spTgt spid="10"/>
                                        </p:tgtEl>
                                      </p:cBhvr>
                                      <p:to x="100000" y="95000"/>
                                    </p:animScale>
                                    <p:animScale>
                                      <p:cBhvr>
                                        <p:cTn id="20" dur="83" decel="50000">
                                          <p:stCondLst>
                                            <p:cond delay="917"/>
                                          </p:stCondLst>
                                        </p:cTn>
                                        <p:tgtEl>
                                          <p:spTgt spid="10"/>
                                        </p:tgtEl>
                                      </p:cBhvr>
                                      <p:to x="100000" y="100000"/>
                                    </p:animScale>
                                  </p:childTnLst>
                                </p:cTn>
                              </p:par>
                              <p:par>
                                <p:cTn id="21" presetID="26" presetClass="exit" presetSubtype="0" fill="hold" nodeType="withEffect">
                                  <p:stCondLst>
                                    <p:cond delay="1600"/>
                                  </p:stCondLst>
                                  <p:childTnLst>
                                    <p:animEffect transition="out" filter="wipe(down)">
                                      <p:cBhvr>
                                        <p:cTn id="22" dur="45" accel="50000">
                                          <p:stCondLst>
                                            <p:cond delay="455"/>
                                          </p:stCondLst>
                                        </p:cTn>
                                        <p:tgtEl>
                                          <p:spTgt spid="4"/>
                                        </p:tgtEl>
                                      </p:cBhvr>
                                    </p:animEffect>
                                    <p:anim calcmode="lin" valueType="num">
                                      <p:cBhvr>
                                        <p:cTn id="23" dur="455" tmFilter="0,0; 0.14,0.31; 0.43,0.73; 0.71,0.91; 1.0,1.0">
                                          <p:stCondLst>
                                            <p:cond delay="0"/>
                                          </p:stCondLst>
                                        </p:cTn>
                                        <p:tgtEl>
                                          <p:spTgt spid="4"/>
                                        </p:tgtEl>
                                        <p:attrNameLst>
                                          <p:attrName>ppt_x</p:attrName>
                                        </p:attrNameLst>
                                      </p:cBhvr>
                                      <p:tavLst>
                                        <p:tav tm="0">
                                          <p:val>
                                            <p:strVal val="ppt_x"/>
                                          </p:val>
                                        </p:tav>
                                        <p:tav tm="100000">
                                          <p:val>
                                            <p:strVal val="#ppt_x+0.25"/>
                                          </p:val>
                                        </p:tav>
                                      </p:tavLst>
                                    </p:anim>
                                    <p:anim calcmode="lin" valueType="num">
                                      <p:cBhvr>
                                        <p:cTn id="24" dur="44">
                                          <p:stCondLst>
                                            <p:cond delay="455"/>
                                          </p:stCondLst>
                                        </p:cTn>
                                        <p:tgtEl>
                                          <p:spTgt spid="4"/>
                                        </p:tgtEl>
                                        <p:attrNameLst>
                                          <p:attrName>ppt_x</p:attrName>
                                        </p:attrNameLst>
                                      </p:cBhvr>
                                      <p:tavLst>
                                        <p:tav tm="0">
                                          <p:val>
                                            <p:strVal val="ppt_x"/>
                                          </p:val>
                                        </p:tav>
                                        <p:tav tm="100000">
                                          <p:val>
                                            <p:strVal val="ppt_x"/>
                                          </p:val>
                                        </p:tav>
                                      </p:tavLst>
                                    </p:anim>
                                    <p:anim calcmode="lin" valueType="num">
                                      <p:cBhvr>
                                        <p:cTn id="25" dur="166" tmFilter="0.0,0.0;0.25,0.07;0.50,0.2;0.75,0.467;1.0,1.0">
                                          <p:stCondLst>
                                            <p:cond delay="0"/>
                                          </p:stCondLst>
                                        </p:cTn>
                                        <p:tgtEl>
                                          <p:spTgt spid="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6" dur="166" tmFilter="0, 0; 0.125,0.2665; 0.25,0.4; 0.375,0.465; 0.5,0.5;  0.625,0.535; 0.75,0.6; 0.875,0.7335; 1,1">
                                          <p:stCondLst>
                                            <p:cond delay="166"/>
                                          </p:stCondLst>
                                        </p:cTn>
                                        <p:tgtEl>
                                          <p:spTgt spid="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7" dur="83" tmFilter="0, 0; 0.125,0.2665; 0.25,0.4; 0.375,0.465; 0.5,0.5;  0.625,0.535; 0.75,0.6; 0.875,0.7335; 1,1">
                                          <p:stCondLst>
                                            <p:cond delay="331"/>
                                          </p:stCondLst>
                                        </p:cTn>
                                        <p:tgtEl>
                                          <p:spTgt spid="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8" dur="41" tmFilter="0, 0; 0.125,0.2665; 0.25,0.4; 0.375,0.465; 0.5,0.5;  0.625,0.535; 0.75,0.6; 0.875,0.7335; 1,1">
                                          <p:stCondLst>
                                            <p:cond delay="414"/>
                                          </p:stCondLst>
                                        </p:cTn>
                                        <p:tgtEl>
                                          <p:spTgt spid="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9" dur="45" accel="50000">
                                          <p:stCondLst>
                                            <p:cond delay="455"/>
                                          </p:stCondLst>
                                        </p:cTn>
                                        <p:tgtEl>
                                          <p:spTgt spid="4"/>
                                        </p:tgtEl>
                                        <p:attrNameLst>
                                          <p:attrName>ppt_y</p:attrName>
                                        </p:attrNameLst>
                                      </p:cBhvr>
                                      <p:tavLst>
                                        <p:tav tm="0">
                                          <p:val>
                                            <p:strVal val="ppt_y"/>
                                          </p:val>
                                        </p:tav>
                                        <p:tav tm="100000">
                                          <p:val>
                                            <p:strVal val="ppt_y+ppt_h"/>
                                          </p:val>
                                        </p:tav>
                                      </p:tavLst>
                                    </p:anim>
                                    <p:animScale>
                                      <p:cBhvr>
                                        <p:cTn id="30" dur="6">
                                          <p:stCondLst>
                                            <p:cond delay="155"/>
                                          </p:stCondLst>
                                        </p:cTn>
                                        <p:tgtEl>
                                          <p:spTgt spid="4"/>
                                        </p:tgtEl>
                                      </p:cBhvr>
                                      <p:to x="100000" y="60000"/>
                                    </p:animScale>
                                    <p:animScale>
                                      <p:cBhvr>
                                        <p:cTn id="31" dur="41" decel="50000">
                                          <p:stCondLst>
                                            <p:cond delay="162"/>
                                          </p:stCondLst>
                                        </p:cTn>
                                        <p:tgtEl>
                                          <p:spTgt spid="4"/>
                                        </p:tgtEl>
                                      </p:cBhvr>
                                      <p:to x="100000" y="100000"/>
                                    </p:animScale>
                                    <p:animScale>
                                      <p:cBhvr>
                                        <p:cTn id="32" dur="6">
                                          <p:stCondLst>
                                            <p:cond delay="328"/>
                                          </p:stCondLst>
                                        </p:cTn>
                                        <p:tgtEl>
                                          <p:spTgt spid="4"/>
                                        </p:tgtEl>
                                      </p:cBhvr>
                                      <p:to x="100000" y="80000"/>
                                    </p:animScale>
                                    <p:animScale>
                                      <p:cBhvr>
                                        <p:cTn id="33" dur="41" decel="50000">
                                          <p:stCondLst>
                                            <p:cond delay="335"/>
                                          </p:stCondLst>
                                        </p:cTn>
                                        <p:tgtEl>
                                          <p:spTgt spid="4"/>
                                        </p:tgtEl>
                                      </p:cBhvr>
                                      <p:to x="100000" y="100000"/>
                                    </p:animScale>
                                    <p:animScale>
                                      <p:cBhvr>
                                        <p:cTn id="34" dur="6">
                                          <p:stCondLst>
                                            <p:cond delay="410"/>
                                          </p:stCondLst>
                                        </p:cTn>
                                        <p:tgtEl>
                                          <p:spTgt spid="4"/>
                                        </p:tgtEl>
                                      </p:cBhvr>
                                      <p:to x="100000" y="90000"/>
                                    </p:animScale>
                                    <p:animScale>
                                      <p:cBhvr>
                                        <p:cTn id="35" dur="41" decel="50000">
                                          <p:stCondLst>
                                            <p:cond delay="417"/>
                                          </p:stCondLst>
                                        </p:cTn>
                                        <p:tgtEl>
                                          <p:spTgt spid="4"/>
                                        </p:tgtEl>
                                      </p:cBhvr>
                                      <p:to x="100000" y="100000"/>
                                    </p:animScale>
                                    <p:animScale>
                                      <p:cBhvr>
                                        <p:cTn id="36" dur="6">
                                          <p:stCondLst>
                                            <p:cond delay="452"/>
                                          </p:stCondLst>
                                        </p:cTn>
                                        <p:tgtEl>
                                          <p:spTgt spid="4"/>
                                        </p:tgtEl>
                                      </p:cBhvr>
                                      <p:to x="100000" y="95000"/>
                                    </p:animScale>
                                    <p:animScale>
                                      <p:cBhvr>
                                        <p:cTn id="37" dur="41" decel="50000">
                                          <p:stCondLst>
                                            <p:cond delay="458"/>
                                          </p:stCondLst>
                                        </p:cTn>
                                        <p:tgtEl>
                                          <p:spTgt spid="4"/>
                                        </p:tgtEl>
                                      </p:cBhvr>
                                      <p:to x="100000" y="100000"/>
                                    </p:animScale>
                                    <p:set>
                                      <p:cBhvr>
                                        <p:cTn id="3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Wherefrom can I get a cluster?</a:t>
            </a:r>
          </a:p>
        </p:txBody>
      </p:sp>
      <p:pic>
        <p:nvPicPr>
          <p:cNvPr id="1028" name="Picture 4" descr="Image result for aw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859" y="4682360"/>
            <a:ext cx="2408319" cy="126477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az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0182" y="1467264"/>
            <a:ext cx="2095687" cy="10816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gcp">
            <a:extLst>
              <a:ext uri="{FF2B5EF4-FFF2-40B4-BE49-F238E27FC236}">
                <a16:creationId xmlns:a16="http://schemas.microsoft.com/office/drawing/2014/main" id="{7C223ABA-239A-4293-BBBB-7A1887C38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598" y="1287262"/>
            <a:ext cx="2510842" cy="2222298"/>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hlinkClick r:id="rId6"/>
            <a:extLst>
              <a:ext uri="{FF2B5EF4-FFF2-40B4-BE49-F238E27FC236}">
                <a16:creationId xmlns:a16="http://schemas.microsoft.com/office/drawing/2014/main" id="{734AF586-FECA-4A81-8492-31AB182E0BF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30401" y="4682360"/>
            <a:ext cx="2733675" cy="1057275"/>
          </a:xfrm>
          <a:prstGeom prst="rect">
            <a:avLst/>
          </a:prstGeom>
        </p:spPr>
      </p:pic>
      <p:pic>
        <p:nvPicPr>
          <p:cNvPr id="4" name="Picture 2">
            <a:hlinkClick r:id="rId9"/>
            <a:extLst>
              <a:ext uri="{FF2B5EF4-FFF2-40B4-BE49-F238E27FC236}">
                <a16:creationId xmlns:a16="http://schemas.microsoft.com/office/drawing/2014/main" id="{5FE53D52-D5BB-476E-A6F6-39DEB073FE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41189" y="4639270"/>
            <a:ext cx="1824680" cy="1100365"/>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up 29">
            <a:extLst>
              <a:ext uri="{FF2B5EF4-FFF2-40B4-BE49-F238E27FC236}">
                <a16:creationId xmlns:a16="http://schemas.microsoft.com/office/drawing/2014/main" id="{FC86FA96-05DB-4CF7-8D41-AC87EF96ED84}"/>
              </a:ext>
            </a:extLst>
          </p:cNvPr>
          <p:cNvGrpSpPr/>
          <p:nvPr/>
        </p:nvGrpSpPr>
        <p:grpSpPr>
          <a:xfrm>
            <a:off x="5115652" y="1176527"/>
            <a:ext cx="1963171" cy="2252473"/>
            <a:chOff x="5076230" y="1110269"/>
            <a:chExt cx="1963171" cy="2252473"/>
          </a:xfrm>
        </p:grpSpPr>
        <p:grpSp>
          <p:nvGrpSpPr>
            <p:cNvPr id="29" name="Group 28">
              <a:extLst>
                <a:ext uri="{FF2B5EF4-FFF2-40B4-BE49-F238E27FC236}">
                  <a16:creationId xmlns:a16="http://schemas.microsoft.com/office/drawing/2014/main" id="{3E860F12-CD50-4420-BBB7-BD49DAD4F0E6}"/>
                </a:ext>
              </a:extLst>
            </p:cNvPr>
            <p:cNvGrpSpPr/>
            <p:nvPr/>
          </p:nvGrpSpPr>
          <p:grpSpPr>
            <a:xfrm>
              <a:off x="5076230" y="1110269"/>
              <a:ext cx="1963171" cy="1911672"/>
              <a:chOff x="4000947" y="2175640"/>
              <a:chExt cx="1564120" cy="1523089"/>
            </a:xfrm>
          </p:grpSpPr>
          <p:sp>
            <p:nvSpPr>
              <p:cNvPr id="16" name="Freeform: Shape 15">
                <a:extLst>
                  <a:ext uri="{FF2B5EF4-FFF2-40B4-BE49-F238E27FC236}">
                    <a16:creationId xmlns:a16="http://schemas.microsoft.com/office/drawing/2014/main" id="{80822563-341E-4DE7-99AF-DEDCE310AF0C}"/>
                  </a:ext>
                </a:extLst>
              </p:cNvPr>
              <p:cNvSpPr/>
              <p:nvPr/>
            </p:nvSpPr>
            <p:spPr>
              <a:xfrm>
                <a:off x="4000947" y="2175640"/>
                <a:ext cx="1564120" cy="1523089"/>
              </a:xfrm>
              <a:custGeom>
                <a:avLst/>
                <a:gdLst>
                  <a:gd name="connsiteX0" fmla="*/ 783578 w 1564120"/>
                  <a:gd name="connsiteY0" fmla="*/ 0 h 1523089"/>
                  <a:gd name="connsiteX1" fmla="*/ 783578 w 1564120"/>
                  <a:gd name="connsiteY1" fmla="*/ 0 h 1523089"/>
                  <a:gd name="connsiteX2" fmla="*/ 720874 w 1564120"/>
                  <a:gd name="connsiteY2" fmla="*/ 14156 h 1523089"/>
                  <a:gd name="connsiteX3" fmla="*/ 209135 w 1564120"/>
                  <a:gd name="connsiteY3" fmla="*/ 258909 h 1523089"/>
                  <a:gd name="connsiteX4" fmla="*/ 130249 w 1564120"/>
                  <a:gd name="connsiteY4" fmla="*/ 357003 h 1523089"/>
                  <a:gd name="connsiteX5" fmla="*/ 3824 w 1564120"/>
                  <a:gd name="connsiteY5" fmla="*/ 906168 h 1523089"/>
                  <a:gd name="connsiteX6" fmla="*/ 32146 w 1564120"/>
                  <a:gd name="connsiteY6" fmla="*/ 1029558 h 1523089"/>
                  <a:gd name="connsiteX7" fmla="*/ 386114 w 1564120"/>
                  <a:gd name="connsiteY7" fmla="*/ 1469490 h 1523089"/>
                  <a:gd name="connsiteX8" fmla="*/ 498373 w 1564120"/>
                  <a:gd name="connsiteY8" fmla="*/ 1523089 h 1523089"/>
                  <a:gd name="connsiteX9" fmla="*/ 1065748 w 1564120"/>
                  <a:gd name="connsiteY9" fmla="*/ 1523089 h 1523089"/>
                  <a:gd name="connsiteX10" fmla="*/ 1178007 w 1564120"/>
                  <a:gd name="connsiteY10" fmla="*/ 1469490 h 1523089"/>
                  <a:gd name="connsiteX11" fmla="*/ 1531975 w 1564120"/>
                  <a:gd name="connsiteY11" fmla="*/ 1029558 h 1523089"/>
                  <a:gd name="connsiteX12" fmla="*/ 1560296 w 1564120"/>
                  <a:gd name="connsiteY12" fmla="*/ 906168 h 1523089"/>
                  <a:gd name="connsiteX13" fmla="*/ 1433872 w 1564120"/>
                  <a:gd name="connsiteY13" fmla="*/ 357003 h 1523089"/>
                  <a:gd name="connsiteX14" fmla="*/ 1354986 w 1564120"/>
                  <a:gd name="connsiteY14" fmla="*/ 258909 h 1523089"/>
                  <a:gd name="connsiteX15" fmla="*/ 845273 w 1564120"/>
                  <a:gd name="connsiteY15" fmla="*/ 14156 h 1523089"/>
                  <a:gd name="connsiteX16" fmla="*/ 783578 w 1564120"/>
                  <a:gd name="connsiteY16" fmla="*/ 0 h 1523089"/>
                  <a:gd name="connsiteX17" fmla="*/ 783578 w 1564120"/>
                  <a:gd name="connsiteY17" fmla="*/ 47529 h 1523089"/>
                  <a:gd name="connsiteX18" fmla="*/ 825047 w 1564120"/>
                  <a:gd name="connsiteY18" fmla="*/ 56634 h 1523089"/>
                  <a:gd name="connsiteX19" fmla="*/ 1336787 w 1564120"/>
                  <a:gd name="connsiteY19" fmla="*/ 300369 h 1523089"/>
                  <a:gd name="connsiteX20" fmla="*/ 1389377 w 1564120"/>
                  <a:gd name="connsiteY20" fmla="*/ 366107 h 1523089"/>
                  <a:gd name="connsiteX21" fmla="*/ 1515793 w 1564120"/>
                  <a:gd name="connsiteY21" fmla="*/ 915273 h 1523089"/>
                  <a:gd name="connsiteX22" fmla="*/ 1496575 w 1564120"/>
                  <a:gd name="connsiteY22" fmla="*/ 998202 h 1523089"/>
                  <a:gd name="connsiteX23" fmla="*/ 1142607 w 1564120"/>
                  <a:gd name="connsiteY23" fmla="*/ 1438143 h 1523089"/>
                  <a:gd name="connsiteX24" fmla="*/ 1066756 w 1564120"/>
                  <a:gd name="connsiteY24" fmla="*/ 1474551 h 1523089"/>
                  <a:gd name="connsiteX25" fmla="*/ 499391 w 1564120"/>
                  <a:gd name="connsiteY25" fmla="*/ 1474551 h 1523089"/>
                  <a:gd name="connsiteX26" fmla="*/ 423540 w 1564120"/>
                  <a:gd name="connsiteY26" fmla="*/ 1438143 h 1523089"/>
                  <a:gd name="connsiteX27" fmla="*/ 69563 w 1564120"/>
                  <a:gd name="connsiteY27" fmla="*/ 998202 h 1523089"/>
                  <a:gd name="connsiteX28" fmla="*/ 50345 w 1564120"/>
                  <a:gd name="connsiteY28" fmla="*/ 915273 h 1523089"/>
                  <a:gd name="connsiteX29" fmla="*/ 176770 w 1564120"/>
                  <a:gd name="connsiteY29" fmla="*/ 366107 h 1523089"/>
                  <a:gd name="connsiteX30" fmla="*/ 229360 w 1564120"/>
                  <a:gd name="connsiteY30" fmla="*/ 300369 h 1523089"/>
                  <a:gd name="connsiteX31" fmla="*/ 741100 w 1564120"/>
                  <a:gd name="connsiteY31" fmla="*/ 55625 h 1523089"/>
                  <a:gd name="connsiteX32" fmla="*/ 783578 w 1564120"/>
                  <a:gd name="connsiteY32" fmla="*/ 47529 h 152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64120" h="1523089">
                    <a:moveTo>
                      <a:pt x="783578" y="0"/>
                    </a:moveTo>
                    <a:lnTo>
                      <a:pt x="783578" y="0"/>
                    </a:lnTo>
                    <a:cubicBezTo>
                      <a:pt x="762344" y="0"/>
                      <a:pt x="741100" y="5061"/>
                      <a:pt x="720874" y="14156"/>
                    </a:cubicBezTo>
                    <a:lnTo>
                      <a:pt x="209135" y="258909"/>
                    </a:lnTo>
                    <a:cubicBezTo>
                      <a:pt x="168674" y="278117"/>
                      <a:pt x="140362" y="313517"/>
                      <a:pt x="130249" y="357003"/>
                    </a:cubicBezTo>
                    <a:lnTo>
                      <a:pt x="3824" y="906168"/>
                    </a:lnTo>
                    <a:cubicBezTo>
                      <a:pt x="-6288" y="949655"/>
                      <a:pt x="3824" y="994159"/>
                      <a:pt x="32146" y="1029558"/>
                    </a:cubicBezTo>
                    <a:lnTo>
                      <a:pt x="386114" y="1469490"/>
                    </a:lnTo>
                    <a:cubicBezTo>
                      <a:pt x="413427" y="1503881"/>
                      <a:pt x="454887" y="1523089"/>
                      <a:pt x="498373" y="1523089"/>
                    </a:cubicBezTo>
                    <a:lnTo>
                      <a:pt x="1065748" y="1523089"/>
                    </a:lnTo>
                    <a:cubicBezTo>
                      <a:pt x="1109234" y="1523089"/>
                      <a:pt x="1150694" y="1503881"/>
                      <a:pt x="1178007" y="1469490"/>
                    </a:cubicBezTo>
                    <a:lnTo>
                      <a:pt x="1531975" y="1029558"/>
                    </a:lnTo>
                    <a:cubicBezTo>
                      <a:pt x="1560296" y="995167"/>
                      <a:pt x="1570409" y="949655"/>
                      <a:pt x="1560296" y="906168"/>
                    </a:cubicBezTo>
                    <a:lnTo>
                      <a:pt x="1433872" y="357003"/>
                    </a:lnTo>
                    <a:cubicBezTo>
                      <a:pt x="1423759" y="313517"/>
                      <a:pt x="1395447" y="278117"/>
                      <a:pt x="1354986" y="258909"/>
                    </a:cubicBezTo>
                    <a:lnTo>
                      <a:pt x="845273" y="14156"/>
                    </a:lnTo>
                    <a:cubicBezTo>
                      <a:pt x="826055" y="5061"/>
                      <a:pt x="804812" y="0"/>
                      <a:pt x="783578" y="0"/>
                    </a:cubicBezTo>
                    <a:moveTo>
                      <a:pt x="783578" y="47529"/>
                    </a:moveTo>
                    <a:cubicBezTo>
                      <a:pt x="797734" y="47529"/>
                      <a:pt x="811899" y="50564"/>
                      <a:pt x="825047" y="56634"/>
                    </a:cubicBezTo>
                    <a:lnTo>
                      <a:pt x="1336787" y="300369"/>
                    </a:lnTo>
                    <a:cubicBezTo>
                      <a:pt x="1363082" y="313517"/>
                      <a:pt x="1383308" y="337795"/>
                      <a:pt x="1389377" y="366107"/>
                    </a:cubicBezTo>
                    <a:lnTo>
                      <a:pt x="1515793" y="915273"/>
                    </a:lnTo>
                    <a:cubicBezTo>
                      <a:pt x="1522871" y="944603"/>
                      <a:pt x="1515793" y="974941"/>
                      <a:pt x="1496575" y="998202"/>
                    </a:cubicBezTo>
                    <a:lnTo>
                      <a:pt x="1142607" y="1438143"/>
                    </a:lnTo>
                    <a:cubicBezTo>
                      <a:pt x="1124398" y="1461403"/>
                      <a:pt x="1096086" y="1474551"/>
                      <a:pt x="1066756" y="1474551"/>
                    </a:cubicBezTo>
                    <a:lnTo>
                      <a:pt x="499391" y="1474551"/>
                    </a:lnTo>
                    <a:cubicBezTo>
                      <a:pt x="470061" y="1474551"/>
                      <a:pt x="441739" y="1461403"/>
                      <a:pt x="423540" y="1438143"/>
                    </a:cubicBezTo>
                    <a:lnTo>
                      <a:pt x="69563" y="998202"/>
                    </a:lnTo>
                    <a:cubicBezTo>
                      <a:pt x="51363" y="974941"/>
                      <a:pt x="44285" y="944603"/>
                      <a:pt x="50345" y="915273"/>
                    </a:cubicBezTo>
                    <a:lnTo>
                      <a:pt x="176770" y="366107"/>
                    </a:lnTo>
                    <a:cubicBezTo>
                      <a:pt x="183848" y="336777"/>
                      <a:pt x="203065" y="312508"/>
                      <a:pt x="229360" y="300369"/>
                    </a:cubicBezTo>
                    <a:lnTo>
                      <a:pt x="741100" y="55625"/>
                    </a:lnTo>
                    <a:cubicBezTo>
                      <a:pt x="754248" y="50564"/>
                      <a:pt x="769422" y="47529"/>
                      <a:pt x="783578" y="47529"/>
                    </a:cubicBezTo>
                  </a:path>
                </a:pathLst>
              </a:custGeom>
              <a:solidFill>
                <a:srgbClr val="326DE6"/>
              </a:solidFill>
              <a:ln w="9245" cap="flat">
                <a:noFill/>
                <a:prstDash val="solid"/>
                <a:miter/>
              </a:ln>
            </p:spPr>
            <p:txBody>
              <a:bodyPr rtlCol="0" anchor="ctr"/>
              <a:lstStyle/>
              <a:p>
                <a:endParaRPr lang="en-DE"/>
              </a:p>
            </p:txBody>
          </p:sp>
          <p:sp>
            <p:nvSpPr>
              <p:cNvPr id="17" name="Freeform: Shape 16">
                <a:extLst>
                  <a:ext uri="{FF2B5EF4-FFF2-40B4-BE49-F238E27FC236}">
                    <a16:creationId xmlns:a16="http://schemas.microsoft.com/office/drawing/2014/main" id="{9A523084-1227-4427-AC80-C07CD5424318}"/>
                  </a:ext>
                </a:extLst>
              </p:cNvPr>
              <p:cNvSpPr/>
              <p:nvPr/>
            </p:nvSpPr>
            <p:spPr>
              <a:xfrm>
                <a:off x="4193524" y="2652823"/>
                <a:ext cx="1165828" cy="904299"/>
              </a:xfrm>
              <a:custGeom>
                <a:avLst/>
                <a:gdLst>
                  <a:gd name="connsiteX0" fmla="*/ 294910 w 1165828"/>
                  <a:gd name="connsiteY0" fmla="*/ 868946 h 904299"/>
                  <a:gd name="connsiteX1" fmla="*/ 368670 w 1165828"/>
                  <a:gd name="connsiteY1" fmla="*/ 904299 h 904299"/>
                  <a:gd name="connsiteX2" fmla="*/ 813922 w 1165828"/>
                  <a:gd name="connsiteY2" fmla="*/ 903513 h 904299"/>
                  <a:gd name="connsiteX3" fmla="*/ 887405 w 1165828"/>
                  <a:gd name="connsiteY3" fmla="*/ 868160 h 904299"/>
                  <a:gd name="connsiteX4" fmla="*/ 1158833 w 1165828"/>
                  <a:gd name="connsiteY4" fmla="*/ 526423 h 904299"/>
                  <a:gd name="connsiteX5" fmla="*/ 1165800 w 1165828"/>
                  <a:gd name="connsiteY5" fmla="*/ 477210 h 904299"/>
                  <a:gd name="connsiteX6" fmla="*/ 1165800 w 1165828"/>
                  <a:gd name="connsiteY6" fmla="*/ 0 h 904299"/>
                  <a:gd name="connsiteX7" fmla="*/ 582622 w 1165828"/>
                  <a:gd name="connsiteY7" fmla="*/ 335778 h 904299"/>
                  <a:gd name="connsiteX8" fmla="*/ 582622 w 1165828"/>
                  <a:gd name="connsiteY8" fmla="*/ 335769 h 904299"/>
                  <a:gd name="connsiteX9" fmla="*/ 0 w 1165828"/>
                  <a:gd name="connsiteY9" fmla="*/ 315 h 904299"/>
                  <a:gd name="connsiteX10" fmla="*/ 0 w 1165828"/>
                  <a:gd name="connsiteY10" fmla="*/ 477210 h 904299"/>
                  <a:gd name="connsiteX11" fmla="*/ 17968 w 1165828"/>
                  <a:gd name="connsiteY11" fmla="*/ 527210 h 904299"/>
                  <a:gd name="connsiteX12" fmla="*/ 294910 w 1165828"/>
                  <a:gd name="connsiteY12" fmla="*/ 868946 h 90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5828" h="904299">
                    <a:moveTo>
                      <a:pt x="294910" y="868946"/>
                    </a:moveTo>
                    <a:cubicBezTo>
                      <a:pt x="313054" y="891726"/>
                      <a:pt x="340265" y="904299"/>
                      <a:pt x="368670" y="904299"/>
                    </a:cubicBezTo>
                    <a:lnTo>
                      <a:pt x="813922" y="903513"/>
                    </a:lnTo>
                    <a:cubicBezTo>
                      <a:pt x="842336" y="903513"/>
                      <a:pt x="869261" y="890153"/>
                      <a:pt x="887405" y="868160"/>
                    </a:cubicBezTo>
                    <a:lnTo>
                      <a:pt x="1158833" y="526423"/>
                    </a:lnTo>
                    <a:cubicBezTo>
                      <a:pt x="1166669" y="515755"/>
                      <a:pt x="1165800" y="494836"/>
                      <a:pt x="1165800" y="477210"/>
                    </a:cubicBezTo>
                    <a:lnTo>
                      <a:pt x="1165800" y="0"/>
                    </a:lnTo>
                    <a:lnTo>
                      <a:pt x="582622" y="335778"/>
                    </a:lnTo>
                    <a:lnTo>
                      <a:pt x="582622" y="335769"/>
                    </a:lnTo>
                    <a:lnTo>
                      <a:pt x="0" y="315"/>
                    </a:lnTo>
                    <a:lnTo>
                      <a:pt x="0" y="477210"/>
                    </a:lnTo>
                    <a:cubicBezTo>
                      <a:pt x="0" y="495122"/>
                      <a:pt x="6329" y="512591"/>
                      <a:pt x="17968" y="527210"/>
                    </a:cubicBezTo>
                    <a:lnTo>
                      <a:pt x="294910" y="868946"/>
                    </a:lnTo>
                    <a:close/>
                  </a:path>
                </a:pathLst>
              </a:custGeom>
              <a:solidFill>
                <a:srgbClr val="1FBFCF"/>
              </a:solidFill>
              <a:ln w="9245" cap="flat">
                <a:noFill/>
                <a:prstDash val="solid"/>
                <a:miter/>
              </a:ln>
            </p:spPr>
            <p:txBody>
              <a:bodyPr rtlCol="0" anchor="ctr"/>
              <a:lstStyle/>
              <a:p>
                <a:endParaRPr lang="en-DE"/>
              </a:p>
            </p:txBody>
          </p:sp>
          <p:sp>
            <p:nvSpPr>
              <p:cNvPr id="18" name="Freeform: Shape 17">
                <a:extLst>
                  <a:ext uri="{FF2B5EF4-FFF2-40B4-BE49-F238E27FC236}">
                    <a16:creationId xmlns:a16="http://schemas.microsoft.com/office/drawing/2014/main" id="{62803093-1894-4A63-9188-8F9ECB3944AF}"/>
                  </a:ext>
                </a:extLst>
              </p:cNvPr>
              <p:cNvSpPr/>
              <p:nvPr/>
            </p:nvSpPr>
            <p:spPr>
              <a:xfrm>
                <a:off x="4193524" y="2317256"/>
                <a:ext cx="1165799" cy="671343"/>
              </a:xfrm>
              <a:custGeom>
                <a:avLst/>
                <a:gdLst>
                  <a:gd name="connsiteX0" fmla="*/ 582622 w 1165799"/>
                  <a:gd name="connsiteY0" fmla="*/ 671343 h 671343"/>
                  <a:gd name="connsiteX1" fmla="*/ 1165800 w 1165799"/>
                  <a:gd name="connsiteY1" fmla="*/ 335574 h 671343"/>
                  <a:gd name="connsiteX2" fmla="*/ 582076 w 1165799"/>
                  <a:gd name="connsiteY2" fmla="*/ 0 h 671343"/>
                  <a:gd name="connsiteX3" fmla="*/ 0 w 1165799"/>
                  <a:gd name="connsiteY3" fmla="*/ 335861 h 671343"/>
                </a:gdLst>
                <a:ahLst/>
                <a:cxnLst>
                  <a:cxn ang="0">
                    <a:pos x="connsiteX0" y="connsiteY0"/>
                  </a:cxn>
                  <a:cxn ang="0">
                    <a:pos x="connsiteX1" y="connsiteY1"/>
                  </a:cxn>
                  <a:cxn ang="0">
                    <a:pos x="connsiteX2" y="connsiteY2"/>
                  </a:cxn>
                  <a:cxn ang="0">
                    <a:pos x="connsiteX3" y="connsiteY3"/>
                  </a:cxn>
                </a:cxnLst>
                <a:rect l="l" t="t" r="r" b="b"/>
                <a:pathLst>
                  <a:path w="1165799" h="671343">
                    <a:moveTo>
                      <a:pt x="582622" y="671343"/>
                    </a:moveTo>
                    <a:lnTo>
                      <a:pt x="1165800" y="335574"/>
                    </a:lnTo>
                    <a:lnTo>
                      <a:pt x="582076" y="0"/>
                    </a:lnTo>
                    <a:lnTo>
                      <a:pt x="0" y="335861"/>
                    </a:lnTo>
                    <a:close/>
                  </a:path>
                </a:pathLst>
              </a:custGeom>
              <a:solidFill>
                <a:srgbClr val="C9E9EC"/>
              </a:solidFill>
              <a:ln w="9245" cap="flat">
                <a:noFill/>
                <a:prstDash val="solid"/>
                <a:miter/>
              </a:ln>
            </p:spPr>
            <p:txBody>
              <a:bodyPr rtlCol="0" anchor="ctr"/>
              <a:lstStyle/>
              <a:p>
                <a:endParaRPr lang="en-DE"/>
              </a:p>
            </p:txBody>
          </p:sp>
          <p:sp>
            <p:nvSpPr>
              <p:cNvPr id="19" name="Freeform: Shape 18">
                <a:extLst>
                  <a:ext uri="{FF2B5EF4-FFF2-40B4-BE49-F238E27FC236}">
                    <a16:creationId xmlns:a16="http://schemas.microsoft.com/office/drawing/2014/main" id="{12C4DF30-D5FE-4B84-BA35-FF795D63D990}"/>
                  </a:ext>
                </a:extLst>
              </p:cNvPr>
              <p:cNvSpPr/>
              <p:nvPr/>
            </p:nvSpPr>
            <p:spPr>
              <a:xfrm>
                <a:off x="4127945" y="2615580"/>
                <a:ext cx="1310126" cy="941540"/>
              </a:xfrm>
              <a:custGeom>
                <a:avLst/>
                <a:gdLst>
                  <a:gd name="connsiteX0" fmla="*/ 787326 w 1310126"/>
                  <a:gd name="connsiteY0" fmla="*/ 632428 h 941540"/>
                  <a:gd name="connsiteX1" fmla="*/ 734115 w 1310126"/>
                  <a:gd name="connsiteY1" fmla="*/ 623305 h 941540"/>
                  <a:gd name="connsiteX2" fmla="*/ 726519 w 1310126"/>
                  <a:gd name="connsiteY2" fmla="*/ 606586 h 941540"/>
                  <a:gd name="connsiteX3" fmla="*/ 712835 w 1310126"/>
                  <a:gd name="connsiteY3" fmla="*/ 358779 h 941540"/>
                  <a:gd name="connsiteX4" fmla="*/ 986483 w 1310126"/>
                  <a:gd name="connsiteY4" fmla="*/ 491042 h 941540"/>
                  <a:gd name="connsiteX5" fmla="*/ 787326 w 1310126"/>
                  <a:gd name="connsiteY5" fmla="*/ 632428 h 941540"/>
                  <a:gd name="connsiteX6" fmla="*/ 580572 w 1310126"/>
                  <a:gd name="connsiteY6" fmla="*/ 600498 h 941540"/>
                  <a:gd name="connsiteX7" fmla="*/ 539519 w 1310126"/>
                  <a:gd name="connsiteY7" fmla="*/ 640033 h 941540"/>
                  <a:gd name="connsiteX8" fmla="*/ 521283 w 1310126"/>
                  <a:gd name="connsiteY8" fmla="*/ 635472 h 941540"/>
                  <a:gd name="connsiteX9" fmla="*/ 319082 w 1310126"/>
                  <a:gd name="connsiteY9" fmla="*/ 491042 h 941540"/>
                  <a:gd name="connsiteX10" fmla="*/ 545608 w 1310126"/>
                  <a:gd name="connsiteY10" fmla="*/ 366385 h 941540"/>
                  <a:gd name="connsiteX11" fmla="*/ 594257 w 1310126"/>
                  <a:gd name="connsiteY11" fmla="*/ 357262 h 941540"/>
                  <a:gd name="connsiteX12" fmla="*/ 580572 w 1310126"/>
                  <a:gd name="connsiteY12" fmla="*/ 600498 h 941540"/>
                  <a:gd name="connsiteX13" fmla="*/ 1149149 w 1310126"/>
                  <a:gd name="connsiteY13" fmla="*/ 498648 h 941540"/>
                  <a:gd name="connsiteX14" fmla="*/ 1164351 w 1310126"/>
                  <a:gd name="connsiteY14" fmla="*/ 484963 h 941540"/>
                  <a:gd name="connsiteX15" fmla="*/ 1164351 w 1310126"/>
                  <a:gd name="connsiteY15" fmla="*/ 481919 h 941540"/>
                  <a:gd name="connsiteX16" fmla="*/ 1171957 w 1310126"/>
                  <a:gd name="connsiteY16" fmla="*/ 459121 h 941540"/>
                  <a:gd name="connsiteX17" fmla="*/ 1240359 w 1310126"/>
                  <a:gd name="connsiteY17" fmla="*/ 411990 h 941540"/>
                  <a:gd name="connsiteX18" fmla="*/ 1254044 w 1310126"/>
                  <a:gd name="connsiteY18" fmla="*/ 404384 h 941540"/>
                  <a:gd name="connsiteX19" fmla="*/ 1279895 w 1310126"/>
                  <a:gd name="connsiteY19" fmla="*/ 389183 h 941540"/>
                  <a:gd name="connsiteX20" fmla="*/ 1287491 w 1310126"/>
                  <a:gd name="connsiteY20" fmla="*/ 383104 h 941540"/>
                  <a:gd name="connsiteX21" fmla="*/ 1290535 w 1310126"/>
                  <a:gd name="connsiteY21" fmla="*/ 380060 h 941540"/>
                  <a:gd name="connsiteX22" fmla="*/ 1301175 w 1310126"/>
                  <a:gd name="connsiteY22" fmla="*/ 311657 h 941540"/>
                  <a:gd name="connsiteX23" fmla="*/ 1266211 w 1310126"/>
                  <a:gd name="connsiteY23" fmla="*/ 294929 h 941540"/>
                  <a:gd name="connsiteX24" fmla="*/ 1232763 w 1310126"/>
                  <a:gd name="connsiteY24" fmla="*/ 307096 h 941540"/>
                  <a:gd name="connsiteX25" fmla="*/ 1229719 w 1310126"/>
                  <a:gd name="connsiteY25" fmla="*/ 310130 h 941540"/>
                  <a:gd name="connsiteX26" fmla="*/ 1222123 w 1310126"/>
                  <a:gd name="connsiteY26" fmla="*/ 316209 h 941540"/>
                  <a:gd name="connsiteX27" fmla="*/ 1202360 w 1310126"/>
                  <a:gd name="connsiteY27" fmla="*/ 337499 h 941540"/>
                  <a:gd name="connsiteX28" fmla="*/ 1191720 w 1310126"/>
                  <a:gd name="connsiteY28" fmla="*/ 348139 h 941540"/>
                  <a:gd name="connsiteX29" fmla="*/ 1130904 w 1310126"/>
                  <a:gd name="connsiteY29" fmla="*/ 402867 h 941540"/>
                  <a:gd name="connsiteX30" fmla="*/ 1117220 w 1310126"/>
                  <a:gd name="connsiteY30" fmla="*/ 407428 h 941540"/>
                  <a:gd name="connsiteX31" fmla="*/ 1108097 w 1310126"/>
                  <a:gd name="connsiteY31" fmla="*/ 405911 h 941540"/>
                  <a:gd name="connsiteX32" fmla="*/ 1105062 w 1310126"/>
                  <a:gd name="connsiteY32" fmla="*/ 405911 h 941540"/>
                  <a:gd name="connsiteX33" fmla="*/ 1086816 w 1310126"/>
                  <a:gd name="connsiteY33" fmla="*/ 418069 h 941540"/>
                  <a:gd name="connsiteX34" fmla="*/ 1024483 w 1310126"/>
                  <a:gd name="connsiteY34" fmla="*/ 360297 h 941540"/>
                  <a:gd name="connsiteX35" fmla="*/ 706756 w 1310126"/>
                  <a:gd name="connsiteY35" fmla="*/ 234122 h 941540"/>
                  <a:gd name="connsiteX36" fmla="*/ 705230 w 1310126"/>
                  <a:gd name="connsiteY36" fmla="*/ 214359 h 941540"/>
                  <a:gd name="connsiteX37" fmla="*/ 702195 w 1310126"/>
                  <a:gd name="connsiteY37" fmla="*/ 211315 h 941540"/>
                  <a:gd name="connsiteX38" fmla="*/ 690028 w 1310126"/>
                  <a:gd name="connsiteY38" fmla="*/ 191552 h 941540"/>
                  <a:gd name="connsiteX39" fmla="*/ 694589 w 1310126"/>
                  <a:gd name="connsiteY39" fmla="*/ 109456 h 941540"/>
                  <a:gd name="connsiteX40" fmla="*/ 694589 w 1310126"/>
                  <a:gd name="connsiteY40" fmla="*/ 107938 h 941540"/>
                  <a:gd name="connsiteX41" fmla="*/ 697633 w 1310126"/>
                  <a:gd name="connsiteY41" fmla="*/ 92737 h 941540"/>
                  <a:gd name="connsiteX42" fmla="*/ 702195 w 1310126"/>
                  <a:gd name="connsiteY42" fmla="*/ 63851 h 941540"/>
                  <a:gd name="connsiteX43" fmla="*/ 702195 w 1310126"/>
                  <a:gd name="connsiteY43" fmla="*/ 54728 h 941540"/>
                  <a:gd name="connsiteX44" fmla="*/ 702195 w 1310126"/>
                  <a:gd name="connsiteY44" fmla="*/ 50166 h 941540"/>
                  <a:gd name="connsiteX45" fmla="*/ 655063 w 1310126"/>
                  <a:gd name="connsiteY45" fmla="*/ 0 h 941540"/>
                  <a:gd name="connsiteX46" fmla="*/ 621616 w 1310126"/>
                  <a:gd name="connsiteY46" fmla="*/ 15202 h 941540"/>
                  <a:gd name="connsiteX47" fmla="*/ 607932 w 1310126"/>
                  <a:gd name="connsiteY47" fmla="*/ 50166 h 941540"/>
                  <a:gd name="connsiteX48" fmla="*/ 607932 w 1310126"/>
                  <a:gd name="connsiteY48" fmla="*/ 53210 h 941540"/>
                  <a:gd name="connsiteX49" fmla="*/ 607932 w 1310126"/>
                  <a:gd name="connsiteY49" fmla="*/ 62333 h 941540"/>
                  <a:gd name="connsiteX50" fmla="*/ 612493 w 1310126"/>
                  <a:gd name="connsiteY50" fmla="*/ 91210 h 941540"/>
                  <a:gd name="connsiteX51" fmla="*/ 615537 w 1310126"/>
                  <a:gd name="connsiteY51" fmla="*/ 106421 h 941540"/>
                  <a:gd name="connsiteX52" fmla="*/ 615537 w 1310126"/>
                  <a:gd name="connsiteY52" fmla="*/ 107938 h 941540"/>
                  <a:gd name="connsiteX53" fmla="*/ 620098 w 1310126"/>
                  <a:gd name="connsiteY53" fmla="*/ 190035 h 941540"/>
                  <a:gd name="connsiteX54" fmla="*/ 607932 w 1310126"/>
                  <a:gd name="connsiteY54" fmla="*/ 209798 h 941540"/>
                  <a:gd name="connsiteX55" fmla="*/ 604897 w 1310126"/>
                  <a:gd name="connsiteY55" fmla="*/ 212832 h 941540"/>
                  <a:gd name="connsiteX56" fmla="*/ 603370 w 1310126"/>
                  <a:gd name="connsiteY56" fmla="*/ 232595 h 941540"/>
                  <a:gd name="connsiteX57" fmla="*/ 521283 w 1310126"/>
                  <a:gd name="connsiteY57" fmla="*/ 244762 h 941540"/>
                  <a:gd name="connsiteX58" fmla="*/ 220266 w 1310126"/>
                  <a:gd name="connsiteY58" fmla="*/ 415034 h 941540"/>
                  <a:gd name="connsiteX59" fmla="*/ 205065 w 1310126"/>
                  <a:gd name="connsiteY59" fmla="*/ 404384 h 941540"/>
                  <a:gd name="connsiteX60" fmla="*/ 202020 w 1310126"/>
                  <a:gd name="connsiteY60" fmla="*/ 404384 h 941540"/>
                  <a:gd name="connsiteX61" fmla="*/ 192907 w 1310126"/>
                  <a:gd name="connsiteY61" fmla="*/ 405911 h 941540"/>
                  <a:gd name="connsiteX62" fmla="*/ 179223 w 1310126"/>
                  <a:gd name="connsiteY62" fmla="*/ 401350 h 941540"/>
                  <a:gd name="connsiteX63" fmla="*/ 118407 w 1310126"/>
                  <a:gd name="connsiteY63" fmla="*/ 345095 h 941540"/>
                  <a:gd name="connsiteX64" fmla="*/ 107767 w 1310126"/>
                  <a:gd name="connsiteY64" fmla="*/ 334455 h 941540"/>
                  <a:gd name="connsiteX65" fmla="*/ 88003 w 1310126"/>
                  <a:gd name="connsiteY65" fmla="*/ 313174 h 941540"/>
                  <a:gd name="connsiteX66" fmla="*/ 80407 w 1310126"/>
                  <a:gd name="connsiteY66" fmla="*/ 307096 h 941540"/>
                  <a:gd name="connsiteX67" fmla="*/ 77363 w 1310126"/>
                  <a:gd name="connsiteY67" fmla="*/ 304052 h 941540"/>
                  <a:gd name="connsiteX68" fmla="*/ 43916 w 1310126"/>
                  <a:gd name="connsiteY68" fmla="*/ 291885 h 941540"/>
                  <a:gd name="connsiteX69" fmla="*/ 8951 w 1310126"/>
                  <a:gd name="connsiteY69" fmla="*/ 308613 h 941540"/>
                  <a:gd name="connsiteX70" fmla="*/ 19591 w 1310126"/>
                  <a:gd name="connsiteY70" fmla="*/ 377025 h 941540"/>
                  <a:gd name="connsiteX71" fmla="*/ 22635 w 1310126"/>
                  <a:gd name="connsiteY71" fmla="*/ 378542 h 941540"/>
                  <a:gd name="connsiteX72" fmla="*/ 30232 w 1310126"/>
                  <a:gd name="connsiteY72" fmla="*/ 384621 h 941540"/>
                  <a:gd name="connsiteX73" fmla="*/ 56083 w 1310126"/>
                  <a:gd name="connsiteY73" fmla="*/ 399832 h 941540"/>
                  <a:gd name="connsiteX74" fmla="*/ 69758 w 1310126"/>
                  <a:gd name="connsiteY74" fmla="*/ 407428 h 941540"/>
                  <a:gd name="connsiteX75" fmla="*/ 138170 w 1310126"/>
                  <a:gd name="connsiteY75" fmla="*/ 454560 h 941540"/>
                  <a:gd name="connsiteX76" fmla="*/ 145775 w 1310126"/>
                  <a:gd name="connsiteY76" fmla="*/ 477358 h 941540"/>
                  <a:gd name="connsiteX77" fmla="*/ 145775 w 1310126"/>
                  <a:gd name="connsiteY77" fmla="*/ 480402 h 941540"/>
                  <a:gd name="connsiteX78" fmla="*/ 160977 w 1310126"/>
                  <a:gd name="connsiteY78" fmla="*/ 494086 h 941540"/>
                  <a:gd name="connsiteX79" fmla="*/ 153381 w 1310126"/>
                  <a:gd name="connsiteY79" fmla="*/ 506244 h 941540"/>
                  <a:gd name="connsiteX80" fmla="*/ 107785 w 1310126"/>
                  <a:gd name="connsiteY80" fmla="*/ 594012 h 941540"/>
                  <a:gd name="connsiteX81" fmla="*/ 194452 w 1310126"/>
                  <a:gd name="connsiteY81" fmla="*/ 700951 h 941540"/>
                  <a:gd name="connsiteX82" fmla="*/ 246108 w 1310126"/>
                  <a:gd name="connsiteY82" fmla="*/ 582261 h 941540"/>
                  <a:gd name="connsiteX83" fmla="*/ 427020 w 1310126"/>
                  <a:gd name="connsiteY83" fmla="*/ 743410 h 941540"/>
                  <a:gd name="connsiteX84" fmla="*/ 431581 w 1310126"/>
                  <a:gd name="connsiteY84" fmla="*/ 799655 h 941540"/>
                  <a:gd name="connsiteX85" fmla="*/ 413345 w 1310126"/>
                  <a:gd name="connsiteY85" fmla="*/ 811822 h 941540"/>
                  <a:gd name="connsiteX86" fmla="*/ 308876 w 1310126"/>
                  <a:gd name="connsiteY86" fmla="*/ 842151 h 941540"/>
                  <a:gd name="connsiteX87" fmla="*/ 360782 w 1310126"/>
                  <a:gd name="connsiteY87" fmla="*/ 906187 h 941540"/>
                  <a:gd name="connsiteX88" fmla="*/ 434542 w 1310126"/>
                  <a:gd name="connsiteY88" fmla="*/ 941540 h 941540"/>
                  <a:gd name="connsiteX89" fmla="*/ 879794 w 1310126"/>
                  <a:gd name="connsiteY89" fmla="*/ 940754 h 941540"/>
                  <a:gd name="connsiteX90" fmla="*/ 953277 w 1310126"/>
                  <a:gd name="connsiteY90" fmla="*/ 905400 h 941540"/>
                  <a:gd name="connsiteX91" fmla="*/ 1002009 w 1310126"/>
                  <a:gd name="connsiteY91" fmla="*/ 844039 h 941540"/>
                  <a:gd name="connsiteX92" fmla="*/ 895264 w 1310126"/>
                  <a:gd name="connsiteY92" fmla="*/ 813339 h 941540"/>
                  <a:gd name="connsiteX93" fmla="*/ 866378 w 1310126"/>
                  <a:gd name="connsiteY93" fmla="*/ 764690 h 941540"/>
                  <a:gd name="connsiteX94" fmla="*/ 875501 w 1310126"/>
                  <a:gd name="connsiteY94" fmla="*/ 747971 h 941540"/>
                  <a:gd name="connsiteX95" fmla="*/ 1059457 w 1310126"/>
                  <a:gd name="connsiteY95" fmla="*/ 582261 h 941540"/>
                  <a:gd name="connsiteX96" fmla="*/ 1111927 w 1310126"/>
                  <a:gd name="connsiteY96" fmla="*/ 705651 h 941540"/>
                  <a:gd name="connsiteX97" fmla="*/ 1200324 w 1310126"/>
                  <a:gd name="connsiteY97" fmla="*/ 594363 h 941540"/>
                  <a:gd name="connsiteX98" fmla="*/ 1149149 w 1310126"/>
                  <a:gd name="connsiteY98" fmla="*/ 498648 h 941540"/>
                  <a:gd name="connsiteX99" fmla="*/ 1149149 w 1310126"/>
                  <a:gd name="connsiteY99" fmla="*/ 498648 h 941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310126" h="941540">
                    <a:moveTo>
                      <a:pt x="787326" y="632428"/>
                    </a:moveTo>
                    <a:cubicBezTo>
                      <a:pt x="770607" y="643068"/>
                      <a:pt x="747800" y="640033"/>
                      <a:pt x="734115" y="623305"/>
                    </a:cubicBezTo>
                    <a:cubicBezTo>
                      <a:pt x="729554" y="618743"/>
                      <a:pt x="728037" y="612665"/>
                      <a:pt x="726519" y="606586"/>
                    </a:cubicBezTo>
                    <a:lnTo>
                      <a:pt x="712835" y="358779"/>
                    </a:lnTo>
                    <a:cubicBezTo>
                      <a:pt x="817729" y="370946"/>
                      <a:pt x="913510" y="418069"/>
                      <a:pt x="986483" y="491042"/>
                    </a:cubicBezTo>
                    <a:lnTo>
                      <a:pt x="787326" y="632428"/>
                    </a:lnTo>
                    <a:close/>
                    <a:moveTo>
                      <a:pt x="580572" y="600498"/>
                    </a:moveTo>
                    <a:cubicBezTo>
                      <a:pt x="579046" y="621787"/>
                      <a:pt x="562327" y="640033"/>
                      <a:pt x="539519" y="640033"/>
                    </a:cubicBezTo>
                    <a:cubicBezTo>
                      <a:pt x="533441" y="640033"/>
                      <a:pt x="525844" y="638507"/>
                      <a:pt x="521283" y="635472"/>
                    </a:cubicBezTo>
                    <a:lnTo>
                      <a:pt x="319082" y="491042"/>
                    </a:lnTo>
                    <a:cubicBezTo>
                      <a:pt x="381415" y="428709"/>
                      <a:pt x="458950" y="386148"/>
                      <a:pt x="545608" y="366385"/>
                    </a:cubicBezTo>
                    <a:cubicBezTo>
                      <a:pt x="562327" y="363341"/>
                      <a:pt x="577528" y="360297"/>
                      <a:pt x="594257" y="357262"/>
                    </a:cubicBezTo>
                    <a:lnTo>
                      <a:pt x="580572" y="600498"/>
                    </a:lnTo>
                    <a:close/>
                    <a:moveTo>
                      <a:pt x="1149149" y="498648"/>
                    </a:moveTo>
                    <a:lnTo>
                      <a:pt x="1164351" y="484963"/>
                    </a:lnTo>
                    <a:lnTo>
                      <a:pt x="1164351" y="481919"/>
                    </a:lnTo>
                    <a:cubicBezTo>
                      <a:pt x="1164351" y="474323"/>
                      <a:pt x="1165868" y="466718"/>
                      <a:pt x="1171957" y="459121"/>
                    </a:cubicBezTo>
                    <a:cubicBezTo>
                      <a:pt x="1190193" y="442393"/>
                      <a:pt x="1213000" y="428709"/>
                      <a:pt x="1240359" y="411990"/>
                    </a:cubicBezTo>
                    <a:cubicBezTo>
                      <a:pt x="1244921" y="408946"/>
                      <a:pt x="1249482" y="407428"/>
                      <a:pt x="1254044" y="404384"/>
                    </a:cubicBezTo>
                    <a:cubicBezTo>
                      <a:pt x="1263167" y="399832"/>
                      <a:pt x="1270772" y="395271"/>
                      <a:pt x="1279895" y="389183"/>
                    </a:cubicBezTo>
                    <a:cubicBezTo>
                      <a:pt x="1281412" y="387665"/>
                      <a:pt x="1284447" y="386148"/>
                      <a:pt x="1287491" y="383104"/>
                    </a:cubicBezTo>
                    <a:cubicBezTo>
                      <a:pt x="1289008" y="381586"/>
                      <a:pt x="1290535" y="381586"/>
                      <a:pt x="1290535" y="380060"/>
                    </a:cubicBezTo>
                    <a:cubicBezTo>
                      <a:pt x="1311815" y="361823"/>
                      <a:pt x="1316377" y="331420"/>
                      <a:pt x="1301175" y="311657"/>
                    </a:cubicBezTo>
                    <a:cubicBezTo>
                      <a:pt x="1293570" y="301008"/>
                      <a:pt x="1279895" y="294929"/>
                      <a:pt x="1266211" y="294929"/>
                    </a:cubicBezTo>
                    <a:cubicBezTo>
                      <a:pt x="1254044" y="294929"/>
                      <a:pt x="1243403" y="299490"/>
                      <a:pt x="1232763" y="307096"/>
                    </a:cubicBezTo>
                    <a:lnTo>
                      <a:pt x="1229719" y="310130"/>
                    </a:lnTo>
                    <a:cubicBezTo>
                      <a:pt x="1226684" y="311657"/>
                      <a:pt x="1225158" y="314692"/>
                      <a:pt x="1222123" y="316209"/>
                    </a:cubicBezTo>
                    <a:cubicBezTo>
                      <a:pt x="1214517" y="323815"/>
                      <a:pt x="1208439" y="329893"/>
                      <a:pt x="1202360" y="337499"/>
                    </a:cubicBezTo>
                    <a:cubicBezTo>
                      <a:pt x="1199316" y="340534"/>
                      <a:pt x="1196281" y="345095"/>
                      <a:pt x="1191720" y="348139"/>
                    </a:cubicBezTo>
                    <a:cubicBezTo>
                      <a:pt x="1170430" y="370946"/>
                      <a:pt x="1150667" y="389183"/>
                      <a:pt x="1130904" y="402867"/>
                    </a:cubicBezTo>
                    <a:cubicBezTo>
                      <a:pt x="1126342" y="405911"/>
                      <a:pt x="1121781" y="407428"/>
                      <a:pt x="1117220" y="407428"/>
                    </a:cubicBezTo>
                    <a:cubicBezTo>
                      <a:pt x="1114185" y="407428"/>
                      <a:pt x="1111141" y="407428"/>
                      <a:pt x="1108097" y="405911"/>
                    </a:cubicBezTo>
                    <a:lnTo>
                      <a:pt x="1105062" y="405911"/>
                    </a:lnTo>
                    <a:lnTo>
                      <a:pt x="1086816" y="418069"/>
                    </a:lnTo>
                    <a:cubicBezTo>
                      <a:pt x="1067053" y="396788"/>
                      <a:pt x="1045773" y="378542"/>
                      <a:pt x="1024483" y="360297"/>
                    </a:cubicBezTo>
                    <a:cubicBezTo>
                      <a:pt x="933273" y="288850"/>
                      <a:pt x="822291" y="244762"/>
                      <a:pt x="706756" y="234122"/>
                    </a:cubicBezTo>
                    <a:lnTo>
                      <a:pt x="705230" y="214359"/>
                    </a:lnTo>
                    <a:lnTo>
                      <a:pt x="702195" y="211315"/>
                    </a:lnTo>
                    <a:cubicBezTo>
                      <a:pt x="697633" y="206754"/>
                      <a:pt x="691545" y="202192"/>
                      <a:pt x="690028" y="191552"/>
                    </a:cubicBezTo>
                    <a:cubicBezTo>
                      <a:pt x="688511" y="167227"/>
                      <a:pt x="691545" y="139859"/>
                      <a:pt x="694589" y="109456"/>
                    </a:cubicBezTo>
                    <a:lnTo>
                      <a:pt x="694589" y="107938"/>
                    </a:lnTo>
                    <a:cubicBezTo>
                      <a:pt x="694589" y="103377"/>
                      <a:pt x="696107" y="97298"/>
                      <a:pt x="697633" y="92737"/>
                    </a:cubicBezTo>
                    <a:cubicBezTo>
                      <a:pt x="699151" y="83614"/>
                      <a:pt x="700668" y="74491"/>
                      <a:pt x="702195" y="63851"/>
                    </a:cubicBezTo>
                    <a:lnTo>
                      <a:pt x="702195" y="54728"/>
                    </a:lnTo>
                    <a:lnTo>
                      <a:pt x="702195" y="50166"/>
                    </a:lnTo>
                    <a:cubicBezTo>
                      <a:pt x="702195" y="22807"/>
                      <a:pt x="680905" y="0"/>
                      <a:pt x="655063" y="0"/>
                    </a:cubicBezTo>
                    <a:cubicBezTo>
                      <a:pt x="642906" y="0"/>
                      <a:pt x="630739" y="6079"/>
                      <a:pt x="621616" y="15202"/>
                    </a:cubicBezTo>
                    <a:cubicBezTo>
                      <a:pt x="612493" y="24325"/>
                      <a:pt x="607932" y="36482"/>
                      <a:pt x="607932" y="50166"/>
                    </a:cubicBezTo>
                    <a:lnTo>
                      <a:pt x="607932" y="53210"/>
                    </a:lnTo>
                    <a:lnTo>
                      <a:pt x="607932" y="62333"/>
                    </a:lnTo>
                    <a:cubicBezTo>
                      <a:pt x="607932" y="72974"/>
                      <a:pt x="609458" y="82096"/>
                      <a:pt x="612493" y="91210"/>
                    </a:cubicBezTo>
                    <a:cubicBezTo>
                      <a:pt x="614020" y="95771"/>
                      <a:pt x="614020" y="100333"/>
                      <a:pt x="615537" y="106421"/>
                    </a:cubicBezTo>
                    <a:lnTo>
                      <a:pt x="615537" y="107938"/>
                    </a:lnTo>
                    <a:cubicBezTo>
                      <a:pt x="618581" y="138342"/>
                      <a:pt x="623133" y="165710"/>
                      <a:pt x="620098" y="190035"/>
                    </a:cubicBezTo>
                    <a:cubicBezTo>
                      <a:pt x="618581" y="200675"/>
                      <a:pt x="612493" y="205236"/>
                      <a:pt x="607932" y="209798"/>
                    </a:cubicBezTo>
                    <a:cubicBezTo>
                      <a:pt x="606414" y="211315"/>
                      <a:pt x="606414" y="211315"/>
                      <a:pt x="604897" y="212832"/>
                    </a:cubicBezTo>
                    <a:lnTo>
                      <a:pt x="603370" y="232595"/>
                    </a:lnTo>
                    <a:cubicBezTo>
                      <a:pt x="576011" y="235640"/>
                      <a:pt x="548642" y="238684"/>
                      <a:pt x="521283" y="244762"/>
                    </a:cubicBezTo>
                    <a:cubicBezTo>
                      <a:pt x="404222" y="270604"/>
                      <a:pt x="300845" y="329893"/>
                      <a:pt x="220266" y="415034"/>
                    </a:cubicBezTo>
                    <a:lnTo>
                      <a:pt x="205065" y="404384"/>
                    </a:lnTo>
                    <a:lnTo>
                      <a:pt x="202020" y="404384"/>
                    </a:lnTo>
                    <a:cubicBezTo>
                      <a:pt x="198986" y="404384"/>
                      <a:pt x="195942" y="405911"/>
                      <a:pt x="192907" y="405911"/>
                    </a:cubicBezTo>
                    <a:cubicBezTo>
                      <a:pt x="188345" y="405911"/>
                      <a:pt x="183784" y="404384"/>
                      <a:pt x="179223" y="401350"/>
                    </a:cubicBezTo>
                    <a:cubicBezTo>
                      <a:pt x="159460" y="387665"/>
                      <a:pt x="139696" y="367902"/>
                      <a:pt x="118407" y="345095"/>
                    </a:cubicBezTo>
                    <a:cubicBezTo>
                      <a:pt x="115372" y="342060"/>
                      <a:pt x="112328" y="337499"/>
                      <a:pt x="107767" y="334455"/>
                    </a:cubicBezTo>
                    <a:cubicBezTo>
                      <a:pt x="101688" y="326859"/>
                      <a:pt x="95609" y="320771"/>
                      <a:pt x="88003" y="313174"/>
                    </a:cubicBezTo>
                    <a:cubicBezTo>
                      <a:pt x="86486" y="311657"/>
                      <a:pt x="83442" y="310130"/>
                      <a:pt x="80407" y="307096"/>
                    </a:cubicBezTo>
                    <a:cubicBezTo>
                      <a:pt x="78881" y="305569"/>
                      <a:pt x="77363" y="305569"/>
                      <a:pt x="77363" y="304052"/>
                    </a:cubicBezTo>
                    <a:cubicBezTo>
                      <a:pt x="68240" y="296446"/>
                      <a:pt x="56083" y="291885"/>
                      <a:pt x="43916" y="291885"/>
                    </a:cubicBezTo>
                    <a:cubicBezTo>
                      <a:pt x="30232" y="291885"/>
                      <a:pt x="16557" y="297973"/>
                      <a:pt x="8951" y="308613"/>
                    </a:cubicBezTo>
                    <a:cubicBezTo>
                      <a:pt x="-6251" y="328376"/>
                      <a:pt x="-1689" y="358779"/>
                      <a:pt x="19591" y="377025"/>
                    </a:cubicBezTo>
                    <a:cubicBezTo>
                      <a:pt x="21118" y="377025"/>
                      <a:pt x="21118" y="378542"/>
                      <a:pt x="22635" y="378542"/>
                    </a:cubicBezTo>
                    <a:cubicBezTo>
                      <a:pt x="25670" y="380060"/>
                      <a:pt x="27197" y="383104"/>
                      <a:pt x="30232" y="384621"/>
                    </a:cubicBezTo>
                    <a:cubicBezTo>
                      <a:pt x="39354" y="390709"/>
                      <a:pt x="46960" y="395271"/>
                      <a:pt x="56083" y="399832"/>
                    </a:cubicBezTo>
                    <a:cubicBezTo>
                      <a:pt x="60644" y="401350"/>
                      <a:pt x="65206" y="404384"/>
                      <a:pt x="69758" y="407428"/>
                    </a:cubicBezTo>
                    <a:cubicBezTo>
                      <a:pt x="97126" y="424157"/>
                      <a:pt x="119933" y="437832"/>
                      <a:pt x="138170" y="454560"/>
                    </a:cubicBezTo>
                    <a:cubicBezTo>
                      <a:pt x="145775" y="462156"/>
                      <a:pt x="145775" y="469762"/>
                      <a:pt x="145775" y="477358"/>
                    </a:cubicBezTo>
                    <a:lnTo>
                      <a:pt x="145775" y="480402"/>
                    </a:lnTo>
                    <a:lnTo>
                      <a:pt x="160977" y="494086"/>
                    </a:lnTo>
                    <a:cubicBezTo>
                      <a:pt x="157933" y="498648"/>
                      <a:pt x="154898" y="501682"/>
                      <a:pt x="153381" y="506244"/>
                    </a:cubicBezTo>
                    <a:cubicBezTo>
                      <a:pt x="135551" y="534417"/>
                      <a:pt x="120415" y="563794"/>
                      <a:pt x="107785" y="594012"/>
                    </a:cubicBezTo>
                    <a:lnTo>
                      <a:pt x="194452" y="700951"/>
                    </a:lnTo>
                    <a:cubicBezTo>
                      <a:pt x="206175" y="659565"/>
                      <a:pt x="223338" y="619585"/>
                      <a:pt x="246108" y="582261"/>
                    </a:cubicBezTo>
                    <a:lnTo>
                      <a:pt x="427020" y="743410"/>
                    </a:lnTo>
                    <a:cubicBezTo>
                      <a:pt x="443748" y="757085"/>
                      <a:pt x="445266" y="782936"/>
                      <a:pt x="431581" y="799655"/>
                    </a:cubicBezTo>
                    <a:cubicBezTo>
                      <a:pt x="427020" y="805734"/>
                      <a:pt x="420941" y="810295"/>
                      <a:pt x="413345" y="811822"/>
                    </a:cubicBezTo>
                    <a:lnTo>
                      <a:pt x="308876" y="842151"/>
                    </a:lnTo>
                    <a:lnTo>
                      <a:pt x="360782" y="906187"/>
                    </a:lnTo>
                    <a:cubicBezTo>
                      <a:pt x="378926" y="928976"/>
                      <a:pt x="406128" y="941540"/>
                      <a:pt x="434542" y="941540"/>
                    </a:cubicBezTo>
                    <a:lnTo>
                      <a:pt x="879794" y="940754"/>
                    </a:lnTo>
                    <a:cubicBezTo>
                      <a:pt x="908199" y="940754"/>
                      <a:pt x="935123" y="927403"/>
                      <a:pt x="953277" y="905400"/>
                    </a:cubicBezTo>
                    <a:lnTo>
                      <a:pt x="1002009" y="844039"/>
                    </a:lnTo>
                    <a:lnTo>
                      <a:pt x="895264" y="813339"/>
                    </a:lnTo>
                    <a:cubicBezTo>
                      <a:pt x="873984" y="807261"/>
                      <a:pt x="861817" y="785971"/>
                      <a:pt x="866378" y="764690"/>
                    </a:cubicBezTo>
                    <a:cubicBezTo>
                      <a:pt x="867896" y="758612"/>
                      <a:pt x="870940" y="752533"/>
                      <a:pt x="875501" y="747971"/>
                    </a:cubicBezTo>
                    <a:lnTo>
                      <a:pt x="1059457" y="582261"/>
                    </a:lnTo>
                    <a:cubicBezTo>
                      <a:pt x="1081848" y="619151"/>
                      <a:pt x="1099658" y="660620"/>
                      <a:pt x="1111927" y="705651"/>
                    </a:cubicBezTo>
                    <a:lnTo>
                      <a:pt x="1200324" y="594363"/>
                    </a:lnTo>
                    <a:cubicBezTo>
                      <a:pt x="1186057" y="561064"/>
                      <a:pt x="1168940" y="529088"/>
                      <a:pt x="1149149" y="498648"/>
                    </a:cubicBezTo>
                    <a:lnTo>
                      <a:pt x="1149149" y="498648"/>
                    </a:lnTo>
                    <a:close/>
                  </a:path>
                </a:pathLst>
              </a:custGeom>
              <a:solidFill>
                <a:srgbClr val="326DE6"/>
              </a:solidFill>
              <a:ln w="9245" cap="flat">
                <a:noFill/>
                <a:prstDash val="solid"/>
                <a:miter/>
              </a:ln>
            </p:spPr>
            <p:txBody>
              <a:bodyPr rtlCol="0" anchor="ctr"/>
              <a:lstStyle/>
              <a:p>
                <a:endParaRPr lang="en-DE"/>
              </a:p>
            </p:txBody>
          </p:sp>
        </p:grpSp>
        <p:grpSp>
          <p:nvGrpSpPr>
            <p:cNvPr id="28" name="Group 27">
              <a:extLst>
                <a:ext uri="{FF2B5EF4-FFF2-40B4-BE49-F238E27FC236}">
                  <a16:creationId xmlns:a16="http://schemas.microsoft.com/office/drawing/2014/main" id="{C3313D41-A931-41C7-98AB-57A5BEA7E800}"/>
                </a:ext>
              </a:extLst>
            </p:cNvPr>
            <p:cNvGrpSpPr/>
            <p:nvPr/>
          </p:nvGrpSpPr>
          <p:grpSpPr>
            <a:xfrm>
              <a:off x="5399141" y="3090726"/>
              <a:ext cx="1396892" cy="272016"/>
              <a:chOff x="6051530" y="2620923"/>
              <a:chExt cx="3603481" cy="701704"/>
            </a:xfrm>
          </p:grpSpPr>
          <p:sp>
            <p:nvSpPr>
              <p:cNvPr id="20" name="Freeform: Shape 19">
                <a:extLst>
                  <a:ext uri="{FF2B5EF4-FFF2-40B4-BE49-F238E27FC236}">
                    <a16:creationId xmlns:a16="http://schemas.microsoft.com/office/drawing/2014/main" id="{0AC2AC47-E331-463A-B9C6-75EB71FDC0E9}"/>
                  </a:ext>
                </a:extLst>
              </p:cNvPr>
              <p:cNvSpPr/>
              <p:nvPr/>
            </p:nvSpPr>
            <p:spPr>
              <a:xfrm>
                <a:off x="6051530" y="2832323"/>
                <a:ext cx="645741" cy="477866"/>
              </a:xfrm>
              <a:custGeom>
                <a:avLst/>
                <a:gdLst>
                  <a:gd name="connsiteX0" fmla="*/ 256698 w 645741"/>
                  <a:gd name="connsiteY0" fmla="*/ 230051 h 477866"/>
                  <a:gd name="connsiteX1" fmla="*/ 240275 w 645741"/>
                  <a:gd name="connsiteY1" fmla="*/ 139452 h 477866"/>
                  <a:gd name="connsiteX2" fmla="*/ 183863 w 645741"/>
                  <a:gd name="connsiteY2" fmla="*/ 112805 h 477866"/>
                  <a:gd name="connsiteX3" fmla="*/ 158105 w 645741"/>
                  <a:gd name="connsiteY3" fmla="*/ 114147 h 477866"/>
                  <a:gd name="connsiteX4" fmla="*/ 132355 w 645741"/>
                  <a:gd name="connsiteY4" fmla="*/ 117255 h 477866"/>
                  <a:gd name="connsiteX5" fmla="*/ 132355 w 645741"/>
                  <a:gd name="connsiteY5" fmla="*/ 477867 h 477866"/>
                  <a:gd name="connsiteX6" fmla="*/ 0 w 645741"/>
                  <a:gd name="connsiteY6" fmla="*/ 477867 h 477866"/>
                  <a:gd name="connsiteX7" fmla="*/ 0 w 645741"/>
                  <a:gd name="connsiteY7" fmla="*/ 26656 h 477866"/>
                  <a:gd name="connsiteX8" fmla="*/ 39526 w 645741"/>
                  <a:gd name="connsiteY8" fmla="*/ 17320 h 477866"/>
                  <a:gd name="connsiteX9" fmla="*/ 87491 w 645741"/>
                  <a:gd name="connsiteY9" fmla="*/ 8438 h 477866"/>
                  <a:gd name="connsiteX10" fmla="*/ 139452 w 645741"/>
                  <a:gd name="connsiteY10" fmla="*/ 2221 h 477866"/>
                  <a:gd name="connsiteX11" fmla="*/ 191857 w 645741"/>
                  <a:gd name="connsiteY11" fmla="*/ 0 h 477866"/>
                  <a:gd name="connsiteX12" fmla="*/ 274018 w 645741"/>
                  <a:gd name="connsiteY12" fmla="*/ 12879 h 477866"/>
                  <a:gd name="connsiteX13" fmla="*/ 325980 w 645741"/>
                  <a:gd name="connsiteY13" fmla="*/ 43523 h 477866"/>
                  <a:gd name="connsiteX14" fmla="*/ 391265 w 645741"/>
                  <a:gd name="connsiteY14" fmla="*/ 11547 h 477866"/>
                  <a:gd name="connsiteX15" fmla="*/ 459214 w 645741"/>
                  <a:gd name="connsiteY15" fmla="*/ 0 h 477866"/>
                  <a:gd name="connsiteX16" fmla="*/ 551146 w 645741"/>
                  <a:gd name="connsiteY16" fmla="*/ 15544 h 477866"/>
                  <a:gd name="connsiteX17" fmla="*/ 608446 w 645741"/>
                  <a:gd name="connsiteY17" fmla="*/ 59511 h 477866"/>
                  <a:gd name="connsiteX18" fmla="*/ 637757 w 645741"/>
                  <a:gd name="connsiteY18" fmla="*/ 127017 h 477866"/>
                  <a:gd name="connsiteX19" fmla="*/ 645742 w 645741"/>
                  <a:gd name="connsiteY19" fmla="*/ 214063 h 477866"/>
                  <a:gd name="connsiteX20" fmla="*/ 645742 w 645741"/>
                  <a:gd name="connsiteY20" fmla="*/ 477867 h 477866"/>
                  <a:gd name="connsiteX21" fmla="*/ 513396 w 645741"/>
                  <a:gd name="connsiteY21" fmla="*/ 477867 h 477866"/>
                  <a:gd name="connsiteX22" fmla="*/ 513396 w 645741"/>
                  <a:gd name="connsiteY22" fmla="*/ 230051 h 477866"/>
                  <a:gd name="connsiteX23" fmla="*/ 496964 w 645741"/>
                  <a:gd name="connsiteY23" fmla="*/ 139452 h 477866"/>
                  <a:gd name="connsiteX24" fmla="*/ 440561 w 645741"/>
                  <a:gd name="connsiteY24" fmla="*/ 112805 h 477866"/>
                  <a:gd name="connsiteX25" fmla="*/ 410806 w 645741"/>
                  <a:gd name="connsiteY25" fmla="*/ 118134 h 477866"/>
                  <a:gd name="connsiteX26" fmla="*/ 379273 w 645741"/>
                  <a:gd name="connsiteY26" fmla="*/ 131458 h 477866"/>
                  <a:gd name="connsiteX27" fmla="*/ 387268 w 645741"/>
                  <a:gd name="connsiteY27" fmla="*/ 174537 h 477866"/>
                  <a:gd name="connsiteX28" fmla="*/ 389044 w 645741"/>
                  <a:gd name="connsiteY28" fmla="*/ 222945 h 477866"/>
                  <a:gd name="connsiteX29" fmla="*/ 389044 w 645741"/>
                  <a:gd name="connsiteY29" fmla="*/ 477867 h 477866"/>
                  <a:gd name="connsiteX30" fmla="*/ 256698 w 645741"/>
                  <a:gd name="connsiteY30" fmla="*/ 477867 h 477866"/>
                  <a:gd name="connsiteX31" fmla="*/ 256698 w 645741"/>
                  <a:gd name="connsiteY31" fmla="*/ 230051 h 47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741" h="477866">
                    <a:moveTo>
                      <a:pt x="256698" y="230051"/>
                    </a:moveTo>
                    <a:cubicBezTo>
                      <a:pt x="256698" y="187425"/>
                      <a:pt x="251211" y="157216"/>
                      <a:pt x="240275" y="139452"/>
                    </a:cubicBezTo>
                    <a:cubicBezTo>
                      <a:pt x="229302" y="121687"/>
                      <a:pt x="210510" y="112805"/>
                      <a:pt x="183863" y="112805"/>
                    </a:cubicBezTo>
                    <a:cubicBezTo>
                      <a:pt x="175564" y="112805"/>
                      <a:pt x="166987" y="113249"/>
                      <a:pt x="158105" y="114147"/>
                    </a:cubicBezTo>
                    <a:cubicBezTo>
                      <a:pt x="149222" y="115026"/>
                      <a:pt x="140636" y="116071"/>
                      <a:pt x="132355" y="117255"/>
                    </a:cubicBezTo>
                    <a:lnTo>
                      <a:pt x="132355" y="477867"/>
                    </a:lnTo>
                    <a:lnTo>
                      <a:pt x="0" y="477867"/>
                    </a:lnTo>
                    <a:lnTo>
                      <a:pt x="0" y="26656"/>
                    </a:lnTo>
                    <a:cubicBezTo>
                      <a:pt x="11242" y="23686"/>
                      <a:pt x="24426" y="20577"/>
                      <a:pt x="39526" y="17320"/>
                    </a:cubicBezTo>
                    <a:cubicBezTo>
                      <a:pt x="54626" y="14073"/>
                      <a:pt x="70614" y="11103"/>
                      <a:pt x="87491" y="8438"/>
                    </a:cubicBezTo>
                    <a:cubicBezTo>
                      <a:pt x="104367" y="5773"/>
                      <a:pt x="121687" y="3710"/>
                      <a:pt x="139452" y="2221"/>
                    </a:cubicBezTo>
                    <a:cubicBezTo>
                      <a:pt x="157216" y="749"/>
                      <a:pt x="174676" y="0"/>
                      <a:pt x="191857" y="0"/>
                    </a:cubicBezTo>
                    <a:cubicBezTo>
                      <a:pt x="225610" y="0"/>
                      <a:pt x="252997" y="4312"/>
                      <a:pt x="274018" y="12879"/>
                    </a:cubicBezTo>
                    <a:cubicBezTo>
                      <a:pt x="295040" y="21475"/>
                      <a:pt x="312351" y="31689"/>
                      <a:pt x="325980" y="43523"/>
                    </a:cubicBezTo>
                    <a:cubicBezTo>
                      <a:pt x="344919" y="29913"/>
                      <a:pt x="366690" y="19254"/>
                      <a:pt x="391265" y="11547"/>
                    </a:cubicBezTo>
                    <a:cubicBezTo>
                      <a:pt x="415830" y="3858"/>
                      <a:pt x="438479" y="0"/>
                      <a:pt x="459214" y="0"/>
                    </a:cubicBezTo>
                    <a:cubicBezTo>
                      <a:pt x="496520" y="0"/>
                      <a:pt x="527163" y="5191"/>
                      <a:pt x="551146" y="15544"/>
                    </a:cubicBezTo>
                    <a:cubicBezTo>
                      <a:pt x="575128" y="25916"/>
                      <a:pt x="594225" y="40572"/>
                      <a:pt x="608446" y="59511"/>
                    </a:cubicBezTo>
                    <a:cubicBezTo>
                      <a:pt x="622648" y="78469"/>
                      <a:pt x="632419" y="100971"/>
                      <a:pt x="637757" y="127017"/>
                    </a:cubicBezTo>
                    <a:cubicBezTo>
                      <a:pt x="643077" y="153090"/>
                      <a:pt x="645742" y="182087"/>
                      <a:pt x="645742" y="214063"/>
                    </a:cubicBezTo>
                    <a:lnTo>
                      <a:pt x="645742" y="477867"/>
                    </a:lnTo>
                    <a:lnTo>
                      <a:pt x="513396" y="477867"/>
                    </a:lnTo>
                    <a:lnTo>
                      <a:pt x="513396" y="230051"/>
                    </a:lnTo>
                    <a:cubicBezTo>
                      <a:pt x="513396" y="187425"/>
                      <a:pt x="507909" y="157216"/>
                      <a:pt x="496964" y="139452"/>
                    </a:cubicBezTo>
                    <a:cubicBezTo>
                      <a:pt x="486000" y="121687"/>
                      <a:pt x="467208" y="112805"/>
                      <a:pt x="440561" y="112805"/>
                    </a:cubicBezTo>
                    <a:cubicBezTo>
                      <a:pt x="433465" y="112805"/>
                      <a:pt x="423528" y="114591"/>
                      <a:pt x="410806" y="118134"/>
                    </a:cubicBezTo>
                    <a:cubicBezTo>
                      <a:pt x="398065" y="121687"/>
                      <a:pt x="387564" y="126138"/>
                      <a:pt x="379273" y="131458"/>
                    </a:cubicBezTo>
                    <a:cubicBezTo>
                      <a:pt x="383409" y="145087"/>
                      <a:pt x="386074" y="159437"/>
                      <a:pt x="387268" y="174537"/>
                    </a:cubicBezTo>
                    <a:cubicBezTo>
                      <a:pt x="388443" y="189637"/>
                      <a:pt x="389044" y="205782"/>
                      <a:pt x="389044" y="222945"/>
                    </a:cubicBezTo>
                    <a:lnTo>
                      <a:pt x="389044" y="477867"/>
                    </a:lnTo>
                    <a:lnTo>
                      <a:pt x="256698" y="477867"/>
                    </a:lnTo>
                    <a:lnTo>
                      <a:pt x="256698" y="230051"/>
                    </a:lnTo>
                    <a:close/>
                  </a:path>
                </a:pathLst>
              </a:custGeom>
              <a:solidFill>
                <a:srgbClr val="326DE6"/>
              </a:solidFill>
              <a:ln w="9245" cap="flat">
                <a:noFill/>
                <a:prstDash val="solid"/>
                <a:miter/>
              </a:ln>
            </p:spPr>
            <p:txBody>
              <a:bodyPr rtlCol="0" anchor="ctr"/>
              <a:lstStyle/>
              <a:p>
                <a:endParaRPr lang="en-DE"/>
              </a:p>
            </p:txBody>
          </p:sp>
          <p:sp>
            <p:nvSpPr>
              <p:cNvPr id="21" name="Freeform: Shape 20">
                <a:extLst>
                  <a:ext uri="{FF2B5EF4-FFF2-40B4-BE49-F238E27FC236}">
                    <a16:creationId xmlns:a16="http://schemas.microsoft.com/office/drawing/2014/main" id="{AED58BEC-E547-43D5-B0C3-8166A01CD62C}"/>
                  </a:ext>
                </a:extLst>
              </p:cNvPr>
              <p:cNvSpPr/>
              <p:nvPr/>
            </p:nvSpPr>
            <p:spPr>
              <a:xfrm>
                <a:off x="6778106" y="2629806"/>
                <a:ext cx="158095" cy="680382"/>
              </a:xfrm>
              <a:custGeom>
                <a:avLst/>
                <a:gdLst>
                  <a:gd name="connsiteX0" fmla="*/ 13314 w 158095"/>
                  <a:gd name="connsiteY0" fmla="*/ 680383 h 680382"/>
                  <a:gd name="connsiteX1" fmla="*/ 145669 w 158095"/>
                  <a:gd name="connsiteY1" fmla="*/ 680383 h 680382"/>
                  <a:gd name="connsiteX2" fmla="*/ 145669 w 158095"/>
                  <a:gd name="connsiteY2" fmla="*/ 213175 h 680382"/>
                  <a:gd name="connsiteX3" fmla="*/ 13314 w 158095"/>
                  <a:gd name="connsiteY3" fmla="*/ 213175 h 680382"/>
                  <a:gd name="connsiteX4" fmla="*/ 13314 w 158095"/>
                  <a:gd name="connsiteY4" fmla="*/ 680383 h 680382"/>
                  <a:gd name="connsiteX5" fmla="*/ 158095 w 158095"/>
                  <a:gd name="connsiteY5" fmla="*/ 78164 h 680382"/>
                  <a:gd name="connsiteX6" fmla="*/ 134567 w 158095"/>
                  <a:gd name="connsiteY6" fmla="*/ 135455 h 680382"/>
                  <a:gd name="connsiteX7" fmla="*/ 79052 w 158095"/>
                  <a:gd name="connsiteY7" fmla="*/ 156337 h 680382"/>
                  <a:gd name="connsiteX8" fmla="*/ 23538 w 158095"/>
                  <a:gd name="connsiteY8" fmla="*/ 135455 h 680382"/>
                  <a:gd name="connsiteX9" fmla="*/ 0 w 158095"/>
                  <a:gd name="connsiteY9" fmla="*/ 78164 h 680382"/>
                  <a:gd name="connsiteX10" fmla="*/ 23538 w 158095"/>
                  <a:gd name="connsiteY10" fmla="*/ 20873 h 680382"/>
                  <a:gd name="connsiteX11" fmla="*/ 79052 w 158095"/>
                  <a:gd name="connsiteY11" fmla="*/ 0 h 680382"/>
                  <a:gd name="connsiteX12" fmla="*/ 134567 w 158095"/>
                  <a:gd name="connsiteY12" fmla="*/ 20873 h 680382"/>
                  <a:gd name="connsiteX13" fmla="*/ 158095 w 158095"/>
                  <a:gd name="connsiteY13" fmla="*/ 78164 h 680382"/>
                  <a:gd name="connsiteX14" fmla="*/ 158095 w 158095"/>
                  <a:gd name="connsiteY14" fmla="*/ 78164 h 68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8095" h="680382">
                    <a:moveTo>
                      <a:pt x="13314" y="680383"/>
                    </a:moveTo>
                    <a:lnTo>
                      <a:pt x="145669" y="680383"/>
                    </a:lnTo>
                    <a:lnTo>
                      <a:pt x="145669" y="213175"/>
                    </a:lnTo>
                    <a:lnTo>
                      <a:pt x="13314" y="213175"/>
                    </a:lnTo>
                    <a:lnTo>
                      <a:pt x="13314" y="680383"/>
                    </a:lnTo>
                    <a:close/>
                    <a:moveTo>
                      <a:pt x="158095" y="78164"/>
                    </a:moveTo>
                    <a:cubicBezTo>
                      <a:pt x="158095" y="102452"/>
                      <a:pt x="150240" y="121548"/>
                      <a:pt x="134567" y="135455"/>
                    </a:cubicBezTo>
                    <a:cubicBezTo>
                      <a:pt x="118865" y="149380"/>
                      <a:pt x="100360" y="156337"/>
                      <a:pt x="79052" y="156337"/>
                    </a:cubicBezTo>
                    <a:cubicBezTo>
                      <a:pt x="57725" y="156337"/>
                      <a:pt x="39212" y="149380"/>
                      <a:pt x="23538" y="135455"/>
                    </a:cubicBezTo>
                    <a:cubicBezTo>
                      <a:pt x="7837" y="121548"/>
                      <a:pt x="0" y="102452"/>
                      <a:pt x="0" y="78164"/>
                    </a:cubicBezTo>
                    <a:cubicBezTo>
                      <a:pt x="0" y="53886"/>
                      <a:pt x="7837" y="34798"/>
                      <a:pt x="23538" y="20873"/>
                    </a:cubicBezTo>
                    <a:cubicBezTo>
                      <a:pt x="39212" y="6967"/>
                      <a:pt x="57725" y="0"/>
                      <a:pt x="79052" y="0"/>
                    </a:cubicBezTo>
                    <a:cubicBezTo>
                      <a:pt x="100360" y="0"/>
                      <a:pt x="118865" y="6967"/>
                      <a:pt x="134567" y="20873"/>
                    </a:cubicBezTo>
                    <a:cubicBezTo>
                      <a:pt x="150240" y="34798"/>
                      <a:pt x="158095" y="53886"/>
                      <a:pt x="158095" y="78164"/>
                    </a:cubicBezTo>
                    <a:lnTo>
                      <a:pt x="158095" y="78164"/>
                    </a:lnTo>
                    <a:close/>
                  </a:path>
                </a:pathLst>
              </a:custGeom>
              <a:solidFill>
                <a:srgbClr val="326DE6"/>
              </a:solidFill>
              <a:ln w="9245" cap="flat">
                <a:noFill/>
                <a:prstDash val="solid"/>
                <a:miter/>
              </a:ln>
            </p:spPr>
            <p:txBody>
              <a:bodyPr rtlCol="0" anchor="ctr"/>
              <a:lstStyle/>
              <a:p>
                <a:endParaRPr lang="en-DE"/>
              </a:p>
            </p:txBody>
          </p:sp>
          <p:sp>
            <p:nvSpPr>
              <p:cNvPr id="22" name="Freeform: Shape 21">
                <a:extLst>
                  <a:ext uri="{FF2B5EF4-FFF2-40B4-BE49-F238E27FC236}">
                    <a16:creationId xmlns:a16="http://schemas.microsoft.com/office/drawing/2014/main" id="{68897CD0-CD19-463C-B4E6-D803714CD30E}"/>
                  </a:ext>
                </a:extLst>
              </p:cNvPr>
              <p:cNvSpPr/>
              <p:nvPr/>
            </p:nvSpPr>
            <p:spPr>
              <a:xfrm>
                <a:off x="7022350" y="2832319"/>
                <a:ext cx="403255" cy="477875"/>
              </a:xfrm>
              <a:custGeom>
                <a:avLst/>
                <a:gdLst>
                  <a:gd name="connsiteX0" fmla="*/ 0 w 403255"/>
                  <a:gd name="connsiteY0" fmla="*/ 26656 h 477875"/>
                  <a:gd name="connsiteX1" fmla="*/ 87047 w 403255"/>
                  <a:gd name="connsiteY1" fmla="*/ 8438 h 477875"/>
                  <a:gd name="connsiteX2" fmla="*/ 198963 w 403255"/>
                  <a:gd name="connsiteY2" fmla="*/ 0 h 477875"/>
                  <a:gd name="connsiteX3" fmla="*/ 298001 w 403255"/>
                  <a:gd name="connsiteY3" fmla="*/ 15553 h 477875"/>
                  <a:gd name="connsiteX4" fmla="*/ 360630 w 403255"/>
                  <a:gd name="connsiteY4" fmla="*/ 59521 h 477875"/>
                  <a:gd name="connsiteX5" fmla="*/ 393485 w 403255"/>
                  <a:gd name="connsiteY5" fmla="*/ 127026 h 477875"/>
                  <a:gd name="connsiteX6" fmla="*/ 403256 w 403255"/>
                  <a:gd name="connsiteY6" fmla="*/ 214072 h 477875"/>
                  <a:gd name="connsiteX7" fmla="*/ 403256 w 403255"/>
                  <a:gd name="connsiteY7" fmla="*/ 477876 h 477875"/>
                  <a:gd name="connsiteX8" fmla="*/ 270910 w 403255"/>
                  <a:gd name="connsiteY8" fmla="*/ 477876 h 477875"/>
                  <a:gd name="connsiteX9" fmla="*/ 270910 w 403255"/>
                  <a:gd name="connsiteY9" fmla="*/ 230051 h 477875"/>
                  <a:gd name="connsiteX10" fmla="*/ 254034 w 403255"/>
                  <a:gd name="connsiteY10" fmla="*/ 139452 h 477875"/>
                  <a:gd name="connsiteX11" fmla="*/ 190979 w 403255"/>
                  <a:gd name="connsiteY11" fmla="*/ 112814 h 477875"/>
                  <a:gd name="connsiteX12" fmla="*/ 160769 w 403255"/>
                  <a:gd name="connsiteY12" fmla="*/ 114147 h 477875"/>
                  <a:gd name="connsiteX13" fmla="*/ 132355 w 403255"/>
                  <a:gd name="connsiteY13" fmla="*/ 117255 h 477875"/>
                  <a:gd name="connsiteX14" fmla="*/ 132355 w 403255"/>
                  <a:gd name="connsiteY14" fmla="*/ 477876 h 477875"/>
                  <a:gd name="connsiteX15" fmla="*/ 0 w 403255"/>
                  <a:gd name="connsiteY15" fmla="*/ 477876 h 477875"/>
                  <a:gd name="connsiteX16" fmla="*/ 0 w 403255"/>
                  <a:gd name="connsiteY16" fmla="*/ 26656 h 47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3255" h="477875">
                    <a:moveTo>
                      <a:pt x="0" y="26656"/>
                    </a:moveTo>
                    <a:cubicBezTo>
                      <a:pt x="22502" y="20142"/>
                      <a:pt x="51517" y="14082"/>
                      <a:pt x="87047" y="8438"/>
                    </a:cubicBezTo>
                    <a:cubicBezTo>
                      <a:pt x="122576" y="2822"/>
                      <a:pt x="159881" y="0"/>
                      <a:pt x="198963" y="0"/>
                    </a:cubicBezTo>
                    <a:cubicBezTo>
                      <a:pt x="238628" y="0"/>
                      <a:pt x="271641" y="5200"/>
                      <a:pt x="298001" y="15553"/>
                    </a:cubicBezTo>
                    <a:cubicBezTo>
                      <a:pt x="324351" y="25916"/>
                      <a:pt x="345225" y="40572"/>
                      <a:pt x="360630" y="59521"/>
                    </a:cubicBezTo>
                    <a:cubicBezTo>
                      <a:pt x="376017" y="78479"/>
                      <a:pt x="386962" y="100971"/>
                      <a:pt x="393485" y="127026"/>
                    </a:cubicBezTo>
                    <a:cubicBezTo>
                      <a:pt x="399990" y="153090"/>
                      <a:pt x="403256" y="182096"/>
                      <a:pt x="403256" y="214072"/>
                    </a:cubicBezTo>
                    <a:lnTo>
                      <a:pt x="403256" y="477876"/>
                    </a:lnTo>
                    <a:lnTo>
                      <a:pt x="270910" y="477876"/>
                    </a:lnTo>
                    <a:lnTo>
                      <a:pt x="270910" y="230051"/>
                    </a:lnTo>
                    <a:cubicBezTo>
                      <a:pt x="270910" y="187425"/>
                      <a:pt x="265275" y="157216"/>
                      <a:pt x="254034" y="139452"/>
                    </a:cubicBezTo>
                    <a:cubicBezTo>
                      <a:pt x="242783" y="121687"/>
                      <a:pt x="221752" y="112814"/>
                      <a:pt x="190979" y="112814"/>
                    </a:cubicBezTo>
                    <a:cubicBezTo>
                      <a:pt x="181495" y="112814"/>
                      <a:pt x="171428" y="113249"/>
                      <a:pt x="160769" y="114147"/>
                    </a:cubicBezTo>
                    <a:cubicBezTo>
                      <a:pt x="150120" y="115035"/>
                      <a:pt x="140636" y="116071"/>
                      <a:pt x="132355" y="117255"/>
                    </a:cubicBezTo>
                    <a:lnTo>
                      <a:pt x="132355" y="477876"/>
                    </a:lnTo>
                    <a:lnTo>
                      <a:pt x="0" y="477876"/>
                    </a:lnTo>
                    <a:lnTo>
                      <a:pt x="0" y="26656"/>
                    </a:lnTo>
                    <a:close/>
                  </a:path>
                </a:pathLst>
              </a:custGeom>
              <a:solidFill>
                <a:srgbClr val="326DE6"/>
              </a:solidFill>
              <a:ln w="9245" cap="flat">
                <a:noFill/>
                <a:prstDash val="solid"/>
                <a:miter/>
              </a:ln>
            </p:spPr>
            <p:txBody>
              <a:bodyPr rtlCol="0" anchor="ctr"/>
              <a:lstStyle/>
              <a:p>
                <a:endParaRPr lang="en-DE"/>
              </a:p>
            </p:txBody>
          </p:sp>
          <p:sp>
            <p:nvSpPr>
              <p:cNvPr id="23" name="Freeform: Shape 22">
                <a:extLst>
                  <a:ext uri="{FF2B5EF4-FFF2-40B4-BE49-F238E27FC236}">
                    <a16:creationId xmlns:a16="http://schemas.microsoft.com/office/drawing/2014/main" id="{9A47DC22-E87D-42D6-90BE-29C4E3F026AC}"/>
                  </a:ext>
                </a:extLst>
              </p:cNvPr>
              <p:cNvSpPr/>
              <p:nvPr/>
            </p:nvSpPr>
            <p:spPr>
              <a:xfrm>
                <a:off x="7506425" y="2629806"/>
                <a:ext cx="158104" cy="680382"/>
              </a:xfrm>
              <a:custGeom>
                <a:avLst/>
                <a:gdLst>
                  <a:gd name="connsiteX0" fmla="*/ 13323 w 158104"/>
                  <a:gd name="connsiteY0" fmla="*/ 680383 h 680382"/>
                  <a:gd name="connsiteX1" fmla="*/ 145679 w 158104"/>
                  <a:gd name="connsiteY1" fmla="*/ 680383 h 680382"/>
                  <a:gd name="connsiteX2" fmla="*/ 145679 w 158104"/>
                  <a:gd name="connsiteY2" fmla="*/ 213175 h 680382"/>
                  <a:gd name="connsiteX3" fmla="*/ 13323 w 158104"/>
                  <a:gd name="connsiteY3" fmla="*/ 213175 h 680382"/>
                  <a:gd name="connsiteX4" fmla="*/ 13323 w 158104"/>
                  <a:gd name="connsiteY4" fmla="*/ 680383 h 680382"/>
                  <a:gd name="connsiteX5" fmla="*/ 158105 w 158104"/>
                  <a:gd name="connsiteY5" fmla="*/ 78164 h 680382"/>
                  <a:gd name="connsiteX6" fmla="*/ 134567 w 158104"/>
                  <a:gd name="connsiteY6" fmla="*/ 135455 h 680382"/>
                  <a:gd name="connsiteX7" fmla="*/ 79052 w 158104"/>
                  <a:gd name="connsiteY7" fmla="*/ 156337 h 680382"/>
                  <a:gd name="connsiteX8" fmla="*/ 23538 w 158104"/>
                  <a:gd name="connsiteY8" fmla="*/ 135455 h 680382"/>
                  <a:gd name="connsiteX9" fmla="*/ 0 w 158104"/>
                  <a:gd name="connsiteY9" fmla="*/ 78164 h 680382"/>
                  <a:gd name="connsiteX10" fmla="*/ 23538 w 158104"/>
                  <a:gd name="connsiteY10" fmla="*/ 20873 h 680382"/>
                  <a:gd name="connsiteX11" fmla="*/ 79052 w 158104"/>
                  <a:gd name="connsiteY11" fmla="*/ 0 h 680382"/>
                  <a:gd name="connsiteX12" fmla="*/ 134567 w 158104"/>
                  <a:gd name="connsiteY12" fmla="*/ 20873 h 680382"/>
                  <a:gd name="connsiteX13" fmla="*/ 158105 w 158104"/>
                  <a:gd name="connsiteY13" fmla="*/ 78164 h 680382"/>
                  <a:gd name="connsiteX14" fmla="*/ 158105 w 158104"/>
                  <a:gd name="connsiteY14" fmla="*/ 78164 h 68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8104" h="680382">
                    <a:moveTo>
                      <a:pt x="13323" y="680383"/>
                    </a:moveTo>
                    <a:lnTo>
                      <a:pt x="145679" y="680383"/>
                    </a:lnTo>
                    <a:lnTo>
                      <a:pt x="145679" y="213175"/>
                    </a:lnTo>
                    <a:lnTo>
                      <a:pt x="13323" y="213175"/>
                    </a:lnTo>
                    <a:lnTo>
                      <a:pt x="13323" y="680383"/>
                    </a:lnTo>
                    <a:close/>
                    <a:moveTo>
                      <a:pt x="158105" y="78164"/>
                    </a:moveTo>
                    <a:cubicBezTo>
                      <a:pt x="158105" y="102452"/>
                      <a:pt x="150249" y="121548"/>
                      <a:pt x="134567" y="135455"/>
                    </a:cubicBezTo>
                    <a:cubicBezTo>
                      <a:pt x="118875" y="149380"/>
                      <a:pt x="100370" y="156337"/>
                      <a:pt x="79052" y="156337"/>
                    </a:cubicBezTo>
                    <a:cubicBezTo>
                      <a:pt x="57735" y="156337"/>
                      <a:pt x="39221" y="149380"/>
                      <a:pt x="23538" y="135455"/>
                    </a:cubicBezTo>
                    <a:cubicBezTo>
                      <a:pt x="7846" y="121548"/>
                      <a:pt x="0" y="102452"/>
                      <a:pt x="0" y="78164"/>
                    </a:cubicBezTo>
                    <a:cubicBezTo>
                      <a:pt x="0" y="53886"/>
                      <a:pt x="7846" y="34798"/>
                      <a:pt x="23538" y="20873"/>
                    </a:cubicBezTo>
                    <a:cubicBezTo>
                      <a:pt x="39221" y="6967"/>
                      <a:pt x="57735" y="0"/>
                      <a:pt x="79052" y="0"/>
                    </a:cubicBezTo>
                    <a:cubicBezTo>
                      <a:pt x="100370" y="0"/>
                      <a:pt x="118875" y="6967"/>
                      <a:pt x="134567" y="20873"/>
                    </a:cubicBezTo>
                    <a:cubicBezTo>
                      <a:pt x="150249" y="34798"/>
                      <a:pt x="158105" y="53886"/>
                      <a:pt x="158105" y="78164"/>
                    </a:cubicBezTo>
                    <a:lnTo>
                      <a:pt x="158105" y="78164"/>
                    </a:lnTo>
                    <a:close/>
                  </a:path>
                </a:pathLst>
              </a:custGeom>
              <a:solidFill>
                <a:srgbClr val="326DE6"/>
              </a:solidFill>
              <a:ln w="9245" cap="flat">
                <a:noFill/>
                <a:prstDash val="solid"/>
                <a:miter/>
              </a:ln>
            </p:spPr>
            <p:txBody>
              <a:bodyPr rtlCol="0" anchor="ctr"/>
              <a:lstStyle/>
              <a:p>
                <a:endParaRPr lang="en-DE"/>
              </a:p>
            </p:txBody>
          </p:sp>
          <p:sp>
            <p:nvSpPr>
              <p:cNvPr id="24" name="Freeform: Shape 23">
                <a:extLst>
                  <a:ext uri="{FF2B5EF4-FFF2-40B4-BE49-F238E27FC236}">
                    <a16:creationId xmlns:a16="http://schemas.microsoft.com/office/drawing/2014/main" id="{997870DE-C6B5-494C-B9E5-69BAF491BAC8}"/>
                  </a:ext>
                </a:extLst>
              </p:cNvPr>
              <p:cNvSpPr/>
              <p:nvPr/>
            </p:nvSpPr>
            <p:spPr>
              <a:xfrm>
                <a:off x="7750675" y="2620923"/>
                <a:ext cx="443235" cy="689265"/>
              </a:xfrm>
              <a:custGeom>
                <a:avLst/>
                <a:gdLst>
                  <a:gd name="connsiteX0" fmla="*/ 132355 w 443235"/>
                  <a:gd name="connsiteY0" fmla="*/ 389840 h 689265"/>
                  <a:gd name="connsiteX1" fmla="*/ 172723 w 443235"/>
                  <a:gd name="connsiteY1" fmla="*/ 345697 h 689265"/>
                  <a:gd name="connsiteX2" fmla="*/ 213101 w 443235"/>
                  <a:gd name="connsiteY2" fmla="*/ 300203 h 689265"/>
                  <a:gd name="connsiteX3" fmla="*/ 249916 w 443235"/>
                  <a:gd name="connsiteY3" fmla="*/ 257383 h 689265"/>
                  <a:gd name="connsiteX4" fmla="*/ 279644 w 443235"/>
                  <a:gd name="connsiteY4" fmla="*/ 222057 h 689265"/>
                  <a:gd name="connsiteX5" fmla="*/ 437017 w 443235"/>
                  <a:gd name="connsiteY5" fmla="*/ 222057 h 689265"/>
                  <a:gd name="connsiteX6" fmla="*/ 345077 w 443235"/>
                  <a:gd name="connsiteY6" fmla="*/ 325314 h 689265"/>
                  <a:gd name="connsiteX7" fmla="*/ 246937 w 443235"/>
                  <a:gd name="connsiteY7" fmla="*/ 426794 h 689265"/>
                  <a:gd name="connsiteX8" fmla="*/ 302007 w 443235"/>
                  <a:gd name="connsiteY8" fmla="*/ 484186 h 689265"/>
                  <a:gd name="connsiteX9" fmla="*/ 357068 w 443235"/>
                  <a:gd name="connsiteY9" fmla="*/ 553144 h 689265"/>
                  <a:gd name="connsiteX10" fmla="*/ 405920 w 443235"/>
                  <a:gd name="connsiteY10" fmla="*/ 624323 h 689265"/>
                  <a:gd name="connsiteX11" fmla="*/ 443235 w 443235"/>
                  <a:gd name="connsiteY11" fmla="*/ 689265 h 689265"/>
                  <a:gd name="connsiteX12" fmla="*/ 291052 w 443235"/>
                  <a:gd name="connsiteY12" fmla="*/ 689265 h 689265"/>
                  <a:gd name="connsiteX13" fmla="*/ 258687 w 443235"/>
                  <a:gd name="connsiteY13" fmla="*/ 638072 h 689265"/>
                  <a:gd name="connsiteX14" fmla="*/ 220114 w 443235"/>
                  <a:gd name="connsiteY14" fmla="*/ 581993 h 689265"/>
                  <a:gd name="connsiteX15" fmla="*/ 177127 w 443235"/>
                  <a:gd name="connsiteY15" fmla="*/ 528126 h 689265"/>
                  <a:gd name="connsiteX16" fmla="*/ 132355 w 443235"/>
                  <a:gd name="connsiteY16" fmla="*/ 484482 h 689265"/>
                  <a:gd name="connsiteX17" fmla="*/ 132355 w 443235"/>
                  <a:gd name="connsiteY17" fmla="*/ 689265 h 689265"/>
                  <a:gd name="connsiteX18" fmla="*/ 0 w 443235"/>
                  <a:gd name="connsiteY18" fmla="*/ 689265 h 689265"/>
                  <a:gd name="connsiteX19" fmla="*/ 0 w 443235"/>
                  <a:gd name="connsiteY19" fmla="*/ 21317 h 689265"/>
                  <a:gd name="connsiteX20" fmla="*/ 132355 w 443235"/>
                  <a:gd name="connsiteY20" fmla="*/ 0 h 689265"/>
                  <a:gd name="connsiteX21" fmla="*/ 132355 w 443235"/>
                  <a:gd name="connsiteY21" fmla="*/ 389840 h 68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235" h="689265">
                    <a:moveTo>
                      <a:pt x="132355" y="389840"/>
                    </a:moveTo>
                    <a:cubicBezTo>
                      <a:pt x="145364" y="375711"/>
                      <a:pt x="158817" y="361000"/>
                      <a:pt x="172723" y="345697"/>
                    </a:cubicBezTo>
                    <a:cubicBezTo>
                      <a:pt x="186611" y="330384"/>
                      <a:pt x="200073" y="315228"/>
                      <a:pt x="213101" y="300203"/>
                    </a:cubicBezTo>
                    <a:cubicBezTo>
                      <a:pt x="226119" y="285186"/>
                      <a:pt x="238387" y="270919"/>
                      <a:pt x="249916" y="257383"/>
                    </a:cubicBezTo>
                    <a:cubicBezTo>
                      <a:pt x="261444" y="243856"/>
                      <a:pt x="271353" y="232077"/>
                      <a:pt x="279644" y="222057"/>
                    </a:cubicBezTo>
                    <a:lnTo>
                      <a:pt x="437017" y="222057"/>
                    </a:lnTo>
                    <a:cubicBezTo>
                      <a:pt x="405615" y="258123"/>
                      <a:pt x="374980" y="292532"/>
                      <a:pt x="345077" y="325314"/>
                    </a:cubicBezTo>
                    <a:cubicBezTo>
                      <a:pt x="315173" y="358113"/>
                      <a:pt x="282466" y="391940"/>
                      <a:pt x="246937" y="426794"/>
                    </a:cubicBezTo>
                    <a:cubicBezTo>
                      <a:pt x="264701" y="442819"/>
                      <a:pt x="283039" y="461953"/>
                      <a:pt x="302007" y="484186"/>
                    </a:cubicBezTo>
                    <a:cubicBezTo>
                      <a:pt x="320946" y="506438"/>
                      <a:pt x="339303" y="529412"/>
                      <a:pt x="357068" y="553144"/>
                    </a:cubicBezTo>
                    <a:cubicBezTo>
                      <a:pt x="374841" y="576876"/>
                      <a:pt x="391116" y="600590"/>
                      <a:pt x="405920" y="624323"/>
                    </a:cubicBezTo>
                    <a:cubicBezTo>
                      <a:pt x="420724" y="648046"/>
                      <a:pt x="433159" y="669696"/>
                      <a:pt x="443235" y="689265"/>
                    </a:cubicBezTo>
                    <a:lnTo>
                      <a:pt x="291052" y="689265"/>
                    </a:lnTo>
                    <a:cubicBezTo>
                      <a:pt x="281587" y="673832"/>
                      <a:pt x="270808" y="656780"/>
                      <a:pt x="258687" y="638072"/>
                    </a:cubicBezTo>
                    <a:cubicBezTo>
                      <a:pt x="246576" y="619382"/>
                      <a:pt x="233724" y="600683"/>
                      <a:pt x="220114" y="581993"/>
                    </a:cubicBezTo>
                    <a:cubicBezTo>
                      <a:pt x="206522" y="563294"/>
                      <a:pt x="192199" y="545335"/>
                      <a:pt x="177127" y="528126"/>
                    </a:cubicBezTo>
                    <a:cubicBezTo>
                      <a:pt x="162055" y="510916"/>
                      <a:pt x="147122" y="496371"/>
                      <a:pt x="132355" y="484482"/>
                    </a:cubicBezTo>
                    <a:lnTo>
                      <a:pt x="132355" y="689265"/>
                    </a:lnTo>
                    <a:lnTo>
                      <a:pt x="0" y="689265"/>
                    </a:lnTo>
                    <a:lnTo>
                      <a:pt x="0" y="21317"/>
                    </a:lnTo>
                    <a:lnTo>
                      <a:pt x="132355" y="0"/>
                    </a:lnTo>
                    <a:lnTo>
                      <a:pt x="132355" y="389840"/>
                    </a:lnTo>
                    <a:close/>
                  </a:path>
                </a:pathLst>
              </a:custGeom>
              <a:solidFill>
                <a:srgbClr val="326DE6"/>
              </a:solidFill>
              <a:ln w="9245" cap="flat">
                <a:noFill/>
                <a:prstDash val="solid"/>
                <a:miter/>
              </a:ln>
            </p:spPr>
            <p:txBody>
              <a:bodyPr rtlCol="0" anchor="ctr"/>
              <a:lstStyle/>
              <a:p>
                <a:endParaRPr lang="en-DE"/>
              </a:p>
            </p:txBody>
          </p:sp>
          <p:sp>
            <p:nvSpPr>
              <p:cNvPr id="25" name="Freeform: Shape 24">
                <a:extLst>
                  <a:ext uri="{FF2B5EF4-FFF2-40B4-BE49-F238E27FC236}">
                    <a16:creationId xmlns:a16="http://schemas.microsoft.com/office/drawing/2014/main" id="{AA3E0C21-52A1-4B04-8354-92680438FBE8}"/>
                  </a:ext>
                </a:extLst>
              </p:cNvPr>
              <p:cNvSpPr/>
              <p:nvPr/>
            </p:nvSpPr>
            <p:spPr>
              <a:xfrm>
                <a:off x="8243637" y="2842979"/>
                <a:ext cx="403255" cy="477875"/>
              </a:xfrm>
              <a:custGeom>
                <a:avLst/>
                <a:gdLst>
                  <a:gd name="connsiteX0" fmla="*/ 403256 w 403255"/>
                  <a:gd name="connsiteY0" fmla="*/ 451229 h 477875"/>
                  <a:gd name="connsiteX1" fmla="*/ 316210 w 403255"/>
                  <a:gd name="connsiteY1" fmla="*/ 469438 h 477875"/>
                  <a:gd name="connsiteX2" fmla="*/ 204293 w 403255"/>
                  <a:gd name="connsiteY2" fmla="*/ 477876 h 477875"/>
                  <a:gd name="connsiteX3" fmla="*/ 105255 w 403255"/>
                  <a:gd name="connsiteY3" fmla="*/ 461879 h 477875"/>
                  <a:gd name="connsiteX4" fmla="*/ 42626 w 403255"/>
                  <a:gd name="connsiteY4" fmla="*/ 417032 h 477875"/>
                  <a:gd name="connsiteX5" fmla="*/ 9771 w 403255"/>
                  <a:gd name="connsiteY5" fmla="*/ 348185 h 477875"/>
                  <a:gd name="connsiteX6" fmla="*/ 0 w 403255"/>
                  <a:gd name="connsiteY6" fmla="*/ 260251 h 477875"/>
                  <a:gd name="connsiteX7" fmla="*/ 0 w 403255"/>
                  <a:gd name="connsiteY7" fmla="*/ 0 h 477875"/>
                  <a:gd name="connsiteX8" fmla="*/ 132346 w 403255"/>
                  <a:gd name="connsiteY8" fmla="*/ 0 h 477875"/>
                  <a:gd name="connsiteX9" fmla="*/ 132346 w 403255"/>
                  <a:gd name="connsiteY9" fmla="*/ 244272 h 477875"/>
                  <a:gd name="connsiteX10" fmla="*/ 149223 w 403255"/>
                  <a:gd name="connsiteY10" fmla="*/ 336638 h 477875"/>
                  <a:gd name="connsiteX11" fmla="*/ 212278 w 403255"/>
                  <a:gd name="connsiteY11" fmla="*/ 365062 h 477875"/>
                  <a:gd name="connsiteX12" fmla="*/ 242486 w 403255"/>
                  <a:gd name="connsiteY12" fmla="*/ 363739 h 477875"/>
                  <a:gd name="connsiteX13" fmla="*/ 270901 w 403255"/>
                  <a:gd name="connsiteY13" fmla="*/ 360630 h 477875"/>
                  <a:gd name="connsiteX14" fmla="*/ 270901 w 403255"/>
                  <a:gd name="connsiteY14" fmla="*/ 0 h 477875"/>
                  <a:gd name="connsiteX15" fmla="*/ 403256 w 403255"/>
                  <a:gd name="connsiteY15" fmla="*/ 0 h 477875"/>
                  <a:gd name="connsiteX16" fmla="*/ 403256 w 403255"/>
                  <a:gd name="connsiteY16" fmla="*/ 451229 h 47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3255" h="477875">
                    <a:moveTo>
                      <a:pt x="403256" y="451229"/>
                    </a:moveTo>
                    <a:cubicBezTo>
                      <a:pt x="380736" y="457743"/>
                      <a:pt x="351739" y="463812"/>
                      <a:pt x="316210" y="469438"/>
                    </a:cubicBezTo>
                    <a:cubicBezTo>
                      <a:pt x="280680" y="475054"/>
                      <a:pt x="243375" y="477876"/>
                      <a:pt x="204293" y="477876"/>
                    </a:cubicBezTo>
                    <a:cubicBezTo>
                      <a:pt x="164609" y="477876"/>
                      <a:pt x="131597" y="472547"/>
                      <a:pt x="105255" y="461879"/>
                    </a:cubicBezTo>
                    <a:cubicBezTo>
                      <a:pt x="78895" y="451229"/>
                      <a:pt x="58022" y="436277"/>
                      <a:pt x="42626" y="417032"/>
                    </a:cubicBezTo>
                    <a:cubicBezTo>
                      <a:pt x="27221" y="397797"/>
                      <a:pt x="16275" y="374832"/>
                      <a:pt x="9771" y="348185"/>
                    </a:cubicBezTo>
                    <a:cubicBezTo>
                      <a:pt x="3248" y="321539"/>
                      <a:pt x="0" y="292227"/>
                      <a:pt x="0" y="260251"/>
                    </a:cubicBezTo>
                    <a:lnTo>
                      <a:pt x="0" y="0"/>
                    </a:lnTo>
                    <a:lnTo>
                      <a:pt x="132346" y="0"/>
                    </a:lnTo>
                    <a:lnTo>
                      <a:pt x="132346" y="244272"/>
                    </a:lnTo>
                    <a:cubicBezTo>
                      <a:pt x="132346" y="286898"/>
                      <a:pt x="137962" y="317699"/>
                      <a:pt x="149223" y="336638"/>
                    </a:cubicBezTo>
                    <a:cubicBezTo>
                      <a:pt x="160464" y="355597"/>
                      <a:pt x="181486" y="365062"/>
                      <a:pt x="212278" y="365062"/>
                    </a:cubicBezTo>
                    <a:cubicBezTo>
                      <a:pt x="221752" y="365062"/>
                      <a:pt x="231828" y="364627"/>
                      <a:pt x="242486" y="363739"/>
                    </a:cubicBezTo>
                    <a:cubicBezTo>
                      <a:pt x="253136" y="362841"/>
                      <a:pt x="262610" y="361823"/>
                      <a:pt x="270901" y="360630"/>
                    </a:cubicBezTo>
                    <a:lnTo>
                      <a:pt x="270901" y="0"/>
                    </a:lnTo>
                    <a:lnTo>
                      <a:pt x="403256" y="0"/>
                    </a:lnTo>
                    <a:lnTo>
                      <a:pt x="403256" y="451229"/>
                    </a:lnTo>
                    <a:close/>
                  </a:path>
                </a:pathLst>
              </a:custGeom>
              <a:solidFill>
                <a:srgbClr val="326DE6"/>
              </a:solidFill>
              <a:ln w="9245" cap="flat">
                <a:noFill/>
                <a:prstDash val="solid"/>
                <a:miter/>
              </a:ln>
            </p:spPr>
            <p:txBody>
              <a:bodyPr rtlCol="0" anchor="ctr"/>
              <a:lstStyle/>
              <a:p>
                <a:endParaRPr lang="en-DE"/>
              </a:p>
            </p:txBody>
          </p:sp>
          <p:sp>
            <p:nvSpPr>
              <p:cNvPr id="26" name="Freeform: Shape 25">
                <a:extLst>
                  <a:ext uri="{FF2B5EF4-FFF2-40B4-BE49-F238E27FC236}">
                    <a16:creationId xmlns:a16="http://schemas.microsoft.com/office/drawing/2014/main" id="{FA973605-5E12-43C0-A15F-D8B70CE87269}"/>
                  </a:ext>
                </a:extLst>
              </p:cNvPr>
              <p:cNvSpPr/>
              <p:nvPr/>
            </p:nvSpPr>
            <p:spPr>
              <a:xfrm>
                <a:off x="8745475" y="2620928"/>
                <a:ext cx="434352" cy="700811"/>
              </a:xfrm>
              <a:custGeom>
                <a:avLst/>
                <a:gdLst>
                  <a:gd name="connsiteX0" fmla="*/ 299342 w 434352"/>
                  <a:gd name="connsiteY0" fmla="*/ 452108 h 700811"/>
                  <a:gd name="connsiteX1" fmla="*/ 205190 w 434352"/>
                  <a:gd name="connsiteY1" fmla="*/ 324203 h 700811"/>
                  <a:gd name="connsiteX2" fmla="*/ 164775 w 434352"/>
                  <a:gd name="connsiteY2" fmla="*/ 329533 h 700811"/>
                  <a:gd name="connsiteX3" fmla="*/ 132355 w 434352"/>
                  <a:gd name="connsiteY3" fmla="*/ 342847 h 700811"/>
                  <a:gd name="connsiteX4" fmla="*/ 132355 w 434352"/>
                  <a:gd name="connsiteY4" fmla="*/ 583566 h 700811"/>
                  <a:gd name="connsiteX5" fmla="*/ 157225 w 434352"/>
                  <a:gd name="connsiteY5" fmla="*/ 586675 h 700811"/>
                  <a:gd name="connsiteX6" fmla="*/ 190081 w 434352"/>
                  <a:gd name="connsiteY6" fmla="*/ 588007 h 700811"/>
                  <a:gd name="connsiteX7" fmla="*/ 271798 w 434352"/>
                  <a:gd name="connsiteY7" fmla="*/ 550701 h 700811"/>
                  <a:gd name="connsiteX8" fmla="*/ 299342 w 434352"/>
                  <a:gd name="connsiteY8" fmla="*/ 452108 h 700811"/>
                  <a:gd name="connsiteX9" fmla="*/ 434353 w 434352"/>
                  <a:gd name="connsiteY9" fmla="*/ 455661 h 700811"/>
                  <a:gd name="connsiteX10" fmla="*/ 417911 w 434352"/>
                  <a:gd name="connsiteY10" fmla="*/ 556919 h 700811"/>
                  <a:gd name="connsiteX11" fmla="*/ 370400 w 434352"/>
                  <a:gd name="connsiteY11" fmla="*/ 634195 h 700811"/>
                  <a:gd name="connsiteX12" fmla="*/ 294013 w 434352"/>
                  <a:gd name="connsiteY12" fmla="*/ 683492 h 700811"/>
                  <a:gd name="connsiteX13" fmla="*/ 190978 w 434352"/>
                  <a:gd name="connsiteY13" fmla="*/ 700812 h 700811"/>
                  <a:gd name="connsiteX14" fmla="*/ 140784 w 434352"/>
                  <a:gd name="connsiteY14" fmla="*/ 698591 h 700811"/>
                  <a:gd name="connsiteX15" fmla="*/ 89276 w 434352"/>
                  <a:gd name="connsiteY15" fmla="*/ 692818 h 700811"/>
                  <a:gd name="connsiteX16" fmla="*/ 40858 w 434352"/>
                  <a:gd name="connsiteY16" fmla="*/ 684380 h 700811"/>
                  <a:gd name="connsiteX17" fmla="*/ 0 w 434352"/>
                  <a:gd name="connsiteY17" fmla="*/ 674165 h 700811"/>
                  <a:gd name="connsiteX18" fmla="*/ 0 w 434352"/>
                  <a:gd name="connsiteY18" fmla="*/ 21308 h 700811"/>
                  <a:gd name="connsiteX19" fmla="*/ 132355 w 434352"/>
                  <a:gd name="connsiteY19" fmla="*/ 0 h 700811"/>
                  <a:gd name="connsiteX20" fmla="*/ 132355 w 434352"/>
                  <a:gd name="connsiteY20" fmla="*/ 232716 h 700811"/>
                  <a:gd name="connsiteX21" fmla="*/ 178534 w 434352"/>
                  <a:gd name="connsiteY21" fmla="*/ 217616 h 700811"/>
                  <a:gd name="connsiteX22" fmla="*/ 230060 w 434352"/>
                  <a:gd name="connsiteY22" fmla="*/ 212287 h 700811"/>
                  <a:gd name="connsiteX23" fmla="*/ 317995 w 434352"/>
                  <a:gd name="connsiteY23" fmla="*/ 229607 h 700811"/>
                  <a:gd name="connsiteX24" fmla="*/ 381947 w 434352"/>
                  <a:gd name="connsiteY24" fmla="*/ 278904 h 700811"/>
                  <a:gd name="connsiteX25" fmla="*/ 421020 w 434352"/>
                  <a:gd name="connsiteY25" fmla="*/ 355735 h 700811"/>
                  <a:gd name="connsiteX26" fmla="*/ 434353 w 434352"/>
                  <a:gd name="connsiteY26" fmla="*/ 455661 h 700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34352" h="700811">
                    <a:moveTo>
                      <a:pt x="299342" y="452108"/>
                    </a:moveTo>
                    <a:cubicBezTo>
                      <a:pt x="299342" y="366838"/>
                      <a:pt x="267939" y="324203"/>
                      <a:pt x="205190" y="324203"/>
                    </a:cubicBezTo>
                    <a:cubicBezTo>
                      <a:pt x="191561" y="324203"/>
                      <a:pt x="178099" y="325980"/>
                      <a:pt x="164775" y="329533"/>
                    </a:cubicBezTo>
                    <a:cubicBezTo>
                      <a:pt x="151452" y="333086"/>
                      <a:pt x="140645" y="337527"/>
                      <a:pt x="132355" y="342847"/>
                    </a:cubicBezTo>
                    <a:lnTo>
                      <a:pt x="132355" y="583566"/>
                    </a:lnTo>
                    <a:cubicBezTo>
                      <a:pt x="138860" y="584759"/>
                      <a:pt x="147150" y="585786"/>
                      <a:pt x="157225" y="586675"/>
                    </a:cubicBezTo>
                    <a:cubicBezTo>
                      <a:pt x="167292" y="587563"/>
                      <a:pt x="178238" y="588007"/>
                      <a:pt x="190081" y="588007"/>
                    </a:cubicBezTo>
                    <a:cubicBezTo>
                      <a:pt x="226202" y="588007"/>
                      <a:pt x="253441" y="575572"/>
                      <a:pt x="271798" y="550701"/>
                    </a:cubicBezTo>
                    <a:cubicBezTo>
                      <a:pt x="290154" y="525831"/>
                      <a:pt x="299342" y="492967"/>
                      <a:pt x="299342" y="452108"/>
                    </a:cubicBezTo>
                    <a:moveTo>
                      <a:pt x="434353" y="455661"/>
                    </a:moveTo>
                    <a:cubicBezTo>
                      <a:pt x="434353" y="492967"/>
                      <a:pt x="428866" y="526710"/>
                      <a:pt x="417911" y="556919"/>
                    </a:cubicBezTo>
                    <a:cubicBezTo>
                      <a:pt x="406957" y="587119"/>
                      <a:pt x="391116" y="612877"/>
                      <a:pt x="370400" y="634195"/>
                    </a:cubicBezTo>
                    <a:cubicBezTo>
                      <a:pt x="349656" y="655503"/>
                      <a:pt x="324212" y="671945"/>
                      <a:pt x="294013" y="683492"/>
                    </a:cubicBezTo>
                    <a:cubicBezTo>
                      <a:pt x="263813" y="695038"/>
                      <a:pt x="229459" y="700812"/>
                      <a:pt x="190978" y="700812"/>
                    </a:cubicBezTo>
                    <a:cubicBezTo>
                      <a:pt x="174990" y="700812"/>
                      <a:pt x="158253" y="700063"/>
                      <a:pt x="140784" y="698591"/>
                    </a:cubicBezTo>
                    <a:cubicBezTo>
                      <a:pt x="123325" y="697111"/>
                      <a:pt x="106152" y="695177"/>
                      <a:pt x="89276" y="692818"/>
                    </a:cubicBezTo>
                    <a:cubicBezTo>
                      <a:pt x="72400" y="690449"/>
                      <a:pt x="56264" y="687637"/>
                      <a:pt x="40858" y="684380"/>
                    </a:cubicBezTo>
                    <a:cubicBezTo>
                      <a:pt x="25453" y="681132"/>
                      <a:pt x="11843" y="677718"/>
                      <a:pt x="0" y="674165"/>
                    </a:cubicBezTo>
                    <a:lnTo>
                      <a:pt x="0" y="21308"/>
                    </a:lnTo>
                    <a:lnTo>
                      <a:pt x="132355" y="0"/>
                    </a:lnTo>
                    <a:lnTo>
                      <a:pt x="132355" y="232716"/>
                    </a:lnTo>
                    <a:cubicBezTo>
                      <a:pt x="147150" y="226202"/>
                      <a:pt x="162555" y="221169"/>
                      <a:pt x="178534" y="217616"/>
                    </a:cubicBezTo>
                    <a:cubicBezTo>
                      <a:pt x="194531" y="214054"/>
                      <a:pt x="211694" y="212287"/>
                      <a:pt x="230060" y="212287"/>
                    </a:cubicBezTo>
                    <a:cubicBezTo>
                      <a:pt x="263221" y="212287"/>
                      <a:pt x="292532" y="218060"/>
                      <a:pt x="317995" y="229607"/>
                    </a:cubicBezTo>
                    <a:cubicBezTo>
                      <a:pt x="343448" y="241154"/>
                      <a:pt x="364756" y="257586"/>
                      <a:pt x="381947" y="278904"/>
                    </a:cubicBezTo>
                    <a:cubicBezTo>
                      <a:pt x="399110" y="300221"/>
                      <a:pt x="412138" y="325841"/>
                      <a:pt x="421020" y="355735"/>
                    </a:cubicBezTo>
                    <a:cubicBezTo>
                      <a:pt x="429902" y="385639"/>
                      <a:pt x="434353" y="418948"/>
                      <a:pt x="434353" y="455661"/>
                    </a:cubicBezTo>
                  </a:path>
                </a:pathLst>
              </a:custGeom>
              <a:solidFill>
                <a:srgbClr val="326DE6"/>
              </a:solidFill>
              <a:ln w="9245" cap="flat">
                <a:noFill/>
                <a:prstDash val="solid"/>
                <a:miter/>
              </a:ln>
            </p:spPr>
            <p:txBody>
              <a:bodyPr rtlCol="0" anchor="ctr"/>
              <a:lstStyle/>
              <a:p>
                <a:endParaRPr lang="en-DE"/>
              </a:p>
            </p:txBody>
          </p:sp>
          <p:sp>
            <p:nvSpPr>
              <p:cNvPr id="27" name="Freeform: Shape 26">
                <a:extLst>
                  <a:ext uri="{FF2B5EF4-FFF2-40B4-BE49-F238E27FC236}">
                    <a16:creationId xmlns:a16="http://schemas.microsoft.com/office/drawing/2014/main" id="{2185E585-BFD4-4634-B06B-A77F5D90550A}"/>
                  </a:ext>
                </a:extLst>
              </p:cNvPr>
              <p:cNvSpPr/>
              <p:nvPr/>
            </p:nvSpPr>
            <p:spPr>
              <a:xfrm>
                <a:off x="9216227" y="2830549"/>
                <a:ext cx="438784" cy="492078"/>
              </a:xfrm>
              <a:custGeom>
                <a:avLst/>
                <a:gdLst>
                  <a:gd name="connsiteX0" fmla="*/ 310880 w 438784"/>
                  <a:gd name="connsiteY0" fmla="*/ 198963 h 492078"/>
                  <a:gd name="connsiteX1" fmla="*/ 305107 w 438784"/>
                  <a:gd name="connsiteY1" fmla="*/ 166099 h 492078"/>
                  <a:gd name="connsiteX2" fmla="*/ 290006 w 438784"/>
                  <a:gd name="connsiteY2" fmla="*/ 137675 h 492078"/>
                  <a:gd name="connsiteX3" fmla="*/ 264248 w 438784"/>
                  <a:gd name="connsiteY3" fmla="*/ 117246 h 492078"/>
                  <a:gd name="connsiteX4" fmla="*/ 225610 w 438784"/>
                  <a:gd name="connsiteY4" fmla="*/ 109252 h 492078"/>
                  <a:gd name="connsiteX5" fmla="*/ 187417 w 438784"/>
                  <a:gd name="connsiteY5" fmla="*/ 116802 h 492078"/>
                  <a:gd name="connsiteX6" fmla="*/ 160770 w 438784"/>
                  <a:gd name="connsiteY6" fmla="*/ 136787 h 492078"/>
                  <a:gd name="connsiteX7" fmla="*/ 144337 w 438784"/>
                  <a:gd name="connsiteY7" fmla="*/ 165655 h 492078"/>
                  <a:gd name="connsiteX8" fmla="*/ 135899 w 438784"/>
                  <a:gd name="connsiteY8" fmla="*/ 198963 h 492078"/>
                  <a:gd name="connsiteX9" fmla="*/ 310880 w 438784"/>
                  <a:gd name="connsiteY9" fmla="*/ 198963 h 492078"/>
                  <a:gd name="connsiteX10" fmla="*/ 0 w 438784"/>
                  <a:gd name="connsiteY10" fmla="*/ 249592 h 492078"/>
                  <a:gd name="connsiteX11" fmla="*/ 19097 w 438784"/>
                  <a:gd name="connsiteY11" fmla="*/ 140784 h 492078"/>
                  <a:gd name="connsiteX12" fmla="*/ 69282 w 438784"/>
                  <a:gd name="connsiteY12" fmla="*/ 63064 h 492078"/>
                  <a:gd name="connsiteX13" fmla="*/ 140784 w 438784"/>
                  <a:gd name="connsiteY13" fmla="*/ 15988 h 492078"/>
                  <a:gd name="connsiteX14" fmla="*/ 223834 w 438784"/>
                  <a:gd name="connsiteY14" fmla="*/ 0 h 492078"/>
                  <a:gd name="connsiteX15" fmla="*/ 381050 w 438784"/>
                  <a:gd name="connsiteY15" fmla="*/ 60844 h 492078"/>
                  <a:gd name="connsiteX16" fmla="*/ 438785 w 438784"/>
                  <a:gd name="connsiteY16" fmla="*/ 239822 h 492078"/>
                  <a:gd name="connsiteX17" fmla="*/ 437906 w 438784"/>
                  <a:gd name="connsiteY17" fmla="*/ 265136 h 492078"/>
                  <a:gd name="connsiteX18" fmla="*/ 436120 w 438784"/>
                  <a:gd name="connsiteY18" fmla="*/ 289562 h 492078"/>
                  <a:gd name="connsiteX19" fmla="*/ 135899 w 438784"/>
                  <a:gd name="connsiteY19" fmla="*/ 289562 h 492078"/>
                  <a:gd name="connsiteX20" fmla="*/ 174093 w 438784"/>
                  <a:gd name="connsiteY20" fmla="*/ 354403 h 492078"/>
                  <a:gd name="connsiteX21" fmla="*/ 264692 w 438784"/>
                  <a:gd name="connsiteY21" fmla="*/ 378385 h 492078"/>
                  <a:gd name="connsiteX22" fmla="*/ 336194 w 438784"/>
                  <a:gd name="connsiteY22" fmla="*/ 371723 h 492078"/>
                  <a:gd name="connsiteX23" fmla="*/ 393485 w 438784"/>
                  <a:gd name="connsiteY23" fmla="*/ 355291 h 492078"/>
                  <a:gd name="connsiteX24" fmla="*/ 411250 w 438784"/>
                  <a:gd name="connsiteY24" fmla="*/ 462767 h 492078"/>
                  <a:gd name="connsiteX25" fmla="*/ 382827 w 438784"/>
                  <a:gd name="connsiteY25" fmla="*/ 473426 h 492078"/>
                  <a:gd name="connsiteX26" fmla="*/ 343300 w 438784"/>
                  <a:gd name="connsiteY26" fmla="*/ 482752 h 492078"/>
                  <a:gd name="connsiteX27" fmla="*/ 296668 w 438784"/>
                  <a:gd name="connsiteY27" fmla="*/ 489414 h 492078"/>
                  <a:gd name="connsiteX28" fmla="*/ 246927 w 438784"/>
                  <a:gd name="connsiteY28" fmla="*/ 492078 h 492078"/>
                  <a:gd name="connsiteX29" fmla="*/ 137232 w 438784"/>
                  <a:gd name="connsiteY29" fmla="*/ 473426 h 492078"/>
                  <a:gd name="connsiteX30" fmla="*/ 59956 w 438784"/>
                  <a:gd name="connsiteY30" fmla="*/ 422352 h 492078"/>
                  <a:gd name="connsiteX31" fmla="*/ 14656 w 438784"/>
                  <a:gd name="connsiteY31" fmla="*/ 345521 h 492078"/>
                  <a:gd name="connsiteX32" fmla="*/ 0 w 438784"/>
                  <a:gd name="connsiteY32" fmla="*/ 249592 h 492078"/>
                  <a:gd name="connsiteX33" fmla="*/ 0 w 438784"/>
                  <a:gd name="connsiteY33" fmla="*/ 249592 h 49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38784" h="492078">
                    <a:moveTo>
                      <a:pt x="310880" y="198963"/>
                    </a:moveTo>
                    <a:cubicBezTo>
                      <a:pt x="310288" y="187721"/>
                      <a:pt x="308363" y="176757"/>
                      <a:pt x="305107" y="166099"/>
                    </a:cubicBezTo>
                    <a:cubicBezTo>
                      <a:pt x="301840" y="155440"/>
                      <a:pt x="296807" y="145965"/>
                      <a:pt x="290006" y="137675"/>
                    </a:cubicBezTo>
                    <a:cubicBezTo>
                      <a:pt x="283197" y="129385"/>
                      <a:pt x="274601" y="122575"/>
                      <a:pt x="264248" y="117246"/>
                    </a:cubicBezTo>
                    <a:cubicBezTo>
                      <a:pt x="253885" y="111917"/>
                      <a:pt x="240997" y="109252"/>
                      <a:pt x="225610" y="109252"/>
                    </a:cubicBezTo>
                    <a:cubicBezTo>
                      <a:pt x="210806" y="109252"/>
                      <a:pt x="198075" y="111778"/>
                      <a:pt x="187417" y="116802"/>
                    </a:cubicBezTo>
                    <a:cubicBezTo>
                      <a:pt x="176757" y="121835"/>
                      <a:pt x="167876" y="128506"/>
                      <a:pt x="160770" y="136787"/>
                    </a:cubicBezTo>
                    <a:cubicBezTo>
                      <a:pt x="153664" y="145087"/>
                      <a:pt x="148186" y="154709"/>
                      <a:pt x="144337" y="165655"/>
                    </a:cubicBezTo>
                    <a:cubicBezTo>
                      <a:pt x="140479" y="176619"/>
                      <a:pt x="137675" y="187721"/>
                      <a:pt x="135899" y="198963"/>
                    </a:cubicBezTo>
                    <a:lnTo>
                      <a:pt x="310880" y="198963"/>
                    </a:lnTo>
                    <a:close/>
                    <a:moveTo>
                      <a:pt x="0" y="249592"/>
                    </a:moveTo>
                    <a:cubicBezTo>
                      <a:pt x="0" y="208151"/>
                      <a:pt x="6356" y="171872"/>
                      <a:pt x="19097" y="140784"/>
                    </a:cubicBezTo>
                    <a:cubicBezTo>
                      <a:pt x="31828" y="109696"/>
                      <a:pt x="48547" y="83799"/>
                      <a:pt x="69282" y="63064"/>
                    </a:cubicBezTo>
                    <a:cubicBezTo>
                      <a:pt x="90007" y="42339"/>
                      <a:pt x="113832" y="26647"/>
                      <a:pt x="140784" y="15988"/>
                    </a:cubicBezTo>
                    <a:cubicBezTo>
                      <a:pt x="167718" y="5329"/>
                      <a:pt x="195420" y="0"/>
                      <a:pt x="223834" y="0"/>
                    </a:cubicBezTo>
                    <a:cubicBezTo>
                      <a:pt x="290145" y="0"/>
                      <a:pt x="342551" y="20281"/>
                      <a:pt x="381050" y="60844"/>
                    </a:cubicBezTo>
                    <a:cubicBezTo>
                      <a:pt x="419531" y="101406"/>
                      <a:pt x="438785" y="161075"/>
                      <a:pt x="438785" y="239822"/>
                    </a:cubicBezTo>
                    <a:cubicBezTo>
                      <a:pt x="438785" y="247520"/>
                      <a:pt x="438479" y="255958"/>
                      <a:pt x="437906" y="265136"/>
                    </a:cubicBezTo>
                    <a:cubicBezTo>
                      <a:pt x="437305" y="274324"/>
                      <a:pt x="436703" y="282457"/>
                      <a:pt x="436120" y="289562"/>
                    </a:cubicBezTo>
                    <a:lnTo>
                      <a:pt x="135899" y="289562"/>
                    </a:lnTo>
                    <a:cubicBezTo>
                      <a:pt x="138851" y="316801"/>
                      <a:pt x="151582" y="338415"/>
                      <a:pt x="174093" y="354403"/>
                    </a:cubicBezTo>
                    <a:cubicBezTo>
                      <a:pt x="196585" y="370391"/>
                      <a:pt x="226785" y="378385"/>
                      <a:pt x="264692" y="378385"/>
                    </a:cubicBezTo>
                    <a:cubicBezTo>
                      <a:pt x="288970" y="378385"/>
                      <a:pt x="312795" y="376165"/>
                      <a:pt x="336194" y="371723"/>
                    </a:cubicBezTo>
                    <a:cubicBezTo>
                      <a:pt x="359585" y="367282"/>
                      <a:pt x="378672" y="361814"/>
                      <a:pt x="393485" y="355291"/>
                    </a:cubicBezTo>
                    <a:lnTo>
                      <a:pt x="411250" y="462767"/>
                    </a:lnTo>
                    <a:cubicBezTo>
                      <a:pt x="404144" y="466320"/>
                      <a:pt x="394669" y="469873"/>
                      <a:pt x="382827" y="473426"/>
                    </a:cubicBezTo>
                    <a:cubicBezTo>
                      <a:pt x="370974" y="476978"/>
                      <a:pt x="357799" y="480087"/>
                      <a:pt x="343300" y="482752"/>
                    </a:cubicBezTo>
                    <a:cubicBezTo>
                      <a:pt x="328793" y="485417"/>
                      <a:pt x="313240" y="487637"/>
                      <a:pt x="296668" y="489414"/>
                    </a:cubicBezTo>
                    <a:cubicBezTo>
                      <a:pt x="280088" y="491190"/>
                      <a:pt x="263499" y="492078"/>
                      <a:pt x="246927" y="492078"/>
                    </a:cubicBezTo>
                    <a:cubicBezTo>
                      <a:pt x="204875" y="492078"/>
                      <a:pt x="168319" y="485861"/>
                      <a:pt x="137232" y="473426"/>
                    </a:cubicBezTo>
                    <a:cubicBezTo>
                      <a:pt x="106144" y="460990"/>
                      <a:pt x="80385" y="443966"/>
                      <a:pt x="59956" y="422352"/>
                    </a:cubicBezTo>
                    <a:cubicBezTo>
                      <a:pt x="39526" y="400748"/>
                      <a:pt x="24426" y="375138"/>
                      <a:pt x="14656" y="345521"/>
                    </a:cubicBezTo>
                    <a:cubicBezTo>
                      <a:pt x="4885" y="315922"/>
                      <a:pt x="0" y="283946"/>
                      <a:pt x="0" y="249592"/>
                    </a:cubicBezTo>
                    <a:lnTo>
                      <a:pt x="0" y="249592"/>
                    </a:lnTo>
                    <a:close/>
                  </a:path>
                </a:pathLst>
              </a:custGeom>
              <a:solidFill>
                <a:srgbClr val="326DE6"/>
              </a:solidFill>
              <a:ln w="9245" cap="flat">
                <a:noFill/>
                <a:prstDash val="solid"/>
                <a:miter/>
              </a:ln>
            </p:spPr>
            <p:txBody>
              <a:bodyPr rtlCol="0" anchor="ctr"/>
              <a:lstStyle/>
              <a:p>
                <a:endParaRPr lang="en-DE"/>
              </a:p>
            </p:txBody>
          </p:sp>
        </p:grpSp>
      </p:grpSp>
    </p:spTree>
    <p:extLst>
      <p:ext uri="{BB962C8B-B14F-4D97-AF65-F5344CB8AC3E}">
        <p14:creationId xmlns:p14="http://schemas.microsoft.com/office/powerpoint/2010/main" val="340332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040"/>
                                        </p:tgtEl>
                                        <p:attrNameLst>
                                          <p:attrName>style.visibility</p:attrName>
                                        </p:attrNameLst>
                                      </p:cBhvr>
                                      <p:to>
                                        <p:strVal val="visible"/>
                                      </p:to>
                                    </p:set>
                                    <p:animEffect transition="in" filter="fade">
                                      <p:cBhvr>
                                        <p:cTn id="24" dur="500"/>
                                        <p:tgtEl>
                                          <p:spTgt spid="1040"/>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Isn't there something by SAP?</a:t>
            </a:r>
          </a:p>
        </p:txBody>
      </p:sp>
      <p:grpSp>
        <p:nvGrpSpPr>
          <p:cNvPr id="6" name="Group 5">
            <a:extLst>
              <a:ext uri="{FF2B5EF4-FFF2-40B4-BE49-F238E27FC236}">
                <a16:creationId xmlns:a16="http://schemas.microsoft.com/office/drawing/2014/main" id="{EC16AA8E-9FE3-4D15-B469-9993407F758E}"/>
              </a:ext>
            </a:extLst>
          </p:cNvPr>
          <p:cNvGrpSpPr/>
          <p:nvPr/>
        </p:nvGrpSpPr>
        <p:grpSpPr>
          <a:xfrm>
            <a:off x="3899374" y="1231135"/>
            <a:ext cx="4395730" cy="4603479"/>
            <a:chOff x="3899374" y="1231135"/>
            <a:chExt cx="4395730" cy="4603479"/>
          </a:xfrm>
        </p:grpSpPr>
        <p:sp>
          <p:nvSpPr>
            <p:cNvPr id="4" name="Rectangle 3">
              <a:extLst>
                <a:ext uri="{FF2B5EF4-FFF2-40B4-BE49-F238E27FC236}">
                  <a16:creationId xmlns:a16="http://schemas.microsoft.com/office/drawing/2014/main" id="{A1956F51-7F19-4FA4-88E2-3D4AAC0272EF}"/>
                </a:ext>
              </a:extLst>
            </p:cNvPr>
            <p:cNvSpPr/>
            <p:nvPr/>
          </p:nvSpPr>
          <p:spPr>
            <a:xfrm>
              <a:off x="4531779" y="5419116"/>
              <a:ext cx="3130224" cy="415498"/>
            </a:xfrm>
            <a:prstGeom prst="rect">
              <a:avLst/>
            </a:prstGeom>
          </p:spPr>
          <p:txBody>
            <a:bodyPr wrap="square">
              <a:spAutoFit/>
            </a:bodyPr>
            <a:lstStyle/>
            <a:p>
              <a:pPr lvl="0" algn="ctr">
                <a:defRPr/>
              </a:pPr>
              <a:r>
                <a:rPr lang="en-US" dirty="0">
                  <a:solidFill>
                    <a:srgbClr val="000000"/>
                  </a:solidFill>
                  <a:hlinkClick r:id="rId3"/>
                </a:rPr>
                <a:t>https://gardener.cloud/</a:t>
              </a:r>
              <a:endParaRPr lang="en-US" dirty="0">
                <a:solidFill>
                  <a:srgbClr val="000000"/>
                </a:solidFill>
              </a:endParaRPr>
            </a:p>
          </p:txBody>
        </p:sp>
        <p:pic>
          <p:nvPicPr>
            <p:cNvPr id="5" name="Graphic 4">
              <a:extLst>
                <a:ext uri="{FF2B5EF4-FFF2-40B4-BE49-F238E27FC236}">
                  <a16:creationId xmlns:a16="http://schemas.microsoft.com/office/drawing/2014/main" id="{0E48517D-5E43-44E2-9D3B-E175015B80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9374" y="1231135"/>
              <a:ext cx="4395730" cy="4395730"/>
            </a:xfrm>
            <a:prstGeom prst="rect">
              <a:avLst/>
            </a:prstGeom>
          </p:spPr>
        </p:pic>
      </p:grpSp>
    </p:spTree>
    <p:extLst>
      <p:ext uri="{BB962C8B-B14F-4D97-AF65-F5344CB8AC3E}">
        <p14:creationId xmlns:p14="http://schemas.microsoft.com/office/powerpoint/2010/main" val="3753432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BC37-4041-4163-8C5A-C9966A5B8A77}"/>
              </a:ext>
            </a:extLst>
          </p:cNvPr>
          <p:cNvSpPr>
            <a:spLocks noGrp="1"/>
          </p:cNvSpPr>
          <p:nvPr>
            <p:ph type="title"/>
          </p:nvPr>
        </p:nvSpPr>
        <p:spPr/>
        <p:txBody>
          <a:bodyPr/>
          <a:lstStyle/>
          <a:p>
            <a:r>
              <a:rPr lang="en-US" dirty="0"/>
              <a:t>Gardener Dashboard</a:t>
            </a:r>
            <a:endParaRPr lang="en-DE" dirty="0"/>
          </a:p>
        </p:txBody>
      </p:sp>
      <p:sp>
        <p:nvSpPr>
          <p:cNvPr id="3" name="Rectangle 2">
            <a:extLst>
              <a:ext uri="{FF2B5EF4-FFF2-40B4-BE49-F238E27FC236}">
                <a16:creationId xmlns:a16="http://schemas.microsoft.com/office/drawing/2014/main" id="{86D45B0B-7EBF-4681-AFBF-CFF3CC411E37}"/>
              </a:ext>
            </a:extLst>
          </p:cNvPr>
          <p:cNvSpPr/>
          <p:nvPr/>
        </p:nvSpPr>
        <p:spPr>
          <a:xfrm>
            <a:off x="2667478" y="5849521"/>
            <a:ext cx="6859522" cy="415498"/>
          </a:xfrm>
          <a:prstGeom prst="rect">
            <a:avLst/>
          </a:prstGeom>
        </p:spPr>
        <p:txBody>
          <a:bodyPr wrap="square">
            <a:spAutoFit/>
          </a:bodyPr>
          <a:lstStyle/>
          <a:p>
            <a:pPr algn="ctr"/>
            <a:r>
              <a:rPr lang="en-DE" dirty="0">
                <a:hlinkClick r:id="rId2"/>
              </a:rPr>
              <a:t>https://dashboard.garden.canary.k8s.ondemand.com/</a:t>
            </a:r>
            <a:endParaRPr lang="en-US" dirty="0"/>
          </a:p>
        </p:txBody>
      </p:sp>
      <p:pic>
        <p:nvPicPr>
          <p:cNvPr id="4" name="Picture 3">
            <a:extLst>
              <a:ext uri="{FF2B5EF4-FFF2-40B4-BE49-F238E27FC236}">
                <a16:creationId xmlns:a16="http://schemas.microsoft.com/office/drawing/2014/main" id="{19E0A9E0-72A2-479A-A0B0-EC7253EF39F9}"/>
              </a:ext>
            </a:extLst>
          </p:cNvPr>
          <p:cNvPicPr>
            <a:picLocks noChangeAspect="1"/>
          </p:cNvPicPr>
          <p:nvPr/>
        </p:nvPicPr>
        <p:blipFill>
          <a:blip r:embed="rId3"/>
          <a:stretch>
            <a:fillRect/>
          </a:stretch>
        </p:blipFill>
        <p:spPr>
          <a:xfrm>
            <a:off x="1235958" y="1235409"/>
            <a:ext cx="9722562" cy="4387182"/>
          </a:xfrm>
          <a:prstGeom prst="rect">
            <a:avLst/>
          </a:prstGeom>
          <a:ln>
            <a:solidFill>
              <a:schemeClr val="tx1"/>
            </a:solidFill>
          </a:ln>
        </p:spPr>
      </p:pic>
    </p:spTree>
    <p:extLst>
      <p:ext uri="{BB962C8B-B14F-4D97-AF65-F5344CB8AC3E}">
        <p14:creationId xmlns:p14="http://schemas.microsoft.com/office/powerpoint/2010/main" val="372836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C1C35B4B-BD14-43A4-B581-E17F52A48EB1}"/>
              </a:ext>
            </a:extLst>
          </p:cNvPr>
          <p:cNvSpPr/>
          <p:nvPr/>
        </p:nvSpPr>
        <p:spPr bwMode="gray">
          <a:xfrm>
            <a:off x="8288849" y="1304926"/>
            <a:ext cx="3677726" cy="4958634"/>
          </a:xfrm>
          <a:prstGeom prst="rect">
            <a:avLst/>
          </a:prstGeom>
          <a:solidFill>
            <a:schemeClr val="accent5">
              <a:lumMod val="20000"/>
              <a:lumOff val="80000"/>
            </a:schemeClr>
          </a:solidFill>
          <a:ln w="6350" algn="ctr">
            <a:solidFill>
              <a:schemeClr val="bg2"/>
            </a:solidFill>
            <a:miter lim="800000"/>
            <a:headEnd/>
            <a:tailEnd/>
          </a:ln>
          <a:effectLst>
            <a:outerShdw blurRad="50800" dist="38100" dir="2700000" algn="tl" rotWithShape="0">
              <a:prstClr val="black">
                <a:alpha val="40000"/>
              </a:prstClr>
            </a:outerShdw>
          </a:effectLst>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Shoot</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Cluster</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20" name="Group 119">
            <a:extLst>
              <a:ext uri="{FF2B5EF4-FFF2-40B4-BE49-F238E27FC236}">
                <a16:creationId xmlns:a16="http://schemas.microsoft.com/office/drawing/2014/main" id="{14848FA6-3792-48B2-B3B5-04430B84017A}"/>
              </a:ext>
            </a:extLst>
          </p:cNvPr>
          <p:cNvGrpSpPr/>
          <p:nvPr/>
        </p:nvGrpSpPr>
        <p:grpSpPr>
          <a:xfrm>
            <a:off x="228600" y="1304925"/>
            <a:ext cx="7435000" cy="4946585"/>
            <a:chOff x="228600" y="1304925"/>
            <a:chExt cx="7435000" cy="4543425"/>
          </a:xfrm>
        </p:grpSpPr>
        <p:sp>
          <p:nvSpPr>
            <p:cNvPr id="118" name="Rectangle 117">
              <a:extLst>
                <a:ext uri="{FF2B5EF4-FFF2-40B4-BE49-F238E27FC236}">
                  <a16:creationId xmlns:a16="http://schemas.microsoft.com/office/drawing/2014/main" id="{F9369B93-1FEF-4667-801E-67F35B74365B}"/>
                </a:ext>
              </a:extLst>
            </p:cNvPr>
            <p:cNvSpPr/>
            <p:nvPr/>
          </p:nvSpPr>
          <p:spPr bwMode="gray">
            <a:xfrm>
              <a:off x="228600" y="1304925"/>
              <a:ext cx="7435000" cy="4543425"/>
            </a:xfrm>
            <a:prstGeom prst="rect">
              <a:avLst/>
            </a:prstGeom>
            <a:solidFill>
              <a:schemeClr val="accent4">
                <a:lumMod val="40000"/>
                <a:lumOff val="60000"/>
              </a:schemeClr>
            </a:solidFill>
            <a:ln w="6350" algn="ctr">
              <a:solidFill>
                <a:schemeClr val="bg2"/>
              </a:solidFill>
              <a:miter lim="800000"/>
              <a:headEnd/>
              <a:tailEnd/>
            </a:ln>
            <a:effectLst>
              <a:outerShdw blurRad="50800" dist="38100" dir="2700000" algn="tl" rotWithShape="0">
                <a:prstClr val="black">
                  <a:alpha val="40000"/>
                </a:prstClr>
              </a:outerShdw>
            </a:effectLst>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Seed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Cluster</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19" name="Picture 4" descr="Bildergebnis für kubernetes">
              <a:extLst>
                <a:ext uri="{FF2B5EF4-FFF2-40B4-BE49-F238E27FC236}">
                  <a16:creationId xmlns:a16="http://schemas.microsoft.com/office/drawing/2014/main" id="{C5A5B61F-55C5-460B-9193-1EDF6A0CE1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2119" y="5163245"/>
              <a:ext cx="617853" cy="617853"/>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30" name="Rectangle 29"/>
          <p:cNvSpPr/>
          <p:nvPr/>
        </p:nvSpPr>
        <p:spPr bwMode="gray">
          <a:xfrm>
            <a:off x="9036969" y="2377440"/>
            <a:ext cx="2653508" cy="196706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9" name="Rectangle 28"/>
          <p:cNvSpPr/>
          <p:nvPr/>
        </p:nvSpPr>
        <p:spPr bwMode="gray">
          <a:xfrm>
            <a:off x="8795858" y="2598313"/>
            <a:ext cx="2653508" cy="196706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err="1"/>
              <a:t>Kubeception</a:t>
            </a:r>
            <a:endParaRPr lang="en-US" dirty="0"/>
          </a:p>
        </p:txBody>
      </p:sp>
      <p:sp>
        <p:nvSpPr>
          <p:cNvPr id="3" name="Rectangle 2"/>
          <p:cNvSpPr/>
          <p:nvPr/>
        </p:nvSpPr>
        <p:spPr bwMode="gray">
          <a:xfrm>
            <a:off x="504001" y="2183606"/>
            <a:ext cx="5545429" cy="34480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strike="noStrike" kern="0" cap="none" spc="0" normalizeH="0" baseline="0" noProof="0" dirty="0">
                <a:ln>
                  <a:noFill/>
                </a:ln>
                <a:effectLst/>
                <a:uLnTx/>
                <a:uFillTx/>
                <a:ea typeface="Arial Unicode MS" pitchFamily="34" charset="-128"/>
                <a:cs typeface="Arial Unicode MS" pitchFamily="34" charset="-128"/>
              </a:rPr>
              <a:t>Master</a:t>
            </a:r>
          </a:p>
        </p:txBody>
      </p:sp>
      <p:cxnSp>
        <p:nvCxnSpPr>
          <p:cNvPr id="14" name="Straight Arrow Connector 13"/>
          <p:cNvCxnSpPr>
            <a:cxnSpLocks/>
          </p:cNvCxnSpPr>
          <p:nvPr/>
        </p:nvCxnSpPr>
        <p:spPr>
          <a:xfrm flipV="1">
            <a:off x="3148965" y="3633141"/>
            <a:ext cx="0" cy="1338524"/>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a:cxnSpLocks/>
          </p:cNvCxnSpPr>
          <p:nvPr/>
        </p:nvCxnSpPr>
        <p:spPr>
          <a:xfrm flipV="1">
            <a:off x="2098486" y="3655585"/>
            <a:ext cx="0" cy="554023"/>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p:cNvCxnSpPr>
            <a:cxnSpLocks/>
          </p:cNvCxnSpPr>
          <p:nvPr/>
        </p:nvCxnSpPr>
        <p:spPr>
          <a:xfrm>
            <a:off x="3322049" y="3488980"/>
            <a:ext cx="935626" cy="598413"/>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bwMode="gray">
          <a:xfrm>
            <a:off x="8554747" y="2825587"/>
            <a:ext cx="2653508" cy="214607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Nodes</a:t>
            </a:r>
          </a:p>
        </p:txBody>
      </p:sp>
      <p:sp>
        <p:nvSpPr>
          <p:cNvPr id="31" name="Rectangle 30"/>
          <p:cNvSpPr/>
          <p:nvPr/>
        </p:nvSpPr>
        <p:spPr bwMode="gray">
          <a:xfrm>
            <a:off x="8637145" y="3943865"/>
            <a:ext cx="2516854" cy="942560"/>
          </a:xfrm>
          <a:prstGeom prst="rect">
            <a:avLst/>
          </a:prstGeom>
          <a:solidFill>
            <a:schemeClr val="accent1">
              <a:lumMod val="60000"/>
              <a:lumOff val="4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cxnSp>
        <p:nvCxnSpPr>
          <p:cNvPr id="38" name="Straight Arrow Connector 37"/>
          <p:cNvCxnSpPr>
            <a:cxnSpLocks/>
            <a:stCxn id="37" idx="1"/>
            <a:endCxn id="36" idx="0"/>
          </p:cNvCxnSpPr>
          <p:nvPr/>
        </p:nvCxnSpPr>
        <p:spPr>
          <a:xfrm>
            <a:off x="10541673" y="1781089"/>
            <a:ext cx="1" cy="1568780"/>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a:cxnSpLocks/>
            <a:stCxn id="36" idx="2"/>
            <a:endCxn id="35" idx="0"/>
          </p:cNvCxnSpPr>
          <p:nvPr/>
        </p:nvCxnSpPr>
        <p:spPr>
          <a:xfrm>
            <a:off x="10541674" y="3628090"/>
            <a:ext cx="0" cy="586607"/>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p:cNvCxnSpPr>
            <a:cxnSpLocks/>
            <a:stCxn id="36" idx="2"/>
            <a:endCxn id="49" idx="0"/>
          </p:cNvCxnSpPr>
          <p:nvPr/>
        </p:nvCxnSpPr>
        <p:spPr>
          <a:xfrm flipH="1">
            <a:off x="9270110" y="3628090"/>
            <a:ext cx="1271564" cy="581518"/>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p:cNvCxnSpPr>
            <a:cxnSpLocks/>
            <a:stCxn id="32" idx="2"/>
            <a:endCxn id="49" idx="0"/>
          </p:cNvCxnSpPr>
          <p:nvPr/>
        </p:nvCxnSpPr>
        <p:spPr>
          <a:xfrm>
            <a:off x="9270110" y="3628090"/>
            <a:ext cx="0" cy="581518"/>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7" name="Straight Arrow Connector 56"/>
          <p:cNvCxnSpPr>
            <a:cxnSpLocks/>
            <a:stCxn id="32" idx="2"/>
            <a:endCxn id="35" idx="0"/>
          </p:cNvCxnSpPr>
          <p:nvPr/>
        </p:nvCxnSpPr>
        <p:spPr>
          <a:xfrm>
            <a:off x="9270110" y="3628090"/>
            <a:ext cx="1271564" cy="586607"/>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0" name="Straight Arrow Connector 59"/>
          <p:cNvCxnSpPr>
            <a:cxnSpLocks/>
            <a:stCxn id="32" idx="1"/>
          </p:cNvCxnSpPr>
          <p:nvPr/>
        </p:nvCxnSpPr>
        <p:spPr>
          <a:xfrm flipH="1" flipV="1">
            <a:off x="3328276" y="3349869"/>
            <a:ext cx="5545429" cy="139111"/>
          </a:xfrm>
          <a:prstGeom prst="straightConnector1">
            <a:avLst/>
          </a:prstGeom>
          <a:ln w="57150">
            <a:solidFill>
              <a:schemeClr val="accent2"/>
            </a:solidFill>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grpSp>
        <p:nvGrpSpPr>
          <p:cNvPr id="33" name="Group 32">
            <a:extLst>
              <a:ext uri="{FF2B5EF4-FFF2-40B4-BE49-F238E27FC236}">
                <a16:creationId xmlns:a16="http://schemas.microsoft.com/office/drawing/2014/main" id="{23FC4D1A-52B6-4425-A476-01EDA46888FE}"/>
              </a:ext>
            </a:extLst>
          </p:cNvPr>
          <p:cNvGrpSpPr/>
          <p:nvPr/>
        </p:nvGrpSpPr>
        <p:grpSpPr>
          <a:xfrm>
            <a:off x="10092563" y="4043693"/>
            <a:ext cx="898222" cy="753081"/>
            <a:chOff x="9895572" y="4181091"/>
            <a:chExt cx="898222" cy="899059"/>
          </a:xfrm>
        </p:grpSpPr>
        <p:sp>
          <p:nvSpPr>
            <p:cNvPr id="35" name="Rectangle 34"/>
            <p:cNvSpPr/>
            <p:nvPr/>
          </p:nvSpPr>
          <p:spPr bwMode="gray">
            <a:xfrm>
              <a:off x="9948278" y="4385243"/>
              <a:ext cx="792809" cy="27822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000" b="1" kern="0" noProof="0" dirty="0">
                  <a:ea typeface="Arial Unicode MS" pitchFamily="34" charset="-128"/>
                  <a:cs typeface="Arial Unicode MS" pitchFamily="34" charset="-128"/>
                </a:rPr>
                <a:t>Container</a:t>
              </a:r>
              <a:endParaRPr kumimoji="0" lang="de-DE" sz="10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5" name="Rectangle: Rounded Corners 44">
              <a:extLst>
                <a:ext uri="{FF2B5EF4-FFF2-40B4-BE49-F238E27FC236}">
                  <a16:creationId xmlns:a16="http://schemas.microsoft.com/office/drawing/2014/main" id="{6A1B9FB8-E0C7-4972-AB85-18F2C06E6708}"/>
                </a:ext>
              </a:extLst>
            </p:cNvPr>
            <p:cNvSpPr/>
            <p:nvPr/>
          </p:nvSpPr>
          <p:spPr bwMode="gray">
            <a:xfrm>
              <a:off x="9895572" y="4181091"/>
              <a:ext cx="898222" cy="899059"/>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Pod</a:t>
              </a:r>
            </a:p>
          </p:txBody>
        </p:sp>
      </p:grpSp>
      <p:grpSp>
        <p:nvGrpSpPr>
          <p:cNvPr id="48" name="Group 47">
            <a:extLst>
              <a:ext uri="{FF2B5EF4-FFF2-40B4-BE49-F238E27FC236}">
                <a16:creationId xmlns:a16="http://schemas.microsoft.com/office/drawing/2014/main" id="{91DA93E2-18A4-413D-999E-C47E4A55B089}"/>
              </a:ext>
            </a:extLst>
          </p:cNvPr>
          <p:cNvGrpSpPr/>
          <p:nvPr/>
        </p:nvGrpSpPr>
        <p:grpSpPr>
          <a:xfrm>
            <a:off x="8820999" y="4038604"/>
            <a:ext cx="898222" cy="753081"/>
            <a:chOff x="9895572" y="4181091"/>
            <a:chExt cx="898222" cy="899059"/>
          </a:xfrm>
        </p:grpSpPr>
        <p:sp>
          <p:nvSpPr>
            <p:cNvPr id="49" name="Rectangle 48">
              <a:extLst>
                <a:ext uri="{FF2B5EF4-FFF2-40B4-BE49-F238E27FC236}">
                  <a16:creationId xmlns:a16="http://schemas.microsoft.com/office/drawing/2014/main" id="{7DE7FE12-A639-48BB-B627-255654143C0A}"/>
                </a:ext>
              </a:extLst>
            </p:cNvPr>
            <p:cNvSpPr/>
            <p:nvPr/>
          </p:nvSpPr>
          <p:spPr bwMode="gray">
            <a:xfrm>
              <a:off x="9948278" y="4385243"/>
              <a:ext cx="792809" cy="27822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000" b="1" kern="0" noProof="0" dirty="0">
                  <a:ea typeface="Arial Unicode MS" pitchFamily="34" charset="-128"/>
                  <a:cs typeface="Arial Unicode MS" pitchFamily="34" charset="-128"/>
                </a:rPr>
                <a:t>Container</a:t>
              </a:r>
              <a:endParaRPr kumimoji="0" lang="de-DE" sz="10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0" name="Rectangle: Rounded Corners 49">
              <a:extLst>
                <a:ext uri="{FF2B5EF4-FFF2-40B4-BE49-F238E27FC236}">
                  <a16:creationId xmlns:a16="http://schemas.microsoft.com/office/drawing/2014/main" id="{BB44A490-E896-4B06-A84D-6B226664960D}"/>
                </a:ext>
              </a:extLst>
            </p:cNvPr>
            <p:cNvSpPr/>
            <p:nvPr/>
          </p:nvSpPr>
          <p:spPr bwMode="gray">
            <a:xfrm>
              <a:off x="9895572" y="4181091"/>
              <a:ext cx="898222" cy="899059"/>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Pod</a:t>
              </a:r>
            </a:p>
          </p:txBody>
        </p:sp>
      </p:grpSp>
      <p:grpSp>
        <p:nvGrpSpPr>
          <p:cNvPr id="94" name="Group 93">
            <a:extLst>
              <a:ext uri="{FF2B5EF4-FFF2-40B4-BE49-F238E27FC236}">
                <a16:creationId xmlns:a16="http://schemas.microsoft.com/office/drawing/2014/main" id="{9218B1C2-5223-4B93-8A17-BA29EF7318FC}"/>
              </a:ext>
            </a:extLst>
          </p:cNvPr>
          <p:cNvGrpSpPr/>
          <p:nvPr/>
        </p:nvGrpSpPr>
        <p:grpSpPr>
          <a:xfrm>
            <a:off x="811548" y="2912269"/>
            <a:ext cx="2643646" cy="830103"/>
            <a:chOff x="786277" y="2912269"/>
            <a:chExt cx="2663313" cy="830103"/>
          </a:xfrm>
          <a:effectLst>
            <a:outerShdw blurRad="50800" dist="38100" dir="2700000" algn="tl" rotWithShape="0">
              <a:prstClr val="black">
                <a:alpha val="40000"/>
              </a:prstClr>
            </a:outerShdw>
          </a:effectLst>
        </p:grpSpPr>
        <p:sp>
          <p:nvSpPr>
            <p:cNvPr id="81" name="Rectangle 80">
              <a:extLst>
                <a:ext uri="{FF2B5EF4-FFF2-40B4-BE49-F238E27FC236}">
                  <a16:creationId xmlns:a16="http://schemas.microsoft.com/office/drawing/2014/main" id="{351BEAC9-BE6F-4D47-A1F5-F1469D953F15}"/>
                </a:ext>
              </a:extLst>
            </p:cNvPr>
            <p:cNvSpPr/>
            <p:nvPr/>
          </p:nvSpPr>
          <p:spPr bwMode="gray">
            <a:xfrm>
              <a:off x="786277" y="2912269"/>
              <a:ext cx="2663313" cy="830103"/>
            </a:xfrm>
            <a:prstGeom prst="rect">
              <a:avLst/>
            </a:prstGeom>
            <a:solidFill>
              <a:schemeClr val="accent1"/>
            </a:solidFill>
            <a:ln w="6350" algn="ctr">
              <a:noFill/>
              <a:miter lim="800000"/>
              <a:headEnd/>
              <a:tailEnd/>
            </a:ln>
          </p:spPr>
          <p:txBody>
            <a:bodyPr lIns="90000" tIns="72000" rIns="90000" bIns="72000" rtlCol="0" anchor="t" anchorCtr="0"/>
            <a:lstStyle/>
            <a:p>
              <a:pPr marR="0"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7" name="Rectangle: Rounded Corners 86">
              <a:extLst>
                <a:ext uri="{FF2B5EF4-FFF2-40B4-BE49-F238E27FC236}">
                  <a16:creationId xmlns:a16="http://schemas.microsoft.com/office/drawing/2014/main" id="{1DF47EAF-32FE-473C-843A-5170494D585F}"/>
                </a:ext>
              </a:extLst>
            </p:cNvPr>
            <p:cNvSpPr/>
            <p:nvPr/>
          </p:nvSpPr>
          <p:spPr bwMode="gray">
            <a:xfrm>
              <a:off x="845711" y="2973776"/>
              <a:ext cx="377618" cy="708561"/>
            </a:xfrm>
            <a:prstGeom prst="roundRect">
              <a:avLst/>
            </a:prstGeom>
            <a:solidFill>
              <a:schemeClr val="tx1"/>
            </a:solidFill>
            <a:ln w="25400" algn="ctr">
              <a:noFill/>
              <a:miter lim="800000"/>
              <a:headEnd/>
              <a:tailEnd/>
            </a:ln>
          </p:spPr>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2400" kern="0" dirty="0">
                  <a:solidFill>
                    <a:schemeClr val="bg1"/>
                  </a:solidFill>
                  <a:latin typeface="Arial Black" panose="020B0A04020102020204" pitchFamily="34" charset="0"/>
                  <a:ea typeface="Arial Unicode MS" pitchFamily="34" charset="-128"/>
                  <a:cs typeface="Arial Unicode MS" pitchFamily="34" charset="-128"/>
                </a:rPr>
                <a:t>D</a:t>
              </a:r>
              <a:endParaRPr lang="en-US" sz="1800" kern="0" dirty="0">
                <a:solidFill>
                  <a:schemeClr val="bg1"/>
                </a:solidFill>
                <a:latin typeface="Arial Black" panose="020B0A04020102020204" pitchFamily="34" charset="0"/>
                <a:ea typeface="Arial Unicode MS" pitchFamily="34" charset="-128"/>
                <a:cs typeface="Arial Unicode MS" pitchFamily="34" charset="-128"/>
              </a:endParaRPr>
            </a:p>
          </p:txBody>
        </p:sp>
      </p:grpSp>
      <p:grpSp>
        <p:nvGrpSpPr>
          <p:cNvPr id="93" name="Group 92">
            <a:extLst>
              <a:ext uri="{FF2B5EF4-FFF2-40B4-BE49-F238E27FC236}">
                <a16:creationId xmlns:a16="http://schemas.microsoft.com/office/drawing/2014/main" id="{F51E3C55-3EAF-468A-A54D-5C60B08A52DD}"/>
              </a:ext>
            </a:extLst>
          </p:cNvPr>
          <p:cNvGrpSpPr/>
          <p:nvPr/>
        </p:nvGrpSpPr>
        <p:grpSpPr>
          <a:xfrm>
            <a:off x="323852" y="4148138"/>
            <a:ext cx="2185987" cy="539588"/>
            <a:chOff x="342787" y="4148138"/>
            <a:chExt cx="2167052" cy="539588"/>
          </a:xfrm>
          <a:effectLst>
            <a:outerShdw blurRad="50800" dist="38100" dir="2700000" algn="tl" rotWithShape="0">
              <a:prstClr val="black">
                <a:alpha val="40000"/>
              </a:prstClr>
            </a:outerShdw>
          </a:effectLst>
        </p:grpSpPr>
        <p:sp>
          <p:nvSpPr>
            <p:cNvPr id="91" name="Rectangle 90">
              <a:extLst>
                <a:ext uri="{FF2B5EF4-FFF2-40B4-BE49-F238E27FC236}">
                  <a16:creationId xmlns:a16="http://schemas.microsoft.com/office/drawing/2014/main" id="{9C9B91F2-0186-4E5E-AD6E-C505E7241B79}"/>
                </a:ext>
              </a:extLst>
            </p:cNvPr>
            <p:cNvSpPr/>
            <p:nvPr/>
          </p:nvSpPr>
          <p:spPr bwMode="gray">
            <a:xfrm>
              <a:off x="342787" y="4148138"/>
              <a:ext cx="2167052" cy="539588"/>
            </a:xfrm>
            <a:prstGeom prst="rect">
              <a:avLst/>
            </a:prstGeom>
            <a:solidFill>
              <a:schemeClr val="accent1"/>
            </a:solidFill>
            <a:ln w="6350" algn="ctr">
              <a:noFill/>
              <a:miter lim="800000"/>
              <a:headEnd/>
              <a:tailEnd/>
            </a:ln>
          </p:spPr>
          <p:txBody>
            <a:bodyPr lIns="90000" tIns="72000" rIns="90000" bIns="72000" rtlCol="0" anchor="t" anchorCtr="0"/>
            <a:lstStyle/>
            <a:p>
              <a:pPr marR="0"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2" name="Rectangle: Rounded Corners 91">
              <a:extLst>
                <a:ext uri="{FF2B5EF4-FFF2-40B4-BE49-F238E27FC236}">
                  <a16:creationId xmlns:a16="http://schemas.microsoft.com/office/drawing/2014/main" id="{159520C2-E90F-4488-9F62-E20C531F89F3}"/>
                </a:ext>
              </a:extLst>
            </p:cNvPr>
            <p:cNvSpPr/>
            <p:nvPr/>
          </p:nvSpPr>
          <p:spPr bwMode="gray">
            <a:xfrm>
              <a:off x="389014" y="4193581"/>
              <a:ext cx="369803" cy="444500"/>
            </a:xfrm>
            <a:prstGeom prst="roundRect">
              <a:avLst/>
            </a:prstGeom>
            <a:solidFill>
              <a:schemeClr val="tx1"/>
            </a:solidFill>
            <a:ln w="25400" algn="ctr">
              <a:noFill/>
              <a:miter lim="800000"/>
              <a:headEnd/>
              <a:tailEnd/>
            </a:ln>
          </p:spPr>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2400" kern="0" dirty="0">
                  <a:solidFill>
                    <a:schemeClr val="bg1"/>
                  </a:solidFill>
                  <a:latin typeface="Arial Black" panose="020B0A04020102020204" pitchFamily="34" charset="0"/>
                  <a:ea typeface="Arial Unicode MS" pitchFamily="34" charset="-128"/>
                  <a:cs typeface="Arial Unicode MS" pitchFamily="34" charset="-128"/>
                </a:rPr>
                <a:t>D</a:t>
              </a:r>
              <a:endParaRPr lang="en-US" sz="1800" kern="0" dirty="0">
                <a:solidFill>
                  <a:schemeClr val="bg1"/>
                </a:solidFill>
                <a:latin typeface="Arial Black" panose="020B0A04020102020204" pitchFamily="34" charset="0"/>
                <a:ea typeface="Arial Unicode MS" pitchFamily="34" charset="-128"/>
                <a:cs typeface="Arial Unicode MS" pitchFamily="34" charset="-128"/>
              </a:endParaRPr>
            </a:p>
          </p:txBody>
        </p:sp>
      </p:grpSp>
      <p:sp>
        <p:nvSpPr>
          <p:cNvPr id="85" name="Rectangle 84">
            <a:extLst>
              <a:ext uri="{FF2B5EF4-FFF2-40B4-BE49-F238E27FC236}">
                <a16:creationId xmlns:a16="http://schemas.microsoft.com/office/drawing/2014/main" id="{3693B751-9073-42CC-8C53-0A341A0F8F76}"/>
              </a:ext>
            </a:extLst>
          </p:cNvPr>
          <p:cNvSpPr/>
          <p:nvPr/>
        </p:nvSpPr>
        <p:spPr bwMode="gray">
          <a:xfrm>
            <a:off x="786277" y="4194563"/>
            <a:ext cx="1696105" cy="444500"/>
          </a:xfrm>
          <a:prstGeom prst="rect">
            <a:avLst/>
          </a:prstGeom>
          <a:solidFill>
            <a:schemeClr val="accent3"/>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Rectangle 5"/>
          <p:cNvSpPr/>
          <p:nvPr/>
        </p:nvSpPr>
        <p:spPr bwMode="gray">
          <a:xfrm>
            <a:off x="851063" y="4264442"/>
            <a:ext cx="1569290" cy="309612"/>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a:ea typeface="Arial Unicode MS" pitchFamily="34" charset="-128"/>
                <a:cs typeface="Arial Unicode MS" pitchFamily="34" charset="-128"/>
              </a:rPr>
              <a:t>Scheduler</a:t>
            </a:r>
            <a:endParaRPr kumimoji="0" lang="de-DE" sz="14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2" name="Rectangle 81">
            <a:extLst>
              <a:ext uri="{FF2B5EF4-FFF2-40B4-BE49-F238E27FC236}">
                <a16:creationId xmlns:a16="http://schemas.microsoft.com/office/drawing/2014/main" id="{6D4CFA2C-1F52-43F8-8482-5B2A7E4167D8}"/>
              </a:ext>
            </a:extLst>
          </p:cNvPr>
          <p:cNvSpPr/>
          <p:nvPr/>
        </p:nvSpPr>
        <p:spPr bwMode="gray">
          <a:xfrm>
            <a:off x="1294821" y="2973777"/>
            <a:ext cx="2105075" cy="708561"/>
          </a:xfrm>
          <a:prstGeom prst="rect">
            <a:avLst/>
          </a:prstGeom>
          <a:solidFill>
            <a:schemeClr val="accent3"/>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1390499" y="3057172"/>
            <a:ext cx="1931550" cy="541772"/>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API</a:t>
            </a:r>
            <a:r>
              <a:rPr kumimoji="0" lang="de-DE" sz="1800" b="1" i="0" u="none" strike="noStrike" kern="0" cap="none" spc="0" normalizeH="0" noProof="0" dirty="0">
                <a:ln>
                  <a:noFill/>
                </a:ln>
                <a:effectLst/>
                <a:uLnTx/>
                <a:uFillTx/>
                <a:ea typeface="Arial Unicode MS" pitchFamily="34" charset="-128"/>
                <a:cs typeface="Arial Unicode MS" pitchFamily="34" charset="-128"/>
              </a:rPr>
              <a:t> Server</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95" name="Group 94">
            <a:extLst>
              <a:ext uri="{FF2B5EF4-FFF2-40B4-BE49-F238E27FC236}">
                <a16:creationId xmlns:a16="http://schemas.microsoft.com/office/drawing/2014/main" id="{104A53EC-4EAB-4B40-82E6-235EC8AE6D14}"/>
              </a:ext>
            </a:extLst>
          </p:cNvPr>
          <p:cNvGrpSpPr/>
          <p:nvPr/>
        </p:nvGrpSpPr>
        <p:grpSpPr>
          <a:xfrm>
            <a:off x="1434706" y="4889897"/>
            <a:ext cx="2515787" cy="539588"/>
            <a:chOff x="359574" y="4148138"/>
            <a:chExt cx="2515787" cy="539588"/>
          </a:xfrm>
          <a:effectLst>
            <a:outerShdw blurRad="50800" dist="38100" dir="2700000" algn="tl" rotWithShape="0">
              <a:prstClr val="black">
                <a:alpha val="40000"/>
              </a:prstClr>
            </a:outerShdw>
          </a:effectLst>
        </p:grpSpPr>
        <p:sp>
          <p:nvSpPr>
            <p:cNvPr id="96" name="Rectangle 95">
              <a:extLst>
                <a:ext uri="{FF2B5EF4-FFF2-40B4-BE49-F238E27FC236}">
                  <a16:creationId xmlns:a16="http://schemas.microsoft.com/office/drawing/2014/main" id="{16E279EE-9985-4D13-8795-02FFFD5A9419}"/>
                </a:ext>
              </a:extLst>
            </p:cNvPr>
            <p:cNvSpPr/>
            <p:nvPr/>
          </p:nvSpPr>
          <p:spPr bwMode="gray">
            <a:xfrm>
              <a:off x="359574" y="4148138"/>
              <a:ext cx="2515787" cy="539588"/>
            </a:xfrm>
            <a:prstGeom prst="rect">
              <a:avLst/>
            </a:prstGeom>
            <a:solidFill>
              <a:schemeClr val="accent1"/>
            </a:solidFill>
            <a:ln w="6350" algn="ctr">
              <a:noFill/>
              <a:miter lim="800000"/>
              <a:headEnd/>
              <a:tailEnd/>
            </a:ln>
          </p:spPr>
          <p:txBody>
            <a:bodyPr lIns="90000" tIns="72000" rIns="90000" bIns="72000" rtlCol="0" anchor="t" anchorCtr="0"/>
            <a:lstStyle/>
            <a:p>
              <a:pPr marR="0"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7" name="Rectangle: Rounded Corners 96">
              <a:extLst>
                <a:ext uri="{FF2B5EF4-FFF2-40B4-BE49-F238E27FC236}">
                  <a16:creationId xmlns:a16="http://schemas.microsoft.com/office/drawing/2014/main" id="{7F032272-EA4C-4344-AA11-C535C4E19214}"/>
                </a:ext>
              </a:extLst>
            </p:cNvPr>
            <p:cNvSpPr/>
            <p:nvPr/>
          </p:nvSpPr>
          <p:spPr bwMode="gray">
            <a:xfrm>
              <a:off x="389014" y="4193581"/>
              <a:ext cx="365334" cy="444500"/>
            </a:xfrm>
            <a:prstGeom prst="roundRect">
              <a:avLst/>
            </a:prstGeom>
            <a:solidFill>
              <a:schemeClr val="tx1"/>
            </a:solidFill>
            <a:ln w="25400" algn="ctr">
              <a:noFill/>
              <a:miter lim="800000"/>
              <a:headEnd/>
              <a:tailEnd/>
            </a:ln>
          </p:spPr>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2400" kern="0" dirty="0">
                  <a:solidFill>
                    <a:schemeClr val="bg1"/>
                  </a:solidFill>
                  <a:latin typeface="Arial Black" panose="020B0A04020102020204" pitchFamily="34" charset="0"/>
                  <a:ea typeface="Arial Unicode MS" pitchFamily="34" charset="-128"/>
                  <a:cs typeface="Arial Unicode MS" pitchFamily="34" charset="-128"/>
                </a:rPr>
                <a:t>D</a:t>
              </a:r>
              <a:endParaRPr lang="en-US" sz="1800" kern="0" dirty="0">
                <a:solidFill>
                  <a:schemeClr val="bg1"/>
                </a:solidFill>
                <a:latin typeface="Arial Black" panose="020B0A04020102020204" pitchFamily="34" charset="0"/>
                <a:ea typeface="Arial Unicode MS" pitchFamily="34" charset="-128"/>
                <a:cs typeface="Arial Unicode MS" pitchFamily="34" charset="-128"/>
              </a:endParaRPr>
            </a:p>
          </p:txBody>
        </p:sp>
      </p:grpSp>
      <p:sp>
        <p:nvSpPr>
          <p:cNvPr id="84" name="Rectangle 83">
            <a:extLst>
              <a:ext uri="{FF2B5EF4-FFF2-40B4-BE49-F238E27FC236}">
                <a16:creationId xmlns:a16="http://schemas.microsoft.com/office/drawing/2014/main" id="{D07DE326-FBFE-49B4-937B-84373AA53B40}"/>
              </a:ext>
            </a:extLst>
          </p:cNvPr>
          <p:cNvSpPr/>
          <p:nvPr/>
        </p:nvSpPr>
        <p:spPr bwMode="gray">
          <a:xfrm>
            <a:off x="1870353" y="4937441"/>
            <a:ext cx="2044700" cy="444500"/>
          </a:xfrm>
          <a:prstGeom prst="rect">
            <a:avLst/>
          </a:prstGeom>
          <a:solidFill>
            <a:schemeClr val="accent3"/>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p:nvSpPr>
        <p:spPr bwMode="gray">
          <a:xfrm>
            <a:off x="1941497" y="5005863"/>
            <a:ext cx="1902413" cy="30765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a:ea typeface="Arial Unicode MS" pitchFamily="34" charset="-128"/>
                <a:cs typeface="Arial Unicode MS" pitchFamily="34" charset="-128"/>
              </a:rPr>
              <a:t>Controller Manager</a:t>
            </a:r>
            <a:endParaRPr kumimoji="0" lang="de-DE" sz="140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98" name="Group 97">
            <a:extLst>
              <a:ext uri="{FF2B5EF4-FFF2-40B4-BE49-F238E27FC236}">
                <a16:creationId xmlns:a16="http://schemas.microsoft.com/office/drawing/2014/main" id="{AD88BEB2-65F2-4BD1-96C1-81AA283E8B1D}"/>
              </a:ext>
            </a:extLst>
          </p:cNvPr>
          <p:cNvGrpSpPr/>
          <p:nvPr/>
        </p:nvGrpSpPr>
        <p:grpSpPr>
          <a:xfrm>
            <a:off x="4199444" y="3598944"/>
            <a:ext cx="2110143" cy="1559796"/>
            <a:chOff x="-1304595" y="4148138"/>
            <a:chExt cx="2110143" cy="539588"/>
          </a:xfrm>
          <a:effectLst>
            <a:outerShdw blurRad="50800" dist="38100" dir="2700000" algn="tl" rotWithShape="0">
              <a:prstClr val="black">
                <a:alpha val="40000"/>
              </a:prstClr>
            </a:outerShdw>
          </a:effectLst>
        </p:grpSpPr>
        <p:sp>
          <p:nvSpPr>
            <p:cNvPr id="99" name="Rectangle 98">
              <a:extLst>
                <a:ext uri="{FF2B5EF4-FFF2-40B4-BE49-F238E27FC236}">
                  <a16:creationId xmlns:a16="http://schemas.microsoft.com/office/drawing/2014/main" id="{A4C7EF93-255A-407E-A4F0-6F3DFD3226A2}"/>
                </a:ext>
              </a:extLst>
            </p:cNvPr>
            <p:cNvSpPr/>
            <p:nvPr/>
          </p:nvSpPr>
          <p:spPr bwMode="gray">
            <a:xfrm>
              <a:off x="-1304595" y="4148138"/>
              <a:ext cx="2110143" cy="539588"/>
            </a:xfrm>
            <a:prstGeom prst="rect">
              <a:avLst/>
            </a:prstGeom>
            <a:solidFill>
              <a:schemeClr val="accent5">
                <a:lumMod val="60000"/>
                <a:lumOff val="40000"/>
              </a:schemeClr>
            </a:solidFill>
            <a:ln w="6350" algn="ctr">
              <a:noFill/>
              <a:miter lim="800000"/>
              <a:headEnd/>
              <a:tailEnd/>
            </a:ln>
          </p:spPr>
          <p:txBody>
            <a:bodyPr lIns="90000" tIns="72000" rIns="90000" bIns="72000" rtlCol="0" anchor="t" anchorCtr="0"/>
            <a:lstStyle/>
            <a:p>
              <a:pPr marR="0"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0" name="Rectangle: Rounded Corners 99">
              <a:extLst>
                <a:ext uri="{FF2B5EF4-FFF2-40B4-BE49-F238E27FC236}">
                  <a16:creationId xmlns:a16="http://schemas.microsoft.com/office/drawing/2014/main" id="{76CCFD47-0879-4A4F-B1E3-E362A2ABC57A}"/>
                </a:ext>
              </a:extLst>
            </p:cNvPr>
            <p:cNvSpPr/>
            <p:nvPr/>
          </p:nvSpPr>
          <p:spPr bwMode="gray">
            <a:xfrm>
              <a:off x="407970" y="4164358"/>
              <a:ext cx="358661" cy="500691"/>
            </a:xfrm>
            <a:prstGeom prst="roundRect">
              <a:avLst/>
            </a:prstGeom>
            <a:solidFill>
              <a:schemeClr val="tx1"/>
            </a:solidFill>
            <a:ln w="25400" algn="ctr">
              <a:noFill/>
              <a:miter lim="800000"/>
              <a:headEnd/>
              <a:tailEnd/>
            </a:ln>
          </p:spPr>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2400" kern="0" dirty="0">
                  <a:solidFill>
                    <a:schemeClr val="bg1"/>
                  </a:solidFill>
                  <a:latin typeface="Arial Black" panose="020B0A04020102020204" pitchFamily="34" charset="0"/>
                  <a:ea typeface="Arial Unicode MS" pitchFamily="34" charset="-128"/>
                  <a:cs typeface="Arial Unicode MS" pitchFamily="34" charset="-128"/>
                </a:rPr>
                <a:t>STS</a:t>
              </a:r>
              <a:endParaRPr lang="en-US" sz="1800" kern="0" dirty="0">
                <a:solidFill>
                  <a:schemeClr val="bg1"/>
                </a:solidFill>
                <a:latin typeface="Arial Black" panose="020B0A04020102020204" pitchFamily="34" charset="0"/>
                <a:ea typeface="Arial Unicode MS" pitchFamily="34" charset="-128"/>
                <a:cs typeface="Arial Unicode MS" pitchFamily="34" charset="-128"/>
              </a:endParaRPr>
            </a:p>
          </p:txBody>
        </p:sp>
      </p:grpSp>
      <p:sp>
        <p:nvSpPr>
          <p:cNvPr id="83" name="Rectangle 82">
            <a:extLst>
              <a:ext uri="{FF2B5EF4-FFF2-40B4-BE49-F238E27FC236}">
                <a16:creationId xmlns:a16="http://schemas.microsoft.com/office/drawing/2014/main" id="{7D83E808-21DD-4589-BC4E-7C8C6DD3BC58}"/>
              </a:ext>
            </a:extLst>
          </p:cNvPr>
          <p:cNvSpPr/>
          <p:nvPr/>
        </p:nvSpPr>
        <p:spPr bwMode="gray">
          <a:xfrm>
            <a:off x="4240316" y="3645832"/>
            <a:ext cx="1630822" cy="1447357"/>
          </a:xfrm>
          <a:prstGeom prst="rect">
            <a:avLst/>
          </a:prstGeom>
          <a:solidFill>
            <a:schemeClr val="accent3"/>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3" name="Rectangle 22"/>
          <p:cNvSpPr/>
          <p:nvPr/>
        </p:nvSpPr>
        <p:spPr bwMode="gray">
          <a:xfrm>
            <a:off x="4324747" y="3742372"/>
            <a:ext cx="1461960" cy="125427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400" b="1" kern="0" dirty="0" err="1">
                <a:solidFill>
                  <a:schemeClr val="lt1"/>
                </a:solidFill>
                <a:ea typeface="Arial Unicode MS" pitchFamily="34" charset="-128"/>
              </a:rPr>
              <a:t>etcd</a:t>
            </a:r>
            <a:endParaRPr lang="de-DE" sz="1400" b="1" kern="0" dirty="0">
              <a:solidFill>
                <a:schemeClr val="lt1"/>
              </a:solidFill>
              <a:ea typeface="Arial Unicode MS" pitchFamily="34" charset="-128"/>
            </a:endParaRPr>
          </a:p>
          <a:p>
            <a:pPr algn="ctr" defTabSz="914400" fontAlgn="base">
              <a:spcBef>
                <a:spcPct val="50000"/>
              </a:spcBef>
              <a:spcAft>
                <a:spcPct val="0"/>
              </a:spcAft>
              <a:buClr>
                <a:srgbClr val="F0AB00"/>
              </a:buClr>
              <a:buSzPct val="80000"/>
            </a:pPr>
            <a:r>
              <a:rPr lang="de-DE" sz="1400" b="1" kern="0" dirty="0">
                <a:solidFill>
                  <a:schemeClr val="lt1"/>
                </a:solidFill>
                <a:ea typeface="Arial Unicode MS" pitchFamily="34" charset="-128"/>
              </a:rPr>
              <a:t>(</a:t>
            </a:r>
            <a:r>
              <a:rPr lang="de-DE" sz="1400" b="1" kern="0" dirty="0" err="1">
                <a:solidFill>
                  <a:schemeClr val="lt1"/>
                </a:solidFill>
                <a:ea typeface="Arial Unicode MS" pitchFamily="34" charset="-128"/>
              </a:rPr>
              <a:t>distributed</a:t>
            </a:r>
            <a:r>
              <a:rPr lang="de-DE" sz="1400" b="1" kern="0" dirty="0">
                <a:solidFill>
                  <a:schemeClr val="lt1"/>
                </a:solidFill>
                <a:ea typeface="Arial Unicode MS" pitchFamily="34" charset="-128"/>
              </a:rPr>
              <a:t>) </a:t>
            </a:r>
            <a:r>
              <a:rPr lang="de-DE" sz="1400" b="1" kern="0" dirty="0" err="1">
                <a:solidFill>
                  <a:schemeClr val="lt1"/>
                </a:solidFill>
                <a:ea typeface="Arial Unicode MS" pitchFamily="34" charset="-128"/>
              </a:rPr>
              <a:t>key-value</a:t>
            </a:r>
            <a:r>
              <a:rPr lang="de-DE" sz="1400" b="1" kern="0" dirty="0">
                <a:solidFill>
                  <a:schemeClr val="lt1"/>
                </a:solidFill>
                <a:ea typeface="Arial Unicode MS" pitchFamily="34" charset="-128"/>
              </a:rPr>
              <a:t> </a:t>
            </a:r>
            <a:r>
              <a:rPr lang="de-DE" sz="1400" b="1" kern="0" dirty="0" err="1">
                <a:solidFill>
                  <a:schemeClr val="lt1"/>
                </a:solidFill>
                <a:ea typeface="Arial Unicode MS" pitchFamily="34" charset="-128"/>
              </a:rPr>
              <a:t>store</a:t>
            </a:r>
            <a:endParaRPr lang="de-DE" sz="1400" b="1" kern="0" dirty="0">
              <a:solidFill>
                <a:schemeClr val="lt1"/>
              </a:solidFill>
              <a:ea typeface="Arial Unicode MS" pitchFamily="34" charset="-128"/>
            </a:endParaRPr>
          </a:p>
        </p:txBody>
      </p:sp>
      <p:grpSp>
        <p:nvGrpSpPr>
          <p:cNvPr id="102" name="Group 101">
            <a:extLst>
              <a:ext uri="{FF2B5EF4-FFF2-40B4-BE49-F238E27FC236}">
                <a16:creationId xmlns:a16="http://schemas.microsoft.com/office/drawing/2014/main" id="{55DBCF69-8F78-4494-BEE7-11216C499C86}"/>
              </a:ext>
            </a:extLst>
          </p:cNvPr>
          <p:cNvGrpSpPr/>
          <p:nvPr/>
        </p:nvGrpSpPr>
        <p:grpSpPr>
          <a:xfrm>
            <a:off x="3399896" y="1426778"/>
            <a:ext cx="4011558" cy="747440"/>
            <a:chOff x="3017896" y="1876370"/>
            <a:chExt cx="6052008" cy="821276"/>
          </a:xfrm>
          <a:solidFill>
            <a:schemeClr val="accent3">
              <a:lumMod val="40000"/>
              <a:lumOff val="60000"/>
            </a:schemeClr>
          </a:solidFill>
          <a:effectLst>
            <a:outerShdw blurRad="50800" dist="38100" dir="2700000" algn="tl" rotWithShape="0">
              <a:prstClr val="black">
                <a:alpha val="40000"/>
              </a:prstClr>
            </a:outerShdw>
          </a:effectLst>
        </p:grpSpPr>
        <p:sp>
          <p:nvSpPr>
            <p:cNvPr id="103" name="Rectangle 102">
              <a:extLst>
                <a:ext uri="{FF2B5EF4-FFF2-40B4-BE49-F238E27FC236}">
                  <a16:creationId xmlns:a16="http://schemas.microsoft.com/office/drawing/2014/main" id="{B862473B-21B4-4DB1-A982-FD475993485D}"/>
                </a:ext>
              </a:extLst>
            </p:cNvPr>
            <p:cNvSpPr/>
            <p:nvPr/>
          </p:nvSpPr>
          <p:spPr bwMode="gray">
            <a:xfrm>
              <a:off x="3017896" y="2084088"/>
              <a:ext cx="6052008" cy="613558"/>
            </a:xfrm>
            <a:prstGeom prst="rect">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LoadBalancer</a:t>
              </a:r>
            </a:p>
          </p:txBody>
        </p:sp>
        <p:sp>
          <p:nvSpPr>
            <p:cNvPr id="104" name="Rectangle 103">
              <a:extLst>
                <a:ext uri="{FF2B5EF4-FFF2-40B4-BE49-F238E27FC236}">
                  <a16:creationId xmlns:a16="http://schemas.microsoft.com/office/drawing/2014/main" id="{0BF887A7-16FF-45DC-A4F7-20666E010C43}"/>
                </a:ext>
              </a:extLst>
            </p:cNvPr>
            <p:cNvSpPr/>
            <p:nvPr/>
          </p:nvSpPr>
          <p:spPr bwMode="gray">
            <a:xfrm>
              <a:off x="7918804" y="1876370"/>
              <a:ext cx="748709" cy="369931"/>
            </a:xfrm>
            <a:prstGeom prst="rect">
              <a:avLst/>
            </a:prstGeom>
            <a:solidFill>
              <a:schemeClr val="accent3">
                <a:lumMod val="7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a:solidFill>
                    <a:schemeClr val="bg1"/>
                  </a:solidFill>
                  <a:ea typeface="Arial Unicode MS" pitchFamily="34" charset="-128"/>
                  <a:cs typeface="Arial Unicode MS" pitchFamily="34" charset="-128"/>
                </a:rPr>
                <a:t>443</a:t>
              </a:r>
              <a:endParaRPr kumimoji="0" lang="de-DE"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105" name="Rectangle 104">
              <a:extLst>
                <a:ext uri="{FF2B5EF4-FFF2-40B4-BE49-F238E27FC236}">
                  <a16:creationId xmlns:a16="http://schemas.microsoft.com/office/drawing/2014/main" id="{8A1686FE-4A05-468D-87BB-E47721084ACA}"/>
                </a:ext>
              </a:extLst>
            </p:cNvPr>
            <p:cNvSpPr/>
            <p:nvPr/>
          </p:nvSpPr>
          <p:spPr bwMode="gray">
            <a:xfrm>
              <a:off x="3184075" y="1880541"/>
              <a:ext cx="1711718" cy="365760"/>
            </a:xfrm>
            <a:prstGeom prst="rect">
              <a:avLst/>
            </a:prstGeom>
            <a:solidFill>
              <a:schemeClr val="accent3">
                <a:lumMod val="7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35.65.257.1</a:t>
              </a:r>
            </a:p>
          </p:txBody>
        </p:sp>
      </p:grpSp>
      <p:cxnSp>
        <p:nvCxnSpPr>
          <p:cNvPr id="110" name="Connector: Elbow 109">
            <a:extLst>
              <a:ext uri="{FF2B5EF4-FFF2-40B4-BE49-F238E27FC236}">
                <a16:creationId xmlns:a16="http://schemas.microsoft.com/office/drawing/2014/main" id="{B20B46B9-C075-4288-8EBB-07A4D8194596}"/>
              </a:ext>
            </a:extLst>
          </p:cNvPr>
          <p:cNvCxnSpPr>
            <a:stCxn id="103" idx="2"/>
            <a:endCxn id="81" idx="3"/>
          </p:cNvCxnSpPr>
          <p:nvPr/>
        </p:nvCxnSpPr>
        <p:spPr>
          <a:xfrm rot="5400000">
            <a:off x="3853884" y="1775529"/>
            <a:ext cx="1153103" cy="1950481"/>
          </a:xfrm>
          <a:prstGeom prst="bentConnector2">
            <a:avLst/>
          </a:prstGeom>
          <a:ln w="57150">
            <a:solidFill>
              <a:schemeClr val="accent2"/>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12" name="Connector: Elbow 111">
            <a:extLst>
              <a:ext uri="{FF2B5EF4-FFF2-40B4-BE49-F238E27FC236}">
                <a16:creationId xmlns:a16="http://schemas.microsoft.com/office/drawing/2014/main" id="{057A268E-776E-4AB4-B546-51B0097D06E9}"/>
              </a:ext>
            </a:extLst>
          </p:cNvPr>
          <p:cNvCxnSpPr>
            <a:cxnSpLocks/>
            <a:stCxn id="32" idx="0"/>
            <a:endCxn id="103" idx="3"/>
          </p:cNvCxnSpPr>
          <p:nvPr/>
        </p:nvCxnSpPr>
        <p:spPr>
          <a:xfrm rot="16200000" flipV="1">
            <a:off x="7613358" y="1693117"/>
            <a:ext cx="1454849" cy="1858656"/>
          </a:xfrm>
          <a:prstGeom prst="bentConnector2">
            <a:avLst/>
          </a:prstGeom>
          <a:ln w="57150">
            <a:solidFill>
              <a:schemeClr val="accent2"/>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32" name="Rectangle 31"/>
          <p:cNvSpPr/>
          <p:nvPr/>
        </p:nvSpPr>
        <p:spPr bwMode="gray">
          <a:xfrm>
            <a:off x="8873705" y="3349869"/>
            <a:ext cx="792809" cy="27822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kubelet</a:t>
            </a:r>
            <a:endParaRPr kumimoji="0" lang="de-DE" sz="14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6" name="Rectangle 35"/>
          <p:cNvSpPr/>
          <p:nvPr/>
        </p:nvSpPr>
        <p:spPr bwMode="gray">
          <a:xfrm>
            <a:off x="10145269" y="3349869"/>
            <a:ext cx="792809" cy="27822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proxy</a:t>
            </a:r>
            <a:endParaRPr kumimoji="0" lang="de-DE" sz="14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7" name="Cloud 36"/>
          <p:cNvSpPr/>
          <p:nvPr/>
        </p:nvSpPr>
        <p:spPr bwMode="gray">
          <a:xfrm>
            <a:off x="9577074" y="951796"/>
            <a:ext cx="1929198" cy="830177"/>
          </a:xfrm>
          <a:prstGeom prst="cloud">
            <a:avLst/>
          </a:prstGeom>
          <a:solidFill>
            <a:schemeClr val="accent1"/>
          </a:solidFill>
          <a:ln w="6350" algn="ctr">
            <a:solidFill>
              <a:schemeClr val="accent1"/>
            </a:solidFill>
            <a:miter lim="800000"/>
            <a:headEnd/>
            <a:tailEnd/>
          </a:ln>
          <a:effectLst>
            <a:outerShdw blurRad="76200" dir="18900000" sy="23000" kx="-1200000" algn="bl" rotWithShape="0">
              <a:prstClr val="black">
                <a:alpha val="20000"/>
              </a:prstClr>
            </a:outerShdw>
          </a:effectLst>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60274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5"/>
                                        </p:tgtEl>
                                      </p:cBhvr>
                                    </p:animEffect>
                                    <p:set>
                                      <p:cBhvr>
                                        <p:cTn id="16" dur="1" fill="hold">
                                          <p:stCondLst>
                                            <p:cond delay="499"/>
                                          </p:stCondLst>
                                        </p:cTn>
                                        <p:tgtEl>
                                          <p:spTgt spid="25"/>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60"/>
                                        </p:tgtEl>
                                      </p:cBhvr>
                                    </p:animEffect>
                                    <p:set>
                                      <p:cBhvr>
                                        <p:cTn id="19" dur="1" fill="hold">
                                          <p:stCondLst>
                                            <p:cond delay="499"/>
                                          </p:stCondLst>
                                        </p:cTn>
                                        <p:tgtEl>
                                          <p:spTgt spid="6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3"/>
                                        </p:tgtEl>
                                        <p:attrNameLst>
                                          <p:attrName>style.visibility</p:attrName>
                                        </p:attrNameLst>
                                      </p:cBhvr>
                                      <p:to>
                                        <p:strVal val="visible"/>
                                      </p:to>
                                    </p:set>
                                    <p:animEffect transition="in" filter="fade">
                                      <p:cBhvr>
                                        <p:cTn id="24" dur="500"/>
                                        <p:tgtEl>
                                          <p:spTgt spid="8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fade">
                                      <p:cBhvr>
                                        <p:cTn id="27" dur="500"/>
                                        <p:tgtEl>
                                          <p:spTgt spid="8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fade">
                                      <p:cBhvr>
                                        <p:cTn id="30" dur="500"/>
                                        <p:tgtEl>
                                          <p:spTgt spid="8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fade">
                                      <p:cBhvr>
                                        <p:cTn id="33" dur="500"/>
                                        <p:tgtEl>
                                          <p:spTgt spid="8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fade">
                                      <p:cBhvr>
                                        <p:cTn id="38" dur="500"/>
                                        <p:tgtEl>
                                          <p:spTgt spid="93"/>
                                        </p:tgtEl>
                                      </p:cBhvr>
                                    </p:animEffect>
                                  </p:childTnLst>
                                </p:cTn>
                              </p:par>
                              <p:par>
                                <p:cTn id="39" presetID="10" presetClass="entr" presetSubtype="0" fill="hold" nodeType="withEffect">
                                  <p:stCondLst>
                                    <p:cond delay="0"/>
                                  </p:stCondLst>
                                  <p:childTnLst>
                                    <p:set>
                                      <p:cBhvr>
                                        <p:cTn id="40" dur="1" fill="hold">
                                          <p:stCondLst>
                                            <p:cond delay="0"/>
                                          </p:stCondLst>
                                        </p:cTn>
                                        <p:tgtEl>
                                          <p:spTgt spid="95"/>
                                        </p:tgtEl>
                                        <p:attrNameLst>
                                          <p:attrName>style.visibility</p:attrName>
                                        </p:attrNameLst>
                                      </p:cBhvr>
                                      <p:to>
                                        <p:strVal val="visible"/>
                                      </p:to>
                                    </p:set>
                                    <p:animEffect transition="in" filter="fade">
                                      <p:cBhvr>
                                        <p:cTn id="41" dur="500"/>
                                        <p:tgtEl>
                                          <p:spTgt spid="95"/>
                                        </p:tgtEl>
                                      </p:cBhvr>
                                    </p:animEffect>
                                  </p:childTnLst>
                                </p:cTn>
                              </p:par>
                              <p:par>
                                <p:cTn id="42" presetID="10" presetClass="entr" presetSubtype="0" fill="hold" nodeType="withEffect">
                                  <p:stCondLst>
                                    <p:cond delay="0"/>
                                  </p:stCondLst>
                                  <p:childTnLst>
                                    <p:set>
                                      <p:cBhvr>
                                        <p:cTn id="43" dur="1" fill="hold">
                                          <p:stCondLst>
                                            <p:cond delay="0"/>
                                          </p:stCondLst>
                                        </p:cTn>
                                        <p:tgtEl>
                                          <p:spTgt spid="94"/>
                                        </p:tgtEl>
                                        <p:attrNameLst>
                                          <p:attrName>style.visibility</p:attrName>
                                        </p:attrNameLst>
                                      </p:cBhvr>
                                      <p:to>
                                        <p:strVal val="visible"/>
                                      </p:to>
                                    </p:set>
                                    <p:animEffect transition="in" filter="fade">
                                      <p:cBhvr>
                                        <p:cTn id="44" dur="500"/>
                                        <p:tgtEl>
                                          <p:spTgt spid="9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fade">
                                      <p:cBhvr>
                                        <p:cTn id="49" dur="500"/>
                                        <p:tgtEl>
                                          <p:spTgt spid="9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2"/>
                                        </p:tgtEl>
                                        <p:attrNameLst>
                                          <p:attrName>style.visibility</p:attrName>
                                        </p:attrNameLst>
                                      </p:cBhvr>
                                      <p:to>
                                        <p:strVal val="visible"/>
                                      </p:to>
                                    </p:set>
                                    <p:animEffect transition="in" filter="fade">
                                      <p:cBhvr>
                                        <p:cTn id="54" dur="500"/>
                                        <p:tgtEl>
                                          <p:spTgt spid="102"/>
                                        </p:tgtEl>
                                      </p:cBhvr>
                                    </p:animEffect>
                                  </p:childTnLst>
                                </p:cTn>
                              </p:par>
                              <p:par>
                                <p:cTn id="55" presetID="10" presetClass="entr" presetSubtype="0" fill="hold" nodeType="with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fade">
                                      <p:cBhvr>
                                        <p:cTn id="57" dur="500"/>
                                        <p:tgtEl>
                                          <p:spTgt spid="1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0"/>
                                        </p:tgtEl>
                                        <p:attrNameLst>
                                          <p:attrName>style.visibility</p:attrName>
                                        </p:attrNameLst>
                                      </p:cBhvr>
                                      <p:to>
                                        <p:strVal val="visible"/>
                                      </p:to>
                                    </p:set>
                                    <p:animEffect transition="in" filter="fade">
                                      <p:cBhvr>
                                        <p:cTn id="62" dur="500"/>
                                        <p:tgtEl>
                                          <p:spTgt spid="120"/>
                                        </p:tgtEl>
                                      </p:cBhvr>
                                    </p:animEffect>
                                  </p:childTnLst>
                                </p:cTn>
                              </p:par>
                              <p:par>
                                <p:cTn id="63" presetID="10" presetClass="entr" presetSubtype="0" fill="hold" nodeType="withEffect">
                                  <p:stCondLst>
                                    <p:cond delay="0"/>
                                  </p:stCondLst>
                                  <p:childTnLst>
                                    <p:set>
                                      <p:cBhvr>
                                        <p:cTn id="64" dur="1" fill="hold">
                                          <p:stCondLst>
                                            <p:cond delay="0"/>
                                          </p:stCondLst>
                                        </p:cTn>
                                        <p:tgtEl>
                                          <p:spTgt spid="112"/>
                                        </p:tgtEl>
                                        <p:attrNameLst>
                                          <p:attrName>style.visibility</p:attrName>
                                        </p:attrNameLst>
                                      </p:cBhvr>
                                      <p:to>
                                        <p:strVal val="visible"/>
                                      </p:to>
                                    </p:set>
                                    <p:animEffect transition="in" filter="fade">
                                      <p:cBhvr>
                                        <p:cTn id="65" dur="500"/>
                                        <p:tgtEl>
                                          <p:spTgt spid="11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3" grpId="0" animBg="1"/>
      <p:bldP spid="85" grpId="0" animBg="1"/>
      <p:bldP spid="82" grpId="0" animBg="1"/>
      <p:bldP spid="84" grpId="0" animBg="1"/>
      <p:bldP spid="8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0D3D-A1F4-4A5D-9833-424087ED3E0C}"/>
              </a:ext>
            </a:extLst>
          </p:cNvPr>
          <p:cNvSpPr>
            <a:spLocks noGrp="1"/>
          </p:cNvSpPr>
          <p:nvPr>
            <p:ph type="title"/>
          </p:nvPr>
        </p:nvSpPr>
        <p:spPr/>
        <p:txBody>
          <a:bodyPr/>
          <a:lstStyle/>
          <a:p>
            <a:r>
              <a:rPr lang="en-US" dirty="0"/>
              <a:t>Let’s create a cluster in GCP</a:t>
            </a:r>
            <a:endParaRPr lang="en-DE" dirty="0"/>
          </a:p>
        </p:txBody>
      </p:sp>
      <p:sp>
        <p:nvSpPr>
          <p:cNvPr id="4" name="Rectangle 3">
            <a:extLst>
              <a:ext uri="{FF2B5EF4-FFF2-40B4-BE49-F238E27FC236}">
                <a16:creationId xmlns:a16="http://schemas.microsoft.com/office/drawing/2014/main" id="{F71A5AEC-D63F-4A03-B9BB-7241BE05F1CB}"/>
              </a:ext>
            </a:extLst>
          </p:cNvPr>
          <p:cNvSpPr/>
          <p:nvPr/>
        </p:nvSpPr>
        <p:spPr bwMode="gray">
          <a:xfrm>
            <a:off x="4808002" y="1414311"/>
            <a:ext cx="2720623" cy="4467866"/>
          </a:xfrm>
          <a:prstGeom prst="rect">
            <a:avLst/>
          </a:prstGeom>
          <a:solidFill>
            <a:schemeClr val="accent4">
              <a:lumMod val="40000"/>
              <a:lumOff val="60000"/>
            </a:schemeClr>
          </a:solidFill>
          <a:ln w="6350" algn="ctr">
            <a:solidFill>
              <a:schemeClr val="bg2"/>
            </a:solidFill>
            <a:miter lim="800000"/>
            <a:headEnd/>
            <a:tailEnd/>
          </a:ln>
          <a:effectLst>
            <a:outerShdw blurRad="50800" dist="38100" dir="2700000" algn="tl" rotWithShape="0">
              <a:prstClr val="black">
                <a:alpha val="40000"/>
              </a:prstClr>
            </a:outerShdw>
          </a:effectLst>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Seed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Cluster</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6463C50A-2770-4741-B476-8220DA5A733D}"/>
              </a:ext>
            </a:extLst>
          </p:cNvPr>
          <p:cNvSpPr/>
          <p:nvPr/>
        </p:nvSpPr>
        <p:spPr bwMode="gray">
          <a:xfrm>
            <a:off x="1092396" y="2466974"/>
            <a:ext cx="2720623" cy="3415203"/>
          </a:xfrm>
          <a:prstGeom prst="rect">
            <a:avLst/>
          </a:prstGeom>
          <a:solidFill>
            <a:schemeClr val="accent3">
              <a:lumMod val="20000"/>
              <a:lumOff val="80000"/>
            </a:schemeClr>
          </a:solidFill>
          <a:ln w="6350" algn="ctr">
            <a:solidFill>
              <a:schemeClr val="bg2"/>
            </a:solidFill>
            <a:miter lim="800000"/>
            <a:headEnd/>
            <a:tailEnd/>
          </a:ln>
          <a:effectLst>
            <a:outerShdw blurRad="50800" dist="38100" dir="2700000" algn="tl" rotWithShape="0">
              <a:prstClr val="black">
                <a:alpha val="40000"/>
              </a:prstClr>
            </a:outerShdw>
          </a:effectLst>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Garden</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Cluster</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9" name="Group 8">
            <a:extLst>
              <a:ext uri="{FF2B5EF4-FFF2-40B4-BE49-F238E27FC236}">
                <a16:creationId xmlns:a16="http://schemas.microsoft.com/office/drawing/2014/main" id="{D43D64AD-A6EA-4F30-9B70-79A1F48521FA}"/>
              </a:ext>
            </a:extLst>
          </p:cNvPr>
          <p:cNvGrpSpPr/>
          <p:nvPr/>
        </p:nvGrpSpPr>
        <p:grpSpPr>
          <a:xfrm>
            <a:off x="312269" y="1152892"/>
            <a:ext cx="1953209" cy="1080148"/>
            <a:chOff x="1571744" y="1130079"/>
            <a:chExt cx="1953209" cy="1080148"/>
          </a:xfrm>
        </p:grpSpPr>
        <p:sp>
          <p:nvSpPr>
            <p:cNvPr id="7" name="Speech Bubble: Rectangle 6">
              <a:extLst>
                <a:ext uri="{FF2B5EF4-FFF2-40B4-BE49-F238E27FC236}">
                  <a16:creationId xmlns:a16="http://schemas.microsoft.com/office/drawing/2014/main" id="{19194D39-1AD1-4ED6-9F76-8CE2C18DFA2E}"/>
                </a:ext>
              </a:extLst>
            </p:cNvPr>
            <p:cNvSpPr/>
            <p:nvPr/>
          </p:nvSpPr>
          <p:spPr bwMode="gray">
            <a:xfrm>
              <a:off x="1571744" y="1130079"/>
              <a:ext cx="1953209" cy="1080148"/>
            </a:xfrm>
            <a:prstGeom prst="wedgeRectCallout">
              <a:avLst>
                <a:gd name="adj1" fmla="val 79281"/>
                <a:gd name="adj2" fmla="val 1600"/>
              </a:avLst>
            </a:prstGeom>
            <a:solidFill>
              <a:schemeClr val="bg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Picture 5">
              <a:extLst>
                <a:ext uri="{FF2B5EF4-FFF2-40B4-BE49-F238E27FC236}">
                  <a16:creationId xmlns:a16="http://schemas.microsoft.com/office/drawing/2014/main" id="{D6515616-CFA1-4355-BBFA-58050EC67DD1}"/>
                </a:ext>
              </a:extLst>
            </p:cNvPr>
            <p:cNvPicPr>
              <a:picLocks noChangeAspect="1"/>
            </p:cNvPicPr>
            <p:nvPr/>
          </p:nvPicPr>
          <p:blipFill>
            <a:blip r:embed="rId3"/>
            <a:stretch>
              <a:fillRect/>
            </a:stretch>
          </p:blipFill>
          <p:spPr>
            <a:xfrm>
              <a:off x="1593562" y="1156505"/>
              <a:ext cx="1912159" cy="1028291"/>
            </a:xfrm>
            <a:prstGeom prst="rect">
              <a:avLst/>
            </a:prstGeom>
            <a:ln>
              <a:noFill/>
            </a:ln>
          </p:spPr>
        </p:pic>
      </p:grpSp>
      <p:sp>
        <p:nvSpPr>
          <p:cNvPr id="10" name="Rectangle 9">
            <a:extLst>
              <a:ext uri="{FF2B5EF4-FFF2-40B4-BE49-F238E27FC236}">
                <a16:creationId xmlns:a16="http://schemas.microsoft.com/office/drawing/2014/main" id="{A6C9D1A8-4639-4238-A36D-D246EED2E57D}"/>
              </a:ext>
            </a:extLst>
          </p:cNvPr>
          <p:cNvSpPr/>
          <p:nvPr/>
        </p:nvSpPr>
        <p:spPr bwMode="gray">
          <a:xfrm>
            <a:off x="4920538" y="1552575"/>
            <a:ext cx="2495550" cy="2366380"/>
          </a:xfrm>
          <a:prstGeom prst="rect">
            <a:avLst/>
          </a:prstGeom>
          <a:solidFill>
            <a:schemeClr val="accent1"/>
          </a:solidFill>
          <a:ln w="6350" algn="ctr">
            <a:noFill/>
            <a:miter lim="800000"/>
            <a:headEnd/>
            <a:tailEnd/>
          </a:ln>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n</a:t>
            </a:r>
            <a:r>
              <a:rPr kumimoji="0" lang="en-US" sz="1600" b="0" i="0" u="none" strike="noStrike" kern="0" cap="none" spc="0" normalizeH="0" baseline="0" noProof="0" dirty="0">
                <a:ln>
                  <a:noFill/>
                </a:ln>
                <a:effectLst/>
                <a:uLnTx/>
                <a:uFillTx/>
                <a:ea typeface="Arial Unicode MS" pitchFamily="34" charset="-128"/>
                <a:cs typeface="Arial Unicode MS" pitchFamily="34" charset="-128"/>
              </a:rPr>
              <a:t>s: </a:t>
            </a:r>
            <a:r>
              <a:rPr kumimoji="0" lang="en-US" sz="1600" b="0" i="1" u="none" strike="noStrike" kern="0" cap="none" spc="0" normalizeH="0" baseline="0" noProof="0" dirty="0">
                <a:ln>
                  <a:noFill/>
                </a:ln>
                <a:effectLst/>
                <a:uLnTx/>
                <a:uFillTx/>
                <a:ea typeface="Arial Unicode MS" pitchFamily="34" charset="-128"/>
                <a:cs typeface="Arial Unicode MS" pitchFamily="34" charset="-128"/>
              </a:rPr>
              <a:t>shoot--my-cluster</a:t>
            </a:r>
            <a:endParaRPr kumimoji="0" lang="en-DE" sz="1600" b="0" i="1"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5F9BB7DD-5C33-4155-832B-63EEAF62C1A3}"/>
              </a:ext>
            </a:extLst>
          </p:cNvPr>
          <p:cNvSpPr/>
          <p:nvPr/>
        </p:nvSpPr>
        <p:spPr bwMode="gray">
          <a:xfrm>
            <a:off x="4933259" y="4008237"/>
            <a:ext cx="2495550" cy="401994"/>
          </a:xfrm>
          <a:prstGeom prst="rect">
            <a:avLst/>
          </a:prstGeom>
          <a:solidFill>
            <a:schemeClr val="accent1">
              <a:lumMod val="40000"/>
              <a:lumOff val="60000"/>
            </a:schemeClr>
          </a:solidFill>
          <a:ln w="6350" algn="ctr">
            <a:noFill/>
            <a:miter lim="800000"/>
            <a:headEnd/>
            <a:tailEnd/>
          </a:ln>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solidFill>
                  <a:schemeClr val="bg2">
                    <a:lumMod val="50000"/>
                  </a:schemeClr>
                </a:solidFill>
                <a:ea typeface="Arial Unicode MS" pitchFamily="34" charset="-128"/>
                <a:cs typeface="Arial Unicode MS" pitchFamily="34" charset="-128"/>
              </a:rPr>
              <a:t>n</a:t>
            </a:r>
            <a:r>
              <a:rPr kumimoji="0" lang="en-US" sz="1200" b="0" i="0" u="none" strike="noStrike" kern="0" cap="none" spc="0" normalizeH="0" baseline="0" noProof="0" dirty="0">
                <a:ln>
                  <a:noFill/>
                </a:ln>
                <a:solidFill>
                  <a:schemeClr val="bg2">
                    <a:lumMod val="50000"/>
                  </a:schemeClr>
                </a:solidFill>
                <a:effectLst/>
                <a:uLnTx/>
                <a:uFillTx/>
                <a:ea typeface="Arial Unicode MS" pitchFamily="34" charset="-128"/>
                <a:cs typeface="Arial Unicode MS" pitchFamily="34" charset="-128"/>
              </a:rPr>
              <a:t>s: </a:t>
            </a:r>
            <a:r>
              <a:rPr kumimoji="0" lang="en-US" sz="1200" b="0" i="1" u="none" strike="noStrike" kern="0" cap="none" spc="0" normalizeH="0" baseline="0" noProof="0" dirty="0">
                <a:ln>
                  <a:noFill/>
                </a:ln>
                <a:solidFill>
                  <a:schemeClr val="bg2">
                    <a:lumMod val="50000"/>
                  </a:schemeClr>
                </a:solidFill>
                <a:effectLst/>
                <a:uLnTx/>
                <a:uFillTx/>
                <a:ea typeface="Arial Unicode MS" pitchFamily="34" charset="-128"/>
                <a:cs typeface="Arial Unicode MS" pitchFamily="34" charset="-128"/>
              </a:rPr>
              <a:t>shoot--his-cluster</a:t>
            </a:r>
            <a:endParaRPr kumimoji="0" lang="en-DE" sz="1200" b="0" i="1" u="none" strike="noStrike" kern="0" cap="none" spc="0" normalizeH="0" baseline="0" noProof="0" dirty="0" err="1">
              <a:ln>
                <a:noFill/>
              </a:ln>
              <a:solidFill>
                <a:schemeClr val="bg2">
                  <a:lumMod val="50000"/>
                </a:schemeClr>
              </a:solidFill>
              <a:effectLst/>
              <a:uLnTx/>
              <a:uFillTx/>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5B7E29AF-2A54-41F6-9F34-C6DEC1F79042}"/>
              </a:ext>
            </a:extLst>
          </p:cNvPr>
          <p:cNvSpPr/>
          <p:nvPr/>
        </p:nvSpPr>
        <p:spPr bwMode="gray">
          <a:xfrm>
            <a:off x="4933259" y="4484465"/>
            <a:ext cx="2495550" cy="401994"/>
          </a:xfrm>
          <a:prstGeom prst="rect">
            <a:avLst/>
          </a:prstGeom>
          <a:gradFill>
            <a:gsLst>
              <a:gs pos="30000">
                <a:schemeClr val="accent1">
                  <a:lumMod val="45000"/>
                  <a:lumOff val="55000"/>
                </a:schemeClr>
              </a:gs>
              <a:gs pos="98000">
                <a:schemeClr val="accent4">
                  <a:lumMod val="40000"/>
                  <a:lumOff val="60000"/>
                </a:schemeClr>
              </a:gs>
            </a:gsLst>
            <a:lin ang="5400000" scaled="1"/>
          </a:gradFill>
          <a:ln w="6350" algn="ctr">
            <a:noFill/>
            <a:miter lim="800000"/>
            <a:headEnd/>
            <a:tailEnd/>
          </a:ln>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solidFill>
                  <a:schemeClr val="bg2">
                    <a:lumMod val="75000"/>
                  </a:schemeClr>
                </a:solidFill>
                <a:ea typeface="Arial Unicode MS" pitchFamily="34" charset="-128"/>
                <a:cs typeface="Arial Unicode MS" pitchFamily="34" charset="-128"/>
              </a:rPr>
              <a:t>n</a:t>
            </a:r>
            <a:r>
              <a:rPr kumimoji="0" lang="en-US" sz="1200" b="0" i="0" u="none" strike="noStrike" kern="0" cap="none" spc="0" normalizeH="0" baseline="0" noProof="0" dirty="0">
                <a:ln>
                  <a:noFill/>
                </a:ln>
                <a:solidFill>
                  <a:schemeClr val="bg2">
                    <a:lumMod val="75000"/>
                  </a:schemeClr>
                </a:solidFill>
                <a:effectLst/>
                <a:uLnTx/>
                <a:uFillTx/>
                <a:ea typeface="Arial Unicode MS" pitchFamily="34" charset="-128"/>
                <a:cs typeface="Arial Unicode MS" pitchFamily="34" charset="-128"/>
              </a:rPr>
              <a:t>s: </a:t>
            </a:r>
            <a:r>
              <a:rPr kumimoji="0" lang="en-US" sz="1200" b="0" i="1" u="none" strike="noStrike" kern="0" cap="none" spc="0" normalizeH="0" baseline="0" noProof="0" dirty="0">
                <a:ln>
                  <a:noFill/>
                </a:ln>
                <a:solidFill>
                  <a:schemeClr val="bg2">
                    <a:lumMod val="75000"/>
                  </a:schemeClr>
                </a:solidFill>
                <a:effectLst/>
                <a:uLnTx/>
                <a:uFillTx/>
                <a:ea typeface="Arial Unicode MS" pitchFamily="34" charset="-128"/>
                <a:cs typeface="Arial Unicode MS" pitchFamily="34" charset="-128"/>
              </a:rPr>
              <a:t>shoot--her-cluster</a:t>
            </a:r>
            <a:endParaRPr kumimoji="0" lang="en-DE" sz="1200" b="0" i="1" u="none" strike="noStrike" kern="0" cap="none" spc="0" normalizeH="0" baseline="0" noProof="0" dirty="0" err="1">
              <a:ln>
                <a:noFill/>
              </a:ln>
              <a:solidFill>
                <a:schemeClr val="bg2">
                  <a:lumMod val="75000"/>
                </a:schemeClr>
              </a:solidFill>
              <a:effectLst/>
              <a:uLnTx/>
              <a:uFillTx/>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B8271F0E-CBD6-408D-9AC6-2A5BDD075B66}"/>
              </a:ext>
            </a:extLst>
          </p:cNvPr>
          <p:cNvSpPr/>
          <p:nvPr/>
        </p:nvSpPr>
        <p:spPr bwMode="gray">
          <a:xfrm>
            <a:off x="5061309" y="2784582"/>
            <a:ext cx="2155652" cy="442459"/>
          </a:xfrm>
          <a:prstGeom prst="rect">
            <a:avLst/>
          </a:prstGeom>
          <a:solidFill>
            <a:schemeClr val="accent3">
              <a:lumMod val="50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GCP Extension</a:t>
            </a:r>
          </a:p>
        </p:txBody>
      </p:sp>
      <p:sp>
        <p:nvSpPr>
          <p:cNvPr id="15" name="Rectangle 14">
            <a:extLst>
              <a:ext uri="{FF2B5EF4-FFF2-40B4-BE49-F238E27FC236}">
                <a16:creationId xmlns:a16="http://schemas.microsoft.com/office/drawing/2014/main" id="{2133202D-B870-4158-B92B-048D2EE3A450}"/>
              </a:ext>
            </a:extLst>
          </p:cNvPr>
          <p:cNvSpPr/>
          <p:nvPr/>
        </p:nvSpPr>
        <p:spPr bwMode="gray">
          <a:xfrm>
            <a:off x="5061308" y="3328486"/>
            <a:ext cx="2155652" cy="442459"/>
          </a:xfrm>
          <a:prstGeom prst="rect">
            <a:avLst/>
          </a:prstGeom>
          <a:solidFill>
            <a:schemeClr val="accent3">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MCM</a:t>
            </a:r>
          </a:p>
        </p:txBody>
      </p:sp>
      <p:grpSp>
        <p:nvGrpSpPr>
          <p:cNvPr id="22" name="Group 21">
            <a:extLst>
              <a:ext uri="{FF2B5EF4-FFF2-40B4-BE49-F238E27FC236}">
                <a16:creationId xmlns:a16="http://schemas.microsoft.com/office/drawing/2014/main" id="{882822D1-0090-4489-BB44-D38300C22C64}"/>
              </a:ext>
            </a:extLst>
          </p:cNvPr>
          <p:cNvGrpSpPr/>
          <p:nvPr/>
        </p:nvGrpSpPr>
        <p:grpSpPr>
          <a:xfrm>
            <a:off x="5061309" y="1948400"/>
            <a:ext cx="2155651" cy="706123"/>
            <a:chOff x="4579618" y="2128446"/>
            <a:chExt cx="2155651" cy="706123"/>
          </a:xfrm>
        </p:grpSpPr>
        <p:sp>
          <p:nvSpPr>
            <p:cNvPr id="17" name="Rectangle 16">
              <a:extLst>
                <a:ext uri="{FF2B5EF4-FFF2-40B4-BE49-F238E27FC236}">
                  <a16:creationId xmlns:a16="http://schemas.microsoft.com/office/drawing/2014/main" id="{B6DD931E-03F5-4251-8620-CAAB308D0162}"/>
                </a:ext>
              </a:extLst>
            </p:cNvPr>
            <p:cNvSpPr/>
            <p:nvPr/>
          </p:nvSpPr>
          <p:spPr bwMode="gray">
            <a:xfrm>
              <a:off x="4692154" y="2392110"/>
              <a:ext cx="2043115" cy="442459"/>
            </a:xfrm>
            <a:prstGeom prst="rect">
              <a:avLst/>
            </a:prstGeom>
            <a:solidFill>
              <a:schemeClr val="tx2">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Scheduler</a:t>
              </a:r>
            </a:p>
          </p:txBody>
        </p:sp>
        <p:sp>
          <p:nvSpPr>
            <p:cNvPr id="16" name="Rectangle 15">
              <a:extLst>
                <a:ext uri="{FF2B5EF4-FFF2-40B4-BE49-F238E27FC236}">
                  <a16:creationId xmlns:a16="http://schemas.microsoft.com/office/drawing/2014/main" id="{C59BCEF1-6970-41E6-B25C-BFD1B288CBF4}"/>
                </a:ext>
              </a:extLst>
            </p:cNvPr>
            <p:cNvSpPr/>
            <p:nvPr/>
          </p:nvSpPr>
          <p:spPr bwMode="gray">
            <a:xfrm>
              <a:off x="4635886" y="2260305"/>
              <a:ext cx="2043115" cy="442459"/>
            </a:xfrm>
            <a:prstGeom prst="rect">
              <a:avLst/>
            </a:prstGeom>
            <a:solidFill>
              <a:schemeClr val="tx2">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Scheduler</a:t>
              </a:r>
            </a:p>
          </p:txBody>
        </p:sp>
        <p:sp>
          <p:nvSpPr>
            <p:cNvPr id="13" name="Rectangle 12">
              <a:extLst>
                <a:ext uri="{FF2B5EF4-FFF2-40B4-BE49-F238E27FC236}">
                  <a16:creationId xmlns:a16="http://schemas.microsoft.com/office/drawing/2014/main" id="{77417B5C-9532-4399-B0C2-ED7145AC0C9B}"/>
                </a:ext>
              </a:extLst>
            </p:cNvPr>
            <p:cNvSpPr/>
            <p:nvPr/>
          </p:nvSpPr>
          <p:spPr bwMode="gray">
            <a:xfrm>
              <a:off x="4579618" y="2128446"/>
              <a:ext cx="2043115" cy="442459"/>
            </a:xfrm>
            <a:prstGeom prst="rect">
              <a:avLst/>
            </a:prstGeom>
            <a:solidFill>
              <a:schemeClr val="tx2">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i="0" u="none" strike="noStrike" kern="0" cap="none" spc="0" normalizeH="0" baseline="0" noProof="0" dirty="0">
                  <a:ln>
                    <a:noFill/>
                  </a:ln>
                  <a:solidFill>
                    <a:schemeClr val="bg1">
                      <a:lumMod val="95000"/>
                    </a:schemeClr>
                  </a:solidFill>
                  <a:effectLst/>
                  <a:uLnTx/>
                  <a:uFillTx/>
                  <a:ea typeface="Arial Unicode MS" pitchFamily="34" charset="-128"/>
                  <a:cs typeface="Arial Unicode MS" pitchFamily="34" charset="-128"/>
                </a:rPr>
                <a:t>Control Plane</a:t>
              </a:r>
            </a:p>
          </p:txBody>
        </p:sp>
      </p:grpSp>
      <p:sp>
        <p:nvSpPr>
          <p:cNvPr id="18" name="Rectangle 17">
            <a:extLst>
              <a:ext uri="{FF2B5EF4-FFF2-40B4-BE49-F238E27FC236}">
                <a16:creationId xmlns:a16="http://schemas.microsoft.com/office/drawing/2014/main" id="{A8CBD4D7-4B11-44CB-A434-85B8EA081881}"/>
              </a:ext>
            </a:extLst>
          </p:cNvPr>
          <p:cNvSpPr/>
          <p:nvPr/>
        </p:nvSpPr>
        <p:spPr bwMode="gray">
          <a:xfrm>
            <a:off x="1218266" y="3008677"/>
            <a:ext cx="2468882" cy="442459"/>
          </a:xfrm>
          <a:prstGeom prst="rect">
            <a:avLst/>
          </a:prstGeom>
          <a:solidFill>
            <a:schemeClr val="accent3">
              <a:lumMod val="50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Gardener API Server</a:t>
            </a:r>
          </a:p>
        </p:txBody>
      </p:sp>
      <p:sp>
        <p:nvSpPr>
          <p:cNvPr id="19" name="Rectangle 18">
            <a:extLst>
              <a:ext uri="{FF2B5EF4-FFF2-40B4-BE49-F238E27FC236}">
                <a16:creationId xmlns:a16="http://schemas.microsoft.com/office/drawing/2014/main" id="{6081C99F-94C8-4A5C-891B-A0B3ACBDE2AA}"/>
              </a:ext>
            </a:extLst>
          </p:cNvPr>
          <p:cNvSpPr/>
          <p:nvPr/>
        </p:nvSpPr>
        <p:spPr bwMode="gray">
          <a:xfrm>
            <a:off x="4933259" y="4984979"/>
            <a:ext cx="2482829" cy="442459"/>
          </a:xfrm>
          <a:prstGeom prst="rect">
            <a:avLst/>
          </a:prstGeom>
          <a:solidFill>
            <a:schemeClr val="accent3">
              <a:lumMod val="50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err="1">
                <a:ln>
                  <a:noFill/>
                </a:ln>
                <a:effectLst/>
                <a:uLnTx/>
                <a:uFillTx/>
                <a:ea typeface="Arial Unicode MS" pitchFamily="34" charset="-128"/>
                <a:cs typeface="Arial Unicode MS" pitchFamily="34" charset="-128"/>
              </a:rPr>
              <a:t>gardenlet</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8EC66541-A6CD-4839-B8ED-AF0552CDA980}"/>
              </a:ext>
            </a:extLst>
          </p:cNvPr>
          <p:cNvSpPr/>
          <p:nvPr/>
        </p:nvSpPr>
        <p:spPr bwMode="gray">
          <a:xfrm>
            <a:off x="1288874" y="3678454"/>
            <a:ext cx="2303761" cy="442459"/>
          </a:xfrm>
          <a:prstGeom prst="rect">
            <a:avLst/>
          </a:prstGeom>
          <a:solidFill>
            <a:schemeClr val="accent3">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c</a:t>
            </a:r>
            <a:r>
              <a:rPr kumimoji="0" lang="de-DE" sz="1800" b="1" i="0" u="none" strike="noStrike" kern="0" cap="none" spc="0" normalizeH="0" baseline="0" noProof="0" dirty="0" err="1">
                <a:ln>
                  <a:noFill/>
                </a:ln>
                <a:effectLst/>
                <a:uLnTx/>
                <a:uFillTx/>
                <a:ea typeface="Arial Unicode MS" pitchFamily="34" charset="-128"/>
                <a:cs typeface="Arial Unicode MS" pitchFamily="34" charset="-128"/>
              </a:rPr>
              <a:t>ontroller</a:t>
            </a:r>
            <a:r>
              <a:rPr kumimoji="0" lang="de-DE" sz="1800" b="1" i="0" u="none" strike="noStrike" kern="0" cap="none" spc="0" normalizeH="0" baseline="0" noProof="0" dirty="0">
                <a:ln>
                  <a:noFill/>
                </a:ln>
                <a:effectLst/>
                <a:uLnTx/>
                <a:uFillTx/>
                <a:ea typeface="Arial Unicode MS" pitchFamily="34" charset="-128"/>
                <a:cs typeface="Arial Unicode MS" pitchFamily="34" charset="-128"/>
              </a:rPr>
              <a:t>-manager</a:t>
            </a:r>
          </a:p>
        </p:txBody>
      </p:sp>
      <p:sp>
        <p:nvSpPr>
          <p:cNvPr id="21" name="Rectangle 20">
            <a:extLst>
              <a:ext uri="{FF2B5EF4-FFF2-40B4-BE49-F238E27FC236}">
                <a16:creationId xmlns:a16="http://schemas.microsoft.com/office/drawing/2014/main" id="{E198BF7D-F22A-4B28-B272-12989559D810}"/>
              </a:ext>
            </a:extLst>
          </p:cNvPr>
          <p:cNvSpPr/>
          <p:nvPr/>
        </p:nvSpPr>
        <p:spPr bwMode="gray">
          <a:xfrm>
            <a:off x="1288874" y="4192950"/>
            <a:ext cx="2303761" cy="442459"/>
          </a:xfrm>
          <a:prstGeom prst="rect">
            <a:avLst/>
          </a:prstGeom>
          <a:solidFill>
            <a:schemeClr val="accent3">
              <a:lumMod val="7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err="1">
                <a:ln>
                  <a:noFill/>
                </a:ln>
                <a:effectLst/>
                <a:uLnTx/>
                <a:uFillTx/>
                <a:ea typeface="Arial Unicode MS" pitchFamily="34" charset="-128"/>
                <a:cs typeface="Arial Unicode MS" pitchFamily="34" charset="-128"/>
              </a:rPr>
              <a:t>scheduler</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5" name="Connector: Curved 24">
            <a:extLst>
              <a:ext uri="{FF2B5EF4-FFF2-40B4-BE49-F238E27FC236}">
                <a16:creationId xmlns:a16="http://schemas.microsoft.com/office/drawing/2014/main" id="{683B6F73-A5C2-4C74-9CF8-F99FA63DD051}"/>
              </a:ext>
            </a:extLst>
          </p:cNvPr>
          <p:cNvCxnSpPr>
            <a:cxnSpLocks/>
            <a:stCxn id="19" idx="1"/>
            <a:endCxn id="10" idx="1"/>
          </p:cNvCxnSpPr>
          <p:nvPr/>
        </p:nvCxnSpPr>
        <p:spPr>
          <a:xfrm rot="10800000">
            <a:off x="4920539" y="2735765"/>
            <a:ext cx="12721" cy="2470444"/>
          </a:xfrm>
          <a:prstGeom prst="curvedConnector3">
            <a:avLst>
              <a:gd name="adj1" fmla="val 6982965"/>
            </a:avLst>
          </a:prstGeom>
          <a:ln w="117475">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01D1DB61-0194-455E-BC84-6BF3532F7E08}"/>
              </a:ext>
            </a:extLst>
          </p:cNvPr>
          <p:cNvCxnSpPr>
            <a:cxnSpLocks/>
            <a:stCxn id="14" idx="3"/>
            <a:endCxn id="34" idx="1"/>
          </p:cNvCxnSpPr>
          <p:nvPr/>
        </p:nvCxnSpPr>
        <p:spPr>
          <a:xfrm flipV="1">
            <a:off x="7216961" y="1428188"/>
            <a:ext cx="931662" cy="1577624"/>
          </a:xfrm>
          <a:prstGeom prst="curvedConnector3">
            <a:avLst>
              <a:gd name="adj1" fmla="val 51584"/>
            </a:avLst>
          </a:prstGeom>
          <a:ln w="117475">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7A0B8334-EB8C-4479-88B4-B2442DD10F5F}"/>
              </a:ext>
            </a:extLst>
          </p:cNvPr>
          <p:cNvSpPr/>
          <p:nvPr/>
        </p:nvSpPr>
        <p:spPr bwMode="gray">
          <a:xfrm>
            <a:off x="8523608" y="1414311"/>
            <a:ext cx="2720623" cy="4467866"/>
          </a:xfrm>
          <a:prstGeom prst="rect">
            <a:avLst/>
          </a:prstGeom>
          <a:solidFill>
            <a:schemeClr val="accent5">
              <a:lumMod val="20000"/>
              <a:lumOff val="80000"/>
            </a:schemeClr>
          </a:solidFill>
          <a:ln w="6350" algn="ctr">
            <a:solidFill>
              <a:schemeClr val="bg2"/>
            </a:solidFill>
            <a:miter lim="800000"/>
            <a:headEnd/>
            <a:tailEnd/>
          </a:ln>
          <a:effectLst>
            <a:outerShdw blurRad="50800" dist="38100" dir="2700000" algn="tl" rotWithShape="0">
              <a:prstClr val="black">
                <a:alpha val="40000"/>
              </a:prstClr>
            </a:outerShdw>
          </a:effectLst>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51" name="Group 50">
            <a:extLst>
              <a:ext uri="{FF2B5EF4-FFF2-40B4-BE49-F238E27FC236}">
                <a16:creationId xmlns:a16="http://schemas.microsoft.com/office/drawing/2014/main" id="{DC2543FD-FCEB-4F48-B799-1A3BBB0F3946}"/>
              </a:ext>
            </a:extLst>
          </p:cNvPr>
          <p:cNvGrpSpPr/>
          <p:nvPr/>
        </p:nvGrpSpPr>
        <p:grpSpPr>
          <a:xfrm>
            <a:off x="8148619" y="977489"/>
            <a:ext cx="860552" cy="692664"/>
            <a:chOff x="8148619" y="977489"/>
            <a:chExt cx="860552" cy="692664"/>
          </a:xfrm>
        </p:grpSpPr>
        <p:sp>
          <p:nvSpPr>
            <p:cNvPr id="50" name="Isosceles Triangle 49">
              <a:extLst>
                <a:ext uri="{FF2B5EF4-FFF2-40B4-BE49-F238E27FC236}">
                  <a16:creationId xmlns:a16="http://schemas.microsoft.com/office/drawing/2014/main" id="{40C821AB-F604-43E1-BBA6-E58D5F46ECC0}"/>
                </a:ext>
              </a:extLst>
            </p:cNvPr>
            <p:cNvSpPr/>
            <p:nvPr/>
          </p:nvSpPr>
          <p:spPr bwMode="gray">
            <a:xfrm>
              <a:off x="8183737" y="977489"/>
              <a:ext cx="775126" cy="575085"/>
            </a:xfrm>
            <a:prstGeom prst="triangle">
              <a:avLst>
                <a:gd name="adj" fmla="val 51535"/>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30" name="Graphic 27">
              <a:extLst>
                <a:ext uri="{FF2B5EF4-FFF2-40B4-BE49-F238E27FC236}">
                  <a16:creationId xmlns:a16="http://schemas.microsoft.com/office/drawing/2014/main" id="{FAA91DED-5FFC-471A-A6D3-47861AF37DCF}"/>
                </a:ext>
              </a:extLst>
            </p:cNvPr>
            <p:cNvGrpSpPr/>
            <p:nvPr/>
          </p:nvGrpSpPr>
          <p:grpSpPr>
            <a:xfrm>
              <a:off x="8148619" y="977489"/>
              <a:ext cx="860552" cy="692664"/>
              <a:chOff x="-10" y="2473690"/>
              <a:chExt cx="2260621" cy="1819588"/>
            </a:xfrm>
            <a:solidFill>
              <a:schemeClr val="accent1"/>
            </a:solidFill>
          </p:grpSpPr>
          <p:sp>
            <p:nvSpPr>
              <p:cNvPr id="31" name="Freeform: Shape 30">
                <a:extLst>
                  <a:ext uri="{FF2B5EF4-FFF2-40B4-BE49-F238E27FC236}">
                    <a16:creationId xmlns:a16="http://schemas.microsoft.com/office/drawing/2014/main" id="{C5626115-7BE1-47FF-B59C-F4F0D5C47396}"/>
                  </a:ext>
                </a:extLst>
              </p:cNvPr>
              <p:cNvSpPr/>
              <p:nvPr/>
            </p:nvSpPr>
            <p:spPr>
              <a:xfrm>
                <a:off x="272617" y="2473690"/>
                <a:ext cx="1436905" cy="652023"/>
              </a:xfrm>
              <a:custGeom>
                <a:avLst/>
                <a:gdLst>
                  <a:gd name="connsiteX0" fmla="*/ 1161846 w 1436905"/>
                  <a:gd name="connsiteY0" fmla="*/ 500992 h 652023"/>
                  <a:gd name="connsiteX1" fmla="*/ 1230781 w 1436905"/>
                  <a:gd name="connsiteY1" fmla="*/ 500992 h 652023"/>
                  <a:gd name="connsiteX2" fmla="*/ 1427271 w 1436905"/>
                  <a:gd name="connsiteY2" fmla="*/ 304501 h 652023"/>
                  <a:gd name="connsiteX3" fmla="*/ 1436906 w 1436905"/>
                  <a:gd name="connsiteY3" fmla="*/ 221047 h 652023"/>
                  <a:gd name="connsiteX4" fmla="*/ 190249 w 1436905"/>
                  <a:gd name="connsiteY4" fmla="*/ 298802 h 652023"/>
                  <a:gd name="connsiteX5" fmla="*/ 0 w 1436905"/>
                  <a:gd name="connsiteY5" fmla="*/ 652024 h 652023"/>
                  <a:gd name="connsiteX6" fmla="*/ 68935 w 1436905"/>
                  <a:gd name="connsiteY6" fmla="*/ 647953 h 652023"/>
                  <a:gd name="connsiteX7" fmla="*/ 461916 w 1436905"/>
                  <a:gd name="connsiteY7" fmla="*/ 583089 h 652023"/>
                  <a:gd name="connsiteX8" fmla="*/ 492312 w 1436905"/>
                  <a:gd name="connsiteY8" fmla="*/ 552014 h 652023"/>
                  <a:gd name="connsiteX9" fmla="*/ 1163203 w 1436905"/>
                  <a:gd name="connsiteY9" fmla="*/ 500992 h 652023"/>
                  <a:gd name="connsiteX10" fmla="*/ 1161846 w 1436905"/>
                  <a:gd name="connsiteY10" fmla="*/ 500992 h 65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6905" h="652023">
                    <a:moveTo>
                      <a:pt x="1161846" y="500992"/>
                    </a:moveTo>
                    <a:lnTo>
                      <a:pt x="1230781" y="500992"/>
                    </a:lnTo>
                    <a:lnTo>
                      <a:pt x="1427271" y="304501"/>
                    </a:lnTo>
                    <a:lnTo>
                      <a:pt x="1436906" y="221047"/>
                    </a:lnTo>
                    <a:cubicBezTo>
                      <a:pt x="1071200" y="-101778"/>
                      <a:pt x="513074" y="-66904"/>
                      <a:pt x="190249" y="298802"/>
                    </a:cubicBezTo>
                    <a:cubicBezTo>
                      <a:pt x="100552" y="400304"/>
                      <a:pt x="35553" y="521211"/>
                      <a:pt x="0" y="652024"/>
                    </a:cubicBezTo>
                    <a:cubicBezTo>
                      <a:pt x="21847" y="643068"/>
                      <a:pt x="46137" y="641575"/>
                      <a:pt x="68935" y="647953"/>
                    </a:cubicBezTo>
                    <a:lnTo>
                      <a:pt x="461916" y="583089"/>
                    </a:lnTo>
                    <a:cubicBezTo>
                      <a:pt x="461916" y="583089"/>
                      <a:pt x="481863" y="549979"/>
                      <a:pt x="492312" y="552014"/>
                    </a:cubicBezTo>
                    <a:cubicBezTo>
                      <a:pt x="667091" y="360002"/>
                      <a:pt x="961284" y="337612"/>
                      <a:pt x="1163203" y="500992"/>
                    </a:cubicBezTo>
                    <a:lnTo>
                      <a:pt x="1161846" y="500992"/>
                    </a:lnTo>
                    <a:close/>
                  </a:path>
                </a:pathLst>
              </a:custGeom>
              <a:solidFill>
                <a:srgbClr val="EA4335"/>
              </a:solidFill>
              <a:ln w="1357" cap="flat">
                <a:noFill/>
                <a:prstDash val="solid"/>
                <a:miter/>
              </a:ln>
            </p:spPr>
            <p:txBody>
              <a:bodyPr rtlCol="0" anchor="ctr"/>
              <a:lstStyle/>
              <a:p>
                <a:endParaRPr lang="en-DE"/>
              </a:p>
            </p:txBody>
          </p:sp>
          <p:sp>
            <p:nvSpPr>
              <p:cNvPr id="32" name="Freeform: Shape 31">
                <a:extLst>
                  <a:ext uri="{FF2B5EF4-FFF2-40B4-BE49-F238E27FC236}">
                    <a16:creationId xmlns:a16="http://schemas.microsoft.com/office/drawing/2014/main" id="{01F4BFD2-34F9-41A1-AF86-23BAFBD43E05}"/>
                  </a:ext>
                </a:extLst>
              </p:cNvPr>
              <p:cNvSpPr/>
              <p:nvPr/>
            </p:nvSpPr>
            <p:spPr>
              <a:xfrm>
                <a:off x="1077306" y="2695552"/>
                <a:ext cx="1183304" cy="1597726"/>
              </a:xfrm>
              <a:custGeom>
                <a:avLst/>
                <a:gdLst>
                  <a:gd name="connsiteX0" fmla="*/ 902527 w 1183304"/>
                  <a:gd name="connsiteY0" fmla="*/ 430162 h 1597726"/>
                  <a:gd name="connsiteX1" fmla="*/ 635745 w 1183304"/>
                  <a:gd name="connsiteY1" fmla="*/ 0 h 1597726"/>
                  <a:gd name="connsiteX2" fmla="*/ 360007 w 1183304"/>
                  <a:gd name="connsiteY2" fmla="*/ 275738 h 1597726"/>
                  <a:gd name="connsiteX3" fmla="*/ 539942 w 1183304"/>
                  <a:gd name="connsiteY3" fmla="*/ 664649 h 1597726"/>
                  <a:gd name="connsiteX4" fmla="*/ 539942 w 1183304"/>
                  <a:gd name="connsiteY4" fmla="*/ 713636 h 1597726"/>
                  <a:gd name="connsiteX5" fmla="*/ 785420 w 1183304"/>
                  <a:gd name="connsiteY5" fmla="*/ 959113 h 1597726"/>
                  <a:gd name="connsiteX6" fmla="*/ 539942 w 1183304"/>
                  <a:gd name="connsiteY6" fmla="*/ 1204591 h 1597726"/>
                  <a:gd name="connsiteX7" fmla="*/ 48987 w 1183304"/>
                  <a:gd name="connsiteY7" fmla="*/ 1204591 h 1597726"/>
                  <a:gd name="connsiteX8" fmla="*/ 0 w 1183304"/>
                  <a:gd name="connsiteY8" fmla="*/ 1254256 h 1597726"/>
                  <a:gd name="connsiteX9" fmla="*/ 0 w 1183304"/>
                  <a:gd name="connsiteY9" fmla="*/ 1548721 h 1597726"/>
                  <a:gd name="connsiteX10" fmla="*/ 48987 w 1183304"/>
                  <a:gd name="connsiteY10" fmla="*/ 1597708 h 1597726"/>
                  <a:gd name="connsiteX11" fmla="*/ 539942 w 1183304"/>
                  <a:gd name="connsiteY11" fmla="*/ 1597708 h 1597726"/>
                  <a:gd name="connsiteX12" fmla="*/ 1183286 w 1183304"/>
                  <a:gd name="connsiteY12" fmla="*/ 964270 h 1597726"/>
                  <a:gd name="connsiteX13" fmla="*/ 902527 w 1183304"/>
                  <a:gd name="connsiteY13" fmla="*/ 430162 h 159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3304" h="1597726">
                    <a:moveTo>
                      <a:pt x="902527" y="430162"/>
                    </a:moveTo>
                    <a:cubicBezTo>
                      <a:pt x="857340" y="263797"/>
                      <a:pt x="764658" y="114258"/>
                      <a:pt x="635745" y="0"/>
                    </a:cubicBezTo>
                    <a:lnTo>
                      <a:pt x="360007" y="275738"/>
                    </a:lnTo>
                    <a:cubicBezTo>
                      <a:pt x="476435" y="370862"/>
                      <a:pt x="542792" y="514295"/>
                      <a:pt x="539942" y="664649"/>
                    </a:cubicBezTo>
                    <a:lnTo>
                      <a:pt x="539942" y="713636"/>
                    </a:lnTo>
                    <a:cubicBezTo>
                      <a:pt x="675504" y="713636"/>
                      <a:pt x="785420" y="823551"/>
                      <a:pt x="785420" y="959113"/>
                    </a:cubicBezTo>
                    <a:cubicBezTo>
                      <a:pt x="785420" y="1094675"/>
                      <a:pt x="675504" y="1204591"/>
                      <a:pt x="539942" y="1204591"/>
                    </a:cubicBezTo>
                    <a:lnTo>
                      <a:pt x="48987" y="1204591"/>
                    </a:lnTo>
                    <a:lnTo>
                      <a:pt x="0" y="1254256"/>
                    </a:lnTo>
                    <a:lnTo>
                      <a:pt x="0" y="1548721"/>
                    </a:lnTo>
                    <a:lnTo>
                      <a:pt x="48987" y="1597708"/>
                    </a:lnTo>
                    <a:lnTo>
                      <a:pt x="539942" y="1597708"/>
                    </a:lnTo>
                    <a:cubicBezTo>
                      <a:pt x="892485" y="1600422"/>
                      <a:pt x="1180572" y="1316813"/>
                      <a:pt x="1183286" y="964270"/>
                    </a:cubicBezTo>
                    <a:cubicBezTo>
                      <a:pt x="1184915" y="750138"/>
                      <a:pt x="1079477" y="549848"/>
                      <a:pt x="902527" y="430162"/>
                    </a:cubicBezTo>
                    <a:close/>
                  </a:path>
                </a:pathLst>
              </a:custGeom>
              <a:solidFill>
                <a:srgbClr val="4285F4"/>
              </a:solidFill>
              <a:ln w="1357" cap="flat">
                <a:noFill/>
                <a:prstDash val="solid"/>
                <a:miter/>
              </a:ln>
            </p:spPr>
            <p:txBody>
              <a:bodyPr rtlCol="0" anchor="ctr"/>
              <a:lstStyle/>
              <a:p>
                <a:endParaRPr lang="en-DE"/>
              </a:p>
            </p:txBody>
          </p:sp>
          <p:sp>
            <p:nvSpPr>
              <p:cNvPr id="33" name="Freeform: Shape 32">
                <a:extLst>
                  <a:ext uri="{FF2B5EF4-FFF2-40B4-BE49-F238E27FC236}">
                    <a16:creationId xmlns:a16="http://schemas.microsoft.com/office/drawing/2014/main" id="{02D401C2-47F6-42C2-AC88-BDC5FF8A9937}"/>
                  </a:ext>
                </a:extLst>
              </p:cNvPr>
              <p:cNvSpPr/>
              <p:nvPr/>
            </p:nvSpPr>
            <p:spPr>
              <a:xfrm>
                <a:off x="249277" y="3875038"/>
                <a:ext cx="876337" cy="415107"/>
              </a:xfrm>
              <a:custGeom>
                <a:avLst/>
                <a:gdLst>
                  <a:gd name="connsiteX0" fmla="*/ 385382 w 876337"/>
                  <a:gd name="connsiteY0" fmla="*/ 415100 h 415107"/>
                  <a:gd name="connsiteX1" fmla="*/ 876337 w 876337"/>
                  <a:gd name="connsiteY1" fmla="*/ 415100 h 415107"/>
                  <a:gd name="connsiteX2" fmla="*/ 876337 w 876337"/>
                  <a:gd name="connsiteY2" fmla="*/ 22119 h 415107"/>
                  <a:gd name="connsiteX3" fmla="*/ 385382 w 876337"/>
                  <a:gd name="connsiteY3" fmla="*/ 22119 h 415107"/>
                  <a:gd name="connsiteX4" fmla="*/ 284016 w 876337"/>
                  <a:gd name="connsiteY4" fmla="*/ 0 h 415107"/>
                  <a:gd name="connsiteX5" fmla="*/ 215081 w 876337"/>
                  <a:gd name="connsiteY5" fmla="*/ 21440 h 415107"/>
                  <a:gd name="connsiteX6" fmla="*/ 17234 w 876337"/>
                  <a:gd name="connsiteY6" fmla="*/ 217931 h 415107"/>
                  <a:gd name="connsiteX7" fmla="*/ 0 w 876337"/>
                  <a:gd name="connsiteY7" fmla="*/ 286865 h 415107"/>
                  <a:gd name="connsiteX8" fmla="*/ 385382 w 876337"/>
                  <a:gd name="connsiteY8" fmla="*/ 415100 h 41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337" h="415107">
                    <a:moveTo>
                      <a:pt x="385382" y="415100"/>
                    </a:moveTo>
                    <a:lnTo>
                      <a:pt x="876337" y="415100"/>
                    </a:lnTo>
                    <a:lnTo>
                      <a:pt x="876337" y="22119"/>
                    </a:lnTo>
                    <a:lnTo>
                      <a:pt x="385382" y="22119"/>
                    </a:lnTo>
                    <a:cubicBezTo>
                      <a:pt x="350372" y="22119"/>
                      <a:pt x="315905" y="14520"/>
                      <a:pt x="284016" y="0"/>
                    </a:cubicBezTo>
                    <a:lnTo>
                      <a:pt x="215081" y="21440"/>
                    </a:lnTo>
                    <a:lnTo>
                      <a:pt x="17234" y="217931"/>
                    </a:lnTo>
                    <a:lnTo>
                      <a:pt x="0" y="286865"/>
                    </a:lnTo>
                    <a:cubicBezTo>
                      <a:pt x="110865" y="370727"/>
                      <a:pt x="246292" y="415779"/>
                      <a:pt x="385382" y="415100"/>
                    </a:cubicBezTo>
                    <a:close/>
                  </a:path>
                </a:pathLst>
              </a:custGeom>
              <a:solidFill>
                <a:srgbClr val="34A853"/>
              </a:solidFill>
              <a:ln w="1357" cap="flat">
                <a:noFill/>
                <a:prstDash val="solid"/>
                <a:miter/>
              </a:ln>
            </p:spPr>
            <p:txBody>
              <a:bodyPr rtlCol="0" anchor="ctr"/>
              <a:lstStyle/>
              <a:p>
                <a:endParaRPr lang="en-DE"/>
              </a:p>
            </p:txBody>
          </p:sp>
          <p:sp>
            <p:nvSpPr>
              <p:cNvPr id="34" name="Freeform: Shape 33">
                <a:extLst>
                  <a:ext uri="{FF2B5EF4-FFF2-40B4-BE49-F238E27FC236}">
                    <a16:creationId xmlns:a16="http://schemas.microsoft.com/office/drawing/2014/main" id="{3A25C761-ED9E-459E-BD8E-21431D893973}"/>
                  </a:ext>
                </a:extLst>
              </p:cNvPr>
              <p:cNvSpPr/>
              <p:nvPr/>
            </p:nvSpPr>
            <p:spPr>
              <a:xfrm>
                <a:off x="-10" y="3015386"/>
                <a:ext cx="1143401" cy="1144481"/>
              </a:xfrm>
              <a:custGeom>
                <a:avLst/>
                <a:gdLst>
                  <a:gd name="connsiteX0" fmla="*/ 634670 w 1143401"/>
                  <a:gd name="connsiteY0" fmla="*/ 5 h 1144481"/>
                  <a:gd name="connsiteX1" fmla="*/ 11 w 1143401"/>
                  <a:gd name="connsiteY1" fmla="*/ 642264 h 1144481"/>
                  <a:gd name="connsiteX2" fmla="*/ 249288 w 1143401"/>
                  <a:gd name="connsiteY2" fmla="*/ 1144482 h 1144481"/>
                  <a:gd name="connsiteX3" fmla="*/ 533982 w 1143401"/>
                  <a:gd name="connsiteY3" fmla="*/ 859788 h 1144481"/>
                  <a:gd name="connsiteX4" fmla="*/ 411311 w 1143401"/>
                  <a:gd name="connsiteY4" fmla="*/ 535062 h 1144481"/>
                  <a:gd name="connsiteX5" fmla="*/ 736037 w 1143401"/>
                  <a:gd name="connsiteY5" fmla="*/ 412391 h 1144481"/>
                  <a:gd name="connsiteX6" fmla="*/ 858708 w 1143401"/>
                  <a:gd name="connsiteY6" fmla="*/ 535062 h 1144481"/>
                  <a:gd name="connsiteX7" fmla="*/ 1143402 w 1143401"/>
                  <a:gd name="connsiteY7" fmla="*/ 250368 h 1144481"/>
                  <a:gd name="connsiteX8" fmla="*/ 634670 w 1143401"/>
                  <a:gd name="connsiteY8" fmla="*/ 5 h 114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401" h="1144481">
                    <a:moveTo>
                      <a:pt x="634670" y="5"/>
                    </a:moveTo>
                    <a:cubicBezTo>
                      <a:pt x="281991" y="2041"/>
                      <a:pt x="-2025" y="289585"/>
                      <a:pt x="11" y="642264"/>
                    </a:cubicBezTo>
                    <a:cubicBezTo>
                      <a:pt x="1232" y="839161"/>
                      <a:pt x="93100" y="1024525"/>
                      <a:pt x="249288" y="1144482"/>
                    </a:cubicBezTo>
                    <a:lnTo>
                      <a:pt x="533982" y="859788"/>
                    </a:lnTo>
                    <a:cubicBezTo>
                      <a:pt x="410497" y="804016"/>
                      <a:pt x="355540" y="658547"/>
                      <a:pt x="411311" y="535062"/>
                    </a:cubicBezTo>
                    <a:cubicBezTo>
                      <a:pt x="467083" y="411577"/>
                      <a:pt x="612551" y="356620"/>
                      <a:pt x="736037" y="412391"/>
                    </a:cubicBezTo>
                    <a:cubicBezTo>
                      <a:pt x="790451" y="436953"/>
                      <a:pt x="834010" y="480647"/>
                      <a:pt x="858708" y="535062"/>
                    </a:cubicBezTo>
                    <a:lnTo>
                      <a:pt x="1143402" y="250368"/>
                    </a:lnTo>
                    <a:cubicBezTo>
                      <a:pt x="1022359" y="91873"/>
                      <a:pt x="834010" y="-809"/>
                      <a:pt x="634670" y="5"/>
                    </a:cubicBezTo>
                    <a:close/>
                  </a:path>
                </a:pathLst>
              </a:custGeom>
              <a:solidFill>
                <a:srgbClr val="FBBC05"/>
              </a:solidFill>
              <a:ln w="1357" cap="flat">
                <a:noFill/>
                <a:prstDash val="solid"/>
                <a:miter/>
              </a:ln>
            </p:spPr>
            <p:txBody>
              <a:bodyPr rtlCol="0" anchor="ctr"/>
              <a:lstStyle/>
              <a:p>
                <a:endParaRPr lang="en-DE"/>
              </a:p>
            </p:txBody>
          </p:sp>
        </p:grpSp>
      </p:grpSp>
      <p:cxnSp>
        <p:nvCxnSpPr>
          <p:cNvPr id="53" name="Connector: Curved 52">
            <a:extLst>
              <a:ext uri="{FF2B5EF4-FFF2-40B4-BE49-F238E27FC236}">
                <a16:creationId xmlns:a16="http://schemas.microsoft.com/office/drawing/2014/main" id="{F45EE62D-8195-490E-A179-553B25024FB4}"/>
              </a:ext>
            </a:extLst>
          </p:cNvPr>
          <p:cNvCxnSpPr>
            <a:cxnSpLocks/>
            <a:stCxn id="15" idx="3"/>
            <a:endCxn id="33" idx="0"/>
          </p:cNvCxnSpPr>
          <p:nvPr/>
        </p:nvCxnSpPr>
        <p:spPr>
          <a:xfrm flipV="1">
            <a:off x="7216960" y="1668957"/>
            <a:ext cx="1173259" cy="1880759"/>
          </a:xfrm>
          <a:prstGeom prst="curvedConnector3">
            <a:avLst>
              <a:gd name="adj1" fmla="val 80037"/>
            </a:avLst>
          </a:prstGeom>
          <a:ln w="117475">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66D220B0-7EEF-4389-B62C-EF28C1EE2DBD}"/>
              </a:ext>
            </a:extLst>
          </p:cNvPr>
          <p:cNvSpPr/>
          <p:nvPr/>
        </p:nvSpPr>
        <p:spPr bwMode="gray">
          <a:xfrm>
            <a:off x="9181041" y="2260305"/>
            <a:ext cx="1890300" cy="187736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59" name="Rectangle 58">
            <a:extLst>
              <a:ext uri="{FF2B5EF4-FFF2-40B4-BE49-F238E27FC236}">
                <a16:creationId xmlns:a16="http://schemas.microsoft.com/office/drawing/2014/main" id="{950E24A4-C8AD-49A9-842D-D65625126B8E}"/>
              </a:ext>
            </a:extLst>
          </p:cNvPr>
          <p:cNvSpPr/>
          <p:nvPr/>
        </p:nvSpPr>
        <p:spPr bwMode="gray">
          <a:xfrm>
            <a:off x="8939930" y="2481178"/>
            <a:ext cx="1890300" cy="187736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60" name="Rectangle 59">
            <a:extLst>
              <a:ext uri="{FF2B5EF4-FFF2-40B4-BE49-F238E27FC236}">
                <a16:creationId xmlns:a16="http://schemas.microsoft.com/office/drawing/2014/main" id="{48DA9CF7-DF51-4074-9AEA-8C5941C488E2}"/>
              </a:ext>
            </a:extLst>
          </p:cNvPr>
          <p:cNvSpPr/>
          <p:nvPr/>
        </p:nvSpPr>
        <p:spPr bwMode="gray">
          <a:xfrm>
            <a:off x="8698819" y="2708452"/>
            <a:ext cx="1890300" cy="2048211"/>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Nodes</a:t>
            </a:r>
          </a:p>
        </p:txBody>
      </p:sp>
      <p:sp>
        <p:nvSpPr>
          <p:cNvPr id="62" name="TextBox 61">
            <a:extLst>
              <a:ext uri="{FF2B5EF4-FFF2-40B4-BE49-F238E27FC236}">
                <a16:creationId xmlns:a16="http://schemas.microsoft.com/office/drawing/2014/main" id="{90030B3B-1E63-4144-AE04-18A40732D6A1}"/>
              </a:ext>
            </a:extLst>
          </p:cNvPr>
          <p:cNvSpPr txBox="1"/>
          <p:nvPr/>
        </p:nvSpPr>
        <p:spPr>
          <a:xfrm>
            <a:off x="9159361" y="5530335"/>
            <a:ext cx="1449115"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Shoot</a:t>
            </a:r>
            <a:r>
              <a:rPr lang="en-US" sz="1800" kern="0" dirty="0">
                <a:ea typeface="Arial Unicode MS" pitchFamily="34" charset="-128"/>
                <a:cs typeface="Arial Unicode MS" pitchFamily="34" charset="-128"/>
              </a:rPr>
              <a:t> Cluster</a:t>
            </a:r>
            <a:endParaRPr lang="en-DE" sz="1800" kern="0" dirty="0" err="1">
              <a:ea typeface="Arial Unicode MS" pitchFamily="34" charset="-128"/>
              <a:cs typeface="Arial Unicode MS" pitchFamily="34" charset="-128"/>
            </a:endParaRPr>
          </a:p>
        </p:txBody>
      </p:sp>
      <p:cxnSp>
        <p:nvCxnSpPr>
          <p:cNvPr id="75" name="Connector: Curved 74">
            <a:extLst>
              <a:ext uri="{FF2B5EF4-FFF2-40B4-BE49-F238E27FC236}">
                <a16:creationId xmlns:a16="http://schemas.microsoft.com/office/drawing/2014/main" id="{7A1685F9-A2DC-4962-B796-52D256F99751}"/>
              </a:ext>
            </a:extLst>
          </p:cNvPr>
          <p:cNvCxnSpPr>
            <a:stCxn id="19" idx="1"/>
            <a:endCxn id="18" idx="3"/>
          </p:cNvCxnSpPr>
          <p:nvPr/>
        </p:nvCxnSpPr>
        <p:spPr>
          <a:xfrm rot="10800000">
            <a:off x="3687149" y="3229907"/>
            <a:ext cx="1246111" cy="1976302"/>
          </a:xfrm>
          <a:prstGeom prst="curved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12F9C4A1-F243-415B-B25B-AD0D79CDC007}"/>
              </a:ext>
            </a:extLst>
          </p:cNvPr>
          <p:cNvGrpSpPr/>
          <p:nvPr/>
        </p:nvGrpSpPr>
        <p:grpSpPr>
          <a:xfrm>
            <a:off x="2906022" y="1170863"/>
            <a:ext cx="809259" cy="1044205"/>
            <a:chOff x="2792457" y="1061955"/>
            <a:chExt cx="809259" cy="1044205"/>
          </a:xfrm>
        </p:grpSpPr>
        <p:sp>
          <p:nvSpPr>
            <p:cNvPr id="85" name="Freeform: Shape 84">
              <a:extLst>
                <a:ext uri="{FF2B5EF4-FFF2-40B4-BE49-F238E27FC236}">
                  <a16:creationId xmlns:a16="http://schemas.microsoft.com/office/drawing/2014/main" id="{D7911928-75EA-4204-9831-63F0AF70EF64}"/>
                </a:ext>
              </a:extLst>
            </p:cNvPr>
            <p:cNvSpPr/>
            <p:nvPr/>
          </p:nvSpPr>
          <p:spPr>
            <a:xfrm>
              <a:off x="2792457" y="1061955"/>
              <a:ext cx="809259" cy="1044205"/>
            </a:xfrm>
            <a:custGeom>
              <a:avLst/>
              <a:gdLst>
                <a:gd name="connsiteX0" fmla="*/ 57150 w 590550"/>
                <a:gd name="connsiteY0" fmla="*/ 704850 h 762000"/>
                <a:gd name="connsiteX1" fmla="*/ 57150 w 590550"/>
                <a:gd name="connsiteY1" fmla="*/ 57150 h 762000"/>
                <a:gd name="connsiteX2" fmla="*/ 295275 w 590550"/>
                <a:gd name="connsiteY2" fmla="*/ 57150 h 762000"/>
                <a:gd name="connsiteX3" fmla="*/ 295275 w 590550"/>
                <a:gd name="connsiteY3" fmla="*/ 257175 h 762000"/>
                <a:gd name="connsiteX4" fmla="*/ 533400 w 590550"/>
                <a:gd name="connsiteY4" fmla="*/ 257175 h 762000"/>
                <a:gd name="connsiteX5" fmla="*/ 533400 w 590550"/>
                <a:gd name="connsiteY5" fmla="*/ 704850 h 762000"/>
                <a:gd name="connsiteX6" fmla="*/ 57150 w 590550"/>
                <a:gd name="connsiteY6" fmla="*/ 704850 h 762000"/>
                <a:gd name="connsiteX7" fmla="*/ 352425 w 590550"/>
                <a:gd name="connsiteY7" fmla="*/ 80963 h 762000"/>
                <a:gd name="connsiteX8" fmla="*/ 471488 w 590550"/>
                <a:gd name="connsiteY8" fmla="*/ 200025 h 762000"/>
                <a:gd name="connsiteX9" fmla="*/ 352425 w 590550"/>
                <a:gd name="connsiteY9" fmla="*/ 200025 h 762000"/>
                <a:gd name="connsiteX10" fmla="*/ 352425 w 590550"/>
                <a:gd name="connsiteY10" fmla="*/ 80963 h 762000"/>
                <a:gd name="connsiteX11" fmla="*/ 352425 w 590550"/>
                <a:gd name="connsiteY11" fmla="*/ 0 h 762000"/>
                <a:gd name="connsiteX12" fmla="*/ 0 w 590550"/>
                <a:gd name="connsiteY12" fmla="*/ 0 h 762000"/>
                <a:gd name="connsiteX13" fmla="*/ 0 w 590550"/>
                <a:gd name="connsiteY13" fmla="*/ 762000 h 762000"/>
                <a:gd name="connsiteX14" fmla="*/ 590550 w 590550"/>
                <a:gd name="connsiteY14" fmla="*/ 762000 h 762000"/>
                <a:gd name="connsiteX15" fmla="*/ 590550 w 590550"/>
                <a:gd name="connsiteY15" fmla="*/ 209550 h 762000"/>
                <a:gd name="connsiteX16" fmla="*/ 352425 w 590550"/>
                <a:gd name="connsiteY16"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0550" h="762000">
                  <a:moveTo>
                    <a:pt x="57150" y="704850"/>
                  </a:moveTo>
                  <a:lnTo>
                    <a:pt x="57150" y="57150"/>
                  </a:lnTo>
                  <a:lnTo>
                    <a:pt x="295275" y="57150"/>
                  </a:lnTo>
                  <a:lnTo>
                    <a:pt x="295275" y="257175"/>
                  </a:lnTo>
                  <a:lnTo>
                    <a:pt x="533400" y="257175"/>
                  </a:lnTo>
                  <a:lnTo>
                    <a:pt x="533400" y="704850"/>
                  </a:lnTo>
                  <a:lnTo>
                    <a:pt x="57150" y="704850"/>
                  </a:lnTo>
                  <a:close/>
                  <a:moveTo>
                    <a:pt x="352425" y="80963"/>
                  </a:moveTo>
                  <a:lnTo>
                    <a:pt x="471488" y="200025"/>
                  </a:lnTo>
                  <a:lnTo>
                    <a:pt x="352425" y="200025"/>
                  </a:lnTo>
                  <a:lnTo>
                    <a:pt x="352425" y="80963"/>
                  </a:lnTo>
                  <a:close/>
                  <a:moveTo>
                    <a:pt x="352425" y="0"/>
                  </a:moveTo>
                  <a:lnTo>
                    <a:pt x="0" y="0"/>
                  </a:lnTo>
                  <a:lnTo>
                    <a:pt x="0" y="762000"/>
                  </a:lnTo>
                  <a:lnTo>
                    <a:pt x="590550" y="762000"/>
                  </a:lnTo>
                  <a:lnTo>
                    <a:pt x="590550" y="209550"/>
                  </a:lnTo>
                  <a:lnTo>
                    <a:pt x="352425" y="0"/>
                  </a:lnTo>
                  <a:close/>
                </a:path>
              </a:pathLst>
            </a:custGeom>
            <a:solidFill>
              <a:schemeClr val="accent1"/>
            </a:solidFill>
            <a:ln w="9525" cap="flat">
              <a:solidFill>
                <a:schemeClr val="accent1">
                  <a:lumMod val="20000"/>
                  <a:lumOff val="80000"/>
                </a:schemeClr>
              </a:solidFill>
              <a:prstDash val="solid"/>
              <a:miter/>
            </a:ln>
          </p:spPr>
          <p:txBody>
            <a:bodyPr rtlCol="0" anchor="ctr"/>
            <a:lstStyle/>
            <a:p>
              <a:endParaRPr lang="en-DE"/>
            </a:p>
          </p:txBody>
        </p:sp>
        <p:sp>
          <p:nvSpPr>
            <p:cNvPr id="91" name="TextBox 90">
              <a:extLst>
                <a:ext uri="{FF2B5EF4-FFF2-40B4-BE49-F238E27FC236}">
                  <a16:creationId xmlns:a16="http://schemas.microsoft.com/office/drawing/2014/main" id="{D4187732-5C09-47B3-B30E-0FF8D26A985D}"/>
                </a:ext>
              </a:extLst>
            </p:cNvPr>
            <p:cNvSpPr txBox="1"/>
            <p:nvPr/>
          </p:nvSpPr>
          <p:spPr>
            <a:xfrm>
              <a:off x="2914957" y="1531653"/>
              <a:ext cx="564257"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solidFill>
                    <a:schemeClr val="accent1"/>
                  </a:solidFill>
                  <a:ea typeface="Arial Unicode MS" pitchFamily="34" charset="-128"/>
                  <a:cs typeface="Arial Unicode MS" pitchFamily="34" charset="-128"/>
                </a:rPr>
                <a:t>shoot</a:t>
              </a:r>
              <a:endParaRPr lang="en-DE" sz="1800" kern="0" dirty="0" err="1">
                <a:solidFill>
                  <a:schemeClr val="accent1"/>
                </a:solidFill>
                <a:ea typeface="Arial Unicode MS" pitchFamily="34" charset="-128"/>
                <a:cs typeface="Arial Unicode MS" pitchFamily="34" charset="-128"/>
              </a:endParaRPr>
            </a:p>
          </p:txBody>
        </p:sp>
      </p:grpSp>
      <p:cxnSp>
        <p:nvCxnSpPr>
          <p:cNvPr id="94" name="Straight Arrow Connector 93">
            <a:extLst>
              <a:ext uri="{FF2B5EF4-FFF2-40B4-BE49-F238E27FC236}">
                <a16:creationId xmlns:a16="http://schemas.microsoft.com/office/drawing/2014/main" id="{8805CD65-C2EA-404A-A41C-B0849BE8F94F}"/>
              </a:ext>
            </a:extLst>
          </p:cNvPr>
          <p:cNvCxnSpPr>
            <a:cxnSpLocks/>
          </p:cNvCxnSpPr>
          <p:nvPr/>
        </p:nvCxnSpPr>
        <p:spPr>
          <a:xfrm flipH="1">
            <a:off x="2922911" y="2228286"/>
            <a:ext cx="387740" cy="708354"/>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82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 presetClass="exit" presetSubtype="0" fill="hold" nodeType="withEffect">
                                  <p:stCondLst>
                                    <p:cond delay="0"/>
                                  </p:stCondLst>
                                  <p:childTnLst>
                                    <p:set>
                                      <p:cBhvr>
                                        <p:cTn id="25" dur="1" fill="hold">
                                          <p:stCondLst>
                                            <p:cond delay="0"/>
                                          </p:stCondLst>
                                        </p:cTn>
                                        <p:tgtEl>
                                          <p:spTgt spid="7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1000"/>
                                  </p:stCondLst>
                                  <p:childTnLst>
                                    <p:set>
                                      <p:cBhvr>
                                        <p:cTn id="35" dur="1" fill="hold">
                                          <p:stCondLst>
                                            <p:cond delay="0"/>
                                          </p:stCondLst>
                                        </p:cTn>
                                        <p:tgtEl>
                                          <p:spTgt spid="14"/>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500"/>
                                        <p:tgtEl>
                                          <p:spTgt spid="4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53"/>
                                        </p:tgtEl>
                                        <p:attrNameLst>
                                          <p:attrName>style.visibility</p:attrName>
                                        </p:attrNameLst>
                                      </p:cBhvr>
                                      <p:to>
                                        <p:strVal val="visible"/>
                                      </p:to>
                                    </p:set>
                                  </p:childTnLst>
                                </p:cTn>
                              </p:par>
                            </p:childTnLst>
                          </p:cTn>
                        </p:par>
                        <p:par>
                          <p:cTn id="54" fill="hold">
                            <p:stCondLst>
                              <p:cond delay="0"/>
                            </p:stCondLst>
                            <p:childTnLst>
                              <p:par>
                                <p:cTn id="55" presetID="10" presetClass="entr" presetSubtype="0" fill="hold" grpId="0" nodeType="afterEffect">
                                  <p:stCondLst>
                                    <p:cond delay="100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childTnLst>
                          </p:cTn>
                        </p:par>
                        <p:par>
                          <p:cTn id="58" fill="hold">
                            <p:stCondLst>
                              <p:cond delay="1500"/>
                            </p:stCondLst>
                            <p:childTnLst>
                              <p:par>
                                <p:cTn id="59" presetID="10" presetClass="entr" presetSubtype="0" fill="hold" grpId="0" nodeType="after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500"/>
                                        <p:tgtEl>
                                          <p:spTgt spid="59"/>
                                        </p:tgtEl>
                                      </p:cBhvr>
                                    </p:animEffect>
                                  </p:childTnLst>
                                </p:cTn>
                              </p:par>
                            </p:childTnLst>
                          </p:cTn>
                        </p:par>
                        <p:par>
                          <p:cTn id="62" fill="hold">
                            <p:stCondLst>
                              <p:cond delay="2000"/>
                            </p:stCondLst>
                            <p:childTnLst>
                              <p:par>
                                <p:cTn id="63" presetID="10" presetClass="entr" presetSubtype="0" fill="hold" grpId="0" nodeType="after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fade">
                                      <p:cBhvr>
                                        <p:cTn id="65" dur="500"/>
                                        <p:tgtEl>
                                          <p:spTgt spid="60"/>
                                        </p:tgtEl>
                                      </p:cBhvr>
                                    </p:animEffect>
                                  </p:childTnLst>
                                </p:cTn>
                              </p:par>
                            </p:childTnLst>
                          </p:cTn>
                        </p:par>
                        <p:par>
                          <p:cTn id="66" fill="hold">
                            <p:stCondLst>
                              <p:cond delay="2500"/>
                            </p:stCondLst>
                            <p:childTnLst>
                              <p:par>
                                <p:cTn id="67" presetID="1" presetClass="entr" presetSubtype="0" fill="hold" grpId="0" nodeType="after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14" grpId="0" animBg="1"/>
      <p:bldP spid="15" grpId="0" animBg="1"/>
      <p:bldP spid="19" grpId="0" animBg="1"/>
      <p:bldP spid="48" grpId="0" animBg="1"/>
      <p:bldP spid="58" grpId="0" animBg="1"/>
      <p:bldP spid="59" grpId="0" animBg="1"/>
      <p:bldP spid="60" grpId="0" animBg="1"/>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ardener">
            <a:extLst>
              <a:ext uri="{FF2B5EF4-FFF2-40B4-BE49-F238E27FC236}">
                <a16:creationId xmlns:a16="http://schemas.microsoft.com/office/drawing/2014/main" id="{08BEC154-6AC6-47B1-9FD3-59012142695D}"/>
              </a:ext>
            </a:extLst>
          </p:cNvPr>
          <p:cNvGrpSpPr/>
          <p:nvPr/>
        </p:nvGrpSpPr>
        <p:grpSpPr>
          <a:xfrm>
            <a:off x="5043969" y="87137"/>
            <a:ext cx="1671478" cy="2229353"/>
            <a:chOff x="5042382" y="87136"/>
            <a:chExt cx="1671478" cy="2229353"/>
          </a:xfrm>
        </p:grpSpPr>
        <p:cxnSp>
          <p:nvCxnSpPr>
            <p:cNvPr id="3" name="Straight Connector 2">
              <a:extLst>
                <a:ext uri="{FF2B5EF4-FFF2-40B4-BE49-F238E27FC236}">
                  <a16:creationId xmlns:a16="http://schemas.microsoft.com/office/drawing/2014/main" id="{DA9E7A19-1712-4429-97C3-CAAB486DDE40}"/>
                </a:ext>
              </a:extLst>
            </p:cNvPr>
            <p:cNvCxnSpPr>
              <a:cxnSpLocks/>
              <a:endCxn id="7" idx="6"/>
            </p:cNvCxnSpPr>
            <p:nvPr/>
          </p:nvCxnSpPr>
          <p:spPr>
            <a:xfrm>
              <a:off x="5878129" y="1502678"/>
              <a:ext cx="0" cy="813811"/>
            </a:xfrm>
            <a:prstGeom prst="line">
              <a:avLst/>
            </a:prstGeom>
            <a:ln w="88900">
              <a:solidFill>
                <a:srgbClr val="469F77"/>
              </a:solidFill>
            </a:ln>
          </p:spPr>
          <p:style>
            <a:lnRef idx="1">
              <a:schemeClr val="accent1"/>
            </a:lnRef>
            <a:fillRef idx="0">
              <a:schemeClr val="accent1"/>
            </a:fillRef>
            <a:effectRef idx="0">
              <a:schemeClr val="accent1"/>
            </a:effectRef>
            <a:fontRef idx="minor">
              <a:schemeClr val="tx1"/>
            </a:fontRef>
          </p:style>
        </p:cxnSp>
        <p:pic>
          <p:nvPicPr>
            <p:cNvPr id="4" name="Gardener Logo">
              <a:extLst>
                <a:ext uri="{FF2B5EF4-FFF2-40B4-BE49-F238E27FC236}">
                  <a16:creationId xmlns:a16="http://schemas.microsoft.com/office/drawing/2014/main" id="{22B9BB4D-6157-4603-B729-FB8DA067D0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2382" y="87136"/>
              <a:ext cx="1671478" cy="1671478"/>
            </a:xfrm>
            <a:prstGeom prst="rect">
              <a:avLst/>
            </a:prstGeom>
          </p:spPr>
        </p:pic>
      </p:grpSp>
      <p:pic>
        <p:nvPicPr>
          <p:cNvPr id="5" name="Increase load" descr="Upward trend">
            <a:extLst>
              <a:ext uri="{FF2B5EF4-FFF2-40B4-BE49-F238E27FC236}">
                <a16:creationId xmlns:a16="http://schemas.microsoft.com/office/drawing/2014/main" id="{727C7E44-FB18-4FA2-BBC3-F50AD9A164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3551" y="2643539"/>
            <a:ext cx="914400" cy="914400"/>
          </a:xfrm>
          <a:prstGeom prst="rect">
            <a:avLst/>
          </a:prstGeom>
          <a:effectLst>
            <a:glow>
              <a:schemeClr val="accent1">
                <a:alpha val="40000"/>
              </a:schemeClr>
            </a:glow>
          </a:effectLst>
        </p:spPr>
      </p:pic>
      <p:pic>
        <p:nvPicPr>
          <p:cNvPr id="6" name="Decrease load" descr="Downward trend">
            <a:extLst>
              <a:ext uri="{FF2B5EF4-FFF2-40B4-BE49-F238E27FC236}">
                <a16:creationId xmlns:a16="http://schemas.microsoft.com/office/drawing/2014/main" id="{CB111B27-CB6A-495B-AEB0-F1748BDC44E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43551" y="4360739"/>
            <a:ext cx="914400" cy="914400"/>
          </a:xfrm>
          <a:prstGeom prst="rect">
            <a:avLst/>
          </a:prstGeom>
        </p:spPr>
      </p:pic>
      <p:sp>
        <p:nvSpPr>
          <p:cNvPr id="7" name="Shoot">
            <a:extLst>
              <a:ext uri="{FF2B5EF4-FFF2-40B4-BE49-F238E27FC236}">
                <a16:creationId xmlns:a16="http://schemas.microsoft.com/office/drawing/2014/main" id="{C9697AA6-B8FB-4EFB-B45D-82325AC6629E}"/>
              </a:ext>
            </a:extLst>
          </p:cNvPr>
          <p:cNvSpPr/>
          <p:nvPr/>
        </p:nvSpPr>
        <p:spPr>
          <a:xfrm>
            <a:off x="3719716" y="2316489"/>
            <a:ext cx="4320000" cy="4320000"/>
          </a:xfrm>
          <a:prstGeom prst="heptagon">
            <a:avLst/>
          </a:prstGeom>
          <a:solidFill>
            <a:schemeClr val="bg1"/>
          </a:solidFill>
          <a:ln w="101600">
            <a:solidFill>
              <a:srgbClr val="3A99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Worker 1">
            <a:extLst>
              <a:ext uri="{FF2B5EF4-FFF2-40B4-BE49-F238E27FC236}">
                <a16:creationId xmlns:a16="http://schemas.microsoft.com/office/drawing/2014/main" id="{23CD4513-F30D-4D1A-A072-70CA534F212B}"/>
              </a:ext>
            </a:extLst>
          </p:cNvPr>
          <p:cNvSpPr/>
          <p:nvPr/>
        </p:nvSpPr>
        <p:spPr>
          <a:xfrm>
            <a:off x="5215136" y="3320664"/>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Worker</a:t>
            </a:r>
            <a:br>
              <a:rPr lang="en-US" sz="1600">
                <a:solidFill>
                  <a:schemeClr val="tx1"/>
                </a:solidFill>
              </a:rPr>
            </a:br>
            <a:r>
              <a:rPr lang="en-US" sz="1600">
                <a:solidFill>
                  <a:schemeClr val="tx1"/>
                </a:solidFill>
              </a:rPr>
              <a:t>v1.18</a:t>
            </a:r>
          </a:p>
        </p:txBody>
      </p:sp>
      <p:sp>
        <p:nvSpPr>
          <p:cNvPr id="9" name="Worker 2">
            <a:extLst>
              <a:ext uri="{FF2B5EF4-FFF2-40B4-BE49-F238E27FC236}">
                <a16:creationId xmlns:a16="http://schemas.microsoft.com/office/drawing/2014/main" id="{FDE69A80-7E66-417F-80CE-C07426D3490B}"/>
              </a:ext>
            </a:extLst>
          </p:cNvPr>
          <p:cNvSpPr/>
          <p:nvPr/>
        </p:nvSpPr>
        <p:spPr>
          <a:xfrm>
            <a:off x="4002407" y="4042081"/>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Worker</a:t>
            </a:r>
          </a:p>
          <a:p>
            <a:pPr algn="ctr"/>
            <a:r>
              <a:rPr lang="en-US" sz="1600">
                <a:solidFill>
                  <a:schemeClr val="tx1"/>
                </a:solidFill>
              </a:rPr>
              <a:t>v1.18</a:t>
            </a:r>
          </a:p>
        </p:txBody>
      </p:sp>
      <p:sp>
        <p:nvSpPr>
          <p:cNvPr id="10" name="Worker 3">
            <a:extLst>
              <a:ext uri="{FF2B5EF4-FFF2-40B4-BE49-F238E27FC236}">
                <a16:creationId xmlns:a16="http://schemas.microsoft.com/office/drawing/2014/main" id="{339EC006-DAC9-4528-96D3-2F2271D978A8}"/>
              </a:ext>
            </a:extLst>
          </p:cNvPr>
          <p:cNvSpPr/>
          <p:nvPr/>
        </p:nvSpPr>
        <p:spPr>
          <a:xfrm>
            <a:off x="5215136" y="4845551"/>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Worker</a:t>
            </a:r>
          </a:p>
          <a:p>
            <a:pPr algn="ctr"/>
            <a:r>
              <a:rPr lang="en-US" sz="1600">
                <a:solidFill>
                  <a:schemeClr val="tx1"/>
                </a:solidFill>
              </a:rPr>
              <a:t>v1.18</a:t>
            </a:r>
          </a:p>
        </p:txBody>
      </p:sp>
      <p:sp>
        <p:nvSpPr>
          <p:cNvPr id="11" name="Worker 4">
            <a:extLst>
              <a:ext uri="{FF2B5EF4-FFF2-40B4-BE49-F238E27FC236}">
                <a16:creationId xmlns:a16="http://schemas.microsoft.com/office/drawing/2014/main" id="{1B76A540-CF05-4128-AA97-1E9F5FF71DB6}"/>
              </a:ext>
            </a:extLst>
          </p:cNvPr>
          <p:cNvSpPr/>
          <p:nvPr/>
        </p:nvSpPr>
        <p:spPr>
          <a:xfrm>
            <a:off x="6427865" y="4113699"/>
            <a:ext cx="1329160" cy="1260000"/>
          </a:xfrm>
          <a:prstGeom prst="hexagon">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Worker</a:t>
            </a:r>
            <a:br>
              <a:rPr lang="en-US" sz="1600">
                <a:solidFill>
                  <a:schemeClr val="tx1"/>
                </a:solidFill>
              </a:rPr>
            </a:br>
            <a:r>
              <a:rPr lang="en-US" sz="1600">
                <a:solidFill>
                  <a:schemeClr val="tx1"/>
                </a:solidFill>
              </a:rPr>
              <a:t>v1.18</a:t>
            </a:r>
          </a:p>
        </p:txBody>
      </p:sp>
      <p:pic>
        <p:nvPicPr>
          <p:cNvPr id="12" name="Update">
            <a:extLst>
              <a:ext uri="{FF2B5EF4-FFF2-40B4-BE49-F238E27FC236}">
                <a16:creationId xmlns:a16="http://schemas.microsoft.com/office/drawing/2014/main" id="{A21D453D-0223-4EC0-8B5B-8AE47BC50C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1482" y="2653417"/>
            <a:ext cx="904523" cy="904523"/>
          </a:xfrm>
          <a:prstGeom prst="rect">
            <a:avLst/>
          </a:prstGeom>
        </p:spPr>
      </p:pic>
      <p:sp>
        <p:nvSpPr>
          <p:cNvPr id="13" name="Worker 1 new">
            <a:extLst>
              <a:ext uri="{FF2B5EF4-FFF2-40B4-BE49-F238E27FC236}">
                <a16:creationId xmlns:a16="http://schemas.microsoft.com/office/drawing/2014/main" id="{73ACEBDA-5354-48B4-8AC4-45A6C9210CEA}"/>
              </a:ext>
            </a:extLst>
          </p:cNvPr>
          <p:cNvSpPr/>
          <p:nvPr/>
        </p:nvSpPr>
        <p:spPr>
          <a:xfrm>
            <a:off x="5215128" y="3321983"/>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Worker</a:t>
            </a:r>
            <a:br>
              <a:rPr lang="en-US" sz="1600" dirty="0">
                <a:solidFill>
                  <a:schemeClr val="tx1"/>
                </a:solidFill>
              </a:rPr>
            </a:br>
            <a:r>
              <a:rPr lang="en-US" sz="1600" dirty="0">
                <a:solidFill>
                  <a:schemeClr val="tx1"/>
                </a:solidFill>
              </a:rPr>
              <a:t>v1.1</a:t>
            </a:r>
            <a:r>
              <a:rPr lang="en-US" sz="1600" b="1" dirty="0">
                <a:solidFill>
                  <a:schemeClr val="tx1"/>
                </a:solidFill>
              </a:rPr>
              <a:t>9</a:t>
            </a:r>
          </a:p>
        </p:txBody>
      </p:sp>
      <p:sp>
        <p:nvSpPr>
          <p:cNvPr id="14" name="Worker 2 new">
            <a:extLst>
              <a:ext uri="{FF2B5EF4-FFF2-40B4-BE49-F238E27FC236}">
                <a16:creationId xmlns:a16="http://schemas.microsoft.com/office/drawing/2014/main" id="{E510FC20-09FF-4A19-A855-C0F9C3923B1F}"/>
              </a:ext>
            </a:extLst>
          </p:cNvPr>
          <p:cNvSpPr/>
          <p:nvPr/>
        </p:nvSpPr>
        <p:spPr>
          <a:xfrm>
            <a:off x="3997942" y="4042081"/>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Worker</a:t>
            </a:r>
          </a:p>
          <a:p>
            <a:pPr algn="ctr"/>
            <a:r>
              <a:rPr lang="en-US" sz="1600" dirty="0">
                <a:solidFill>
                  <a:schemeClr val="tx1"/>
                </a:solidFill>
              </a:rPr>
              <a:t>v1.1</a:t>
            </a:r>
            <a:r>
              <a:rPr lang="en-US" sz="1600" b="1" dirty="0">
                <a:solidFill>
                  <a:schemeClr val="tx1"/>
                </a:solidFill>
              </a:rPr>
              <a:t>9</a:t>
            </a:r>
          </a:p>
        </p:txBody>
      </p:sp>
      <p:sp>
        <p:nvSpPr>
          <p:cNvPr id="15" name="Worker 3 new">
            <a:extLst>
              <a:ext uri="{FF2B5EF4-FFF2-40B4-BE49-F238E27FC236}">
                <a16:creationId xmlns:a16="http://schemas.microsoft.com/office/drawing/2014/main" id="{A4FF0D98-6CE0-467F-869B-81CCE6BD81D1}"/>
              </a:ext>
            </a:extLst>
          </p:cNvPr>
          <p:cNvSpPr/>
          <p:nvPr/>
        </p:nvSpPr>
        <p:spPr>
          <a:xfrm>
            <a:off x="5221672" y="4844266"/>
            <a:ext cx="1329160" cy="1260000"/>
          </a:xfrm>
          <a:prstGeom prst="hexagon">
            <a:avLst/>
          </a:prstGeom>
          <a:solidFill>
            <a:srgbClr val="ACD8B7"/>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Worker</a:t>
            </a:r>
          </a:p>
          <a:p>
            <a:pPr algn="ctr"/>
            <a:r>
              <a:rPr lang="en-US" sz="1600" dirty="0">
                <a:solidFill>
                  <a:schemeClr val="tx1"/>
                </a:solidFill>
              </a:rPr>
              <a:t>v1.1</a:t>
            </a:r>
            <a:r>
              <a:rPr lang="en-US" sz="1600" b="1" dirty="0">
                <a:solidFill>
                  <a:schemeClr val="tx1"/>
                </a:solidFill>
              </a:rPr>
              <a:t>9</a:t>
            </a:r>
          </a:p>
        </p:txBody>
      </p:sp>
      <p:pic>
        <p:nvPicPr>
          <p:cNvPr id="16" name="Snooze">
            <a:extLst>
              <a:ext uri="{FF2B5EF4-FFF2-40B4-BE49-F238E27FC236}">
                <a16:creationId xmlns:a16="http://schemas.microsoft.com/office/drawing/2014/main" id="{4165DCF2-A124-4EB8-8DDF-A9B1B3C285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01482" y="4492064"/>
            <a:ext cx="903599" cy="903599"/>
          </a:xfrm>
          <a:prstGeom prst="rect">
            <a:avLst/>
          </a:prstGeom>
        </p:spPr>
      </p:pic>
      <p:pic>
        <p:nvPicPr>
          <p:cNvPr id="17" name="Sleeping">
            <a:extLst>
              <a:ext uri="{FF2B5EF4-FFF2-40B4-BE49-F238E27FC236}">
                <a16:creationId xmlns:a16="http://schemas.microsoft.com/office/drawing/2014/main" id="{70BE903F-15F2-4B08-805A-8B60253041F4}"/>
              </a:ext>
            </a:extLst>
          </p:cNvPr>
          <p:cNvPicPr>
            <a:picLocks noChangeAspect="1"/>
          </p:cNvPicPr>
          <p:nvPr/>
        </p:nvPicPr>
        <p:blipFill>
          <a:blip r:embed="rId13" cstate="print">
            <a:alphaModFix amt="70000"/>
            <a:extLst>
              <a:ext uri="{28A0092B-C50C-407E-A947-70E740481C1C}">
                <a14:useLocalDpi xmlns:a14="http://schemas.microsoft.com/office/drawing/2010/main"/>
              </a:ext>
            </a:extLst>
          </a:blip>
          <a:stretch>
            <a:fillRect/>
          </a:stretch>
        </p:blipFill>
        <p:spPr>
          <a:xfrm>
            <a:off x="5159708" y="3777864"/>
            <a:ext cx="1440000" cy="1440000"/>
          </a:xfrm>
          <a:prstGeom prst="rect">
            <a:avLst/>
          </a:prstGeom>
        </p:spPr>
      </p:pic>
      <p:sp>
        <p:nvSpPr>
          <p:cNvPr id="22" name="Title 1">
            <a:extLst>
              <a:ext uri="{FF2B5EF4-FFF2-40B4-BE49-F238E27FC236}">
                <a16:creationId xmlns:a16="http://schemas.microsoft.com/office/drawing/2014/main" id="{95630788-2183-4BA1-8D31-4F4B6ABB3942}"/>
              </a:ext>
            </a:extLst>
          </p:cNvPr>
          <p:cNvSpPr txBox="1">
            <a:spLocks/>
          </p:cNvSpPr>
          <p:nvPr/>
        </p:nvSpPr>
        <p:spPr>
          <a:xfrm>
            <a:off x="414934" y="498505"/>
            <a:ext cx="11186476" cy="369332"/>
          </a:xfrm>
          <a:prstGeom prst="rect">
            <a:avLst/>
          </a:prstGeom>
        </p:spPr>
        <p:txBody>
          <a:bodyPr anchor="ctr"/>
          <a:lstStyle>
            <a:lvl1pPr algn="l" defTabSz="1088558" rtl="0" eaLnBrk="1" latinLnBrk="0" hangingPunct="1">
              <a:spcBef>
                <a:spcPct val="0"/>
              </a:spcBef>
              <a:buNone/>
              <a:defRPr sz="2400" b="1" kern="1200" baseline="0">
                <a:solidFill>
                  <a:schemeClr val="tx1"/>
                </a:solidFill>
                <a:latin typeface="+mj-lt"/>
                <a:ea typeface="+mj-ea"/>
                <a:cs typeface="+mj-cs"/>
              </a:defRPr>
            </a:lvl1pPr>
          </a:lstStyle>
          <a:p>
            <a:r>
              <a:rPr lang="en-US" dirty="0"/>
              <a:t>Lifecycle Operations</a:t>
            </a:r>
            <a:endParaRPr lang="en-DE" dirty="0"/>
          </a:p>
        </p:txBody>
      </p:sp>
      <p:sp>
        <p:nvSpPr>
          <p:cNvPr id="18" name="TextBox 17">
            <a:extLst>
              <a:ext uri="{FF2B5EF4-FFF2-40B4-BE49-F238E27FC236}">
                <a16:creationId xmlns:a16="http://schemas.microsoft.com/office/drawing/2014/main" id="{D5E317D5-D869-4BC1-A588-79F5FD04B3E3}"/>
              </a:ext>
            </a:extLst>
          </p:cNvPr>
          <p:cNvSpPr txBox="1"/>
          <p:nvPr/>
        </p:nvSpPr>
        <p:spPr>
          <a:xfrm>
            <a:off x="1446726" y="3812164"/>
            <a:ext cx="1308050"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Auto-Scaling</a:t>
            </a:r>
            <a:endParaRPr lang="en-DE" sz="1800" kern="0" dirty="0" err="1">
              <a:ea typeface="Arial Unicode MS" pitchFamily="34" charset="-128"/>
              <a:cs typeface="Arial Unicode MS" pitchFamily="34" charset="-128"/>
            </a:endParaRPr>
          </a:p>
        </p:txBody>
      </p:sp>
      <p:sp>
        <p:nvSpPr>
          <p:cNvPr id="20" name="TextBox 19">
            <a:extLst>
              <a:ext uri="{FF2B5EF4-FFF2-40B4-BE49-F238E27FC236}">
                <a16:creationId xmlns:a16="http://schemas.microsoft.com/office/drawing/2014/main" id="{AC9209AD-42A8-45FF-9EA9-2EFAD812FB8F}"/>
              </a:ext>
            </a:extLst>
          </p:cNvPr>
          <p:cNvSpPr txBox="1"/>
          <p:nvPr/>
        </p:nvSpPr>
        <p:spPr>
          <a:xfrm>
            <a:off x="8402938" y="2264452"/>
            <a:ext cx="2500685"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K8S Patch Management</a:t>
            </a:r>
            <a:endParaRPr lang="en-DE" sz="1800" kern="0" dirty="0" err="1">
              <a:ea typeface="Arial Unicode MS" pitchFamily="34" charset="-128"/>
              <a:cs typeface="Arial Unicode MS" pitchFamily="34" charset="-128"/>
            </a:endParaRPr>
          </a:p>
        </p:txBody>
      </p:sp>
      <p:sp>
        <p:nvSpPr>
          <p:cNvPr id="21" name="TextBox 20">
            <a:extLst>
              <a:ext uri="{FF2B5EF4-FFF2-40B4-BE49-F238E27FC236}">
                <a16:creationId xmlns:a16="http://schemas.microsoft.com/office/drawing/2014/main" id="{61F64552-5334-43FC-9504-A467D49E33B0}"/>
              </a:ext>
            </a:extLst>
          </p:cNvPr>
          <p:cNvSpPr txBox="1"/>
          <p:nvPr/>
        </p:nvSpPr>
        <p:spPr>
          <a:xfrm>
            <a:off x="9063375" y="5474266"/>
            <a:ext cx="1179810"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Hibernation</a:t>
            </a:r>
            <a:endParaRPr lang="en-DE" sz="1800" kern="0" dirty="0" err="1">
              <a:ea typeface="Arial Unicode MS" pitchFamily="34" charset="-128"/>
              <a:cs typeface="Arial Unicode MS" pitchFamily="34" charset="-128"/>
            </a:endParaRPr>
          </a:p>
        </p:txBody>
      </p:sp>
    </p:spTree>
    <p:extLst>
      <p:ext uri="{BB962C8B-B14F-4D97-AF65-F5344CB8AC3E}">
        <p14:creationId xmlns:p14="http://schemas.microsoft.com/office/powerpoint/2010/main" val="59670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xit" presetSubtype="0" accel="50000" fill="hold" grpId="0" nodeType="clickEffect">
                                  <p:stCondLst>
                                    <p:cond delay="0"/>
                                  </p:stCondLst>
                                  <p:childTnLst>
                                    <p:anim calcmode="lin" valueType="num">
                                      <p:cBhvr>
                                        <p:cTn id="6" dur="1000">
                                          <p:stCondLst>
                                            <p:cond delay="0"/>
                                          </p:stCondLst>
                                        </p:cTn>
                                        <p:tgtEl>
                                          <p:spTgt spid="9"/>
                                        </p:tgtEl>
                                        <p:attrNameLst>
                                          <p:attrName>style.rotation</p:attrName>
                                        </p:attrNameLst>
                                      </p:cBhvr>
                                      <p:tavLst>
                                        <p:tav tm="0">
                                          <p:val>
                                            <p:fltVal val="0"/>
                                          </p:val>
                                        </p:tav>
                                        <p:tav tm="100000">
                                          <p:val>
                                            <p:fltVal val="45"/>
                                          </p:val>
                                        </p:tav>
                                      </p:tavLst>
                                    </p:anim>
                                    <p:anim calcmode="lin" valueType="num">
                                      <p:cBhvr>
                                        <p:cTn id="7" dur="1000">
                                          <p:stCondLst>
                                            <p:cond delay="0"/>
                                          </p:stCondLst>
                                        </p:cTn>
                                        <p:tgtEl>
                                          <p:spTgt spid="9"/>
                                        </p:tgtEl>
                                        <p:attrNameLst>
                                          <p:attrName>ppt_y</p:attrName>
                                        </p:attrNameLst>
                                      </p:cBhvr>
                                      <p:tavLst>
                                        <p:tav tm="0">
                                          <p:val>
                                            <p:strVal val="ppt_y"/>
                                          </p:val>
                                        </p:tav>
                                        <p:tav tm="100000">
                                          <p:val>
                                            <p:strVal val="ppt_y+1"/>
                                          </p:val>
                                        </p:tav>
                                      </p:tavLst>
                                    </p:anim>
                                    <p:set>
                                      <p:cBhvr>
                                        <p:cTn id="8" dur="1" fill="hold">
                                          <p:stCondLst>
                                            <p:cond delay="999"/>
                                          </p:stCondLst>
                                        </p:cTn>
                                        <p:tgtEl>
                                          <p:spTgt spid="9"/>
                                        </p:tgtEl>
                                        <p:attrNameLst>
                                          <p:attrName>style.visibility</p:attrName>
                                        </p:attrNameLst>
                                      </p:cBhvr>
                                      <p:to>
                                        <p:strVal val="hidden"/>
                                      </p:to>
                                    </p:set>
                                  </p:childTnLst>
                                </p:cTn>
                              </p:par>
                            </p:childTnLst>
                          </p:cTn>
                        </p:par>
                        <p:par>
                          <p:cTn id="9" fill="hold">
                            <p:stCondLst>
                              <p:cond delay="1000"/>
                            </p:stCondLst>
                            <p:childTnLst>
                              <p:par>
                                <p:cTn id="10" presetID="26" presetClass="emph" presetSubtype="0" fill="hold" grpId="0" nodeType="after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par>
                          <p:cTn id="13" fill="hold">
                            <p:stCondLst>
                              <p:cond delay="1500"/>
                            </p:stCondLst>
                            <p:childTnLst>
                              <p:par>
                                <p:cTn id="14" presetID="2" presetClass="entr" presetSubtype="1" fill="hold" grpId="1" nodeType="afterEffect">
                                  <p:stCondLst>
                                    <p:cond delay="50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par>
                          <p:cTn id="28" fill="hold">
                            <p:stCondLst>
                              <p:cond delay="500"/>
                            </p:stCondLst>
                            <p:childTnLst>
                              <p:par>
                                <p:cTn id="29" presetID="1" presetClass="emph" presetSubtype="2" fill="hold" nodeType="afterEffect">
                                  <p:stCondLst>
                                    <p:cond delay="0"/>
                                  </p:stCondLst>
                                  <p:childTnLst>
                                    <p:animClr clrSpc="rgb" dir="cw">
                                      <p:cBhvr>
                                        <p:cTn id="30" dur="2000" fill="hold"/>
                                        <p:tgtEl>
                                          <p:spTgt spid="8"/>
                                        </p:tgtEl>
                                        <p:attrNameLst>
                                          <p:attrName>fillcolor</p:attrName>
                                        </p:attrNameLst>
                                      </p:cBhvr>
                                      <p:to>
                                        <a:srgbClr val="ED6964"/>
                                      </p:to>
                                    </p:animClr>
                                    <p:set>
                                      <p:cBhvr>
                                        <p:cTn id="31" dur="2000" fill="hold"/>
                                        <p:tgtEl>
                                          <p:spTgt spid="8"/>
                                        </p:tgtEl>
                                        <p:attrNameLst>
                                          <p:attrName>fill.type</p:attrName>
                                        </p:attrNameLst>
                                      </p:cBhvr>
                                      <p:to>
                                        <p:strVal val="solid"/>
                                      </p:to>
                                    </p:set>
                                    <p:set>
                                      <p:cBhvr>
                                        <p:cTn id="32" dur="2000" fill="hold"/>
                                        <p:tgtEl>
                                          <p:spTgt spid="8"/>
                                        </p:tgtEl>
                                        <p:attrNameLst>
                                          <p:attrName>fill.on</p:attrName>
                                        </p:attrNameLst>
                                      </p:cBhvr>
                                      <p:to>
                                        <p:strVal val="true"/>
                                      </p:to>
                                    </p:set>
                                  </p:childTnLst>
                                </p:cTn>
                              </p:par>
                              <p:par>
                                <p:cTn id="33" presetID="1" presetClass="emph" presetSubtype="2" fill="hold" nodeType="withEffect">
                                  <p:stCondLst>
                                    <p:cond delay="0"/>
                                  </p:stCondLst>
                                  <p:childTnLst>
                                    <p:animClr clrSpc="rgb" dir="cw">
                                      <p:cBhvr>
                                        <p:cTn id="34" dur="2000" fill="hold"/>
                                        <p:tgtEl>
                                          <p:spTgt spid="9"/>
                                        </p:tgtEl>
                                        <p:attrNameLst>
                                          <p:attrName>fillcolor</p:attrName>
                                        </p:attrNameLst>
                                      </p:cBhvr>
                                      <p:to>
                                        <a:srgbClr val="ED6964"/>
                                      </p:to>
                                    </p:animClr>
                                    <p:set>
                                      <p:cBhvr>
                                        <p:cTn id="35" dur="2000" fill="hold"/>
                                        <p:tgtEl>
                                          <p:spTgt spid="9"/>
                                        </p:tgtEl>
                                        <p:attrNameLst>
                                          <p:attrName>fill.type</p:attrName>
                                        </p:attrNameLst>
                                      </p:cBhvr>
                                      <p:to>
                                        <p:strVal val="solid"/>
                                      </p:to>
                                    </p:set>
                                    <p:set>
                                      <p:cBhvr>
                                        <p:cTn id="36" dur="2000" fill="hold"/>
                                        <p:tgtEl>
                                          <p:spTgt spid="9"/>
                                        </p:tgtEl>
                                        <p:attrNameLst>
                                          <p:attrName>fill.on</p:attrName>
                                        </p:attrNameLst>
                                      </p:cBhvr>
                                      <p:to>
                                        <p:strVal val="true"/>
                                      </p:to>
                                    </p:set>
                                  </p:childTnLst>
                                </p:cTn>
                              </p:par>
                              <p:par>
                                <p:cTn id="37" presetID="1" presetClass="emph" presetSubtype="2" fill="hold" nodeType="withEffect">
                                  <p:stCondLst>
                                    <p:cond delay="0"/>
                                  </p:stCondLst>
                                  <p:childTnLst>
                                    <p:animClr clrSpc="rgb" dir="cw">
                                      <p:cBhvr>
                                        <p:cTn id="38" dur="2000" fill="hold"/>
                                        <p:tgtEl>
                                          <p:spTgt spid="10"/>
                                        </p:tgtEl>
                                        <p:attrNameLst>
                                          <p:attrName>fillcolor</p:attrName>
                                        </p:attrNameLst>
                                      </p:cBhvr>
                                      <p:to>
                                        <a:srgbClr val="ED6964"/>
                                      </p:to>
                                    </p:animClr>
                                    <p:set>
                                      <p:cBhvr>
                                        <p:cTn id="39" dur="2000" fill="hold"/>
                                        <p:tgtEl>
                                          <p:spTgt spid="10"/>
                                        </p:tgtEl>
                                        <p:attrNameLst>
                                          <p:attrName>fill.type</p:attrName>
                                        </p:attrNameLst>
                                      </p:cBhvr>
                                      <p:to>
                                        <p:strVal val="solid"/>
                                      </p:to>
                                    </p:set>
                                    <p:set>
                                      <p:cBhvr>
                                        <p:cTn id="40" dur="2000" fill="hold"/>
                                        <p:tgtEl>
                                          <p:spTgt spid="10"/>
                                        </p:tgtEl>
                                        <p:attrNameLst>
                                          <p:attrName>fill.on</p:attrName>
                                        </p:attrNameLst>
                                      </p:cBhvr>
                                      <p:to>
                                        <p:strVal val="true"/>
                                      </p:to>
                                    </p:set>
                                  </p:childTnLst>
                                </p:cTn>
                              </p:par>
                            </p:childTnLst>
                          </p:cTn>
                        </p:par>
                        <p:par>
                          <p:cTn id="41" fill="hold">
                            <p:stCondLst>
                              <p:cond delay="2500"/>
                            </p:stCondLst>
                            <p:childTnLst>
                              <p:par>
                                <p:cTn id="42" presetID="2" presetClass="entr" presetSubtype="1"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0-#ppt_h/2"/>
                                          </p:val>
                                        </p:tav>
                                        <p:tav tm="100000">
                                          <p:val>
                                            <p:strVal val="#ppt_y"/>
                                          </p:val>
                                        </p:tav>
                                      </p:tavLst>
                                    </p:anim>
                                  </p:childTnLst>
                                </p:cTn>
                              </p:par>
                            </p:childTnLst>
                          </p:cTn>
                        </p:par>
                        <p:par>
                          <p:cTn id="46" fill="hold">
                            <p:stCondLst>
                              <p:cond delay="3000"/>
                            </p:stCondLst>
                            <p:childTnLst>
                              <p:par>
                                <p:cTn id="47" presetID="1" presetClass="emph" presetSubtype="2" fill="hold" nodeType="afterEffect">
                                  <p:stCondLst>
                                    <p:cond delay="0"/>
                                  </p:stCondLst>
                                  <p:childTnLst>
                                    <p:animClr clrSpc="rgb" dir="cw">
                                      <p:cBhvr>
                                        <p:cTn id="48" dur="2000" fill="hold"/>
                                        <p:tgtEl>
                                          <p:spTgt spid="8"/>
                                        </p:tgtEl>
                                        <p:attrNameLst>
                                          <p:attrName>fillcolor</p:attrName>
                                        </p:attrNameLst>
                                      </p:cBhvr>
                                      <p:to>
                                        <a:srgbClr val="AED8B9"/>
                                      </p:to>
                                    </p:animClr>
                                    <p:set>
                                      <p:cBhvr>
                                        <p:cTn id="49" dur="2000" fill="hold"/>
                                        <p:tgtEl>
                                          <p:spTgt spid="8"/>
                                        </p:tgtEl>
                                        <p:attrNameLst>
                                          <p:attrName>fill.type</p:attrName>
                                        </p:attrNameLst>
                                      </p:cBhvr>
                                      <p:to>
                                        <p:strVal val="solid"/>
                                      </p:to>
                                    </p:set>
                                    <p:set>
                                      <p:cBhvr>
                                        <p:cTn id="50" dur="2000" fill="hold"/>
                                        <p:tgtEl>
                                          <p:spTgt spid="8"/>
                                        </p:tgtEl>
                                        <p:attrNameLst>
                                          <p:attrName>fill.on</p:attrName>
                                        </p:attrNameLst>
                                      </p:cBhvr>
                                      <p:to>
                                        <p:strVal val="true"/>
                                      </p:to>
                                    </p:set>
                                  </p:childTnLst>
                                </p:cTn>
                              </p:par>
                              <p:par>
                                <p:cTn id="51" presetID="1" presetClass="emph" presetSubtype="2" fill="hold" nodeType="withEffect">
                                  <p:stCondLst>
                                    <p:cond delay="0"/>
                                  </p:stCondLst>
                                  <p:childTnLst>
                                    <p:animClr clrSpc="rgb" dir="cw">
                                      <p:cBhvr>
                                        <p:cTn id="52" dur="2000" fill="hold"/>
                                        <p:tgtEl>
                                          <p:spTgt spid="9"/>
                                        </p:tgtEl>
                                        <p:attrNameLst>
                                          <p:attrName>fillcolor</p:attrName>
                                        </p:attrNameLst>
                                      </p:cBhvr>
                                      <p:to>
                                        <a:srgbClr val="AED8B9"/>
                                      </p:to>
                                    </p:animClr>
                                    <p:set>
                                      <p:cBhvr>
                                        <p:cTn id="53" dur="2000" fill="hold"/>
                                        <p:tgtEl>
                                          <p:spTgt spid="9"/>
                                        </p:tgtEl>
                                        <p:attrNameLst>
                                          <p:attrName>fill.type</p:attrName>
                                        </p:attrNameLst>
                                      </p:cBhvr>
                                      <p:to>
                                        <p:strVal val="solid"/>
                                      </p:to>
                                    </p:set>
                                    <p:set>
                                      <p:cBhvr>
                                        <p:cTn id="54" dur="2000" fill="hold"/>
                                        <p:tgtEl>
                                          <p:spTgt spid="9"/>
                                        </p:tgtEl>
                                        <p:attrNameLst>
                                          <p:attrName>fill.on</p:attrName>
                                        </p:attrNameLst>
                                      </p:cBhvr>
                                      <p:to>
                                        <p:strVal val="true"/>
                                      </p:to>
                                    </p:set>
                                  </p:childTnLst>
                                </p:cTn>
                              </p:par>
                              <p:par>
                                <p:cTn id="55" presetID="1" presetClass="emph" presetSubtype="2" fill="hold" nodeType="withEffect">
                                  <p:stCondLst>
                                    <p:cond delay="0"/>
                                  </p:stCondLst>
                                  <p:childTnLst>
                                    <p:animClr clrSpc="rgb" dir="cw">
                                      <p:cBhvr>
                                        <p:cTn id="56" dur="2000" fill="hold"/>
                                        <p:tgtEl>
                                          <p:spTgt spid="10"/>
                                        </p:tgtEl>
                                        <p:attrNameLst>
                                          <p:attrName>fillcolor</p:attrName>
                                        </p:attrNameLst>
                                      </p:cBhvr>
                                      <p:to>
                                        <a:srgbClr val="AED8B9"/>
                                      </p:to>
                                    </p:animClr>
                                    <p:set>
                                      <p:cBhvr>
                                        <p:cTn id="57" dur="2000" fill="hold"/>
                                        <p:tgtEl>
                                          <p:spTgt spid="10"/>
                                        </p:tgtEl>
                                        <p:attrNameLst>
                                          <p:attrName>fill.type</p:attrName>
                                        </p:attrNameLst>
                                      </p:cBhvr>
                                      <p:to>
                                        <p:strVal val="solid"/>
                                      </p:to>
                                    </p:set>
                                    <p:set>
                                      <p:cBhvr>
                                        <p:cTn id="58" dur="2000" fill="hold"/>
                                        <p:tgtEl>
                                          <p:spTgt spid="10"/>
                                        </p:tgtEl>
                                        <p:attrNameLst>
                                          <p:attrName>fill.on</p:attrName>
                                        </p:attrNameLst>
                                      </p:cBhvr>
                                      <p:to>
                                        <p:strVal val="true"/>
                                      </p:to>
                                    </p:set>
                                  </p:childTnLst>
                                </p:cTn>
                              </p:par>
                              <p:par>
                                <p:cTn id="59" presetID="1" presetClass="emph" presetSubtype="2" fill="hold" nodeType="withEffect">
                                  <p:stCondLst>
                                    <p:cond delay="0"/>
                                  </p:stCondLst>
                                  <p:childTnLst>
                                    <p:animClr clrSpc="rgb" dir="cw">
                                      <p:cBhvr>
                                        <p:cTn id="60" dur="2000" fill="hold"/>
                                        <p:tgtEl>
                                          <p:spTgt spid="11"/>
                                        </p:tgtEl>
                                        <p:attrNameLst>
                                          <p:attrName>fillcolor</p:attrName>
                                        </p:attrNameLst>
                                      </p:cBhvr>
                                      <p:to>
                                        <a:srgbClr val="AED8B9"/>
                                      </p:to>
                                    </p:animClr>
                                    <p:set>
                                      <p:cBhvr>
                                        <p:cTn id="61" dur="2000" fill="hold"/>
                                        <p:tgtEl>
                                          <p:spTgt spid="11"/>
                                        </p:tgtEl>
                                        <p:attrNameLst>
                                          <p:attrName>fill.type</p:attrName>
                                        </p:attrNameLst>
                                      </p:cBhvr>
                                      <p:to>
                                        <p:strVal val="solid"/>
                                      </p:to>
                                    </p:set>
                                    <p:set>
                                      <p:cBhvr>
                                        <p:cTn id="62" dur="2000" fill="hold"/>
                                        <p:tgtEl>
                                          <p:spTgt spid="11"/>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anim calcmode="lin" valueType="num">
                                      <p:cBhvr>
                                        <p:cTn id="67" dur="500" fill="hold"/>
                                        <p:tgtEl>
                                          <p:spTgt spid="6"/>
                                        </p:tgtEl>
                                        <p:attrNameLst>
                                          <p:attrName>ppt_w</p:attrName>
                                        </p:attrNameLst>
                                      </p:cBhvr>
                                      <p:tavLst>
                                        <p:tav tm="0">
                                          <p:val>
                                            <p:fltVal val="0"/>
                                          </p:val>
                                        </p:tav>
                                        <p:tav tm="100000">
                                          <p:val>
                                            <p:strVal val="#ppt_w"/>
                                          </p:val>
                                        </p:tav>
                                      </p:tavLst>
                                    </p:anim>
                                    <p:anim calcmode="lin" valueType="num">
                                      <p:cBhvr>
                                        <p:cTn id="68" dur="500" fill="hold"/>
                                        <p:tgtEl>
                                          <p:spTgt spid="6"/>
                                        </p:tgtEl>
                                        <p:attrNameLst>
                                          <p:attrName>ppt_h</p:attrName>
                                        </p:attrNameLst>
                                      </p:cBhvr>
                                      <p:tavLst>
                                        <p:tav tm="0">
                                          <p:val>
                                            <p:fltVal val="0"/>
                                          </p:val>
                                        </p:tav>
                                        <p:tav tm="100000">
                                          <p:val>
                                            <p:strVal val="#ppt_h"/>
                                          </p:val>
                                        </p:tav>
                                      </p:tavLst>
                                    </p:anim>
                                    <p:animEffect transition="in" filter="fade">
                                      <p:cBhvr>
                                        <p:cTn id="69" dur="500"/>
                                        <p:tgtEl>
                                          <p:spTgt spid="6"/>
                                        </p:tgtEl>
                                      </p:cBhvr>
                                    </p:animEffect>
                                  </p:childTnLst>
                                </p:cTn>
                              </p:par>
                            </p:childTnLst>
                          </p:cTn>
                        </p:par>
                        <p:par>
                          <p:cTn id="70" fill="hold">
                            <p:stCondLst>
                              <p:cond delay="500"/>
                            </p:stCondLst>
                            <p:childTnLst>
                              <p:par>
                                <p:cTn id="71" presetID="1" presetClass="emph" presetSubtype="2" fill="hold" nodeType="afterEffect">
                                  <p:stCondLst>
                                    <p:cond delay="0"/>
                                  </p:stCondLst>
                                  <p:childTnLst>
                                    <p:animClr clrSpc="rgb" dir="cw">
                                      <p:cBhvr>
                                        <p:cTn id="72" dur="2000" fill="hold"/>
                                        <p:tgtEl>
                                          <p:spTgt spid="11"/>
                                        </p:tgtEl>
                                        <p:attrNameLst>
                                          <p:attrName>fillcolor</p:attrName>
                                        </p:attrNameLst>
                                      </p:cBhvr>
                                      <p:to>
                                        <a:srgbClr val="B7E7FF"/>
                                      </p:to>
                                    </p:animClr>
                                    <p:set>
                                      <p:cBhvr>
                                        <p:cTn id="73" dur="2000" fill="hold"/>
                                        <p:tgtEl>
                                          <p:spTgt spid="11"/>
                                        </p:tgtEl>
                                        <p:attrNameLst>
                                          <p:attrName>fill.type</p:attrName>
                                        </p:attrNameLst>
                                      </p:cBhvr>
                                      <p:to>
                                        <p:strVal val="solid"/>
                                      </p:to>
                                    </p:set>
                                    <p:set>
                                      <p:cBhvr>
                                        <p:cTn id="74" dur="2000" fill="hold"/>
                                        <p:tgtEl>
                                          <p:spTgt spid="11"/>
                                        </p:tgtEl>
                                        <p:attrNameLst>
                                          <p:attrName>fill.on</p:attrName>
                                        </p:attrNameLst>
                                      </p:cBhvr>
                                      <p:to>
                                        <p:strVal val="true"/>
                                      </p:to>
                                    </p:set>
                                  </p:childTnLst>
                                </p:cTn>
                              </p:par>
                              <p:par>
                                <p:cTn id="75" presetID="1" presetClass="emph" presetSubtype="2" fill="hold" nodeType="withEffect">
                                  <p:stCondLst>
                                    <p:cond delay="0"/>
                                  </p:stCondLst>
                                  <p:childTnLst>
                                    <p:animClr clrSpc="rgb" dir="cw">
                                      <p:cBhvr>
                                        <p:cTn id="76" dur="2000" fill="hold"/>
                                        <p:tgtEl>
                                          <p:spTgt spid="10"/>
                                        </p:tgtEl>
                                        <p:attrNameLst>
                                          <p:attrName>fillcolor</p:attrName>
                                        </p:attrNameLst>
                                      </p:cBhvr>
                                      <p:to>
                                        <a:srgbClr val="B7E7FF"/>
                                      </p:to>
                                    </p:animClr>
                                    <p:set>
                                      <p:cBhvr>
                                        <p:cTn id="77" dur="2000" fill="hold"/>
                                        <p:tgtEl>
                                          <p:spTgt spid="10"/>
                                        </p:tgtEl>
                                        <p:attrNameLst>
                                          <p:attrName>fill.type</p:attrName>
                                        </p:attrNameLst>
                                      </p:cBhvr>
                                      <p:to>
                                        <p:strVal val="solid"/>
                                      </p:to>
                                    </p:set>
                                    <p:set>
                                      <p:cBhvr>
                                        <p:cTn id="78" dur="2000" fill="hold"/>
                                        <p:tgtEl>
                                          <p:spTgt spid="10"/>
                                        </p:tgtEl>
                                        <p:attrNameLst>
                                          <p:attrName>fill.on</p:attrName>
                                        </p:attrNameLst>
                                      </p:cBhvr>
                                      <p:to>
                                        <p:strVal val="true"/>
                                      </p:to>
                                    </p:set>
                                  </p:childTnLst>
                                </p:cTn>
                              </p:par>
                              <p:par>
                                <p:cTn id="79" presetID="1" presetClass="emph" presetSubtype="2" fill="hold" nodeType="withEffect">
                                  <p:stCondLst>
                                    <p:cond delay="0"/>
                                  </p:stCondLst>
                                  <p:childTnLst>
                                    <p:animClr clrSpc="rgb" dir="cw">
                                      <p:cBhvr>
                                        <p:cTn id="80" dur="2000" fill="hold"/>
                                        <p:tgtEl>
                                          <p:spTgt spid="9"/>
                                        </p:tgtEl>
                                        <p:attrNameLst>
                                          <p:attrName>fillcolor</p:attrName>
                                        </p:attrNameLst>
                                      </p:cBhvr>
                                      <p:to>
                                        <a:srgbClr val="B7E7FF"/>
                                      </p:to>
                                    </p:animClr>
                                    <p:set>
                                      <p:cBhvr>
                                        <p:cTn id="81" dur="2000" fill="hold"/>
                                        <p:tgtEl>
                                          <p:spTgt spid="9"/>
                                        </p:tgtEl>
                                        <p:attrNameLst>
                                          <p:attrName>fill.type</p:attrName>
                                        </p:attrNameLst>
                                      </p:cBhvr>
                                      <p:to>
                                        <p:strVal val="solid"/>
                                      </p:to>
                                    </p:set>
                                    <p:set>
                                      <p:cBhvr>
                                        <p:cTn id="82" dur="2000" fill="hold"/>
                                        <p:tgtEl>
                                          <p:spTgt spid="9"/>
                                        </p:tgtEl>
                                        <p:attrNameLst>
                                          <p:attrName>fill.on</p:attrName>
                                        </p:attrNameLst>
                                      </p:cBhvr>
                                      <p:to>
                                        <p:strVal val="true"/>
                                      </p:to>
                                    </p:set>
                                  </p:childTnLst>
                                </p:cTn>
                              </p:par>
                              <p:par>
                                <p:cTn id="83" presetID="1" presetClass="emph" presetSubtype="2" fill="hold" nodeType="withEffect">
                                  <p:stCondLst>
                                    <p:cond delay="0"/>
                                  </p:stCondLst>
                                  <p:childTnLst>
                                    <p:animClr clrSpc="rgb" dir="cw">
                                      <p:cBhvr>
                                        <p:cTn id="84" dur="2000" fill="hold"/>
                                        <p:tgtEl>
                                          <p:spTgt spid="8"/>
                                        </p:tgtEl>
                                        <p:attrNameLst>
                                          <p:attrName>fillcolor</p:attrName>
                                        </p:attrNameLst>
                                      </p:cBhvr>
                                      <p:to>
                                        <a:srgbClr val="B7E7FF"/>
                                      </p:to>
                                    </p:animClr>
                                    <p:set>
                                      <p:cBhvr>
                                        <p:cTn id="85" dur="2000" fill="hold"/>
                                        <p:tgtEl>
                                          <p:spTgt spid="8"/>
                                        </p:tgtEl>
                                        <p:attrNameLst>
                                          <p:attrName>fill.type</p:attrName>
                                        </p:attrNameLst>
                                      </p:cBhvr>
                                      <p:to>
                                        <p:strVal val="solid"/>
                                      </p:to>
                                    </p:set>
                                    <p:set>
                                      <p:cBhvr>
                                        <p:cTn id="86" dur="2000" fill="hold"/>
                                        <p:tgtEl>
                                          <p:spTgt spid="8"/>
                                        </p:tgtEl>
                                        <p:attrNameLst>
                                          <p:attrName>fill.on</p:attrName>
                                        </p:attrNameLst>
                                      </p:cBhvr>
                                      <p:to>
                                        <p:strVal val="true"/>
                                      </p:to>
                                    </p:set>
                                  </p:childTnLst>
                                </p:cTn>
                              </p:par>
                            </p:childTnLst>
                          </p:cTn>
                        </p:par>
                        <p:par>
                          <p:cTn id="87" fill="hold">
                            <p:stCondLst>
                              <p:cond delay="2500"/>
                            </p:stCondLst>
                            <p:childTnLst>
                              <p:par>
                                <p:cTn id="88" presetID="2" presetClass="exit" presetSubtype="1" fill="hold" grpId="1" nodeType="afterEffect">
                                  <p:stCondLst>
                                    <p:cond delay="0"/>
                                  </p:stCondLst>
                                  <p:childTnLst>
                                    <p:anim calcmode="lin" valueType="num">
                                      <p:cBhvr additive="base">
                                        <p:cTn id="89" dur="500"/>
                                        <p:tgtEl>
                                          <p:spTgt spid="11"/>
                                        </p:tgtEl>
                                        <p:attrNameLst>
                                          <p:attrName>ppt_x</p:attrName>
                                        </p:attrNameLst>
                                      </p:cBhvr>
                                      <p:tavLst>
                                        <p:tav tm="0">
                                          <p:val>
                                            <p:strVal val="ppt_x"/>
                                          </p:val>
                                        </p:tav>
                                        <p:tav tm="100000">
                                          <p:val>
                                            <p:strVal val="ppt_x"/>
                                          </p:val>
                                        </p:tav>
                                      </p:tavLst>
                                    </p:anim>
                                    <p:anim calcmode="lin" valueType="num">
                                      <p:cBhvr additive="base">
                                        <p:cTn id="90" dur="500"/>
                                        <p:tgtEl>
                                          <p:spTgt spid="11"/>
                                        </p:tgtEl>
                                        <p:attrNameLst>
                                          <p:attrName>ppt_y</p:attrName>
                                        </p:attrNameLst>
                                      </p:cBhvr>
                                      <p:tavLst>
                                        <p:tav tm="0">
                                          <p:val>
                                            <p:strVal val="ppt_y"/>
                                          </p:val>
                                        </p:tav>
                                        <p:tav tm="100000">
                                          <p:val>
                                            <p:strVal val="0-ppt_h/2"/>
                                          </p:val>
                                        </p:tav>
                                      </p:tavLst>
                                    </p:anim>
                                    <p:set>
                                      <p:cBhvr>
                                        <p:cTn id="91" dur="1" fill="hold">
                                          <p:stCondLst>
                                            <p:cond delay="499"/>
                                          </p:stCondLst>
                                        </p:cTn>
                                        <p:tgtEl>
                                          <p:spTgt spid="11"/>
                                        </p:tgtEl>
                                        <p:attrNameLst>
                                          <p:attrName>style.visibility</p:attrName>
                                        </p:attrNameLst>
                                      </p:cBhvr>
                                      <p:to>
                                        <p:strVal val="hidden"/>
                                      </p:to>
                                    </p:set>
                                  </p:childTnLst>
                                </p:cTn>
                              </p:par>
                            </p:childTnLst>
                          </p:cTn>
                        </p:par>
                        <p:par>
                          <p:cTn id="92" fill="hold">
                            <p:stCondLst>
                              <p:cond delay="3000"/>
                            </p:stCondLst>
                            <p:childTnLst>
                              <p:par>
                                <p:cTn id="93" presetID="1" presetClass="emph" presetSubtype="2" fill="hold" nodeType="afterEffect">
                                  <p:stCondLst>
                                    <p:cond delay="0"/>
                                  </p:stCondLst>
                                  <p:childTnLst>
                                    <p:animClr clrSpc="rgb" dir="cw">
                                      <p:cBhvr>
                                        <p:cTn id="94" dur="2000" fill="hold"/>
                                        <p:tgtEl>
                                          <p:spTgt spid="8"/>
                                        </p:tgtEl>
                                        <p:attrNameLst>
                                          <p:attrName>fillcolor</p:attrName>
                                        </p:attrNameLst>
                                      </p:cBhvr>
                                      <p:to>
                                        <a:srgbClr val="AED8B9"/>
                                      </p:to>
                                    </p:animClr>
                                    <p:set>
                                      <p:cBhvr>
                                        <p:cTn id="95" dur="2000" fill="hold"/>
                                        <p:tgtEl>
                                          <p:spTgt spid="8"/>
                                        </p:tgtEl>
                                        <p:attrNameLst>
                                          <p:attrName>fill.type</p:attrName>
                                        </p:attrNameLst>
                                      </p:cBhvr>
                                      <p:to>
                                        <p:strVal val="solid"/>
                                      </p:to>
                                    </p:set>
                                    <p:set>
                                      <p:cBhvr>
                                        <p:cTn id="96" dur="2000" fill="hold"/>
                                        <p:tgtEl>
                                          <p:spTgt spid="8"/>
                                        </p:tgtEl>
                                        <p:attrNameLst>
                                          <p:attrName>fill.on</p:attrName>
                                        </p:attrNameLst>
                                      </p:cBhvr>
                                      <p:to>
                                        <p:strVal val="true"/>
                                      </p:to>
                                    </p:set>
                                  </p:childTnLst>
                                </p:cTn>
                              </p:par>
                              <p:par>
                                <p:cTn id="97" presetID="1" presetClass="emph" presetSubtype="2" fill="hold" nodeType="withEffect">
                                  <p:stCondLst>
                                    <p:cond delay="0"/>
                                  </p:stCondLst>
                                  <p:childTnLst>
                                    <p:animClr clrSpc="rgb" dir="cw">
                                      <p:cBhvr>
                                        <p:cTn id="98" dur="2000" fill="hold"/>
                                        <p:tgtEl>
                                          <p:spTgt spid="9"/>
                                        </p:tgtEl>
                                        <p:attrNameLst>
                                          <p:attrName>fillcolor</p:attrName>
                                        </p:attrNameLst>
                                      </p:cBhvr>
                                      <p:to>
                                        <a:srgbClr val="AED8B9"/>
                                      </p:to>
                                    </p:animClr>
                                    <p:set>
                                      <p:cBhvr>
                                        <p:cTn id="99" dur="2000" fill="hold"/>
                                        <p:tgtEl>
                                          <p:spTgt spid="9"/>
                                        </p:tgtEl>
                                        <p:attrNameLst>
                                          <p:attrName>fill.type</p:attrName>
                                        </p:attrNameLst>
                                      </p:cBhvr>
                                      <p:to>
                                        <p:strVal val="solid"/>
                                      </p:to>
                                    </p:set>
                                    <p:set>
                                      <p:cBhvr>
                                        <p:cTn id="100" dur="2000" fill="hold"/>
                                        <p:tgtEl>
                                          <p:spTgt spid="9"/>
                                        </p:tgtEl>
                                        <p:attrNameLst>
                                          <p:attrName>fill.on</p:attrName>
                                        </p:attrNameLst>
                                      </p:cBhvr>
                                      <p:to>
                                        <p:strVal val="true"/>
                                      </p:to>
                                    </p:set>
                                  </p:childTnLst>
                                </p:cTn>
                              </p:par>
                              <p:par>
                                <p:cTn id="101" presetID="1" presetClass="emph" presetSubtype="2" fill="hold" nodeType="withEffect">
                                  <p:stCondLst>
                                    <p:cond delay="0"/>
                                  </p:stCondLst>
                                  <p:childTnLst>
                                    <p:animClr clrSpc="rgb" dir="cw">
                                      <p:cBhvr>
                                        <p:cTn id="102" dur="2000" fill="hold"/>
                                        <p:tgtEl>
                                          <p:spTgt spid="10"/>
                                        </p:tgtEl>
                                        <p:attrNameLst>
                                          <p:attrName>fillcolor</p:attrName>
                                        </p:attrNameLst>
                                      </p:cBhvr>
                                      <p:to>
                                        <a:srgbClr val="AED8B9"/>
                                      </p:to>
                                    </p:animClr>
                                    <p:set>
                                      <p:cBhvr>
                                        <p:cTn id="103" dur="2000" fill="hold"/>
                                        <p:tgtEl>
                                          <p:spTgt spid="10"/>
                                        </p:tgtEl>
                                        <p:attrNameLst>
                                          <p:attrName>fill.type</p:attrName>
                                        </p:attrNameLst>
                                      </p:cBhvr>
                                      <p:to>
                                        <p:strVal val="solid"/>
                                      </p:to>
                                    </p:set>
                                    <p:set>
                                      <p:cBhvr>
                                        <p:cTn id="104" dur="2000" fill="hold"/>
                                        <p:tgtEl>
                                          <p:spTgt spid="10"/>
                                        </p:tgtEl>
                                        <p:attrNameLst>
                                          <p:attrName>fill.on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nodeType="clickEffect">
                                  <p:stCondLst>
                                    <p:cond delay="0"/>
                                  </p:stCondLst>
                                  <p:childTnLst>
                                    <p:set>
                                      <p:cBhvr>
                                        <p:cTn id="108" dur="1" fill="hold">
                                          <p:stCondLst>
                                            <p:cond delay="0"/>
                                          </p:stCondLst>
                                        </p:cTn>
                                        <p:tgtEl>
                                          <p:spTgt spid="12"/>
                                        </p:tgtEl>
                                        <p:attrNameLst>
                                          <p:attrName>style.visibility</p:attrName>
                                        </p:attrNameLst>
                                      </p:cBhvr>
                                      <p:to>
                                        <p:strVal val="visible"/>
                                      </p:to>
                                    </p:set>
                                    <p:anim calcmode="lin" valueType="num">
                                      <p:cBhvr>
                                        <p:cTn id="109" dur="500" fill="hold"/>
                                        <p:tgtEl>
                                          <p:spTgt spid="12"/>
                                        </p:tgtEl>
                                        <p:attrNameLst>
                                          <p:attrName>ppt_w</p:attrName>
                                        </p:attrNameLst>
                                      </p:cBhvr>
                                      <p:tavLst>
                                        <p:tav tm="0">
                                          <p:val>
                                            <p:fltVal val="0"/>
                                          </p:val>
                                        </p:tav>
                                        <p:tav tm="100000">
                                          <p:val>
                                            <p:strVal val="#ppt_w"/>
                                          </p:val>
                                        </p:tav>
                                      </p:tavLst>
                                    </p:anim>
                                    <p:anim calcmode="lin" valueType="num">
                                      <p:cBhvr>
                                        <p:cTn id="110" dur="500" fill="hold"/>
                                        <p:tgtEl>
                                          <p:spTgt spid="12"/>
                                        </p:tgtEl>
                                        <p:attrNameLst>
                                          <p:attrName>ppt_h</p:attrName>
                                        </p:attrNameLst>
                                      </p:cBhvr>
                                      <p:tavLst>
                                        <p:tav tm="0">
                                          <p:val>
                                            <p:fltVal val="0"/>
                                          </p:val>
                                        </p:tav>
                                        <p:tav tm="100000">
                                          <p:val>
                                            <p:strVal val="#ppt_h"/>
                                          </p:val>
                                        </p:tav>
                                      </p:tavLst>
                                    </p:anim>
                                    <p:animEffect transition="in" filter="fade">
                                      <p:cBhvr>
                                        <p:cTn id="111" dur="500"/>
                                        <p:tgtEl>
                                          <p:spTgt spid="12"/>
                                        </p:tgtEl>
                                      </p:cBhvr>
                                    </p:animEffec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0"/>
                                          </p:stCondLst>
                                        </p:cTn>
                                        <p:tgtEl>
                                          <p:spTgt spid="20"/>
                                        </p:tgtEl>
                                        <p:attrNameLst>
                                          <p:attrName>style.visibility</p:attrName>
                                        </p:attrNameLst>
                                      </p:cBhvr>
                                      <p:to>
                                        <p:strVal val="visible"/>
                                      </p:to>
                                    </p:set>
                                  </p:childTnLst>
                                </p:cTn>
                              </p:par>
                            </p:childTnLst>
                          </p:cTn>
                        </p:par>
                        <p:par>
                          <p:cTn id="115" fill="hold">
                            <p:stCondLst>
                              <p:cond delay="500"/>
                            </p:stCondLst>
                            <p:childTnLst>
                              <p:par>
                                <p:cTn id="116" presetID="53" presetClass="exit" presetSubtype="32" fill="hold" grpId="0" nodeType="afterEffect">
                                  <p:stCondLst>
                                    <p:cond delay="0"/>
                                  </p:stCondLst>
                                  <p:childTnLst>
                                    <p:anim calcmode="lin" valueType="num">
                                      <p:cBhvr>
                                        <p:cTn id="117" dur="500"/>
                                        <p:tgtEl>
                                          <p:spTgt spid="8"/>
                                        </p:tgtEl>
                                        <p:attrNameLst>
                                          <p:attrName>ppt_w</p:attrName>
                                        </p:attrNameLst>
                                      </p:cBhvr>
                                      <p:tavLst>
                                        <p:tav tm="0">
                                          <p:val>
                                            <p:strVal val="ppt_w"/>
                                          </p:val>
                                        </p:tav>
                                        <p:tav tm="100000">
                                          <p:val>
                                            <p:fltVal val="0"/>
                                          </p:val>
                                        </p:tav>
                                      </p:tavLst>
                                    </p:anim>
                                    <p:anim calcmode="lin" valueType="num">
                                      <p:cBhvr>
                                        <p:cTn id="118" dur="500"/>
                                        <p:tgtEl>
                                          <p:spTgt spid="8"/>
                                        </p:tgtEl>
                                        <p:attrNameLst>
                                          <p:attrName>ppt_h</p:attrName>
                                        </p:attrNameLst>
                                      </p:cBhvr>
                                      <p:tavLst>
                                        <p:tav tm="0">
                                          <p:val>
                                            <p:strVal val="ppt_h"/>
                                          </p:val>
                                        </p:tav>
                                        <p:tav tm="100000">
                                          <p:val>
                                            <p:fltVal val="0"/>
                                          </p:val>
                                        </p:tav>
                                      </p:tavLst>
                                    </p:anim>
                                    <p:animEffect transition="out" filter="fade">
                                      <p:cBhvr>
                                        <p:cTn id="119" dur="500"/>
                                        <p:tgtEl>
                                          <p:spTgt spid="8"/>
                                        </p:tgtEl>
                                      </p:cBhvr>
                                    </p:animEffect>
                                    <p:set>
                                      <p:cBhvr>
                                        <p:cTn id="120" dur="1" fill="hold">
                                          <p:stCondLst>
                                            <p:cond delay="499"/>
                                          </p:stCondLst>
                                        </p:cTn>
                                        <p:tgtEl>
                                          <p:spTgt spid="8"/>
                                        </p:tgtEl>
                                        <p:attrNameLst>
                                          <p:attrName>style.visibility</p:attrName>
                                        </p:attrNameLst>
                                      </p:cBhvr>
                                      <p:to>
                                        <p:strVal val="hidden"/>
                                      </p:to>
                                    </p:set>
                                  </p:childTnLst>
                                </p:cTn>
                              </p:par>
                            </p:childTnLst>
                          </p:cTn>
                        </p:par>
                        <p:par>
                          <p:cTn id="121" fill="hold">
                            <p:stCondLst>
                              <p:cond delay="1000"/>
                            </p:stCondLst>
                            <p:childTnLst>
                              <p:par>
                                <p:cTn id="122" presetID="53" presetClass="entr" presetSubtype="16" fill="hold" grpId="0" nodeType="afterEffect">
                                  <p:stCondLst>
                                    <p:cond delay="0"/>
                                  </p:stCondLst>
                                  <p:childTnLst>
                                    <p:set>
                                      <p:cBhvr>
                                        <p:cTn id="123" dur="1" fill="hold">
                                          <p:stCondLst>
                                            <p:cond delay="0"/>
                                          </p:stCondLst>
                                        </p:cTn>
                                        <p:tgtEl>
                                          <p:spTgt spid="13"/>
                                        </p:tgtEl>
                                        <p:attrNameLst>
                                          <p:attrName>style.visibility</p:attrName>
                                        </p:attrNameLst>
                                      </p:cBhvr>
                                      <p:to>
                                        <p:strVal val="visible"/>
                                      </p:to>
                                    </p:set>
                                    <p:anim calcmode="lin" valueType="num">
                                      <p:cBhvr>
                                        <p:cTn id="124" dur="300" fill="hold"/>
                                        <p:tgtEl>
                                          <p:spTgt spid="13"/>
                                        </p:tgtEl>
                                        <p:attrNameLst>
                                          <p:attrName>ppt_w</p:attrName>
                                        </p:attrNameLst>
                                      </p:cBhvr>
                                      <p:tavLst>
                                        <p:tav tm="0">
                                          <p:val>
                                            <p:fltVal val="0"/>
                                          </p:val>
                                        </p:tav>
                                        <p:tav tm="100000">
                                          <p:val>
                                            <p:strVal val="#ppt_w"/>
                                          </p:val>
                                        </p:tav>
                                      </p:tavLst>
                                    </p:anim>
                                    <p:anim calcmode="lin" valueType="num">
                                      <p:cBhvr>
                                        <p:cTn id="125" dur="300" fill="hold"/>
                                        <p:tgtEl>
                                          <p:spTgt spid="13"/>
                                        </p:tgtEl>
                                        <p:attrNameLst>
                                          <p:attrName>ppt_h</p:attrName>
                                        </p:attrNameLst>
                                      </p:cBhvr>
                                      <p:tavLst>
                                        <p:tav tm="0">
                                          <p:val>
                                            <p:fltVal val="0"/>
                                          </p:val>
                                        </p:tav>
                                        <p:tav tm="100000">
                                          <p:val>
                                            <p:strVal val="#ppt_h"/>
                                          </p:val>
                                        </p:tav>
                                      </p:tavLst>
                                    </p:anim>
                                    <p:animEffect transition="in" filter="fade">
                                      <p:cBhvr>
                                        <p:cTn id="126" dur="300"/>
                                        <p:tgtEl>
                                          <p:spTgt spid="13"/>
                                        </p:tgtEl>
                                      </p:cBhvr>
                                    </p:animEffect>
                                  </p:childTnLst>
                                </p:cTn>
                              </p:par>
                            </p:childTnLst>
                          </p:cTn>
                        </p:par>
                        <p:par>
                          <p:cTn id="127" fill="hold">
                            <p:stCondLst>
                              <p:cond delay="1300"/>
                            </p:stCondLst>
                            <p:childTnLst>
                              <p:par>
                                <p:cTn id="128" presetID="53" presetClass="exit" presetSubtype="32" fill="hold" grpId="2" nodeType="afterEffect">
                                  <p:stCondLst>
                                    <p:cond delay="0"/>
                                  </p:stCondLst>
                                  <p:childTnLst>
                                    <p:anim calcmode="lin" valueType="num">
                                      <p:cBhvr>
                                        <p:cTn id="129" dur="500"/>
                                        <p:tgtEl>
                                          <p:spTgt spid="9"/>
                                        </p:tgtEl>
                                        <p:attrNameLst>
                                          <p:attrName>ppt_w</p:attrName>
                                        </p:attrNameLst>
                                      </p:cBhvr>
                                      <p:tavLst>
                                        <p:tav tm="0">
                                          <p:val>
                                            <p:strVal val="ppt_w"/>
                                          </p:val>
                                        </p:tav>
                                        <p:tav tm="100000">
                                          <p:val>
                                            <p:fltVal val="0"/>
                                          </p:val>
                                        </p:tav>
                                      </p:tavLst>
                                    </p:anim>
                                    <p:anim calcmode="lin" valueType="num">
                                      <p:cBhvr>
                                        <p:cTn id="130" dur="500"/>
                                        <p:tgtEl>
                                          <p:spTgt spid="9"/>
                                        </p:tgtEl>
                                        <p:attrNameLst>
                                          <p:attrName>ppt_h</p:attrName>
                                        </p:attrNameLst>
                                      </p:cBhvr>
                                      <p:tavLst>
                                        <p:tav tm="0">
                                          <p:val>
                                            <p:strVal val="ppt_h"/>
                                          </p:val>
                                        </p:tav>
                                        <p:tav tm="100000">
                                          <p:val>
                                            <p:fltVal val="0"/>
                                          </p:val>
                                        </p:tav>
                                      </p:tavLst>
                                    </p:anim>
                                    <p:animEffect transition="out" filter="fade">
                                      <p:cBhvr>
                                        <p:cTn id="131" dur="500"/>
                                        <p:tgtEl>
                                          <p:spTgt spid="9"/>
                                        </p:tgtEl>
                                      </p:cBhvr>
                                    </p:animEffect>
                                    <p:set>
                                      <p:cBhvr>
                                        <p:cTn id="132" dur="1" fill="hold">
                                          <p:stCondLst>
                                            <p:cond delay="499"/>
                                          </p:stCondLst>
                                        </p:cTn>
                                        <p:tgtEl>
                                          <p:spTgt spid="9"/>
                                        </p:tgtEl>
                                        <p:attrNameLst>
                                          <p:attrName>style.visibility</p:attrName>
                                        </p:attrNameLst>
                                      </p:cBhvr>
                                      <p:to>
                                        <p:strVal val="hidden"/>
                                      </p:to>
                                    </p:set>
                                  </p:childTnLst>
                                </p:cTn>
                              </p:par>
                            </p:childTnLst>
                          </p:cTn>
                        </p:par>
                        <p:par>
                          <p:cTn id="133" fill="hold">
                            <p:stCondLst>
                              <p:cond delay="1800"/>
                            </p:stCondLst>
                            <p:childTnLst>
                              <p:par>
                                <p:cTn id="134" presetID="53" presetClass="entr" presetSubtype="16" fill="hold" grpId="0" nodeType="afterEffect">
                                  <p:stCondLst>
                                    <p:cond delay="0"/>
                                  </p:stCondLst>
                                  <p:childTnLst>
                                    <p:set>
                                      <p:cBhvr>
                                        <p:cTn id="135" dur="1" fill="hold">
                                          <p:stCondLst>
                                            <p:cond delay="0"/>
                                          </p:stCondLst>
                                        </p:cTn>
                                        <p:tgtEl>
                                          <p:spTgt spid="14"/>
                                        </p:tgtEl>
                                        <p:attrNameLst>
                                          <p:attrName>style.visibility</p:attrName>
                                        </p:attrNameLst>
                                      </p:cBhvr>
                                      <p:to>
                                        <p:strVal val="visible"/>
                                      </p:to>
                                    </p:set>
                                    <p:anim calcmode="lin" valueType="num">
                                      <p:cBhvr>
                                        <p:cTn id="136" dur="300" fill="hold"/>
                                        <p:tgtEl>
                                          <p:spTgt spid="14"/>
                                        </p:tgtEl>
                                        <p:attrNameLst>
                                          <p:attrName>ppt_w</p:attrName>
                                        </p:attrNameLst>
                                      </p:cBhvr>
                                      <p:tavLst>
                                        <p:tav tm="0">
                                          <p:val>
                                            <p:fltVal val="0"/>
                                          </p:val>
                                        </p:tav>
                                        <p:tav tm="100000">
                                          <p:val>
                                            <p:strVal val="#ppt_w"/>
                                          </p:val>
                                        </p:tav>
                                      </p:tavLst>
                                    </p:anim>
                                    <p:anim calcmode="lin" valueType="num">
                                      <p:cBhvr>
                                        <p:cTn id="137" dur="300" fill="hold"/>
                                        <p:tgtEl>
                                          <p:spTgt spid="14"/>
                                        </p:tgtEl>
                                        <p:attrNameLst>
                                          <p:attrName>ppt_h</p:attrName>
                                        </p:attrNameLst>
                                      </p:cBhvr>
                                      <p:tavLst>
                                        <p:tav tm="0">
                                          <p:val>
                                            <p:fltVal val="0"/>
                                          </p:val>
                                        </p:tav>
                                        <p:tav tm="100000">
                                          <p:val>
                                            <p:strVal val="#ppt_h"/>
                                          </p:val>
                                        </p:tav>
                                      </p:tavLst>
                                    </p:anim>
                                    <p:animEffect transition="in" filter="fade">
                                      <p:cBhvr>
                                        <p:cTn id="138" dur="300"/>
                                        <p:tgtEl>
                                          <p:spTgt spid="14"/>
                                        </p:tgtEl>
                                      </p:cBhvr>
                                    </p:animEffect>
                                  </p:childTnLst>
                                </p:cTn>
                              </p:par>
                            </p:childTnLst>
                          </p:cTn>
                        </p:par>
                        <p:par>
                          <p:cTn id="139" fill="hold">
                            <p:stCondLst>
                              <p:cond delay="2100"/>
                            </p:stCondLst>
                            <p:childTnLst>
                              <p:par>
                                <p:cTn id="140" presetID="53" presetClass="exit" presetSubtype="32" fill="hold" grpId="0" nodeType="afterEffect">
                                  <p:stCondLst>
                                    <p:cond delay="0"/>
                                  </p:stCondLst>
                                  <p:childTnLst>
                                    <p:anim calcmode="lin" valueType="num">
                                      <p:cBhvr>
                                        <p:cTn id="141" dur="500"/>
                                        <p:tgtEl>
                                          <p:spTgt spid="10"/>
                                        </p:tgtEl>
                                        <p:attrNameLst>
                                          <p:attrName>ppt_w</p:attrName>
                                        </p:attrNameLst>
                                      </p:cBhvr>
                                      <p:tavLst>
                                        <p:tav tm="0">
                                          <p:val>
                                            <p:strVal val="ppt_w"/>
                                          </p:val>
                                        </p:tav>
                                        <p:tav tm="100000">
                                          <p:val>
                                            <p:fltVal val="0"/>
                                          </p:val>
                                        </p:tav>
                                      </p:tavLst>
                                    </p:anim>
                                    <p:anim calcmode="lin" valueType="num">
                                      <p:cBhvr>
                                        <p:cTn id="142" dur="500"/>
                                        <p:tgtEl>
                                          <p:spTgt spid="10"/>
                                        </p:tgtEl>
                                        <p:attrNameLst>
                                          <p:attrName>ppt_h</p:attrName>
                                        </p:attrNameLst>
                                      </p:cBhvr>
                                      <p:tavLst>
                                        <p:tav tm="0">
                                          <p:val>
                                            <p:strVal val="ppt_h"/>
                                          </p:val>
                                        </p:tav>
                                        <p:tav tm="100000">
                                          <p:val>
                                            <p:fltVal val="0"/>
                                          </p:val>
                                        </p:tav>
                                      </p:tavLst>
                                    </p:anim>
                                    <p:animEffect transition="out" filter="fade">
                                      <p:cBhvr>
                                        <p:cTn id="143" dur="500"/>
                                        <p:tgtEl>
                                          <p:spTgt spid="10"/>
                                        </p:tgtEl>
                                      </p:cBhvr>
                                    </p:animEffect>
                                    <p:set>
                                      <p:cBhvr>
                                        <p:cTn id="144" dur="1" fill="hold">
                                          <p:stCondLst>
                                            <p:cond delay="499"/>
                                          </p:stCondLst>
                                        </p:cTn>
                                        <p:tgtEl>
                                          <p:spTgt spid="10"/>
                                        </p:tgtEl>
                                        <p:attrNameLst>
                                          <p:attrName>style.visibility</p:attrName>
                                        </p:attrNameLst>
                                      </p:cBhvr>
                                      <p:to>
                                        <p:strVal val="hidden"/>
                                      </p:to>
                                    </p:set>
                                  </p:childTnLst>
                                </p:cTn>
                              </p:par>
                            </p:childTnLst>
                          </p:cTn>
                        </p:par>
                        <p:par>
                          <p:cTn id="145" fill="hold">
                            <p:stCondLst>
                              <p:cond delay="2600"/>
                            </p:stCondLst>
                            <p:childTnLst>
                              <p:par>
                                <p:cTn id="146" presetID="53" presetClass="entr" presetSubtype="16" fill="hold" grpId="0" nodeType="afterEffect">
                                  <p:stCondLst>
                                    <p:cond delay="0"/>
                                  </p:stCondLst>
                                  <p:childTnLst>
                                    <p:set>
                                      <p:cBhvr>
                                        <p:cTn id="147" dur="1" fill="hold">
                                          <p:stCondLst>
                                            <p:cond delay="0"/>
                                          </p:stCondLst>
                                        </p:cTn>
                                        <p:tgtEl>
                                          <p:spTgt spid="15"/>
                                        </p:tgtEl>
                                        <p:attrNameLst>
                                          <p:attrName>style.visibility</p:attrName>
                                        </p:attrNameLst>
                                      </p:cBhvr>
                                      <p:to>
                                        <p:strVal val="visible"/>
                                      </p:to>
                                    </p:set>
                                    <p:anim calcmode="lin" valueType="num">
                                      <p:cBhvr>
                                        <p:cTn id="148" dur="300" fill="hold"/>
                                        <p:tgtEl>
                                          <p:spTgt spid="15"/>
                                        </p:tgtEl>
                                        <p:attrNameLst>
                                          <p:attrName>ppt_w</p:attrName>
                                        </p:attrNameLst>
                                      </p:cBhvr>
                                      <p:tavLst>
                                        <p:tav tm="0">
                                          <p:val>
                                            <p:fltVal val="0"/>
                                          </p:val>
                                        </p:tav>
                                        <p:tav tm="100000">
                                          <p:val>
                                            <p:strVal val="#ppt_w"/>
                                          </p:val>
                                        </p:tav>
                                      </p:tavLst>
                                    </p:anim>
                                    <p:anim calcmode="lin" valueType="num">
                                      <p:cBhvr>
                                        <p:cTn id="149" dur="300" fill="hold"/>
                                        <p:tgtEl>
                                          <p:spTgt spid="15"/>
                                        </p:tgtEl>
                                        <p:attrNameLst>
                                          <p:attrName>ppt_h</p:attrName>
                                        </p:attrNameLst>
                                      </p:cBhvr>
                                      <p:tavLst>
                                        <p:tav tm="0">
                                          <p:val>
                                            <p:fltVal val="0"/>
                                          </p:val>
                                        </p:tav>
                                        <p:tav tm="100000">
                                          <p:val>
                                            <p:strVal val="#ppt_h"/>
                                          </p:val>
                                        </p:tav>
                                      </p:tavLst>
                                    </p:anim>
                                    <p:animEffect transition="in" filter="fade">
                                      <p:cBhvr>
                                        <p:cTn id="150" dur="300"/>
                                        <p:tgtEl>
                                          <p:spTgt spid="15"/>
                                        </p:tgtEl>
                                      </p:cBhvr>
                                    </p:animEffect>
                                  </p:childTnLst>
                                </p:cTn>
                              </p:par>
                            </p:childTnLst>
                          </p:cTn>
                        </p:par>
                      </p:childTnLst>
                    </p:cTn>
                  </p:par>
                  <p:par>
                    <p:cTn id="151" fill="hold">
                      <p:stCondLst>
                        <p:cond delay="indefinite"/>
                      </p:stCondLst>
                      <p:childTnLst>
                        <p:par>
                          <p:cTn id="152" fill="hold">
                            <p:stCondLst>
                              <p:cond delay="0"/>
                            </p:stCondLst>
                            <p:childTnLst>
                              <p:par>
                                <p:cTn id="153" presetID="53" presetClass="entr" presetSubtype="16" fill="hold" nodeType="clickEffect">
                                  <p:stCondLst>
                                    <p:cond delay="0"/>
                                  </p:stCondLst>
                                  <p:childTnLst>
                                    <p:set>
                                      <p:cBhvr>
                                        <p:cTn id="154" dur="1" fill="hold">
                                          <p:stCondLst>
                                            <p:cond delay="0"/>
                                          </p:stCondLst>
                                        </p:cTn>
                                        <p:tgtEl>
                                          <p:spTgt spid="16"/>
                                        </p:tgtEl>
                                        <p:attrNameLst>
                                          <p:attrName>style.visibility</p:attrName>
                                        </p:attrNameLst>
                                      </p:cBhvr>
                                      <p:to>
                                        <p:strVal val="visible"/>
                                      </p:to>
                                    </p:set>
                                    <p:anim calcmode="lin" valueType="num">
                                      <p:cBhvr>
                                        <p:cTn id="155" dur="500" fill="hold"/>
                                        <p:tgtEl>
                                          <p:spTgt spid="16"/>
                                        </p:tgtEl>
                                        <p:attrNameLst>
                                          <p:attrName>ppt_w</p:attrName>
                                        </p:attrNameLst>
                                      </p:cBhvr>
                                      <p:tavLst>
                                        <p:tav tm="0">
                                          <p:val>
                                            <p:fltVal val="0"/>
                                          </p:val>
                                        </p:tav>
                                        <p:tav tm="100000">
                                          <p:val>
                                            <p:strVal val="#ppt_w"/>
                                          </p:val>
                                        </p:tav>
                                      </p:tavLst>
                                    </p:anim>
                                    <p:anim calcmode="lin" valueType="num">
                                      <p:cBhvr>
                                        <p:cTn id="156" dur="500" fill="hold"/>
                                        <p:tgtEl>
                                          <p:spTgt spid="16"/>
                                        </p:tgtEl>
                                        <p:attrNameLst>
                                          <p:attrName>ppt_h</p:attrName>
                                        </p:attrNameLst>
                                      </p:cBhvr>
                                      <p:tavLst>
                                        <p:tav tm="0">
                                          <p:val>
                                            <p:fltVal val="0"/>
                                          </p:val>
                                        </p:tav>
                                        <p:tav tm="100000">
                                          <p:val>
                                            <p:strVal val="#ppt_h"/>
                                          </p:val>
                                        </p:tav>
                                      </p:tavLst>
                                    </p:anim>
                                    <p:animEffect transition="in" filter="fade">
                                      <p:cBhvr>
                                        <p:cTn id="157" dur="500"/>
                                        <p:tgtEl>
                                          <p:spTgt spid="16"/>
                                        </p:tgtEl>
                                      </p:cBhvr>
                                    </p:animEffect>
                                  </p:childTnLst>
                                </p:cTn>
                              </p:par>
                            </p:childTnLst>
                          </p:cTn>
                        </p:par>
                        <p:par>
                          <p:cTn id="158" fill="hold">
                            <p:stCondLst>
                              <p:cond delay="500"/>
                            </p:stCondLst>
                            <p:childTnLst>
                              <p:par>
                                <p:cTn id="159" presetID="1" presetClass="entr" presetSubtype="0" fill="hold" grpId="0" nodeType="afterEffect">
                                  <p:stCondLst>
                                    <p:cond delay="0"/>
                                  </p:stCondLst>
                                  <p:childTnLst>
                                    <p:set>
                                      <p:cBhvr>
                                        <p:cTn id="160" dur="1" fill="hold">
                                          <p:stCondLst>
                                            <p:cond delay="0"/>
                                          </p:stCondLst>
                                        </p:cTn>
                                        <p:tgtEl>
                                          <p:spTgt spid="21"/>
                                        </p:tgtEl>
                                        <p:attrNameLst>
                                          <p:attrName>style.visibility</p:attrName>
                                        </p:attrNameLst>
                                      </p:cBhvr>
                                      <p:to>
                                        <p:strVal val="visible"/>
                                      </p:to>
                                    </p:set>
                                  </p:childTnLst>
                                </p:cTn>
                              </p:par>
                            </p:childTnLst>
                          </p:cTn>
                        </p:par>
                        <p:par>
                          <p:cTn id="161" fill="hold">
                            <p:stCondLst>
                              <p:cond delay="500"/>
                            </p:stCondLst>
                            <p:childTnLst>
                              <p:par>
                                <p:cTn id="162" presetID="9" presetClass="exit" presetSubtype="0" fill="hold" grpId="1" nodeType="afterEffect">
                                  <p:stCondLst>
                                    <p:cond delay="0"/>
                                  </p:stCondLst>
                                  <p:childTnLst>
                                    <p:animEffect transition="out" filter="dissolve">
                                      <p:cBhvr>
                                        <p:cTn id="163" dur="500"/>
                                        <p:tgtEl>
                                          <p:spTgt spid="13"/>
                                        </p:tgtEl>
                                      </p:cBhvr>
                                    </p:animEffect>
                                    <p:set>
                                      <p:cBhvr>
                                        <p:cTn id="164" dur="1" fill="hold">
                                          <p:stCondLst>
                                            <p:cond delay="499"/>
                                          </p:stCondLst>
                                        </p:cTn>
                                        <p:tgtEl>
                                          <p:spTgt spid="13"/>
                                        </p:tgtEl>
                                        <p:attrNameLst>
                                          <p:attrName>style.visibility</p:attrName>
                                        </p:attrNameLst>
                                      </p:cBhvr>
                                      <p:to>
                                        <p:strVal val="hidden"/>
                                      </p:to>
                                    </p:set>
                                  </p:childTnLst>
                                </p:cTn>
                              </p:par>
                              <p:par>
                                <p:cTn id="165" presetID="9" presetClass="exit" presetSubtype="0" fill="hold" grpId="1" nodeType="withEffect">
                                  <p:stCondLst>
                                    <p:cond delay="0"/>
                                  </p:stCondLst>
                                  <p:childTnLst>
                                    <p:animEffect transition="out" filter="dissolve">
                                      <p:cBhvr>
                                        <p:cTn id="166" dur="500"/>
                                        <p:tgtEl>
                                          <p:spTgt spid="14"/>
                                        </p:tgtEl>
                                      </p:cBhvr>
                                    </p:animEffect>
                                    <p:set>
                                      <p:cBhvr>
                                        <p:cTn id="167" dur="1" fill="hold">
                                          <p:stCondLst>
                                            <p:cond delay="499"/>
                                          </p:stCondLst>
                                        </p:cTn>
                                        <p:tgtEl>
                                          <p:spTgt spid="14"/>
                                        </p:tgtEl>
                                        <p:attrNameLst>
                                          <p:attrName>style.visibility</p:attrName>
                                        </p:attrNameLst>
                                      </p:cBhvr>
                                      <p:to>
                                        <p:strVal val="hidden"/>
                                      </p:to>
                                    </p:set>
                                  </p:childTnLst>
                                </p:cTn>
                              </p:par>
                              <p:par>
                                <p:cTn id="168" presetID="9" presetClass="exit" presetSubtype="0" fill="hold" grpId="1" nodeType="withEffect">
                                  <p:stCondLst>
                                    <p:cond delay="0"/>
                                  </p:stCondLst>
                                  <p:childTnLst>
                                    <p:animEffect transition="out" filter="dissolve">
                                      <p:cBhvr>
                                        <p:cTn id="169" dur="500"/>
                                        <p:tgtEl>
                                          <p:spTgt spid="15"/>
                                        </p:tgtEl>
                                      </p:cBhvr>
                                    </p:animEffect>
                                    <p:set>
                                      <p:cBhvr>
                                        <p:cTn id="170" dur="1" fill="hold">
                                          <p:stCondLst>
                                            <p:cond delay="499"/>
                                          </p:stCondLst>
                                        </p:cTn>
                                        <p:tgtEl>
                                          <p:spTgt spid="15"/>
                                        </p:tgtEl>
                                        <p:attrNameLst>
                                          <p:attrName>style.visibility</p:attrName>
                                        </p:attrNameLst>
                                      </p:cBhvr>
                                      <p:to>
                                        <p:strVal val="hidden"/>
                                      </p:to>
                                    </p:set>
                                  </p:childTnLst>
                                </p:cTn>
                              </p:par>
                            </p:childTnLst>
                          </p:cTn>
                        </p:par>
                        <p:par>
                          <p:cTn id="171" fill="hold">
                            <p:stCondLst>
                              <p:cond delay="1000"/>
                            </p:stCondLst>
                            <p:childTnLst>
                              <p:par>
                                <p:cTn id="172" presetID="9" presetClass="entr" presetSubtype="0" fill="hold" nodeType="afterEffect">
                                  <p:stCondLst>
                                    <p:cond delay="0"/>
                                  </p:stCondLst>
                                  <p:childTnLst>
                                    <p:set>
                                      <p:cBhvr>
                                        <p:cTn id="173" dur="1" fill="hold">
                                          <p:stCondLst>
                                            <p:cond delay="0"/>
                                          </p:stCondLst>
                                        </p:cTn>
                                        <p:tgtEl>
                                          <p:spTgt spid="17"/>
                                        </p:tgtEl>
                                        <p:attrNameLst>
                                          <p:attrName>style.visibility</p:attrName>
                                        </p:attrNameLst>
                                      </p:cBhvr>
                                      <p:to>
                                        <p:strVal val="visible"/>
                                      </p:to>
                                    </p:set>
                                    <p:animEffect transition="in" filter="dissolve">
                                      <p:cBhvr>
                                        <p:cTn id="174" dur="500"/>
                                        <p:tgtEl>
                                          <p:spTgt spid="17"/>
                                        </p:tgtEl>
                                      </p:cBhvr>
                                    </p:animEffect>
                                  </p:childTnLst>
                                </p:cTn>
                              </p:par>
                            </p:childTnLst>
                          </p:cTn>
                        </p:par>
                        <p:par>
                          <p:cTn id="175" fill="hold">
                            <p:stCondLst>
                              <p:cond delay="1500"/>
                            </p:stCondLst>
                            <p:childTnLst>
                              <p:par>
                                <p:cTn id="176" presetID="9" presetClass="exit" presetSubtype="0" fill="hold" nodeType="afterEffect">
                                  <p:stCondLst>
                                    <p:cond delay="2000"/>
                                  </p:stCondLst>
                                  <p:childTnLst>
                                    <p:animEffect transition="out" filter="dissolve">
                                      <p:cBhvr>
                                        <p:cTn id="177" dur="500"/>
                                        <p:tgtEl>
                                          <p:spTgt spid="17"/>
                                        </p:tgtEl>
                                      </p:cBhvr>
                                    </p:animEffect>
                                    <p:set>
                                      <p:cBhvr>
                                        <p:cTn id="178" dur="1" fill="hold">
                                          <p:stCondLst>
                                            <p:cond delay="499"/>
                                          </p:stCondLst>
                                        </p:cTn>
                                        <p:tgtEl>
                                          <p:spTgt spid="17"/>
                                        </p:tgtEl>
                                        <p:attrNameLst>
                                          <p:attrName>style.visibility</p:attrName>
                                        </p:attrNameLst>
                                      </p:cBhvr>
                                      <p:to>
                                        <p:strVal val="hidden"/>
                                      </p:to>
                                    </p:set>
                                  </p:childTnLst>
                                </p:cTn>
                              </p:par>
                            </p:childTnLst>
                          </p:cTn>
                        </p:par>
                        <p:par>
                          <p:cTn id="179" fill="hold">
                            <p:stCondLst>
                              <p:cond delay="4000"/>
                            </p:stCondLst>
                            <p:childTnLst>
                              <p:par>
                                <p:cTn id="180" presetID="2" presetClass="entr" presetSubtype="4" fill="hold" grpId="2" nodeType="afterEffect">
                                  <p:stCondLst>
                                    <p:cond delay="0"/>
                                  </p:stCondLst>
                                  <p:childTnLst>
                                    <p:set>
                                      <p:cBhvr>
                                        <p:cTn id="181" dur="1" fill="hold">
                                          <p:stCondLst>
                                            <p:cond delay="0"/>
                                          </p:stCondLst>
                                        </p:cTn>
                                        <p:tgtEl>
                                          <p:spTgt spid="15"/>
                                        </p:tgtEl>
                                        <p:attrNameLst>
                                          <p:attrName>style.visibility</p:attrName>
                                        </p:attrNameLst>
                                      </p:cBhvr>
                                      <p:to>
                                        <p:strVal val="visible"/>
                                      </p:to>
                                    </p:set>
                                    <p:anim calcmode="lin" valueType="num">
                                      <p:cBhvr additive="base">
                                        <p:cTn id="182" dur="500" fill="hold"/>
                                        <p:tgtEl>
                                          <p:spTgt spid="15"/>
                                        </p:tgtEl>
                                        <p:attrNameLst>
                                          <p:attrName>ppt_x</p:attrName>
                                        </p:attrNameLst>
                                      </p:cBhvr>
                                      <p:tavLst>
                                        <p:tav tm="0">
                                          <p:val>
                                            <p:strVal val="#ppt_x"/>
                                          </p:val>
                                        </p:tav>
                                        <p:tav tm="100000">
                                          <p:val>
                                            <p:strVal val="#ppt_x"/>
                                          </p:val>
                                        </p:tav>
                                      </p:tavLst>
                                    </p:anim>
                                    <p:anim calcmode="lin" valueType="num">
                                      <p:cBhvr additive="base">
                                        <p:cTn id="183" dur="500" fill="hold"/>
                                        <p:tgtEl>
                                          <p:spTgt spid="15"/>
                                        </p:tgtEl>
                                        <p:attrNameLst>
                                          <p:attrName>ppt_y</p:attrName>
                                        </p:attrNameLst>
                                      </p:cBhvr>
                                      <p:tavLst>
                                        <p:tav tm="0">
                                          <p:val>
                                            <p:strVal val="1+#ppt_h/2"/>
                                          </p:val>
                                        </p:tav>
                                        <p:tav tm="100000">
                                          <p:val>
                                            <p:strVal val="#ppt_y"/>
                                          </p:val>
                                        </p:tav>
                                      </p:tavLst>
                                    </p:anim>
                                  </p:childTnLst>
                                </p:cTn>
                              </p:par>
                              <p:par>
                                <p:cTn id="184" presetID="2" presetClass="entr" presetSubtype="4" fill="hold" grpId="2" nodeType="withEffect">
                                  <p:stCondLst>
                                    <p:cond delay="0"/>
                                  </p:stCondLst>
                                  <p:childTnLst>
                                    <p:set>
                                      <p:cBhvr>
                                        <p:cTn id="185" dur="1" fill="hold">
                                          <p:stCondLst>
                                            <p:cond delay="0"/>
                                          </p:stCondLst>
                                        </p:cTn>
                                        <p:tgtEl>
                                          <p:spTgt spid="14"/>
                                        </p:tgtEl>
                                        <p:attrNameLst>
                                          <p:attrName>style.visibility</p:attrName>
                                        </p:attrNameLst>
                                      </p:cBhvr>
                                      <p:to>
                                        <p:strVal val="visible"/>
                                      </p:to>
                                    </p:set>
                                    <p:anim calcmode="lin" valueType="num">
                                      <p:cBhvr additive="base">
                                        <p:cTn id="186" dur="500" fill="hold"/>
                                        <p:tgtEl>
                                          <p:spTgt spid="14"/>
                                        </p:tgtEl>
                                        <p:attrNameLst>
                                          <p:attrName>ppt_x</p:attrName>
                                        </p:attrNameLst>
                                      </p:cBhvr>
                                      <p:tavLst>
                                        <p:tav tm="0">
                                          <p:val>
                                            <p:strVal val="#ppt_x"/>
                                          </p:val>
                                        </p:tav>
                                        <p:tav tm="100000">
                                          <p:val>
                                            <p:strVal val="#ppt_x"/>
                                          </p:val>
                                        </p:tav>
                                      </p:tavLst>
                                    </p:anim>
                                    <p:anim calcmode="lin" valueType="num">
                                      <p:cBhvr additive="base">
                                        <p:cTn id="187" dur="500" fill="hold"/>
                                        <p:tgtEl>
                                          <p:spTgt spid="14"/>
                                        </p:tgtEl>
                                        <p:attrNameLst>
                                          <p:attrName>ppt_y</p:attrName>
                                        </p:attrNameLst>
                                      </p:cBhvr>
                                      <p:tavLst>
                                        <p:tav tm="0">
                                          <p:val>
                                            <p:strVal val="1+#ppt_h/2"/>
                                          </p:val>
                                        </p:tav>
                                        <p:tav tm="100000">
                                          <p:val>
                                            <p:strVal val="#ppt_y"/>
                                          </p:val>
                                        </p:tav>
                                      </p:tavLst>
                                    </p:anim>
                                  </p:childTnLst>
                                </p:cTn>
                              </p:par>
                              <p:par>
                                <p:cTn id="188" presetID="2" presetClass="entr" presetSubtype="4" fill="hold" grpId="2" nodeType="withEffect">
                                  <p:stCondLst>
                                    <p:cond delay="0"/>
                                  </p:stCondLst>
                                  <p:childTnLst>
                                    <p:set>
                                      <p:cBhvr>
                                        <p:cTn id="189" dur="1" fill="hold">
                                          <p:stCondLst>
                                            <p:cond delay="0"/>
                                          </p:stCondLst>
                                        </p:cTn>
                                        <p:tgtEl>
                                          <p:spTgt spid="13"/>
                                        </p:tgtEl>
                                        <p:attrNameLst>
                                          <p:attrName>style.visibility</p:attrName>
                                        </p:attrNameLst>
                                      </p:cBhvr>
                                      <p:to>
                                        <p:strVal val="visible"/>
                                      </p:to>
                                    </p:set>
                                    <p:anim calcmode="lin" valueType="num">
                                      <p:cBhvr additive="base">
                                        <p:cTn id="190" dur="500" fill="hold"/>
                                        <p:tgtEl>
                                          <p:spTgt spid="13"/>
                                        </p:tgtEl>
                                        <p:attrNameLst>
                                          <p:attrName>ppt_x</p:attrName>
                                        </p:attrNameLst>
                                      </p:cBhvr>
                                      <p:tavLst>
                                        <p:tav tm="0">
                                          <p:val>
                                            <p:strVal val="#ppt_x"/>
                                          </p:val>
                                        </p:tav>
                                        <p:tav tm="100000">
                                          <p:val>
                                            <p:strVal val="#ppt_x"/>
                                          </p:val>
                                        </p:tav>
                                      </p:tavLst>
                                    </p:anim>
                                    <p:anim calcmode="lin" valueType="num">
                                      <p:cBhvr additive="base">
                                        <p:cTn id="19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9" grpId="1" animBg="1"/>
      <p:bldP spid="9" grpId="2" animBg="1"/>
      <p:bldP spid="10" grpId="0" animBg="1"/>
      <p:bldP spid="11" grpId="0" animBg="1"/>
      <p:bldP spid="11" grpId="1" animBg="1"/>
      <p:bldP spid="13" grpId="0" animBg="1"/>
      <p:bldP spid="13" grpId="1" animBg="1"/>
      <p:bldP spid="13" grpId="2" animBg="1"/>
      <p:bldP spid="14" grpId="0" animBg="1"/>
      <p:bldP spid="14" grpId="1" animBg="1"/>
      <p:bldP spid="14" grpId="2" animBg="1"/>
      <p:bldP spid="15" grpId="0" animBg="1"/>
      <p:bldP spid="15" grpId="1" animBg="1"/>
      <p:bldP spid="15" grpId="2" animBg="1"/>
      <p:bldP spid="18"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2F87-27BC-134C-92BF-3D75A2BA1100}"/>
              </a:ext>
            </a:extLst>
          </p:cNvPr>
          <p:cNvSpPr>
            <a:spLocks noGrp="1"/>
          </p:cNvSpPr>
          <p:nvPr>
            <p:ph type="title"/>
          </p:nvPr>
        </p:nvSpPr>
        <p:spPr/>
        <p:txBody>
          <a:bodyPr/>
          <a:lstStyle/>
          <a:p>
            <a:r>
              <a:rPr lang="en-US" b="1" dirty="0"/>
              <a:t>Gardener </a:t>
            </a:r>
            <a:r>
              <a:rPr lang="en-GB" dirty="0"/>
              <a:t>Shoot</a:t>
            </a:r>
            <a:r>
              <a:rPr lang="en-GB" sz="2000" dirty="0"/>
              <a:t> </a:t>
            </a:r>
            <a:r>
              <a:rPr lang="en-GB" dirty="0"/>
              <a:t>Resource</a:t>
            </a:r>
          </a:p>
        </p:txBody>
      </p:sp>
      <p:pic>
        <p:nvPicPr>
          <p:cNvPr id="7" name="Picture 6">
            <a:extLst>
              <a:ext uri="{FF2B5EF4-FFF2-40B4-BE49-F238E27FC236}">
                <a16:creationId xmlns:a16="http://schemas.microsoft.com/office/drawing/2014/main" id="{7FEE6A4D-081B-46E7-A734-78F911BEF772}"/>
              </a:ext>
            </a:extLst>
          </p:cNvPr>
          <p:cNvPicPr>
            <a:picLocks noChangeAspect="1"/>
          </p:cNvPicPr>
          <p:nvPr/>
        </p:nvPicPr>
        <p:blipFill>
          <a:blip r:embed="rId3"/>
          <a:stretch>
            <a:fillRect/>
          </a:stretch>
        </p:blipFill>
        <p:spPr>
          <a:xfrm>
            <a:off x="5417755" y="948452"/>
            <a:ext cx="5423903" cy="5405548"/>
          </a:xfrm>
          <a:prstGeom prst="rect">
            <a:avLst/>
          </a:prstGeom>
          <a:ln>
            <a:solidFill>
              <a:schemeClr val="tx1"/>
            </a:solidFill>
          </a:ln>
        </p:spPr>
      </p:pic>
      <p:sp>
        <p:nvSpPr>
          <p:cNvPr id="8" name="Speech Bubble: Rectangle 7">
            <a:extLst>
              <a:ext uri="{FF2B5EF4-FFF2-40B4-BE49-F238E27FC236}">
                <a16:creationId xmlns:a16="http://schemas.microsoft.com/office/drawing/2014/main" id="{F2AE200C-B5A7-4065-BC6E-32CA9B0377E9}"/>
              </a:ext>
            </a:extLst>
          </p:cNvPr>
          <p:cNvSpPr/>
          <p:nvPr/>
        </p:nvSpPr>
        <p:spPr bwMode="gray">
          <a:xfrm>
            <a:off x="2466421" y="2581321"/>
            <a:ext cx="2286000" cy="466581"/>
          </a:xfrm>
          <a:prstGeom prst="wedgeRectCallout">
            <a:avLst>
              <a:gd name="adj1" fmla="val 103593"/>
              <a:gd name="adj2" fmla="val -44371"/>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dirty="0"/>
              <a:t>manage my DNS</a:t>
            </a:r>
          </a:p>
        </p:txBody>
      </p:sp>
      <p:sp>
        <p:nvSpPr>
          <p:cNvPr id="25" name="Speech Bubble: Rectangle 24">
            <a:extLst>
              <a:ext uri="{FF2B5EF4-FFF2-40B4-BE49-F238E27FC236}">
                <a16:creationId xmlns:a16="http://schemas.microsoft.com/office/drawing/2014/main" id="{FD4F7A38-9DDD-4CAB-801F-EB97659469A3}"/>
              </a:ext>
            </a:extLst>
          </p:cNvPr>
          <p:cNvSpPr/>
          <p:nvPr/>
        </p:nvSpPr>
        <p:spPr bwMode="gray">
          <a:xfrm>
            <a:off x="652067" y="3429000"/>
            <a:ext cx="2733569" cy="735003"/>
          </a:xfrm>
          <a:prstGeom prst="wedgeRectCallout">
            <a:avLst>
              <a:gd name="adj1" fmla="val 142342"/>
              <a:gd name="adj2" fmla="val -101897"/>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dirty="0"/>
              <a:t>set K8S version &amp; </a:t>
            </a:r>
          </a:p>
          <a:p>
            <a:pPr algn="ctr"/>
            <a:r>
              <a:rPr lang="en-US" sz="1600" dirty="0"/>
              <a:t>tweak K8S control plane</a:t>
            </a:r>
          </a:p>
        </p:txBody>
      </p:sp>
      <p:sp>
        <p:nvSpPr>
          <p:cNvPr id="26" name="Speech Bubble: Rectangle 25">
            <a:extLst>
              <a:ext uri="{FF2B5EF4-FFF2-40B4-BE49-F238E27FC236}">
                <a16:creationId xmlns:a16="http://schemas.microsoft.com/office/drawing/2014/main" id="{09226930-50AB-45BB-BA36-60C53DFDDAE7}"/>
              </a:ext>
            </a:extLst>
          </p:cNvPr>
          <p:cNvSpPr/>
          <p:nvPr/>
        </p:nvSpPr>
        <p:spPr bwMode="gray">
          <a:xfrm>
            <a:off x="1024431" y="1877069"/>
            <a:ext cx="2286000" cy="466581"/>
          </a:xfrm>
          <a:prstGeom prst="wedgeRectCallout">
            <a:avLst>
              <a:gd name="adj1" fmla="val 159396"/>
              <a:gd name="adj2" fmla="val 326"/>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a:t>specify Cloud provider</a:t>
            </a:r>
            <a:endParaRPr lang="en-US" sz="1600" dirty="0"/>
          </a:p>
        </p:txBody>
      </p:sp>
      <p:sp>
        <p:nvSpPr>
          <p:cNvPr id="27" name="Speech Bubble: Rectangle 26">
            <a:extLst>
              <a:ext uri="{FF2B5EF4-FFF2-40B4-BE49-F238E27FC236}">
                <a16:creationId xmlns:a16="http://schemas.microsoft.com/office/drawing/2014/main" id="{0F544CB0-0E4E-4227-9B07-9D4CB84B5BC6}"/>
              </a:ext>
            </a:extLst>
          </p:cNvPr>
          <p:cNvSpPr/>
          <p:nvPr/>
        </p:nvSpPr>
        <p:spPr bwMode="gray">
          <a:xfrm>
            <a:off x="1024432" y="4655187"/>
            <a:ext cx="2922678" cy="466582"/>
          </a:xfrm>
          <a:prstGeom prst="wedgeRectCallout">
            <a:avLst>
              <a:gd name="adj1" fmla="val 121210"/>
              <a:gd name="adj2" fmla="val -206763"/>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dirty="0"/>
              <a:t>define pools of worker nodes</a:t>
            </a:r>
          </a:p>
        </p:txBody>
      </p:sp>
      <p:sp>
        <p:nvSpPr>
          <p:cNvPr id="28" name="Speech Bubble: Rectangle 27">
            <a:extLst>
              <a:ext uri="{FF2B5EF4-FFF2-40B4-BE49-F238E27FC236}">
                <a16:creationId xmlns:a16="http://schemas.microsoft.com/office/drawing/2014/main" id="{7BEA330B-C7B8-4215-83B1-C20D3EA85DE8}"/>
              </a:ext>
            </a:extLst>
          </p:cNvPr>
          <p:cNvSpPr/>
          <p:nvPr/>
        </p:nvSpPr>
        <p:spPr bwMode="gray">
          <a:xfrm>
            <a:off x="1441415" y="5537996"/>
            <a:ext cx="2922678" cy="466582"/>
          </a:xfrm>
          <a:prstGeom prst="wedgeRectCallout">
            <a:avLst>
              <a:gd name="adj1" fmla="val 106939"/>
              <a:gd name="adj2" fmla="val 30474"/>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dirty="0"/>
              <a:t>network configuration</a:t>
            </a:r>
          </a:p>
        </p:txBody>
      </p:sp>
      <p:sp>
        <p:nvSpPr>
          <p:cNvPr id="29" name="Speech Bubble: Rectangle 28">
            <a:extLst>
              <a:ext uri="{FF2B5EF4-FFF2-40B4-BE49-F238E27FC236}">
                <a16:creationId xmlns:a16="http://schemas.microsoft.com/office/drawing/2014/main" id="{FE7D9293-8C66-4832-8C09-0B4F9751F38F}"/>
              </a:ext>
            </a:extLst>
          </p:cNvPr>
          <p:cNvSpPr/>
          <p:nvPr/>
        </p:nvSpPr>
        <p:spPr bwMode="gray">
          <a:xfrm>
            <a:off x="1213541" y="1131225"/>
            <a:ext cx="2733569" cy="466581"/>
          </a:xfrm>
          <a:prstGeom prst="wedgeRectCallout">
            <a:avLst>
              <a:gd name="adj1" fmla="val 112964"/>
              <a:gd name="adj2" fmla="val -31900"/>
            </a:avLst>
          </a:prstGeom>
          <a:solidFill>
            <a:schemeClr val="bg1">
              <a:lumMod val="95000"/>
            </a:schemeClr>
          </a:solidFill>
          <a:ln w="12700" algn="ctr">
            <a:solidFill>
              <a:schemeClr val="tx1"/>
            </a:solidFill>
            <a:miter lim="800000"/>
            <a:headEnd/>
            <a:tailEnd/>
          </a:ln>
        </p:spPr>
        <p:txBody>
          <a:bodyPr lIns="90000" tIns="72000" rIns="90000" bIns="72000" rtlCol="0" anchor="ctr"/>
          <a:lstStyle/>
          <a:p>
            <a:pPr algn="ctr"/>
            <a:r>
              <a:rPr lang="en-US" sz="1600" dirty="0"/>
              <a:t>native Kubernetes resource</a:t>
            </a:r>
          </a:p>
        </p:txBody>
      </p:sp>
    </p:spTree>
    <p:extLst>
      <p:ext uri="{BB962C8B-B14F-4D97-AF65-F5344CB8AC3E}">
        <p14:creationId xmlns:p14="http://schemas.microsoft.com/office/powerpoint/2010/main" val="270075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title"/>
          </p:nvPr>
        </p:nvSpPr>
        <p:spPr>
          <a:xfrm>
            <a:off x="504001" y="504000"/>
            <a:ext cx="11186476" cy="369332"/>
          </a:xfrm>
        </p:spPr>
        <p:txBody>
          <a:bodyPr/>
          <a:lstStyle/>
          <a:p>
            <a:r>
              <a:rPr lang="en-GB"/>
              <a:t>API Extensibility</a:t>
            </a:r>
            <a:endParaRPr lang="en-GB" dirty="0"/>
          </a:p>
        </p:txBody>
      </p:sp>
      <p:sp>
        <p:nvSpPr>
          <p:cNvPr id="59" name="Rectangle 58">
            <a:extLst>
              <a:ext uri="{FF2B5EF4-FFF2-40B4-BE49-F238E27FC236}">
                <a16:creationId xmlns:a16="http://schemas.microsoft.com/office/drawing/2014/main" id="{89B36536-5FA9-4997-B082-A095DF72D343}"/>
              </a:ext>
            </a:extLst>
          </p:cNvPr>
          <p:cNvSpPr/>
          <p:nvPr/>
        </p:nvSpPr>
        <p:spPr bwMode="gray">
          <a:xfrm>
            <a:off x="648854" y="1422391"/>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GB" sz="1800" b="1" kern="0" noProof="0">
                <a:ea typeface="Arial Unicode MS" pitchFamily="34" charset="-128"/>
                <a:cs typeface="Arial Unicode MS" pitchFamily="34" charset="-128"/>
              </a:rPr>
              <a:t>kubectl</a:t>
            </a:r>
            <a:endParaRPr kumimoji="0" lang="en-GB"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1" name="Oval 60">
            <a:extLst>
              <a:ext uri="{FF2B5EF4-FFF2-40B4-BE49-F238E27FC236}">
                <a16:creationId xmlns:a16="http://schemas.microsoft.com/office/drawing/2014/main" id="{FE24D9BA-F48E-4963-90B4-AD5FAED26E8B}"/>
              </a:ext>
            </a:extLst>
          </p:cNvPr>
          <p:cNvSpPr/>
          <p:nvPr/>
        </p:nvSpPr>
        <p:spPr bwMode="gray">
          <a:xfrm>
            <a:off x="581922" y="1191886"/>
            <a:ext cx="302071" cy="312420"/>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2" name="Flowchart: Delay 61">
            <a:extLst>
              <a:ext uri="{FF2B5EF4-FFF2-40B4-BE49-F238E27FC236}">
                <a16:creationId xmlns:a16="http://schemas.microsoft.com/office/drawing/2014/main" id="{1DE73D44-7D2B-4FE9-8E18-F4183E6CEF6C}"/>
              </a:ext>
            </a:extLst>
          </p:cNvPr>
          <p:cNvSpPr/>
          <p:nvPr/>
        </p:nvSpPr>
        <p:spPr bwMode="gray">
          <a:xfrm rot="16200000">
            <a:off x="460543" y="1600405"/>
            <a:ext cx="544828" cy="459313"/>
          </a:xfrm>
          <a:prstGeom prst="flowChartDelay">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79" name="Group 78">
            <a:extLst>
              <a:ext uri="{FF2B5EF4-FFF2-40B4-BE49-F238E27FC236}">
                <a16:creationId xmlns:a16="http://schemas.microsoft.com/office/drawing/2014/main" id="{3A96928D-AB60-4A6A-AD59-11BCFAC856E1}"/>
              </a:ext>
            </a:extLst>
          </p:cNvPr>
          <p:cNvGrpSpPr/>
          <p:nvPr/>
        </p:nvGrpSpPr>
        <p:grpSpPr>
          <a:xfrm>
            <a:off x="4318681" y="3521739"/>
            <a:ext cx="3248478" cy="2562433"/>
            <a:chOff x="4318681" y="3521739"/>
            <a:chExt cx="3248478" cy="2562433"/>
          </a:xfrm>
        </p:grpSpPr>
        <p:cxnSp>
          <p:nvCxnSpPr>
            <p:cNvPr id="47" name="Straight Connector 46">
              <a:extLst>
                <a:ext uri="{FF2B5EF4-FFF2-40B4-BE49-F238E27FC236}">
                  <a16:creationId xmlns:a16="http://schemas.microsoft.com/office/drawing/2014/main" id="{5707241B-EC7A-49B9-B963-47E1048C6DF6}"/>
                </a:ext>
              </a:extLst>
            </p:cNvPr>
            <p:cNvCxnSpPr>
              <a:cxnSpLocks/>
              <a:stCxn id="54" idx="0"/>
            </p:cNvCxnSpPr>
            <p:nvPr/>
          </p:nvCxnSpPr>
          <p:spPr>
            <a:xfrm flipV="1">
              <a:off x="5942920" y="3521739"/>
              <a:ext cx="0" cy="580956"/>
            </a:xfrm>
            <a:prstGeom prst="line">
              <a:avLst/>
            </a:prstGeom>
            <a:ln w="508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4C133F86-45B4-4C57-A958-5711B8A5A1B9}"/>
                </a:ext>
              </a:extLst>
            </p:cNvPr>
            <p:cNvPicPr>
              <a:picLocks noChangeAspect="1"/>
            </p:cNvPicPr>
            <p:nvPr/>
          </p:nvPicPr>
          <p:blipFill>
            <a:blip r:embed="rId3"/>
            <a:stretch>
              <a:fillRect/>
            </a:stretch>
          </p:blipFill>
          <p:spPr>
            <a:xfrm>
              <a:off x="4318681" y="4102695"/>
              <a:ext cx="3248478" cy="1981477"/>
            </a:xfrm>
            <a:prstGeom prst="rect">
              <a:avLst/>
            </a:prstGeom>
            <a:ln>
              <a:solidFill>
                <a:schemeClr val="tx1"/>
              </a:solidFill>
            </a:ln>
          </p:spPr>
        </p:pic>
      </p:grpSp>
      <p:grpSp>
        <p:nvGrpSpPr>
          <p:cNvPr id="77" name="Group 76">
            <a:extLst>
              <a:ext uri="{FF2B5EF4-FFF2-40B4-BE49-F238E27FC236}">
                <a16:creationId xmlns:a16="http://schemas.microsoft.com/office/drawing/2014/main" id="{6037A663-7900-407B-B2B6-84ABF102786E}"/>
              </a:ext>
            </a:extLst>
          </p:cNvPr>
          <p:cNvGrpSpPr/>
          <p:nvPr/>
        </p:nvGrpSpPr>
        <p:grpSpPr>
          <a:xfrm>
            <a:off x="8574543" y="2464222"/>
            <a:ext cx="2506831" cy="3526501"/>
            <a:chOff x="8574543" y="2464222"/>
            <a:chExt cx="2506831" cy="3526501"/>
          </a:xfrm>
        </p:grpSpPr>
        <p:cxnSp>
          <p:nvCxnSpPr>
            <p:cNvPr id="41" name="Straight Arrow Connector 40">
              <a:extLst>
                <a:ext uri="{FF2B5EF4-FFF2-40B4-BE49-F238E27FC236}">
                  <a16:creationId xmlns:a16="http://schemas.microsoft.com/office/drawing/2014/main" id="{D348B40E-B4BB-440D-9512-CC9D5814BC3A}"/>
                </a:ext>
              </a:extLst>
            </p:cNvPr>
            <p:cNvCxnSpPr>
              <a:cxnSpLocks/>
            </p:cNvCxnSpPr>
            <p:nvPr/>
          </p:nvCxnSpPr>
          <p:spPr>
            <a:xfrm>
              <a:off x="9271903" y="3916240"/>
              <a:ext cx="0" cy="566331"/>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FD489947-043D-404A-9140-4CE8671A4D0C}"/>
                </a:ext>
              </a:extLst>
            </p:cNvPr>
            <p:cNvSpPr/>
            <p:nvPr/>
          </p:nvSpPr>
          <p:spPr bwMode="gray">
            <a:xfrm>
              <a:off x="8574543" y="2464222"/>
              <a:ext cx="2506831" cy="3526501"/>
            </a:xfrm>
            <a:prstGeom prst="rect">
              <a:avLst/>
            </a:prstGeom>
            <a:solidFill>
              <a:schemeClr val="accent4">
                <a:lumMod val="20000"/>
                <a:lumOff val="80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GB" sz="2400" b="1" i="0" strike="noStrike" kern="0" cap="none" spc="0" normalizeH="0" baseline="0" noProof="0">
                  <a:ln>
                    <a:noFill/>
                  </a:ln>
                  <a:effectLst/>
                  <a:uLnTx/>
                  <a:uFillTx/>
                  <a:ea typeface="Arial Unicode MS" pitchFamily="34" charset="-128"/>
                  <a:cs typeface="Arial Unicode MS" pitchFamily="34" charset="-128"/>
                </a:rPr>
                <a:t>Extension</a:t>
              </a:r>
              <a:endParaRPr kumimoji="0" lang="en-GB"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73" name="Rectangle 72">
              <a:extLst>
                <a:ext uri="{FF2B5EF4-FFF2-40B4-BE49-F238E27FC236}">
                  <a16:creationId xmlns:a16="http://schemas.microsoft.com/office/drawing/2014/main" id="{9763EB35-A537-4C5E-93E5-61DBCA4C465D}"/>
                </a:ext>
              </a:extLst>
            </p:cNvPr>
            <p:cNvSpPr/>
            <p:nvPr/>
          </p:nvSpPr>
          <p:spPr bwMode="gray">
            <a:xfrm>
              <a:off x="9110893" y="4482571"/>
              <a:ext cx="1399086" cy="1164908"/>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GB" sz="1400" b="1" i="1" kern="0">
                  <a:solidFill>
                    <a:schemeClr val="tx2"/>
                  </a:solidFill>
                  <a:ea typeface="Arial Unicode MS" pitchFamily="34" charset="-128"/>
                </a:rPr>
                <a:t>dedicated</a:t>
              </a:r>
            </a:p>
            <a:p>
              <a:pPr algn="ctr" defTabSz="914400" fontAlgn="base">
                <a:spcBef>
                  <a:spcPct val="50000"/>
                </a:spcBef>
                <a:spcAft>
                  <a:spcPct val="0"/>
                </a:spcAft>
                <a:buClr>
                  <a:srgbClr val="F0AB00"/>
                </a:buClr>
                <a:buSzPct val="80000"/>
              </a:pPr>
              <a:r>
                <a:rPr lang="en-GB" sz="1800" b="1" kern="0">
                  <a:solidFill>
                    <a:schemeClr val="lt1"/>
                  </a:solidFill>
                  <a:ea typeface="Arial Unicode MS" pitchFamily="34" charset="-128"/>
                </a:rPr>
                <a:t>etcd</a:t>
              </a:r>
              <a:endParaRPr lang="en-GB" sz="1800" b="1" kern="0" dirty="0">
                <a:solidFill>
                  <a:schemeClr val="lt1"/>
                </a:solidFill>
                <a:ea typeface="Arial Unicode MS" pitchFamily="34" charset="-128"/>
              </a:endParaRPr>
            </a:p>
          </p:txBody>
        </p:sp>
        <p:cxnSp>
          <p:nvCxnSpPr>
            <p:cNvPr id="74" name="Straight Arrow Connector 73">
              <a:extLst>
                <a:ext uri="{FF2B5EF4-FFF2-40B4-BE49-F238E27FC236}">
                  <a16:creationId xmlns:a16="http://schemas.microsoft.com/office/drawing/2014/main" id="{7F06EF3C-52A0-4623-9E90-EAC51680BBE1}"/>
                </a:ext>
              </a:extLst>
            </p:cNvPr>
            <p:cNvCxnSpPr>
              <a:cxnSpLocks/>
              <a:stCxn id="75" idx="2"/>
              <a:endCxn id="73" idx="0"/>
            </p:cNvCxnSpPr>
            <p:nvPr/>
          </p:nvCxnSpPr>
          <p:spPr>
            <a:xfrm>
              <a:off x="9810436" y="3896307"/>
              <a:ext cx="0" cy="586264"/>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45C429B8-816C-40A2-A5F6-204D3ED1AD28}"/>
                </a:ext>
              </a:extLst>
            </p:cNvPr>
            <p:cNvSpPr/>
            <p:nvPr/>
          </p:nvSpPr>
          <p:spPr bwMode="gray">
            <a:xfrm>
              <a:off x="8865427" y="3050487"/>
              <a:ext cx="1890018" cy="84582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GB" sz="1800" b="1" i="0" u="none" strike="noStrike" kern="0" cap="none" spc="0" normalizeH="0" baseline="0" noProof="0">
                  <a:ln>
                    <a:noFill/>
                  </a:ln>
                  <a:effectLst/>
                  <a:uLnTx/>
                  <a:uFillTx/>
                  <a:ea typeface="Arial Unicode MS" pitchFamily="34" charset="-128"/>
                  <a:cs typeface="Arial Unicode MS" pitchFamily="34" charset="-128"/>
                </a:rPr>
                <a:t>API</a:t>
              </a:r>
              <a:r>
                <a:rPr kumimoji="0" lang="en-GB" sz="1800" b="1" i="0" u="none" strike="noStrike" kern="0" cap="none" spc="0" normalizeH="0" noProof="0">
                  <a:ln>
                    <a:noFill/>
                  </a:ln>
                  <a:effectLst/>
                  <a:uLnTx/>
                  <a:uFillTx/>
                  <a:ea typeface="Arial Unicode MS" pitchFamily="34" charset="-128"/>
                  <a:cs typeface="Arial Unicode MS" pitchFamily="34" charset="-128"/>
                </a:rPr>
                <a:t> Server</a:t>
              </a:r>
              <a:endParaRPr kumimoji="0" lang="en-GB" sz="1800" b="1"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44" name="Speech Bubble: Rectangle with Corners Rounded 43">
            <a:extLst>
              <a:ext uri="{FF2B5EF4-FFF2-40B4-BE49-F238E27FC236}">
                <a16:creationId xmlns:a16="http://schemas.microsoft.com/office/drawing/2014/main" id="{BC9726FE-E128-43FB-BE27-FA8585BFABF7}"/>
              </a:ext>
            </a:extLst>
          </p:cNvPr>
          <p:cNvSpPr/>
          <p:nvPr/>
        </p:nvSpPr>
        <p:spPr bwMode="gray">
          <a:xfrm>
            <a:off x="6920004" y="890439"/>
            <a:ext cx="2025523" cy="1334415"/>
          </a:xfrm>
          <a:prstGeom prst="wedgeRoundRectCallout">
            <a:avLst>
              <a:gd name="adj1" fmla="val 50593"/>
              <a:gd name="adj2" fmla="val 117637"/>
              <a:gd name="adj3" fmla="val 16667"/>
            </a:avLst>
          </a:prstGeom>
          <a:solidFill>
            <a:schemeClr val="accent1">
              <a:lumMod val="20000"/>
              <a:lumOff val="80000"/>
            </a:schemeClr>
          </a:solidFill>
          <a:ln w="6350" algn="ctr">
            <a:solidFill>
              <a:schemeClr val="accent1"/>
            </a:solidFill>
            <a:miter lim="800000"/>
            <a:headEnd/>
            <a:tailEnd/>
          </a:ln>
        </p:spPr>
        <p:txBody>
          <a:bodyPr lIns="90000" tIns="72000" rIns="90000" bIns="72000" rtlCol="0" anchor="ctr"/>
          <a:lstStyle/>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kumimoji="0" lang="en-GB" sz="1600" b="0" i="0" u="none" strike="noStrike" kern="0" cap="none" spc="0" normalizeH="0" baseline="0" noProof="0">
                <a:ln>
                  <a:noFill/>
                </a:ln>
                <a:effectLst/>
                <a:uLnTx/>
                <a:uFillTx/>
                <a:ea typeface="Arial Unicode MS" pitchFamily="34" charset="-128"/>
                <a:cs typeface="Arial Unicode MS" pitchFamily="34" charset="-128"/>
              </a:rPr>
              <a:t>Shoot</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Seed</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kumimoji="0" lang="en-GB" sz="1600" b="0" i="0" u="none" strike="noStrike" kern="0" cap="none" spc="0" normalizeH="0" baseline="0" noProof="0">
                <a:ln>
                  <a:noFill/>
                </a:ln>
                <a:effectLst/>
                <a:uLnTx/>
                <a:uFillTx/>
                <a:ea typeface="Arial Unicode MS" pitchFamily="34" charset="-128"/>
                <a:cs typeface="Arial Unicode MS" pitchFamily="34" charset="-128"/>
              </a:rPr>
              <a:t>CloudProfile</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SecretBinding</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a:t>
            </a:r>
            <a:endParaRPr kumimoji="0" lang="en-GB"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2" name="Arrow: Right 51">
            <a:extLst>
              <a:ext uri="{FF2B5EF4-FFF2-40B4-BE49-F238E27FC236}">
                <a16:creationId xmlns:a16="http://schemas.microsoft.com/office/drawing/2014/main" id="{669061ED-6334-4411-9EEA-6F882FEB2E74}"/>
              </a:ext>
            </a:extLst>
          </p:cNvPr>
          <p:cNvSpPr/>
          <p:nvPr/>
        </p:nvSpPr>
        <p:spPr bwMode="gray">
          <a:xfrm>
            <a:off x="3098477" y="3238299"/>
            <a:ext cx="5854330" cy="510059"/>
          </a:xfrm>
          <a:prstGeom prst="rightArrow">
            <a:avLst/>
          </a:prstGeom>
          <a:solidFill>
            <a:schemeClr val="accent5">
              <a:lumMod val="40000"/>
              <a:lumOff val="60000"/>
            </a:schemeClr>
          </a:solidFill>
          <a:ln w="6350" algn="ctr">
            <a:solidFill>
              <a:schemeClr val="accent5"/>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78" name="Group 77">
            <a:extLst>
              <a:ext uri="{FF2B5EF4-FFF2-40B4-BE49-F238E27FC236}">
                <a16:creationId xmlns:a16="http://schemas.microsoft.com/office/drawing/2014/main" id="{1032A262-7937-4BDD-A4C0-BB9B2FDBAD5B}"/>
              </a:ext>
            </a:extLst>
          </p:cNvPr>
          <p:cNvGrpSpPr/>
          <p:nvPr/>
        </p:nvGrpSpPr>
        <p:grpSpPr>
          <a:xfrm>
            <a:off x="917575" y="2464222"/>
            <a:ext cx="2506831" cy="3526501"/>
            <a:chOff x="917575" y="2464222"/>
            <a:chExt cx="2506831" cy="3526501"/>
          </a:xfrm>
        </p:grpSpPr>
        <p:sp>
          <p:nvSpPr>
            <p:cNvPr id="3" name="Rectangle 2"/>
            <p:cNvSpPr/>
            <p:nvPr/>
          </p:nvSpPr>
          <p:spPr bwMode="gray">
            <a:xfrm>
              <a:off x="917575" y="2464222"/>
              <a:ext cx="2506831" cy="3526501"/>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GB" sz="2400" b="1" i="0" strike="noStrike" kern="0" cap="none" spc="0" normalizeH="0" baseline="0" noProof="0">
                  <a:ln>
                    <a:noFill/>
                  </a:ln>
                  <a:effectLst/>
                  <a:uLnTx/>
                  <a:uFillTx/>
                  <a:ea typeface="Arial Unicode MS" pitchFamily="34" charset="-128"/>
                  <a:cs typeface="Arial Unicode MS" pitchFamily="34" charset="-128"/>
                </a:rPr>
                <a:t>Master</a:t>
              </a:r>
              <a:endParaRPr kumimoji="0" lang="en-GB"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23" name="Rectangle 22"/>
            <p:cNvSpPr/>
            <p:nvPr/>
          </p:nvSpPr>
          <p:spPr bwMode="gray">
            <a:xfrm>
              <a:off x="1453925" y="4482571"/>
              <a:ext cx="1399086" cy="1164908"/>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GB" sz="1800" b="1" kern="0">
                  <a:solidFill>
                    <a:schemeClr val="lt1"/>
                  </a:solidFill>
                  <a:ea typeface="Arial Unicode MS" pitchFamily="34" charset="-128"/>
                </a:rPr>
                <a:t>etcd</a:t>
              </a:r>
              <a:endParaRPr lang="en-GB" sz="1800" b="1" kern="0" dirty="0">
                <a:solidFill>
                  <a:schemeClr val="lt1"/>
                </a:solidFill>
                <a:ea typeface="Arial Unicode MS" pitchFamily="34" charset="-128"/>
              </a:endParaRPr>
            </a:p>
          </p:txBody>
        </p:sp>
        <p:cxnSp>
          <p:nvCxnSpPr>
            <p:cNvPr id="25" name="Straight Arrow Connector 24"/>
            <p:cNvCxnSpPr>
              <a:cxnSpLocks/>
              <a:stCxn id="4" idx="2"/>
              <a:endCxn id="23" idx="0"/>
            </p:cNvCxnSpPr>
            <p:nvPr/>
          </p:nvCxnSpPr>
          <p:spPr>
            <a:xfrm>
              <a:off x="2153468" y="3896307"/>
              <a:ext cx="0" cy="586264"/>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bwMode="gray">
            <a:xfrm>
              <a:off x="1208459" y="3050487"/>
              <a:ext cx="1890018" cy="84582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GB" sz="1800" b="1" i="0" u="none" strike="noStrike" kern="0" cap="none" spc="0" normalizeH="0" baseline="0" noProof="0">
                  <a:ln>
                    <a:noFill/>
                  </a:ln>
                  <a:effectLst/>
                  <a:uLnTx/>
                  <a:uFillTx/>
                  <a:ea typeface="Arial Unicode MS" pitchFamily="34" charset="-128"/>
                  <a:cs typeface="Arial Unicode MS" pitchFamily="34" charset="-128"/>
                </a:rPr>
                <a:t>API</a:t>
              </a:r>
              <a:r>
                <a:rPr kumimoji="0" lang="en-GB" sz="1800" b="1" i="0" u="none" strike="noStrike" kern="0" cap="none" spc="0" normalizeH="0" noProof="0">
                  <a:ln>
                    <a:noFill/>
                  </a:ln>
                  <a:effectLst/>
                  <a:uLnTx/>
                  <a:uFillTx/>
                  <a:ea typeface="Arial Unicode MS" pitchFamily="34" charset="-128"/>
                  <a:cs typeface="Arial Unicode MS" pitchFamily="34" charset="-128"/>
                </a:rPr>
                <a:t> Server</a:t>
              </a:r>
              <a:endParaRPr kumimoji="0" lang="en-GB" sz="1800" b="1"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8" name="Speech Bubble: Rectangle with Corners Rounded 17">
            <a:extLst>
              <a:ext uri="{FF2B5EF4-FFF2-40B4-BE49-F238E27FC236}">
                <a16:creationId xmlns:a16="http://schemas.microsoft.com/office/drawing/2014/main" id="{B3D88D71-32D7-4877-A352-279F16EB94B2}"/>
              </a:ext>
            </a:extLst>
          </p:cNvPr>
          <p:cNvSpPr/>
          <p:nvPr/>
        </p:nvSpPr>
        <p:spPr bwMode="gray">
          <a:xfrm>
            <a:off x="3243079" y="771851"/>
            <a:ext cx="2344189" cy="1751115"/>
          </a:xfrm>
          <a:prstGeom prst="wedgeRoundRectCallout">
            <a:avLst>
              <a:gd name="adj1" fmla="val -65187"/>
              <a:gd name="adj2" fmla="val 89901"/>
              <a:gd name="adj3" fmla="val 16667"/>
            </a:avLst>
          </a:prstGeom>
          <a:solidFill>
            <a:schemeClr val="accent1">
              <a:lumMod val="20000"/>
              <a:lumOff val="80000"/>
            </a:schemeClr>
          </a:solidFill>
          <a:ln w="6350" algn="ctr">
            <a:solidFill>
              <a:schemeClr val="accent1"/>
            </a:solidFill>
            <a:miter lim="800000"/>
            <a:headEnd/>
            <a:tailEnd/>
          </a:ln>
        </p:spPr>
        <p:txBody>
          <a:bodyPr lIns="90000" tIns="72000" rIns="90000" bIns="72000" rtlCol="0" anchor="ctr"/>
          <a:lstStyle/>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kumimoji="0" lang="en-GB" sz="1600" b="0" i="0" u="none" strike="noStrike" kern="0" cap="none" spc="0" normalizeH="0" baseline="0" noProof="0">
                <a:ln>
                  <a:noFill/>
                </a:ln>
                <a:effectLst/>
                <a:uLnTx/>
                <a:uFillTx/>
                <a:ea typeface="Arial Unicode MS" pitchFamily="34" charset="-128"/>
                <a:cs typeface="Arial Unicode MS" pitchFamily="34" charset="-128"/>
              </a:rPr>
              <a:t>Pod</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Deployment</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kumimoji="0" lang="en-GB" sz="1600" b="0" i="0" u="none" strike="noStrike" kern="0" cap="none" spc="0" normalizeH="0" baseline="0" noProof="0">
                <a:ln>
                  <a:noFill/>
                </a:ln>
                <a:effectLst/>
                <a:uLnTx/>
                <a:uFillTx/>
                <a:ea typeface="Arial Unicode MS" pitchFamily="34" charset="-128"/>
                <a:cs typeface="Arial Unicode MS" pitchFamily="34" charset="-128"/>
              </a:rPr>
              <a:t>Service</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PersistentVolume</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kumimoji="0" lang="en-GB" sz="1600" b="0" i="0" u="none" strike="noStrike" kern="0" cap="none" spc="0" normalizeH="0" baseline="0" noProof="0">
                <a:ln>
                  <a:noFill/>
                </a:ln>
                <a:effectLst/>
                <a:uLnTx/>
                <a:uFillTx/>
                <a:ea typeface="Arial Unicode MS" pitchFamily="34" charset="-128"/>
                <a:cs typeface="Arial Unicode MS" pitchFamily="34" charset="-128"/>
              </a:rPr>
              <a:t>Node</a:t>
            </a:r>
          </a:p>
          <a:p>
            <a:pPr marL="285750" marR="0" indent="-285750" defTabSz="914400" eaLnBrk="1" fontAlgn="base" latinLnBrk="0" hangingPunct="1">
              <a:lnSpc>
                <a:spcPct val="100000"/>
              </a:lnSpc>
              <a:spcAft>
                <a:spcPct val="0"/>
              </a:spcAft>
              <a:buClr>
                <a:srgbClr val="F0AB00"/>
              </a:buClr>
              <a:buSzPct val="80000"/>
              <a:buFont typeface="Arial" panose="020B0604020202020204" pitchFamily="34" charset="0"/>
              <a:buChar char="•"/>
              <a:tabLst/>
            </a:pPr>
            <a:r>
              <a:rPr lang="en-GB" sz="1600" kern="0">
                <a:ea typeface="Arial Unicode MS" pitchFamily="34" charset="-128"/>
                <a:cs typeface="Arial Unicode MS" pitchFamily="34" charset="-128"/>
              </a:rPr>
              <a:t>…</a:t>
            </a:r>
            <a:endParaRPr kumimoji="0" lang="en-GB" sz="16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63" name="Straight Arrow Connector 62">
            <a:extLst>
              <a:ext uri="{FF2B5EF4-FFF2-40B4-BE49-F238E27FC236}">
                <a16:creationId xmlns:a16="http://schemas.microsoft.com/office/drawing/2014/main" id="{EF8C106D-0E06-43EA-B7C0-93AD6D4B7743}"/>
              </a:ext>
            </a:extLst>
          </p:cNvPr>
          <p:cNvCxnSpPr/>
          <p:nvPr/>
        </p:nvCxnSpPr>
        <p:spPr>
          <a:xfrm>
            <a:off x="1435252" y="1856731"/>
            <a:ext cx="7620" cy="1156335"/>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9863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1586E469-D4BE-4FD2-8C2F-DB3709242579}"/>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57403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9C8610C-77B4-42F3-B341-765C9B2310BE}"/>
              </a:ext>
            </a:extLst>
          </p:cNvPr>
          <p:cNvGrpSpPr/>
          <p:nvPr/>
        </p:nvGrpSpPr>
        <p:grpSpPr>
          <a:xfrm>
            <a:off x="1273253" y="1374750"/>
            <a:ext cx="3336848" cy="2669803"/>
            <a:chOff x="1173699" y="1807370"/>
            <a:chExt cx="3336848" cy="2669803"/>
          </a:xfrm>
        </p:grpSpPr>
        <p:pic>
          <p:nvPicPr>
            <p:cNvPr id="7" name="Picture 6">
              <a:extLst>
                <a:ext uri="{FF2B5EF4-FFF2-40B4-BE49-F238E27FC236}">
                  <a16:creationId xmlns:a16="http://schemas.microsoft.com/office/drawing/2014/main" id="{AF4DF82C-DA41-C647-8AEF-C5B7980BD8B3}"/>
                </a:ext>
              </a:extLst>
            </p:cNvPr>
            <p:cNvPicPr>
              <a:picLocks noChangeAspect="1"/>
            </p:cNvPicPr>
            <p:nvPr/>
          </p:nvPicPr>
          <p:blipFill>
            <a:blip r:embed="rId3"/>
            <a:stretch>
              <a:fillRect/>
            </a:stretch>
          </p:blipFill>
          <p:spPr>
            <a:xfrm>
              <a:off x="1820607" y="1893028"/>
              <a:ext cx="2584145" cy="2584145"/>
            </a:xfrm>
            <a:prstGeom prst="rect">
              <a:avLst/>
            </a:prstGeom>
          </p:spPr>
        </p:pic>
        <p:sp>
          <p:nvSpPr>
            <p:cNvPr id="8" name="TextBox 7">
              <a:extLst>
                <a:ext uri="{FF2B5EF4-FFF2-40B4-BE49-F238E27FC236}">
                  <a16:creationId xmlns:a16="http://schemas.microsoft.com/office/drawing/2014/main" id="{013F45C4-92A5-C246-8F49-3305090522A2}"/>
                </a:ext>
              </a:extLst>
            </p:cNvPr>
            <p:cNvSpPr txBox="1"/>
            <p:nvPr/>
          </p:nvSpPr>
          <p:spPr>
            <a:xfrm>
              <a:off x="1173699" y="1807370"/>
              <a:ext cx="3336848" cy="615553"/>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000" b="1" kern="0">
                  <a:ea typeface="Arial Unicode MS" pitchFamily="34" charset="-128"/>
                  <a:cs typeface="Arial Unicode MS" pitchFamily="34" charset="-128"/>
                </a:rPr>
                <a:t>3000 +  </a:t>
              </a:r>
              <a:r>
                <a:rPr lang="en-US" sz="2000" kern="0">
                  <a:ea typeface="Arial Unicode MS" pitchFamily="34" charset="-128"/>
                  <a:cs typeface="Arial Unicode MS" pitchFamily="34" charset="-128"/>
                </a:rPr>
                <a:t>Production clusters </a:t>
              </a:r>
              <a:r>
                <a:rPr lang="en-US" sz="2000" b="1" kern="0">
                  <a:ea typeface="Arial Unicode MS" pitchFamily="34" charset="-128"/>
                  <a:cs typeface="Arial Unicode MS" pitchFamily="34" charset="-128"/>
                </a:rPr>
                <a:t>60 +   </a:t>
              </a:r>
              <a:r>
                <a:rPr lang="en-US" sz="2000" kern="0">
                  <a:ea typeface="Arial Unicode MS" pitchFamily="34" charset="-128"/>
                  <a:cs typeface="Arial Unicode MS" pitchFamily="34" charset="-128"/>
                </a:rPr>
                <a:t>Regions worldwide</a:t>
              </a:r>
            </a:p>
          </p:txBody>
        </p:sp>
      </p:grpSp>
      <p:grpSp>
        <p:nvGrpSpPr>
          <p:cNvPr id="3" name="Group 2">
            <a:extLst>
              <a:ext uri="{FF2B5EF4-FFF2-40B4-BE49-F238E27FC236}">
                <a16:creationId xmlns:a16="http://schemas.microsoft.com/office/drawing/2014/main" id="{94A0AB70-CC02-49D7-80AF-7068AB971498}"/>
              </a:ext>
            </a:extLst>
          </p:cNvPr>
          <p:cNvGrpSpPr/>
          <p:nvPr/>
        </p:nvGrpSpPr>
        <p:grpSpPr>
          <a:xfrm>
            <a:off x="7581721" y="3890209"/>
            <a:ext cx="2811960" cy="2239979"/>
            <a:chOff x="4140761" y="931985"/>
            <a:chExt cx="2811960" cy="2239979"/>
          </a:xfrm>
        </p:grpSpPr>
        <p:pic>
          <p:nvPicPr>
            <p:cNvPr id="13" name="Picture 12">
              <a:extLst>
                <a:ext uri="{FF2B5EF4-FFF2-40B4-BE49-F238E27FC236}">
                  <a16:creationId xmlns:a16="http://schemas.microsoft.com/office/drawing/2014/main" id="{7C7762D6-31FF-EB4A-A0F8-105C7E9B1C7B}"/>
                </a:ext>
              </a:extLst>
            </p:cNvPr>
            <p:cNvPicPr>
              <a:picLocks noChangeAspect="1"/>
            </p:cNvPicPr>
            <p:nvPr/>
          </p:nvPicPr>
          <p:blipFill>
            <a:blip r:embed="rId4"/>
            <a:stretch>
              <a:fillRect/>
            </a:stretch>
          </p:blipFill>
          <p:spPr>
            <a:xfrm>
              <a:off x="4618851" y="1239761"/>
              <a:ext cx="1932203" cy="1932203"/>
            </a:xfrm>
            <a:prstGeom prst="rect">
              <a:avLst/>
            </a:prstGeom>
          </p:spPr>
        </p:pic>
        <p:sp>
          <p:nvSpPr>
            <p:cNvPr id="14" name="TextBox 13">
              <a:extLst>
                <a:ext uri="{FF2B5EF4-FFF2-40B4-BE49-F238E27FC236}">
                  <a16:creationId xmlns:a16="http://schemas.microsoft.com/office/drawing/2014/main" id="{CEC607A2-9F4A-8F4F-82E5-64E158A8D3E8}"/>
                </a:ext>
              </a:extLst>
            </p:cNvPr>
            <p:cNvSpPr txBox="1"/>
            <p:nvPr/>
          </p:nvSpPr>
          <p:spPr>
            <a:xfrm>
              <a:off x="4140761" y="931985"/>
              <a:ext cx="2811960" cy="61555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a:ea typeface="Arial Unicode MS" pitchFamily="34" charset="-128"/>
                  <a:cs typeface="Arial Unicode MS" pitchFamily="34" charset="-128"/>
                </a:rPr>
                <a:t>Operated efficiently by: </a:t>
              </a:r>
              <a:r>
                <a:rPr lang="en-US" sz="2000" b="1" kern="0">
                  <a:ea typeface="Arial Unicode MS" pitchFamily="34" charset="-128"/>
                  <a:cs typeface="Arial Unicode MS" pitchFamily="34" charset="-128"/>
                </a:rPr>
                <a:t>A team of 5</a:t>
              </a:r>
            </a:p>
          </p:txBody>
        </p:sp>
      </p:grpSp>
      <p:grpSp>
        <p:nvGrpSpPr>
          <p:cNvPr id="6" name="Group 5">
            <a:extLst>
              <a:ext uri="{FF2B5EF4-FFF2-40B4-BE49-F238E27FC236}">
                <a16:creationId xmlns:a16="http://schemas.microsoft.com/office/drawing/2014/main" id="{F0F36C50-B9F9-4B41-93AC-30A8C3C633D1}"/>
              </a:ext>
            </a:extLst>
          </p:cNvPr>
          <p:cNvGrpSpPr/>
          <p:nvPr/>
        </p:nvGrpSpPr>
        <p:grpSpPr>
          <a:xfrm>
            <a:off x="7315804" y="1333153"/>
            <a:ext cx="3182559" cy="2277025"/>
            <a:chOff x="7412253" y="1714339"/>
            <a:chExt cx="3182559" cy="2277025"/>
          </a:xfrm>
        </p:grpSpPr>
        <p:sp>
          <p:nvSpPr>
            <p:cNvPr id="18" name="TextBox 17">
              <a:extLst>
                <a:ext uri="{FF2B5EF4-FFF2-40B4-BE49-F238E27FC236}">
                  <a16:creationId xmlns:a16="http://schemas.microsoft.com/office/drawing/2014/main" id="{67F86684-2A94-C348-A411-CD9BF6BA9E77}"/>
                </a:ext>
              </a:extLst>
            </p:cNvPr>
            <p:cNvSpPr txBox="1"/>
            <p:nvPr/>
          </p:nvSpPr>
          <p:spPr>
            <a:xfrm>
              <a:off x="7412253" y="1714339"/>
              <a:ext cx="3182559" cy="984885"/>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a:ea typeface="Arial Unicode MS" pitchFamily="34" charset="-128"/>
                  <a:cs typeface="Arial Unicode MS" pitchFamily="34" charset="-128"/>
                </a:rPr>
                <a:t>Running SAP Services for     </a:t>
              </a:r>
              <a:r>
                <a:rPr lang="en-US" sz="2000" b="1" kern="0">
                  <a:ea typeface="Arial Unicode MS" pitchFamily="34" charset="-128"/>
                  <a:cs typeface="Arial Unicode MS" pitchFamily="34" charset="-128"/>
                </a:rPr>
                <a:t>The Intelligent Enterprise</a:t>
              </a:r>
            </a:p>
            <a:p>
              <a:pPr fontAlgn="base">
                <a:spcBef>
                  <a:spcPct val="50000"/>
                </a:spcBef>
                <a:spcAft>
                  <a:spcPct val="0"/>
                </a:spcAft>
                <a:buClr>
                  <a:srgbClr val="F0AB00"/>
                </a:buClr>
                <a:buSzPct val="80000"/>
              </a:pPr>
              <a:r>
                <a:rPr lang="en-US" sz="1600" kern="0">
                  <a:ea typeface="Arial Unicode MS" pitchFamily="34" charset="-128"/>
                  <a:cs typeface="Arial Unicode MS" pitchFamily="34" charset="-128"/>
                </a:rPr>
                <a:t> </a:t>
              </a:r>
            </a:p>
          </p:txBody>
        </p:sp>
        <p:pic>
          <p:nvPicPr>
            <p:cNvPr id="22" name="Picture 21">
              <a:extLst>
                <a:ext uri="{FF2B5EF4-FFF2-40B4-BE49-F238E27FC236}">
                  <a16:creationId xmlns:a16="http://schemas.microsoft.com/office/drawing/2014/main" id="{263FC5A7-8B2F-5141-99D9-2EE12FC83C85}"/>
                </a:ext>
              </a:extLst>
            </p:cNvPr>
            <p:cNvPicPr>
              <a:picLocks noChangeAspect="1"/>
            </p:cNvPicPr>
            <p:nvPr/>
          </p:nvPicPr>
          <p:blipFill>
            <a:blip r:embed="rId5"/>
            <a:stretch>
              <a:fillRect/>
            </a:stretch>
          </p:blipFill>
          <p:spPr>
            <a:xfrm>
              <a:off x="8156260" y="2310762"/>
              <a:ext cx="1680602" cy="1680602"/>
            </a:xfrm>
            <a:prstGeom prst="rect">
              <a:avLst/>
            </a:prstGeom>
          </p:spPr>
        </p:pic>
      </p:grpSp>
      <p:grpSp>
        <p:nvGrpSpPr>
          <p:cNvPr id="2" name="Group 1">
            <a:extLst>
              <a:ext uri="{FF2B5EF4-FFF2-40B4-BE49-F238E27FC236}">
                <a16:creationId xmlns:a16="http://schemas.microsoft.com/office/drawing/2014/main" id="{A964004D-96A0-4BAA-A1A0-422293C2CB2C}"/>
              </a:ext>
            </a:extLst>
          </p:cNvPr>
          <p:cNvGrpSpPr/>
          <p:nvPr/>
        </p:nvGrpSpPr>
        <p:grpSpPr>
          <a:xfrm>
            <a:off x="4720827" y="5004261"/>
            <a:ext cx="2170545" cy="1516897"/>
            <a:chOff x="4210281" y="2943695"/>
            <a:chExt cx="2170545" cy="1516897"/>
          </a:xfrm>
        </p:grpSpPr>
        <p:sp>
          <p:nvSpPr>
            <p:cNvPr id="16" name="TextBox 15">
              <a:extLst>
                <a:ext uri="{FF2B5EF4-FFF2-40B4-BE49-F238E27FC236}">
                  <a16:creationId xmlns:a16="http://schemas.microsoft.com/office/drawing/2014/main" id="{8A453F77-22B7-4639-A64B-AE91E9531CB2}"/>
                </a:ext>
              </a:extLst>
            </p:cNvPr>
            <p:cNvSpPr txBox="1"/>
            <p:nvPr/>
          </p:nvSpPr>
          <p:spPr>
            <a:xfrm>
              <a:off x="4210281" y="2943695"/>
              <a:ext cx="2170545" cy="135421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200" b="1" kern="0">
                  <a:ea typeface="Arial Unicode MS" pitchFamily="34" charset="-128"/>
                  <a:cs typeface="Arial Unicode MS" pitchFamily="34" charset="-128"/>
                </a:rPr>
                <a:t>Kubernetes</a:t>
              </a:r>
            </a:p>
            <a:p>
              <a:pPr algn="ctr" fontAlgn="base">
                <a:spcBef>
                  <a:spcPct val="50000"/>
                </a:spcBef>
                <a:spcAft>
                  <a:spcPct val="0"/>
                </a:spcAft>
                <a:buClr>
                  <a:srgbClr val="F0AB00"/>
                </a:buClr>
                <a:buSzPct val="80000"/>
              </a:pPr>
              <a:r>
                <a:rPr lang="en-US" sz="2200" b="1" kern="0">
                  <a:ea typeface="Arial Unicode MS" pitchFamily="34" charset="-128"/>
                  <a:cs typeface="Arial Unicode MS" pitchFamily="34" charset="-128"/>
                </a:rPr>
                <a:t>is actively used</a:t>
              </a:r>
            </a:p>
            <a:p>
              <a:pPr algn="ctr" fontAlgn="base">
                <a:spcBef>
                  <a:spcPct val="50000"/>
                </a:spcBef>
                <a:spcAft>
                  <a:spcPct val="0"/>
                </a:spcAft>
                <a:buClr>
                  <a:srgbClr val="F0AB00"/>
                </a:buClr>
                <a:buSzPct val="80000"/>
              </a:pPr>
              <a:r>
                <a:rPr lang="en-US" sz="2200" b="1" kern="0">
                  <a:ea typeface="Arial Unicode MS" pitchFamily="34" charset="-128"/>
                  <a:cs typeface="Arial Unicode MS" pitchFamily="34" charset="-128"/>
                </a:rPr>
                <a:t>by </a:t>
              </a:r>
              <a:r>
                <a:rPr lang="en-US" sz="2200" b="1" kern="0">
                  <a:solidFill>
                    <a:schemeClr val="bg1"/>
                  </a:solidFill>
                  <a:ea typeface="Arial Unicode MS" pitchFamily="34" charset="-128"/>
                  <a:cs typeface="Arial Unicode MS" pitchFamily="34" charset="-128"/>
                </a:rPr>
                <a:t>SAP SE</a:t>
              </a:r>
            </a:p>
          </p:txBody>
        </p:sp>
        <p:pic>
          <p:nvPicPr>
            <p:cNvPr id="19" name="Picture 18">
              <a:extLst>
                <a:ext uri="{FF2B5EF4-FFF2-40B4-BE49-F238E27FC236}">
                  <a16:creationId xmlns:a16="http://schemas.microsoft.com/office/drawing/2014/main" id="{A94DA8AA-2201-4046-8E81-9384C8D2FC03}"/>
                </a:ext>
              </a:extLst>
            </p:cNvPr>
            <p:cNvPicPr>
              <a:picLocks noChangeAspect="1"/>
            </p:cNvPicPr>
            <p:nvPr/>
          </p:nvPicPr>
          <p:blipFill>
            <a:blip r:embed="rId6"/>
            <a:stretch>
              <a:fillRect/>
            </a:stretch>
          </p:blipFill>
          <p:spPr>
            <a:xfrm>
              <a:off x="5034685" y="3908471"/>
              <a:ext cx="1135793" cy="552121"/>
            </a:xfrm>
            <a:prstGeom prst="rect">
              <a:avLst/>
            </a:prstGeom>
          </p:spPr>
        </p:pic>
      </p:grpSp>
      <p:grpSp>
        <p:nvGrpSpPr>
          <p:cNvPr id="5" name="Group 4">
            <a:extLst>
              <a:ext uri="{FF2B5EF4-FFF2-40B4-BE49-F238E27FC236}">
                <a16:creationId xmlns:a16="http://schemas.microsoft.com/office/drawing/2014/main" id="{3A46EAC7-127A-43E2-97DC-AC75397982E4}"/>
              </a:ext>
            </a:extLst>
          </p:cNvPr>
          <p:cNvGrpSpPr/>
          <p:nvPr/>
        </p:nvGrpSpPr>
        <p:grpSpPr>
          <a:xfrm>
            <a:off x="4885222" y="487308"/>
            <a:ext cx="1922960" cy="2150313"/>
            <a:chOff x="7832032" y="4619108"/>
            <a:chExt cx="1922960" cy="2150313"/>
          </a:xfrm>
        </p:grpSpPr>
        <p:pic>
          <p:nvPicPr>
            <p:cNvPr id="28" name="Picture 27">
              <a:extLst>
                <a:ext uri="{FF2B5EF4-FFF2-40B4-BE49-F238E27FC236}">
                  <a16:creationId xmlns:a16="http://schemas.microsoft.com/office/drawing/2014/main" id="{D0BCF195-7F40-DA41-85FB-5DB2B785373A}"/>
                </a:ext>
              </a:extLst>
            </p:cNvPr>
            <p:cNvPicPr>
              <a:picLocks noChangeAspect="1"/>
            </p:cNvPicPr>
            <p:nvPr/>
          </p:nvPicPr>
          <p:blipFill>
            <a:blip r:embed="rId7"/>
            <a:stretch>
              <a:fillRect/>
            </a:stretch>
          </p:blipFill>
          <p:spPr>
            <a:xfrm>
              <a:off x="7958738" y="4973167"/>
              <a:ext cx="1796254" cy="1796254"/>
            </a:xfrm>
            <a:prstGeom prst="rect">
              <a:avLst/>
            </a:prstGeom>
          </p:spPr>
        </p:pic>
        <p:sp>
          <p:nvSpPr>
            <p:cNvPr id="11" name="TextBox 10">
              <a:extLst>
                <a:ext uri="{FF2B5EF4-FFF2-40B4-BE49-F238E27FC236}">
                  <a16:creationId xmlns:a16="http://schemas.microsoft.com/office/drawing/2014/main" id="{E4B00ECD-864D-D348-9E1F-2BF1CED186CD}"/>
                </a:ext>
              </a:extLst>
            </p:cNvPr>
            <p:cNvSpPr txBox="1"/>
            <p:nvPr/>
          </p:nvSpPr>
          <p:spPr>
            <a:xfrm>
              <a:off x="7832032" y="4619108"/>
              <a:ext cx="1796254" cy="61555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a:ea typeface="Arial Unicode MS" pitchFamily="34" charset="-128"/>
                  <a:cs typeface="Arial Unicode MS" pitchFamily="34" charset="-128"/>
                </a:rPr>
                <a:t>On all major IaaS providers</a:t>
              </a:r>
            </a:p>
          </p:txBody>
        </p:sp>
      </p:grpSp>
      <p:pic>
        <p:nvPicPr>
          <p:cNvPr id="24" name="Graphic 23">
            <a:extLst>
              <a:ext uri="{FF2B5EF4-FFF2-40B4-BE49-F238E27FC236}">
                <a16:creationId xmlns:a16="http://schemas.microsoft.com/office/drawing/2014/main" id="{8DE541D5-6521-CE4A-B7F1-28208EA3E3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10101" y="2415687"/>
            <a:ext cx="2388983" cy="2388983"/>
          </a:xfrm>
          <a:prstGeom prst="rect">
            <a:avLst/>
          </a:prstGeom>
        </p:spPr>
      </p:pic>
      <p:grpSp>
        <p:nvGrpSpPr>
          <p:cNvPr id="9" name="Group 8">
            <a:extLst>
              <a:ext uri="{FF2B5EF4-FFF2-40B4-BE49-F238E27FC236}">
                <a16:creationId xmlns:a16="http://schemas.microsoft.com/office/drawing/2014/main" id="{EF948A71-43B9-4FC9-A181-6484F27BBFD2}"/>
              </a:ext>
            </a:extLst>
          </p:cNvPr>
          <p:cNvGrpSpPr/>
          <p:nvPr/>
        </p:nvGrpSpPr>
        <p:grpSpPr>
          <a:xfrm>
            <a:off x="1741714" y="3822434"/>
            <a:ext cx="2285751" cy="2391101"/>
            <a:chOff x="1741714" y="3822434"/>
            <a:chExt cx="2285751" cy="2391101"/>
          </a:xfrm>
        </p:grpSpPr>
        <p:sp>
          <p:nvSpPr>
            <p:cNvPr id="17" name="TextBox 16">
              <a:extLst>
                <a:ext uri="{FF2B5EF4-FFF2-40B4-BE49-F238E27FC236}">
                  <a16:creationId xmlns:a16="http://schemas.microsoft.com/office/drawing/2014/main" id="{F61CE478-849A-DC4B-8CEF-B6FE59B02333}"/>
                </a:ext>
              </a:extLst>
            </p:cNvPr>
            <p:cNvSpPr txBox="1"/>
            <p:nvPr/>
          </p:nvSpPr>
          <p:spPr>
            <a:xfrm>
              <a:off x="1741714" y="3822434"/>
              <a:ext cx="2285751" cy="61555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a:ea typeface="Arial Unicode MS" pitchFamily="34" charset="-128"/>
                  <a:cs typeface="Arial Unicode MS" pitchFamily="34" charset="-128"/>
                </a:rPr>
                <a:t>Using a solution </a:t>
              </a:r>
              <a:r>
                <a:rPr lang="en-US" sz="2000" b="1" kern="0">
                  <a:ea typeface="Arial Unicode MS" pitchFamily="34" charset="-128"/>
                  <a:cs typeface="Arial Unicode MS" pitchFamily="34" charset="-128"/>
                </a:rPr>
                <a:t>100% open source</a:t>
              </a:r>
            </a:p>
          </p:txBody>
        </p:sp>
        <p:pic>
          <p:nvPicPr>
            <p:cNvPr id="20" name="Picture 19">
              <a:extLst>
                <a:ext uri="{FF2B5EF4-FFF2-40B4-BE49-F238E27FC236}">
                  <a16:creationId xmlns:a16="http://schemas.microsoft.com/office/drawing/2014/main" id="{7589EA2B-3AE7-4348-87B4-A3F6A6A5CC2B}"/>
                </a:ext>
              </a:extLst>
            </p:cNvPr>
            <p:cNvPicPr>
              <a:picLocks noChangeAspect="1"/>
            </p:cNvPicPr>
            <p:nvPr/>
          </p:nvPicPr>
          <p:blipFill>
            <a:blip r:embed="rId10"/>
            <a:stretch>
              <a:fillRect/>
            </a:stretch>
          </p:blipFill>
          <p:spPr>
            <a:xfrm>
              <a:off x="2053903" y="4437987"/>
              <a:ext cx="1775548" cy="1775548"/>
            </a:xfrm>
            <a:prstGeom prst="rect">
              <a:avLst/>
            </a:prstGeom>
          </p:spPr>
        </p:pic>
      </p:grpSp>
    </p:spTree>
    <p:extLst>
      <p:ext uri="{BB962C8B-B14F-4D97-AF65-F5344CB8AC3E}">
        <p14:creationId xmlns:p14="http://schemas.microsoft.com/office/powerpoint/2010/main" val="408943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8FA01FC-CD71-3342-8AAF-517B30858C42}"/>
              </a:ext>
            </a:extLst>
          </p:cNvPr>
          <p:cNvPicPr>
            <a:picLocks noChangeAspect="1"/>
          </p:cNvPicPr>
          <p:nvPr/>
        </p:nvPicPr>
        <p:blipFill>
          <a:blip r:embed="rId3"/>
          <a:stretch>
            <a:fillRect/>
          </a:stretch>
        </p:blipFill>
        <p:spPr>
          <a:xfrm>
            <a:off x="1385419" y="998067"/>
            <a:ext cx="8750769" cy="5041967"/>
          </a:xfrm>
          <a:prstGeom prst="rect">
            <a:avLst/>
          </a:prstGeom>
        </p:spPr>
      </p:pic>
      <p:sp>
        <p:nvSpPr>
          <p:cNvPr id="6" name="Title 1">
            <a:extLst>
              <a:ext uri="{FF2B5EF4-FFF2-40B4-BE49-F238E27FC236}">
                <a16:creationId xmlns:a16="http://schemas.microsoft.com/office/drawing/2014/main" id="{18D7FF9A-8E57-4C45-B67D-AC11CC353794}"/>
              </a:ext>
            </a:extLst>
          </p:cNvPr>
          <p:cNvSpPr>
            <a:spLocks noGrp="1"/>
          </p:cNvSpPr>
          <p:nvPr>
            <p:ph type="title"/>
          </p:nvPr>
        </p:nvSpPr>
        <p:spPr>
          <a:xfrm>
            <a:off x="839787" y="365126"/>
            <a:ext cx="10839275" cy="369332"/>
          </a:xfrm>
        </p:spPr>
        <p:txBody>
          <a:bodyPr/>
          <a:lstStyle/>
          <a:p>
            <a:r>
              <a:rPr lang="en-US" dirty="0"/>
              <a:t>Gardener at GitHub</a:t>
            </a:r>
          </a:p>
        </p:txBody>
      </p:sp>
      <p:pic>
        <p:nvPicPr>
          <p:cNvPr id="7" name="Picture 6">
            <a:extLst>
              <a:ext uri="{FF2B5EF4-FFF2-40B4-BE49-F238E27FC236}">
                <a16:creationId xmlns:a16="http://schemas.microsoft.com/office/drawing/2014/main" id="{7DC6E6F2-C2C0-A341-98C1-2932AF478D4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36188" y="403742"/>
            <a:ext cx="1219200" cy="292100"/>
          </a:xfrm>
          <a:prstGeom prst="rect">
            <a:avLst/>
          </a:prstGeom>
        </p:spPr>
      </p:pic>
      <p:sp>
        <p:nvSpPr>
          <p:cNvPr id="2" name="Rectangle 1">
            <a:extLst>
              <a:ext uri="{FF2B5EF4-FFF2-40B4-BE49-F238E27FC236}">
                <a16:creationId xmlns:a16="http://schemas.microsoft.com/office/drawing/2014/main" id="{CE50CEB4-4775-094F-B639-18E77D123BE8}"/>
              </a:ext>
            </a:extLst>
          </p:cNvPr>
          <p:cNvSpPr/>
          <p:nvPr/>
        </p:nvSpPr>
        <p:spPr>
          <a:xfrm>
            <a:off x="6596566" y="1820633"/>
            <a:ext cx="4913666" cy="646331"/>
          </a:xfrm>
          <a:prstGeom prst="rect">
            <a:avLst/>
          </a:prstGeom>
          <a:solidFill>
            <a:schemeClr val="accent5">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prstClr val="black"/>
                </a:solidFill>
                <a:latin typeface="Calibri" panose="020F0502020204030204" pitchFamily="34" charset="0"/>
                <a:ea typeface="Times New Roman" panose="02020603050405020304" pitchFamily="18" charset="0"/>
              </a:rPr>
              <a:t>Gardener has grown into a community</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rPr>
              <a:t> project: contributors from many other organizations</a:t>
            </a:r>
            <a:endParaRPr kumimoji="0" lang="de-D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03FF1B4-5394-654F-9135-EB96CC02C445}"/>
              </a:ext>
            </a:extLst>
          </p:cNvPr>
          <p:cNvSpPr/>
          <p:nvPr/>
        </p:nvSpPr>
        <p:spPr>
          <a:xfrm>
            <a:off x="1990536" y="6223045"/>
            <a:ext cx="269401" cy="143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reeform 3">
            <a:extLst>
              <a:ext uri="{FF2B5EF4-FFF2-40B4-BE49-F238E27FC236}">
                <a16:creationId xmlns:a16="http://schemas.microsoft.com/office/drawing/2014/main" id="{7B5AA822-1273-F349-882D-47C3ECEDE011}"/>
              </a:ext>
            </a:extLst>
          </p:cNvPr>
          <p:cNvSpPr/>
          <p:nvPr/>
        </p:nvSpPr>
        <p:spPr>
          <a:xfrm>
            <a:off x="2259937" y="5514423"/>
            <a:ext cx="606020" cy="345510"/>
          </a:xfrm>
          <a:custGeom>
            <a:avLst/>
            <a:gdLst>
              <a:gd name="connsiteX0" fmla="*/ 431743 w 753864"/>
              <a:gd name="connsiteY0" fmla="*/ 81 h 465083"/>
              <a:gd name="connsiteX1" fmla="*/ 360026 w 753864"/>
              <a:gd name="connsiteY1" fmla="*/ 18011 h 465083"/>
              <a:gd name="connsiteX2" fmla="*/ 10402 w 753864"/>
              <a:gd name="connsiteY2" fmla="*/ 125587 h 465083"/>
              <a:gd name="connsiteX3" fmla="*/ 144873 w 753864"/>
              <a:gd name="connsiteY3" fmla="*/ 421423 h 465083"/>
              <a:gd name="connsiteX4" fmla="*/ 673790 w 753864"/>
              <a:gd name="connsiteY4" fmla="*/ 439352 h 465083"/>
              <a:gd name="connsiteX5" fmla="*/ 736543 w 753864"/>
              <a:gd name="connsiteY5" fmla="*/ 188340 h 465083"/>
              <a:gd name="connsiteX6" fmla="*/ 521390 w 753864"/>
              <a:gd name="connsiteY6" fmla="*/ 44905 h 465083"/>
              <a:gd name="connsiteX7" fmla="*/ 324167 w 753864"/>
              <a:gd name="connsiteY7" fmla="*/ 80764 h 46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864" h="465083">
                <a:moveTo>
                  <a:pt x="431743" y="81"/>
                </a:moveTo>
                <a:cubicBezTo>
                  <a:pt x="430996" y="-1413"/>
                  <a:pt x="360026" y="18011"/>
                  <a:pt x="360026" y="18011"/>
                </a:cubicBezTo>
                <a:cubicBezTo>
                  <a:pt x="289802" y="38929"/>
                  <a:pt x="46261" y="58352"/>
                  <a:pt x="10402" y="125587"/>
                </a:cubicBezTo>
                <a:cubicBezTo>
                  <a:pt x="-25457" y="192822"/>
                  <a:pt x="34308" y="369129"/>
                  <a:pt x="144873" y="421423"/>
                </a:cubicBezTo>
                <a:cubicBezTo>
                  <a:pt x="255438" y="473717"/>
                  <a:pt x="575178" y="478199"/>
                  <a:pt x="673790" y="439352"/>
                </a:cubicBezTo>
                <a:cubicBezTo>
                  <a:pt x="772402" y="400505"/>
                  <a:pt x="761943" y="254081"/>
                  <a:pt x="736543" y="188340"/>
                </a:cubicBezTo>
                <a:cubicBezTo>
                  <a:pt x="711143" y="122599"/>
                  <a:pt x="590119" y="62834"/>
                  <a:pt x="521390" y="44905"/>
                </a:cubicBezTo>
                <a:cubicBezTo>
                  <a:pt x="452661" y="26976"/>
                  <a:pt x="388414" y="53870"/>
                  <a:pt x="324167" y="80764"/>
                </a:cubicBezTo>
              </a:path>
            </a:pathLst>
          </a:custGeom>
          <a:solidFill>
            <a:srgbClr val="FFFF00">
              <a:alpha val="20000"/>
            </a:srgb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91766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AE0746-068B-AE47-B9D4-9FAA4B859518}"/>
              </a:ext>
            </a:extLst>
          </p:cNvPr>
          <p:cNvSpPr>
            <a:spLocks noGrp="1"/>
          </p:cNvSpPr>
          <p:nvPr>
            <p:ph type="body" sz="quarter" idx="10"/>
          </p:nvPr>
        </p:nvSpPr>
        <p:spPr>
          <a:xfrm>
            <a:off x="504000" y="1620000"/>
            <a:ext cx="7255700" cy="4716000"/>
          </a:xfrm>
        </p:spPr>
        <p:txBody>
          <a:bodyPr>
            <a:normAutofit/>
          </a:bodyPr>
          <a:lstStyle/>
          <a:p>
            <a:r>
              <a:rPr lang="en-US"/>
              <a:t>Hardened minimal operating system serving as foundation for Gardener and Metal Stack:</a:t>
            </a:r>
          </a:p>
          <a:p>
            <a:pPr marL="342900" indent="-342900">
              <a:buFont typeface="Arial" panose="020B0604020202020204" pitchFamily="34" charset="0"/>
              <a:buChar char="•"/>
            </a:pPr>
            <a:r>
              <a:rPr lang="en-US"/>
              <a:t>Designed to run container workloads only</a:t>
            </a:r>
          </a:p>
          <a:p>
            <a:pPr marL="342900" indent="-342900">
              <a:buFont typeface="Arial" panose="020B0604020202020204" pitchFamily="34" charset="0"/>
              <a:buChar char="•"/>
            </a:pPr>
            <a:r>
              <a:rPr lang="en-US"/>
              <a:t>Immutable</a:t>
            </a:r>
          </a:p>
          <a:p>
            <a:pPr marL="342900" indent="-342900">
              <a:buFont typeface="Arial" panose="020B0604020202020204" pitchFamily="34" charset="0"/>
              <a:buChar char="•"/>
            </a:pPr>
            <a:r>
              <a:rPr lang="en-US"/>
              <a:t>Very small footprint</a:t>
            </a:r>
          </a:p>
          <a:p>
            <a:r>
              <a:rPr lang="en-US"/>
              <a:t>Minimal attack vector</a:t>
            </a:r>
          </a:p>
          <a:p>
            <a:endParaRPr lang="en-US"/>
          </a:p>
        </p:txBody>
      </p:sp>
      <p:sp>
        <p:nvSpPr>
          <p:cNvPr id="3" name="Title 2">
            <a:extLst>
              <a:ext uri="{FF2B5EF4-FFF2-40B4-BE49-F238E27FC236}">
                <a16:creationId xmlns:a16="http://schemas.microsoft.com/office/drawing/2014/main" id="{92B8E99F-8DBF-4147-BA1D-522B97766310}"/>
              </a:ext>
            </a:extLst>
          </p:cNvPr>
          <p:cNvSpPr>
            <a:spLocks noGrp="1"/>
          </p:cNvSpPr>
          <p:nvPr>
            <p:ph type="title"/>
          </p:nvPr>
        </p:nvSpPr>
        <p:spPr/>
        <p:txBody>
          <a:bodyPr/>
          <a:lstStyle/>
          <a:p>
            <a:r>
              <a:rPr lang="en-US"/>
              <a:t>Garden Linux</a:t>
            </a:r>
          </a:p>
        </p:txBody>
      </p:sp>
      <p:pic>
        <p:nvPicPr>
          <p:cNvPr id="7" name="Graphic 6">
            <a:extLst>
              <a:ext uri="{FF2B5EF4-FFF2-40B4-BE49-F238E27FC236}">
                <a16:creationId xmlns:a16="http://schemas.microsoft.com/office/drawing/2014/main" id="{FC3FD591-B58C-4145-82F2-A1836D0D41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37509" y="1289800"/>
            <a:ext cx="3922993" cy="3867150"/>
          </a:xfrm>
          <a:prstGeom prst="rect">
            <a:avLst/>
          </a:prstGeom>
        </p:spPr>
      </p:pic>
      <p:sp>
        <p:nvSpPr>
          <p:cNvPr id="6" name="TextBox 5">
            <a:extLst>
              <a:ext uri="{FF2B5EF4-FFF2-40B4-BE49-F238E27FC236}">
                <a16:creationId xmlns:a16="http://schemas.microsoft.com/office/drawing/2014/main" id="{5375B9D0-1439-2F4C-BE46-5A4120E4581A}"/>
              </a:ext>
            </a:extLst>
          </p:cNvPr>
          <p:cNvSpPr txBox="1"/>
          <p:nvPr/>
        </p:nvSpPr>
        <p:spPr>
          <a:xfrm>
            <a:off x="8833102" y="5383534"/>
            <a:ext cx="1931807" cy="369332"/>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400" kern="0">
                <a:ea typeface="Arial Unicode MS" pitchFamily="34" charset="-128"/>
                <a:cs typeface="Arial Unicode MS" pitchFamily="34" charset="-128"/>
                <a:hlinkClick r:id="rId5"/>
              </a:rPr>
              <a:t>gardenlinux.io</a:t>
            </a:r>
            <a:endParaRPr lang="en-US" sz="2400" kern="0">
              <a:ea typeface="Arial Unicode MS" pitchFamily="34" charset="-128"/>
              <a:cs typeface="Arial Unicode MS" pitchFamily="34" charset="-128"/>
            </a:endParaRPr>
          </a:p>
        </p:txBody>
      </p:sp>
      <p:pic>
        <p:nvPicPr>
          <p:cNvPr id="8" name="Graphic 7">
            <a:hlinkClick r:id="rId6"/>
            <a:extLst>
              <a:ext uri="{FF2B5EF4-FFF2-40B4-BE49-F238E27FC236}">
                <a16:creationId xmlns:a16="http://schemas.microsoft.com/office/drawing/2014/main" id="{05648EA0-ED54-6449-A571-3898C16F68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48434" y="5117931"/>
            <a:ext cx="1028700" cy="1371600"/>
          </a:xfrm>
          <a:prstGeom prst="rect">
            <a:avLst/>
          </a:prstGeom>
        </p:spPr>
      </p:pic>
      <p:pic>
        <p:nvPicPr>
          <p:cNvPr id="11" name="Graphic 10">
            <a:hlinkClick r:id="rId9"/>
            <a:extLst>
              <a:ext uri="{FF2B5EF4-FFF2-40B4-BE49-F238E27FC236}">
                <a16:creationId xmlns:a16="http://schemas.microsoft.com/office/drawing/2014/main" id="{D9F7D041-83BD-5F45-A97B-E14A3A80758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98912" y="5060993"/>
            <a:ext cx="901896" cy="1485476"/>
          </a:xfrm>
          <a:prstGeom prst="rect">
            <a:avLst/>
          </a:prstGeom>
        </p:spPr>
      </p:pic>
      <p:pic>
        <p:nvPicPr>
          <p:cNvPr id="14" name="Picture 13">
            <a:hlinkClick r:id="rId12"/>
            <a:extLst>
              <a:ext uri="{FF2B5EF4-FFF2-40B4-BE49-F238E27FC236}">
                <a16:creationId xmlns:a16="http://schemas.microsoft.com/office/drawing/2014/main" id="{52A48C07-6324-9D48-A8CF-FC9529CD5129}"/>
              </a:ext>
            </a:extLst>
          </p:cNvPr>
          <p:cNvPicPr>
            <a:picLocks noChangeAspect="1"/>
          </p:cNvPicPr>
          <p:nvPr/>
        </p:nvPicPr>
        <p:blipFill>
          <a:blip r:embed="rId13"/>
          <a:stretch>
            <a:fillRect/>
          </a:stretch>
        </p:blipFill>
        <p:spPr>
          <a:xfrm>
            <a:off x="748088" y="5328450"/>
            <a:ext cx="2778569" cy="950563"/>
          </a:xfrm>
          <a:prstGeom prst="rect">
            <a:avLst/>
          </a:prstGeom>
        </p:spPr>
      </p:pic>
    </p:spTree>
    <p:extLst>
      <p:ext uri="{BB962C8B-B14F-4D97-AF65-F5344CB8AC3E}">
        <p14:creationId xmlns:p14="http://schemas.microsoft.com/office/powerpoint/2010/main" val="3414138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371"/>
        <p:cNvGrpSpPr/>
        <p:nvPr/>
      </p:nvGrpSpPr>
      <p:grpSpPr>
        <a:xfrm>
          <a:off x="0" y="0"/>
          <a:ext cx="0" cy="0"/>
          <a:chOff x="0" y="0"/>
          <a:chExt cx="0" cy="0"/>
        </a:xfrm>
      </p:grpSpPr>
      <p:sp>
        <p:nvSpPr>
          <p:cNvPr id="234" name="Shape 377">
            <a:extLst>
              <a:ext uri="{FF2B5EF4-FFF2-40B4-BE49-F238E27FC236}">
                <a16:creationId xmlns:a16="http://schemas.microsoft.com/office/drawing/2014/main" id="{11D7FF96-E8F7-3147-8E56-6599F5BD8003}"/>
              </a:ext>
            </a:extLst>
          </p:cNvPr>
          <p:cNvSpPr/>
          <p:nvPr/>
        </p:nvSpPr>
        <p:spPr>
          <a:xfrm>
            <a:off x="3957496" y="1745516"/>
            <a:ext cx="3251553" cy="4539506"/>
          </a:xfrm>
          <a:prstGeom prst="rect">
            <a:avLst/>
          </a:prstGeom>
          <a:solidFill>
            <a:srgbClr val="DDEAF6"/>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Kubernetes Cluster</a:t>
            </a:r>
            <a:endParaRPr lang="de-DE" sz="267" kern="0">
              <a:solidFill>
                <a:srgbClr val="000000"/>
              </a:solidFill>
              <a:latin typeface="Calibri"/>
              <a:ea typeface="Calibri"/>
              <a:cs typeface="Calibri"/>
              <a:sym typeface="Calibri"/>
            </a:endParaRPr>
          </a:p>
        </p:txBody>
      </p:sp>
      <p:sp>
        <p:nvSpPr>
          <p:cNvPr id="372" name="Shape 372"/>
          <p:cNvSpPr/>
          <p:nvPr/>
        </p:nvSpPr>
        <p:spPr>
          <a:xfrm>
            <a:off x="7214120" y="6416134"/>
            <a:ext cx="1486977" cy="248335"/>
          </a:xfrm>
          <a:prstGeom prst="rect">
            <a:avLst/>
          </a:prstGeom>
          <a:solidFill>
            <a:srgbClr val="DDDDDD"/>
          </a:solidFill>
          <a:ln w="17775" cap="flat" cmpd="sng">
            <a:solidFill>
              <a:schemeClr val="dk1"/>
            </a:solidFill>
            <a:prstDash val="dash"/>
            <a:miter lim="800000"/>
            <a:headEnd type="none" w="sm" len="sm"/>
            <a:tailEnd type="none" w="sm" len="sm"/>
          </a:ln>
        </p:spPr>
        <p:txBody>
          <a:bodyPr spcFirstLastPara="1" wrap="square" lIns="35991" tIns="35991" rIns="35991" bIns="35991" anchor="ctr" anchorCtr="0">
            <a:noAutofit/>
          </a:bodyPr>
          <a:lstStyle/>
          <a:p>
            <a:pPr defTabSz="1218804">
              <a:buClr>
                <a:srgbClr val="000000"/>
              </a:buClr>
              <a:buSzPts val="900"/>
              <a:defRPr/>
            </a:pPr>
            <a:endParaRPr lang="de-DE" sz="1467" kern="0">
              <a:solidFill>
                <a:srgbClr val="000000"/>
              </a:solidFill>
              <a:cs typeface="Arial"/>
              <a:sym typeface="Arial"/>
            </a:endParaRPr>
          </a:p>
        </p:txBody>
      </p:sp>
      <p:sp>
        <p:nvSpPr>
          <p:cNvPr id="373" name="Shape 373"/>
          <p:cNvSpPr/>
          <p:nvPr/>
        </p:nvSpPr>
        <p:spPr>
          <a:xfrm>
            <a:off x="8701097" y="1732472"/>
            <a:ext cx="3251552" cy="4552550"/>
          </a:xfrm>
          <a:prstGeom prst="rect">
            <a:avLst/>
          </a:prstGeom>
          <a:solidFill>
            <a:srgbClr val="FBE4D4"/>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Kubernetes Cluster A</a:t>
            </a:r>
            <a:endParaRPr lang="de-DE" sz="267" kern="0">
              <a:solidFill>
                <a:srgbClr val="000000"/>
              </a:solidFill>
              <a:latin typeface="Calibri"/>
              <a:ea typeface="Calibri"/>
              <a:cs typeface="Calibri"/>
              <a:sym typeface="Calibri"/>
            </a:endParaRPr>
          </a:p>
        </p:txBody>
      </p:sp>
      <p:sp>
        <p:nvSpPr>
          <p:cNvPr id="393" name="Shape 393"/>
          <p:cNvSpPr txBox="1"/>
          <p:nvPr/>
        </p:nvSpPr>
        <p:spPr>
          <a:xfrm>
            <a:off x="8868253" y="3324623"/>
            <a:ext cx="205147" cy="2310998"/>
          </a:xfrm>
          <a:prstGeom prst="rect">
            <a:avLst/>
          </a:prstGeom>
          <a:noFill/>
          <a:ln>
            <a:noFill/>
          </a:ln>
        </p:spPr>
        <p:txBody>
          <a:bodyPr spcFirstLastPara="1" wrap="square" lIns="35991" tIns="35991" rIns="35991" bIns="35991" anchor="t" anchorCtr="0">
            <a:noAutofit/>
          </a:bodyPr>
          <a:lstStyle/>
          <a:p>
            <a:pPr algn="ctr" defTabSz="1218804">
              <a:buClr>
                <a:srgbClr val="000000"/>
              </a:buClr>
              <a:buSzPts val="900"/>
              <a:defRPr/>
            </a:pPr>
            <a:endParaRPr lang="de-DE" sz="1200" kern="0">
              <a:solidFill>
                <a:srgbClr val="000000"/>
              </a:solidFill>
              <a:latin typeface="Calibri"/>
              <a:ea typeface="Calibri"/>
              <a:cs typeface="Calibri"/>
              <a:sym typeface="Calibri"/>
            </a:endParaRPr>
          </a:p>
        </p:txBody>
      </p:sp>
      <p:sp>
        <p:nvSpPr>
          <p:cNvPr id="406" name="Shape 406"/>
          <p:cNvSpPr txBox="1"/>
          <p:nvPr/>
        </p:nvSpPr>
        <p:spPr>
          <a:xfrm>
            <a:off x="4129573" y="3172795"/>
            <a:ext cx="205147" cy="2909642"/>
          </a:xfrm>
          <a:prstGeom prst="rect">
            <a:avLst/>
          </a:prstGeom>
          <a:noFill/>
          <a:ln>
            <a:noFill/>
          </a:ln>
        </p:spPr>
        <p:txBody>
          <a:bodyPr spcFirstLastPara="1" wrap="square" lIns="35991" tIns="35991" rIns="35991" bIns="35991" anchor="t" anchorCtr="0">
            <a:noAutofit/>
          </a:bodyPr>
          <a:lstStyle/>
          <a:p>
            <a:pPr algn="ctr" defTabSz="1218804">
              <a:buClr>
                <a:srgbClr val="000000"/>
              </a:buClr>
              <a:buSzPts val="900"/>
              <a:defRPr/>
            </a:pPr>
            <a:endParaRPr lang="de-DE" sz="1200" kern="0">
              <a:solidFill>
                <a:srgbClr val="000000"/>
              </a:solidFill>
              <a:latin typeface="Calibri"/>
              <a:ea typeface="Calibri"/>
              <a:cs typeface="Calibri"/>
              <a:sym typeface="Calibri"/>
            </a:endParaRPr>
          </a:p>
        </p:txBody>
      </p:sp>
      <p:grpSp>
        <p:nvGrpSpPr>
          <p:cNvPr id="425" name="Shape 425"/>
          <p:cNvGrpSpPr/>
          <p:nvPr/>
        </p:nvGrpSpPr>
        <p:grpSpPr>
          <a:xfrm>
            <a:off x="9807114" y="399461"/>
            <a:ext cx="42852" cy="204734"/>
            <a:chOff x="1374" y="522"/>
            <a:chExt cx="27" cy="129"/>
          </a:xfrm>
        </p:grpSpPr>
        <p:sp>
          <p:nvSpPr>
            <p:cNvPr id="426" name="Shape 426"/>
            <p:cNvSpPr/>
            <p:nvPr/>
          </p:nvSpPr>
          <p:spPr>
            <a:xfrm>
              <a:off x="1374" y="522"/>
              <a:ext cx="0" cy="0"/>
            </a:xfrm>
            <a:prstGeom prst="ellipse">
              <a:avLst/>
            </a:prstGeom>
            <a:noFill/>
            <a:ln w="9525" cap="flat" cmpd="sng">
              <a:solidFill>
                <a:srgbClr val="000000"/>
              </a:solidFill>
              <a:prstDash val="solid"/>
              <a:round/>
              <a:headEnd type="none" w="sm" len="sm"/>
              <a:tailEnd type="none" w="sm" len="sm"/>
            </a:ln>
          </p:spPr>
          <p:txBody>
            <a:bodyPr spcFirstLastPara="1" wrap="square" lIns="91409" tIns="45688" rIns="91409" bIns="45688" anchor="ctr" anchorCtr="0">
              <a:noAutofit/>
            </a:bodyPr>
            <a:lstStyle/>
            <a:p>
              <a:pPr defTabSz="1218804">
                <a:buClr>
                  <a:srgbClr val="000000"/>
                </a:buClr>
                <a:buSzPts val="1400"/>
                <a:defRPr/>
              </a:pPr>
              <a:endParaRPr lang="de-DE" sz="1866" kern="0">
                <a:solidFill>
                  <a:srgbClr val="000000"/>
                </a:solidFill>
                <a:latin typeface="Calibri"/>
                <a:ea typeface="Calibri"/>
                <a:cs typeface="Calibri"/>
                <a:sym typeface="Calibri"/>
              </a:endParaRPr>
            </a:p>
          </p:txBody>
        </p:sp>
        <p:cxnSp>
          <p:nvCxnSpPr>
            <p:cNvPr id="427" name="Shape 427"/>
            <p:cNvCxnSpPr/>
            <p:nvPr/>
          </p:nvCxnSpPr>
          <p:spPr>
            <a:xfrm>
              <a:off x="1400" y="574"/>
              <a:ext cx="0" cy="0"/>
            </a:xfrm>
            <a:prstGeom prst="straightConnector1">
              <a:avLst/>
            </a:prstGeom>
            <a:noFill/>
            <a:ln w="9525" cap="flat" cmpd="sng">
              <a:solidFill>
                <a:srgbClr val="000000"/>
              </a:solidFill>
              <a:prstDash val="solid"/>
              <a:round/>
              <a:headEnd type="none" w="med" len="med"/>
              <a:tailEnd type="none" w="med" len="med"/>
            </a:ln>
          </p:spPr>
        </p:cxnSp>
        <p:cxnSp>
          <p:nvCxnSpPr>
            <p:cNvPr id="428" name="Shape 428"/>
            <p:cNvCxnSpPr/>
            <p:nvPr/>
          </p:nvCxnSpPr>
          <p:spPr>
            <a:xfrm>
              <a:off x="1400" y="600"/>
              <a:ext cx="0" cy="0"/>
            </a:xfrm>
            <a:prstGeom prst="straightConnector1">
              <a:avLst/>
            </a:prstGeom>
            <a:noFill/>
            <a:ln w="9525" cap="flat" cmpd="sng">
              <a:solidFill>
                <a:srgbClr val="000000"/>
              </a:solidFill>
              <a:prstDash val="solid"/>
              <a:round/>
              <a:headEnd type="none" w="med" len="med"/>
              <a:tailEnd type="none" w="med" len="med"/>
            </a:ln>
          </p:spPr>
        </p:cxnSp>
        <p:cxnSp>
          <p:nvCxnSpPr>
            <p:cNvPr id="429" name="Shape 429"/>
            <p:cNvCxnSpPr/>
            <p:nvPr/>
          </p:nvCxnSpPr>
          <p:spPr>
            <a:xfrm>
              <a:off x="1401" y="600"/>
              <a:ext cx="0" cy="0"/>
            </a:xfrm>
            <a:prstGeom prst="straightConnector1">
              <a:avLst/>
            </a:prstGeom>
            <a:noFill/>
            <a:ln w="9525" cap="flat" cmpd="sng">
              <a:solidFill>
                <a:srgbClr val="000000"/>
              </a:solidFill>
              <a:prstDash val="solid"/>
              <a:round/>
              <a:headEnd type="none" w="med" len="med"/>
              <a:tailEnd type="none" w="med" len="med"/>
            </a:ln>
          </p:spPr>
        </p:cxnSp>
        <p:cxnSp>
          <p:nvCxnSpPr>
            <p:cNvPr id="430" name="Shape 430"/>
            <p:cNvCxnSpPr/>
            <p:nvPr/>
          </p:nvCxnSpPr>
          <p:spPr>
            <a:xfrm>
              <a:off x="1401" y="651"/>
              <a:ext cx="0" cy="0"/>
            </a:xfrm>
            <a:prstGeom prst="straightConnector1">
              <a:avLst/>
            </a:prstGeom>
            <a:noFill/>
            <a:ln w="9525" cap="flat" cmpd="sng">
              <a:solidFill>
                <a:srgbClr val="000000"/>
              </a:solidFill>
              <a:prstDash val="solid"/>
              <a:round/>
              <a:headEnd type="none" w="med" len="med"/>
              <a:tailEnd type="none" w="med" len="med"/>
            </a:ln>
          </p:spPr>
        </p:cxnSp>
        <p:cxnSp>
          <p:nvCxnSpPr>
            <p:cNvPr id="431" name="Shape 431"/>
            <p:cNvCxnSpPr/>
            <p:nvPr/>
          </p:nvCxnSpPr>
          <p:spPr>
            <a:xfrm>
              <a:off x="1400" y="651"/>
              <a:ext cx="0" cy="0"/>
            </a:xfrm>
            <a:prstGeom prst="straightConnector1">
              <a:avLst/>
            </a:prstGeom>
            <a:noFill/>
            <a:ln w="9525" cap="flat" cmpd="sng">
              <a:solidFill>
                <a:srgbClr val="000000"/>
              </a:solidFill>
              <a:prstDash val="solid"/>
              <a:round/>
              <a:headEnd type="none" w="med" len="med"/>
              <a:tailEnd type="none" w="med" len="med"/>
            </a:ln>
          </p:spPr>
        </p:cxnSp>
      </p:grpSp>
      <p:sp>
        <p:nvSpPr>
          <p:cNvPr id="536" name="Shape 536"/>
          <p:cNvSpPr/>
          <p:nvPr/>
        </p:nvSpPr>
        <p:spPr>
          <a:xfrm>
            <a:off x="3962567" y="6411967"/>
            <a:ext cx="3251553" cy="254334"/>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 Target IaaS       </a:t>
            </a:r>
            <a:endParaRPr lang="de-DE" sz="1467" kern="0">
              <a:solidFill>
                <a:srgbClr val="000000"/>
              </a:solidFill>
              <a:cs typeface="Arial"/>
              <a:sym typeface="Arial"/>
            </a:endParaRPr>
          </a:p>
        </p:txBody>
      </p:sp>
      <p:cxnSp>
        <p:nvCxnSpPr>
          <p:cNvPr id="537" name="Shape 537"/>
          <p:cNvCxnSpPr/>
          <p:nvPr/>
        </p:nvCxnSpPr>
        <p:spPr>
          <a:xfrm>
            <a:off x="6837984" y="4859357"/>
            <a:ext cx="0" cy="56785"/>
          </a:xfrm>
          <a:prstGeom prst="straightConnector1">
            <a:avLst/>
          </a:prstGeom>
          <a:noFill/>
          <a:ln w="12700" cap="flat" cmpd="sng">
            <a:solidFill>
              <a:srgbClr val="D8D8D8"/>
            </a:solidFill>
            <a:prstDash val="solid"/>
            <a:miter lim="800000"/>
            <a:headEnd type="none" w="sm" len="sm"/>
            <a:tailEnd type="none" w="sm" len="sm"/>
          </a:ln>
        </p:spPr>
      </p:cxnSp>
      <p:cxnSp>
        <p:nvCxnSpPr>
          <p:cNvPr id="538" name="Shape 538"/>
          <p:cNvCxnSpPr/>
          <p:nvPr/>
        </p:nvCxnSpPr>
        <p:spPr>
          <a:xfrm>
            <a:off x="6863378" y="4856183"/>
            <a:ext cx="0" cy="56785"/>
          </a:xfrm>
          <a:prstGeom prst="straightConnector1">
            <a:avLst/>
          </a:prstGeom>
          <a:noFill/>
          <a:ln w="12700" cap="flat" cmpd="sng">
            <a:solidFill>
              <a:srgbClr val="D8D8D8"/>
            </a:solidFill>
            <a:prstDash val="solid"/>
            <a:miter lim="800000"/>
            <a:headEnd type="none" w="sm" len="sm"/>
            <a:tailEnd type="none" w="sm" len="sm"/>
          </a:ln>
        </p:spPr>
      </p:cxnSp>
      <p:grpSp>
        <p:nvGrpSpPr>
          <p:cNvPr id="548" name="Shape 548"/>
          <p:cNvGrpSpPr/>
          <p:nvPr/>
        </p:nvGrpSpPr>
        <p:grpSpPr>
          <a:xfrm>
            <a:off x="8698687" y="893"/>
            <a:ext cx="3265703" cy="6663576"/>
            <a:chOff x="6523387" y="0"/>
            <a:chExt cx="2449915" cy="4998983"/>
          </a:xfrm>
        </p:grpSpPr>
        <p:sp>
          <p:nvSpPr>
            <p:cNvPr id="549" name="Shape 549"/>
            <p:cNvSpPr/>
            <p:nvPr/>
          </p:nvSpPr>
          <p:spPr>
            <a:xfrm>
              <a:off x="6525196" y="4808183"/>
              <a:ext cx="2448106" cy="190800"/>
            </a:xfrm>
            <a:prstGeom prst="rect">
              <a:avLst/>
            </a:prstGeom>
            <a:solidFill>
              <a:srgbClr val="D8D8D8"/>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                                                       Target IaaS/Account</a:t>
              </a:r>
              <a:endParaRPr lang="de-DE" sz="1467" kern="0">
                <a:solidFill>
                  <a:srgbClr val="000000"/>
                </a:solidFill>
                <a:cs typeface="Arial"/>
                <a:sym typeface="Arial"/>
              </a:endParaRPr>
            </a:p>
          </p:txBody>
        </p:sp>
        <p:sp>
          <p:nvSpPr>
            <p:cNvPr id="550" name="Shape 550"/>
            <p:cNvSpPr txBox="1"/>
            <p:nvPr/>
          </p:nvSpPr>
          <p:spPr>
            <a:xfrm>
              <a:off x="6523387" y="0"/>
              <a:ext cx="2449016" cy="271800"/>
            </a:xfrm>
            <a:prstGeom prst="rect">
              <a:avLst/>
            </a:prstGeom>
            <a:noFill/>
            <a:ln>
              <a:noFill/>
            </a:ln>
          </p:spPr>
          <p:txBody>
            <a:bodyPr spcFirstLastPara="1" wrap="square" lIns="121868" tIns="121868" rIns="121868" bIns="121868" anchor="ctr" anchorCtr="0">
              <a:noAutofit/>
            </a:bodyPr>
            <a:lstStyle/>
            <a:p>
              <a:pPr algn="ctr" defTabSz="1218804">
                <a:buClr>
                  <a:srgbClr val="000000"/>
                </a:buClr>
                <a:defRPr/>
              </a:pPr>
              <a:r>
                <a:rPr lang="en" sz="1866" kern="0">
                  <a:solidFill>
                    <a:srgbClr val="000000"/>
                  </a:solidFill>
                  <a:latin typeface="Calibri"/>
                  <a:ea typeface="Calibri"/>
                  <a:cs typeface="Calibri"/>
                  <a:sym typeface="Calibri"/>
                </a:rPr>
                <a:t>Shoot Cluster A</a:t>
              </a:r>
              <a:endParaRPr lang="de-DE" sz="1866" kern="0">
                <a:solidFill>
                  <a:srgbClr val="000000"/>
                </a:solidFill>
                <a:latin typeface="Calibri"/>
                <a:ea typeface="Calibri"/>
                <a:cs typeface="Calibri"/>
                <a:sym typeface="Calibri"/>
              </a:endParaRPr>
            </a:p>
          </p:txBody>
        </p:sp>
        <p:sp>
          <p:nvSpPr>
            <p:cNvPr id="551" name="Shape 551"/>
            <p:cNvSpPr/>
            <p:nvPr/>
          </p:nvSpPr>
          <p:spPr>
            <a:xfrm>
              <a:off x="6523387" y="290170"/>
              <a:ext cx="2439299" cy="249600"/>
            </a:xfrm>
            <a:prstGeom prst="rect">
              <a:avLst/>
            </a:prstGeom>
            <a:solidFill>
              <a:schemeClr val="lt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 Admins/Users/Customers</a:t>
              </a:r>
              <a:endParaRPr lang="de-DE" sz="1200" kern="0">
                <a:solidFill>
                  <a:srgbClr val="000000"/>
                </a:solidFill>
                <a:latin typeface="Calibri"/>
                <a:ea typeface="Calibri"/>
                <a:cs typeface="Calibri"/>
                <a:sym typeface="Calibri"/>
              </a:endParaRPr>
            </a:p>
          </p:txBody>
        </p:sp>
      </p:grpSp>
      <p:sp>
        <p:nvSpPr>
          <p:cNvPr id="211" name="Shape 391">
            <a:extLst>
              <a:ext uri="{FF2B5EF4-FFF2-40B4-BE49-F238E27FC236}">
                <a16:creationId xmlns:a16="http://schemas.microsoft.com/office/drawing/2014/main" id="{E5AD053E-41AA-6847-98F7-620406F95E40}"/>
              </a:ext>
            </a:extLst>
          </p:cNvPr>
          <p:cNvSpPr/>
          <p:nvPr/>
        </p:nvSpPr>
        <p:spPr>
          <a:xfrm>
            <a:off x="9037353" y="2902926"/>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a:t>
            </a:r>
            <a:endParaRPr lang="de-DE" sz="1200" kern="0">
              <a:solidFill>
                <a:srgbClr val="000000"/>
              </a:solidFill>
              <a:latin typeface="Calibri"/>
              <a:ea typeface="Calibri"/>
              <a:cs typeface="Calibri"/>
              <a:sym typeface="Calibri"/>
            </a:endParaRPr>
          </a:p>
        </p:txBody>
      </p:sp>
      <p:sp>
        <p:nvSpPr>
          <p:cNvPr id="210" name="Shape 391">
            <a:extLst>
              <a:ext uri="{FF2B5EF4-FFF2-40B4-BE49-F238E27FC236}">
                <a16:creationId xmlns:a16="http://schemas.microsoft.com/office/drawing/2014/main" id="{1B3BDE84-DA54-5142-A330-9387A23FF78E}"/>
              </a:ext>
            </a:extLst>
          </p:cNvPr>
          <p:cNvSpPr/>
          <p:nvPr/>
        </p:nvSpPr>
        <p:spPr>
          <a:xfrm>
            <a:off x="8903629" y="3021653"/>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a:t>
            </a:r>
            <a:endParaRPr lang="de-DE" sz="1200" kern="0">
              <a:solidFill>
                <a:srgbClr val="000000"/>
              </a:solidFill>
              <a:latin typeface="Calibri"/>
              <a:ea typeface="Calibri"/>
              <a:cs typeface="Calibri"/>
              <a:sym typeface="Calibri"/>
            </a:endParaRPr>
          </a:p>
        </p:txBody>
      </p:sp>
      <p:sp>
        <p:nvSpPr>
          <p:cNvPr id="391" name="Shape 391"/>
          <p:cNvSpPr/>
          <p:nvPr/>
        </p:nvSpPr>
        <p:spPr>
          <a:xfrm>
            <a:off x="8772800" y="3171811"/>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Worker     </a:t>
            </a:r>
            <a:endParaRPr lang="de-DE" sz="1200" kern="0">
              <a:solidFill>
                <a:srgbClr val="000000"/>
              </a:solidFill>
              <a:latin typeface="Calibri"/>
              <a:ea typeface="Calibri"/>
              <a:cs typeface="Calibri"/>
              <a:sym typeface="Calibri"/>
            </a:endParaRPr>
          </a:p>
        </p:txBody>
      </p:sp>
      <p:sp>
        <p:nvSpPr>
          <p:cNvPr id="212" name="Shape 524">
            <a:extLst>
              <a:ext uri="{FF2B5EF4-FFF2-40B4-BE49-F238E27FC236}">
                <a16:creationId xmlns:a16="http://schemas.microsoft.com/office/drawing/2014/main" id="{97C2E07B-5047-0D49-8677-1A9E341B03E9}"/>
              </a:ext>
            </a:extLst>
          </p:cNvPr>
          <p:cNvSpPr/>
          <p:nvPr/>
        </p:nvSpPr>
        <p:spPr>
          <a:xfrm>
            <a:off x="9111765" y="3732496"/>
            <a:ext cx="1615097" cy="199548"/>
          </a:xfrm>
          <a:prstGeom prst="rect">
            <a:avLst/>
          </a:prstGeom>
          <a:solidFill>
            <a:srgbClr val="FBE4D4"/>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Cloud Native App</a:t>
            </a:r>
            <a:endParaRPr lang="de-DE" sz="1467" kern="0">
              <a:solidFill>
                <a:srgbClr val="000000"/>
              </a:solidFill>
              <a:cs typeface="Arial"/>
              <a:sym typeface="Arial"/>
            </a:endParaRPr>
          </a:p>
        </p:txBody>
      </p:sp>
      <p:sp>
        <p:nvSpPr>
          <p:cNvPr id="213" name="Shape 524">
            <a:extLst>
              <a:ext uri="{FF2B5EF4-FFF2-40B4-BE49-F238E27FC236}">
                <a16:creationId xmlns:a16="http://schemas.microsoft.com/office/drawing/2014/main" id="{17B36CFA-19F0-4C4F-BB3C-1D3FE1255601}"/>
              </a:ext>
            </a:extLst>
          </p:cNvPr>
          <p:cNvSpPr/>
          <p:nvPr/>
        </p:nvSpPr>
        <p:spPr>
          <a:xfrm>
            <a:off x="9108776" y="3989552"/>
            <a:ext cx="1615097" cy="199548"/>
          </a:xfrm>
          <a:prstGeom prst="rect">
            <a:avLst/>
          </a:prstGeom>
          <a:solidFill>
            <a:srgbClr val="FBE4D4"/>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Data Intelligence</a:t>
            </a:r>
            <a:endParaRPr lang="de-DE" sz="1467" kern="0">
              <a:solidFill>
                <a:srgbClr val="000000"/>
              </a:solidFill>
              <a:cs typeface="Arial"/>
              <a:sym typeface="Arial"/>
            </a:endParaRPr>
          </a:p>
        </p:txBody>
      </p:sp>
      <p:sp>
        <p:nvSpPr>
          <p:cNvPr id="214" name="Shape 524">
            <a:extLst>
              <a:ext uri="{FF2B5EF4-FFF2-40B4-BE49-F238E27FC236}">
                <a16:creationId xmlns:a16="http://schemas.microsoft.com/office/drawing/2014/main" id="{DAC980FD-FA21-174E-8C23-28379A7A5D87}"/>
              </a:ext>
            </a:extLst>
          </p:cNvPr>
          <p:cNvSpPr/>
          <p:nvPr/>
        </p:nvSpPr>
        <p:spPr>
          <a:xfrm>
            <a:off x="9108776" y="4243021"/>
            <a:ext cx="1615097" cy="199548"/>
          </a:xfrm>
          <a:prstGeom prst="rect">
            <a:avLst/>
          </a:prstGeom>
          <a:solidFill>
            <a:srgbClr val="FBE4D4"/>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HANA Cloud</a:t>
            </a:r>
            <a:endParaRPr lang="de-DE" sz="1467" kern="0">
              <a:solidFill>
                <a:srgbClr val="000000"/>
              </a:solidFill>
              <a:cs typeface="Arial"/>
              <a:sym typeface="Arial"/>
            </a:endParaRPr>
          </a:p>
        </p:txBody>
      </p:sp>
      <p:sp>
        <p:nvSpPr>
          <p:cNvPr id="215" name="Shape 524">
            <a:extLst>
              <a:ext uri="{FF2B5EF4-FFF2-40B4-BE49-F238E27FC236}">
                <a16:creationId xmlns:a16="http://schemas.microsoft.com/office/drawing/2014/main" id="{8D3FFD08-A9DE-9143-85EC-235E4659BFBB}"/>
              </a:ext>
            </a:extLst>
          </p:cNvPr>
          <p:cNvSpPr/>
          <p:nvPr/>
        </p:nvSpPr>
        <p:spPr>
          <a:xfrm>
            <a:off x="9108776" y="4561296"/>
            <a:ext cx="1615097" cy="454712"/>
          </a:xfrm>
          <a:prstGeom prst="rect">
            <a:avLst/>
          </a:prstGeom>
          <a:solidFill>
            <a:srgbClr val="FBE4D4"/>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Business Workloads</a:t>
            </a:r>
            <a:endParaRPr lang="de-DE" sz="1467" kern="0">
              <a:solidFill>
                <a:srgbClr val="000000"/>
              </a:solidFill>
              <a:cs typeface="Arial"/>
              <a:sym typeface="Arial"/>
            </a:endParaRPr>
          </a:p>
        </p:txBody>
      </p:sp>
      <p:sp>
        <p:nvSpPr>
          <p:cNvPr id="221" name="Shape 392">
            <a:extLst>
              <a:ext uri="{FF2B5EF4-FFF2-40B4-BE49-F238E27FC236}">
                <a16:creationId xmlns:a16="http://schemas.microsoft.com/office/drawing/2014/main" id="{1B0B5ACD-F18F-4649-AEFE-B6BD4A6BD716}"/>
              </a:ext>
            </a:extLst>
          </p:cNvPr>
          <p:cNvSpPr/>
          <p:nvPr/>
        </p:nvSpPr>
        <p:spPr>
          <a:xfrm rot="5400000">
            <a:off x="8629418" y="3666473"/>
            <a:ext cx="2310998" cy="1877911"/>
          </a:xfrm>
          <a:prstGeom prst="corner">
            <a:avLst>
              <a:gd name="adj1" fmla="val 10919"/>
              <a:gd name="adj2" fmla="val 11546"/>
            </a:avLst>
          </a:prstGeom>
          <a:solidFill>
            <a:schemeClr val="lt1"/>
          </a:solidFill>
          <a:ln w="17775" cap="flat" cmpd="sng">
            <a:solidFill>
              <a:schemeClr val="dk1"/>
            </a:solidFill>
            <a:prstDash val="solid"/>
            <a:miter lim="800000"/>
            <a:headEnd type="none" w="sm" len="sm"/>
            <a:tailEnd type="none" w="sm" len="sm"/>
          </a:ln>
        </p:spPr>
        <p:txBody>
          <a:bodyPr spcFirstLastPara="1" wrap="square" lIns="91409" tIns="91409" rIns="91409" bIns="91409" anchor="ctr" anchorCtr="0">
            <a:noAutofit/>
          </a:bodyPr>
          <a:lstStyle/>
          <a:p>
            <a:pPr defTabSz="1218804">
              <a:buClr>
                <a:srgbClr val="000000"/>
              </a:buClr>
              <a:defRPr/>
            </a:pPr>
            <a:endParaRPr lang="de-DE" sz="1866" kern="0">
              <a:solidFill>
                <a:srgbClr val="000000"/>
              </a:solidFill>
              <a:cs typeface="Arial"/>
              <a:sym typeface="Arial"/>
            </a:endParaRPr>
          </a:p>
        </p:txBody>
      </p:sp>
      <p:sp>
        <p:nvSpPr>
          <p:cNvPr id="222" name="Shape 407">
            <a:extLst>
              <a:ext uri="{FF2B5EF4-FFF2-40B4-BE49-F238E27FC236}">
                <a16:creationId xmlns:a16="http://schemas.microsoft.com/office/drawing/2014/main" id="{8526551C-037A-9848-A57A-6096A341C448}"/>
              </a:ext>
            </a:extLst>
          </p:cNvPr>
          <p:cNvSpPr txBox="1"/>
          <p:nvPr/>
        </p:nvSpPr>
        <p:spPr>
          <a:xfrm>
            <a:off x="8868253" y="3489934"/>
            <a:ext cx="1757542" cy="153960"/>
          </a:xfrm>
          <a:prstGeom prst="rect">
            <a:avLst/>
          </a:prstGeom>
          <a:noFill/>
          <a:ln>
            <a:noFill/>
          </a:ln>
        </p:spPr>
        <p:txBody>
          <a:bodyPr spcFirstLastPara="1" wrap="square" lIns="0" tIns="0" rIns="0" bIns="0" anchor="ctr" anchorCtr="0">
            <a:noAutofit/>
          </a:bodyPr>
          <a:lstStyle/>
          <a:p>
            <a:pPr algn="ctr" defTabSz="1218804">
              <a:buClr>
                <a:srgbClr val="F0AB00"/>
              </a:buClr>
              <a:buSzPts val="600"/>
              <a:defRPr/>
            </a:pPr>
            <a:r>
              <a:rPr lang="en" sz="1067" kern="0" err="1">
                <a:solidFill>
                  <a:srgbClr val="000000"/>
                </a:solidFill>
                <a:latin typeface="Calibri"/>
                <a:ea typeface="Calibri"/>
                <a:cs typeface="Calibri"/>
                <a:sym typeface="Calibri"/>
              </a:rPr>
              <a:t>Kubelet</a:t>
            </a:r>
            <a:r>
              <a:rPr lang="en" sz="1067" kern="0">
                <a:solidFill>
                  <a:srgbClr val="000000"/>
                </a:solidFill>
                <a:latin typeface="Calibri"/>
                <a:ea typeface="Calibri"/>
                <a:cs typeface="Calibri"/>
                <a:sym typeface="Calibri"/>
              </a:rPr>
              <a:t> + Container Runtime</a:t>
            </a:r>
            <a:endParaRPr lang="de-DE" sz="1067" kern="0">
              <a:solidFill>
                <a:srgbClr val="000000"/>
              </a:solidFill>
              <a:latin typeface="Calibri"/>
              <a:ea typeface="Calibri"/>
              <a:cs typeface="Calibri"/>
              <a:sym typeface="Calibri"/>
            </a:endParaRPr>
          </a:p>
        </p:txBody>
      </p:sp>
      <p:sp>
        <p:nvSpPr>
          <p:cNvPr id="235" name="Shape 391">
            <a:extLst>
              <a:ext uri="{FF2B5EF4-FFF2-40B4-BE49-F238E27FC236}">
                <a16:creationId xmlns:a16="http://schemas.microsoft.com/office/drawing/2014/main" id="{B2631AD7-EEA3-3F40-A034-5F42263D25A2}"/>
              </a:ext>
            </a:extLst>
          </p:cNvPr>
          <p:cNvSpPr/>
          <p:nvPr/>
        </p:nvSpPr>
        <p:spPr>
          <a:xfrm>
            <a:off x="4294491" y="2927124"/>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a:t>
            </a:r>
            <a:endParaRPr lang="de-DE" sz="1200" kern="0">
              <a:solidFill>
                <a:srgbClr val="000000"/>
              </a:solidFill>
              <a:latin typeface="Calibri"/>
              <a:ea typeface="Calibri"/>
              <a:cs typeface="Calibri"/>
              <a:sym typeface="Calibri"/>
            </a:endParaRPr>
          </a:p>
        </p:txBody>
      </p:sp>
      <p:sp>
        <p:nvSpPr>
          <p:cNvPr id="236" name="Shape 391">
            <a:extLst>
              <a:ext uri="{FF2B5EF4-FFF2-40B4-BE49-F238E27FC236}">
                <a16:creationId xmlns:a16="http://schemas.microsoft.com/office/drawing/2014/main" id="{98699797-9E6D-584C-9EBE-5677C86B9E38}"/>
              </a:ext>
            </a:extLst>
          </p:cNvPr>
          <p:cNvSpPr/>
          <p:nvPr/>
        </p:nvSpPr>
        <p:spPr>
          <a:xfrm>
            <a:off x="4160766" y="3045851"/>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a:t>
            </a:r>
            <a:endParaRPr lang="de-DE" sz="1200" kern="0">
              <a:solidFill>
                <a:srgbClr val="000000"/>
              </a:solidFill>
              <a:latin typeface="Calibri"/>
              <a:ea typeface="Calibri"/>
              <a:cs typeface="Calibri"/>
              <a:sym typeface="Calibri"/>
            </a:endParaRPr>
          </a:p>
        </p:txBody>
      </p:sp>
      <p:sp>
        <p:nvSpPr>
          <p:cNvPr id="237" name="Shape 391">
            <a:extLst>
              <a:ext uri="{FF2B5EF4-FFF2-40B4-BE49-F238E27FC236}">
                <a16:creationId xmlns:a16="http://schemas.microsoft.com/office/drawing/2014/main" id="{5911F1BC-2E4F-1843-86F1-25C2A67580E3}"/>
              </a:ext>
            </a:extLst>
          </p:cNvPr>
          <p:cNvSpPr/>
          <p:nvPr/>
        </p:nvSpPr>
        <p:spPr>
          <a:xfrm>
            <a:off x="4119692" y="2003331"/>
            <a:ext cx="3016322" cy="6385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a:t>
            </a:r>
            <a:endParaRPr lang="de-DE" sz="1200" kern="0">
              <a:solidFill>
                <a:srgbClr val="000000"/>
              </a:solidFill>
              <a:latin typeface="Calibri"/>
              <a:ea typeface="Calibri"/>
              <a:cs typeface="Calibri"/>
              <a:sym typeface="Calibri"/>
            </a:endParaRPr>
          </a:p>
        </p:txBody>
      </p:sp>
      <p:sp>
        <p:nvSpPr>
          <p:cNvPr id="238" name="Shape 391">
            <a:extLst>
              <a:ext uri="{FF2B5EF4-FFF2-40B4-BE49-F238E27FC236}">
                <a16:creationId xmlns:a16="http://schemas.microsoft.com/office/drawing/2014/main" id="{072946C5-72A1-7949-92C3-B084C6258305}"/>
              </a:ext>
            </a:extLst>
          </p:cNvPr>
          <p:cNvSpPr/>
          <p:nvPr/>
        </p:nvSpPr>
        <p:spPr>
          <a:xfrm>
            <a:off x="4027501" y="2121505"/>
            <a:ext cx="3016322" cy="6385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Leader</a:t>
            </a:r>
            <a:endParaRPr lang="de-DE" sz="1200" kern="0">
              <a:solidFill>
                <a:srgbClr val="000000"/>
              </a:solidFill>
              <a:latin typeface="Calibri"/>
              <a:ea typeface="Calibri"/>
              <a:cs typeface="Calibri"/>
              <a:sym typeface="Calibri"/>
            </a:endParaRPr>
          </a:p>
        </p:txBody>
      </p:sp>
      <p:sp>
        <p:nvSpPr>
          <p:cNvPr id="227" name="Shape 391">
            <a:extLst>
              <a:ext uri="{FF2B5EF4-FFF2-40B4-BE49-F238E27FC236}">
                <a16:creationId xmlns:a16="http://schemas.microsoft.com/office/drawing/2014/main" id="{66054F49-425D-7E4A-A1EF-83F7E90FE963}"/>
              </a:ext>
            </a:extLst>
          </p:cNvPr>
          <p:cNvSpPr/>
          <p:nvPr/>
        </p:nvSpPr>
        <p:spPr>
          <a:xfrm>
            <a:off x="4040172" y="3172796"/>
            <a:ext cx="2838061" cy="3043607"/>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                                                          Worker     </a:t>
            </a:r>
            <a:endParaRPr lang="de-DE" sz="1200" kern="0">
              <a:solidFill>
                <a:srgbClr val="000000"/>
              </a:solidFill>
              <a:latin typeface="Calibri"/>
              <a:ea typeface="Calibri"/>
              <a:cs typeface="Calibri"/>
              <a:sym typeface="Calibri"/>
            </a:endParaRPr>
          </a:p>
        </p:txBody>
      </p:sp>
      <p:sp>
        <p:nvSpPr>
          <p:cNvPr id="240" name="Shape 376">
            <a:extLst>
              <a:ext uri="{FF2B5EF4-FFF2-40B4-BE49-F238E27FC236}">
                <a16:creationId xmlns:a16="http://schemas.microsoft.com/office/drawing/2014/main" id="{391806CC-8007-4F48-90A5-63A6DEFD2937}"/>
              </a:ext>
            </a:extLst>
          </p:cNvPr>
          <p:cNvSpPr txBox="1"/>
          <p:nvPr/>
        </p:nvSpPr>
        <p:spPr>
          <a:xfrm>
            <a:off x="3669139" y="65060"/>
            <a:ext cx="3588266" cy="362306"/>
          </a:xfrm>
          <a:prstGeom prst="rect">
            <a:avLst/>
          </a:prstGeom>
          <a:noFill/>
          <a:ln>
            <a:noFill/>
          </a:ln>
        </p:spPr>
        <p:txBody>
          <a:bodyPr spcFirstLastPara="1" wrap="square" lIns="121868" tIns="121868" rIns="121868" bIns="121868" anchor="ctr" anchorCtr="0">
            <a:noAutofit/>
          </a:bodyPr>
          <a:lstStyle/>
          <a:p>
            <a:pPr algn="ctr" defTabSz="1218804">
              <a:buClr>
                <a:srgbClr val="000000"/>
              </a:buClr>
              <a:defRPr/>
            </a:pPr>
            <a:r>
              <a:rPr lang="en" sz="1866" kern="0">
                <a:solidFill>
                  <a:srgbClr val="000000"/>
                </a:solidFill>
                <a:latin typeface="Calibri"/>
                <a:ea typeface="Calibri"/>
                <a:cs typeface="Calibri"/>
                <a:sym typeface="Calibri"/>
              </a:rPr>
              <a:t>Seed Cluster</a:t>
            </a:r>
            <a:endParaRPr lang="de-DE" sz="1866" kern="0">
              <a:solidFill>
                <a:srgbClr val="000000"/>
              </a:solidFill>
              <a:latin typeface="Calibri"/>
              <a:ea typeface="Calibri"/>
              <a:cs typeface="Calibri"/>
              <a:sym typeface="Calibri"/>
            </a:endParaRPr>
          </a:p>
        </p:txBody>
      </p:sp>
      <p:sp>
        <p:nvSpPr>
          <p:cNvPr id="226" name="Shape 393">
            <a:extLst>
              <a:ext uri="{FF2B5EF4-FFF2-40B4-BE49-F238E27FC236}">
                <a16:creationId xmlns:a16="http://schemas.microsoft.com/office/drawing/2014/main" id="{066C993D-BFF0-0C47-A30E-D0C77F404573}"/>
              </a:ext>
            </a:extLst>
          </p:cNvPr>
          <p:cNvSpPr txBox="1"/>
          <p:nvPr/>
        </p:nvSpPr>
        <p:spPr>
          <a:xfrm>
            <a:off x="4176134" y="3447934"/>
            <a:ext cx="205147" cy="2310998"/>
          </a:xfrm>
          <a:prstGeom prst="rect">
            <a:avLst/>
          </a:prstGeom>
          <a:noFill/>
          <a:ln>
            <a:noFill/>
          </a:ln>
        </p:spPr>
        <p:txBody>
          <a:bodyPr spcFirstLastPara="1" wrap="square" lIns="35991" tIns="35991" rIns="35991" bIns="35991" anchor="t" anchorCtr="0">
            <a:noAutofit/>
          </a:bodyPr>
          <a:lstStyle/>
          <a:p>
            <a:pPr algn="ctr" defTabSz="1218804">
              <a:buClr>
                <a:srgbClr val="000000"/>
              </a:buClr>
              <a:buSzPts val="900"/>
              <a:defRPr/>
            </a:pPr>
            <a:endParaRPr lang="de-DE" sz="1200" kern="0">
              <a:solidFill>
                <a:srgbClr val="000000"/>
              </a:solidFill>
              <a:latin typeface="Calibri"/>
              <a:ea typeface="Calibri"/>
              <a:cs typeface="Calibri"/>
              <a:sym typeface="Calibri"/>
            </a:endParaRPr>
          </a:p>
        </p:txBody>
      </p:sp>
      <p:sp>
        <p:nvSpPr>
          <p:cNvPr id="232" name="Shape 392">
            <a:extLst>
              <a:ext uri="{FF2B5EF4-FFF2-40B4-BE49-F238E27FC236}">
                <a16:creationId xmlns:a16="http://schemas.microsoft.com/office/drawing/2014/main" id="{DD771632-1A6D-E84E-BB90-FBA8AB44576C}"/>
              </a:ext>
            </a:extLst>
          </p:cNvPr>
          <p:cNvSpPr/>
          <p:nvPr/>
        </p:nvSpPr>
        <p:spPr>
          <a:xfrm rot="5400000">
            <a:off x="3905119" y="3679518"/>
            <a:ext cx="2310998" cy="1877911"/>
          </a:xfrm>
          <a:prstGeom prst="corner">
            <a:avLst>
              <a:gd name="adj1" fmla="val 10919"/>
              <a:gd name="adj2" fmla="val 11546"/>
            </a:avLst>
          </a:prstGeom>
          <a:solidFill>
            <a:schemeClr val="lt1"/>
          </a:solidFill>
          <a:ln w="17775" cap="flat" cmpd="sng">
            <a:solidFill>
              <a:schemeClr val="dk1"/>
            </a:solidFill>
            <a:prstDash val="solid"/>
            <a:miter lim="800000"/>
            <a:headEnd type="none" w="sm" len="sm"/>
            <a:tailEnd type="none" w="sm" len="sm"/>
          </a:ln>
        </p:spPr>
        <p:txBody>
          <a:bodyPr spcFirstLastPara="1" wrap="square" lIns="91409" tIns="91409" rIns="91409" bIns="91409" anchor="ctr" anchorCtr="0">
            <a:noAutofit/>
          </a:bodyPr>
          <a:lstStyle/>
          <a:p>
            <a:pPr defTabSz="1218804">
              <a:buClr>
                <a:srgbClr val="000000"/>
              </a:buClr>
              <a:defRPr/>
            </a:pPr>
            <a:endParaRPr lang="de-DE" sz="1866" kern="0">
              <a:solidFill>
                <a:srgbClr val="000000"/>
              </a:solidFill>
              <a:cs typeface="Arial"/>
              <a:sym typeface="Arial"/>
            </a:endParaRPr>
          </a:p>
        </p:txBody>
      </p:sp>
      <p:sp>
        <p:nvSpPr>
          <p:cNvPr id="233" name="Shape 407">
            <a:extLst>
              <a:ext uri="{FF2B5EF4-FFF2-40B4-BE49-F238E27FC236}">
                <a16:creationId xmlns:a16="http://schemas.microsoft.com/office/drawing/2014/main" id="{9171287F-A92C-EE47-A63B-606F8C80A0F2}"/>
              </a:ext>
            </a:extLst>
          </p:cNvPr>
          <p:cNvSpPr txBox="1"/>
          <p:nvPr/>
        </p:nvSpPr>
        <p:spPr>
          <a:xfrm>
            <a:off x="4143954" y="3502979"/>
            <a:ext cx="1757542" cy="153960"/>
          </a:xfrm>
          <a:prstGeom prst="rect">
            <a:avLst/>
          </a:prstGeom>
          <a:noFill/>
          <a:ln>
            <a:noFill/>
          </a:ln>
        </p:spPr>
        <p:txBody>
          <a:bodyPr spcFirstLastPara="1" wrap="square" lIns="0" tIns="0" rIns="0" bIns="0" anchor="ctr" anchorCtr="0">
            <a:noAutofit/>
          </a:bodyPr>
          <a:lstStyle/>
          <a:p>
            <a:pPr algn="ctr" defTabSz="1218804">
              <a:buClr>
                <a:srgbClr val="F0AB00"/>
              </a:buClr>
              <a:buSzPts val="600"/>
              <a:defRPr/>
            </a:pPr>
            <a:r>
              <a:rPr lang="en" sz="1067" kern="0" err="1">
                <a:solidFill>
                  <a:srgbClr val="000000"/>
                </a:solidFill>
                <a:latin typeface="Calibri"/>
                <a:ea typeface="Calibri"/>
                <a:cs typeface="Calibri"/>
                <a:sym typeface="Calibri"/>
              </a:rPr>
              <a:t>Kubelet</a:t>
            </a:r>
            <a:r>
              <a:rPr lang="en" sz="1067" kern="0">
                <a:solidFill>
                  <a:srgbClr val="000000"/>
                </a:solidFill>
                <a:latin typeface="Calibri"/>
                <a:ea typeface="Calibri"/>
                <a:cs typeface="Calibri"/>
                <a:sym typeface="Calibri"/>
              </a:rPr>
              <a:t> + Container Runtime</a:t>
            </a:r>
            <a:endParaRPr lang="de-DE" sz="1067" kern="0">
              <a:solidFill>
                <a:srgbClr val="000000"/>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FCD161D8-CCDE-7846-8EE5-E93445B93884}"/>
              </a:ext>
            </a:extLst>
          </p:cNvPr>
          <p:cNvGrpSpPr/>
          <p:nvPr/>
        </p:nvGrpSpPr>
        <p:grpSpPr>
          <a:xfrm>
            <a:off x="4368301" y="3709951"/>
            <a:ext cx="1631273" cy="404950"/>
            <a:chOff x="1604591" y="2320693"/>
            <a:chExt cx="1604000" cy="2451603"/>
          </a:xfrm>
        </p:grpSpPr>
        <p:sp>
          <p:nvSpPr>
            <p:cNvPr id="383" name="Shape 383"/>
            <p:cNvSpPr/>
            <p:nvPr/>
          </p:nvSpPr>
          <p:spPr>
            <a:xfrm>
              <a:off x="1604591" y="2320693"/>
              <a:ext cx="1604000" cy="2451603"/>
            </a:xfrm>
            <a:prstGeom prst="rect">
              <a:avLst/>
            </a:prstGeom>
            <a:noFill/>
            <a:ln w="12700" cap="flat" cmpd="sng">
              <a:solidFill>
                <a:schemeClr val="dk1"/>
              </a:solidFill>
              <a:prstDash val="dash"/>
              <a:miter lim="800000"/>
              <a:headEnd type="none" w="sm" len="sm"/>
              <a:tailEnd type="none" w="sm" len="sm"/>
            </a:ln>
          </p:spPr>
          <p:txBody>
            <a:bodyPr spcFirstLastPara="1" wrap="square" lIns="91409" tIns="45688" rIns="91409" bIns="45688" anchor="ctr" anchorCtr="0">
              <a:noAutofit/>
            </a:bodyPr>
            <a:lstStyle/>
            <a:p>
              <a:pPr algn="ctr" defTabSz="1218804">
                <a:buClr>
                  <a:srgbClr val="000000"/>
                </a:buClr>
                <a:buSzPts val="1400"/>
                <a:defRPr/>
              </a:pPr>
              <a:endParaRPr lang="de-DE" sz="1866" kern="0">
                <a:solidFill>
                  <a:srgbClr val="000000"/>
                </a:solidFill>
                <a:latin typeface="Calibri"/>
                <a:ea typeface="Calibri"/>
                <a:cs typeface="Calibri"/>
                <a:sym typeface="Calibri"/>
              </a:endParaRPr>
            </a:p>
          </p:txBody>
        </p:sp>
        <p:sp>
          <p:nvSpPr>
            <p:cNvPr id="484" name="Shape 484"/>
            <p:cNvSpPr/>
            <p:nvPr/>
          </p:nvSpPr>
          <p:spPr>
            <a:xfrm>
              <a:off x="1639991" y="2455417"/>
              <a:ext cx="1533200" cy="2148800"/>
            </a:xfrm>
            <a:prstGeom prst="rect">
              <a:avLst/>
            </a:prstGeom>
            <a:solidFill>
              <a:srgbClr val="E56A15"/>
            </a:solidFill>
            <a:ln w="12700" cap="flat" cmpd="sng">
              <a:solidFill>
                <a:srgbClr val="31538F"/>
              </a:solidFill>
              <a:prstDash val="solid"/>
              <a:miter lim="800000"/>
              <a:headEnd type="none" w="sm" len="sm"/>
              <a:tailEnd type="none" w="sm" len="sm"/>
            </a:ln>
          </p:spPr>
          <p:txBody>
            <a:bodyPr spcFirstLastPara="1" wrap="square" lIns="91409" tIns="45688" rIns="91409" bIns="45688" anchor="ctr" anchorCtr="0">
              <a:noAutofit/>
            </a:bodyPr>
            <a:lstStyle/>
            <a:p>
              <a:pPr algn="ctr" defTabSz="1218804">
                <a:buClr>
                  <a:srgbClr val="FFFFFF"/>
                </a:buClr>
                <a:buSzPts val="1400"/>
                <a:defRPr/>
              </a:pPr>
              <a:endParaRPr lang="de-DE" sz="1866" kern="0">
                <a:solidFill>
                  <a:srgbClr val="FFFFFF"/>
                </a:solidFill>
                <a:latin typeface="Calibri"/>
                <a:ea typeface="Calibri"/>
                <a:cs typeface="Calibri"/>
                <a:sym typeface="Calibri"/>
              </a:endParaRPr>
            </a:p>
          </p:txBody>
        </p:sp>
      </p:grpSp>
      <p:sp>
        <p:nvSpPr>
          <p:cNvPr id="242" name="Shape 375">
            <a:extLst>
              <a:ext uri="{FF2B5EF4-FFF2-40B4-BE49-F238E27FC236}">
                <a16:creationId xmlns:a16="http://schemas.microsoft.com/office/drawing/2014/main" id="{5484E1D2-B287-B248-AF37-BBA94676EF76}"/>
              </a:ext>
            </a:extLst>
          </p:cNvPr>
          <p:cNvSpPr txBox="1"/>
          <p:nvPr/>
        </p:nvSpPr>
        <p:spPr>
          <a:xfrm>
            <a:off x="198866" y="12771"/>
            <a:ext cx="3295214" cy="362306"/>
          </a:xfrm>
          <a:prstGeom prst="rect">
            <a:avLst/>
          </a:prstGeom>
          <a:noFill/>
          <a:ln>
            <a:noFill/>
          </a:ln>
        </p:spPr>
        <p:txBody>
          <a:bodyPr spcFirstLastPara="1" wrap="square" lIns="121868" tIns="121868" rIns="121868" bIns="121868" anchor="ctr" anchorCtr="0">
            <a:noAutofit/>
          </a:bodyPr>
          <a:lstStyle/>
          <a:p>
            <a:pPr algn="ctr" defTabSz="1218804">
              <a:buClr>
                <a:srgbClr val="000000"/>
              </a:buClr>
              <a:defRPr/>
            </a:pPr>
            <a:r>
              <a:rPr lang="en" sz="1866" kern="0">
                <a:solidFill>
                  <a:srgbClr val="000000"/>
                </a:solidFill>
                <a:latin typeface="Calibri"/>
                <a:ea typeface="Calibri"/>
                <a:cs typeface="Calibri"/>
                <a:sym typeface="Calibri"/>
              </a:rPr>
              <a:t>Garden Cluster</a:t>
            </a:r>
            <a:endParaRPr lang="de-DE" sz="1866" kern="0">
              <a:solidFill>
                <a:srgbClr val="000000"/>
              </a:solidFill>
              <a:latin typeface="Calibri"/>
              <a:ea typeface="Calibri"/>
              <a:cs typeface="Calibri"/>
              <a:sym typeface="Calibri"/>
            </a:endParaRPr>
          </a:p>
        </p:txBody>
      </p:sp>
      <p:sp>
        <p:nvSpPr>
          <p:cNvPr id="243" name="Shape 408">
            <a:extLst>
              <a:ext uri="{FF2B5EF4-FFF2-40B4-BE49-F238E27FC236}">
                <a16:creationId xmlns:a16="http://schemas.microsoft.com/office/drawing/2014/main" id="{6573F639-9F38-854D-833F-C6DEA51F56B2}"/>
              </a:ext>
            </a:extLst>
          </p:cNvPr>
          <p:cNvSpPr/>
          <p:nvPr/>
        </p:nvSpPr>
        <p:spPr>
          <a:xfrm>
            <a:off x="197525" y="1745516"/>
            <a:ext cx="3296557" cy="4539506"/>
          </a:xfrm>
          <a:prstGeom prst="rect">
            <a:avLst/>
          </a:prstGeom>
          <a:solidFill>
            <a:schemeClr val="accent4">
              <a:alpha val="30000"/>
            </a:schemeClr>
          </a:solidFill>
          <a:ln w="17775" cap="flat" cmpd="sng">
            <a:solidFill>
              <a:schemeClr val="dk1"/>
            </a:solidFill>
            <a:prstDash val="solid"/>
            <a:miter lim="800000"/>
            <a:headEnd type="none" w="sm" len="sm"/>
            <a:tailEnd type="none" w="sm" len="sm"/>
          </a:ln>
        </p:spPr>
        <p:txBody>
          <a:bodyPr spcFirstLastPara="1" wrap="square" lIns="35991" tIns="35991" rIns="35991" bIns="35991" anchor="t"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Kubernetes Cluster</a:t>
            </a:r>
            <a:endParaRPr lang="de-DE" sz="267" kern="0">
              <a:solidFill>
                <a:srgbClr val="000000"/>
              </a:solidFill>
              <a:latin typeface="Calibri"/>
              <a:ea typeface="Calibri"/>
              <a:cs typeface="Calibri"/>
              <a:sym typeface="Calibri"/>
            </a:endParaRPr>
          </a:p>
        </p:txBody>
      </p:sp>
      <p:sp>
        <p:nvSpPr>
          <p:cNvPr id="244" name="Shape 481">
            <a:extLst>
              <a:ext uri="{FF2B5EF4-FFF2-40B4-BE49-F238E27FC236}">
                <a16:creationId xmlns:a16="http://schemas.microsoft.com/office/drawing/2014/main" id="{EF5C3E08-7669-8C43-B991-BEF98CBFE4F8}"/>
              </a:ext>
            </a:extLst>
          </p:cNvPr>
          <p:cNvSpPr/>
          <p:nvPr/>
        </p:nvSpPr>
        <p:spPr>
          <a:xfrm>
            <a:off x="201760" y="6404628"/>
            <a:ext cx="3292321" cy="261532"/>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900"/>
              <a:defRPr/>
            </a:pPr>
            <a:r>
              <a:rPr lang="en" sz="1200" kern="0">
                <a:solidFill>
                  <a:srgbClr val="000000"/>
                </a:solidFill>
                <a:latin typeface="Calibri"/>
                <a:ea typeface="Calibri"/>
                <a:cs typeface="Calibri"/>
                <a:sym typeface="Calibri"/>
              </a:rPr>
              <a:t>IaaS</a:t>
            </a:r>
            <a:endParaRPr lang="de-DE" sz="1467" kern="0">
              <a:solidFill>
                <a:srgbClr val="000000"/>
              </a:solidFill>
              <a:cs typeface="Arial"/>
              <a:sym typeface="Arial"/>
            </a:endParaRPr>
          </a:p>
        </p:txBody>
      </p:sp>
      <p:sp>
        <p:nvSpPr>
          <p:cNvPr id="251" name="Shape 393">
            <a:extLst>
              <a:ext uri="{FF2B5EF4-FFF2-40B4-BE49-F238E27FC236}">
                <a16:creationId xmlns:a16="http://schemas.microsoft.com/office/drawing/2014/main" id="{8C36C16E-F0D0-3348-8A01-83B748EF0070}"/>
              </a:ext>
            </a:extLst>
          </p:cNvPr>
          <p:cNvSpPr txBox="1"/>
          <p:nvPr/>
        </p:nvSpPr>
        <p:spPr>
          <a:xfrm>
            <a:off x="386649" y="3319589"/>
            <a:ext cx="205147" cy="2310998"/>
          </a:xfrm>
          <a:prstGeom prst="rect">
            <a:avLst/>
          </a:prstGeom>
          <a:noFill/>
          <a:ln>
            <a:noFill/>
          </a:ln>
        </p:spPr>
        <p:txBody>
          <a:bodyPr spcFirstLastPara="1" wrap="square" lIns="35991" tIns="35991" rIns="35991" bIns="35991" anchor="t" anchorCtr="0">
            <a:noAutofit/>
          </a:bodyPr>
          <a:lstStyle/>
          <a:p>
            <a:pPr algn="ctr" defTabSz="1218804">
              <a:buClr>
                <a:srgbClr val="000000"/>
              </a:buClr>
              <a:buSzPts val="900"/>
              <a:defRPr/>
            </a:pPr>
            <a:endParaRPr lang="de-DE" sz="1200" kern="0">
              <a:solidFill>
                <a:srgbClr val="000000"/>
              </a:solidFill>
              <a:latin typeface="Calibri"/>
              <a:ea typeface="Calibri"/>
              <a:cs typeface="Calibri"/>
              <a:sym typeface="Calibri"/>
            </a:endParaRPr>
          </a:p>
        </p:txBody>
      </p:sp>
      <p:sp>
        <p:nvSpPr>
          <p:cNvPr id="261" name="Shape 396">
            <a:extLst>
              <a:ext uri="{FF2B5EF4-FFF2-40B4-BE49-F238E27FC236}">
                <a16:creationId xmlns:a16="http://schemas.microsoft.com/office/drawing/2014/main" id="{11DEE7FC-0146-F247-A15E-97CF0E6CA8CF}"/>
              </a:ext>
            </a:extLst>
          </p:cNvPr>
          <p:cNvSpPr/>
          <p:nvPr/>
        </p:nvSpPr>
        <p:spPr>
          <a:xfrm>
            <a:off x="197525" y="379530"/>
            <a:ext cx="3296557" cy="332714"/>
          </a:xfrm>
          <a:prstGeom prst="rect">
            <a:avLst/>
          </a:prstGeom>
          <a:solidFill>
            <a:schemeClr val="lt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defTabSz="1218804">
              <a:buClr>
                <a:srgbClr val="000000"/>
              </a:buClr>
              <a:buSzPts val="900"/>
              <a:defRPr/>
            </a:pPr>
            <a:r>
              <a:rPr lang="en" sz="1200" kern="0">
                <a:solidFill>
                  <a:srgbClr val="000000"/>
                </a:solidFill>
                <a:latin typeface="Calibri"/>
                <a:ea typeface="Calibri"/>
                <a:cs typeface="Calibri"/>
                <a:sym typeface="Calibri"/>
              </a:rPr>
              <a:t>Central Management</a:t>
            </a:r>
            <a:endParaRPr lang="de-DE" sz="1200" kern="0">
              <a:solidFill>
                <a:srgbClr val="000000"/>
              </a:solidFill>
              <a:latin typeface="Calibri"/>
              <a:ea typeface="Calibri"/>
              <a:cs typeface="Calibri"/>
              <a:sym typeface="Calibri"/>
            </a:endParaRPr>
          </a:p>
        </p:txBody>
      </p:sp>
      <p:sp>
        <p:nvSpPr>
          <p:cNvPr id="614" name="Shape 382">
            <a:extLst>
              <a:ext uri="{FF2B5EF4-FFF2-40B4-BE49-F238E27FC236}">
                <a16:creationId xmlns:a16="http://schemas.microsoft.com/office/drawing/2014/main" id="{E3D0CD43-3E59-2448-A69E-E647F66A7289}"/>
              </a:ext>
            </a:extLst>
          </p:cNvPr>
          <p:cNvSpPr txBox="1"/>
          <p:nvPr/>
        </p:nvSpPr>
        <p:spPr>
          <a:xfrm rot="19116127">
            <a:off x="8649247" y="1349110"/>
            <a:ext cx="431488" cy="366705"/>
          </a:xfrm>
          <a:prstGeom prst="rect">
            <a:avLst/>
          </a:prstGeom>
          <a:noFill/>
          <a:ln>
            <a:noFill/>
          </a:ln>
        </p:spPr>
        <p:txBody>
          <a:bodyPr spcFirstLastPara="1" wrap="square" lIns="89977" tIns="46788" rIns="89977" bIns="46788" anchor="t" anchorCtr="0">
            <a:noAutofit/>
          </a:bodyPr>
          <a:lstStyle/>
          <a:p>
            <a:pPr defTabSz="1218804">
              <a:buClr>
                <a:srgbClr val="000000"/>
              </a:buClr>
              <a:buSzPts val="1400"/>
              <a:defRPr/>
            </a:pPr>
            <a:r>
              <a:rPr lang="en" sz="1866" b="1" kern="0">
                <a:solidFill>
                  <a:srgbClr val="000000"/>
                </a:solidFill>
                <a:latin typeface="Times New Roman"/>
                <a:ea typeface="Times New Roman"/>
                <a:cs typeface="Times New Roman"/>
                <a:sym typeface="Times New Roman"/>
              </a:rPr>
              <a:t>...</a:t>
            </a:r>
            <a:endParaRPr lang="de-DE" sz="1467" kern="0">
              <a:solidFill>
                <a:srgbClr val="000000"/>
              </a:solidFill>
              <a:cs typeface="Arial"/>
              <a:sym typeface="Arial"/>
            </a:endParaRPr>
          </a:p>
        </p:txBody>
      </p:sp>
      <p:cxnSp>
        <p:nvCxnSpPr>
          <p:cNvPr id="615" name="Shape 161">
            <a:extLst>
              <a:ext uri="{FF2B5EF4-FFF2-40B4-BE49-F238E27FC236}">
                <a16:creationId xmlns:a16="http://schemas.microsoft.com/office/drawing/2014/main" id="{D9354E8B-0B6E-FE47-9A29-B1459114892F}"/>
              </a:ext>
            </a:extLst>
          </p:cNvPr>
          <p:cNvCxnSpPr>
            <a:cxnSpLocks/>
          </p:cNvCxnSpPr>
          <p:nvPr/>
        </p:nvCxnSpPr>
        <p:spPr>
          <a:xfrm>
            <a:off x="1710226" y="713234"/>
            <a:ext cx="0" cy="1047510"/>
          </a:xfrm>
          <a:prstGeom prst="straightConnector1">
            <a:avLst/>
          </a:prstGeom>
          <a:noFill/>
          <a:ln w="12700" cap="flat" cmpd="sng">
            <a:solidFill>
              <a:schemeClr val="dk1"/>
            </a:solidFill>
            <a:prstDash val="solid"/>
            <a:miter lim="800000"/>
            <a:headEnd type="none" w="sm" len="sm"/>
            <a:tailEnd type="none" w="sm" len="sm"/>
          </a:ln>
        </p:spPr>
      </p:cxnSp>
      <p:sp>
        <p:nvSpPr>
          <p:cNvPr id="83" name="Shape 484">
            <a:extLst>
              <a:ext uri="{FF2B5EF4-FFF2-40B4-BE49-F238E27FC236}">
                <a16:creationId xmlns:a16="http://schemas.microsoft.com/office/drawing/2014/main" id="{D4984CB9-7B28-7B40-95DA-C8D72C82FCB2}"/>
              </a:ext>
            </a:extLst>
          </p:cNvPr>
          <p:cNvSpPr/>
          <p:nvPr/>
        </p:nvSpPr>
        <p:spPr>
          <a:xfrm>
            <a:off x="4390098" y="4691487"/>
            <a:ext cx="1559269" cy="1067445"/>
          </a:xfrm>
          <a:prstGeom prst="rect">
            <a:avLst/>
          </a:prstGeom>
          <a:solidFill>
            <a:srgbClr val="E56A15"/>
          </a:solidFill>
          <a:ln w="12700" cap="flat" cmpd="sng">
            <a:solidFill>
              <a:srgbClr val="31538F"/>
            </a:solidFill>
            <a:prstDash val="solid"/>
            <a:miter lim="800000"/>
            <a:headEnd type="none" w="sm" len="sm"/>
            <a:tailEnd type="none" w="sm" len="sm"/>
          </a:ln>
        </p:spPr>
        <p:txBody>
          <a:bodyPr spcFirstLastPara="1" wrap="square" lIns="91409" tIns="45688" rIns="91409" bIns="45688" anchor="ctr" anchorCtr="0">
            <a:noAutofit/>
          </a:bodyPr>
          <a:lstStyle/>
          <a:p>
            <a:pPr algn="ctr" defTabSz="1218804">
              <a:buClr>
                <a:srgbClr val="FFFFFF"/>
              </a:buClr>
              <a:buSzPts val="1400"/>
              <a:defRPr/>
            </a:pPr>
            <a:endParaRPr lang="de-DE" sz="1866" kern="0">
              <a:solidFill>
                <a:srgbClr val="FFFFFF"/>
              </a:solidFill>
              <a:latin typeface="Calibri"/>
              <a:ea typeface="Calibri"/>
              <a:cs typeface="Calibri"/>
              <a:sym typeface="Calibri"/>
            </a:endParaRPr>
          </a:p>
        </p:txBody>
      </p:sp>
      <p:cxnSp>
        <p:nvCxnSpPr>
          <p:cNvPr id="616" name="Shape 161">
            <a:extLst>
              <a:ext uri="{FF2B5EF4-FFF2-40B4-BE49-F238E27FC236}">
                <a16:creationId xmlns:a16="http://schemas.microsoft.com/office/drawing/2014/main" id="{C6605A97-71C1-C148-9C24-50A2D49B7946}"/>
              </a:ext>
            </a:extLst>
          </p:cNvPr>
          <p:cNvCxnSpPr>
            <a:cxnSpLocks/>
            <a:endCxn id="373" idx="0"/>
          </p:cNvCxnSpPr>
          <p:nvPr/>
        </p:nvCxnSpPr>
        <p:spPr>
          <a:xfrm>
            <a:off x="10324462" y="720400"/>
            <a:ext cx="2411" cy="1012073"/>
          </a:xfrm>
          <a:prstGeom prst="straightConnector1">
            <a:avLst/>
          </a:prstGeom>
          <a:noFill/>
          <a:ln w="12700" cap="flat" cmpd="sng">
            <a:solidFill>
              <a:schemeClr val="dk1"/>
            </a:solidFill>
            <a:prstDash val="solid"/>
            <a:miter lim="800000"/>
            <a:headEnd type="none" w="sm" len="sm"/>
            <a:tailEnd type="none" w="sm" len="sm"/>
          </a:ln>
        </p:spPr>
      </p:cxnSp>
      <p:grpSp>
        <p:nvGrpSpPr>
          <p:cNvPr id="15" name="Group 14">
            <a:extLst>
              <a:ext uri="{FF2B5EF4-FFF2-40B4-BE49-F238E27FC236}">
                <a16:creationId xmlns:a16="http://schemas.microsoft.com/office/drawing/2014/main" id="{E3D8A340-1543-8949-9104-5D97D80B9778}"/>
              </a:ext>
            </a:extLst>
          </p:cNvPr>
          <p:cNvGrpSpPr/>
          <p:nvPr/>
        </p:nvGrpSpPr>
        <p:grpSpPr>
          <a:xfrm>
            <a:off x="4365913" y="4186423"/>
            <a:ext cx="1631273" cy="411022"/>
            <a:chOff x="4365461" y="4749522"/>
            <a:chExt cx="1631698" cy="411129"/>
          </a:xfrm>
        </p:grpSpPr>
        <p:grpSp>
          <p:nvGrpSpPr>
            <p:cNvPr id="245" name="Group 244">
              <a:extLst>
                <a:ext uri="{FF2B5EF4-FFF2-40B4-BE49-F238E27FC236}">
                  <a16:creationId xmlns:a16="http://schemas.microsoft.com/office/drawing/2014/main" id="{9A49D565-6583-4C4D-B1A6-9D3DEA15B230}"/>
                </a:ext>
              </a:extLst>
            </p:cNvPr>
            <p:cNvGrpSpPr/>
            <p:nvPr/>
          </p:nvGrpSpPr>
          <p:grpSpPr>
            <a:xfrm>
              <a:off x="4365461" y="4749522"/>
              <a:ext cx="1631698" cy="411129"/>
              <a:chOff x="1604591" y="2301477"/>
              <a:chExt cx="1604000" cy="2488364"/>
            </a:xfrm>
          </p:grpSpPr>
          <p:sp>
            <p:nvSpPr>
              <p:cNvPr id="246" name="Shape 383">
                <a:extLst>
                  <a:ext uri="{FF2B5EF4-FFF2-40B4-BE49-F238E27FC236}">
                    <a16:creationId xmlns:a16="http://schemas.microsoft.com/office/drawing/2014/main" id="{63BA2AB3-85AB-8D4E-9874-AFC0F05796E3}"/>
                  </a:ext>
                </a:extLst>
              </p:cNvPr>
              <p:cNvSpPr/>
              <p:nvPr/>
            </p:nvSpPr>
            <p:spPr>
              <a:xfrm>
                <a:off x="1604591" y="2301477"/>
                <a:ext cx="1604000" cy="2488364"/>
              </a:xfrm>
              <a:prstGeom prst="rect">
                <a:avLst/>
              </a:prstGeom>
              <a:noFill/>
              <a:ln w="12700" cap="flat" cmpd="sng">
                <a:solidFill>
                  <a:schemeClr val="dk1"/>
                </a:solidFill>
                <a:prstDash val="dash"/>
                <a:miter lim="800000"/>
                <a:headEnd type="none" w="sm" len="sm"/>
                <a:tailEnd type="none" w="sm" len="sm"/>
              </a:ln>
            </p:spPr>
            <p:txBody>
              <a:bodyPr spcFirstLastPara="1" wrap="square" lIns="91409" tIns="45688" rIns="91409" bIns="45688" anchor="ctr" anchorCtr="0">
                <a:noAutofit/>
              </a:bodyPr>
              <a:lstStyle/>
              <a:p>
                <a:pPr algn="ctr" defTabSz="1218804">
                  <a:buClr>
                    <a:srgbClr val="000000"/>
                  </a:buClr>
                  <a:buSzPts val="1400"/>
                  <a:defRPr/>
                </a:pPr>
                <a:endParaRPr lang="de-DE" sz="1866" kern="0">
                  <a:solidFill>
                    <a:srgbClr val="000000"/>
                  </a:solidFill>
                  <a:latin typeface="Calibri"/>
                  <a:ea typeface="Calibri"/>
                  <a:cs typeface="Calibri"/>
                  <a:sym typeface="Calibri"/>
                </a:endParaRPr>
              </a:p>
            </p:txBody>
          </p:sp>
          <p:sp>
            <p:nvSpPr>
              <p:cNvPr id="247" name="Shape 484">
                <a:extLst>
                  <a:ext uri="{FF2B5EF4-FFF2-40B4-BE49-F238E27FC236}">
                    <a16:creationId xmlns:a16="http://schemas.microsoft.com/office/drawing/2014/main" id="{42A7F7B4-E656-F143-9CE0-18690BD89F72}"/>
                  </a:ext>
                </a:extLst>
              </p:cNvPr>
              <p:cNvSpPr/>
              <p:nvPr/>
            </p:nvSpPr>
            <p:spPr>
              <a:xfrm>
                <a:off x="1639991" y="2455417"/>
                <a:ext cx="1533200" cy="2148800"/>
              </a:xfrm>
              <a:prstGeom prst="rect">
                <a:avLst/>
              </a:prstGeom>
              <a:solidFill>
                <a:srgbClr val="E56A15"/>
              </a:solidFill>
              <a:ln w="12700" cap="flat" cmpd="sng">
                <a:solidFill>
                  <a:srgbClr val="31538F"/>
                </a:solidFill>
                <a:prstDash val="solid"/>
                <a:miter lim="800000"/>
                <a:headEnd type="none" w="sm" len="sm"/>
                <a:tailEnd type="none" w="sm" len="sm"/>
              </a:ln>
            </p:spPr>
            <p:txBody>
              <a:bodyPr spcFirstLastPara="1" wrap="square" lIns="91409" tIns="45688" rIns="91409" bIns="45688" anchor="ctr" anchorCtr="0">
                <a:noAutofit/>
              </a:bodyPr>
              <a:lstStyle/>
              <a:p>
                <a:pPr algn="ctr" defTabSz="1218804">
                  <a:buClr>
                    <a:srgbClr val="FFFFFF"/>
                  </a:buClr>
                  <a:buSzPts val="1400"/>
                  <a:defRPr/>
                </a:pPr>
                <a:endParaRPr lang="de-DE" sz="1866" kern="0">
                  <a:solidFill>
                    <a:srgbClr val="FFFFFF"/>
                  </a:solidFill>
                  <a:latin typeface="Calibri"/>
                  <a:ea typeface="Calibri"/>
                  <a:cs typeface="Calibri"/>
                  <a:sym typeface="Calibri"/>
                </a:endParaRPr>
              </a:p>
            </p:txBody>
          </p:sp>
        </p:grpSp>
        <p:sp>
          <p:nvSpPr>
            <p:cNvPr id="618" name="Shape 486">
              <a:extLst>
                <a:ext uri="{FF2B5EF4-FFF2-40B4-BE49-F238E27FC236}">
                  <a16:creationId xmlns:a16="http://schemas.microsoft.com/office/drawing/2014/main" id="{5F5CBE17-E706-E142-A371-05902A03F492}"/>
                </a:ext>
              </a:extLst>
            </p:cNvPr>
            <p:cNvSpPr/>
            <p:nvPr/>
          </p:nvSpPr>
          <p:spPr>
            <a:xfrm>
              <a:off x="4446872" y="4837281"/>
              <a:ext cx="1473651" cy="196036"/>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Control Plane B</a:t>
              </a:r>
              <a:endParaRPr lang="de-DE" sz="1467" kern="0">
                <a:solidFill>
                  <a:srgbClr val="000000"/>
                </a:solidFill>
                <a:cs typeface="Arial"/>
                <a:sym typeface="Arial"/>
              </a:endParaRPr>
            </a:p>
          </p:txBody>
        </p:sp>
      </p:grpSp>
      <p:grpSp>
        <p:nvGrpSpPr>
          <p:cNvPr id="626" name="Group 625">
            <a:extLst>
              <a:ext uri="{FF2B5EF4-FFF2-40B4-BE49-F238E27FC236}">
                <a16:creationId xmlns:a16="http://schemas.microsoft.com/office/drawing/2014/main" id="{BABB7643-9C28-2743-A647-5045044637C7}"/>
              </a:ext>
            </a:extLst>
          </p:cNvPr>
          <p:cNvGrpSpPr/>
          <p:nvPr/>
        </p:nvGrpSpPr>
        <p:grpSpPr>
          <a:xfrm>
            <a:off x="4356172" y="4665791"/>
            <a:ext cx="1631273" cy="428299"/>
            <a:chOff x="4365461" y="4749256"/>
            <a:chExt cx="1631698" cy="428411"/>
          </a:xfrm>
        </p:grpSpPr>
        <p:grpSp>
          <p:nvGrpSpPr>
            <p:cNvPr id="627" name="Group 626">
              <a:extLst>
                <a:ext uri="{FF2B5EF4-FFF2-40B4-BE49-F238E27FC236}">
                  <a16:creationId xmlns:a16="http://schemas.microsoft.com/office/drawing/2014/main" id="{B6208E7F-2D53-1C42-8340-B948E5AAE0A9}"/>
                </a:ext>
              </a:extLst>
            </p:cNvPr>
            <p:cNvGrpSpPr/>
            <p:nvPr/>
          </p:nvGrpSpPr>
          <p:grpSpPr>
            <a:xfrm>
              <a:off x="4365461" y="4749256"/>
              <a:ext cx="1631698" cy="428411"/>
              <a:chOff x="1604591" y="2299862"/>
              <a:chExt cx="1604000" cy="2592961"/>
            </a:xfrm>
          </p:grpSpPr>
          <p:sp>
            <p:nvSpPr>
              <p:cNvPr id="629" name="Shape 383">
                <a:extLst>
                  <a:ext uri="{FF2B5EF4-FFF2-40B4-BE49-F238E27FC236}">
                    <a16:creationId xmlns:a16="http://schemas.microsoft.com/office/drawing/2014/main" id="{F51627C7-2263-D546-87EA-BF7B696574E7}"/>
                  </a:ext>
                </a:extLst>
              </p:cNvPr>
              <p:cNvSpPr/>
              <p:nvPr/>
            </p:nvSpPr>
            <p:spPr>
              <a:xfrm>
                <a:off x="1604591" y="2299862"/>
                <a:ext cx="1604000" cy="2592961"/>
              </a:xfrm>
              <a:prstGeom prst="rect">
                <a:avLst/>
              </a:prstGeom>
              <a:noFill/>
              <a:ln w="12700" cap="flat" cmpd="sng">
                <a:solidFill>
                  <a:schemeClr val="dk1"/>
                </a:solidFill>
                <a:prstDash val="dash"/>
                <a:miter lim="800000"/>
                <a:headEnd type="none" w="sm" len="sm"/>
                <a:tailEnd type="none" w="sm" len="sm"/>
              </a:ln>
            </p:spPr>
            <p:txBody>
              <a:bodyPr spcFirstLastPara="1" wrap="square" lIns="91409" tIns="45688" rIns="91409" bIns="45688" anchor="ctr" anchorCtr="0">
                <a:noAutofit/>
              </a:bodyPr>
              <a:lstStyle/>
              <a:p>
                <a:pPr algn="ctr" defTabSz="1218804">
                  <a:buClr>
                    <a:srgbClr val="000000"/>
                  </a:buClr>
                  <a:buSzPts val="1400"/>
                  <a:defRPr/>
                </a:pPr>
                <a:endParaRPr lang="de-DE" sz="1866" kern="0">
                  <a:solidFill>
                    <a:srgbClr val="000000"/>
                  </a:solidFill>
                  <a:latin typeface="Calibri"/>
                  <a:ea typeface="Calibri"/>
                  <a:cs typeface="Calibri"/>
                  <a:sym typeface="Calibri"/>
                </a:endParaRPr>
              </a:p>
            </p:txBody>
          </p:sp>
          <p:sp>
            <p:nvSpPr>
              <p:cNvPr id="630" name="Shape 484">
                <a:extLst>
                  <a:ext uri="{FF2B5EF4-FFF2-40B4-BE49-F238E27FC236}">
                    <a16:creationId xmlns:a16="http://schemas.microsoft.com/office/drawing/2014/main" id="{8A223C05-5C40-B94B-9EE5-62291AB0BF11}"/>
                  </a:ext>
                </a:extLst>
              </p:cNvPr>
              <p:cNvSpPr/>
              <p:nvPr/>
            </p:nvSpPr>
            <p:spPr>
              <a:xfrm>
                <a:off x="1639991" y="2455416"/>
                <a:ext cx="1533200" cy="2212274"/>
              </a:xfrm>
              <a:prstGeom prst="rect">
                <a:avLst/>
              </a:prstGeom>
              <a:solidFill>
                <a:srgbClr val="E56A15"/>
              </a:solidFill>
              <a:ln w="12700" cap="flat" cmpd="sng">
                <a:solidFill>
                  <a:srgbClr val="31538F"/>
                </a:solidFill>
                <a:prstDash val="solid"/>
                <a:miter lim="800000"/>
                <a:headEnd type="none" w="sm" len="sm"/>
                <a:tailEnd type="none" w="sm" len="sm"/>
              </a:ln>
            </p:spPr>
            <p:txBody>
              <a:bodyPr spcFirstLastPara="1" wrap="square" lIns="91409" tIns="45688" rIns="91409" bIns="45688" anchor="ctr" anchorCtr="0">
                <a:noAutofit/>
              </a:bodyPr>
              <a:lstStyle/>
              <a:p>
                <a:pPr algn="ctr" defTabSz="1218804">
                  <a:buClr>
                    <a:srgbClr val="FFFFFF"/>
                  </a:buClr>
                  <a:buSzPts val="1400"/>
                  <a:defRPr/>
                </a:pPr>
                <a:endParaRPr lang="de-DE" sz="1866" kern="0">
                  <a:solidFill>
                    <a:srgbClr val="FFFFFF"/>
                  </a:solidFill>
                  <a:latin typeface="Calibri"/>
                  <a:ea typeface="Calibri"/>
                  <a:cs typeface="Calibri"/>
                  <a:sym typeface="Calibri"/>
                </a:endParaRPr>
              </a:p>
            </p:txBody>
          </p:sp>
        </p:grpSp>
        <p:sp>
          <p:nvSpPr>
            <p:cNvPr id="628" name="Shape 486">
              <a:extLst>
                <a:ext uri="{FF2B5EF4-FFF2-40B4-BE49-F238E27FC236}">
                  <a16:creationId xmlns:a16="http://schemas.microsoft.com/office/drawing/2014/main" id="{2BE0B648-2696-F146-BB88-17A7EF9ECE65}"/>
                </a:ext>
              </a:extLst>
            </p:cNvPr>
            <p:cNvSpPr/>
            <p:nvPr/>
          </p:nvSpPr>
          <p:spPr>
            <a:xfrm>
              <a:off x="4446872" y="4837281"/>
              <a:ext cx="1473651" cy="196036"/>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Control Plane C</a:t>
              </a:r>
              <a:endParaRPr lang="de-DE" sz="1467" kern="0">
                <a:solidFill>
                  <a:srgbClr val="000000"/>
                </a:solidFill>
                <a:cs typeface="Arial"/>
                <a:sym typeface="Arial"/>
              </a:endParaRPr>
            </a:p>
          </p:txBody>
        </p:sp>
      </p:grpSp>
      <p:sp>
        <p:nvSpPr>
          <p:cNvPr id="241" name="Shape 486">
            <a:extLst>
              <a:ext uri="{FF2B5EF4-FFF2-40B4-BE49-F238E27FC236}">
                <a16:creationId xmlns:a16="http://schemas.microsoft.com/office/drawing/2014/main" id="{E5BC63B3-A149-CA4D-B935-85B304200EF3}"/>
              </a:ext>
            </a:extLst>
          </p:cNvPr>
          <p:cNvSpPr/>
          <p:nvPr/>
        </p:nvSpPr>
        <p:spPr>
          <a:xfrm>
            <a:off x="4147420" y="2418664"/>
            <a:ext cx="1473267" cy="195985"/>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Control Plane</a:t>
            </a:r>
            <a:endParaRPr lang="de-DE" sz="1467" kern="0">
              <a:solidFill>
                <a:srgbClr val="000000"/>
              </a:solidFill>
              <a:cs typeface="Arial"/>
              <a:sym typeface="Arial"/>
            </a:endParaRPr>
          </a:p>
        </p:txBody>
      </p:sp>
      <p:sp>
        <p:nvSpPr>
          <p:cNvPr id="635" name="Shape 382">
            <a:extLst>
              <a:ext uri="{FF2B5EF4-FFF2-40B4-BE49-F238E27FC236}">
                <a16:creationId xmlns:a16="http://schemas.microsoft.com/office/drawing/2014/main" id="{2409FD9B-AAF4-FB4E-8823-C2BE579D68BD}"/>
              </a:ext>
            </a:extLst>
          </p:cNvPr>
          <p:cNvSpPr txBox="1"/>
          <p:nvPr/>
        </p:nvSpPr>
        <p:spPr>
          <a:xfrm rot="5400000">
            <a:off x="4321507" y="5767964"/>
            <a:ext cx="431488" cy="366705"/>
          </a:xfrm>
          <a:prstGeom prst="rect">
            <a:avLst/>
          </a:prstGeom>
          <a:noFill/>
          <a:ln>
            <a:noFill/>
          </a:ln>
        </p:spPr>
        <p:txBody>
          <a:bodyPr spcFirstLastPara="1" wrap="square" lIns="89977" tIns="46788" rIns="89977" bIns="46788" anchor="t" anchorCtr="0">
            <a:noAutofit/>
          </a:bodyPr>
          <a:lstStyle/>
          <a:p>
            <a:pPr defTabSz="1218804">
              <a:buClr>
                <a:srgbClr val="000000"/>
              </a:buClr>
              <a:buSzPts val="1400"/>
              <a:defRPr/>
            </a:pPr>
            <a:r>
              <a:rPr lang="en" sz="1866" b="1" kern="0">
                <a:solidFill>
                  <a:srgbClr val="000000"/>
                </a:solidFill>
                <a:latin typeface="Times New Roman"/>
                <a:ea typeface="Times New Roman"/>
                <a:cs typeface="Times New Roman"/>
                <a:sym typeface="Times New Roman"/>
              </a:rPr>
              <a:t>...</a:t>
            </a:r>
            <a:endParaRPr lang="de-DE" sz="1467" kern="0">
              <a:solidFill>
                <a:srgbClr val="000000"/>
              </a:solidFill>
              <a:cs typeface="Arial"/>
              <a:sym typeface="Arial"/>
            </a:endParaRPr>
          </a:p>
        </p:txBody>
      </p:sp>
      <p:pic>
        <p:nvPicPr>
          <p:cNvPr id="171" name="Picture 170">
            <a:extLst>
              <a:ext uri="{FF2B5EF4-FFF2-40B4-BE49-F238E27FC236}">
                <a16:creationId xmlns:a16="http://schemas.microsoft.com/office/drawing/2014/main" id="{B8D44F31-264A-9548-8520-B5C2D660191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001866" y="6393154"/>
            <a:ext cx="508690" cy="261612"/>
          </a:xfrm>
          <a:prstGeom prst="rect">
            <a:avLst/>
          </a:prstGeom>
        </p:spPr>
      </p:pic>
      <p:pic>
        <p:nvPicPr>
          <p:cNvPr id="679" name="Picture 678">
            <a:extLst>
              <a:ext uri="{FF2B5EF4-FFF2-40B4-BE49-F238E27FC236}">
                <a16:creationId xmlns:a16="http://schemas.microsoft.com/office/drawing/2014/main" id="{70B40A35-F47C-3348-8D30-01EEF961971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19547" y="6362718"/>
            <a:ext cx="339450" cy="339450"/>
          </a:xfrm>
          <a:prstGeom prst="rect">
            <a:avLst/>
          </a:prstGeom>
        </p:spPr>
      </p:pic>
      <p:pic>
        <p:nvPicPr>
          <p:cNvPr id="701" name="Picture 700">
            <a:extLst>
              <a:ext uri="{FF2B5EF4-FFF2-40B4-BE49-F238E27FC236}">
                <a16:creationId xmlns:a16="http://schemas.microsoft.com/office/drawing/2014/main" id="{36B9ABA4-5CD1-A842-BF8B-5C356DECE05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741245" y="6413411"/>
            <a:ext cx="238067" cy="238067"/>
          </a:xfrm>
          <a:prstGeom prst="rect">
            <a:avLst/>
          </a:prstGeom>
        </p:spPr>
      </p:pic>
      <p:pic>
        <p:nvPicPr>
          <p:cNvPr id="745" name="Picture 8" descr="https://upload.wikimedia.org/wikipedia/commons/thumb/5/59/SAP_2011_logo.svg/1200px-SAP_2011_logo.svg.png">
            <a:extLst>
              <a:ext uri="{FF2B5EF4-FFF2-40B4-BE49-F238E27FC236}">
                <a16:creationId xmlns:a16="http://schemas.microsoft.com/office/drawing/2014/main" id="{F6748698-6D45-704F-9FBC-9B3BF9CA7194}"/>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8738723" y="6435180"/>
            <a:ext cx="409354" cy="208772"/>
          </a:xfrm>
          <a:prstGeom prst="rect">
            <a:avLst/>
          </a:prstGeom>
          <a:noFill/>
          <a:extLst>
            <a:ext uri="{909E8E84-426E-40DD-AFC4-6F175D3DCCD1}">
              <a14:hiddenFill xmlns:a14="http://schemas.microsoft.com/office/drawing/2010/main">
                <a:solidFill>
                  <a:srgbClr val="FFFFFF"/>
                </a:solidFill>
              </a14:hiddenFill>
            </a:ext>
          </a:extLst>
        </p:spPr>
      </p:pic>
      <p:pic>
        <p:nvPicPr>
          <p:cNvPr id="723" name="Picture 722">
            <a:extLst>
              <a:ext uri="{FF2B5EF4-FFF2-40B4-BE49-F238E27FC236}">
                <a16:creationId xmlns:a16="http://schemas.microsoft.com/office/drawing/2014/main" id="{D4BA2D8C-C671-E941-A76D-47993BC9220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433286" y="6444063"/>
            <a:ext cx="283220" cy="201904"/>
          </a:xfrm>
          <a:prstGeom prst="rect">
            <a:avLst/>
          </a:prstGeom>
        </p:spPr>
      </p:pic>
      <p:pic>
        <p:nvPicPr>
          <p:cNvPr id="172" name="Picture 171">
            <a:extLst>
              <a:ext uri="{FF2B5EF4-FFF2-40B4-BE49-F238E27FC236}">
                <a16:creationId xmlns:a16="http://schemas.microsoft.com/office/drawing/2014/main" id="{B791118F-DB54-734A-B851-D27867D1ECA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37228" y="6406690"/>
            <a:ext cx="508690" cy="261612"/>
          </a:xfrm>
          <a:prstGeom prst="rect">
            <a:avLst/>
          </a:prstGeom>
        </p:spPr>
      </p:pic>
      <p:pic>
        <p:nvPicPr>
          <p:cNvPr id="173" name="Picture 172">
            <a:extLst>
              <a:ext uri="{FF2B5EF4-FFF2-40B4-BE49-F238E27FC236}">
                <a16:creationId xmlns:a16="http://schemas.microsoft.com/office/drawing/2014/main" id="{E5F5B517-41C7-E144-9A62-D42B3D0E38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81733" y="6369409"/>
            <a:ext cx="339450" cy="339450"/>
          </a:xfrm>
          <a:prstGeom prst="rect">
            <a:avLst/>
          </a:prstGeom>
        </p:spPr>
      </p:pic>
      <p:pic>
        <p:nvPicPr>
          <p:cNvPr id="174" name="Picture 173">
            <a:extLst>
              <a:ext uri="{FF2B5EF4-FFF2-40B4-BE49-F238E27FC236}">
                <a16:creationId xmlns:a16="http://schemas.microsoft.com/office/drawing/2014/main" id="{522F91FC-C0B5-CF4F-BFBE-617EDBB0DA0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515733" y="6435182"/>
            <a:ext cx="238067" cy="238067"/>
          </a:xfrm>
          <a:prstGeom prst="rect">
            <a:avLst/>
          </a:prstGeom>
        </p:spPr>
      </p:pic>
      <p:pic>
        <p:nvPicPr>
          <p:cNvPr id="175" name="Picture 8" descr="https://upload.wikimedia.org/wikipedia/commons/thumb/5/59/SAP_2011_logo.svg/1200px-SAP_2011_logo.svg.png">
            <a:extLst>
              <a:ext uri="{FF2B5EF4-FFF2-40B4-BE49-F238E27FC236}">
                <a16:creationId xmlns:a16="http://schemas.microsoft.com/office/drawing/2014/main" id="{42C90D7E-9F98-2840-92A5-836839EA1E49}"/>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777920" y="6438449"/>
            <a:ext cx="409354" cy="208772"/>
          </a:xfrm>
          <a:prstGeom prst="rect">
            <a:avLst/>
          </a:prstGeom>
          <a:noFill/>
          <a:extLst>
            <a:ext uri="{909E8E84-426E-40DD-AFC4-6F175D3DCCD1}">
              <a14:hiddenFill xmlns:a14="http://schemas.microsoft.com/office/drawing/2010/main">
                <a:solidFill>
                  <a:srgbClr val="FFFFFF"/>
                </a:solidFill>
              </a14:hiddenFill>
            </a:ext>
          </a:extLst>
        </p:spPr>
      </p:pic>
      <p:pic>
        <p:nvPicPr>
          <p:cNvPr id="176" name="Picture 175">
            <a:extLst>
              <a:ext uri="{FF2B5EF4-FFF2-40B4-BE49-F238E27FC236}">
                <a16:creationId xmlns:a16="http://schemas.microsoft.com/office/drawing/2014/main" id="{40C6E0DF-E6B1-B541-9BF0-948F7BC73F2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629681" y="6442048"/>
            <a:ext cx="283220" cy="201904"/>
          </a:xfrm>
          <a:prstGeom prst="rect">
            <a:avLst/>
          </a:prstGeom>
        </p:spPr>
      </p:pic>
      <p:sp>
        <p:nvSpPr>
          <p:cNvPr id="177" name="Shape 382">
            <a:extLst>
              <a:ext uri="{FF2B5EF4-FFF2-40B4-BE49-F238E27FC236}">
                <a16:creationId xmlns:a16="http://schemas.microsoft.com/office/drawing/2014/main" id="{53D4285A-D487-D348-A64D-2E25585CD717}"/>
              </a:ext>
            </a:extLst>
          </p:cNvPr>
          <p:cNvSpPr txBox="1"/>
          <p:nvPr/>
        </p:nvSpPr>
        <p:spPr>
          <a:xfrm rot="19116127">
            <a:off x="3935025" y="1333378"/>
            <a:ext cx="431488" cy="366705"/>
          </a:xfrm>
          <a:prstGeom prst="rect">
            <a:avLst/>
          </a:prstGeom>
          <a:noFill/>
          <a:ln>
            <a:noFill/>
          </a:ln>
        </p:spPr>
        <p:txBody>
          <a:bodyPr spcFirstLastPara="1" wrap="square" lIns="89977" tIns="46788" rIns="89977" bIns="46788" anchor="t" anchorCtr="0">
            <a:noAutofit/>
          </a:bodyPr>
          <a:lstStyle/>
          <a:p>
            <a:pPr defTabSz="1218804">
              <a:buClr>
                <a:srgbClr val="000000"/>
              </a:buClr>
              <a:buSzPts val="1400"/>
              <a:defRPr/>
            </a:pPr>
            <a:r>
              <a:rPr lang="en" sz="1866" b="1" kern="0">
                <a:solidFill>
                  <a:srgbClr val="000000"/>
                </a:solidFill>
                <a:latin typeface="Times New Roman"/>
                <a:ea typeface="Times New Roman"/>
                <a:cs typeface="Times New Roman"/>
                <a:sym typeface="Times New Roman"/>
              </a:rPr>
              <a:t>...</a:t>
            </a:r>
            <a:endParaRPr lang="de-DE" sz="1467" kern="0">
              <a:solidFill>
                <a:srgbClr val="000000"/>
              </a:solidFill>
              <a:cs typeface="Arial"/>
              <a:sym typeface="Arial"/>
            </a:endParaRPr>
          </a:p>
        </p:txBody>
      </p:sp>
      <p:pic>
        <p:nvPicPr>
          <p:cNvPr id="95" name="Picture 10" descr="logo256.png">
            <a:extLst>
              <a:ext uri="{FF2B5EF4-FFF2-40B4-BE49-F238E27FC236}">
                <a16:creationId xmlns:a16="http://schemas.microsoft.com/office/drawing/2014/main" id="{3656A22D-C87B-444E-9C12-900C67D164C4}"/>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981863" y="3216364"/>
            <a:ext cx="1741548" cy="1741548"/>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8" descr="https://upload.wikimedia.org/wikipedia/commons/thumb/5/59/SAP_2011_logo.svg/1200px-SAP_2011_logo.svg.png">
            <a:extLst>
              <a:ext uri="{FF2B5EF4-FFF2-40B4-BE49-F238E27FC236}">
                <a16:creationId xmlns:a16="http://schemas.microsoft.com/office/drawing/2014/main" id="{2513189D-F635-8847-A918-06CFFE138DDC}"/>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047099" y="6435475"/>
            <a:ext cx="409354" cy="208772"/>
          </a:xfrm>
          <a:prstGeom prst="rect">
            <a:avLst/>
          </a:prstGeom>
          <a:noFill/>
          <a:extLst>
            <a:ext uri="{909E8E84-426E-40DD-AFC4-6F175D3DCCD1}">
              <a14:hiddenFill xmlns:a14="http://schemas.microsoft.com/office/drawing/2010/main">
                <a:solidFill>
                  <a:srgbClr val="FFFFFF"/>
                </a:solidFill>
              </a14:hiddenFill>
            </a:ext>
          </a:extLst>
        </p:spPr>
      </p:pic>
      <p:sp>
        <p:nvSpPr>
          <p:cNvPr id="81" name="Right Arrow 80">
            <a:extLst>
              <a:ext uri="{FF2B5EF4-FFF2-40B4-BE49-F238E27FC236}">
                <a16:creationId xmlns:a16="http://schemas.microsoft.com/office/drawing/2014/main" id="{32CC16E2-C797-9747-93AA-A9076A09A2A0}"/>
              </a:ext>
            </a:extLst>
          </p:cNvPr>
          <p:cNvSpPr/>
          <p:nvPr/>
        </p:nvSpPr>
        <p:spPr bwMode="gray">
          <a:xfrm rot="2749139">
            <a:off x="6773872" y="5625510"/>
            <a:ext cx="2100462" cy="423292"/>
          </a:xfrm>
          <a:prstGeom prst="rightArrow">
            <a:avLst/>
          </a:prstGeom>
          <a:ln>
            <a:headEnd/>
            <a:tailEnd/>
          </a:ln>
        </p:spPr>
        <p:style>
          <a:lnRef idx="2">
            <a:schemeClr val="dk1">
              <a:shade val="50000"/>
            </a:schemeClr>
          </a:lnRef>
          <a:fillRef idx="1">
            <a:schemeClr val="dk1"/>
          </a:fillRef>
          <a:effectRef idx="0">
            <a:schemeClr val="dk1"/>
          </a:effectRef>
          <a:fontRef idx="minor">
            <a:schemeClr val="lt1"/>
          </a:fontRef>
        </p:style>
        <p:txBody>
          <a:bodyPr lIns="89954" tIns="71962" rIns="89954" bIns="71962" rtlCol="0" anchor="ctr"/>
          <a:lstStyle/>
          <a:p>
            <a:pPr algn="ctr" defTabSz="913852" fontAlgn="base">
              <a:spcBef>
                <a:spcPct val="50000"/>
              </a:spcBef>
              <a:spcAft>
                <a:spcPct val="0"/>
              </a:spcAft>
              <a:buClr>
                <a:srgbClr val="F0AB00"/>
              </a:buClr>
              <a:buSzPct val="80000"/>
              <a:defRPr/>
            </a:pPr>
            <a:r>
              <a:rPr lang="en-US" sz="1600" kern="0">
                <a:solidFill>
                  <a:srgbClr val="FFFFFF"/>
                </a:solidFill>
                <a:latin typeface="BentonSans Regular"/>
                <a:ea typeface="Arial Unicode MS" pitchFamily="34" charset="-128"/>
                <a:cs typeface="Arial Unicode MS" pitchFamily="34" charset="-128"/>
              </a:rPr>
              <a:t>CRD for IaaS</a:t>
            </a:r>
          </a:p>
        </p:txBody>
      </p:sp>
      <p:sp>
        <p:nvSpPr>
          <p:cNvPr id="79" name="Shape 486">
            <a:extLst>
              <a:ext uri="{FF2B5EF4-FFF2-40B4-BE49-F238E27FC236}">
                <a16:creationId xmlns:a16="http://schemas.microsoft.com/office/drawing/2014/main" id="{D578D5D4-3E39-7D4C-8F22-1BC08071A2C0}"/>
              </a:ext>
            </a:extLst>
          </p:cNvPr>
          <p:cNvSpPr/>
          <p:nvPr/>
        </p:nvSpPr>
        <p:spPr>
          <a:xfrm>
            <a:off x="4437579" y="4989541"/>
            <a:ext cx="1473267" cy="195985"/>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Machine/</a:t>
            </a:r>
            <a:r>
              <a:rPr lang="en" sz="1067" kern="0" err="1">
                <a:solidFill>
                  <a:srgbClr val="000000"/>
                </a:solidFill>
                <a:latin typeface="Calibri"/>
                <a:ea typeface="Calibri"/>
                <a:cs typeface="Calibri"/>
                <a:sym typeface="Calibri"/>
              </a:rPr>
              <a:t>ClusterAS</a:t>
            </a:r>
            <a:endParaRPr lang="de-DE" sz="1467" kern="0">
              <a:solidFill>
                <a:srgbClr val="000000"/>
              </a:solidFill>
              <a:cs typeface="Arial"/>
              <a:sym typeface="Arial"/>
            </a:endParaRPr>
          </a:p>
        </p:txBody>
      </p:sp>
      <p:sp>
        <p:nvSpPr>
          <p:cNvPr id="80" name="Shape 486">
            <a:extLst>
              <a:ext uri="{FF2B5EF4-FFF2-40B4-BE49-F238E27FC236}">
                <a16:creationId xmlns:a16="http://schemas.microsoft.com/office/drawing/2014/main" id="{EC4D7739-4FD1-0049-9CD3-3F9D502B3A89}"/>
              </a:ext>
            </a:extLst>
          </p:cNvPr>
          <p:cNvSpPr/>
          <p:nvPr/>
        </p:nvSpPr>
        <p:spPr>
          <a:xfrm>
            <a:off x="4437562" y="5224214"/>
            <a:ext cx="1473267" cy="195985"/>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HVPA</a:t>
            </a:r>
            <a:endParaRPr lang="de-DE" sz="1467" kern="0">
              <a:solidFill>
                <a:srgbClr val="000000"/>
              </a:solidFill>
              <a:cs typeface="Arial"/>
              <a:sym typeface="Arial"/>
            </a:endParaRPr>
          </a:p>
        </p:txBody>
      </p:sp>
      <p:sp>
        <p:nvSpPr>
          <p:cNvPr id="82" name="Shape 486">
            <a:extLst>
              <a:ext uri="{FF2B5EF4-FFF2-40B4-BE49-F238E27FC236}">
                <a16:creationId xmlns:a16="http://schemas.microsoft.com/office/drawing/2014/main" id="{4E28B650-19D2-974E-8862-C322997D573C}"/>
              </a:ext>
            </a:extLst>
          </p:cNvPr>
          <p:cNvSpPr/>
          <p:nvPr/>
        </p:nvSpPr>
        <p:spPr>
          <a:xfrm>
            <a:off x="4440751" y="5457480"/>
            <a:ext cx="1473267" cy="195985"/>
          </a:xfrm>
          <a:prstGeom prst="rect">
            <a:avLst/>
          </a:prstGeom>
          <a:solidFill>
            <a:schemeClr val="accent1"/>
          </a:solidFill>
          <a:ln w="17775" cap="flat" cmpd="sng">
            <a:solidFill>
              <a:schemeClr val="dk1"/>
            </a:solidFill>
            <a:prstDash val="solid"/>
            <a:miter lim="800000"/>
            <a:headEnd type="none" w="sm" len="sm"/>
            <a:tailEnd type="none" w="sm" len="sm"/>
          </a:ln>
        </p:spPr>
        <p:txBody>
          <a:bodyPr spcFirstLastPara="1" wrap="square" lIns="35991" tIns="35991" rIns="35991" bIns="35991" anchor="ctr" anchorCtr="0">
            <a:noAutofit/>
          </a:bodyPr>
          <a:lstStyle/>
          <a:p>
            <a:pPr algn="ctr" defTabSz="1218804">
              <a:buClr>
                <a:srgbClr val="000000"/>
              </a:buClr>
              <a:buSzPts val="800"/>
              <a:defRPr/>
            </a:pPr>
            <a:r>
              <a:rPr lang="en" sz="1067" kern="0">
                <a:solidFill>
                  <a:srgbClr val="000000"/>
                </a:solidFill>
                <a:latin typeface="Calibri"/>
                <a:ea typeface="Calibri"/>
                <a:cs typeface="Calibri"/>
                <a:sym typeface="Calibri"/>
              </a:rPr>
              <a:t>Custom Services</a:t>
            </a:r>
            <a:endParaRPr lang="de-DE" sz="1467" kern="0">
              <a:solidFill>
                <a:srgbClr val="000000"/>
              </a:solidFill>
              <a:cs typeface="Arial"/>
              <a:sym typeface="Arial"/>
            </a:endParaRPr>
          </a:p>
        </p:txBody>
      </p:sp>
      <p:sp>
        <p:nvSpPr>
          <p:cNvPr id="84" name="Shape 383">
            <a:extLst>
              <a:ext uri="{FF2B5EF4-FFF2-40B4-BE49-F238E27FC236}">
                <a16:creationId xmlns:a16="http://schemas.microsoft.com/office/drawing/2014/main" id="{4AF8A9D9-41B7-164D-954E-FD1E6910E7F4}"/>
              </a:ext>
            </a:extLst>
          </p:cNvPr>
          <p:cNvSpPr/>
          <p:nvPr/>
        </p:nvSpPr>
        <p:spPr>
          <a:xfrm>
            <a:off x="4356172" y="4665586"/>
            <a:ext cx="1631273" cy="1133802"/>
          </a:xfrm>
          <a:prstGeom prst="rect">
            <a:avLst/>
          </a:prstGeom>
          <a:noFill/>
          <a:ln w="12700" cap="flat" cmpd="sng">
            <a:solidFill>
              <a:schemeClr val="dk1"/>
            </a:solidFill>
            <a:prstDash val="dash"/>
            <a:miter lim="800000"/>
            <a:headEnd type="none" w="sm" len="sm"/>
            <a:tailEnd type="none" w="sm" len="sm"/>
          </a:ln>
        </p:spPr>
        <p:txBody>
          <a:bodyPr spcFirstLastPara="1" wrap="square" lIns="91409" tIns="45688" rIns="91409" bIns="45688" anchor="ctr" anchorCtr="0">
            <a:noAutofit/>
          </a:bodyPr>
          <a:lstStyle/>
          <a:p>
            <a:pPr algn="ctr" defTabSz="1218804">
              <a:buClr>
                <a:srgbClr val="000000"/>
              </a:buClr>
              <a:buSzPts val="1400"/>
              <a:defRPr/>
            </a:pPr>
            <a:endParaRPr lang="de-DE" sz="1866" kern="0">
              <a:solidFill>
                <a:srgbClr val="000000"/>
              </a:solidFill>
              <a:latin typeface="Calibri"/>
              <a:ea typeface="Calibri"/>
              <a:cs typeface="Calibri"/>
              <a:sym typeface="Calibri"/>
            </a:endParaRPr>
          </a:p>
        </p:txBody>
      </p:sp>
      <p:sp>
        <p:nvSpPr>
          <p:cNvPr id="85" name="Shape 391">
            <a:extLst>
              <a:ext uri="{FF2B5EF4-FFF2-40B4-BE49-F238E27FC236}">
                <a16:creationId xmlns:a16="http://schemas.microsoft.com/office/drawing/2014/main" id="{F6548AAF-5264-4140-B53A-402E04A3D3B5}"/>
              </a:ext>
            </a:extLst>
          </p:cNvPr>
          <p:cNvSpPr/>
          <p:nvPr/>
        </p:nvSpPr>
        <p:spPr>
          <a:xfrm>
            <a:off x="8865711" y="1964773"/>
            <a:ext cx="3030241" cy="638673"/>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6000" tIns="36000" rIns="36000" bIns="36000"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900"/>
              <a:buFontTx/>
              <a:buNone/>
              <a:tabLst/>
              <a:defRPr/>
            </a:pPr>
            <a:r>
              <a:rPr kumimoji="0" lang="en" sz="1200" b="0" i="0" u="none" strike="noStrike" kern="0" cap="none" spc="0" normalizeH="0" baseline="0" noProof="0">
                <a:ln>
                  <a:noFill/>
                </a:ln>
                <a:solidFill>
                  <a:srgbClr val="000000"/>
                </a:solidFill>
                <a:effectLst/>
                <a:uLnTx/>
                <a:uFillTx/>
                <a:latin typeface="Calibri"/>
                <a:ea typeface="Calibri"/>
                <a:cs typeface="Calibri"/>
                <a:sym typeface="Calibri"/>
              </a:rPr>
              <a:t>                                                           </a:t>
            </a:r>
            <a:endParaRPr kumimoji="0" lang="de-DE"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6" name="Shape 391">
            <a:extLst>
              <a:ext uri="{FF2B5EF4-FFF2-40B4-BE49-F238E27FC236}">
                <a16:creationId xmlns:a16="http://schemas.microsoft.com/office/drawing/2014/main" id="{D6E68CFB-3B7A-2348-B4DA-771E01370521}"/>
              </a:ext>
            </a:extLst>
          </p:cNvPr>
          <p:cNvSpPr/>
          <p:nvPr/>
        </p:nvSpPr>
        <p:spPr>
          <a:xfrm>
            <a:off x="8773496" y="2082978"/>
            <a:ext cx="3030241" cy="638673"/>
          </a:xfrm>
          <a:prstGeom prst="rect">
            <a:avLst/>
          </a:prstGeom>
          <a:solidFill>
            <a:srgbClr val="DDDDDD"/>
          </a:solidFill>
          <a:ln w="17775" cap="flat" cmpd="sng">
            <a:solidFill>
              <a:schemeClr val="dk1"/>
            </a:solidFill>
            <a:prstDash val="solid"/>
            <a:miter lim="800000"/>
            <a:headEnd type="none" w="sm" len="sm"/>
            <a:tailEnd type="none" w="sm" len="sm"/>
          </a:ln>
        </p:spPr>
        <p:txBody>
          <a:bodyPr spcFirstLastPara="1" wrap="square" lIns="36000" tIns="36000" rIns="36000" bIns="36000"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900"/>
              <a:buFontTx/>
              <a:buNone/>
              <a:tabLst/>
              <a:defRPr/>
            </a:pPr>
            <a:r>
              <a:rPr kumimoji="0" lang="en" sz="1200" b="0" i="0" u="none" strike="noStrike" kern="0" cap="none" spc="0" normalizeH="0" baseline="0" noProof="0">
                <a:ln>
                  <a:noFill/>
                </a:ln>
                <a:solidFill>
                  <a:srgbClr val="000000"/>
                </a:solidFill>
                <a:effectLst/>
                <a:uLnTx/>
                <a:uFillTx/>
                <a:latin typeface="Calibri"/>
                <a:ea typeface="Calibri"/>
                <a:cs typeface="Calibri"/>
                <a:sym typeface="Calibri"/>
              </a:rPr>
              <a:t>                                                           Leader</a:t>
            </a:r>
            <a:endParaRPr kumimoji="0" lang="de-DE"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7" name="Shape 486">
            <a:extLst>
              <a:ext uri="{FF2B5EF4-FFF2-40B4-BE49-F238E27FC236}">
                <a16:creationId xmlns:a16="http://schemas.microsoft.com/office/drawing/2014/main" id="{7BBAF8B0-698F-0449-889A-4956A0636018}"/>
              </a:ext>
            </a:extLst>
          </p:cNvPr>
          <p:cNvSpPr/>
          <p:nvPr/>
        </p:nvSpPr>
        <p:spPr>
          <a:xfrm>
            <a:off x="8888009" y="2419699"/>
            <a:ext cx="1473651" cy="196036"/>
          </a:xfrm>
          <a:prstGeom prst="rect">
            <a:avLst/>
          </a:prstGeom>
          <a:solidFill>
            <a:srgbClr val="F4B081"/>
          </a:solidFill>
          <a:ln w="17775" cap="flat" cmpd="sng">
            <a:solidFill>
              <a:schemeClr val="dk1"/>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800"/>
              <a:buFontTx/>
              <a:buNone/>
              <a:tabLst/>
              <a:defRPr/>
            </a:pPr>
            <a:r>
              <a:rPr kumimoji="0" lang="en" sz="1067" b="0" i="0" u="none" strike="noStrike" kern="0" cap="none" spc="0" normalizeH="0" baseline="0" noProof="0">
                <a:ln>
                  <a:noFill/>
                </a:ln>
                <a:solidFill>
                  <a:srgbClr val="000000"/>
                </a:solidFill>
                <a:effectLst/>
                <a:uLnTx/>
                <a:uFillTx/>
                <a:latin typeface="Calibri"/>
                <a:ea typeface="Calibri"/>
                <a:cs typeface="Calibri"/>
                <a:sym typeface="Calibri"/>
              </a:rPr>
              <a:t>Control Plane A</a:t>
            </a:r>
            <a:endParaRPr kumimoji="0" lang="de-DE" sz="1467"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0005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8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8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0" nodeType="clickEffect">
                                  <p:stCondLst>
                                    <p:cond delay="0"/>
                                  </p:stCondLst>
                                  <p:childTnLst>
                                    <p:animMotion origin="layout" path="M 2.40823E-6 3.7037E-7 L -0.36358 0.20324 " pathEditMode="relative" rAng="0" ptsTypes="AA">
                                      <p:cBhvr>
                                        <p:cTn id="42" dur="2000" fill="hold"/>
                                        <p:tgtEl>
                                          <p:spTgt spid="87"/>
                                        </p:tgtEl>
                                        <p:attrNameLst>
                                          <p:attrName>ppt_x</p:attrName>
                                          <p:attrName>ppt_y</p:attrName>
                                        </p:attrNameLst>
                                      </p:cBhvr>
                                      <p:rCtr x="-18185" y="10162"/>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1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4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7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4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7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7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7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7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2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0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7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8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372" grpId="0" animBg="1"/>
      <p:bldP spid="536" grpId="0" animBg="1"/>
      <p:bldP spid="235" grpId="0" animBg="1"/>
      <p:bldP spid="236" grpId="0" animBg="1"/>
      <p:bldP spid="237" grpId="0" animBg="1"/>
      <p:bldP spid="238" grpId="0" animBg="1"/>
      <p:bldP spid="227" grpId="0" animBg="1"/>
      <p:bldP spid="240" grpId="0"/>
      <p:bldP spid="232" grpId="0" animBg="1"/>
      <p:bldP spid="233" grpId="0"/>
      <p:bldP spid="242" grpId="0"/>
      <p:bldP spid="243" grpId="0" animBg="1"/>
      <p:bldP spid="244" grpId="0" animBg="1"/>
      <p:bldP spid="614" grpId="0"/>
      <p:bldP spid="83" grpId="0" animBg="1"/>
      <p:bldP spid="241" grpId="0" animBg="1"/>
      <p:bldP spid="635" grpId="0"/>
      <p:bldP spid="177" grpId="0"/>
      <p:bldP spid="81" grpId="0" animBg="1"/>
      <p:bldP spid="79" grpId="0" animBg="1"/>
      <p:bldP spid="80" grpId="0" animBg="1"/>
      <p:bldP spid="82" grpId="0" animBg="1"/>
      <p:bldP spid="84" grpId="0" animBg="1"/>
      <p:bldP spid="85" grpId="0" animBg="1"/>
      <p:bldP spid="86" grpId="0" animBg="1"/>
      <p:bldP spid="8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790</TotalTime>
  <Words>1670</Words>
  <Application>Microsoft Office PowerPoint</Application>
  <PresentationFormat>Custom</PresentationFormat>
  <Paragraphs>230</Paragraphs>
  <Slides>15</Slides>
  <Notes>14</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Arial Black</vt:lpstr>
      <vt:lpstr>BentonSans Regular</vt:lpstr>
      <vt:lpstr>Calibri</vt:lpstr>
      <vt:lpstr>Courier New</vt:lpstr>
      <vt:lpstr>Symbol</vt:lpstr>
      <vt:lpstr>Times New Roman</vt:lpstr>
      <vt:lpstr>Wingdings</vt:lpstr>
      <vt:lpstr>Wingdings</vt:lpstr>
      <vt:lpstr>SAP_2017_16x9_black</vt:lpstr>
      <vt:lpstr>PowerPoint Presentation</vt:lpstr>
      <vt:lpstr>Wherefrom can I get a cluster?</vt:lpstr>
      <vt:lpstr>Isn't there something by SAP?</vt:lpstr>
      <vt:lpstr>Gardener Dashboard</vt:lpstr>
      <vt:lpstr>Kubeception</vt:lpstr>
      <vt:lpstr>Let’s create a cluster in GCP</vt:lpstr>
      <vt:lpstr>PowerPoint Presentation</vt:lpstr>
      <vt:lpstr>Gardener Shoot Resource</vt:lpstr>
      <vt:lpstr>API Extensibility</vt:lpstr>
      <vt:lpstr>Demo</vt:lpstr>
      <vt:lpstr>PowerPoint Presentation</vt:lpstr>
      <vt:lpstr>Gardener at GitHub</vt:lpstr>
      <vt:lpstr>Garden Linux</vt:lpstr>
      <vt:lpstr>PowerPoint Presentation</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836</cp:revision>
  <dcterms:created xsi:type="dcterms:W3CDTF">2015-10-14T11:21:43Z</dcterms:created>
  <dcterms:modified xsi:type="dcterms:W3CDTF">2020-11-11T08:33:08Z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