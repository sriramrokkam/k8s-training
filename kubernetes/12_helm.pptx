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14"/>
  </p:notesMasterIdLst>
  <p:handoutMasterIdLst>
    <p:handoutMasterId r:id="rId15"/>
  </p:handoutMasterIdLst>
  <p:sldIdLst>
    <p:sldId id="433" r:id="rId2"/>
    <p:sldId id="471" r:id="rId3"/>
    <p:sldId id="451" r:id="rId4"/>
    <p:sldId id="448" r:id="rId5"/>
    <p:sldId id="452" r:id="rId6"/>
    <p:sldId id="472" r:id="rId7"/>
    <p:sldId id="445" r:id="rId8"/>
    <p:sldId id="470" r:id="rId9"/>
    <p:sldId id="447" r:id="rId10"/>
    <p:sldId id="467" r:id="rId11"/>
    <p:sldId id="456" r:id="rId12"/>
    <p:sldId id="265" r:id="rId13"/>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85" autoAdjust="0"/>
    <p:restoredTop sz="66413" autoAdjust="0"/>
  </p:normalViewPr>
  <p:slideViewPr>
    <p:cSldViewPr snapToGrid="0" showGuides="1">
      <p:cViewPr varScale="1">
        <p:scale>
          <a:sx n="105" d="100"/>
          <a:sy n="105" d="100"/>
        </p:scale>
        <p:origin x="3536" y="192"/>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200" d="100"/>
        <a:sy n="200" d="100"/>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hub.helm.sh/"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Wingdings" panose="05000000000000000000" pitchFamily="2" charset="2"/>
              <a:buChar char="§"/>
            </a:pPr>
            <a:r>
              <a:rPr lang="en-US" dirty="0"/>
              <a:t>Helm is the “apt-get” for Kubernetes</a:t>
            </a:r>
          </a:p>
          <a:p>
            <a:pPr marL="342900" indent="-342900">
              <a:buFont typeface="Wingdings" panose="05000000000000000000" pitchFamily="2" charset="2"/>
              <a:buChar char="§"/>
            </a:pPr>
            <a:r>
              <a:rPr lang="en-US" dirty="0"/>
              <a:t>Preconfigured &amp; parameterized packages of Kubernetes resources</a:t>
            </a:r>
          </a:p>
          <a:p>
            <a:pPr marL="342900" indent="-342900">
              <a:buFont typeface="Wingdings" panose="05000000000000000000" pitchFamily="2" charset="2"/>
              <a:buChar char="§"/>
            </a:pPr>
            <a:r>
              <a:rPr lang="en-US" dirty="0"/>
              <a:t>Designed to manage applications with several isolated components</a:t>
            </a:r>
          </a:p>
          <a:p>
            <a:pPr marL="342900" indent="-342900">
              <a:buFont typeface="Wingdings" panose="05000000000000000000" pitchFamily="2" charset="2"/>
              <a:buChar char="§"/>
            </a:pPr>
            <a:r>
              <a:rPr lang="en-US" dirty="0"/>
              <a:t>Supports “release management” with updates &amp; roll-backs</a:t>
            </a:r>
          </a:p>
          <a:p>
            <a:pPr marL="342900" indent="-342900">
              <a:buFont typeface="Wingdings" panose="05000000000000000000" pitchFamily="2" charset="2"/>
              <a:buChar char="§"/>
            </a:pPr>
            <a:r>
              <a:rPr lang="en-US" dirty="0"/>
              <a:t>Initially built by </a:t>
            </a:r>
            <a:r>
              <a:rPr lang="en-US" dirty="0" err="1"/>
              <a:t>Deis</a:t>
            </a:r>
            <a:r>
              <a:rPr lang="en-US" dirty="0"/>
              <a:t> (a Microsoft company), handed over to CNCF by now</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673942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noProof="0" dirty="0"/>
              <a:t>Helm Charts consist of templates of Kubernetes resources which can be transformed into valid, specific resources using parameters and a powerful template engine.</a:t>
            </a:r>
          </a:p>
          <a:p>
            <a:r>
              <a:rPr lang="en-US" noProof="0" dirty="0"/>
              <a:t>The template engine allows to program small helper functions and execute logical checks. Internally, it uses the go-template package + sprig library.</a:t>
            </a:r>
          </a:p>
          <a:p>
            <a:endParaRPr lang="en-US" noProof="0" dirty="0"/>
          </a:p>
          <a:p>
            <a:r>
              <a:rPr lang="en-US" noProof="0" dirty="0"/>
              <a:t>Charts can be nested and thus have dependencies to other charts. In other terms, you can aggregate multiple charts into bundles or simply satisfy the need for a database in you application.</a:t>
            </a:r>
          </a:p>
        </p:txBody>
      </p:sp>
      <p:sp>
        <p:nvSpPr>
          <p:cNvPr id="4" name="Foliennummernplatzhalter 3"/>
          <p:cNvSpPr>
            <a:spLocks noGrp="1"/>
          </p:cNvSpPr>
          <p:nvPr>
            <p:ph type="sldNum" sz="quarter" idx="5"/>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2382106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parameters of a helm chart are stored in a file called </a:t>
            </a:r>
            <a:r>
              <a:rPr lang="en-US" dirty="0" err="1"/>
              <a:t>values.yaml</a:t>
            </a:r>
            <a:r>
              <a:rPr lang="en-US" dirty="0"/>
              <a:t>.</a:t>
            </a:r>
          </a:p>
          <a:p>
            <a:r>
              <a:rPr lang="en-US" dirty="0"/>
              <a:t>The values file is organized in the typical </a:t>
            </a:r>
            <a:r>
              <a:rPr lang="en-US" dirty="0" err="1"/>
              <a:t>yaml</a:t>
            </a:r>
            <a:r>
              <a:rPr lang="en-US" dirty="0"/>
              <a:t> structure and you can have key-value pairs, maps, arrays or a combination of all of these ;)</a:t>
            </a:r>
          </a:p>
          <a:p>
            <a:endParaRPr lang="en-US" dirty="0"/>
          </a:p>
          <a:p>
            <a:r>
              <a:rPr lang="en-US" dirty="0"/>
              <a:t>Within the template engine, you can access these “variables” via the values object. Helm know more objects, like Release. Check the </a:t>
            </a:r>
            <a:r>
              <a:rPr lang="en-US" dirty="0" err="1"/>
              <a:t>docu</a:t>
            </a:r>
            <a:r>
              <a:rPr lang="en-US" dirty="0"/>
              <a:t> for details.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1124543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The power of helm lies within its templates and the ability to convert templates with values into valid </a:t>
            </a:r>
            <a:r>
              <a:rPr lang="en-US" dirty="0" err="1"/>
              <a:t>yaml</a:t>
            </a:r>
            <a:r>
              <a:rPr lang="en-US" dirty="0"/>
              <a:t> files. When authoring charts this is where most of your work will end up.</a:t>
            </a:r>
          </a:p>
          <a:p>
            <a:endParaRPr lang="en-US" dirty="0"/>
          </a:p>
          <a:p>
            <a:r>
              <a:rPr lang="en-US" dirty="0"/>
              <a:t>So lets take a look at the template section of a chart. In our example there are 2 config map </a:t>
            </a:r>
            <a:r>
              <a:rPr lang="en-US" dirty="0" err="1"/>
              <a:t>yaml</a:t>
            </a:r>
            <a:r>
              <a:rPr lang="en-US" dirty="0"/>
              <a:t> files. One is pretty normal and works also without helm. However it is not very flexible. The 2</a:t>
            </a:r>
            <a:r>
              <a:rPr lang="en-US" baseline="30000" dirty="0"/>
              <a:t>nd</a:t>
            </a:r>
            <a:r>
              <a:rPr lang="en-US" dirty="0"/>
              <a:t> file contains references to helm variables – indicated by {{ }}. Helm renders the templates and converts them into valid </a:t>
            </a:r>
            <a:r>
              <a:rPr lang="en-US" dirty="0" err="1"/>
              <a:t>yaml</a:t>
            </a:r>
            <a:r>
              <a:rPr lang="en-US" dirty="0"/>
              <a:t>.</a:t>
            </a:r>
          </a:p>
          <a:p>
            <a:endParaRPr lang="en-US" dirty="0"/>
          </a:p>
          <a:p>
            <a:r>
              <a:rPr lang="en-US" dirty="0"/>
              <a:t>There are build in variables .Release.* and custom values .Values.* . Additionally you can define functions and include / execute them. The definitions are stored in the _</a:t>
            </a:r>
            <a:r>
              <a:rPr lang="en-US" dirty="0" err="1"/>
              <a:t>helpers.tpl</a:t>
            </a:r>
            <a:r>
              <a:rPr lang="en-US" dirty="0"/>
              <a:t>. The demo-chart makes use of these, so take a look around there.</a:t>
            </a:r>
          </a:p>
          <a:p>
            <a:endParaRPr lang="en-US" dirty="0"/>
          </a:p>
          <a:p>
            <a:r>
              <a:rPr lang="en-US" dirty="0"/>
              <a:t>To check, if the chart is ok, use “helm lint”. It will point out </a:t>
            </a:r>
            <a:r>
              <a:rPr lang="en-US" dirty="0" err="1"/>
              <a:t>yaml</a:t>
            </a:r>
            <a:r>
              <a:rPr lang="en-US" dirty="0"/>
              <a:t> errors and much more.</a:t>
            </a:r>
          </a:p>
          <a:p>
            <a:r>
              <a:rPr lang="en-US" dirty="0"/>
              <a:t>To check, how a chart would actually look like once deployed, use the --dry-run flag in combination with --debug</a:t>
            </a:r>
          </a:p>
          <a:p>
            <a:endParaRPr lang="en-US" dirty="0"/>
          </a:p>
          <a:p>
            <a:endParaRPr lang="en-US" dirty="0"/>
          </a:p>
          <a:p>
            <a:r>
              <a:rPr lang="en-US" dirty="0"/>
              <a:t>For details, check https://github.com/kubernetes/helm/tree/master/docs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1430307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triggers the go templating engine</a:t>
            </a:r>
          </a:p>
          <a:p>
            <a:r>
              <a:rPr lang="en-US" dirty="0"/>
              <a:t>.Values is a reference to an object with all keys in the </a:t>
            </a:r>
            <a:r>
              <a:rPr lang="en-US" dirty="0" err="1"/>
              <a:t>values.yaml</a:t>
            </a:r>
            <a:r>
              <a:rPr lang="en-US" dirty="0"/>
              <a:t> file</a:t>
            </a:r>
          </a:p>
          <a:p>
            <a:r>
              <a:rPr lang="en-US" dirty="0"/>
              <a:t>.</a:t>
            </a:r>
            <a:r>
              <a:rPr lang="en-US" dirty="0" err="1"/>
              <a:t>myMessage</a:t>
            </a:r>
            <a:r>
              <a:rPr lang="en-US" dirty="0"/>
              <a:t> is the reference to the key “</a:t>
            </a:r>
            <a:r>
              <a:rPr lang="en-US" dirty="0" err="1"/>
              <a:t>myMessage</a:t>
            </a:r>
            <a:r>
              <a:rPr lang="en-US" dirty="0"/>
              <a:t>” in .Values</a:t>
            </a:r>
          </a:p>
          <a:p>
            <a:endParaRPr lang="en-US" dirty="0"/>
          </a:p>
          <a:p>
            <a:r>
              <a:rPr lang="en-US" dirty="0"/>
              <a:t>In case of nested values such as example below, use .</a:t>
            </a:r>
            <a:r>
              <a:rPr lang="en-US" dirty="0" err="1"/>
              <a:t>Values.message.greeting</a:t>
            </a:r>
            <a:r>
              <a:rPr lang="en-US" dirty="0"/>
              <a:t> or .to </a:t>
            </a:r>
            <a:r>
              <a:rPr lang="en-US" dirty="0" err="1"/>
              <a:t>to</a:t>
            </a:r>
            <a:r>
              <a:rPr lang="en-US" dirty="0"/>
              <a:t> reference the </a:t>
            </a:r>
            <a:r>
              <a:rPr lang="en-US" dirty="0" err="1"/>
              <a:t>acutal</a:t>
            </a:r>
            <a:r>
              <a:rPr lang="en-US" dirty="0"/>
              <a:t> key</a:t>
            </a:r>
          </a:p>
          <a:p>
            <a:r>
              <a:rPr lang="en-US" dirty="0"/>
              <a:t>message:</a:t>
            </a:r>
          </a:p>
          <a:p>
            <a:r>
              <a:rPr lang="en-US" dirty="0"/>
              <a:t>  greeting: “hello”</a:t>
            </a:r>
          </a:p>
          <a:p>
            <a:r>
              <a:rPr lang="en-US" dirty="0"/>
              <a:t>  to: “course”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2999438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noProof="0" dirty="0"/>
              <a:t>Of course, you can use your local file system as well. But at some point you might want to consume existing charts. This is when you need remote helm chart repositories.</a:t>
            </a:r>
          </a:p>
          <a:p>
            <a:endParaRPr lang="en-US" noProof="0" dirty="0"/>
          </a:p>
          <a:p>
            <a:r>
              <a:rPr lang="en-US" noProof="0" dirty="0"/>
              <a:t>Up until November 2020, charts were stored on </a:t>
            </a:r>
            <a:r>
              <a:rPr lang="en-US" noProof="0" dirty="0" err="1"/>
              <a:t>github</a:t>
            </a:r>
            <a:r>
              <a:rPr lang="en-US" noProof="0" dirty="0"/>
              <a:t> under the helm org in a charts repo. These charts are no longer </a:t>
            </a:r>
            <a:r>
              <a:rPr lang="en-US" noProof="0" dirty="0" err="1"/>
              <a:t>maintened</a:t>
            </a:r>
            <a:r>
              <a:rPr lang="en-US" noProof="0" dirty="0"/>
              <a:t> (i.e. deprecated), but still contain valuable things. The new place to look for charts is the artifact hub, but also repositories set up by chart providers. Overall, charts have been spread across much </a:t>
            </a:r>
            <a:r>
              <a:rPr lang="en-US" noProof="0"/>
              <a:t>more location.</a:t>
            </a:r>
          </a:p>
        </p:txBody>
      </p:sp>
      <p:sp>
        <p:nvSpPr>
          <p:cNvPr id="4" name="Foliennummernplatzhalter 3"/>
          <p:cNvSpPr>
            <a:spLocks noGrp="1"/>
          </p:cNvSpPr>
          <p:nvPr>
            <p:ph type="sldNum" sz="quarter" idx="5"/>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1099171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v3 has only component – the locally running “helm” client. It uses the active available </a:t>
            </a:r>
            <a:r>
              <a:rPr lang="en-US" dirty="0" err="1"/>
              <a:t>kube.config</a:t>
            </a:r>
            <a:r>
              <a:rPr lang="en-US" dirty="0"/>
              <a:t> context to talk to K8s. No separate setup steps are needed.</a:t>
            </a:r>
          </a:p>
          <a:p>
            <a:endParaRPr lang="en-US" dirty="0"/>
          </a:p>
          <a:p>
            <a:r>
              <a:rPr lang="en-US" dirty="0"/>
              <a:t>To use helm, you need the pre-packaged software in so called charts. A chart is a description of how to deploy &amp; parameterize an application. This includes </a:t>
            </a:r>
            <a:r>
              <a:rPr lang="en-US" dirty="0" err="1"/>
              <a:t>yaml</a:t>
            </a:r>
            <a:r>
              <a:rPr lang="en-US" dirty="0"/>
              <a:t> templates for pods, services or </a:t>
            </a:r>
            <a:r>
              <a:rPr lang="en-US" dirty="0" err="1"/>
              <a:t>configMaps</a:t>
            </a:r>
            <a:r>
              <a:rPr lang="en-US" dirty="0"/>
              <a:t>.</a:t>
            </a:r>
          </a:p>
          <a:p>
            <a:r>
              <a:rPr lang="en-US" dirty="0"/>
              <a:t>Upon installation of the chart, there is a go-templating engine evaluating the given parameters and substituting variables.</a:t>
            </a:r>
          </a:p>
          <a:p>
            <a:endParaRPr lang="en-US"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In v2, there were two components - the locally running client and the tiller-server. It was required to run “helm </a:t>
            </a:r>
            <a:r>
              <a:rPr lang="en-US" dirty="0" err="1"/>
              <a:t>init</a:t>
            </a:r>
            <a:r>
              <a:rPr lang="en-US" dirty="0"/>
              <a:t>”, to deploy tiller to the cluster. There was also the idea of a global/cluster-wide service to manage all charts installed to a cluster. This idea has been abandoned and helm v3 is a “client-only” tool.</a:t>
            </a:r>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When using helm v2, be careful with namespaces and specify where your tiller-server should run.</a:t>
            </a:r>
          </a:p>
          <a:p>
            <a:endParaRPr lang="en-US"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7</a:t>
            </a:fld>
            <a:endParaRPr lang="en-US" dirty="0"/>
          </a:p>
        </p:txBody>
      </p:sp>
    </p:spTree>
    <p:extLst>
      <p:ext uri="{BB962C8B-B14F-4D97-AF65-F5344CB8AC3E}">
        <p14:creationId xmlns:p14="http://schemas.microsoft.com/office/powerpoint/2010/main" val="1771773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v3 has only component – the locally running “helm” client. </a:t>
            </a:r>
          </a:p>
          <a:p>
            <a:endParaRPr lang="en-US" dirty="0"/>
          </a:p>
          <a:p>
            <a:r>
              <a:rPr lang="en-US" dirty="0"/>
              <a:t>To use helm, you need the pre-packaged software in so called charts. A chart is a description of how to deploy &amp; parameterize an application. This includes </a:t>
            </a:r>
            <a:r>
              <a:rPr lang="en-US" dirty="0" err="1"/>
              <a:t>yaml</a:t>
            </a:r>
            <a:r>
              <a:rPr lang="en-US" dirty="0"/>
              <a:t> templates for pods, services or </a:t>
            </a:r>
            <a:r>
              <a:rPr lang="en-US" dirty="0" err="1"/>
              <a:t>configMaps</a:t>
            </a:r>
            <a:r>
              <a:rPr lang="en-US" dirty="0"/>
              <a:t>.</a:t>
            </a:r>
          </a:p>
          <a:p>
            <a:r>
              <a:rPr lang="en-US" dirty="0"/>
              <a:t>Upon installation of the chart, there is a go-templating engine evaluating the given parameters and substituting variables.</a:t>
            </a:r>
          </a:p>
          <a:p>
            <a:endParaRPr lang="en-US"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In v2, there were two components - the locally running client and the tiller-server. It was required to run “helm </a:t>
            </a:r>
            <a:r>
              <a:rPr lang="en-US" dirty="0" err="1"/>
              <a:t>init</a:t>
            </a:r>
            <a:r>
              <a:rPr lang="en-US" dirty="0"/>
              <a:t>”, to deploy tiller to the cluster. There was also the idea of a global/cluster-wide service to manage all charts installed to a cluster. This idea has been abandoned and helm v3 is a “client-only” tool.</a:t>
            </a:r>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When using helm v2, be careful with namespaces and specify where your tiller-server should run.</a:t>
            </a:r>
          </a:p>
          <a:p>
            <a:endParaRPr lang="en-US"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8</a:t>
            </a:fld>
            <a:endParaRPr lang="en-US" dirty="0"/>
          </a:p>
        </p:txBody>
      </p:sp>
    </p:spTree>
    <p:extLst>
      <p:ext uri="{BB962C8B-B14F-4D97-AF65-F5344CB8AC3E}">
        <p14:creationId xmlns:p14="http://schemas.microsoft.com/office/powerpoint/2010/main" val="3681972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charts can be stored locally or in a repository. The default “stable” repo available in helm v2 has to be added manually with helm v3 (as of now).</a:t>
            </a:r>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Run “helm </a:t>
            </a:r>
            <a:r>
              <a:rPr lang="de-DE" sz="1400" b="0" kern="1200" dirty="0" err="1">
                <a:solidFill>
                  <a:schemeClr val="tx1"/>
                </a:solidFill>
                <a:effectLst/>
                <a:latin typeface="+mn-lt"/>
                <a:ea typeface="+mn-ea"/>
                <a:cs typeface="+mn-cs"/>
              </a:rPr>
              <a:t>repo</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add</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stable</a:t>
            </a:r>
            <a:r>
              <a:rPr lang="de-DE" sz="1400" b="0" kern="1200" dirty="0">
                <a:solidFill>
                  <a:schemeClr val="tx1"/>
                </a:solidFill>
                <a:effectLst/>
                <a:latin typeface="+mn-lt"/>
                <a:ea typeface="+mn-ea"/>
                <a:cs typeface="+mn-cs"/>
              </a:rPr>
              <a:t> https://kubernetes-charts.storage.googleapis.com/“ </a:t>
            </a:r>
            <a:r>
              <a:rPr lang="de-DE" sz="1400" b="0" kern="1200" dirty="0" err="1">
                <a:solidFill>
                  <a:schemeClr val="tx1"/>
                </a:solidFill>
                <a:effectLst/>
                <a:latin typeface="+mn-lt"/>
                <a:ea typeface="+mn-ea"/>
                <a:cs typeface="+mn-cs"/>
              </a:rPr>
              <a:t>to</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add</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make</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it</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available</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to</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your</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helm</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installation</a:t>
            </a:r>
            <a:r>
              <a:rPr lang="de-DE" sz="1400" b="0" kern="1200" dirty="0">
                <a:solidFill>
                  <a:schemeClr val="tx1"/>
                </a:solidFill>
                <a:effectLst/>
                <a:latin typeface="+mn-lt"/>
                <a:ea typeface="+mn-ea"/>
                <a:cs typeface="+mn-cs"/>
              </a:rPr>
              <a:t>.</a:t>
            </a:r>
          </a:p>
          <a:p>
            <a:pPr marL="0" marR="0" lvl="0" indent="0" algn="l" defTabSz="1088776" rtl="0" eaLnBrk="1" fontAlgn="auto" latinLnBrk="0" hangingPunct="1">
              <a:lnSpc>
                <a:spcPct val="100000"/>
              </a:lnSpc>
              <a:spcBef>
                <a:spcPts val="0"/>
              </a:spcBef>
              <a:spcAft>
                <a:spcPts val="0"/>
              </a:spcAft>
              <a:buClrTx/>
              <a:buSzTx/>
              <a:buFontTx/>
              <a:buNone/>
              <a:tabLst/>
              <a:defRPr/>
            </a:pPr>
            <a:endParaRPr lang="de-DE" sz="1400" b="0" kern="1200" dirty="0">
              <a:solidFill>
                <a:schemeClr val="tx1"/>
              </a:solidFill>
              <a:effectLst/>
              <a:latin typeface="+mn-lt"/>
              <a:ea typeface="+mn-ea"/>
              <a:cs typeface="+mn-cs"/>
            </a:endParaRPr>
          </a:p>
          <a:p>
            <a:pPr marL="0" marR="0" lvl="0" indent="0" algn="l" defTabSz="1088776" rtl="0" eaLnBrk="1" fontAlgn="auto" latinLnBrk="0" hangingPunct="1">
              <a:lnSpc>
                <a:spcPct val="100000"/>
              </a:lnSpc>
              <a:spcBef>
                <a:spcPts val="0"/>
              </a:spcBef>
              <a:spcAft>
                <a:spcPts val="0"/>
              </a:spcAft>
              <a:buClrTx/>
              <a:buSzTx/>
              <a:buFontTx/>
              <a:buNone/>
              <a:tabLst/>
              <a:defRPr/>
            </a:pPr>
            <a:r>
              <a:rPr lang="de-DE" sz="1400" b="0" kern="1200" dirty="0" err="1">
                <a:solidFill>
                  <a:schemeClr val="tx1"/>
                </a:solidFill>
                <a:effectLst/>
                <a:latin typeface="+mn-lt"/>
                <a:ea typeface="+mn-ea"/>
                <a:cs typeface="+mn-cs"/>
              </a:rPr>
              <a:t>Once</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the</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repo</a:t>
            </a:r>
            <a:r>
              <a:rPr lang="de-DE" sz="1400" b="0" kern="1200" dirty="0">
                <a:solidFill>
                  <a:schemeClr val="tx1"/>
                </a:solidFill>
                <a:effectLst/>
                <a:latin typeface="+mn-lt"/>
                <a:ea typeface="+mn-ea"/>
                <a:cs typeface="+mn-cs"/>
              </a:rPr>
              <a:t> is </a:t>
            </a:r>
            <a:r>
              <a:rPr lang="de-DE" sz="1400" b="0" kern="1200" dirty="0" err="1">
                <a:solidFill>
                  <a:schemeClr val="tx1"/>
                </a:solidFill>
                <a:effectLst/>
                <a:latin typeface="+mn-lt"/>
                <a:ea typeface="+mn-ea"/>
                <a:cs typeface="+mn-cs"/>
              </a:rPr>
              <a:t>available</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helm</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search</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repo</a:t>
            </a:r>
            <a:r>
              <a:rPr lang="de-DE" sz="1400" b="0" kern="1200" dirty="0">
                <a:solidFill>
                  <a:schemeClr val="tx1"/>
                </a:solidFill>
                <a:effectLst/>
                <a:latin typeface="+mn-lt"/>
                <a:ea typeface="+mn-ea"/>
                <a:cs typeface="+mn-cs"/>
              </a:rPr>
              <a:t> &lt;</a:t>
            </a:r>
            <a:r>
              <a:rPr lang="de-DE" sz="1400" b="0" kern="1200" dirty="0" err="1">
                <a:solidFill>
                  <a:schemeClr val="tx1"/>
                </a:solidFill>
                <a:effectLst/>
                <a:latin typeface="+mn-lt"/>
                <a:ea typeface="+mn-ea"/>
                <a:cs typeface="+mn-cs"/>
              </a:rPr>
              <a:t>term</a:t>
            </a:r>
            <a:r>
              <a:rPr lang="de-DE" sz="1400" b="0" kern="1200" dirty="0">
                <a:solidFill>
                  <a:schemeClr val="tx1"/>
                </a:solidFill>
                <a:effectLst/>
                <a:latin typeface="+mn-lt"/>
                <a:ea typeface="+mn-ea"/>
                <a:cs typeface="+mn-cs"/>
              </a:rPr>
              <a:t>&gt;“ will </a:t>
            </a:r>
            <a:r>
              <a:rPr lang="de-DE" sz="1400" b="0" kern="1200" dirty="0" err="1">
                <a:solidFill>
                  <a:schemeClr val="tx1"/>
                </a:solidFill>
                <a:effectLst/>
                <a:latin typeface="+mn-lt"/>
                <a:ea typeface="+mn-ea"/>
                <a:cs typeface="+mn-cs"/>
              </a:rPr>
              <a:t>allow</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to</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look</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for</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charts</a:t>
            </a:r>
            <a:r>
              <a:rPr lang="de-DE" sz="1400" b="0" kern="1200" dirty="0">
                <a:solidFill>
                  <a:schemeClr val="tx1"/>
                </a:solidFill>
                <a:effectLst/>
                <a:latin typeface="+mn-lt"/>
                <a:ea typeface="+mn-ea"/>
                <a:cs typeface="+mn-cs"/>
              </a:rPr>
              <a:t>. Helm hub (</a:t>
            </a:r>
            <a:r>
              <a:rPr lang="de-DE" dirty="0">
                <a:hlinkClick r:id="rId3"/>
              </a:rPr>
              <a:t>https://hub.helm.sh/</a:t>
            </a:r>
            <a:r>
              <a:rPr lang="de-DE" dirty="0"/>
              <a:t>) </a:t>
            </a:r>
            <a:r>
              <a:rPr lang="de-DE" dirty="0" err="1"/>
              <a:t>can</a:t>
            </a:r>
            <a:r>
              <a:rPr lang="de-DE" dirty="0"/>
              <a:t> also </a:t>
            </a:r>
            <a:r>
              <a:rPr lang="de-DE" dirty="0" err="1"/>
              <a:t>be</a:t>
            </a:r>
            <a:r>
              <a:rPr lang="de-DE" dirty="0"/>
              <a:t> </a:t>
            </a:r>
            <a:r>
              <a:rPr lang="de-DE" dirty="0" err="1"/>
              <a:t>searched</a:t>
            </a:r>
            <a:r>
              <a:rPr lang="de-DE" dirty="0"/>
              <a:t> </a:t>
            </a:r>
            <a:r>
              <a:rPr lang="de-DE" dirty="0" err="1"/>
              <a:t>with</a:t>
            </a:r>
            <a:r>
              <a:rPr lang="de-DE" dirty="0"/>
              <a:t> „</a:t>
            </a:r>
            <a:r>
              <a:rPr lang="de-DE" dirty="0" err="1"/>
              <a:t>helm</a:t>
            </a:r>
            <a:r>
              <a:rPr lang="de-DE" dirty="0"/>
              <a:t> </a:t>
            </a:r>
            <a:r>
              <a:rPr lang="de-DE" dirty="0" err="1"/>
              <a:t>search</a:t>
            </a:r>
            <a:r>
              <a:rPr lang="de-DE" dirty="0"/>
              <a:t> hub &lt;</a:t>
            </a:r>
            <a:r>
              <a:rPr lang="de-DE" dirty="0" err="1"/>
              <a:t>term</a:t>
            </a:r>
            <a:r>
              <a:rPr lang="de-DE" dirty="0"/>
              <a:t>&gt;“.</a:t>
            </a:r>
            <a:endParaRPr lang="de-DE" sz="14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1096285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285750" lvl="0" indent="-285750">
              <a:buFontTx/>
              <a:buChar char="-"/>
            </a:pPr>
            <a:r>
              <a:rPr lang="en-US" dirty="0"/>
              <a:t>Start with showing the helm binary – simply run “helm” without anything else</a:t>
            </a:r>
          </a:p>
          <a:p>
            <a:pPr marL="285750" lvl="0" indent="-285750">
              <a:buFontTx/>
              <a:buChar char="-"/>
            </a:pPr>
            <a:r>
              <a:rPr lang="en-US" dirty="0"/>
              <a:t>If not yet done, run a “helm </a:t>
            </a:r>
            <a:r>
              <a:rPr lang="en-US" dirty="0" err="1"/>
              <a:t>init</a:t>
            </a:r>
            <a:r>
              <a:rPr lang="en-US" dirty="0"/>
              <a:t>” to deploy tiller. But probably there is already a tiller from the time when you created the registry.</a:t>
            </a:r>
          </a:p>
          <a:p>
            <a:pPr marL="285750" lvl="0" indent="-285750">
              <a:buFontTx/>
              <a:buChar char="-"/>
            </a:pPr>
            <a:r>
              <a:rPr lang="en-US" dirty="0"/>
              <a:t>Show the tiller pod in </a:t>
            </a:r>
            <a:r>
              <a:rPr lang="en-US" dirty="0" err="1"/>
              <a:t>kube</a:t>
            </a:r>
            <a:r>
              <a:rPr lang="en-US" dirty="0"/>
              <a:t>-system namespace. Explain, that for helm </a:t>
            </a:r>
            <a:r>
              <a:rPr lang="en-US" dirty="0" err="1"/>
              <a:t>init</a:t>
            </a:r>
            <a:r>
              <a:rPr lang="en-US" dirty="0"/>
              <a:t>, participants should target their own namespace. Otherwise they will connect to the same tiller. Highlight that in order to setup tiller with cluster access (i.e. outside of it’s namespace a </a:t>
            </a:r>
            <a:r>
              <a:rPr lang="en-US" dirty="0" err="1"/>
              <a:t>clusterrolebinding</a:t>
            </a:r>
            <a:r>
              <a:rPr lang="en-US" dirty="0"/>
              <a:t> is required)</a:t>
            </a:r>
          </a:p>
          <a:p>
            <a:pPr marL="285750" lvl="0" indent="-285750">
              <a:buFontTx/>
              <a:buChar char="-"/>
            </a:pPr>
            <a:r>
              <a:rPr lang="en-US" dirty="0"/>
              <a:t>Run “helm list” to show the already installed charts and explain that they are called a “release”.</a:t>
            </a:r>
          </a:p>
          <a:p>
            <a:pPr marL="0" lvl="0" indent="0">
              <a:buFontTx/>
              <a:buNone/>
            </a:pPr>
            <a:endParaRPr lang="en-US" dirty="0"/>
          </a:p>
          <a:p>
            <a:pPr marL="0" lvl="0" indent="0">
              <a:buFontTx/>
              <a:buNone/>
            </a:pPr>
            <a:r>
              <a:rPr lang="en-US" dirty="0"/>
              <a:t>Next move on to the question, wherefrom to get charts:</a:t>
            </a:r>
          </a:p>
          <a:p>
            <a:pPr marL="285750" lvl="0" indent="-285750">
              <a:buFontTx/>
              <a:buChar char="-"/>
            </a:pPr>
            <a:r>
              <a:rPr lang="en-US" dirty="0"/>
              <a:t>Open https://github.com/helm/charts in a browser</a:t>
            </a:r>
          </a:p>
          <a:p>
            <a:pPr marL="285750" lvl="0" indent="-285750">
              <a:buFontTx/>
              <a:buChar char="-"/>
            </a:pPr>
            <a:r>
              <a:rPr lang="en-US" dirty="0"/>
              <a:t>Talk about the different “levels” – currently incubator, test &amp; stable and go to stable</a:t>
            </a:r>
          </a:p>
          <a:p>
            <a:pPr marL="285750" lvl="0" indent="-285750">
              <a:buFontTx/>
              <a:buChar char="-"/>
            </a:pPr>
            <a:r>
              <a:rPr lang="en-US" dirty="0"/>
              <a:t>Pick up any chart (e.g. mongo </a:t>
            </a:r>
            <a:r>
              <a:rPr lang="en-US" dirty="0" err="1"/>
              <a:t>db</a:t>
            </a:r>
            <a:r>
              <a:rPr lang="en-US" dirty="0"/>
              <a:t> or </a:t>
            </a:r>
            <a:r>
              <a:rPr lang="en-US" dirty="0" err="1"/>
              <a:t>wordpress</a:t>
            </a:r>
            <a:r>
              <a:rPr lang="en-US" dirty="0"/>
              <a:t>) and go into details.</a:t>
            </a:r>
          </a:p>
          <a:p>
            <a:pPr marL="285750" lvl="0" indent="-285750">
              <a:buFontTx/>
              <a:buChar char="-"/>
            </a:pPr>
            <a:r>
              <a:rPr lang="en-US" dirty="0"/>
              <a:t>Discuss the info on the readme page, especially the “installing the chart” and “configuration”</a:t>
            </a:r>
          </a:p>
          <a:p>
            <a:pPr marL="285750" lvl="0" indent="-285750">
              <a:buFontTx/>
              <a:buChar char="-"/>
            </a:pPr>
            <a:r>
              <a:rPr lang="en-US" dirty="0"/>
              <a:t>Highlight that any parameter in configuration has a default value or is not set. </a:t>
            </a:r>
          </a:p>
          <a:p>
            <a:pPr marL="285750" lvl="0" indent="-285750">
              <a:buFontTx/>
              <a:buChar char="-"/>
            </a:pPr>
            <a:r>
              <a:rPr lang="en-US" dirty="0"/>
              <a:t>Highlight that any parameter in configuration can be overwritten / customized either by using “--set key=value” or a </a:t>
            </a:r>
            <a:r>
              <a:rPr lang="en-US" dirty="0" err="1"/>
              <a:t>values.yaml</a:t>
            </a:r>
            <a:r>
              <a:rPr lang="en-US" dirty="0"/>
              <a:t> file.</a:t>
            </a:r>
          </a:p>
          <a:p>
            <a:pPr marL="285750" lvl="0" indent="-285750">
              <a:buFontTx/>
              <a:buChar char="-"/>
            </a:pPr>
            <a:r>
              <a:rPr lang="en-US" dirty="0"/>
              <a:t>The default values can be found in the repo in a </a:t>
            </a:r>
            <a:r>
              <a:rPr lang="en-US" dirty="0" err="1"/>
              <a:t>values.yaml</a:t>
            </a:r>
            <a:r>
              <a:rPr lang="en-US" dirty="0"/>
              <a:t> file too.</a:t>
            </a:r>
          </a:p>
          <a:p>
            <a:pPr marL="285750" lvl="0" indent="-285750">
              <a:buFontTx/>
              <a:buChar char="-"/>
            </a:pPr>
            <a:r>
              <a:rPr lang="en-US" dirty="0"/>
              <a:t>Go to the templates and take a look at one of the </a:t>
            </a:r>
            <a:r>
              <a:rPr lang="en-US" dirty="0" err="1"/>
              <a:t>yaml</a:t>
            </a:r>
            <a:r>
              <a:rPr lang="en-US" dirty="0"/>
              <a:t> files. Explain that helm uses a go-based engine to render the charts upon deployment </a:t>
            </a:r>
            <a:r>
              <a:rPr lang="en-US" dirty="0">
                <a:sym typeface="Wingdings" panose="05000000000000000000" pitchFamily="2" charset="2"/>
              </a:rPr>
              <a:t> substituting variables with specific values.</a:t>
            </a:r>
          </a:p>
          <a:p>
            <a:pPr marL="0" lvl="0" indent="0">
              <a:buFontTx/>
              <a:buNone/>
            </a:pPr>
            <a:endParaRPr lang="en-US" dirty="0">
              <a:sym typeface="Wingdings" panose="05000000000000000000" pitchFamily="2" charset="2"/>
            </a:endParaRPr>
          </a:p>
          <a:p>
            <a:pPr marL="0" lvl="0" indent="0">
              <a:buFontTx/>
              <a:buNone/>
            </a:pPr>
            <a:r>
              <a:rPr lang="en-US" dirty="0">
                <a:sym typeface="Wingdings" panose="05000000000000000000" pitchFamily="2" charset="2"/>
              </a:rPr>
              <a:t>Finally run a helm install for the chart you choose and show the created object / run some of the commands printed out.</a:t>
            </a:r>
          </a:p>
          <a:p>
            <a:pPr marL="0" lvl="0" indent="0">
              <a:buFontTx/>
              <a:buNone/>
            </a:pPr>
            <a:endParaRPr lang="en-US" dirty="0">
              <a:sym typeface="Wingdings" panose="05000000000000000000" pitchFamily="2" charset="2"/>
            </a:endParaRPr>
          </a:p>
          <a:p>
            <a:pPr marL="0" lvl="0" indent="0">
              <a:buFontTx/>
              <a:buNone/>
            </a:pPr>
            <a:r>
              <a:rPr lang="en-US" dirty="0">
                <a:sym typeface="Wingdings" panose="05000000000000000000" pitchFamily="2" charset="2"/>
              </a:rPr>
              <a:t>You can also talk about the --debug (verbosity) &amp; --dry-un (simulation mode) commands for helm actions like install. </a:t>
            </a:r>
          </a:p>
          <a:p>
            <a:pPr marL="0" lvl="0" indent="0">
              <a:buFontTx/>
              <a:buNone/>
            </a:pPr>
            <a:endParaRPr lang="en-US" dirty="0">
              <a:sym typeface="Wingdings" panose="05000000000000000000" pitchFamily="2" charset="2"/>
            </a:endParaRPr>
          </a:p>
          <a:p>
            <a:pPr marL="0" lvl="0" indent="0">
              <a:buFontTx/>
              <a:buNone/>
            </a:pPr>
            <a:endParaRPr lang="en-US" dirty="0">
              <a:sym typeface="Wingdings" panose="05000000000000000000" pitchFamily="2" charset="2"/>
            </a:endParaRPr>
          </a:p>
          <a:p>
            <a:pPr marL="342900" indent="-342900">
              <a:buFontTx/>
              <a:buChar char="-"/>
            </a:pPr>
            <a:r>
              <a:rPr lang="en-US" sz="1800" dirty="0"/>
              <a:t>Go to the k8s demo folder </a:t>
            </a:r>
            <a:r>
              <a:rPr lang="en-US" sz="1800" dirty="0">
                <a:sym typeface="Wingdings" panose="05000000000000000000" pitchFamily="2" charset="2"/>
              </a:rPr>
              <a:t>and continue with demo-chart</a:t>
            </a:r>
          </a:p>
          <a:p>
            <a:pPr marL="522864" lvl="1" indent="-342900">
              <a:buFontTx/>
              <a:buChar char="-"/>
            </a:pPr>
            <a:r>
              <a:rPr lang="en-US" sz="1600" dirty="0"/>
              <a:t>Show the content of the template subfolder, starting with the specific-</a:t>
            </a:r>
            <a:r>
              <a:rPr lang="en-US" sz="1600" dirty="0" err="1"/>
              <a:t>configmap.yaml</a:t>
            </a:r>
            <a:endParaRPr lang="en-US" sz="1600" dirty="0"/>
          </a:p>
          <a:p>
            <a:pPr marL="522864" lvl="1" indent="-342900">
              <a:buFontTx/>
              <a:buChar char="-"/>
            </a:pPr>
            <a:r>
              <a:rPr lang="en-US" sz="1600" dirty="0"/>
              <a:t>Show the flexible-</a:t>
            </a:r>
            <a:r>
              <a:rPr lang="en-US" sz="1600" dirty="0" err="1"/>
              <a:t>configmap.yaml</a:t>
            </a:r>
            <a:r>
              <a:rPr lang="en-US" sz="1600" dirty="0"/>
              <a:t> and explain the build in variables, values references + _</a:t>
            </a:r>
            <a:r>
              <a:rPr lang="en-US" sz="1600" dirty="0" err="1"/>
              <a:t>helpers.tpl</a:t>
            </a:r>
            <a:r>
              <a:rPr lang="en-US" sz="1600" dirty="0"/>
              <a:t> where the functions are defined</a:t>
            </a:r>
          </a:p>
          <a:p>
            <a:pPr marL="522864" lvl="1" indent="-342900">
              <a:buFontTx/>
              <a:buChar char="-"/>
            </a:pPr>
            <a:r>
              <a:rPr lang="en-US" sz="1600" dirty="0"/>
              <a:t>Show </a:t>
            </a:r>
            <a:r>
              <a:rPr lang="en-US" sz="1600" dirty="0" err="1"/>
              <a:t>NOTES.txt</a:t>
            </a:r>
            <a:r>
              <a:rPr lang="en-US" sz="1600" dirty="0"/>
              <a:t> -&gt; it contains the lines to print after a successful deployment</a:t>
            </a:r>
          </a:p>
          <a:p>
            <a:pPr marL="522864" lvl="1" indent="-342900">
              <a:buFontTx/>
              <a:buChar char="-"/>
            </a:pPr>
            <a:r>
              <a:rPr lang="en-US" sz="1600" dirty="0"/>
              <a:t>Show the values file in the demo-chart folder</a:t>
            </a:r>
          </a:p>
          <a:p>
            <a:pPr marL="342900" indent="-342900">
              <a:buFontTx/>
              <a:buChar char="-"/>
            </a:pPr>
            <a:r>
              <a:rPr lang="en-US" sz="1800" dirty="0"/>
              <a:t>Deploy the chart: “helm install .” (assuming your current working directory is ./demo-chart )</a:t>
            </a:r>
          </a:p>
          <a:p>
            <a:pPr marL="522864" lvl="1" indent="-342900">
              <a:buFontTx/>
              <a:buChar char="-"/>
            </a:pPr>
            <a:r>
              <a:rPr lang="en-US" sz="1600" dirty="0"/>
              <a:t> run the commands that have been printed by helm</a:t>
            </a:r>
          </a:p>
          <a:p>
            <a:pPr marL="342900" indent="-342900">
              <a:buFontTx/>
              <a:buChar char="-"/>
            </a:pPr>
            <a:r>
              <a:rPr lang="en-US" sz="1800" dirty="0"/>
              <a:t>Update the release and change the value of </a:t>
            </a:r>
            <a:r>
              <a:rPr lang="en-US" sz="1800" dirty="0" err="1"/>
              <a:t>myMessage</a:t>
            </a:r>
            <a:r>
              <a:rPr lang="en-US" sz="1800" dirty="0"/>
              <a:t>, use dry-run and debug to double check changes: </a:t>
            </a:r>
          </a:p>
          <a:p>
            <a:pPr marL="522864" lvl="1" indent="-342900">
              <a:buFontTx/>
              <a:buChar char="-"/>
            </a:pPr>
            <a:r>
              <a:rPr lang="en-US" sz="1600" dirty="0"/>
              <a:t>helm upgrade --dry-run --debug --set </a:t>
            </a:r>
            <a:r>
              <a:rPr lang="en-US" sz="1600" dirty="0" err="1"/>
              <a:t>myMessage</a:t>
            </a:r>
            <a:r>
              <a:rPr lang="en-US" sz="1600" dirty="0"/>
              <a:t>=“Goodbye course” &lt;release name&gt; .</a:t>
            </a:r>
          </a:p>
          <a:p>
            <a:pPr marL="522864" lvl="1" indent="-342900">
              <a:buFontTx/>
              <a:buChar char="-"/>
            </a:pPr>
            <a:r>
              <a:rPr lang="en-US" sz="1600" dirty="0"/>
              <a:t>helm upgrade --set </a:t>
            </a:r>
            <a:r>
              <a:rPr lang="en-US" sz="1600" dirty="0" err="1"/>
              <a:t>myMessage</a:t>
            </a:r>
            <a:r>
              <a:rPr lang="en-US" sz="1600" dirty="0"/>
              <a:t>=“Goodbye course” &lt;release name&gt; .</a:t>
            </a:r>
          </a:p>
          <a:p>
            <a:pPr marL="342900" indent="-342900">
              <a:buFontTx/>
              <a:buChar char="-"/>
            </a:pPr>
            <a:r>
              <a:rPr lang="en-US" sz="1800" dirty="0"/>
              <a:t>Update the release with a </a:t>
            </a:r>
            <a:r>
              <a:rPr lang="en-US" sz="1800" dirty="0" err="1"/>
              <a:t>custom_values.yaml</a:t>
            </a:r>
            <a:endParaRPr lang="en-US" sz="1800" dirty="0"/>
          </a:p>
          <a:p>
            <a:pPr marL="522864" lvl="1" indent="-342900">
              <a:buFontTx/>
              <a:buChar char="-"/>
            </a:pPr>
            <a:r>
              <a:rPr lang="en-US" sz="1600" dirty="0"/>
              <a:t>Helm upgrade –f </a:t>
            </a:r>
            <a:r>
              <a:rPr lang="en-US" sz="1600" dirty="0" err="1"/>
              <a:t>custom_values.yaml</a:t>
            </a:r>
            <a:r>
              <a:rPr lang="en-US" sz="1600" dirty="0"/>
              <a:t> &lt;release name&gt; .</a:t>
            </a:r>
          </a:p>
          <a:p>
            <a:pPr lvl="1" indent="0">
              <a:buNone/>
            </a:pPr>
            <a:r>
              <a:rPr lang="en-US" b="1" dirty="0"/>
              <a:t>“.” is referencing a relative path to your chart – don’t truncate it!</a:t>
            </a:r>
          </a:p>
          <a:p>
            <a:pPr marL="0" lvl="0" indent="0">
              <a:buFontTx/>
              <a:buNone/>
            </a:pPr>
            <a:endParaRPr lang="en-US" dirty="0"/>
          </a:p>
          <a:p>
            <a:pPr marL="0" lvl="0" indent="0">
              <a:buFontTx/>
              <a:buNone/>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4049153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1903845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12</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hyperlink" Target="https://artifacthub.io/" TargetMode="External"/><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 &amp;</a:t>
            </a:r>
            <a:br>
              <a:rPr lang="en-US" dirty="0"/>
            </a:br>
            <a:endParaRPr lang="en-US" dirty="0">
              <a:solidFill>
                <a:schemeClr val="accent1"/>
              </a:solidFill>
            </a:endParaRPr>
          </a:p>
        </p:txBody>
      </p:sp>
      <p:pic>
        <p:nvPicPr>
          <p:cNvPr id="6" name="Illustration" descr="Example of an illustration" title="Illustration for title slide">
            <a:extLst>
              <a:ext uri="{FF2B5EF4-FFF2-40B4-BE49-F238E27FC236}">
                <a16:creationId xmlns:a16="http://schemas.microsoft.com/office/drawing/2014/main" id="{EC531770-544D-4952-AB9E-C704A7918FE7}"/>
              </a:ext>
            </a:extLst>
          </p:cNvPr>
          <p:cNvPicPr>
            <a:picLocks noGrp="1" noChangeAspect="1"/>
          </p:cNvPicPr>
          <p:nvPr>
            <p:ph type="pic" sz="quarter" idx="12"/>
          </p:nvPr>
        </p:nvPicPr>
        <p:blipFill>
          <a:blip r:embed="rId3"/>
          <a:srcRect t="3112" b="3112"/>
          <a:stretch>
            <a:fillRect/>
          </a:stretch>
        </p:blipFill>
        <p:spPr bwMode="gray">
          <a:xfrm>
            <a:off x="1" y="0"/>
            <a:ext cx="12195174" cy="3430006"/>
          </a:xfrm>
        </p:spPr>
      </p:pic>
      <p:pic>
        <p:nvPicPr>
          <p:cNvPr id="4" name="Picture 6" descr="Related image">
            <a:extLst>
              <a:ext uri="{FF2B5EF4-FFF2-40B4-BE49-F238E27FC236}">
                <a16:creationId xmlns:a16="http://schemas.microsoft.com/office/drawing/2014/main" id="{7BBFD1B1-59F4-654F-ABA0-3DC35A0726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0604" y="2977943"/>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20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DE90E4-6E63-BF4A-BFD8-EA8C19B0AA20}"/>
              </a:ext>
            </a:extLst>
          </p:cNvPr>
          <p:cNvSpPr>
            <a:spLocks noGrp="1"/>
          </p:cNvSpPr>
          <p:nvPr>
            <p:ph type="title"/>
          </p:nvPr>
        </p:nvSpPr>
        <p:spPr/>
        <p:txBody>
          <a:bodyPr/>
          <a:lstStyle/>
          <a:p>
            <a:r>
              <a:rPr lang="de-DE" dirty="0"/>
              <a:t>Helm Charts</a:t>
            </a:r>
          </a:p>
        </p:txBody>
      </p:sp>
      <p:sp>
        <p:nvSpPr>
          <p:cNvPr id="4" name="Rechteck 3">
            <a:extLst>
              <a:ext uri="{FF2B5EF4-FFF2-40B4-BE49-F238E27FC236}">
                <a16:creationId xmlns:a16="http://schemas.microsoft.com/office/drawing/2014/main" id="{745B523B-31F5-EA4C-A693-C0085CE16A32}"/>
              </a:ext>
            </a:extLst>
          </p:cNvPr>
          <p:cNvSpPr/>
          <p:nvPr/>
        </p:nvSpPr>
        <p:spPr bwMode="gray">
          <a:xfrm>
            <a:off x="504001" y="1254235"/>
            <a:ext cx="2779973" cy="2209800"/>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 name="Rechteck 4">
            <a:extLst>
              <a:ext uri="{FF2B5EF4-FFF2-40B4-BE49-F238E27FC236}">
                <a16:creationId xmlns:a16="http://schemas.microsoft.com/office/drawing/2014/main" id="{ACCB651E-3749-E24D-8F15-DDE02A7CCF7F}"/>
              </a:ext>
            </a:extLst>
          </p:cNvPr>
          <p:cNvSpPr/>
          <p:nvPr/>
        </p:nvSpPr>
        <p:spPr bwMode="gray">
          <a:xfrm>
            <a:off x="656401" y="1406635"/>
            <a:ext cx="2779973" cy="2209800"/>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Rechteck 5">
            <a:extLst>
              <a:ext uri="{FF2B5EF4-FFF2-40B4-BE49-F238E27FC236}">
                <a16:creationId xmlns:a16="http://schemas.microsoft.com/office/drawing/2014/main" id="{A01A538F-65AC-814A-B6DA-71531DF0C545}"/>
              </a:ext>
            </a:extLst>
          </p:cNvPr>
          <p:cNvSpPr/>
          <p:nvPr/>
        </p:nvSpPr>
        <p:spPr bwMode="gray">
          <a:xfrm>
            <a:off x="808801" y="1559035"/>
            <a:ext cx="2779973" cy="2209800"/>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latin typeface="Courier" pitchFamily="2" charset="0"/>
                <a:ea typeface="Arial Unicode MS" pitchFamily="34" charset="-128"/>
                <a:cs typeface="Arial Unicode MS" pitchFamily="34" charset="-128"/>
              </a:rPr>
              <a:t>{{ </a:t>
            </a:r>
            <a:r>
              <a:rPr lang="de-DE" sz="1800" b="1" kern="0" dirty="0" err="1">
                <a:latin typeface="Courier" pitchFamily="2" charset="0"/>
                <a:ea typeface="Arial Unicode MS" pitchFamily="34" charset="-128"/>
                <a:cs typeface="Arial Unicode MS" pitchFamily="34" charset="-128"/>
              </a:rPr>
              <a:t>templates</a:t>
            </a:r>
            <a:r>
              <a:rPr lang="de-DE" sz="1800" b="1" kern="0" dirty="0">
                <a:latin typeface="Courier" pitchFamily="2" charset="0"/>
                <a:ea typeface="Arial Unicode MS" pitchFamily="34" charset="-128"/>
                <a:cs typeface="Arial Unicode MS" pitchFamily="34" charset="-128"/>
              </a:rPr>
              <a:t> }}</a:t>
            </a:r>
            <a:endParaRPr kumimoji="0" lang="de-DE" sz="1800" b="1" i="0" u="none" strike="noStrike" kern="0" cap="none" spc="0" normalizeH="0" baseline="0" noProof="0" dirty="0" err="1">
              <a:ln>
                <a:noFill/>
              </a:ln>
              <a:effectLst/>
              <a:uLnTx/>
              <a:uFillTx/>
              <a:latin typeface="Courier" pitchFamily="2" charset="0"/>
              <a:ea typeface="Arial Unicode MS" pitchFamily="34" charset="-128"/>
              <a:cs typeface="Arial Unicode MS" pitchFamily="34" charset="-128"/>
            </a:endParaRPr>
          </a:p>
        </p:txBody>
      </p:sp>
      <p:sp>
        <p:nvSpPr>
          <p:cNvPr id="7" name="Rechteck 6">
            <a:extLst>
              <a:ext uri="{FF2B5EF4-FFF2-40B4-BE49-F238E27FC236}">
                <a16:creationId xmlns:a16="http://schemas.microsoft.com/office/drawing/2014/main" id="{D7E3D5A6-F5CE-BE4C-903E-A28310724628}"/>
              </a:ext>
            </a:extLst>
          </p:cNvPr>
          <p:cNvSpPr/>
          <p:nvPr/>
        </p:nvSpPr>
        <p:spPr bwMode="gray">
          <a:xfrm>
            <a:off x="907123" y="4302138"/>
            <a:ext cx="2268697" cy="1676497"/>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err="1">
                <a:latin typeface="Courier" pitchFamily="2" charset="0"/>
                <a:ea typeface="Arial Unicode MS" pitchFamily="34" charset="-128"/>
                <a:cs typeface="Arial Unicode MS" pitchFamily="34" charset="-128"/>
              </a:rPr>
              <a:t>parameter</a:t>
            </a:r>
            <a:endParaRPr kumimoji="0" lang="de-DE" sz="1800" b="1" i="0" u="none" strike="noStrike" kern="0" cap="none" spc="0" normalizeH="0" baseline="0" noProof="0" dirty="0" err="1">
              <a:ln>
                <a:noFill/>
              </a:ln>
              <a:effectLst/>
              <a:uLnTx/>
              <a:uFillTx/>
              <a:latin typeface="Courier" pitchFamily="2" charset="0"/>
              <a:ea typeface="Arial Unicode MS" pitchFamily="34" charset="-128"/>
              <a:cs typeface="Arial Unicode MS" pitchFamily="34" charset="-128"/>
            </a:endParaRPr>
          </a:p>
        </p:txBody>
      </p:sp>
      <p:pic>
        <p:nvPicPr>
          <p:cNvPr id="9" name="Grafik 8" descr="Zauberstab (automatisch) mit einfarbiger Füllung">
            <a:extLst>
              <a:ext uri="{FF2B5EF4-FFF2-40B4-BE49-F238E27FC236}">
                <a16:creationId xmlns:a16="http://schemas.microsoft.com/office/drawing/2014/main" id="{34D38156-5F9F-254D-8FD9-DB1F44AC19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40586" y="1983235"/>
            <a:ext cx="1480800" cy="1480800"/>
          </a:xfrm>
          <a:prstGeom prst="rect">
            <a:avLst/>
          </a:prstGeom>
        </p:spPr>
      </p:pic>
      <p:pic>
        <p:nvPicPr>
          <p:cNvPr id="11" name="Grafik 10" descr="Zaubererhut mit einfarbiger Füllung">
            <a:extLst>
              <a:ext uri="{FF2B5EF4-FFF2-40B4-BE49-F238E27FC236}">
                <a16:creationId xmlns:a16="http://schemas.microsoft.com/office/drawing/2014/main" id="{E8F714E2-4920-6349-AC4D-774710A531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38491" y="2823893"/>
            <a:ext cx="1889883" cy="1889883"/>
          </a:xfrm>
          <a:prstGeom prst="rect">
            <a:avLst/>
          </a:prstGeom>
        </p:spPr>
      </p:pic>
      <p:sp>
        <p:nvSpPr>
          <p:cNvPr id="12" name="Rechteck 11">
            <a:extLst>
              <a:ext uri="{FF2B5EF4-FFF2-40B4-BE49-F238E27FC236}">
                <a16:creationId xmlns:a16="http://schemas.microsoft.com/office/drawing/2014/main" id="{F5342AAF-D15E-DC46-AB17-7E92139CEFF4}"/>
              </a:ext>
            </a:extLst>
          </p:cNvPr>
          <p:cNvSpPr/>
          <p:nvPr/>
        </p:nvSpPr>
        <p:spPr bwMode="gray">
          <a:xfrm>
            <a:off x="8758802" y="1193402"/>
            <a:ext cx="2696399" cy="921861"/>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Ingress</a:t>
            </a:r>
            <a:endParaRPr kumimoji="0" lang="de-DE"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3" name="Rechteck 12">
            <a:extLst>
              <a:ext uri="{FF2B5EF4-FFF2-40B4-BE49-F238E27FC236}">
                <a16:creationId xmlns:a16="http://schemas.microsoft.com/office/drawing/2014/main" id="{CEE7CCF2-6551-6942-9EC6-72CCC4CE7269}"/>
              </a:ext>
            </a:extLst>
          </p:cNvPr>
          <p:cNvSpPr/>
          <p:nvPr/>
        </p:nvSpPr>
        <p:spPr bwMode="gray">
          <a:xfrm>
            <a:off x="8758801" y="2205448"/>
            <a:ext cx="2696399" cy="921861"/>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Service</a:t>
            </a:r>
            <a:endParaRPr kumimoji="0" lang="de-DE"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4" name="Rechteck 13">
            <a:extLst>
              <a:ext uri="{FF2B5EF4-FFF2-40B4-BE49-F238E27FC236}">
                <a16:creationId xmlns:a16="http://schemas.microsoft.com/office/drawing/2014/main" id="{8270EE84-FF12-FE4D-B39F-A41811EA837A}"/>
              </a:ext>
            </a:extLst>
          </p:cNvPr>
          <p:cNvSpPr/>
          <p:nvPr/>
        </p:nvSpPr>
        <p:spPr bwMode="gray">
          <a:xfrm>
            <a:off x="8758800" y="3217494"/>
            <a:ext cx="2696399" cy="921861"/>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err="1">
                <a:ea typeface="Arial Unicode MS" pitchFamily="34" charset="-128"/>
                <a:cs typeface="Arial Unicode MS" pitchFamily="34" charset="-128"/>
              </a:rPr>
              <a:t>Deployment</a:t>
            </a:r>
            <a:endParaRPr kumimoji="0" lang="de-DE"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5" name="Rechteck 14">
            <a:extLst>
              <a:ext uri="{FF2B5EF4-FFF2-40B4-BE49-F238E27FC236}">
                <a16:creationId xmlns:a16="http://schemas.microsoft.com/office/drawing/2014/main" id="{19CEA4A8-3E8E-CC46-9425-013548C53060}"/>
              </a:ext>
            </a:extLst>
          </p:cNvPr>
          <p:cNvSpPr/>
          <p:nvPr/>
        </p:nvSpPr>
        <p:spPr bwMode="gray">
          <a:xfrm>
            <a:off x="8758799" y="4229540"/>
            <a:ext cx="2696399" cy="921861"/>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err="1">
                <a:ea typeface="Arial Unicode MS" pitchFamily="34" charset="-128"/>
                <a:cs typeface="Arial Unicode MS" pitchFamily="34" charset="-128"/>
              </a:rPr>
              <a:t>ConfigMap</a:t>
            </a:r>
            <a:endParaRPr kumimoji="0" lang="de-DE"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6" name="Rechteck 15">
            <a:extLst>
              <a:ext uri="{FF2B5EF4-FFF2-40B4-BE49-F238E27FC236}">
                <a16:creationId xmlns:a16="http://schemas.microsoft.com/office/drawing/2014/main" id="{F334FE91-AAD8-3A41-80CC-DA905CA5B85C}"/>
              </a:ext>
            </a:extLst>
          </p:cNvPr>
          <p:cNvSpPr/>
          <p:nvPr/>
        </p:nvSpPr>
        <p:spPr bwMode="gray">
          <a:xfrm>
            <a:off x="8758799" y="5241586"/>
            <a:ext cx="2696399" cy="921861"/>
          </a:xfrm>
          <a:prstGeom prst="rect">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Secret</a:t>
            </a:r>
            <a:endParaRPr kumimoji="0" lang="de-DE"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Textfeld 16">
            <a:extLst>
              <a:ext uri="{FF2B5EF4-FFF2-40B4-BE49-F238E27FC236}">
                <a16:creationId xmlns:a16="http://schemas.microsoft.com/office/drawing/2014/main" id="{A252FDF0-D502-6F47-96C2-D41F7EE5173F}"/>
              </a:ext>
            </a:extLst>
          </p:cNvPr>
          <p:cNvSpPr txBox="1"/>
          <p:nvPr/>
        </p:nvSpPr>
        <p:spPr>
          <a:xfrm>
            <a:off x="5411398" y="5010019"/>
            <a:ext cx="1846659" cy="692497"/>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de-DE" sz="1800" b="1" kern="0" dirty="0">
                <a:ea typeface="Arial Unicode MS" pitchFamily="34" charset="-128"/>
                <a:cs typeface="Arial Unicode MS" pitchFamily="34" charset="-128"/>
              </a:rPr>
              <a:t>Template Engine</a:t>
            </a:r>
          </a:p>
          <a:p>
            <a:pPr fontAlgn="base">
              <a:spcBef>
                <a:spcPct val="50000"/>
              </a:spcBef>
              <a:spcAft>
                <a:spcPct val="0"/>
              </a:spcAft>
              <a:buClr>
                <a:srgbClr val="F0AB00"/>
              </a:buClr>
              <a:buSzPct val="80000"/>
            </a:pPr>
            <a:endParaRPr lang="de-DE" sz="1800" b="1" kern="0" dirty="0">
              <a:ea typeface="Arial Unicode MS" pitchFamily="34" charset="-128"/>
              <a:cs typeface="Arial Unicode MS" pitchFamily="34" charset="-128"/>
            </a:endParaRPr>
          </a:p>
        </p:txBody>
      </p:sp>
    </p:spTree>
    <p:extLst>
      <p:ext uri="{BB962C8B-B14F-4D97-AF65-F5344CB8AC3E}">
        <p14:creationId xmlns:p14="http://schemas.microsoft.com/office/powerpoint/2010/main" val="105704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7A1860-6C63-4260-B136-F11C4585FB36}"/>
              </a:ext>
            </a:extLst>
          </p:cNvPr>
          <p:cNvPicPr>
            <a:picLocks noChangeAspect="1"/>
          </p:cNvPicPr>
          <p:nvPr/>
        </p:nvPicPr>
        <p:blipFill>
          <a:blip r:embed="rId3"/>
          <a:stretch>
            <a:fillRect/>
          </a:stretch>
        </p:blipFill>
        <p:spPr>
          <a:xfrm>
            <a:off x="504001" y="2120710"/>
            <a:ext cx="5304762" cy="771429"/>
          </a:xfrm>
          <a:prstGeom prst="rect">
            <a:avLst/>
          </a:prstGeom>
          <a:ln>
            <a:solidFill>
              <a:schemeClr val="tx1"/>
            </a:solidFill>
          </a:ln>
        </p:spPr>
      </p:pic>
      <p:sp>
        <p:nvSpPr>
          <p:cNvPr id="4" name="Title 3">
            <a:extLst>
              <a:ext uri="{FF2B5EF4-FFF2-40B4-BE49-F238E27FC236}">
                <a16:creationId xmlns:a16="http://schemas.microsoft.com/office/drawing/2014/main" id="{581B0699-A522-4A8F-8C8F-7FA0530D9D6B}"/>
              </a:ext>
            </a:extLst>
          </p:cNvPr>
          <p:cNvSpPr>
            <a:spLocks noGrp="1"/>
          </p:cNvSpPr>
          <p:nvPr>
            <p:ph type="title"/>
          </p:nvPr>
        </p:nvSpPr>
        <p:spPr/>
        <p:txBody>
          <a:bodyPr/>
          <a:lstStyle/>
          <a:p>
            <a:r>
              <a:rPr lang="en-US" dirty="0"/>
              <a:t>Parameterization</a:t>
            </a:r>
          </a:p>
        </p:txBody>
      </p:sp>
      <p:sp>
        <p:nvSpPr>
          <p:cNvPr id="6" name="Speech Bubble: Rectangle 5">
            <a:extLst>
              <a:ext uri="{FF2B5EF4-FFF2-40B4-BE49-F238E27FC236}">
                <a16:creationId xmlns:a16="http://schemas.microsoft.com/office/drawing/2014/main" id="{94CDC397-8C29-49D6-88BF-EF28A87F40A0}"/>
              </a:ext>
            </a:extLst>
          </p:cNvPr>
          <p:cNvSpPr/>
          <p:nvPr/>
        </p:nvSpPr>
        <p:spPr bwMode="gray">
          <a:xfrm>
            <a:off x="6291910" y="688666"/>
            <a:ext cx="4101737" cy="1217392"/>
          </a:xfrm>
          <a:prstGeom prst="wedgeRectCallout">
            <a:avLst>
              <a:gd name="adj1" fmla="val -128434"/>
              <a:gd name="adj2" fmla="val 3809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Default parameters are stored in a file called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values.yaml</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together with the templates.</a:t>
            </a:r>
          </a:p>
        </p:txBody>
      </p:sp>
      <p:sp>
        <p:nvSpPr>
          <p:cNvPr id="7" name="Speech Bubble: Rectangle 6">
            <a:extLst>
              <a:ext uri="{FF2B5EF4-FFF2-40B4-BE49-F238E27FC236}">
                <a16:creationId xmlns:a16="http://schemas.microsoft.com/office/drawing/2014/main" id="{0A6FEC62-08BF-44DA-96F4-2E8EE523F047}"/>
              </a:ext>
            </a:extLst>
          </p:cNvPr>
          <p:cNvSpPr/>
          <p:nvPr/>
        </p:nvSpPr>
        <p:spPr bwMode="gray">
          <a:xfrm>
            <a:off x="7432452" y="3053646"/>
            <a:ext cx="4101737" cy="1217392"/>
          </a:xfrm>
          <a:prstGeom prst="wedgeRectCallout">
            <a:avLst>
              <a:gd name="adj1" fmla="val -86403"/>
              <a:gd name="adj2" fmla="val -5050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Values can be organized in key-value pairs, but also in maps and arrays.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 name="Rectangle: Rounded Corners 2">
            <a:extLst>
              <a:ext uri="{FF2B5EF4-FFF2-40B4-BE49-F238E27FC236}">
                <a16:creationId xmlns:a16="http://schemas.microsoft.com/office/drawing/2014/main" id="{AAA31C7E-E730-4BEC-AA1F-23831492FE88}"/>
              </a:ext>
            </a:extLst>
          </p:cNvPr>
          <p:cNvSpPr/>
          <p:nvPr/>
        </p:nvSpPr>
        <p:spPr bwMode="gray">
          <a:xfrm>
            <a:off x="504001" y="1349961"/>
            <a:ext cx="1855177" cy="5315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tx1"/>
                </a:solidFill>
                <a:ea typeface="Arial Unicode MS" pitchFamily="34" charset="-128"/>
                <a:cs typeface="Arial Unicode MS" pitchFamily="34" charset="-128"/>
              </a:rPr>
              <a:t>v</a:t>
            </a:r>
            <a:r>
              <a:rPr kumimoji="0" lang="en-US" sz="1800" b="1" i="0" u="none" strike="noStrike" kern="0" cap="none" spc="0" normalizeH="0" baseline="0" noProof="0" dirty="0" err="1">
                <a:ln>
                  <a:noFill/>
                </a:ln>
                <a:solidFill>
                  <a:schemeClr val="tx1"/>
                </a:solidFill>
                <a:effectLst/>
                <a:uLnTx/>
                <a:uFillTx/>
                <a:ea typeface="Arial Unicode MS" pitchFamily="34" charset="-128"/>
                <a:cs typeface="Arial Unicode MS" pitchFamily="34" charset="-128"/>
              </a:rPr>
              <a:t>alues.yaml</a:t>
            </a:r>
            <a:endParaRPr kumimoji="0" lang="en-US" sz="1800" b="1" i="0" u="none" strike="noStrike" kern="0" cap="none" spc="0" normalizeH="0" baseline="0" noProof="0" dirty="0">
              <a:ln>
                <a:noFill/>
              </a:ln>
              <a:solidFill>
                <a:schemeClr val="tx1"/>
              </a:solidFill>
              <a:effectLst/>
              <a:uLnTx/>
              <a:uFillTx/>
              <a:ea typeface="Arial Unicode MS" pitchFamily="34" charset="-128"/>
              <a:cs typeface="Arial Unicode MS" pitchFamily="34" charset="-128"/>
            </a:endParaRPr>
          </a:p>
        </p:txBody>
      </p:sp>
      <p:pic>
        <p:nvPicPr>
          <p:cNvPr id="13" name="Grafik 12" descr="Zauberstab (automatisch) mit einfarbiger Füllung">
            <a:extLst>
              <a:ext uri="{FF2B5EF4-FFF2-40B4-BE49-F238E27FC236}">
                <a16:creationId xmlns:a16="http://schemas.microsoft.com/office/drawing/2014/main" id="{3AA27561-89CA-EE4D-9D0A-14A7AFF9CF5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001" y="3839392"/>
            <a:ext cx="1217393" cy="1217393"/>
          </a:xfrm>
          <a:prstGeom prst="rect">
            <a:avLst/>
          </a:prstGeom>
        </p:spPr>
      </p:pic>
      <p:pic>
        <p:nvPicPr>
          <p:cNvPr id="14" name="Grafik 13" descr="Zaubererhut mit einfarbiger Füllung">
            <a:extLst>
              <a:ext uri="{FF2B5EF4-FFF2-40B4-BE49-F238E27FC236}">
                <a16:creationId xmlns:a16="http://schemas.microsoft.com/office/drawing/2014/main" id="{BDB69412-7810-3645-BCA9-7C1B263E8DF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8360" y="4674161"/>
            <a:ext cx="1553708" cy="1553708"/>
          </a:xfrm>
          <a:prstGeom prst="rect">
            <a:avLst/>
          </a:prstGeom>
        </p:spPr>
      </p:pic>
      <p:sp>
        <p:nvSpPr>
          <p:cNvPr id="5" name="Textfeld 4">
            <a:extLst>
              <a:ext uri="{FF2B5EF4-FFF2-40B4-BE49-F238E27FC236}">
                <a16:creationId xmlns:a16="http://schemas.microsoft.com/office/drawing/2014/main" id="{3431126F-4FAB-8747-A010-6892795392BF}"/>
              </a:ext>
            </a:extLst>
          </p:cNvPr>
          <p:cNvSpPr txBox="1"/>
          <p:nvPr/>
        </p:nvSpPr>
        <p:spPr>
          <a:xfrm>
            <a:off x="1815214" y="4139653"/>
            <a:ext cx="4239943" cy="369332"/>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de-DE" sz="2400" b="1" kern="0" dirty="0">
                <a:latin typeface="Courier" pitchFamily="2" charset="0"/>
                <a:ea typeface="Arial Unicode MS" pitchFamily="34" charset="-128"/>
                <a:cs typeface="Arial Unicode MS" pitchFamily="34" charset="-128"/>
              </a:rPr>
              <a:t>{{ .</a:t>
            </a:r>
            <a:r>
              <a:rPr lang="de-DE" sz="2400" b="1" kern="0" dirty="0" err="1">
                <a:latin typeface="Courier" pitchFamily="2" charset="0"/>
                <a:ea typeface="Arial Unicode MS" pitchFamily="34" charset="-128"/>
                <a:cs typeface="Arial Unicode MS" pitchFamily="34" charset="-128"/>
              </a:rPr>
              <a:t>Values.myMessage</a:t>
            </a:r>
            <a:r>
              <a:rPr lang="de-DE" sz="2400" b="1" kern="0" dirty="0">
                <a:latin typeface="Courier" pitchFamily="2" charset="0"/>
                <a:ea typeface="Arial Unicode MS" pitchFamily="34" charset="-128"/>
                <a:cs typeface="Arial Unicode MS" pitchFamily="34" charset="-128"/>
              </a:rPr>
              <a:t> }}</a:t>
            </a:r>
          </a:p>
        </p:txBody>
      </p:sp>
      <p:sp>
        <p:nvSpPr>
          <p:cNvPr id="15" name="Speech Bubble: Rectangle 6">
            <a:extLst>
              <a:ext uri="{FF2B5EF4-FFF2-40B4-BE49-F238E27FC236}">
                <a16:creationId xmlns:a16="http://schemas.microsoft.com/office/drawing/2014/main" id="{67881191-0CCA-1E45-A181-B37946C7E540}"/>
              </a:ext>
            </a:extLst>
          </p:cNvPr>
          <p:cNvSpPr/>
          <p:nvPr/>
        </p:nvSpPr>
        <p:spPr bwMode="gray">
          <a:xfrm>
            <a:off x="5808763" y="4969732"/>
            <a:ext cx="4101737" cy="1217392"/>
          </a:xfrm>
          <a:prstGeom prst="wedgeRectCallout">
            <a:avLst>
              <a:gd name="adj1" fmla="val -86403"/>
              <a:gd name="adj2" fmla="val -5050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The</a:t>
            </a:r>
            <a:r>
              <a:rPr kumimoji="0" lang="en-US" sz="1800" b="0" i="0" u="none" strike="noStrike" kern="0" cap="none" spc="0" normalizeH="0" noProof="0" dirty="0">
                <a:ln>
                  <a:noFill/>
                </a:ln>
                <a:effectLst/>
                <a:uLnTx/>
                <a:uFillTx/>
                <a:ea typeface="Arial Unicode MS" pitchFamily="34" charset="-128"/>
                <a:cs typeface="Arial Unicode MS" pitchFamily="34" charset="-128"/>
              </a:rPr>
              <a:t> template engine substitutes placeholder with actual values.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6266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13F139-5E5D-419A-9BD5-92AD40237BBF}"/>
              </a:ext>
            </a:extLst>
          </p:cNvPr>
          <p:cNvPicPr>
            <a:picLocks noChangeAspect="1"/>
          </p:cNvPicPr>
          <p:nvPr/>
        </p:nvPicPr>
        <p:blipFill>
          <a:blip r:embed="rId3"/>
          <a:stretch>
            <a:fillRect/>
          </a:stretch>
        </p:blipFill>
        <p:spPr>
          <a:xfrm>
            <a:off x="649620" y="1371857"/>
            <a:ext cx="5447619" cy="4114286"/>
          </a:xfrm>
          <a:prstGeom prst="rect">
            <a:avLst/>
          </a:prstGeom>
          <a:ln>
            <a:solidFill>
              <a:schemeClr val="tx1"/>
            </a:solidFill>
          </a:ln>
        </p:spPr>
      </p:pic>
      <p:sp>
        <p:nvSpPr>
          <p:cNvPr id="4" name="Title 3">
            <a:extLst>
              <a:ext uri="{FF2B5EF4-FFF2-40B4-BE49-F238E27FC236}">
                <a16:creationId xmlns:a16="http://schemas.microsoft.com/office/drawing/2014/main" id="{2C20A3A3-5BE1-4DB7-9A60-49901FC75E7B}"/>
              </a:ext>
            </a:extLst>
          </p:cNvPr>
          <p:cNvSpPr>
            <a:spLocks noGrp="1"/>
          </p:cNvSpPr>
          <p:nvPr>
            <p:ph type="title"/>
          </p:nvPr>
        </p:nvSpPr>
        <p:spPr>
          <a:xfrm>
            <a:off x="504001" y="504000"/>
            <a:ext cx="11186476" cy="369332"/>
          </a:xfrm>
        </p:spPr>
        <p:txBody>
          <a:bodyPr/>
          <a:lstStyle/>
          <a:p>
            <a:r>
              <a:rPr lang="en-US" dirty="0"/>
              <a:t>About templates</a:t>
            </a:r>
          </a:p>
        </p:txBody>
      </p:sp>
      <p:sp>
        <p:nvSpPr>
          <p:cNvPr id="16" name="Speech Bubble: Rectangle 15">
            <a:extLst>
              <a:ext uri="{FF2B5EF4-FFF2-40B4-BE49-F238E27FC236}">
                <a16:creationId xmlns:a16="http://schemas.microsoft.com/office/drawing/2014/main" id="{78F9BA3B-EB94-4AC8-920D-A9ED83D0D2E2}"/>
              </a:ext>
            </a:extLst>
          </p:cNvPr>
          <p:cNvSpPr/>
          <p:nvPr/>
        </p:nvSpPr>
        <p:spPr bwMode="gray">
          <a:xfrm>
            <a:off x="7149000" y="1208618"/>
            <a:ext cx="4101737" cy="469551"/>
          </a:xfrm>
          <a:prstGeom prst="wedgeRectCallout">
            <a:avLst>
              <a:gd name="adj1" fmla="val -105768"/>
              <a:gd name="adj2" fmla="val 20693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Simple </a:t>
            </a:r>
            <a:r>
              <a:rPr lang="en-US" sz="1800" kern="0" noProof="0" dirty="0" err="1">
                <a:ea typeface="Arial Unicode MS" pitchFamily="34" charset="-128"/>
                <a:cs typeface="Arial Unicode MS" pitchFamily="34" charset="-128"/>
              </a:rPr>
              <a:t>ConfigMap</a:t>
            </a:r>
            <a:r>
              <a:rPr lang="en-US" sz="1800" kern="0" noProof="0" dirty="0">
                <a:ea typeface="Arial Unicode MS" pitchFamily="34" charset="-128"/>
                <a:cs typeface="Arial Unicode MS" pitchFamily="34" charset="-128"/>
              </a:rPr>
              <a:t> with specific values </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8" name="Speech Bubble: Rectangle 17">
            <a:extLst>
              <a:ext uri="{FF2B5EF4-FFF2-40B4-BE49-F238E27FC236}">
                <a16:creationId xmlns:a16="http://schemas.microsoft.com/office/drawing/2014/main" id="{ECB57014-3931-4302-B65B-412F5B56F6DB}"/>
              </a:ext>
            </a:extLst>
          </p:cNvPr>
          <p:cNvSpPr/>
          <p:nvPr/>
        </p:nvSpPr>
        <p:spPr bwMode="gray">
          <a:xfrm>
            <a:off x="7148999" y="2412670"/>
            <a:ext cx="4101737" cy="770145"/>
          </a:xfrm>
          <a:prstGeom prst="wedgeRectCallout">
            <a:avLst>
              <a:gd name="adj1" fmla="val -107269"/>
              <a:gd name="adj2" fmla="val 4412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err="1">
                <a:ea typeface="Arial Unicode MS" pitchFamily="34" charset="-128"/>
                <a:cs typeface="Arial Unicode MS" pitchFamily="34" charset="-128"/>
              </a:rPr>
              <a:t>Yaml</a:t>
            </a:r>
            <a:r>
              <a:rPr lang="en-US" sz="1800" kern="0" noProof="0" dirty="0">
                <a:ea typeface="Arial Unicode MS" pitchFamily="34" charset="-128"/>
                <a:cs typeface="Arial Unicode MS" pitchFamily="34" charset="-128"/>
              </a:rPr>
              <a:t> file needs to be edited each time a </a:t>
            </a:r>
            <a:r>
              <a:rPr lang="en-US" sz="1800" kern="0" dirty="0">
                <a:ea typeface="Arial Unicode MS" pitchFamily="34" charset="-128"/>
                <a:cs typeface="Arial Unicode MS" pitchFamily="34" charset="-128"/>
              </a:rPr>
              <a:t>change is required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9" name="Speech Bubble: Rectangle 18">
            <a:extLst>
              <a:ext uri="{FF2B5EF4-FFF2-40B4-BE49-F238E27FC236}">
                <a16:creationId xmlns:a16="http://schemas.microsoft.com/office/drawing/2014/main" id="{1C8D7A34-3D93-4592-83AE-3BAA44551FC3}"/>
              </a:ext>
            </a:extLst>
          </p:cNvPr>
          <p:cNvSpPr/>
          <p:nvPr/>
        </p:nvSpPr>
        <p:spPr bwMode="gray">
          <a:xfrm>
            <a:off x="7148999" y="3917316"/>
            <a:ext cx="4101737" cy="742607"/>
          </a:xfrm>
          <a:prstGeom prst="wedgeRectCallout">
            <a:avLst>
              <a:gd name="adj1" fmla="val -85786"/>
              <a:gd name="adj2" fmla="val 3760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Helm template of a </a:t>
            </a:r>
            <a:r>
              <a:rPr kumimoji="0" lang="en-US" sz="1800" b="0" i="0" u="none" strike="noStrike" kern="0" cap="none" spc="0" normalizeH="0" baseline="0" dirty="0" err="1">
                <a:ln>
                  <a:noFill/>
                </a:ln>
                <a:effectLst/>
                <a:uLnTx/>
                <a:uFillTx/>
                <a:ea typeface="Arial Unicode MS" pitchFamily="34" charset="-128"/>
                <a:cs typeface="Arial Unicode MS" pitchFamily="34" charset="-128"/>
              </a:rPr>
              <a:t>Config</a:t>
            </a:r>
            <a:r>
              <a:rPr lang="en-US" sz="1800" kern="0" dirty="0" err="1">
                <a:ea typeface="Arial Unicode MS" pitchFamily="34" charset="-128"/>
                <a:cs typeface="Arial Unicode MS" pitchFamily="34" charset="-128"/>
              </a:rPr>
              <a:t>Map</a:t>
            </a:r>
            <a:r>
              <a:rPr lang="en-US" sz="1800" kern="0" dirty="0">
                <a:ea typeface="Arial Unicode MS" pitchFamily="34" charset="-128"/>
                <a:cs typeface="Arial Unicode MS" pitchFamily="34" charset="-128"/>
              </a:rPr>
              <a:t> with variables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0" name="Speech Bubble: Rectangle 19">
            <a:extLst>
              <a:ext uri="{FF2B5EF4-FFF2-40B4-BE49-F238E27FC236}">
                <a16:creationId xmlns:a16="http://schemas.microsoft.com/office/drawing/2014/main" id="{EBBD1CF4-C76F-407F-8290-5B2B409BBB4C}"/>
              </a:ext>
            </a:extLst>
          </p:cNvPr>
          <p:cNvSpPr/>
          <p:nvPr/>
        </p:nvSpPr>
        <p:spPr bwMode="gray">
          <a:xfrm>
            <a:off x="7148998" y="5009351"/>
            <a:ext cx="4101737" cy="770145"/>
          </a:xfrm>
          <a:prstGeom prst="wedgeRectCallout">
            <a:avLst>
              <a:gd name="adj1" fmla="val -73385"/>
              <a:gd name="adj2" fmla="val -1928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effectLst/>
                <a:uLnTx/>
                <a:uFillTx/>
                <a:ea typeface="Arial Unicode MS" pitchFamily="34" charset="-128"/>
                <a:cs typeface="Arial Unicode MS" pitchFamily="34" charset="-128"/>
              </a:rPr>
              <a:t>Variables are </a:t>
            </a:r>
            <a:r>
              <a:rPr lang="en-US" sz="1800" kern="0" dirty="0">
                <a:ea typeface="Arial Unicode MS" pitchFamily="34" charset="-128"/>
                <a:cs typeface="Arial Unicode MS" pitchFamily="34" charset="-128"/>
              </a:rPr>
              <a:t>converted to specific values upon installation of the chart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378125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892301-2E1C-461C-9E52-C7EA9FDF7076}"/>
              </a:ext>
            </a:extLst>
          </p:cNvPr>
          <p:cNvPicPr>
            <a:picLocks noChangeAspect="1"/>
          </p:cNvPicPr>
          <p:nvPr/>
        </p:nvPicPr>
        <p:blipFill>
          <a:blip r:embed="rId3"/>
          <a:stretch>
            <a:fillRect/>
          </a:stretch>
        </p:blipFill>
        <p:spPr>
          <a:xfrm>
            <a:off x="6007213" y="2773562"/>
            <a:ext cx="5533333" cy="1990476"/>
          </a:xfrm>
          <a:prstGeom prst="rect">
            <a:avLst/>
          </a:prstGeom>
          <a:ln>
            <a:solidFill>
              <a:schemeClr val="tx1"/>
            </a:solidFill>
          </a:ln>
        </p:spPr>
      </p:pic>
      <p:sp>
        <p:nvSpPr>
          <p:cNvPr id="4" name="Title 3">
            <a:extLst>
              <a:ext uri="{FF2B5EF4-FFF2-40B4-BE49-F238E27FC236}">
                <a16:creationId xmlns:a16="http://schemas.microsoft.com/office/drawing/2014/main" id="{581B0699-A522-4A8F-8C8F-7FA0530D9D6B}"/>
              </a:ext>
            </a:extLst>
          </p:cNvPr>
          <p:cNvSpPr>
            <a:spLocks noGrp="1"/>
          </p:cNvSpPr>
          <p:nvPr>
            <p:ph type="title"/>
          </p:nvPr>
        </p:nvSpPr>
        <p:spPr/>
        <p:txBody>
          <a:bodyPr/>
          <a:lstStyle/>
          <a:p>
            <a:r>
              <a:rPr lang="en-US" dirty="0"/>
              <a:t>About variables &amp; functions</a:t>
            </a:r>
          </a:p>
        </p:txBody>
      </p:sp>
      <p:sp>
        <p:nvSpPr>
          <p:cNvPr id="6" name="Speech Bubble: Rectangle 5">
            <a:extLst>
              <a:ext uri="{FF2B5EF4-FFF2-40B4-BE49-F238E27FC236}">
                <a16:creationId xmlns:a16="http://schemas.microsoft.com/office/drawing/2014/main" id="{94CDC397-8C29-49D6-88BF-EF28A87F40A0}"/>
              </a:ext>
            </a:extLst>
          </p:cNvPr>
          <p:cNvSpPr/>
          <p:nvPr/>
        </p:nvSpPr>
        <p:spPr bwMode="gray">
          <a:xfrm>
            <a:off x="7658311" y="787931"/>
            <a:ext cx="4101737" cy="936039"/>
          </a:xfrm>
          <a:prstGeom prst="wedgeRectCallout">
            <a:avLst>
              <a:gd name="adj1" fmla="val -29907"/>
              <a:gd name="adj2" fmla="val 25458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.Release.* contains build-in variables such as Name</a:t>
            </a:r>
          </a:p>
        </p:txBody>
      </p:sp>
      <p:sp>
        <p:nvSpPr>
          <p:cNvPr id="10" name="Speech Bubble: Rectangle 9">
            <a:extLst>
              <a:ext uri="{FF2B5EF4-FFF2-40B4-BE49-F238E27FC236}">
                <a16:creationId xmlns:a16="http://schemas.microsoft.com/office/drawing/2014/main" id="{C989CAD7-341D-4BCB-BD98-81558448707E}"/>
              </a:ext>
            </a:extLst>
          </p:cNvPr>
          <p:cNvSpPr/>
          <p:nvPr/>
        </p:nvSpPr>
        <p:spPr bwMode="gray">
          <a:xfrm>
            <a:off x="778027" y="4505380"/>
            <a:ext cx="4101737" cy="1217392"/>
          </a:xfrm>
          <a:prstGeom prst="wedgeRectCallout">
            <a:avLst>
              <a:gd name="adj1" fmla="val -37817"/>
              <a:gd name="adj2" fmla="val -10972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Reference the key in a template to inject the value:</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Values.myMessage</a:t>
            </a:r>
            <a:r>
              <a:rPr lang="en-US" sz="1800" kern="0" dirty="0">
                <a:ea typeface="Arial Unicode MS" pitchFamily="34" charset="-128"/>
                <a:cs typeface="Arial Unicode MS" pitchFamily="34" charset="-128"/>
              </a:rPr>
              <a:t> }}</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Speech Bubble: Rectangle 11">
            <a:extLst>
              <a:ext uri="{FF2B5EF4-FFF2-40B4-BE49-F238E27FC236}">
                <a16:creationId xmlns:a16="http://schemas.microsoft.com/office/drawing/2014/main" id="{B9B40FF0-83C8-4945-B66B-883B0DB85688}"/>
              </a:ext>
            </a:extLst>
          </p:cNvPr>
          <p:cNvSpPr/>
          <p:nvPr/>
        </p:nvSpPr>
        <p:spPr bwMode="gray">
          <a:xfrm>
            <a:off x="6321670" y="5114076"/>
            <a:ext cx="5095478" cy="1217392"/>
          </a:xfrm>
          <a:prstGeom prst="wedgeRectCallout">
            <a:avLst>
              <a:gd name="adj1" fmla="val 5282"/>
              <a:gd name="adj2" fmla="val -8175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Values can be transformed using build-in functions</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In the example the injected string will be quoted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Rectangle: Rounded Corners 8">
            <a:extLst>
              <a:ext uri="{FF2B5EF4-FFF2-40B4-BE49-F238E27FC236}">
                <a16:creationId xmlns:a16="http://schemas.microsoft.com/office/drawing/2014/main" id="{08FA5226-770E-4FC6-A251-F3DCF0E13EDB}"/>
              </a:ext>
            </a:extLst>
          </p:cNvPr>
          <p:cNvSpPr/>
          <p:nvPr/>
        </p:nvSpPr>
        <p:spPr bwMode="gray">
          <a:xfrm>
            <a:off x="504001" y="1891931"/>
            <a:ext cx="1855177" cy="5315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tx1"/>
                </a:solidFill>
                <a:ea typeface="Arial Unicode MS" pitchFamily="34" charset="-128"/>
                <a:cs typeface="Arial Unicode MS" pitchFamily="34" charset="-128"/>
              </a:rPr>
              <a:t>v</a:t>
            </a:r>
            <a:r>
              <a:rPr kumimoji="0" lang="en-US" sz="1800" b="1" i="0" u="none" strike="noStrike" kern="0" cap="none" spc="0" normalizeH="0" baseline="0" noProof="0" dirty="0" err="1">
                <a:ln>
                  <a:noFill/>
                </a:ln>
                <a:solidFill>
                  <a:schemeClr val="tx1"/>
                </a:solidFill>
                <a:effectLst/>
                <a:uLnTx/>
                <a:uFillTx/>
                <a:ea typeface="Arial Unicode MS" pitchFamily="34" charset="-128"/>
                <a:cs typeface="Arial Unicode MS" pitchFamily="34" charset="-128"/>
              </a:rPr>
              <a:t>alues.yaml</a:t>
            </a:r>
            <a:endParaRPr kumimoji="0" lang="en-US" sz="1800" b="1" i="0" u="none" strike="noStrike" kern="0" cap="none" spc="0" normalizeH="0" baseline="0" noProof="0" dirty="0">
              <a:ln>
                <a:noFill/>
              </a:ln>
              <a:solidFill>
                <a:schemeClr val="tx1"/>
              </a:solidFill>
              <a:effectLst/>
              <a:uLnTx/>
              <a:uFillTx/>
              <a:ea typeface="Arial Unicode MS" pitchFamily="34" charset="-128"/>
              <a:cs typeface="Arial Unicode MS" pitchFamily="34" charset="-128"/>
            </a:endParaRPr>
          </a:p>
        </p:txBody>
      </p:sp>
      <p:sp>
        <p:nvSpPr>
          <p:cNvPr id="13" name="Rectangle: Rounded Corners 12">
            <a:extLst>
              <a:ext uri="{FF2B5EF4-FFF2-40B4-BE49-F238E27FC236}">
                <a16:creationId xmlns:a16="http://schemas.microsoft.com/office/drawing/2014/main" id="{99C12D3C-987A-454F-ABB1-9D4F4C6F3D4A}"/>
              </a:ext>
            </a:extLst>
          </p:cNvPr>
          <p:cNvSpPr/>
          <p:nvPr/>
        </p:nvSpPr>
        <p:spPr bwMode="gray">
          <a:xfrm>
            <a:off x="6097239" y="1891931"/>
            <a:ext cx="1855177" cy="5315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tx1"/>
                </a:solidFill>
                <a:ea typeface="Arial Unicode MS" pitchFamily="34" charset="-128"/>
                <a:cs typeface="Arial Unicode MS" pitchFamily="34" charset="-128"/>
              </a:rPr>
              <a:t>template</a:t>
            </a:r>
            <a:r>
              <a:rPr kumimoji="0" lang="en-US" sz="1800" b="1" i="0" u="none" strike="noStrike" kern="0" cap="none" spc="0" normalizeH="0" baseline="0" noProof="0" dirty="0">
                <a:ln>
                  <a:noFill/>
                </a:ln>
                <a:solidFill>
                  <a:schemeClr val="tx1"/>
                </a:solidFill>
                <a:effectLst/>
                <a:uLnTx/>
                <a:uFillTx/>
                <a:ea typeface="Arial Unicode MS" pitchFamily="34" charset="-128"/>
                <a:cs typeface="Arial Unicode MS" pitchFamily="34" charset="-128"/>
              </a:rPr>
              <a:t>.</a:t>
            </a:r>
            <a:r>
              <a:rPr kumimoji="0" lang="en-US" sz="1800" b="1" i="0" u="none" strike="noStrike" kern="0" cap="none" spc="0" normalizeH="0" baseline="0" noProof="0" dirty="0" err="1">
                <a:ln>
                  <a:noFill/>
                </a:ln>
                <a:solidFill>
                  <a:schemeClr val="tx1"/>
                </a:solidFill>
                <a:effectLst/>
                <a:uLnTx/>
                <a:uFillTx/>
                <a:ea typeface="Arial Unicode MS" pitchFamily="34" charset="-128"/>
                <a:cs typeface="Arial Unicode MS" pitchFamily="34" charset="-128"/>
              </a:rPr>
              <a:t>yaml</a:t>
            </a:r>
            <a:endParaRPr kumimoji="0" lang="en-US" sz="1800" b="1" i="0" u="none" strike="noStrike" kern="0" cap="none" spc="0" normalizeH="0" baseline="0" noProof="0" dirty="0">
              <a:ln>
                <a:noFill/>
              </a:ln>
              <a:solidFill>
                <a:schemeClr val="tx1"/>
              </a:solidFill>
              <a:effectLst/>
              <a:uLnTx/>
              <a:uFillTx/>
              <a:ea typeface="Arial Unicode MS" pitchFamily="34" charset="-128"/>
              <a:cs typeface="Arial Unicode MS" pitchFamily="34" charset="-128"/>
            </a:endParaRPr>
          </a:p>
        </p:txBody>
      </p:sp>
      <p:pic>
        <p:nvPicPr>
          <p:cNvPr id="14" name="Picture 13">
            <a:extLst>
              <a:ext uri="{FF2B5EF4-FFF2-40B4-BE49-F238E27FC236}">
                <a16:creationId xmlns:a16="http://schemas.microsoft.com/office/drawing/2014/main" id="{217B0123-FE25-4F0E-A3A9-B6E48701D5BD}"/>
              </a:ext>
            </a:extLst>
          </p:cNvPr>
          <p:cNvPicPr>
            <a:picLocks noChangeAspect="1"/>
          </p:cNvPicPr>
          <p:nvPr/>
        </p:nvPicPr>
        <p:blipFill>
          <a:blip r:embed="rId4"/>
          <a:stretch>
            <a:fillRect/>
          </a:stretch>
        </p:blipFill>
        <p:spPr>
          <a:xfrm>
            <a:off x="504001" y="2763819"/>
            <a:ext cx="5304762" cy="771429"/>
          </a:xfrm>
          <a:prstGeom prst="rect">
            <a:avLst/>
          </a:prstGeom>
          <a:ln>
            <a:solidFill>
              <a:schemeClr val="tx1"/>
            </a:solidFill>
          </a:ln>
        </p:spPr>
      </p:pic>
    </p:spTree>
    <p:extLst>
      <p:ext uri="{BB962C8B-B14F-4D97-AF65-F5344CB8AC3E}">
        <p14:creationId xmlns:p14="http://schemas.microsoft.com/office/powerpoint/2010/main" val="1556754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0DE558-195D-024F-B7CC-254BC4F33034}"/>
              </a:ext>
            </a:extLst>
          </p:cNvPr>
          <p:cNvSpPr>
            <a:spLocks noGrp="1"/>
          </p:cNvSpPr>
          <p:nvPr>
            <p:ph type="title"/>
          </p:nvPr>
        </p:nvSpPr>
        <p:spPr/>
        <p:txBody>
          <a:bodyPr/>
          <a:lstStyle/>
          <a:p>
            <a:r>
              <a:rPr lang="de-DE" dirty="0"/>
              <a:t>Helm Chart </a:t>
            </a:r>
            <a:r>
              <a:rPr lang="de-DE" dirty="0" err="1"/>
              <a:t>Repositories</a:t>
            </a:r>
            <a:endParaRPr lang="de-DE" dirty="0"/>
          </a:p>
        </p:txBody>
      </p:sp>
      <p:pic>
        <p:nvPicPr>
          <p:cNvPr id="4" name="Grafik 3">
            <a:extLst>
              <a:ext uri="{FF2B5EF4-FFF2-40B4-BE49-F238E27FC236}">
                <a16:creationId xmlns:a16="http://schemas.microsoft.com/office/drawing/2014/main" id="{DF14ADED-E781-A54B-9683-E6B1B824B88F}"/>
              </a:ext>
            </a:extLst>
          </p:cNvPr>
          <p:cNvPicPr>
            <a:picLocks noChangeAspect="1"/>
          </p:cNvPicPr>
          <p:nvPr/>
        </p:nvPicPr>
        <p:blipFill>
          <a:blip r:embed="rId3"/>
          <a:stretch>
            <a:fillRect/>
          </a:stretch>
        </p:blipFill>
        <p:spPr>
          <a:xfrm>
            <a:off x="504001" y="4431186"/>
            <a:ext cx="5967618" cy="1922814"/>
          </a:xfrm>
          <a:prstGeom prst="rect">
            <a:avLst/>
          </a:prstGeom>
          <a:ln>
            <a:solidFill>
              <a:schemeClr val="tx1"/>
            </a:solidFill>
          </a:ln>
        </p:spPr>
      </p:pic>
      <p:pic>
        <p:nvPicPr>
          <p:cNvPr id="6" name="Grafik 5" descr="Warnung mit einfarbiger Füllung">
            <a:extLst>
              <a:ext uri="{FF2B5EF4-FFF2-40B4-BE49-F238E27FC236}">
                <a16:creationId xmlns:a16="http://schemas.microsoft.com/office/drawing/2014/main" id="{16F7CA59-B65C-6F4D-B34E-18361467ED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79250" y="4832410"/>
            <a:ext cx="1212697" cy="1212697"/>
          </a:xfrm>
          <a:prstGeom prst="rect">
            <a:avLst/>
          </a:prstGeom>
        </p:spPr>
      </p:pic>
      <p:sp>
        <p:nvSpPr>
          <p:cNvPr id="7" name="Textfeld 6">
            <a:extLst>
              <a:ext uri="{FF2B5EF4-FFF2-40B4-BE49-F238E27FC236}">
                <a16:creationId xmlns:a16="http://schemas.microsoft.com/office/drawing/2014/main" id="{3A744EAD-AF0F-0449-B2C7-001BFFFCE68A}"/>
              </a:ext>
            </a:extLst>
          </p:cNvPr>
          <p:cNvSpPr txBox="1"/>
          <p:nvPr/>
        </p:nvSpPr>
        <p:spPr>
          <a:xfrm>
            <a:off x="8214138" y="5254093"/>
            <a:ext cx="1643079" cy="369332"/>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deprecated</a:t>
            </a:r>
          </a:p>
        </p:txBody>
      </p:sp>
      <p:sp>
        <p:nvSpPr>
          <p:cNvPr id="11" name="Rechteck 10">
            <a:extLst>
              <a:ext uri="{FF2B5EF4-FFF2-40B4-BE49-F238E27FC236}">
                <a16:creationId xmlns:a16="http://schemas.microsoft.com/office/drawing/2014/main" id="{050C18DD-B62D-6E46-8BDF-B0038B68514E}"/>
              </a:ext>
            </a:extLst>
          </p:cNvPr>
          <p:cNvSpPr/>
          <p:nvPr/>
        </p:nvSpPr>
        <p:spPr>
          <a:xfrm>
            <a:off x="7018489" y="2652258"/>
            <a:ext cx="2683748" cy="415498"/>
          </a:xfrm>
          <a:prstGeom prst="rect">
            <a:avLst/>
          </a:prstGeom>
        </p:spPr>
        <p:txBody>
          <a:bodyPr wrap="none">
            <a:spAutoFit/>
          </a:bodyPr>
          <a:lstStyle/>
          <a:p>
            <a:r>
              <a:rPr lang="de-DE" dirty="0">
                <a:hlinkClick r:id="rId6"/>
              </a:rPr>
              <a:t>https://artifacthub.io/</a:t>
            </a:r>
            <a:r>
              <a:rPr lang="de-DE" dirty="0"/>
              <a:t> </a:t>
            </a:r>
          </a:p>
        </p:txBody>
      </p:sp>
      <p:pic>
        <p:nvPicPr>
          <p:cNvPr id="12" name="Grafik 11">
            <a:extLst>
              <a:ext uri="{FF2B5EF4-FFF2-40B4-BE49-F238E27FC236}">
                <a16:creationId xmlns:a16="http://schemas.microsoft.com/office/drawing/2014/main" id="{EC530566-408D-F54E-A546-DAEBB9F675C3}"/>
              </a:ext>
            </a:extLst>
          </p:cNvPr>
          <p:cNvPicPr>
            <a:picLocks noChangeAspect="1"/>
          </p:cNvPicPr>
          <p:nvPr/>
        </p:nvPicPr>
        <p:blipFill>
          <a:blip r:embed="rId7"/>
          <a:stretch>
            <a:fillRect/>
          </a:stretch>
        </p:blipFill>
        <p:spPr>
          <a:xfrm>
            <a:off x="504001" y="1102312"/>
            <a:ext cx="4943070" cy="3099891"/>
          </a:xfrm>
          <a:prstGeom prst="rect">
            <a:avLst/>
          </a:prstGeom>
        </p:spPr>
      </p:pic>
    </p:spTree>
    <p:extLst>
      <p:ext uri="{BB962C8B-B14F-4D97-AF65-F5344CB8AC3E}">
        <p14:creationId xmlns:p14="http://schemas.microsoft.com/office/powerpoint/2010/main" val="1893390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gray">
          <a:xfrm>
            <a:off x="5983549" y="2624132"/>
            <a:ext cx="5421075" cy="3303743"/>
          </a:xfrm>
          <a:prstGeom prst="rect">
            <a:avLst/>
          </a:prstGeom>
          <a:solidFill>
            <a:schemeClr val="bg1">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600" b="1" kern="0" dirty="0">
                <a:solidFill>
                  <a:sysClr val="windowText" lastClr="000000"/>
                </a:solidFill>
                <a:ea typeface="Arial Unicode MS" pitchFamily="34" charset="-128"/>
                <a:cs typeface="Arial Unicode MS" pitchFamily="34" charset="-128"/>
              </a:rPr>
              <a:t>Namespace</a:t>
            </a:r>
            <a:endPar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8" name="Rectangle 7"/>
          <p:cNvSpPr/>
          <p:nvPr/>
        </p:nvSpPr>
        <p:spPr>
          <a:xfrm>
            <a:off x="504001" y="1062560"/>
            <a:ext cx="5340540" cy="1384995"/>
          </a:xfrm>
          <a:prstGeom prst="rect">
            <a:avLst/>
          </a:prstGeom>
        </p:spPr>
        <p:txBody>
          <a:bodyPr wrap="square">
            <a:spAutoFit/>
          </a:bodyPr>
          <a:lstStyle/>
          <a:p>
            <a:pPr marL="342900" indent="-342900">
              <a:buFont typeface="Wingdings" panose="05000000000000000000" pitchFamily="2" charset="2"/>
              <a:buChar char="§"/>
            </a:pPr>
            <a:r>
              <a:rPr lang="en-US" dirty="0"/>
              <a:t>Client side: helm</a:t>
            </a:r>
          </a:p>
          <a:p>
            <a:pPr marL="342900" indent="-342900">
              <a:buFont typeface="Wingdings" panose="05000000000000000000" pitchFamily="2" charset="2"/>
              <a:buChar char="§"/>
            </a:pPr>
            <a:r>
              <a:rPr lang="en-US" dirty="0"/>
              <a:t>Applications are organized in “charts”</a:t>
            </a:r>
          </a:p>
          <a:p>
            <a:pPr marL="342900" indent="-342900">
              <a:buFont typeface="Wingdings" panose="05000000000000000000" pitchFamily="2" charset="2"/>
              <a:buChar char="§"/>
            </a:pPr>
            <a:r>
              <a:rPr lang="en-US" dirty="0"/>
              <a:t>Uses </a:t>
            </a:r>
            <a:r>
              <a:rPr lang="en-US" dirty="0" err="1"/>
              <a:t>kube.config</a:t>
            </a:r>
            <a:r>
              <a:rPr lang="en-US" dirty="0"/>
              <a:t> to authorize communication with K8s</a:t>
            </a:r>
          </a:p>
        </p:txBody>
      </p:sp>
      <p:sp>
        <p:nvSpPr>
          <p:cNvPr id="7" name="Rectangle 6"/>
          <p:cNvSpPr/>
          <p:nvPr/>
        </p:nvSpPr>
        <p:spPr bwMode="gray">
          <a:xfrm>
            <a:off x="7116617" y="3697874"/>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release</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my_app</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12" name="Rectangle 11"/>
          <p:cNvSpPr/>
          <p:nvPr/>
        </p:nvSpPr>
        <p:spPr bwMode="gray">
          <a:xfrm>
            <a:off x="9402288" y="2859425"/>
            <a:ext cx="1534999"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Deployment</a:t>
            </a:r>
            <a:r>
              <a:rPr lang="en-US" sz="1800" kern="0" dirty="0">
                <a:ea typeface="Arial Unicode MS" pitchFamily="34" charset="-128"/>
                <a:cs typeface="Arial Unicode MS" pitchFamily="34" charset="-128"/>
              </a:rPr>
              <a:t>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tangle 13"/>
          <p:cNvSpPr/>
          <p:nvPr/>
        </p:nvSpPr>
        <p:spPr bwMode="gray">
          <a:xfrm>
            <a:off x="9409908" y="3867250"/>
            <a:ext cx="1519758"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Service</a:t>
            </a:r>
            <a:r>
              <a:rPr lang="en-US" sz="1800" kern="0" dirty="0">
                <a:ea typeface="Arial Unicode MS" pitchFamily="34" charset="-128"/>
                <a:cs typeface="Arial Unicode MS" pitchFamily="34" charset="-128"/>
              </a:rPr>
              <a:t>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Straight Arrow Connector 15"/>
          <p:cNvCxnSpPr>
            <a:cxnSpLocks/>
            <a:stCxn id="7" idx="3"/>
            <a:endCxn id="12" idx="1"/>
          </p:cNvCxnSpPr>
          <p:nvPr/>
        </p:nvCxnSpPr>
        <p:spPr>
          <a:xfrm flipV="1">
            <a:off x="8744548" y="3262787"/>
            <a:ext cx="657740" cy="1013216"/>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a:stCxn id="7" idx="3"/>
            <a:endCxn id="14" idx="1"/>
          </p:cNvCxnSpPr>
          <p:nvPr/>
        </p:nvCxnSpPr>
        <p:spPr>
          <a:xfrm flipV="1">
            <a:off x="8744548" y="4270612"/>
            <a:ext cx="665360" cy="5391"/>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Cylinder 21"/>
          <p:cNvSpPr/>
          <p:nvPr/>
        </p:nvSpPr>
        <p:spPr bwMode="gray">
          <a:xfrm>
            <a:off x="9531485" y="4875075"/>
            <a:ext cx="1276604" cy="88374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configMap</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4" name="Straight Arrow Connector 23"/>
          <p:cNvCxnSpPr>
            <a:cxnSpLocks/>
            <a:stCxn id="7" idx="3"/>
            <a:endCxn id="22" idx="2"/>
          </p:cNvCxnSpPr>
          <p:nvPr/>
        </p:nvCxnSpPr>
        <p:spPr>
          <a:xfrm>
            <a:off x="8744548" y="4276003"/>
            <a:ext cx="786937" cy="1040944"/>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dirty="0"/>
              <a:t>Helm v3 architecture</a:t>
            </a:r>
          </a:p>
        </p:txBody>
      </p:sp>
      <p:sp>
        <p:nvSpPr>
          <p:cNvPr id="26" name="Rectangle 25"/>
          <p:cNvSpPr/>
          <p:nvPr/>
        </p:nvSpPr>
        <p:spPr bwMode="gray">
          <a:xfrm>
            <a:off x="3666770" y="3712670"/>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helm client</a:t>
            </a:r>
          </a:p>
        </p:txBody>
      </p:sp>
      <p:sp>
        <p:nvSpPr>
          <p:cNvPr id="27" name="Cylinder 26"/>
          <p:cNvSpPr/>
          <p:nvPr/>
        </p:nvSpPr>
        <p:spPr bwMode="gray">
          <a:xfrm>
            <a:off x="3979251" y="5313599"/>
            <a:ext cx="1002967" cy="91200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kube</a:t>
            </a:r>
            <a:r>
              <a:rPr lang="en-US" sz="1800" kern="0" dirty="0">
                <a:ea typeface="Arial Unicode MS" pitchFamily="34" charset="-128"/>
                <a:cs typeface="Arial Unicode MS" pitchFamily="34" charset="-128"/>
              </a:rPr>
              <a:t>/ config</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8" name="Connector: Elbow 27"/>
          <p:cNvCxnSpPr>
            <a:stCxn id="27" idx="1"/>
            <a:endCxn id="26" idx="2"/>
          </p:cNvCxnSpPr>
          <p:nvPr/>
        </p:nvCxnSpPr>
        <p:spPr>
          <a:xfrm rot="5400000" flipH="1" flipV="1">
            <a:off x="4258400" y="5091264"/>
            <a:ext cx="444671" cy="1"/>
          </a:xfrm>
          <a:prstGeom prst="bentConnector3">
            <a:avLst>
              <a:gd name="adj1" fmla="val 50000"/>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Scroll: Vertical 30"/>
          <p:cNvSpPr/>
          <p:nvPr/>
        </p:nvSpPr>
        <p:spPr bwMode="gray">
          <a:xfrm>
            <a:off x="683237" y="3010888"/>
            <a:ext cx="2734547" cy="2559822"/>
          </a:xfrm>
          <a:prstGeom prst="verticalScroll">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sng" strike="noStrike" kern="0" cap="none" spc="0" normalizeH="0" baseline="0" noProof="0" dirty="0">
                <a:ln>
                  <a:noFill/>
                </a:ln>
                <a:effectLst/>
                <a:uLnTx/>
                <a:uFillTx/>
                <a:ea typeface="Arial Unicode MS" pitchFamily="34" charset="-128"/>
                <a:cs typeface="Arial Unicode MS" pitchFamily="34" charset="-128"/>
              </a:rPr>
              <a:t>Chart</a:t>
            </a:r>
          </a:p>
          <a:p>
            <a:pPr marL="285750" marR="0" indent="-285750" defTabSz="914400" eaLnBrk="1" fontAlgn="base" latinLnBrk="0" hangingPunct="1">
              <a:lnSpc>
                <a:spcPct val="100000"/>
              </a:lnSpc>
              <a:spcBef>
                <a:spcPct val="50000"/>
              </a:spcBef>
              <a:spcAft>
                <a:spcPct val="0"/>
              </a:spcAft>
              <a:buClr>
                <a:schemeClr val="bg1"/>
              </a:buClr>
              <a:buSzPct val="80000"/>
              <a:buFont typeface="Wingdings" panose="05000000000000000000" pitchFamily="2" charset="2"/>
              <a:buChar char="§"/>
              <a:tabLst/>
            </a:pPr>
            <a:r>
              <a:rPr lang="en-US" sz="1800" kern="0" dirty="0">
                <a:ea typeface="Arial Unicode MS" pitchFamily="34" charset="-128"/>
                <a:cs typeface="Arial Unicode MS" pitchFamily="34" charset="-128"/>
              </a:rPr>
              <a:t>K8s resources</a:t>
            </a:r>
          </a:p>
          <a:p>
            <a:pPr marL="285750" marR="0" indent="-285750" defTabSz="914400" eaLnBrk="1" fontAlgn="base" latinLnBrk="0" hangingPunct="1">
              <a:lnSpc>
                <a:spcPct val="100000"/>
              </a:lnSpc>
              <a:spcBef>
                <a:spcPct val="50000"/>
              </a:spcBef>
              <a:spcAft>
                <a:spcPct val="0"/>
              </a:spcAft>
              <a:buClr>
                <a:schemeClr val="bg1"/>
              </a:buClr>
              <a:buSzPct val="80000"/>
              <a:buFont typeface="Wingdings" panose="05000000000000000000" pitchFamily="2" charset="2"/>
              <a:buChar char="§"/>
              <a:tabLst/>
            </a:pPr>
            <a:r>
              <a:rPr lang="en-US" sz="1800" kern="0" dirty="0">
                <a:ea typeface="Arial Unicode MS" pitchFamily="34" charset="-128"/>
                <a:cs typeface="Arial Unicode MS" pitchFamily="34" charset="-128"/>
              </a:rPr>
              <a:t>dynamic config</a:t>
            </a:r>
          </a:p>
          <a:p>
            <a:pPr marL="285750" marR="0" indent="-285750" defTabSz="914400" eaLnBrk="1" fontAlgn="base" latinLnBrk="0" hangingPunct="1">
              <a:lnSpc>
                <a:spcPct val="100000"/>
              </a:lnSpc>
              <a:spcBef>
                <a:spcPct val="50000"/>
              </a:spcBef>
              <a:spcAft>
                <a:spcPct val="0"/>
              </a:spcAft>
              <a:buClr>
                <a:schemeClr val="bg1"/>
              </a:buClr>
              <a:buSzPct val="80000"/>
              <a:buFont typeface="Wingdings" panose="05000000000000000000" pitchFamily="2" charset="2"/>
              <a:buChar char="§"/>
              <a:tabLst/>
            </a:pPr>
            <a:r>
              <a:rPr lang="en-US" sz="1800" kern="0" dirty="0">
                <a:ea typeface="Arial Unicode MS" pitchFamily="34" charset="-128"/>
                <a:cs typeface="Arial Unicode MS" pitchFamily="34" charset="-128"/>
              </a:rPr>
              <a:t>dependencies</a:t>
            </a:r>
          </a:p>
        </p:txBody>
      </p:sp>
      <p:cxnSp>
        <p:nvCxnSpPr>
          <p:cNvPr id="38" name="Straight Arrow Connector 37"/>
          <p:cNvCxnSpPr>
            <a:cxnSpLocks/>
            <a:stCxn id="31" idx="3"/>
            <a:endCxn id="26" idx="1"/>
          </p:cNvCxnSpPr>
          <p:nvPr/>
        </p:nvCxnSpPr>
        <p:spPr>
          <a:xfrm>
            <a:off x="3097806" y="4290799"/>
            <a:ext cx="568964" cy="0"/>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cxnSpLocks/>
            <a:stCxn id="26" idx="3"/>
            <a:endCxn id="7" idx="1"/>
          </p:cNvCxnSpPr>
          <p:nvPr/>
        </p:nvCxnSpPr>
        <p:spPr>
          <a:xfrm flipV="1">
            <a:off x="5294701" y="4276003"/>
            <a:ext cx="1821916" cy="14796"/>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5983549" y="1062560"/>
            <a:ext cx="5340540" cy="1061829"/>
          </a:xfrm>
          <a:prstGeom prst="rect">
            <a:avLst/>
          </a:prstGeom>
        </p:spPr>
        <p:txBody>
          <a:bodyPr wrap="square">
            <a:spAutoFit/>
          </a:bodyPr>
          <a:lstStyle/>
          <a:p>
            <a:pPr marL="342900" indent="-342900">
              <a:buFont typeface="Wingdings" panose="05000000000000000000" pitchFamily="2" charset="2"/>
              <a:buChar char="§"/>
            </a:pPr>
            <a:r>
              <a:rPr lang="en-US" dirty="0"/>
              <a:t>Deployed charts are “releases” and have a version</a:t>
            </a:r>
          </a:p>
          <a:p>
            <a:pPr marL="342900" indent="-342900">
              <a:buFont typeface="Wingdings" panose="05000000000000000000" pitchFamily="2" charset="2"/>
              <a:buChar char="§"/>
            </a:pPr>
            <a:r>
              <a:rPr lang="en-US" dirty="0"/>
              <a:t>Releases are </a:t>
            </a:r>
            <a:r>
              <a:rPr lang="en-US" dirty="0" err="1"/>
              <a:t>namespaced</a:t>
            </a:r>
            <a:endParaRPr lang="en-US" dirty="0"/>
          </a:p>
        </p:txBody>
      </p:sp>
    </p:spTree>
    <p:extLst>
      <p:ext uri="{BB962C8B-B14F-4D97-AF65-F5344CB8AC3E}">
        <p14:creationId xmlns:p14="http://schemas.microsoft.com/office/powerpoint/2010/main" val="612603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gray">
          <a:xfrm>
            <a:off x="5410200" y="2624132"/>
            <a:ext cx="6012180" cy="3303743"/>
          </a:xfrm>
          <a:prstGeom prst="rect">
            <a:avLst/>
          </a:prstGeom>
          <a:solidFill>
            <a:schemeClr val="bg1">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600" b="1" kern="0" dirty="0">
                <a:solidFill>
                  <a:sysClr val="windowText" lastClr="000000"/>
                </a:solidFill>
                <a:ea typeface="Arial Unicode MS" pitchFamily="34" charset="-128"/>
                <a:cs typeface="Arial Unicode MS" pitchFamily="34" charset="-128"/>
              </a:rPr>
              <a:t>Namespace</a:t>
            </a:r>
            <a:endPar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8" name="Rectangle 7"/>
          <p:cNvSpPr/>
          <p:nvPr/>
        </p:nvSpPr>
        <p:spPr>
          <a:xfrm>
            <a:off x="504000" y="1223190"/>
            <a:ext cx="5340540" cy="1061829"/>
          </a:xfrm>
          <a:prstGeom prst="rect">
            <a:avLst/>
          </a:prstGeom>
        </p:spPr>
        <p:txBody>
          <a:bodyPr wrap="square">
            <a:spAutoFit/>
          </a:bodyPr>
          <a:lstStyle/>
          <a:p>
            <a:pPr marL="342900" indent="-342900">
              <a:buFont typeface="Wingdings" panose="05000000000000000000" pitchFamily="2" charset="2"/>
              <a:buChar char="§"/>
            </a:pPr>
            <a:r>
              <a:rPr lang="en-US" dirty="0"/>
              <a:t>Client side: helm</a:t>
            </a:r>
          </a:p>
          <a:p>
            <a:pPr marL="342900" indent="-342900">
              <a:buFont typeface="Wingdings" panose="05000000000000000000" pitchFamily="2" charset="2"/>
              <a:buChar char="§"/>
            </a:pPr>
            <a:r>
              <a:rPr lang="en-US" dirty="0"/>
              <a:t>Applications are organized in “charts”</a:t>
            </a:r>
          </a:p>
          <a:p>
            <a:pPr marL="342900" indent="-342900">
              <a:buFont typeface="Wingdings" panose="05000000000000000000" pitchFamily="2" charset="2"/>
              <a:buChar char="§"/>
            </a:pPr>
            <a:r>
              <a:rPr lang="en-US" dirty="0"/>
              <a:t>Tells tiller-server what to do</a:t>
            </a:r>
          </a:p>
        </p:txBody>
      </p:sp>
      <p:sp>
        <p:nvSpPr>
          <p:cNvPr id="7" name="Rectangle 6"/>
          <p:cNvSpPr/>
          <p:nvPr/>
        </p:nvSpPr>
        <p:spPr bwMode="gray">
          <a:xfrm>
            <a:off x="7409581" y="3697874"/>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release</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my_app</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12" name="Rectangle 11"/>
          <p:cNvSpPr/>
          <p:nvPr/>
        </p:nvSpPr>
        <p:spPr bwMode="gray">
          <a:xfrm>
            <a:off x="9695253" y="2859425"/>
            <a:ext cx="1062486"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Pod</a:t>
            </a:r>
            <a:r>
              <a:rPr lang="en-US" sz="1800" kern="0" dirty="0">
                <a:ea typeface="Arial Unicode MS" pitchFamily="34" charset="-128"/>
                <a:cs typeface="Arial Unicode MS" pitchFamily="34" charset="-128"/>
              </a:rPr>
              <a:t>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tangle 13"/>
          <p:cNvSpPr/>
          <p:nvPr/>
        </p:nvSpPr>
        <p:spPr bwMode="gray">
          <a:xfrm>
            <a:off x="9710493" y="5015885"/>
            <a:ext cx="1062486"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Pod</a:t>
            </a:r>
            <a:r>
              <a:rPr lang="en-US" sz="1800" kern="0" dirty="0">
                <a:ea typeface="Arial Unicode MS" pitchFamily="34" charset="-128"/>
                <a:cs typeface="Arial Unicode MS" pitchFamily="34" charset="-128"/>
              </a:rPr>
              <a:t> B</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Straight Arrow Connector 15"/>
          <p:cNvCxnSpPr>
            <a:stCxn id="7" idx="3"/>
            <a:endCxn id="12" idx="1"/>
          </p:cNvCxnSpPr>
          <p:nvPr/>
        </p:nvCxnSpPr>
        <p:spPr>
          <a:xfrm flipV="1">
            <a:off x="9037512" y="3262787"/>
            <a:ext cx="657741" cy="1013216"/>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3"/>
            <a:endCxn id="14" idx="1"/>
          </p:cNvCxnSpPr>
          <p:nvPr/>
        </p:nvCxnSpPr>
        <p:spPr>
          <a:xfrm>
            <a:off x="9037512" y="4276003"/>
            <a:ext cx="672981" cy="1143244"/>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Cylinder 21"/>
          <p:cNvSpPr/>
          <p:nvPr/>
        </p:nvSpPr>
        <p:spPr bwMode="gray">
          <a:xfrm>
            <a:off x="9731912" y="3914819"/>
            <a:ext cx="1002967" cy="8129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secrets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4" name="Straight Arrow Connector 23"/>
          <p:cNvCxnSpPr>
            <a:stCxn id="22" idx="1"/>
            <a:endCxn id="12" idx="2"/>
          </p:cNvCxnSpPr>
          <p:nvPr/>
        </p:nvCxnSpPr>
        <p:spPr>
          <a:xfrm flipH="1" flipV="1">
            <a:off x="10226496" y="3666149"/>
            <a:ext cx="6900" cy="248670"/>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dirty="0"/>
              <a:t>Helm v2 architecture (deprecated / only maintenance)</a:t>
            </a:r>
          </a:p>
        </p:txBody>
      </p:sp>
      <p:cxnSp>
        <p:nvCxnSpPr>
          <p:cNvPr id="15" name="Straight Arrow Connector 14"/>
          <p:cNvCxnSpPr>
            <a:stCxn id="22" idx="3"/>
            <a:endCxn id="14" idx="0"/>
          </p:cNvCxnSpPr>
          <p:nvPr/>
        </p:nvCxnSpPr>
        <p:spPr>
          <a:xfrm>
            <a:off x="10233396" y="4727739"/>
            <a:ext cx="8340" cy="288146"/>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bwMode="gray">
          <a:xfrm>
            <a:off x="5530908" y="3702388"/>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tiller-server</a:t>
            </a:r>
          </a:p>
        </p:txBody>
      </p:sp>
      <p:cxnSp>
        <p:nvCxnSpPr>
          <p:cNvPr id="23" name="Connector: Elbow 22"/>
          <p:cNvCxnSpPr>
            <a:stCxn id="19" idx="0"/>
            <a:endCxn id="7" idx="0"/>
          </p:cNvCxnSpPr>
          <p:nvPr/>
        </p:nvCxnSpPr>
        <p:spPr>
          <a:xfrm rot="5400000" flipH="1" flipV="1">
            <a:off x="7281953" y="2760795"/>
            <a:ext cx="4514" cy="1878673"/>
          </a:xfrm>
          <a:prstGeom prst="bentConnector3">
            <a:avLst>
              <a:gd name="adj1" fmla="val 5164245"/>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bwMode="gray">
          <a:xfrm>
            <a:off x="2903287" y="3712670"/>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helm client</a:t>
            </a:r>
          </a:p>
        </p:txBody>
      </p:sp>
      <p:sp>
        <p:nvSpPr>
          <p:cNvPr id="27" name="Cylinder 26"/>
          <p:cNvSpPr/>
          <p:nvPr/>
        </p:nvSpPr>
        <p:spPr bwMode="gray">
          <a:xfrm>
            <a:off x="3215768" y="5313599"/>
            <a:ext cx="1002967" cy="91200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kube</a:t>
            </a:r>
            <a:r>
              <a:rPr lang="en-US" sz="1800" kern="0" dirty="0">
                <a:ea typeface="Arial Unicode MS" pitchFamily="34" charset="-128"/>
                <a:cs typeface="Arial Unicode MS" pitchFamily="34" charset="-128"/>
              </a:rPr>
              <a:t>/ config</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8" name="Connector: Elbow 27"/>
          <p:cNvCxnSpPr>
            <a:stCxn id="27" idx="1"/>
            <a:endCxn id="26" idx="2"/>
          </p:cNvCxnSpPr>
          <p:nvPr/>
        </p:nvCxnSpPr>
        <p:spPr>
          <a:xfrm rot="5400000" flipH="1" flipV="1">
            <a:off x="3494917" y="5091264"/>
            <a:ext cx="444671" cy="1"/>
          </a:xfrm>
          <a:prstGeom prst="bentConnector3">
            <a:avLst>
              <a:gd name="adj1" fmla="val 50000"/>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Scroll: Vertical 30"/>
          <p:cNvSpPr/>
          <p:nvPr/>
        </p:nvSpPr>
        <p:spPr bwMode="gray">
          <a:xfrm>
            <a:off x="230477" y="3010888"/>
            <a:ext cx="2584688" cy="2559822"/>
          </a:xfrm>
          <a:prstGeom prst="verticalScroll">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Chart</a:t>
            </a:r>
          </a:p>
          <a:p>
            <a:pPr marL="285750" marR="0" indent="-285750" defTabSz="914400" eaLnBrk="1" fontAlgn="base" latinLnBrk="0" hangingPunct="1">
              <a:lnSpc>
                <a:spcPct val="100000"/>
              </a:lnSpc>
              <a:spcBef>
                <a:spcPct val="50000"/>
              </a:spcBef>
              <a:spcAft>
                <a:spcPct val="0"/>
              </a:spcAft>
              <a:buClr>
                <a:schemeClr val="bg1"/>
              </a:buClr>
              <a:buSzPct val="80000"/>
              <a:buFont typeface="Wingdings" panose="05000000000000000000" pitchFamily="2" charset="2"/>
              <a:buChar char="§"/>
              <a:tabLst/>
            </a:pPr>
            <a:r>
              <a:rPr lang="en-US" sz="1800" kern="0" dirty="0">
                <a:ea typeface="Arial Unicode MS" pitchFamily="34" charset="-128"/>
                <a:cs typeface="Arial Unicode MS" pitchFamily="34" charset="-128"/>
              </a:rPr>
              <a:t>K8s </a:t>
            </a:r>
            <a:r>
              <a:rPr lang="en-US" sz="1800" kern="0" dirty="0" err="1">
                <a:ea typeface="Arial Unicode MS" pitchFamily="34" charset="-128"/>
                <a:cs typeface="Arial Unicode MS" pitchFamily="34" charset="-128"/>
              </a:rPr>
              <a:t>yaml</a:t>
            </a:r>
            <a:endParaRPr lang="en-US" sz="1800" kern="0" dirty="0">
              <a:ea typeface="Arial Unicode MS" pitchFamily="34" charset="-128"/>
              <a:cs typeface="Arial Unicode MS" pitchFamily="34" charset="-128"/>
            </a:endParaRPr>
          </a:p>
          <a:p>
            <a:pPr marL="285750" marR="0" indent="-285750" defTabSz="914400" eaLnBrk="1" fontAlgn="base" latinLnBrk="0" hangingPunct="1">
              <a:lnSpc>
                <a:spcPct val="100000"/>
              </a:lnSpc>
              <a:spcBef>
                <a:spcPct val="50000"/>
              </a:spcBef>
              <a:spcAft>
                <a:spcPct val="0"/>
              </a:spcAft>
              <a:buClr>
                <a:schemeClr val="bg1"/>
              </a:buClr>
              <a:buSzPct val="80000"/>
              <a:buFont typeface="Wingdings" panose="05000000000000000000" pitchFamily="2" charset="2"/>
              <a:buChar char="§"/>
              <a:tabLst/>
            </a:pPr>
            <a:r>
              <a:rPr lang="en-US" sz="1800" kern="0" dirty="0">
                <a:ea typeface="Arial Unicode MS" pitchFamily="34" charset="-128"/>
                <a:cs typeface="Arial Unicode MS" pitchFamily="34" charset="-128"/>
              </a:rPr>
              <a:t> values</a:t>
            </a:r>
          </a:p>
          <a:p>
            <a:pPr marL="285750" marR="0" indent="-285750" defTabSz="914400" eaLnBrk="1" fontAlgn="base" latinLnBrk="0" hangingPunct="1">
              <a:lnSpc>
                <a:spcPct val="100000"/>
              </a:lnSpc>
              <a:spcBef>
                <a:spcPct val="50000"/>
              </a:spcBef>
              <a:spcAft>
                <a:spcPct val="0"/>
              </a:spcAft>
              <a:buClr>
                <a:schemeClr val="bg1"/>
              </a:buClr>
              <a:buSzPct val="80000"/>
              <a:buFont typeface="Wingdings" panose="05000000000000000000" pitchFamily="2" charset="2"/>
              <a:buChar char="§"/>
              <a:tabLst/>
            </a:pPr>
            <a:r>
              <a:rPr lang="en-US" sz="1800" kern="0" dirty="0">
                <a:ea typeface="Arial Unicode MS" pitchFamily="34" charset="-128"/>
                <a:cs typeface="Arial Unicode MS" pitchFamily="34" charset="-128"/>
              </a:rPr>
              <a:t>dependencies</a:t>
            </a:r>
          </a:p>
        </p:txBody>
      </p:sp>
      <p:cxnSp>
        <p:nvCxnSpPr>
          <p:cNvPr id="38" name="Straight Arrow Connector 37"/>
          <p:cNvCxnSpPr>
            <a:stCxn id="31" idx="3"/>
            <a:endCxn id="26" idx="1"/>
          </p:cNvCxnSpPr>
          <p:nvPr/>
        </p:nvCxnSpPr>
        <p:spPr>
          <a:xfrm>
            <a:off x="2495187" y="4290799"/>
            <a:ext cx="408100" cy="0"/>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6" idx="3"/>
            <a:endCxn id="19" idx="1"/>
          </p:cNvCxnSpPr>
          <p:nvPr/>
        </p:nvCxnSpPr>
        <p:spPr>
          <a:xfrm flipV="1">
            <a:off x="4531218" y="4280517"/>
            <a:ext cx="999690" cy="10282"/>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5553276" y="1223189"/>
            <a:ext cx="5340540" cy="1061829"/>
          </a:xfrm>
          <a:prstGeom prst="rect">
            <a:avLst/>
          </a:prstGeom>
        </p:spPr>
        <p:txBody>
          <a:bodyPr wrap="square">
            <a:spAutoFit/>
          </a:bodyPr>
          <a:lstStyle/>
          <a:p>
            <a:pPr marL="342900" indent="-342900">
              <a:buFont typeface="Wingdings" panose="05000000000000000000" pitchFamily="2" charset="2"/>
              <a:buChar char="§"/>
            </a:pPr>
            <a:r>
              <a:rPr lang="en-US" dirty="0"/>
              <a:t>Server side: tiller</a:t>
            </a:r>
          </a:p>
          <a:p>
            <a:pPr marL="342900" indent="-342900">
              <a:buFont typeface="Wingdings" panose="05000000000000000000" pitchFamily="2" charset="2"/>
              <a:buChar char="§"/>
            </a:pPr>
            <a:r>
              <a:rPr lang="en-US" dirty="0"/>
              <a:t>Installs charts into “releases”</a:t>
            </a:r>
          </a:p>
          <a:p>
            <a:pPr marL="342900" indent="-342900">
              <a:buFont typeface="Wingdings" panose="05000000000000000000" pitchFamily="2" charset="2"/>
              <a:buChar char="§"/>
            </a:pPr>
            <a:r>
              <a:rPr lang="en-US" dirty="0"/>
              <a:t>Manages state of all releases</a:t>
            </a:r>
          </a:p>
        </p:txBody>
      </p:sp>
    </p:spTree>
    <p:extLst>
      <p:ext uri="{BB962C8B-B14F-4D97-AF65-F5344CB8AC3E}">
        <p14:creationId xmlns:p14="http://schemas.microsoft.com/office/powerpoint/2010/main" val="3195624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helm</a:t>
            </a:r>
          </a:p>
        </p:txBody>
      </p:sp>
      <p:sp>
        <p:nvSpPr>
          <p:cNvPr id="14" name="Rectangle 13"/>
          <p:cNvSpPr/>
          <p:nvPr/>
        </p:nvSpPr>
        <p:spPr bwMode="gray">
          <a:xfrm>
            <a:off x="2903287" y="3400250"/>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helm client</a:t>
            </a:r>
          </a:p>
        </p:txBody>
      </p:sp>
      <p:sp>
        <p:nvSpPr>
          <p:cNvPr id="15" name="Cylinder 14"/>
          <p:cNvSpPr/>
          <p:nvPr/>
        </p:nvSpPr>
        <p:spPr bwMode="gray">
          <a:xfrm>
            <a:off x="569098" y="3523784"/>
            <a:ext cx="1002967" cy="91200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kube</a:t>
            </a:r>
            <a:r>
              <a:rPr lang="en-US" sz="1800" kern="0" dirty="0">
                <a:ea typeface="Arial Unicode MS" pitchFamily="34" charset="-128"/>
                <a:cs typeface="Arial Unicode MS" pitchFamily="34" charset="-128"/>
              </a:rPr>
              <a:t>/ config</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Connector: Elbow 15"/>
          <p:cNvCxnSpPr>
            <a:stCxn id="15" idx="4"/>
            <a:endCxn id="14" idx="1"/>
          </p:cNvCxnSpPr>
          <p:nvPr/>
        </p:nvCxnSpPr>
        <p:spPr>
          <a:xfrm flipV="1">
            <a:off x="1572065" y="3978379"/>
            <a:ext cx="1331222" cy="1407"/>
          </a:xfrm>
          <a:prstGeom prst="bentConnector3">
            <a:avLst>
              <a:gd name="adj1" fmla="val 50000"/>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Cloud 19"/>
          <p:cNvSpPr/>
          <p:nvPr/>
        </p:nvSpPr>
        <p:spPr bwMode="gray">
          <a:xfrm>
            <a:off x="3717251" y="651515"/>
            <a:ext cx="3060653" cy="845820"/>
          </a:xfrm>
          <a:prstGeom prst="cloud">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Chart r</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epository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1" name="Straight Arrow Connector 20"/>
          <p:cNvCxnSpPr>
            <a:stCxn id="20" idx="1"/>
            <a:endCxn id="14" idx="0"/>
          </p:cNvCxnSpPr>
          <p:nvPr/>
        </p:nvCxnSpPr>
        <p:spPr>
          <a:xfrm flipH="1">
            <a:off x="3717253" y="1496434"/>
            <a:ext cx="1530325" cy="1903816"/>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Speech Bubble: Rectangle 25"/>
          <p:cNvSpPr/>
          <p:nvPr/>
        </p:nvSpPr>
        <p:spPr bwMode="gray">
          <a:xfrm>
            <a:off x="403461" y="1418558"/>
            <a:ext cx="2654948" cy="1128447"/>
          </a:xfrm>
          <a:prstGeom prst="wedgeRectCallout">
            <a:avLst>
              <a:gd name="adj1" fmla="val 98996"/>
              <a:gd name="adj2" fmla="val 55328"/>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 h</a:t>
            </a:r>
            <a:r>
              <a:rPr kumimoji="0" lang="en-US" sz="1600" b="0" i="0" u="none" strike="noStrike" kern="0" cap="none" spc="0" normalizeH="0" baseline="0" noProof="0" dirty="0">
                <a:ln>
                  <a:noFill/>
                </a:ln>
                <a:effectLst/>
                <a:uLnTx/>
                <a:uFillTx/>
                <a:ea typeface="Arial Unicode MS" pitchFamily="34" charset="-128"/>
                <a:cs typeface="Arial Unicode MS" pitchFamily="34" charset="-128"/>
              </a:rPr>
              <a:t>elm repo add &lt;</a:t>
            </a:r>
            <a:r>
              <a:rPr kumimoji="0" lang="en-US" sz="1600" b="0" i="0" u="none" strike="noStrike" kern="0" cap="none" spc="0" normalizeH="0" baseline="0" noProof="0" dirty="0" err="1">
                <a:ln>
                  <a:noFill/>
                </a:ln>
                <a:effectLst/>
                <a:uLnTx/>
                <a:uFillTx/>
                <a:ea typeface="Arial Unicode MS" pitchFamily="34" charset="-128"/>
                <a:cs typeface="Arial Unicode MS" pitchFamily="34" charset="-128"/>
              </a:rPr>
              <a:t>url</a:t>
            </a:r>
            <a:r>
              <a:rPr kumimoji="0" lang="en-US" sz="1600" b="0" i="0" u="none" strike="noStrike" kern="0" cap="none" spc="0" normalizeH="0" baseline="0" noProof="0" dirty="0">
                <a:ln>
                  <a:noFill/>
                </a:ln>
                <a:effectLst/>
                <a:uLnTx/>
                <a:uFillTx/>
                <a:ea typeface="Arial Unicode MS" pitchFamily="34" charset="-128"/>
                <a:cs typeface="Arial Unicode MS" pitchFamily="34" charset="-128"/>
              </a:rPr>
              <a:t>&gt;</a:t>
            </a:r>
          </a:p>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 helm search &lt;chart&gt;</a:t>
            </a: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 helm fetch &lt;chart&gt;</a:t>
            </a: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8" name="Speech Bubble: Rectangle 27"/>
          <p:cNvSpPr/>
          <p:nvPr/>
        </p:nvSpPr>
        <p:spPr bwMode="gray">
          <a:xfrm>
            <a:off x="977680" y="5130420"/>
            <a:ext cx="4161458" cy="1128447"/>
          </a:xfrm>
          <a:prstGeom prst="wedgeRectCallout">
            <a:avLst>
              <a:gd name="adj1" fmla="val 69146"/>
              <a:gd name="adj2" fmla="val -144550"/>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 h</a:t>
            </a:r>
            <a:r>
              <a:rPr kumimoji="0" lang="en-US" sz="1600" b="0" i="0" u="none" strike="noStrike" kern="0" cap="none" spc="0" normalizeH="0" baseline="0" noProof="0" dirty="0">
                <a:ln>
                  <a:noFill/>
                </a:ln>
                <a:effectLst/>
                <a:uLnTx/>
                <a:uFillTx/>
                <a:ea typeface="Arial Unicode MS" pitchFamily="34" charset="-128"/>
                <a:cs typeface="Arial Unicode MS" pitchFamily="34" charset="-128"/>
              </a:rPr>
              <a:t>elm install &lt;name&gt; &lt;chart&gt; &lt;parameter&gt;</a:t>
            </a:r>
          </a:p>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 helm list</a:t>
            </a: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 helm status &lt;release&gt;</a:t>
            </a: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2" name="Rectangle 21">
            <a:extLst>
              <a:ext uri="{FF2B5EF4-FFF2-40B4-BE49-F238E27FC236}">
                <a16:creationId xmlns:a16="http://schemas.microsoft.com/office/drawing/2014/main" id="{520F78BD-5659-462C-B28E-1B2E0D88DDF6}"/>
              </a:ext>
            </a:extLst>
          </p:cNvPr>
          <p:cNvSpPr/>
          <p:nvPr/>
        </p:nvSpPr>
        <p:spPr bwMode="gray">
          <a:xfrm>
            <a:off x="5983549" y="2322291"/>
            <a:ext cx="5421075" cy="3303743"/>
          </a:xfrm>
          <a:prstGeom prst="rect">
            <a:avLst/>
          </a:prstGeom>
          <a:solidFill>
            <a:schemeClr val="bg1">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600" b="1" kern="0" dirty="0">
                <a:solidFill>
                  <a:sysClr val="windowText" lastClr="000000"/>
                </a:solidFill>
                <a:ea typeface="Arial Unicode MS" pitchFamily="34" charset="-128"/>
                <a:cs typeface="Arial Unicode MS" pitchFamily="34" charset="-128"/>
              </a:rPr>
              <a:t>Namespace</a:t>
            </a:r>
            <a:endPar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23" name="Rectangle 22">
            <a:extLst>
              <a:ext uri="{FF2B5EF4-FFF2-40B4-BE49-F238E27FC236}">
                <a16:creationId xmlns:a16="http://schemas.microsoft.com/office/drawing/2014/main" id="{0C58BB22-A255-4564-8228-91CBA863CBF2}"/>
              </a:ext>
            </a:extLst>
          </p:cNvPr>
          <p:cNvSpPr/>
          <p:nvPr/>
        </p:nvSpPr>
        <p:spPr bwMode="gray">
          <a:xfrm>
            <a:off x="7116617" y="3396033"/>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release</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my_app</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24" name="Rectangle 23">
            <a:extLst>
              <a:ext uri="{FF2B5EF4-FFF2-40B4-BE49-F238E27FC236}">
                <a16:creationId xmlns:a16="http://schemas.microsoft.com/office/drawing/2014/main" id="{8AF89A7F-CCA4-4DAE-9D52-2E88EE98C042}"/>
              </a:ext>
            </a:extLst>
          </p:cNvPr>
          <p:cNvSpPr/>
          <p:nvPr/>
        </p:nvSpPr>
        <p:spPr bwMode="gray">
          <a:xfrm>
            <a:off x="9402288" y="2557584"/>
            <a:ext cx="1534999"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Deployment</a:t>
            </a:r>
            <a:r>
              <a:rPr lang="en-US" sz="1800" kern="0" dirty="0">
                <a:ea typeface="Arial Unicode MS" pitchFamily="34" charset="-128"/>
                <a:cs typeface="Arial Unicode MS" pitchFamily="34" charset="-128"/>
              </a:rPr>
              <a:t>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5" name="Rectangle 24">
            <a:extLst>
              <a:ext uri="{FF2B5EF4-FFF2-40B4-BE49-F238E27FC236}">
                <a16:creationId xmlns:a16="http://schemas.microsoft.com/office/drawing/2014/main" id="{FD0C6119-859A-4811-B0CF-7587A4390EEB}"/>
              </a:ext>
            </a:extLst>
          </p:cNvPr>
          <p:cNvSpPr/>
          <p:nvPr/>
        </p:nvSpPr>
        <p:spPr bwMode="gray">
          <a:xfrm>
            <a:off x="9409908" y="3565409"/>
            <a:ext cx="1519758"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Service</a:t>
            </a:r>
            <a:r>
              <a:rPr lang="en-US" sz="1800" kern="0" dirty="0">
                <a:ea typeface="Arial Unicode MS" pitchFamily="34" charset="-128"/>
                <a:cs typeface="Arial Unicode MS" pitchFamily="34" charset="-128"/>
              </a:rPr>
              <a:t>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7" name="Straight Arrow Connector 26">
            <a:extLst>
              <a:ext uri="{FF2B5EF4-FFF2-40B4-BE49-F238E27FC236}">
                <a16:creationId xmlns:a16="http://schemas.microsoft.com/office/drawing/2014/main" id="{A2BC9790-6A86-4950-B8D3-9E384E935563}"/>
              </a:ext>
            </a:extLst>
          </p:cNvPr>
          <p:cNvCxnSpPr>
            <a:cxnSpLocks/>
            <a:stCxn id="23" idx="3"/>
            <a:endCxn id="24" idx="1"/>
          </p:cNvCxnSpPr>
          <p:nvPr/>
        </p:nvCxnSpPr>
        <p:spPr>
          <a:xfrm flipV="1">
            <a:off x="8744548" y="2960946"/>
            <a:ext cx="657740" cy="1013216"/>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39F766A-C083-4D10-8940-4ACAC9841464}"/>
              </a:ext>
            </a:extLst>
          </p:cNvPr>
          <p:cNvCxnSpPr>
            <a:cxnSpLocks/>
            <a:stCxn id="23" idx="3"/>
            <a:endCxn id="25" idx="1"/>
          </p:cNvCxnSpPr>
          <p:nvPr/>
        </p:nvCxnSpPr>
        <p:spPr>
          <a:xfrm flipV="1">
            <a:off x="8744548" y="3968771"/>
            <a:ext cx="665360" cy="5391"/>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Cylinder 29">
            <a:extLst>
              <a:ext uri="{FF2B5EF4-FFF2-40B4-BE49-F238E27FC236}">
                <a16:creationId xmlns:a16="http://schemas.microsoft.com/office/drawing/2014/main" id="{22FAB70A-526D-41B9-8905-8D409178D6CD}"/>
              </a:ext>
            </a:extLst>
          </p:cNvPr>
          <p:cNvSpPr/>
          <p:nvPr/>
        </p:nvSpPr>
        <p:spPr bwMode="gray">
          <a:xfrm>
            <a:off x="9531485" y="4573234"/>
            <a:ext cx="1276604" cy="88374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configMap</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1" name="Straight Arrow Connector 30">
            <a:extLst>
              <a:ext uri="{FF2B5EF4-FFF2-40B4-BE49-F238E27FC236}">
                <a16:creationId xmlns:a16="http://schemas.microsoft.com/office/drawing/2014/main" id="{EB34AA23-7D74-49AF-A66A-A95D468D913A}"/>
              </a:ext>
            </a:extLst>
          </p:cNvPr>
          <p:cNvCxnSpPr>
            <a:cxnSpLocks/>
            <a:stCxn id="23" idx="3"/>
            <a:endCxn id="30" idx="2"/>
          </p:cNvCxnSpPr>
          <p:nvPr/>
        </p:nvCxnSpPr>
        <p:spPr>
          <a:xfrm>
            <a:off x="8744548" y="3974162"/>
            <a:ext cx="786937" cy="1040944"/>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a:stCxn id="14" idx="3"/>
            <a:endCxn id="23" idx="1"/>
          </p:cNvCxnSpPr>
          <p:nvPr/>
        </p:nvCxnSpPr>
        <p:spPr>
          <a:xfrm flipV="1">
            <a:off x="4531218" y="3974162"/>
            <a:ext cx="2585399" cy="4217"/>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6371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D4BF-5C0E-4BE1-A99C-25DBDC85D9CD}"/>
              </a:ext>
            </a:extLst>
          </p:cNvPr>
          <p:cNvSpPr>
            <a:spLocks noGrp="1"/>
          </p:cNvSpPr>
          <p:nvPr>
            <p:ph type="title"/>
          </p:nvPr>
        </p:nvSpPr>
        <p:spPr/>
        <p:txBody>
          <a:bodyPr/>
          <a:lstStyle/>
          <a:p>
            <a:r>
              <a:rPr lang="en-US" dirty="0"/>
              <a:t>Demo</a:t>
            </a:r>
          </a:p>
        </p:txBody>
      </p:sp>
      <p:pic>
        <p:nvPicPr>
          <p:cNvPr id="4" name="Picture 3">
            <a:extLst>
              <a:ext uri="{FF2B5EF4-FFF2-40B4-BE49-F238E27FC236}">
                <a16:creationId xmlns:a16="http://schemas.microsoft.com/office/drawing/2014/main" id="{8F8AF56A-873C-4A73-B1BB-DD1CD39FA262}"/>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247635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B6938A-7A0C-4712-A9B8-41F25B66C8A4}"/>
              </a:ext>
            </a:extLst>
          </p:cNvPr>
          <p:cNvSpPr>
            <a:spLocks noGrp="1"/>
          </p:cNvSpPr>
          <p:nvPr>
            <p:ph type="title"/>
          </p:nvPr>
        </p:nvSpPr>
        <p:spPr/>
        <p:txBody>
          <a:bodyPr/>
          <a:lstStyle/>
          <a:p>
            <a:r>
              <a:rPr lang="en-US"/>
              <a:t>Exercises #10 </a:t>
            </a:r>
            <a:r>
              <a:rPr lang="en-US" dirty="0"/>
              <a:t>&amp; </a:t>
            </a:r>
            <a:r>
              <a:rPr lang="en-US"/>
              <a:t>#11</a:t>
            </a:r>
            <a:endParaRPr lang="en-US" dirty="0"/>
          </a:p>
        </p:txBody>
      </p:sp>
      <p:pic>
        <p:nvPicPr>
          <p:cNvPr id="4" name="Picture 3">
            <a:extLst>
              <a:ext uri="{FF2B5EF4-FFF2-40B4-BE49-F238E27FC236}">
                <a16:creationId xmlns:a16="http://schemas.microsoft.com/office/drawing/2014/main" id="{F6BA3838-694C-42C5-AEEE-A53AE996E7BE}"/>
              </a:ext>
            </a:extLst>
          </p:cNvPr>
          <p:cNvPicPr>
            <a:picLocks noChangeAspect="1"/>
          </p:cNvPicPr>
          <p:nvPr/>
        </p:nvPicPr>
        <p:blipFill>
          <a:blip r:embed="rId3"/>
          <a:stretch>
            <a:fillRect/>
          </a:stretch>
        </p:blipFill>
        <p:spPr>
          <a:xfrm>
            <a:off x="4011439" y="1343200"/>
            <a:ext cx="4171599" cy="4171599"/>
          </a:xfrm>
          <a:prstGeom prst="rect">
            <a:avLst/>
          </a:prstGeom>
        </p:spPr>
      </p:pic>
    </p:spTree>
    <p:extLst>
      <p:ext uri="{BB962C8B-B14F-4D97-AF65-F5344CB8AC3E}">
        <p14:creationId xmlns:p14="http://schemas.microsoft.com/office/powerpoint/2010/main" val="2757824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1949</Words>
  <Application>Microsoft Macintosh PowerPoint</Application>
  <PresentationFormat>Benutzerdefiniert</PresentationFormat>
  <Paragraphs>186</Paragraphs>
  <Slides>12</Slides>
  <Notes>12</Notes>
  <HiddenSlides>1</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12</vt:i4>
      </vt:variant>
    </vt:vector>
  </HeadingPairs>
  <TitlesOfParts>
    <vt:vector size="19" baseType="lpstr">
      <vt:lpstr>Arial</vt:lpstr>
      <vt:lpstr>Courier</vt:lpstr>
      <vt:lpstr>Courier New</vt:lpstr>
      <vt:lpstr>Symbol</vt:lpstr>
      <vt:lpstr>wingdings</vt:lpstr>
      <vt:lpstr>wingdings</vt:lpstr>
      <vt:lpstr>SAP_2017_16x9_black</vt:lpstr>
      <vt:lpstr>PowerPoint-Präsentation</vt:lpstr>
      <vt:lpstr>Helm Charts</vt:lpstr>
      <vt:lpstr>Parameterization</vt:lpstr>
      <vt:lpstr>About templates</vt:lpstr>
      <vt:lpstr>About variables &amp; functions</vt:lpstr>
      <vt:lpstr>Helm Chart Repositories</vt:lpstr>
      <vt:lpstr>Helm v3 architecture</vt:lpstr>
      <vt:lpstr>Helm v2 architecture (deprecated / only maintenance)</vt:lpstr>
      <vt:lpstr>Working with helm</vt:lpstr>
      <vt:lpstr>Demo</vt:lpstr>
      <vt:lpstr>Exercises #10 &amp; #11</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Kahl, Hendrik</cp:lastModifiedBy>
  <cp:revision>530</cp:revision>
  <dcterms:created xsi:type="dcterms:W3CDTF">2015-10-14T11:21:43Z</dcterms:created>
  <dcterms:modified xsi:type="dcterms:W3CDTF">2020-12-10T07:31:42Z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